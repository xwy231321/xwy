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2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C2AE1C-0062-401A-B223-04042A41F681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31158C-EFF2-47E1-9409-3B6A7325B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595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146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577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当采用字扩展和位扩展所用芯片一样多时，选位扩展</a:t>
            </a:r>
            <a:r>
              <a:rPr lang="en-US" altLang="zh-CN" dirty="0" smtClean="0"/>
              <a:t>!!</a:t>
            </a:r>
            <a:r>
              <a:rPr lang="zh-CN" altLang="en-US" dirty="0" smtClean="0"/>
              <a:t>（不需要形成片选信号）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1FC0F4-22EB-4BC9-87C7-37B78C30334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617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当采用字扩展和位扩展所用芯片一样多时，选位扩展</a:t>
            </a:r>
            <a:r>
              <a:rPr lang="en-US" altLang="zh-CN" dirty="0" smtClean="0"/>
              <a:t>!!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1FC0F4-22EB-4BC9-87C7-37B78C30334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508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1FC0F4-22EB-4BC9-87C7-37B78C30334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161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1FC0F4-22EB-4BC9-87C7-37B78C30334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245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984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984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984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984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35EB-703C-4D5F-8C82-B3ED6C42B59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FA17-9AB0-4324-827D-3688BCF6B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658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35EB-703C-4D5F-8C82-B3ED6C42B59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FA17-9AB0-4324-827D-3688BCF6B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015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35EB-703C-4D5F-8C82-B3ED6C42B59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FA17-9AB0-4324-827D-3688BCF6B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092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35EB-703C-4D5F-8C82-B3ED6C42B59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FA17-9AB0-4324-827D-3688BCF6B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233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35EB-703C-4D5F-8C82-B3ED6C42B59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FA17-9AB0-4324-827D-3688BCF6B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294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35EB-703C-4D5F-8C82-B3ED6C42B59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FA17-9AB0-4324-827D-3688BCF6B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6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35EB-703C-4D5F-8C82-B3ED6C42B59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FA17-9AB0-4324-827D-3688BCF6B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63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35EB-703C-4D5F-8C82-B3ED6C42B59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FA17-9AB0-4324-827D-3688BCF6B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330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35EB-703C-4D5F-8C82-B3ED6C42B59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FA17-9AB0-4324-827D-3688BCF6B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846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35EB-703C-4D5F-8C82-B3ED6C42B59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FA17-9AB0-4324-827D-3688BCF6B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78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235EB-703C-4D5F-8C82-B3ED6C42B59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FA17-9AB0-4324-827D-3688BCF6B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61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235EB-703C-4D5F-8C82-B3ED6C42B595}" type="datetimeFigureOut">
              <a:rPr lang="zh-CN" altLang="en-US" smtClean="0"/>
              <a:t>2025/6/18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0FA17-9AB0-4324-827D-3688BCF6B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096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120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4" Type="http://schemas.openxmlformats.org/officeDocument/2006/relationships/image" Target="../media/image3.png"/><Relationship Id="rId9" Type="http://schemas.openxmlformats.org/officeDocument/2006/relationships/image" Target="../media/image1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★</a:t>
            </a:r>
            <a:r>
              <a:rPr lang="zh-CN" altLang="en-US" dirty="0" smtClean="0"/>
              <a:t>四、</a:t>
            </a:r>
            <a:r>
              <a:rPr lang="zh-CN" altLang="en-US" dirty="0"/>
              <a:t>计算机的</a:t>
            </a:r>
            <a:r>
              <a:rPr lang="zh-CN" altLang="en-US" dirty="0" smtClean="0"/>
              <a:t>工作原理</a:t>
            </a:r>
            <a:endParaRPr lang="zh-CN" altLang="en-US" dirty="0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40288" y="1168688"/>
            <a:ext cx="73152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dirty="0" smtClean="0"/>
              <a:t>1</a:t>
            </a:r>
            <a:r>
              <a:rPr lang="zh-CN" altLang="en-US" sz="2800" dirty="0" smtClean="0"/>
              <a:t>、对于一个可计算的问题，采用计算机解决的工作步骤：</a:t>
            </a:r>
            <a:endParaRPr lang="zh-CN" altLang="en-US" sz="2800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40288" y="2263890"/>
            <a:ext cx="609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zh-CN" altLang="en-US" sz="2800"/>
              <a:t> </a:t>
            </a:r>
            <a:r>
              <a:rPr lang="zh-CN" altLang="en-US" sz="2800" smtClean="0"/>
              <a:t>上</a:t>
            </a:r>
            <a:r>
              <a:rPr lang="zh-CN" altLang="en-US" sz="2800" dirty="0" smtClean="0"/>
              <a:t>机前准备</a:t>
            </a:r>
            <a:endParaRPr lang="zh-CN" altLang="en-US" sz="2800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22032" y="2802617"/>
            <a:ext cx="61142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 </a:t>
            </a:r>
            <a:r>
              <a:rPr lang="zh-CN" altLang="en-US" sz="2800" dirty="0" smtClean="0"/>
              <a:t>（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）分析问题建立数学模型</a:t>
            </a:r>
            <a:endParaRPr lang="en-US" altLang="zh-CN" sz="2800" dirty="0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422031" y="4563776"/>
            <a:ext cx="83584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zh-CN" altLang="en-US" sz="2800" dirty="0"/>
              <a:t> 计算</a:t>
            </a:r>
            <a:r>
              <a:rPr lang="zh-CN" altLang="en-US" sz="2800" dirty="0" smtClean="0"/>
              <a:t>机的工作过程（运行程序，解决问题</a:t>
            </a:r>
            <a:r>
              <a:rPr lang="en-US" altLang="zh-CN" sz="2800" dirty="0" smtClean="0"/>
              <a:t>……</a:t>
            </a:r>
            <a:r>
              <a:rPr lang="zh-CN" altLang="en-US" sz="2800" dirty="0" smtClean="0"/>
              <a:t>）</a:t>
            </a:r>
            <a:endParaRPr lang="en-US" altLang="zh-CN" sz="2800" dirty="0" smtClean="0"/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422031" y="3821785"/>
            <a:ext cx="77906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 </a:t>
            </a:r>
            <a:r>
              <a:rPr lang="zh-CN" altLang="en-US" sz="2800" dirty="0" smtClean="0"/>
              <a:t>（</a:t>
            </a:r>
            <a:r>
              <a:rPr lang="en-US" altLang="zh-CN" sz="2800" dirty="0" smtClean="0"/>
              <a:t>3</a:t>
            </a:r>
            <a:r>
              <a:rPr lang="zh-CN" altLang="en-US" sz="2800" dirty="0" smtClean="0"/>
              <a:t>）编制解题</a:t>
            </a:r>
            <a:r>
              <a:rPr lang="zh-CN" altLang="en-US" sz="2800" smtClean="0"/>
              <a:t>程序并编译</a:t>
            </a:r>
            <a:endParaRPr lang="en-US" altLang="zh-CN" sz="2800" dirty="0"/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422032" y="3297913"/>
            <a:ext cx="609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 </a:t>
            </a:r>
            <a:r>
              <a:rPr lang="zh-CN" altLang="en-US" sz="2800" dirty="0" smtClean="0"/>
              <a:t>（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）确定计算方法（算法）</a:t>
            </a:r>
            <a:endParaRPr lang="zh-CN" altLang="en-US" sz="2800" dirty="0"/>
          </a:p>
        </p:txBody>
      </p:sp>
      <p:sp>
        <p:nvSpPr>
          <p:cNvPr id="3" name="矩形 2"/>
          <p:cNvSpPr/>
          <p:nvPr/>
        </p:nvSpPr>
        <p:spPr>
          <a:xfrm>
            <a:off x="1184032" y="5199986"/>
            <a:ext cx="702863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程</a:t>
            </a:r>
            <a:r>
              <a:rPr lang="zh-CN" altLang="en-US" sz="2800" dirty="0" smtClean="0"/>
              <a:t>序由指令构成</a:t>
            </a:r>
            <a:endParaRPr lang="en-US" altLang="zh-CN" sz="2800" dirty="0" smtClean="0"/>
          </a:p>
          <a:p>
            <a:r>
              <a:rPr lang="zh-CN" altLang="en-US" sz="2800" dirty="0" smtClean="0"/>
              <a:t>主机如何完成一条指令？</a:t>
            </a:r>
            <a:endParaRPr lang="zh-CN" altLang="en-US" sz="2800" dirty="0"/>
          </a:p>
          <a:p>
            <a:r>
              <a:rPr lang="zh-CN" altLang="en-US" sz="2800" dirty="0" smtClean="0"/>
              <a:t>主机又如何运行程序？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1365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10" grpId="0" autoUpdateAnimBg="0"/>
      <p:bldP spid="11" grpId="0" autoUpdateAnimBg="0"/>
      <p:bldP spid="14" grpId="0" autoUpdateAnimBg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★</a:t>
            </a:r>
            <a:r>
              <a:rPr lang="zh-CN" altLang="en-US" dirty="0" smtClean="0"/>
              <a:t>四、</a:t>
            </a:r>
            <a:r>
              <a:rPr lang="zh-CN" altLang="en-US" dirty="0"/>
              <a:t>计算机的</a:t>
            </a:r>
            <a:r>
              <a:rPr lang="zh-CN" altLang="en-US" dirty="0" smtClean="0"/>
              <a:t>工作原理</a:t>
            </a:r>
            <a:endParaRPr lang="zh-CN" altLang="en-US" dirty="0"/>
          </a:p>
        </p:txBody>
      </p:sp>
      <p:pic>
        <p:nvPicPr>
          <p:cNvPr id="1026" name="Picture 2" descr="C:\Program Files (x86)\Microsoft Office\MEDIA\CAGCAT10\j0301252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528" y="4769362"/>
            <a:ext cx="1829714" cy="156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422030" y="1184428"/>
            <a:ext cx="826476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/>
              <a:t>2</a:t>
            </a:r>
            <a:r>
              <a:rPr lang="zh-CN" altLang="en-US" sz="2800" dirty="0" smtClean="0"/>
              <a:t>、主</a:t>
            </a:r>
            <a:r>
              <a:rPr lang="zh-CN" altLang="en-US" sz="2800" dirty="0"/>
              <a:t>机完成一条指令</a:t>
            </a:r>
            <a:r>
              <a:rPr lang="zh-CN" altLang="en-US" sz="2800" dirty="0" smtClean="0"/>
              <a:t>的信息流程</a:t>
            </a:r>
            <a:endParaRPr lang="en-US" altLang="zh-CN" sz="2800" dirty="0" smtClean="0"/>
          </a:p>
          <a:p>
            <a:r>
              <a:rPr lang="en-US" altLang="zh-CN" sz="2800" dirty="0"/>
              <a:t>	</a:t>
            </a:r>
            <a:endParaRPr lang="en-US" altLang="zh-CN" sz="2800" dirty="0" smtClean="0"/>
          </a:p>
          <a:p>
            <a:r>
              <a:rPr lang="en-US" altLang="zh-CN" sz="2800" dirty="0"/>
              <a:t>	</a:t>
            </a:r>
            <a:r>
              <a:rPr lang="zh-CN" altLang="en-US" sz="2800" dirty="0" smtClean="0"/>
              <a:t>第一步：取指令</a:t>
            </a:r>
            <a:endParaRPr lang="en-US" altLang="zh-CN" sz="2800" dirty="0" smtClean="0"/>
          </a:p>
          <a:p>
            <a:r>
              <a:rPr lang="en-US" altLang="zh-CN" sz="2800" dirty="0" smtClean="0"/>
              <a:t>	</a:t>
            </a:r>
            <a:r>
              <a:rPr lang="zh-CN" altLang="en-US" sz="2800" dirty="0" smtClean="0"/>
              <a:t>第二步：分析指令</a:t>
            </a:r>
            <a:endParaRPr lang="en-US" altLang="zh-CN" sz="2800" dirty="0" smtClean="0"/>
          </a:p>
          <a:p>
            <a:r>
              <a:rPr lang="en-US" altLang="zh-CN" sz="2800" dirty="0"/>
              <a:t>	</a:t>
            </a:r>
            <a:r>
              <a:rPr lang="zh-CN" altLang="en-US" sz="2800" dirty="0" smtClean="0"/>
              <a:t>第三步：执行指令</a:t>
            </a:r>
            <a:endParaRPr lang="en-US" altLang="zh-CN" sz="2800" dirty="0" smtClean="0"/>
          </a:p>
          <a:p>
            <a:endParaRPr lang="en-US" altLang="zh-CN" sz="2800" dirty="0"/>
          </a:p>
          <a:p>
            <a:r>
              <a:rPr lang="en-US" altLang="zh-CN" sz="2800" dirty="0" smtClean="0"/>
              <a:t>	</a:t>
            </a:r>
            <a:r>
              <a:rPr lang="zh-CN" altLang="en-US" sz="2800" dirty="0" smtClean="0"/>
              <a:t>完成所有指令时，取指令和分析指令所用硬件和信息流程都相同，而执行指令所用硬件和信息流程因指令不同而不同。</a:t>
            </a:r>
            <a:endParaRPr lang="en-US" altLang="zh-CN" sz="2800" dirty="0" smtClean="0"/>
          </a:p>
          <a:p>
            <a:endParaRPr lang="en-US" altLang="zh-CN" sz="2800" dirty="0"/>
          </a:p>
          <a:p>
            <a:endParaRPr lang="en-US" altLang="zh-CN" sz="2800" dirty="0" smtClean="0"/>
          </a:p>
          <a:p>
            <a:r>
              <a:rPr lang="zh-CN" altLang="en-US" sz="2800" dirty="0"/>
              <a:t>以</a:t>
            </a:r>
            <a:r>
              <a:rPr lang="zh-CN" altLang="en-US" sz="2800" b="1" dirty="0">
                <a:solidFill>
                  <a:srgbClr val="FF0000"/>
                </a:solidFill>
              </a:rPr>
              <a:t>取数、存数、加</a:t>
            </a:r>
            <a:r>
              <a:rPr lang="zh-CN" altLang="en-US" sz="2800" dirty="0"/>
              <a:t>指令为例</a:t>
            </a:r>
            <a:r>
              <a:rPr lang="zh-CN" altLang="en-US" sz="2800" dirty="0" smtClean="0"/>
              <a:t>：</a:t>
            </a:r>
            <a:endParaRPr lang="en-US" altLang="zh-CN" sz="2800" dirty="0" smtClean="0"/>
          </a:p>
        </p:txBody>
      </p:sp>
    </p:spTree>
    <p:extLst>
      <p:ext uri="{BB962C8B-B14F-4D97-AF65-F5344CB8AC3E}">
        <p14:creationId xmlns:p14="http://schemas.microsoft.com/office/powerpoint/2010/main" val="333344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★</a:t>
            </a:r>
            <a:r>
              <a:rPr lang="zh-CN" altLang="en-US" dirty="0" smtClean="0"/>
              <a:t>四、计算机</a:t>
            </a:r>
            <a:r>
              <a:rPr lang="zh-CN" altLang="en-US" dirty="0"/>
              <a:t>的</a:t>
            </a:r>
            <a:r>
              <a:rPr lang="zh-CN" altLang="en-US" dirty="0" smtClean="0"/>
              <a:t>工作</a:t>
            </a:r>
            <a:r>
              <a:rPr lang="zh-CN" altLang="en-US" dirty="0"/>
              <a:t>原理</a:t>
            </a:r>
          </a:p>
        </p:txBody>
      </p:sp>
      <p:grpSp>
        <p:nvGrpSpPr>
          <p:cNvPr id="3" name="Group 2"/>
          <p:cNvGrpSpPr/>
          <p:nvPr/>
        </p:nvGrpSpPr>
        <p:grpSpPr bwMode="auto">
          <a:xfrm>
            <a:off x="4552950" y="4332281"/>
            <a:ext cx="1085850" cy="519113"/>
            <a:chOff x="2868" y="2846"/>
            <a:chExt cx="684" cy="327"/>
          </a:xfrm>
        </p:grpSpPr>
        <p:sp>
          <p:nvSpPr>
            <p:cNvPr id="4" name="Freeform 3"/>
            <p:cNvSpPr/>
            <p:nvPr/>
          </p:nvSpPr>
          <p:spPr bwMode="auto">
            <a:xfrm>
              <a:off x="2868" y="3150"/>
              <a:ext cx="684" cy="1"/>
            </a:xfrm>
            <a:custGeom>
              <a:avLst/>
              <a:gdLst>
                <a:gd name="T0" fmla="*/ 0 w 684"/>
                <a:gd name="T1" fmla="*/ 0 h 1"/>
                <a:gd name="T2" fmla="*/ 684 w 68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4" h="1">
                  <a:moveTo>
                    <a:pt x="0" y="0"/>
                  </a:moveTo>
                  <a:lnTo>
                    <a:pt x="684" y="0"/>
                  </a:lnTo>
                </a:path>
              </a:pathLst>
            </a:cu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3168" y="284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6" name="Group 5"/>
          <p:cNvGrpSpPr/>
          <p:nvPr/>
        </p:nvGrpSpPr>
        <p:grpSpPr bwMode="auto">
          <a:xfrm>
            <a:off x="5810250" y="3395656"/>
            <a:ext cx="361950" cy="914400"/>
            <a:chOff x="3660" y="2256"/>
            <a:chExt cx="228" cy="576"/>
          </a:xfrm>
        </p:grpSpPr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V="1">
              <a:off x="3840" y="2256"/>
              <a:ext cx="0" cy="576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3660" y="237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9" name="Group 8"/>
          <p:cNvGrpSpPr/>
          <p:nvPr/>
        </p:nvGrpSpPr>
        <p:grpSpPr bwMode="auto">
          <a:xfrm>
            <a:off x="6800850" y="3395656"/>
            <a:ext cx="361950" cy="914400"/>
            <a:chOff x="4284" y="2256"/>
            <a:chExt cx="228" cy="576"/>
          </a:xfrm>
        </p:grpSpPr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4464" y="2256"/>
              <a:ext cx="0" cy="576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4284" y="237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12" name="Line 11"/>
          <p:cNvSpPr>
            <a:spLocks noChangeShapeType="1"/>
          </p:cNvSpPr>
          <p:nvPr/>
        </p:nvSpPr>
        <p:spPr bwMode="auto">
          <a:xfrm flipV="1">
            <a:off x="4038600" y="2938456"/>
            <a:ext cx="0" cy="762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" name="Group 12"/>
          <p:cNvGrpSpPr/>
          <p:nvPr/>
        </p:nvGrpSpPr>
        <p:grpSpPr bwMode="auto">
          <a:xfrm>
            <a:off x="3429000" y="2441569"/>
            <a:ext cx="609600" cy="519112"/>
            <a:chOff x="2160" y="1655"/>
            <a:chExt cx="384" cy="327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H="1">
              <a:off x="2160" y="1968"/>
              <a:ext cx="384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2238" y="165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5791200" y="3548056"/>
            <a:ext cx="0" cy="762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" name="Group 16"/>
          <p:cNvGrpSpPr/>
          <p:nvPr/>
        </p:nvGrpSpPr>
        <p:grpSpPr bwMode="auto">
          <a:xfrm>
            <a:off x="4267200" y="3051169"/>
            <a:ext cx="1524000" cy="519112"/>
            <a:chOff x="2688" y="2039"/>
            <a:chExt cx="960" cy="327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2688" y="2352"/>
              <a:ext cx="960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3180" y="2039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</p:grpSp>
      <p:grpSp>
        <p:nvGrpSpPr>
          <p:cNvPr id="20" name="Group 19"/>
          <p:cNvGrpSpPr/>
          <p:nvPr/>
        </p:nvGrpSpPr>
        <p:grpSpPr bwMode="auto">
          <a:xfrm>
            <a:off x="6115050" y="3395656"/>
            <a:ext cx="361950" cy="914400"/>
            <a:chOff x="3852" y="2256"/>
            <a:chExt cx="228" cy="576"/>
          </a:xfrm>
        </p:grpSpPr>
        <p:sp>
          <p:nvSpPr>
            <p:cNvPr id="21" name="Line 20"/>
            <p:cNvSpPr>
              <a:spLocks noChangeShapeType="1"/>
            </p:cNvSpPr>
            <p:nvPr/>
          </p:nvSpPr>
          <p:spPr bwMode="auto">
            <a:xfrm flipV="1">
              <a:off x="4032" y="2256"/>
              <a:ext cx="0" cy="576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Text Box 21"/>
            <p:cNvSpPr txBox="1">
              <a:spLocks noChangeArrowheads="1"/>
            </p:cNvSpPr>
            <p:nvPr/>
          </p:nvSpPr>
          <p:spPr bwMode="auto">
            <a:xfrm>
              <a:off x="3852" y="237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</p:grpSp>
      <p:grpSp>
        <p:nvGrpSpPr>
          <p:cNvPr id="23" name="Group 22"/>
          <p:cNvGrpSpPr/>
          <p:nvPr/>
        </p:nvGrpSpPr>
        <p:grpSpPr bwMode="auto">
          <a:xfrm>
            <a:off x="7239000" y="3395656"/>
            <a:ext cx="361950" cy="914400"/>
            <a:chOff x="4560" y="2256"/>
            <a:chExt cx="228" cy="576"/>
          </a:xfrm>
        </p:grpSpPr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4752" y="2256"/>
              <a:ext cx="0" cy="576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Text Box 24"/>
            <p:cNvSpPr txBox="1">
              <a:spLocks noChangeArrowheads="1"/>
            </p:cNvSpPr>
            <p:nvPr/>
          </p:nvSpPr>
          <p:spPr bwMode="auto">
            <a:xfrm>
              <a:off x="4560" y="237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</p:grpSp>
      <p:sp>
        <p:nvSpPr>
          <p:cNvPr id="26" name="Line 25"/>
          <p:cNvSpPr>
            <a:spLocks noChangeShapeType="1"/>
          </p:cNvSpPr>
          <p:nvPr/>
        </p:nvSpPr>
        <p:spPr bwMode="auto">
          <a:xfrm flipV="1">
            <a:off x="228600" y="3243256"/>
            <a:ext cx="0" cy="32004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26"/>
          <p:cNvSpPr>
            <a:spLocks noChangeShapeType="1"/>
          </p:cNvSpPr>
          <p:nvPr/>
        </p:nvSpPr>
        <p:spPr bwMode="auto">
          <a:xfrm>
            <a:off x="228600" y="3243256"/>
            <a:ext cx="6096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8" name="Group 27"/>
          <p:cNvGrpSpPr/>
          <p:nvPr/>
        </p:nvGrpSpPr>
        <p:grpSpPr bwMode="auto">
          <a:xfrm>
            <a:off x="7772400" y="4538656"/>
            <a:ext cx="304800" cy="1905000"/>
            <a:chOff x="4896" y="2976"/>
            <a:chExt cx="192" cy="1200"/>
          </a:xfrm>
        </p:grpSpPr>
        <p:sp>
          <p:nvSpPr>
            <p:cNvPr id="29" name="Line 28"/>
            <p:cNvSpPr>
              <a:spLocks noChangeShapeType="1"/>
            </p:cNvSpPr>
            <p:nvPr/>
          </p:nvSpPr>
          <p:spPr bwMode="auto">
            <a:xfrm>
              <a:off x="5088" y="2976"/>
              <a:ext cx="0" cy="120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 flipH="1">
              <a:off x="4896" y="2976"/>
              <a:ext cx="19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" name="Group 30"/>
          <p:cNvGrpSpPr/>
          <p:nvPr/>
        </p:nvGrpSpPr>
        <p:grpSpPr bwMode="auto">
          <a:xfrm>
            <a:off x="228600" y="5932481"/>
            <a:ext cx="7848600" cy="519113"/>
            <a:chOff x="144" y="3854"/>
            <a:chExt cx="4944" cy="327"/>
          </a:xfrm>
        </p:grpSpPr>
        <p:sp>
          <p:nvSpPr>
            <p:cNvPr id="32" name="Line 31"/>
            <p:cNvSpPr>
              <a:spLocks noChangeShapeType="1"/>
            </p:cNvSpPr>
            <p:nvPr/>
          </p:nvSpPr>
          <p:spPr bwMode="auto">
            <a:xfrm flipH="1">
              <a:off x="2496" y="4176"/>
              <a:ext cx="259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 flipH="1">
              <a:off x="144" y="4176"/>
              <a:ext cx="2400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Text Box 33"/>
            <p:cNvSpPr txBox="1">
              <a:spLocks noChangeArrowheads="1"/>
            </p:cNvSpPr>
            <p:nvPr/>
          </p:nvSpPr>
          <p:spPr bwMode="auto">
            <a:xfrm>
              <a:off x="3180" y="385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 bwMode="auto">
          <a:xfrm>
            <a:off x="7772400" y="4843456"/>
            <a:ext cx="76200" cy="685800"/>
            <a:chOff x="4944" y="4944"/>
            <a:chExt cx="48" cy="432"/>
          </a:xfrm>
        </p:grpSpPr>
        <p:sp>
          <p:nvSpPr>
            <p:cNvPr id="36" name="Line 36"/>
            <p:cNvSpPr>
              <a:spLocks noChangeShapeType="1"/>
            </p:cNvSpPr>
            <p:nvPr/>
          </p:nvSpPr>
          <p:spPr bwMode="auto">
            <a:xfrm>
              <a:off x="4992" y="4944"/>
              <a:ext cx="0" cy="43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Line 37"/>
            <p:cNvSpPr>
              <a:spLocks noChangeShapeType="1"/>
            </p:cNvSpPr>
            <p:nvPr/>
          </p:nvSpPr>
          <p:spPr bwMode="auto">
            <a:xfrm>
              <a:off x="4944" y="4944"/>
              <a:ext cx="48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8" name="Group 38"/>
          <p:cNvGrpSpPr/>
          <p:nvPr/>
        </p:nvGrpSpPr>
        <p:grpSpPr bwMode="auto">
          <a:xfrm>
            <a:off x="3690938" y="5032369"/>
            <a:ext cx="4157662" cy="519112"/>
            <a:chOff x="2325" y="3287"/>
            <a:chExt cx="2619" cy="327"/>
          </a:xfrm>
        </p:grpSpPr>
        <p:sp>
          <p:nvSpPr>
            <p:cNvPr id="39" name="Text Box 39"/>
            <p:cNvSpPr txBox="1">
              <a:spLocks noChangeArrowheads="1"/>
            </p:cNvSpPr>
            <p:nvPr/>
          </p:nvSpPr>
          <p:spPr bwMode="auto">
            <a:xfrm>
              <a:off x="3168" y="3287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0" name="Freeform 40"/>
            <p:cNvSpPr/>
            <p:nvPr/>
          </p:nvSpPr>
          <p:spPr bwMode="auto">
            <a:xfrm>
              <a:off x="2325" y="3597"/>
              <a:ext cx="2619" cy="3"/>
            </a:xfrm>
            <a:custGeom>
              <a:avLst/>
              <a:gdLst>
                <a:gd name="T0" fmla="*/ 2619 w 2619"/>
                <a:gd name="T1" fmla="*/ 3 h 3"/>
                <a:gd name="T2" fmla="*/ 0 w 2619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19" h="3">
                  <a:moveTo>
                    <a:pt x="2619" y="3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1" name="Rectangle 43"/>
          <p:cNvSpPr>
            <a:spLocks noChangeArrowheads="1"/>
          </p:cNvSpPr>
          <p:nvPr/>
        </p:nvSpPr>
        <p:spPr bwMode="auto">
          <a:xfrm>
            <a:off x="3205163" y="5224456"/>
            <a:ext cx="909637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0701">
                <a:solidFill>
                  <a:schemeClr val="folHlink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Line 44"/>
          <p:cNvSpPr>
            <a:spLocks noChangeShapeType="1"/>
          </p:cNvSpPr>
          <p:nvPr/>
        </p:nvSpPr>
        <p:spPr bwMode="auto">
          <a:xfrm>
            <a:off x="3429000" y="2938456"/>
            <a:ext cx="0" cy="3048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Line 45"/>
          <p:cNvSpPr>
            <a:spLocks noChangeShapeType="1"/>
          </p:cNvSpPr>
          <p:nvPr/>
        </p:nvSpPr>
        <p:spPr bwMode="auto">
          <a:xfrm flipV="1">
            <a:off x="4267200" y="3548056"/>
            <a:ext cx="0" cy="1524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4" name="Group 46"/>
          <p:cNvGrpSpPr/>
          <p:nvPr/>
        </p:nvGrpSpPr>
        <p:grpSpPr bwMode="auto">
          <a:xfrm>
            <a:off x="3706813" y="3929056"/>
            <a:ext cx="152400" cy="1600200"/>
            <a:chOff x="2352" y="2592"/>
            <a:chExt cx="96" cy="1008"/>
          </a:xfrm>
        </p:grpSpPr>
        <p:sp>
          <p:nvSpPr>
            <p:cNvPr id="45" name="Line 47"/>
            <p:cNvSpPr>
              <a:spLocks noChangeShapeType="1"/>
            </p:cNvSpPr>
            <p:nvPr/>
          </p:nvSpPr>
          <p:spPr bwMode="auto">
            <a:xfrm>
              <a:off x="2352" y="2592"/>
              <a:ext cx="96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48"/>
            <p:cNvSpPr>
              <a:spLocks noChangeShapeType="1"/>
            </p:cNvSpPr>
            <p:nvPr/>
          </p:nvSpPr>
          <p:spPr bwMode="auto">
            <a:xfrm flipV="1">
              <a:off x="2352" y="2592"/>
              <a:ext cx="0" cy="1008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7" name="Group 111"/>
          <p:cNvGrpSpPr/>
          <p:nvPr/>
        </p:nvGrpSpPr>
        <p:grpSpPr bwMode="auto">
          <a:xfrm>
            <a:off x="463550" y="1719256"/>
            <a:ext cx="8459788" cy="4495800"/>
            <a:chOff x="292" y="1200"/>
            <a:chExt cx="5329" cy="2832"/>
          </a:xfrm>
        </p:grpSpPr>
        <p:sp>
          <p:nvSpPr>
            <p:cNvPr id="48" name="Rectangle 50"/>
            <p:cNvSpPr>
              <a:spLocks noChangeArrowheads="1"/>
            </p:cNvSpPr>
            <p:nvPr/>
          </p:nvSpPr>
          <p:spPr bwMode="auto">
            <a:xfrm>
              <a:off x="1876" y="2246"/>
              <a:ext cx="5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2400">
                  <a:latin typeface="Times New Roman" panose="02020603050405020304" pitchFamily="18" charset="0"/>
                </a:rPr>
                <a:t>CU</a:t>
              </a:r>
              <a:endParaRPr lang="en-US" altLang="zh-CN" sz="2400"/>
            </a:p>
          </p:txBody>
        </p:sp>
        <p:sp>
          <p:nvSpPr>
            <p:cNvPr id="49" name="Rectangle 51"/>
            <p:cNvSpPr>
              <a:spLocks noChangeArrowheads="1"/>
            </p:cNvSpPr>
            <p:nvPr/>
          </p:nvSpPr>
          <p:spPr bwMode="auto">
            <a:xfrm>
              <a:off x="1818" y="2636"/>
              <a:ext cx="5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400"/>
                <a:t>控制</a:t>
              </a:r>
            </a:p>
          </p:txBody>
        </p:sp>
        <p:sp>
          <p:nvSpPr>
            <p:cNvPr id="50" name="Rectangle 52"/>
            <p:cNvSpPr>
              <a:spLocks noChangeArrowheads="1"/>
            </p:cNvSpPr>
            <p:nvPr/>
          </p:nvSpPr>
          <p:spPr bwMode="auto">
            <a:xfrm>
              <a:off x="1818" y="3045"/>
              <a:ext cx="52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400"/>
                <a:t>单元</a:t>
              </a:r>
            </a:p>
          </p:txBody>
        </p:sp>
        <p:grpSp>
          <p:nvGrpSpPr>
            <p:cNvPr id="51" name="Group 110"/>
            <p:cNvGrpSpPr/>
            <p:nvPr/>
          </p:nvGrpSpPr>
          <p:grpSpPr bwMode="auto">
            <a:xfrm>
              <a:off x="292" y="1200"/>
              <a:ext cx="5329" cy="2832"/>
              <a:chOff x="292" y="1200"/>
              <a:chExt cx="5329" cy="2832"/>
            </a:xfrm>
          </p:grpSpPr>
          <p:grpSp>
            <p:nvGrpSpPr>
              <p:cNvPr id="52" name="Group 54"/>
              <p:cNvGrpSpPr/>
              <p:nvPr/>
            </p:nvGrpSpPr>
            <p:grpSpPr bwMode="auto">
              <a:xfrm>
                <a:off x="3456" y="1200"/>
                <a:ext cx="1584" cy="2832"/>
                <a:chOff x="3456" y="1200"/>
                <a:chExt cx="1584" cy="2832"/>
              </a:xfrm>
            </p:grpSpPr>
            <p:sp>
              <p:nvSpPr>
                <p:cNvPr id="91" name="Rectangle 55"/>
                <p:cNvSpPr>
                  <a:spLocks noChangeArrowheads="1"/>
                </p:cNvSpPr>
                <p:nvPr/>
              </p:nvSpPr>
              <p:spPr bwMode="auto">
                <a:xfrm>
                  <a:off x="3456" y="1200"/>
                  <a:ext cx="1584" cy="2832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92" name="Group 56"/>
                <p:cNvGrpSpPr/>
                <p:nvPr/>
              </p:nvGrpSpPr>
              <p:grpSpPr bwMode="auto">
                <a:xfrm>
                  <a:off x="3648" y="3667"/>
                  <a:ext cx="1216" cy="365"/>
                  <a:chOff x="3648" y="3667"/>
                  <a:chExt cx="1216" cy="365"/>
                </a:xfrm>
              </p:grpSpPr>
              <p:sp>
                <p:nvSpPr>
                  <p:cNvPr id="101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3667"/>
                    <a:ext cx="1200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587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3797" y="3686"/>
                    <a:ext cx="1067" cy="26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zh-CN" altLang="en-US" sz="2800"/>
                      <a:t>主存储器</a:t>
                    </a:r>
                  </a:p>
                </p:txBody>
              </p:sp>
            </p:grpSp>
            <p:grpSp>
              <p:nvGrpSpPr>
                <p:cNvPr id="93" name="Group 59"/>
                <p:cNvGrpSpPr/>
                <p:nvPr/>
              </p:nvGrpSpPr>
              <p:grpSpPr bwMode="auto">
                <a:xfrm>
                  <a:off x="3552" y="2832"/>
                  <a:ext cx="1376" cy="576"/>
                  <a:chOff x="3552" y="2832"/>
                  <a:chExt cx="1376" cy="576"/>
                </a:xfrm>
              </p:grpSpPr>
              <p:sp>
                <p:nvSpPr>
                  <p:cNvPr id="97" name="Rectangle 60"/>
                  <p:cNvSpPr>
                    <a:spLocks noChangeArrowheads="1"/>
                  </p:cNvSpPr>
                  <p:nvPr/>
                </p:nvSpPr>
                <p:spPr bwMode="auto">
                  <a:xfrm>
                    <a:off x="4266" y="2832"/>
                    <a:ext cx="630" cy="576"/>
                  </a:xfrm>
                  <a:prstGeom prst="rect">
                    <a:avLst/>
                  </a:prstGeom>
                  <a:noFill/>
                  <a:ln w="28575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8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4354" y="2985"/>
                    <a:ext cx="574" cy="2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en-US" altLang="zh-CN" sz="2400">
                        <a:latin typeface="Times New Roman" panose="02020603050405020304" pitchFamily="18" charset="0"/>
                      </a:rPr>
                      <a:t>MDR</a:t>
                    </a:r>
                    <a:endParaRPr lang="en-US" altLang="zh-CN" sz="2400"/>
                  </a:p>
                </p:txBody>
              </p:sp>
              <p:sp>
                <p:nvSpPr>
                  <p:cNvPr id="99" name="Rectangle 62"/>
                  <p:cNvSpPr>
                    <a:spLocks noChangeArrowheads="1"/>
                  </p:cNvSpPr>
                  <p:nvPr/>
                </p:nvSpPr>
                <p:spPr bwMode="auto">
                  <a:xfrm>
                    <a:off x="3552" y="2832"/>
                    <a:ext cx="624" cy="576"/>
                  </a:xfrm>
                  <a:prstGeom prst="rect">
                    <a:avLst/>
                  </a:prstGeom>
                  <a:noFill/>
                  <a:ln w="28575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" name="Rectangle 63"/>
                  <p:cNvSpPr>
                    <a:spLocks noChangeArrowheads="1"/>
                  </p:cNvSpPr>
                  <p:nvPr/>
                </p:nvSpPr>
                <p:spPr bwMode="auto">
                  <a:xfrm>
                    <a:off x="3631" y="2985"/>
                    <a:ext cx="628" cy="2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en-US" altLang="zh-CN" sz="2400">
                        <a:latin typeface="Times New Roman" panose="02020603050405020304" pitchFamily="18" charset="0"/>
                      </a:rPr>
                      <a:t>MAR</a:t>
                    </a:r>
                    <a:endParaRPr lang="en-US" altLang="zh-CN" sz="2400"/>
                  </a:p>
                </p:txBody>
              </p:sp>
            </p:grpSp>
            <p:grpSp>
              <p:nvGrpSpPr>
                <p:cNvPr id="94" name="Group 64"/>
                <p:cNvGrpSpPr/>
                <p:nvPr/>
              </p:nvGrpSpPr>
              <p:grpSpPr bwMode="auto">
                <a:xfrm>
                  <a:off x="3552" y="1344"/>
                  <a:ext cx="1392" cy="912"/>
                  <a:chOff x="3552" y="1344"/>
                  <a:chExt cx="1392" cy="912"/>
                </a:xfrm>
              </p:grpSpPr>
              <p:sp>
                <p:nvSpPr>
                  <p:cNvPr id="95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3552" y="1344"/>
                    <a:ext cx="1392" cy="912"/>
                  </a:xfrm>
                  <a:prstGeom prst="rect">
                    <a:avLst/>
                  </a:prstGeom>
                  <a:noFill/>
                  <a:ln w="28575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6" name="Text Box 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20" y="1602"/>
                    <a:ext cx="884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zh-CN" altLang="en-US" sz="3200"/>
                      <a:t>存储体</a:t>
                    </a:r>
                  </a:p>
                </p:txBody>
              </p:sp>
            </p:grpSp>
          </p:grpSp>
          <p:grpSp>
            <p:nvGrpSpPr>
              <p:cNvPr id="53" name="Group 67"/>
              <p:cNvGrpSpPr/>
              <p:nvPr/>
            </p:nvGrpSpPr>
            <p:grpSpPr bwMode="auto">
              <a:xfrm>
                <a:off x="292" y="1200"/>
                <a:ext cx="2876" cy="2830"/>
                <a:chOff x="292" y="1200"/>
                <a:chExt cx="2876" cy="2830"/>
              </a:xfrm>
            </p:grpSpPr>
            <p:sp>
              <p:nvSpPr>
                <p:cNvPr id="59" name="Rectangle 68"/>
                <p:cNvSpPr>
                  <a:spLocks noChangeArrowheads="1"/>
                </p:cNvSpPr>
                <p:nvPr/>
              </p:nvSpPr>
              <p:spPr bwMode="auto">
                <a:xfrm>
                  <a:off x="292" y="1200"/>
                  <a:ext cx="2828" cy="2830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" name="Rectangle 69"/>
                <p:cNvSpPr>
                  <a:spLocks noChangeArrowheads="1"/>
                </p:cNvSpPr>
                <p:nvPr/>
              </p:nvSpPr>
              <p:spPr bwMode="auto">
                <a:xfrm>
                  <a:off x="1360" y="1248"/>
                  <a:ext cx="526" cy="3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algn="ctr"/>
                  <a:r>
                    <a:rPr lang="en-US" altLang="zh-CN" sz="3200">
                      <a:latin typeface="Times New Roman" panose="02020603050405020304" pitchFamily="18" charset="0"/>
                    </a:rPr>
                    <a:t>CPU</a:t>
                  </a:r>
                  <a:endParaRPr lang="en-US" altLang="zh-CN" sz="3200"/>
                </a:p>
              </p:txBody>
            </p:sp>
            <p:grpSp>
              <p:nvGrpSpPr>
                <p:cNvPr id="61" name="Group 70"/>
                <p:cNvGrpSpPr/>
                <p:nvPr/>
              </p:nvGrpSpPr>
              <p:grpSpPr bwMode="auto">
                <a:xfrm>
                  <a:off x="1680" y="1584"/>
                  <a:ext cx="1488" cy="2352"/>
                  <a:chOff x="1680" y="1584"/>
                  <a:chExt cx="1488" cy="2352"/>
                </a:xfrm>
              </p:grpSpPr>
              <p:grpSp>
                <p:nvGrpSpPr>
                  <p:cNvPr id="79" name="Group 71"/>
                  <p:cNvGrpSpPr/>
                  <p:nvPr/>
                </p:nvGrpSpPr>
                <p:grpSpPr bwMode="auto">
                  <a:xfrm>
                    <a:off x="2427" y="2980"/>
                    <a:ext cx="741" cy="284"/>
                    <a:chOff x="2427" y="2980"/>
                    <a:chExt cx="741" cy="284"/>
                  </a:xfrm>
                </p:grpSpPr>
                <p:sp>
                  <p:nvSpPr>
                    <p:cNvPr id="89" name="Rectangle 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27" y="2980"/>
                      <a:ext cx="438" cy="284"/>
                    </a:xfrm>
                    <a:prstGeom prst="rect">
                      <a:avLst/>
                    </a:prstGeom>
                    <a:noFill/>
                    <a:ln w="20701">
                      <a:solidFill>
                        <a:schemeClr val="folHlink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0" name="Rectangle 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11" y="2980"/>
                      <a:ext cx="657" cy="26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/>
                    <a:p>
                      <a:r>
                        <a:rPr lang="en-US" altLang="zh-CN" sz="2800">
                          <a:latin typeface="Times New Roman" panose="02020603050405020304" pitchFamily="18" charset="0"/>
                        </a:rPr>
                        <a:t>PC</a:t>
                      </a:r>
                      <a:endParaRPr lang="en-US" altLang="zh-CN" sz="2800"/>
                    </a:p>
                  </p:txBody>
                </p:sp>
              </p:grpSp>
              <p:sp>
                <p:nvSpPr>
                  <p:cNvPr id="80" name="Rectangle 74"/>
                  <p:cNvSpPr>
                    <a:spLocks noChangeArrowheads="1"/>
                  </p:cNvSpPr>
                  <p:nvPr/>
                </p:nvSpPr>
                <p:spPr bwMode="auto">
                  <a:xfrm>
                    <a:off x="2064" y="3610"/>
                    <a:ext cx="816" cy="2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zh-CN" altLang="en-US" sz="2400"/>
                      <a:t>控制器</a:t>
                    </a:r>
                  </a:p>
                </p:txBody>
              </p:sp>
              <p:sp>
                <p:nvSpPr>
                  <p:cNvPr id="81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1778" y="2160"/>
                    <a:ext cx="478" cy="1300"/>
                  </a:xfrm>
                  <a:prstGeom prst="rect">
                    <a:avLst/>
                  </a:prstGeom>
                  <a:noFill/>
                  <a:ln w="20701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2" name="Group 76"/>
                  <p:cNvGrpSpPr/>
                  <p:nvPr/>
                </p:nvGrpSpPr>
                <p:grpSpPr bwMode="auto">
                  <a:xfrm>
                    <a:off x="2427" y="2453"/>
                    <a:ext cx="693" cy="283"/>
                    <a:chOff x="2427" y="2453"/>
                    <a:chExt cx="693" cy="283"/>
                  </a:xfrm>
                </p:grpSpPr>
                <p:sp>
                  <p:nvSpPr>
                    <p:cNvPr id="87" name="Rectangle 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27" y="2453"/>
                      <a:ext cx="438" cy="283"/>
                    </a:xfrm>
                    <a:prstGeom prst="rect">
                      <a:avLst/>
                    </a:prstGeom>
                    <a:noFill/>
                    <a:ln w="20701">
                      <a:solidFill>
                        <a:schemeClr val="folHlink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" name="Rectangle 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20" y="2453"/>
                      <a:ext cx="600" cy="26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/>
                    <a:p>
                      <a:r>
                        <a:rPr lang="en-US" altLang="zh-CN" sz="2800">
                          <a:latin typeface="Times New Roman" panose="02020603050405020304" pitchFamily="18" charset="0"/>
                        </a:rPr>
                        <a:t>IR</a:t>
                      </a:r>
                      <a:endParaRPr lang="en-US" altLang="zh-CN" sz="2800"/>
                    </a:p>
                  </p:txBody>
                </p:sp>
              </p:grpSp>
              <p:sp>
                <p:nvSpPr>
                  <p:cNvPr id="83" name="Rectangle 79"/>
                  <p:cNvSpPr>
                    <a:spLocks noChangeArrowheads="1"/>
                  </p:cNvSpPr>
                  <p:nvPr/>
                </p:nvSpPr>
                <p:spPr bwMode="auto">
                  <a:xfrm>
                    <a:off x="1680" y="1584"/>
                    <a:ext cx="1296" cy="2352"/>
                  </a:xfrm>
                  <a:prstGeom prst="rect">
                    <a:avLst/>
                  </a:prstGeom>
                  <a:noFill/>
                  <a:ln w="28575">
                    <a:solidFill>
                      <a:schemeClr val="folHlink"/>
                    </a:solidFill>
                    <a:prstDash val="lgDashDot"/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4" name="Line 8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48" y="1584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folHlink"/>
                    </a:solidFill>
                    <a:round/>
                    <a:tailEnd type="stealth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5" name="Line 8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064" y="1584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folHlink"/>
                    </a:solidFill>
                    <a:round/>
                    <a:tailEnd type="stealth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6" name="Text Box 8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14" y="1754"/>
                    <a:ext cx="30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2400">
                        <a:solidFill>
                          <a:schemeClr val="folHlink"/>
                        </a:solidFill>
                        <a:latin typeface="Times New Roman" panose="02020603050405020304"/>
                      </a:rPr>
                      <a:t>…</a:t>
                    </a:r>
                    <a:endParaRPr lang="zh-CN" altLang="en-US" sz="2400">
                      <a:solidFill>
                        <a:schemeClr val="folHlink"/>
                      </a:solidFill>
                    </a:endParaRPr>
                  </a:p>
                </p:txBody>
              </p:sp>
            </p:grpSp>
            <p:grpSp>
              <p:nvGrpSpPr>
                <p:cNvPr id="62" name="Group 83"/>
                <p:cNvGrpSpPr/>
                <p:nvPr/>
              </p:nvGrpSpPr>
              <p:grpSpPr bwMode="auto">
                <a:xfrm>
                  <a:off x="384" y="1584"/>
                  <a:ext cx="1209" cy="2352"/>
                  <a:chOff x="384" y="1584"/>
                  <a:chExt cx="1209" cy="2352"/>
                </a:xfrm>
              </p:grpSpPr>
              <p:sp>
                <p:nvSpPr>
                  <p:cNvPr id="63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779" y="3486"/>
                    <a:ext cx="495" cy="3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587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698" y="3601"/>
                    <a:ext cx="785" cy="2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zh-CN" altLang="en-US" sz="2400"/>
                      <a:t>运算器</a:t>
                    </a:r>
                  </a:p>
                </p:txBody>
              </p:sp>
              <p:sp>
                <p:nvSpPr>
                  <p:cNvPr id="65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1117" y="1988"/>
                    <a:ext cx="374" cy="282"/>
                  </a:xfrm>
                  <a:prstGeom prst="rect">
                    <a:avLst/>
                  </a:prstGeom>
                  <a:noFill/>
                  <a:ln w="20701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6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1178" y="2038"/>
                    <a:ext cx="415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en-US" altLang="zh-CN" sz="1800">
                        <a:latin typeface="Times New Roman" panose="02020603050405020304" pitchFamily="18" charset="0"/>
                      </a:rPr>
                      <a:t>MQ</a:t>
                    </a:r>
                    <a:endParaRPr lang="en-US" altLang="zh-CN" sz="4000"/>
                  </a:p>
                </p:txBody>
              </p:sp>
              <p:sp>
                <p:nvSpPr>
                  <p:cNvPr id="67" name="Freeform 88"/>
                  <p:cNvSpPr/>
                  <p:nvPr/>
                </p:nvSpPr>
                <p:spPr bwMode="auto">
                  <a:xfrm>
                    <a:off x="772" y="2272"/>
                    <a:ext cx="94" cy="317"/>
                  </a:xfrm>
                  <a:custGeom>
                    <a:avLst/>
                    <a:gdLst>
                      <a:gd name="T0" fmla="*/ 0 w 120"/>
                      <a:gd name="T1" fmla="*/ 80 h 315"/>
                      <a:gd name="T2" fmla="*/ 30 w 120"/>
                      <a:gd name="T3" fmla="*/ 80 h 315"/>
                      <a:gd name="T4" fmla="*/ 30 w 120"/>
                      <a:gd name="T5" fmla="*/ 315 h 315"/>
                      <a:gd name="T6" fmla="*/ 89 w 120"/>
                      <a:gd name="T7" fmla="*/ 315 h 315"/>
                      <a:gd name="T8" fmla="*/ 89 w 120"/>
                      <a:gd name="T9" fmla="*/ 80 h 315"/>
                      <a:gd name="T10" fmla="*/ 120 w 120"/>
                      <a:gd name="T11" fmla="*/ 80 h 315"/>
                      <a:gd name="T12" fmla="*/ 59 w 120"/>
                      <a:gd name="T13" fmla="*/ 0 h 315"/>
                      <a:gd name="T14" fmla="*/ 0 w 120"/>
                      <a:gd name="T15" fmla="*/ 80 h 3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20" h="315">
                        <a:moveTo>
                          <a:pt x="0" y="80"/>
                        </a:moveTo>
                        <a:lnTo>
                          <a:pt x="30" y="80"/>
                        </a:lnTo>
                        <a:lnTo>
                          <a:pt x="30" y="315"/>
                        </a:lnTo>
                        <a:lnTo>
                          <a:pt x="89" y="315"/>
                        </a:lnTo>
                        <a:lnTo>
                          <a:pt x="89" y="80"/>
                        </a:lnTo>
                        <a:lnTo>
                          <a:pt x="120" y="80"/>
                        </a:lnTo>
                        <a:lnTo>
                          <a:pt x="59" y="0"/>
                        </a:lnTo>
                        <a:lnTo>
                          <a:pt x="0" y="80"/>
                        </a:lnTo>
                        <a:close/>
                      </a:path>
                    </a:pathLst>
                  </a:custGeom>
                  <a:noFill/>
                  <a:ln w="15875">
                    <a:solidFill>
                      <a:schemeClr val="folHlink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8" name="Rectangle 89"/>
                  <p:cNvSpPr>
                    <a:spLocks noChangeArrowheads="1"/>
                  </p:cNvSpPr>
                  <p:nvPr/>
                </p:nvSpPr>
                <p:spPr bwMode="auto">
                  <a:xfrm>
                    <a:off x="542" y="1988"/>
                    <a:ext cx="373" cy="282"/>
                  </a:xfrm>
                  <a:prstGeom prst="rect">
                    <a:avLst/>
                  </a:prstGeom>
                  <a:noFill/>
                  <a:ln w="20701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578" y="2039"/>
                    <a:ext cx="536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en-US" altLang="zh-CN" sz="1800">
                        <a:latin typeface="Times New Roman" panose="02020603050405020304" pitchFamily="18" charset="0"/>
                      </a:rPr>
                      <a:t>ACC</a:t>
                    </a:r>
                    <a:endParaRPr lang="en-US" altLang="zh-CN" sz="4000"/>
                  </a:p>
                </p:txBody>
              </p:sp>
              <p:sp>
                <p:nvSpPr>
                  <p:cNvPr id="70" name="Rectangle 91"/>
                  <p:cNvSpPr>
                    <a:spLocks noChangeArrowheads="1"/>
                  </p:cNvSpPr>
                  <p:nvPr/>
                </p:nvSpPr>
                <p:spPr bwMode="auto">
                  <a:xfrm>
                    <a:off x="542" y="2591"/>
                    <a:ext cx="373" cy="281"/>
                  </a:xfrm>
                  <a:prstGeom prst="rect">
                    <a:avLst/>
                  </a:prstGeom>
                  <a:noFill/>
                  <a:ln w="20701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" name="Rectangle 92"/>
                  <p:cNvSpPr>
                    <a:spLocks noChangeArrowheads="1"/>
                  </p:cNvSpPr>
                  <p:nvPr/>
                </p:nvSpPr>
                <p:spPr bwMode="auto">
                  <a:xfrm>
                    <a:off x="575" y="2641"/>
                    <a:ext cx="304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ctr"/>
                    <a:r>
                      <a:rPr lang="en-US" altLang="zh-CN" sz="1800">
                        <a:latin typeface="Times New Roman" panose="02020603050405020304" pitchFamily="18" charset="0"/>
                      </a:rPr>
                      <a:t>ALU</a:t>
                    </a:r>
                    <a:endParaRPr lang="en-US" altLang="zh-CN" sz="4000"/>
                  </a:p>
                </p:txBody>
              </p:sp>
              <p:sp>
                <p:nvSpPr>
                  <p:cNvPr id="72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539" y="3198"/>
                    <a:ext cx="373" cy="281"/>
                  </a:xfrm>
                  <a:prstGeom prst="rect">
                    <a:avLst/>
                  </a:prstGeom>
                  <a:noFill/>
                  <a:ln w="20701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3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680" y="3246"/>
                    <a:ext cx="268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en-US" altLang="zh-CN" sz="1800">
                        <a:latin typeface="Times New Roman" panose="02020603050405020304" pitchFamily="18" charset="0"/>
                      </a:rPr>
                      <a:t>X</a:t>
                    </a:r>
                    <a:endParaRPr lang="en-US" altLang="zh-CN" sz="4000"/>
                  </a:p>
                </p:txBody>
              </p:sp>
              <p:sp>
                <p:nvSpPr>
                  <p:cNvPr id="74" name="Freeform 95"/>
                  <p:cNvSpPr/>
                  <p:nvPr/>
                </p:nvSpPr>
                <p:spPr bwMode="auto">
                  <a:xfrm>
                    <a:off x="682" y="2880"/>
                    <a:ext cx="92" cy="316"/>
                  </a:xfrm>
                  <a:custGeom>
                    <a:avLst/>
                    <a:gdLst>
                      <a:gd name="T0" fmla="*/ 0 w 119"/>
                      <a:gd name="T1" fmla="*/ 77 h 313"/>
                      <a:gd name="T2" fmla="*/ 30 w 119"/>
                      <a:gd name="T3" fmla="*/ 77 h 313"/>
                      <a:gd name="T4" fmla="*/ 30 w 119"/>
                      <a:gd name="T5" fmla="*/ 313 h 313"/>
                      <a:gd name="T6" fmla="*/ 89 w 119"/>
                      <a:gd name="T7" fmla="*/ 313 h 313"/>
                      <a:gd name="T8" fmla="*/ 89 w 119"/>
                      <a:gd name="T9" fmla="*/ 77 h 313"/>
                      <a:gd name="T10" fmla="*/ 119 w 119"/>
                      <a:gd name="T11" fmla="*/ 77 h 313"/>
                      <a:gd name="T12" fmla="*/ 60 w 119"/>
                      <a:gd name="T13" fmla="*/ 0 h 313"/>
                      <a:gd name="T14" fmla="*/ 0 w 119"/>
                      <a:gd name="T15" fmla="*/ 77 h 3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19" h="313">
                        <a:moveTo>
                          <a:pt x="0" y="77"/>
                        </a:moveTo>
                        <a:lnTo>
                          <a:pt x="30" y="77"/>
                        </a:lnTo>
                        <a:lnTo>
                          <a:pt x="30" y="313"/>
                        </a:lnTo>
                        <a:lnTo>
                          <a:pt x="89" y="313"/>
                        </a:lnTo>
                        <a:lnTo>
                          <a:pt x="89" y="77"/>
                        </a:lnTo>
                        <a:lnTo>
                          <a:pt x="119" y="77"/>
                        </a:lnTo>
                        <a:lnTo>
                          <a:pt x="60" y="0"/>
                        </a:lnTo>
                        <a:lnTo>
                          <a:pt x="0" y="77"/>
                        </a:lnTo>
                        <a:close/>
                      </a:path>
                    </a:pathLst>
                  </a:custGeom>
                  <a:noFill/>
                  <a:ln w="15875">
                    <a:solidFill>
                      <a:schemeClr val="folHlink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" name="Rectangle 96"/>
                  <p:cNvSpPr>
                    <a:spLocks noChangeArrowheads="1"/>
                  </p:cNvSpPr>
                  <p:nvPr/>
                </p:nvSpPr>
                <p:spPr bwMode="auto">
                  <a:xfrm>
                    <a:off x="384" y="1584"/>
                    <a:ext cx="1200" cy="2352"/>
                  </a:xfrm>
                  <a:prstGeom prst="rect">
                    <a:avLst/>
                  </a:prstGeom>
                  <a:noFill/>
                  <a:ln w="28575">
                    <a:solidFill>
                      <a:schemeClr val="folHlink"/>
                    </a:solidFill>
                    <a:prstDash val="lgDashDot"/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6" name="Freeform 97"/>
                  <p:cNvSpPr/>
                  <p:nvPr/>
                </p:nvSpPr>
                <p:spPr bwMode="auto">
                  <a:xfrm rot="10800000">
                    <a:off x="576" y="2275"/>
                    <a:ext cx="94" cy="317"/>
                  </a:xfrm>
                  <a:custGeom>
                    <a:avLst/>
                    <a:gdLst>
                      <a:gd name="T0" fmla="*/ 0 w 120"/>
                      <a:gd name="T1" fmla="*/ 80 h 315"/>
                      <a:gd name="T2" fmla="*/ 30 w 120"/>
                      <a:gd name="T3" fmla="*/ 80 h 315"/>
                      <a:gd name="T4" fmla="*/ 30 w 120"/>
                      <a:gd name="T5" fmla="*/ 315 h 315"/>
                      <a:gd name="T6" fmla="*/ 89 w 120"/>
                      <a:gd name="T7" fmla="*/ 315 h 315"/>
                      <a:gd name="T8" fmla="*/ 89 w 120"/>
                      <a:gd name="T9" fmla="*/ 80 h 315"/>
                      <a:gd name="T10" fmla="*/ 120 w 120"/>
                      <a:gd name="T11" fmla="*/ 80 h 315"/>
                      <a:gd name="T12" fmla="*/ 59 w 120"/>
                      <a:gd name="T13" fmla="*/ 0 h 315"/>
                      <a:gd name="T14" fmla="*/ 0 w 120"/>
                      <a:gd name="T15" fmla="*/ 80 h 3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20" h="315">
                        <a:moveTo>
                          <a:pt x="0" y="80"/>
                        </a:moveTo>
                        <a:lnTo>
                          <a:pt x="30" y="80"/>
                        </a:lnTo>
                        <a:lnTo>
                          <a:pt x="30" y="315"/>
                        </a:lnTo>
                        <a:lnTo>
                          <a:pt x="89" y="315"/>
                        </a:lnTo>
                        <a:lnTo>
                          <a:pt x="89" y="80"/>
                        </a:lnTo>
                        <a:lnTo>
                          <a:pt x="120" y="80"/>
                        </a:lnTo>
                        <a:lnTo>
                          <a:pt x="59" y="0"/>
                        </a:lnTo>
                        <a:lnTo>
                          <a:pt x="0" y="80"/>
                        </a:lnTo>
                        <a:close/>
                      </a:path>
                    </a:pathLst>
                  </a:custGeom>
                  <a:noFill/>
                  <a:ln w="15875">
                    <a:solidFill>
                      <a:schemeClr val="folHlink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7" name="Freeform 98"/>
                  <p:cNvSpPr/>
                  <p:nvPr/>
                </p:nvSpPr>
                <p:spPr bwMode="auto">
                  <a:xfrm>
                    <a:off x="915" y="2064"/>
                    <a:ext cx="200" cy="1"/>
                  </a:xfrm>
                  <a:custGeom>
                    <a:avLst/>
                    <a:gdLst>
                      <a:gd name="T0" fmla="*/ 0 w 200"/>
                      <a:gd name="T1" fmla="*/ 0 h 1"/>
                      <a:gd name="T2" fmla="*/ 200 w 200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00" h="1">
                        <a:moveTo>
                          <a:pt x="0" y="0"/>
                        </a:moveTo>
                        <a:lnTo>
                          <a:pt x="200" y="0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8" name="Freeform 99"/>
                  <p:cNvSpPr/>
                  <p:nvPr/>
                </p:nvSpPr>
                <p:spPr bwMode="auto">
                  <a:xfrm>
                    <a:off x="915" y="2184"/>
                    <a:ext cx="203" cy="1"/>
                  </a:xfrm>
                  <a:custGeom>
                    <a:avLst/>
                    <a:gdLst>
                      <a:gd name="T0" fmla="*/ 203 w 203"/>
                      <a:gd name="T1" fmla="*/ 0 h 1"/>
                      <a:gd name="T2" fmla="*/ 0 w 203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03" h="1">
                        <a:moveTo>
                          <a:pt x="203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54" name="Group 109"/>
              <p:cNvGrpSpPr/>
              <p:nvPr/>
            </p:nvGrpSpPr>
            <p:grpSpPr bwMode="auto">
              <a:xfrm>
                <a:off x="5232" y="1200"/>
                <a:ext cx="389" cy="2832"/>
                <a:chOff x="5232" y="1200"/>
                <a:chExt cx="389" cy="2832"/>
              </a:xfrm>
            </p:grpSpPr>
            <p:grpSp>
              <p:nvGrpSpPr>
                <p:cNvPr id="55" name="Group 108"/>
                <p:cNvGrpSpPr/>
                <p:nvPr/>
              </p:nvGrpSpPr>
              <p:grpSpPr bwMode="auto">
                <a:xfrm>
                  <a:off x="5232" y="1200"/>
                  <a:ext cx="389" cy="2832"/>
                  <a:chOff x="5232" y="1200"/>
                  <a:chExt cx="389" cy="2832"/>
                </a:xfrm>
              </p:grpSpPr>
              <p:sp>
                <p:nvSpPr>
                  <p:cNvPr id="57" name="Rectangle 102"/>
                  <p:cNvSpPr>
                    <a:spLocks noChangeArrowheads="1"/>
                  </p:cNvSpPr>
                  <p:nvPr/>
                </p:nvSpPr>
                <p:spPr bwMode="auto">
                  <a:xfrm>
                    <a:off x="5232" y="1200"/>
                    <a:ext cx="389" cy="283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8" name="Rectangle 103"/>
                  <p:cNvSpPr>
                    <a:spLocks noChangeArrowheads="1"/>
                  </p:cNvSpPr>
                  <p:nvPr/>
                </p:nvSpPr>
                <p:spPr bwMode="auto">
                  <a:xfrm>
                    <a:off x="5324" y="2341"/>
                    <a:ext cx="243" cy="68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ctr"/>
                    <a:r>
                      <a:rPr lang="en-US" altLang="zh-CN" sz="2100">
                        <a:latin typeface="Times New Roman" panose="02020603050405020304" pitchFamily="18" charset="0"/>
                      </a:rPr>
                      <a:t>I/O</a:t>
                    </a:r>
                  </a:p>
                  <a:p>
                    <a:pPr algn="ctr"/>
                    <a:r>
                      <a:rPr lang="zh-CN" altLang="en-US" sz="2100">
                        <a:latin typeface="Times New Roman" panose="02020603050405020304" pitchFamily="18" charset="0"/>
                      </a:rPr>
                      <a:t>设</a:t>
                    </a:r>
                  </a:p>
                  <a:p>
                    <a:pPr algn="ctr"/>
                    <a:r>
                      <a:rPr lang="zh-CN" altLang="en-US" sz="2100">
                        <a:latin typeface="Times New Roman" panose="02020603050405020304" pitchFamily="18" charset="0"/>
                      </a:rPr>
                      <a:t>备</a:t>
                    </a:r>
                    <a:endParaRPr lang="zh-CN" altLang="en-US" sz="4000"/>
                  </a:p>
                </p:txBody>
              </p:sp>
            </p:grpSp>
            <p:sp>
              <p:nvSpPr>
                <p:cNvPr id="56" name="Rectangle 104"/>
                <p:cNvSpPr>
                  <a:spLocks noChangeArrowheads="1"/>
                </p:cNvSpPr>
                <p:nvPr/>
              </p:nvSpPr>
              <p:spPr bwMode="auto">
                <a:xfrm>
                  <a:off x="5232" y="1200"/>
                  <a:ext cx="384" cy="2832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05" name="Text Box 41"/>
          <p:cNvSpPr txBox="1">
            <a:spLocks noChangeArrowheads="1"/>
          </p:cNvSpPr>
          <p:nvPr/>
        </p:nvSpPr>
        <p:spPr bwMode="auto">
          <a:xfrm>
            <a:off x="288131" y="1013460"/>
            <a:ext cx="8356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600" smtClean="0">
                <a:latin typeface="Times New Roman" panose="02020603050405020304" pitchFamily="18" charset="0"/>
              </a:rPr>
              <a:t>(1)</a:t>
            </a:r>
            <a:r>
              <a:rPr lang="en-US" altLang="zh-CN" sz="3600" smtClean="0"/>
              <a:t> </a:t>
            </a:r>
            <a:r>
              <a:rPr lang="zh-CN" altLang="en-US" sz="3600" smtClean="0"/>
              <a:t>取</a:t>
            </a:r>
            <a:r>
              <a:rPr lang="zh-CN" altLang="en-US" sz="3600" dirty="0" smtClean="0"/>
              <a:t>数</a:t>
            </a:r>
            <a:r>
              <a:rPr lang="zh-CN" altLang="en-US" sz="3600"/>
              <a:t>指</a:t>
            </a:r>
            <a:r>
              <a:rPr lang="zh-CN" altLang="en-US" sz="3600" smtClean="0"/>
              <a:t>令</a:t>
            </a:r>
            <a:endParaRPr lang="zh-CN" altLang="en-US" sz="3600" dirty="0"/>
          </a:p>
        </p:txBody>
      </p:sp>
      <p:sp>
        <p:nvSpPr>
          <p:cNvPr id="106" name="TextBox 105"/>
          <p:cNvSpPr txBox="1"/>
          <p:nvPr/>
        </p:nvSpPr>
        <p:spPr>
          <a:xfrm>
            <a:off x="3342617" y="3974"/>
            <a:ext cx="5801383" cy="46166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prstClr val="white"/>
                </a:solidFill>
                <a:latin typeface="+mn-ea"/>
              </a:rPr>
              <a:t>取指令：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PC</a:t>
            </a:r>
            <a:r>
              <a:rPr lang="zh-CN" altLang="zh-CN" sz="2400" b="1" dirty="0" smtClean="0">
                <a:solidFill>
                  <a:prstClr val="white"/>
                </a:solidFill>
                <a:latin typeface="+mn-ea"/>
              </a:rPr>
              <a:t>→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MAR</a:t>
            </a:r>
            <a:r>
              <a:rPr lang="zh-CN" altLang="zh-CN" sz="2400" b="1" dirty="0" smtClean="0">
                <a:solidFill>
                  <a:prstClr val="white"/>
                </a:solidFill>
                <a:latin typeface="+mn-ea"/>
              </a:rPr>
              <a:t>→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M</a:t>
            </a:r>
            <a:r>
              <a:rPr lang="zh-CN" altLang="zh-CN" sz="2400" b="1" dirty="0" smtClean="0">
                <a:solidFill>
                  <a:prstClr val="white"/>
                </a:solidFill>
                <a:latin typeface="+mn-ea"/>
              </a:rPr>
              <a:t>→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MDR</a:t>
            </a:r>
            <a:r>
              <a:rPr lang="zh-CN" altLang="zh-CN" sz="2400" b="1" dirty="0" smtClean="0">
                <a:solidFill>
                  <a:prstClr val="white"/>
                </a:solidFill>
                <a:latin typeface="+mn-ea"/>
              </a:rPr>
              <a:t>→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IR</a:t>
            </a:r>
            <a:endParaRPr lang="zh-CN" altLang="en-US" sz="24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07" name="TextBox 51"/>
          <p:cNvSpPr txBox="1"/>
          <p:nvPr/>
        </p:nvSpPr>
        <p:spPr>
          <a:xfrm>
            <a:off x="3343252" y="424344"/>
            <a:ext cx="5801383" cy="46166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prstClr val="white"/>
                </a:solidFill>
                <a:latin typeface="+mn-ea"/>
              </a:rPr>
              <a:t>分析指令：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OP(IR)→CU</a:t>
            </a:r>
            <a:endParaRPr lang="zh-CN" altLang="en-US" sz="24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08" name="TextBox 51"/>
          <p:cNvSpPr txBox="1"/>
          <p:nvPr/>
        </p:nvSpPr>
        <p:spPr>
          <a:xfrm>
            <a:off x="3342617" y="874559"/>
            <a:ext cx="5801383" cy="46166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prstClr val="white"/>
                </a:solidFill>
                <a:latin typeface="+mn-ea"/>
              </a:rPr>
              <a:t>执行指令：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Ad(IR)→MAR→M→MDR→ACC</a:t>
            </a:r>
            <a:endParaRPr lang="zh-CN" altLang="en-US" sz="2400" b="1" dirty="0">
              <a:solidFill>
                <a:prstClr val="white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2444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26" grpId="0" animBg="1"/>
      <p:bldP spid="27" grpId="0" animBg="1"/>
      <p:bldP spid="42" grpId="0" animBg="1"/>
      <p:bldP spid="43" grpId="0" animBg="1"/>
      <p:bldP spid="105" grpId="0"/>
      <p:bldP spid="106" grpId="0" bldLvl="0" animBg="1"/>
      <p:bldP spid="107" grpId="0" bldLvl="0" animBg="1"/>
      <p:bldP spid="108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★</a:t>
            </a:r>
            <a:r>
              <a:rPr lang="zh-CN" altLang="en-US" dirty="0" smtClean="0"/>
              <a:t>四、</a:t>
            </a:r>
            <a:r>
              <a:rPr lang="zh-CN" altLang="en-US" dirty="0"/>
              <a:t>计算机的</a:t>
            </a:r>
            <a:r>
              <a:rPr lang="zh-CN" altLang="en-US" dirty="0" smtClean="0"/>
              <a:t>工作</a:t>
            </a:r>
            <a:r>
              <a:rPr lang="zh-CN" altLang="en-US" dirty="0"/>
              <a:t>原理</a:t>
            </a:r>
          </a:p>
        </p:txBody>
      </p:sp>
      <p:sp>
        <p:nvSpPr>
          <p:cNvPr id="105" name="Text Box 41"/>
          <p:cNvSpPr txBox="1">
            <a:spLocks noChangeArrowheads="1"/>
          </p:cNvSpPr>
          <p:nvPr/>
        </p:nvSpPr>
        <p:spPr bwMode="auto">
          <a:xfrm>
            <a:off x="268370" y="1025782"/>
            <a:ext cx="8356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600" dirty="0" smtClean="0">
                <a:latin typeface="Times New Roman" panose="02020603050405020304" pitchFamily="18" charset="0"/>
              </a:rPr>
              <a:t>(2)</a:t>
            </a:r>
            <a:r>
              <a:rPr lang="zh-CN" altLang="en-US" sz="3600" dirty="0" smtClean="0"/>
              <a:t> 存数</a:t>
            </a:r>
            <a:r>
              <a:rPr lang="zh-CN" altLang="en-US" sz="3600" dirty="0"/>
              <a:t>指令</a:t>
            </a:r>
          </a:p>
        </p:txBody>
      </p:sp>
      <p:grpSp>
        <p:nvGrpSpPr>
          <p:cNvPr id="106" name="Group 2"/>
          <p:cNvGrpSpPr/>
          <p:nvPr/>
        </p:nvGrpSpPr>
        <p:grpSpPr bwMode="auto">
          <a:xfrm>
            <a:off x="4552950" y="4332281"/>
            <a:ext cx="1085850" cy="519113"/>
            <a:chOff x="2868" y="2846"/>
            <a:chExt cx="684" cy="327"/>
          </a:xfrm>
        </p:grpSpPr>
        <p:sp>
          <p:nvSpPr>
            <p:cNvPr id="107" name="Freeform 3"/>
            <p:cNvSpPr/>
            <p:nvPr/>
          </p:nvSpPr>
          <p:spPr bwMode="auto">
            <a:xfrm>
              <a:off x="2868" y="3150"/>
              <a:ext cx="684" cy="1"/>
            </a:xfrm>
            <a:custGeom>
              <a:avLst/>
              <a:gdLst>
                <a:gd name="T0" fmla="*/ 0 w 684"/>
                <a:gd name="T1" fmla="*/ 0 h 1"/>
                <a:gd name="T2" fmla="*/ 684 w 68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4" h="1">
                  <a:moveTo>
                    <a:pt x="0" y="0"/>
                  </a:moveTo>
                  <a:lnTo>
                    <a:pt x="684" y="0"/>
                  </a:lnTo>
                </a:path>
              </a:pathLst>
            </a:cu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" name="Text Box 4"/>
            <p:cNvSpPr txBox="1">
              <a:spLocks noChangeArrowheads="1"/>
            </p:cNvSpPr>
            <p:nvPr/>
          </p:nvSpPr>
          <p:spPr bwMode="auto">
            <a:xfrm>
              <a:off x="3168" y="284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09" name="Group 5"/>
          <p:cNvGrpSpPr/>
          <p:nvPr/>
        </p:nvGrpSpPr>
        <p:grpSpPr bwMode="auto">
          <a:xfrm>
            <a:off x="5810250" y="3395656"/>
            <a:ext cx="361950" cy="914400"/>
            <a:chOff x="3660" y="2256"/>
            <a:chExt cx="228" cy="576"/>
          </a:xfrm>
        </p:grpSpPr>
        <p:sp>
          <p:nvSpPr>
            <p:cNvPr id="110" name="Line 6"/>
            <p:cNvSpPr>
              <a:spLocks noChangeShapeType="1"/>
            </p:cNvSpPr>
            <p:nvPr/>
          </p:nvSpPr>
          <p:spPr bwMode="auto">
            <a:xfrm flipV="1">
              <a:off x="3840" y="2256"/>
              <a:ext cx="0" cy="576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" name="Text Box 7"/>
            <p:cNvSpPr txBox="1">
              <a:spLocks noChangeArrowheads="1"/>
            </p:cNvSpPr>
            <p:nvPr/>
          </p:nvSpPr>
          <p:spPr bwMode="auto">
            <a:xfrm>
              <a:off x="3660" y="237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2" name="Group 8"/>
          <p:cNvGrpSpPr/>
          <p:nvPr/>
        </p:nvGrpSpPr>
        <p:grpSpPr bwMode="auto">
          <a:xfrm>
            <a:off x="6800850" y="3395656"/>
            <a:ext cx="361950" cy="914400"/>
            <a:chOff x="4284" y="2256"/>
            <a:chExt cx="228" cy="576"/>
          </a:xfrm>
        </p:grpSpPr>
        <p:sp>
          <p:nvSpPr>
            <p:cNvPr id="113" name="Line 9"/>
            <p:cNvSpPr>
              <a:spLocks noChangeShapeType="1"/>
            </p:cNvSpPr>
            <p:nvPr/>
          </p:nvSpPr>
          <p:spPr bwMode="auto">
            <a:xfrm>
              <a:off x="4464" y="2256"/>
              <a:ext cx="0" cy="576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" name="Text Box 10"/>
            <p:cNvSpPr txBox="1">
              <a:spLocks noChangeArrowheads="1"/>
            </p:cNvSpPr>
            <p:nvPr/>
          </p:nvSpPr>
          <p:spPr bwMode="auto">
            <a:xfrm>
              <a:off x="4284" y="237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115" name="Line 11"/>
          <p:cNvSpPr>
            <a:spLocks noChangeShapeType="1"/>
          </p:cNvSpPr>
          <p:nvPr/>
        </p:nvSpPr>
        <p:spPr bwMode="auto">
          <a:xfrm flipV="1">
            <a:off x="4038600" y="2938456"/>
            <a:ext cx="0" cy="762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6" name="Group 12"/>
          <p:cNvGrpSpPr/>
          <p:nvPr/>
        </p:nvGrpSpPr>
        <p:grpSpPr bwMode="auto">
          <a:xfrm>
            <a:off x="3429000" y="2441569"/>
            <a:ext cx="609600" cy="519112"/>
            <a:chOff x="2160" y="1655"/>
            <a:chExt cx="384" cy="327"/>
          </a:xfrm>
        </p:grpSpPr>
        <p:sp>
          <p:nvSpPr>
            <p:cNvPr id="117" name="Line 13"/>
            <p:cNvSpPr>
              <a:spLocks noChangeShapeType="1"/>
            </p:cNvSpPr>
            <p:nvPr/>
          </p:nvSpPr>
          <p:spPr bwMode="auto">
            <a:xfrm flipH="1">
              <a:off x="2160" y="1968"/>
              <a:ext cx="384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" name="Text Box 14"/>
            <p:cNvSpPr txBox="1">
              <a:spLocks noChangeArrowheads="1"/>
            </p:cNvSpPr>
            <p:nvPr/>
          </p:nvSpPr>
          <p:spPr bwMode="auto">
            <a:xfrm>
              <a:off x="2238" y="165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119" name="Line 15"/>
          <p:cNvSpPr>
            <a:spLocks noChangeShapeType="1"/>
          </p:cNvSpPr>
          <p:nvPr/>
        </p:nvSpPr>
        <p:spPr bwMode="auto">
          <a:xfrm>
            <a:off x="5791200" y="3548056"/>
            <a:ext cx="0" cy="762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0" name="Group 16"/>
          <p:cNvGrpSpPr/>
          <p:nvPr/>
        </p:nvGrpSpPr>
        <p:grpSpPr bwMode="auto">
          <a:xfrm>
            <a:off x="4267200" y="3051169"/>
            <a:ext cx="1524000" cy="519112"/>
            <a:chOff x="2688" y="2039"/>
            <a:chExt cx="960" cy="327"/>
          </a:xfrm>
        </p:grpSpPr>
        <p:sp>
          <p:nvSpPr>
            <p:cNvPr id="121" name="Line 17"/>
            <p:cNvSpPr>
              <a:spLocks noChangeShapeType="1"/>
            </p:cNvSpPr>
            <p:nvPr/>
          </p:nvSpPr>
          <p:spPr bwMode="auto">
            <a:xfrm>
              <a:off x="2688" y="2352"/>
              <a:ext cx="960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" name="Text Box 18"/>
            <p:cNvSpPr txBox="1">
              <a:spLocks noChangeArrowheads="1"/>
            </p:cNvSpPr>
            <p:nvPr/>
          </p:nvSpPr>
          <p:spPr bwMode="auto">
            <a:xfrm>
              <a:off x="3180" y="2039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6</a:t>
              </a:r>
              <a:endPara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3" name="Group 19"/>
          <p:cNvGrpSpPr/>
          <p:nvPr/>
        </p:nvGrpSpPr>
        <p:grpSpPr bwMode="auto">
          <a:xfrm>
            <a:off x="6115050" y="3395656"/>
            <a:ext cx="361950" cy="914400"/>
            <a:chOff x="3852" y="2256"/>
            <a:chExt cx="228" cy="576"/>
          </a:xfrm>
        </p:grpSpPr>
        <p:sp>
          <p:nvSpPr>
            <p:cNvPr id="124" name="Line 20"/>
            <p:cNvSpPr>
              <a:spLocks noChangeShapeType="1"/>
            </p:cNvSpPr>
            <p:nvPr/>
          </p:nvSpPr>
          <p:spPr bwMode="auto">
            <a:xfrm flipV="1">
              <a:off x="4032" y="2256"/>
              <a:ext cx="0" cy="576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Text Box 21"/>
            <p:cNvSpPr txBox="1">
              <a:spLocks noChangeArrowheads="1"/>
            </p:cNvSpPr>
            <p:nvPr/>
          </p:nvSpPr>
          <p:spPr bwMode="auto">
            <a:xfrm>
              <a:off x="3852" y="237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7</a:t>
              </a:r>
              <a:endPara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6" name="Group 22"/>
          <p:cNvGrpSpPr/>
          <p:nvPr/>
        </p:nvGrpSpPr>
        <p:grpSpPr bwMode="auto">
          <a:xfrm>
            <a:off x="7239000" y="3395656"/>
            <a:ext cx="361950" cy="914400"/>
            <a:chOff x="4560" y="2256"/>
            <a:chExt cx="228" cy="576"/>
          </a:xfrm>
        </p:grpSpPr>
        <p:sp>
          <p:nvSpPr>
            <p:cNvPr id="127" name="Line 23"/>
            <p:cNvSpPr>
              <a:spLocks noChangeShapeType="1"/>
            </p:cNvSpPr>
            <p:nvPr/>
          </p:nvSpPr>
          <p:spPr bwMode="auto">
            <a:xfrm>
              <a:off x="4752" y="2256"/>
              <a:ext cx="0" cy="576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" name="Text Box 24"/>
            <p:cNvSpPr txBox="1">
              <a:spLocks noChangeArrowheads="1"/>
            </p:cNvSpPr>
            <p:nvPr/>
          </p:nvSpPr>
          <p:spPr bwMode="auto">
            <a:xfrm>
              <a:off x="4560" y="237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</p:grpSp>
      <p:sp>
        <p:nvSpPr>
          <p:cNvPr id="129" name="Line 25"/>
          <p:cNvSpPr>
            <a:spLocks noChangeShapeType="1"/>
          </p:cNvSpPr>
          <p:nvPr/>
        </p:nvSpPr>
        <p:spPr bwMode="auto">
          <a:xfrm flipV="1">
            <a:off x="228600" y="3243256"/>
            <a:ext cx="0" cy="32004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" name="Line 26"/>
          <p:cNvSpPr>
            <a:spLocks noChangeShapeType="1"/>
          </p:cNvSpPr>
          <p:nvPr/>
        </p:nvSpPr>
        <p:spPr bwMode="auto">
          <a:xfrm>
            <a:off x="228600" y="3243256"/>
            <a:ext cx="6096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1" name="Group 27"/>
          <p:cNvGrpSpPr/>
          <p:nvPr/>
        </p:nvGrpSpPr>
        <p:grpSpPr bwMode="auto">
          <a:xfrm>
            <a:off x="7772400" y="4538656"/>
            <a:ext cx="304800" cy="1905000"/>
            <a:chOff x="4896" y="2976"/>
            <a:chExt cx="192" cy="1200"/>
          </a:xfrm>
        </p:grpSpPr>
        <p:sp>
          <p:nvSpPr>
            <p:cNvPr id="132" name="Line 28"/>
            <p:cNvSpPr>
              <a:spLocks noChangeShapeType="1"/>
            </p:cNvSpPr>
            <p:nvPr/>
          </p:nvSpPr>
          <p:spPr bwMode="auto">
            <a:xfrm>
              <a:off x="5088" y="2976"/>
              <a:ext cx="0" cy="120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" name="Line 29"/>
            <p:cNvSpPr>
              <a:spLocks noChangeShapeType="1"/>
            </p:cNvSpPr>
            <p:nvPr/>
          </p:nvSpPr>
          <p:spPr bwMode="auto">
            <a:xfrm flipH="1">
              <a:off x="4896" y="2976"/>
              <a:ext cx="19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4" name="Group 30"/>
          <p:cNvGrpSpPr/>
          <p:nvPr/>
        </p:nvGrpSpPr>
        <p:grpSpPr bwMode="auto">
          <a:xfrm>
            <a:off x="228600" y="5932481"/>
            <a:ext cx="7848600" cy="519113"/>
            <a:chOff x="144" y="3854"/>
            <a:chExt cx="4944" cy="327"/>
          </a:xfrm>
        </p:grpSpPr>
        <p:sp>
          <p:nvSpPr>
            <p:cNvPr id="135" name="Line 31"/>
            <p:cNvSpPr>
              <a:spLocks noChangeShapeType="1"/>
            </p:cNvSpPr>
            <p:nvPr/>
          </p:nvSpPr>
          <p:spPr bwMode="auto">
            <a:xfrm flipH="1">
              <a:off x="2496" y="4176"/>
              <a:ext cx="259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" name="Line 32"/>
            <p:cNvSpPr>
              <a:spLocks noChangeShapeType="1"/>
            </p:cNvSpPr>
            <p:nvPr/>
          </p:nvSpPr>
          <p:spPr bwMode="auto">
            <a:xfrm flipH="1">
              <a:off x="144" y="4176"/>
              <a:ext cx="2400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" name="Text Box 33"/>
            <p:cNvSpPr txBox="1">
              <a:spLocks noChangeArrowheads="1"/>
            </p:cNvSpPr>
            <p:nvPr/>
          </p:nvSpPr>
          <p:spPr bwMode="auto">
            <a:xfrm>
              <a:off x="3180" y="385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8</a:t>
              </a:r>
              <a:endPara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8" name="Group 35"/>
          <p:cNvGrpSpPr/>
          <p:nvPr/>
        </p:nvGrpSpPr>
        <p:grpSpPr bwMode="auto">
          <a:xfrm>
            <a:off x="7772400" y="4843456"/>
            <a:ext cx="76200" cy="685800"/>
            <a:chOff x="4944" y="4944"/>
            <a:chExt cx="48" cy="432"/>
          </a:xfrm>
        </p:grpSpPr>
        <p:sp>
          <p:nvSpPr>
            <p:cNvPr id="139" name="Line 36"/>
            <p:cNvSpPr>
              <a:spLocks noChangeShapeType="1"/>
            </p:cNvSpPr>
            <p:nvPr/>
          </p:nvSpPr>
          <p:spPr bwMode="auto">
            <a:xfrm>
              <a:off x="4992" y="4944"/>
              <a:ext cx="0" cy="43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0" name="Line 37"/>
            <p:cNvSpPr>
              <a:spLocks noChangeShapeType="1"/>
            </p:cNvSpPr>
            <p:nvPr/>
          </p:nvSpPr>
          <p:spPr bwMode="auto">
            <a:xfrm>
              <a:off x="4944" y="4944"/>
              <a:ext cx="48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1" name="Group 38"/>
          <p:cNvGrpSpPr/>
          <p:nvPr/>
        </p:nvGrpSpPr>
        <p:grpSpPr bwMode="auto">
          <a:xfrm>
            <a:off x="3690938" y="5032369"/>
            <a:ext cx="4157662" cy="519112"/>
            <a:chOff x="2325" y="3287"/>
            <a:chExt cx="2619" cy="327"/>
          </a:xfrm>
        </p:grpSpPr>
        <p:sp>
          <p:nvSpPr>
            <p:cNvPr id="142" name="Text Box 39"/>
            <p:cNvSpPr txBox="1">
              <a:spLocks noChangeArrowheads="1"/>
            </p:cNvSpPr>
            <p:nvPr/>
          </p:nvSpPr>
          <p:spPr bwMode="auto">
            <a:xfrm>
              <a:off x="3168" y="3287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43" name="Freeform 40"/>
            <p:cNvSpPr/>
            <p:nvPr/>
          </p:nvSpPr>
          <p:spPr bwMode="auto">
            <a:xfrm>
              <a:off x="2325" y="3597"/>
              <a:ext cx="2619" cy="3"/>
            </a:xfrm>
            <a:custGeom>
              <a:avLst/>
              <a:gdLst>
                <a:gd name="T0" fmla="*/ 2619 w 2619"/>
                <a:gd name="T1" fmla="*/ 3 h 3"/>
                <a:gd name="T2" fmla="*/ 0 w 2619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19" h="3">
                  <a:moveTo>
                    <a:pt x="2619" y="3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4" name="Rectangle 42"/>
          <p:cNvSpPr>
            <a:spLocks noChangeArrowheads="1"/>
          </p:cNvSpPr>
          <p:nvPr/>
        </p:nvSpPr>
        <p:spPr bwMode="auto">
          <a:xfrm>
            <a:off x="3205163" y="5224456"/>
            <a:ext cx="909637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0701">
                <a:solidFill>
                  <a:schemeClr val="folHlink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" name="Line 43"/>
          <p:cNvSpPr>
            <a:spLocks noChangeShapeType="1"/>
          </p:cNvSpPr>
          <p:nvPr/>
        </p:nvSpPr>
        <p:spPr bwMode="auto">
          <a:xfrm>
            <a:off x="3429000" y="2938456"/>
            <a:ext cx="0" cy="3048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" name="Line 44"/>
          <p:cNvSpPr>
            <a:spLocks noChangeShapeType="1"/>
          </p:cNvSpPr>
          <p:nvPr/>
        </p:nvSpPr>
        <p:spPr bwMode="auto">
          <a:xfrm flipV="1">
            <a:off x="4267200" y="3548056"/>
            <a:ext cx="0" cy="1524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7" name="Group 45"/>
          <p:cNvGrpSpPr/>
          <p:nvPr/>
        </p:nvGrpSpPr>
        <p:grpSpPr bwMode="auto">
          <a:xfrm>
            <a:off x="3706813" y="3929056"/>
            <a:ext cx="152400" cy="1600200"/>
            <a:chOff x="2352" y="2592"/>
            <a:chExt cx="96" cy="1008"/>
          </a:xfrm>
        </p:grpSpPr>
        <p:sp>
          <p:nvSpPr>
            <p:cNvPr id="148" name="Line 46"/>
            <p:cNvSpPr>
              <a:spLocks noChangeShapeType="1"/>
            </p:cNvSpPr>
            <p:nvPr/>
          </p:nvSpPr>
          <p:spPr bwMode="auto">
            <a:xfrm>
              <a:off x="2352" y="2592"/>
              <a:ext cx="96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Line 47"/>
            <p:cNvSpPr>
              <a:spLocks noChangeShapeType="1"/>
            </p:cNvSpPr>
            <p:nvPr/>
          </p:nvSpPr>
          <p:spPr bwMode="auto">
            <a:xfrm flipV="1">
              <a:off x="2352" y="2592"/>
              <a:ext cx="0" cy="1008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1" name="Group 108"/>
          <p:cNvGrpSpPr/>
          <p:nvPr/>
        </p:nvGrpSpPr>
        <p:grpSpPr bwMode="auto">
          <a:xfrm>
            <a:off x="463550" y="1719256"/>
            <a:ext cx="8459788" cy="4495800"/>
            <a:chOff x="292" y="1200"/>
            <a:chExt cx="5329" cy="2832"/>
          </a:xfrm>
        </p:grpSpPr>
        <p:sp>
          <p:nvSpPr>
            <p:cNvPr id="152" name="Rectangle 109"/>
            <p:cNvSpPr>
              <a:spLocks noChangeArrowheads="1"/>
            </p:cNvSpPr>
            <p:nvPr/>
          </p:nvSpPr>
          <p:spPr bwMode="auto">
            <a:xfrm>
              <a:off x="1876" y="2246"/>
              <a:ext cx="5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2400">
                  <a:latin typeface="Times New Roman" panose="02020603050405020304" pitchFamily="18" charset="0"/>
                </a:rPr>
                <a:t>CU</a:t>
              </a:r>
              <a:endParaRPr lang="en-US" altLang="zh-CN" sz="2400"/>
            </a:p>
          </p:txBody>
        </p:sp>
        <p:sp>
          <p:nvSpPr>
            <p:cNvPr id="153" name="Rectangle 110"/>
            <p:cNvSpPr>
              <a:spLocks noChangeArrowheads="1"/>
            </p:cNvSpPr>
            <p:nvPr/>
          </p:nvSpPr>
          <p:spPr bwMode="auto">
            <a:xfrm>
              <a:off x="1818" y="2636"/>
              <a:ext cx="5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400"/>
                <a:t>控制</a:t>
              </a:r>
            </a:p>
          </p:txBody>
        </p:sp>
        <p:sp>
          <p:nvSpPr>
            <p:cNvPr id="154" name="Rectangle 111"/>
            <p:cNvSpPr>
              <a:spLocks noChangeArrowheads="1"/>
            </p:cNvSpPr>
            <p:nvPr/>
          </p:nvSpPr>
          <p:spPr bwMode="auto">
            <a:xfrm>
              <a:off x="1818" y="3045"/>
              <a:ext cx="52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400"/>
                <a:t>单元</a:t>
              </a:r>
            </a:p>
          </p:txBody>
        </p:sp>
        <p:grpSp>
          <p:nvGrpSpPr>
            <p:cNvPr id="155" name="Group 112"/>
            <p:cNvGrpSpPr/>
            <p:nvPr/>
          </p:nvGrpSpPr>
          <p:grpSpPr bwMode="auto">
            <a:xfrm>
              <a:off x="292" y="1200"/>
              <a:ext cx="5329" cy="2832"/>
              <a:chOff x="292" y="1200"/>
              <a:chExt cx="5329" cy="2832"/>
            </a:xfrm>
          </p:grpSpPr>
          <p:grpSp>
            <p:nvGrpSpPr>
              <p:cNvPr id="156" name="Group 113"/>
              <p:cNvGrpSpPr/>
              <p:nvPr/>
            </p:nvGrpSpPr>
            <p:grpSpPr bwMode="auto">
              <a:xfrm>
                <a:off x="3456" y="1200"/>
                <a:ext cx="1584" cy="2832"/>
                <a:chOff x="3456" y="1200"/>
                <a:chExt cx="1584" cy="2832"/>
              </a:xfrm>
            </p:grpSpPr>
            <p:sp>
              <p:nvSpPr>
                <p:cNvPr id="195" name="Rectangle 114"/>
                <p:cNvSpPr>
                  <a:spLocks noChangeArrowheads="1"/>
                </p:cNvSpPr>
                <p:nvPr/>
              </p:nvSpPr>
              <p:spPr bwMode="auto">
                <a:xfrm>
                  <a:off x="3456" y="1200"/>
                  <a:ext cx="1584" cy="2832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96" name="Group 115"/>
                <p:cNvGrpSpPr/>
                <p:nvPr/>
              </p:nvGrpSpPr>
              <p:grpSpPr bwMode="auto">
                <a:xfrm>
                  <a:off x="3648" y="3667"/>
                  <a:ext cx="1216" cy="365"/>
                  <a:chOff x="3648" y="3667"/>
                  <a:chExt cx="1216" cy="365"/>
                </a:xfrm>
              </p:grpSpPr>
              <p:sp>
                <p:nvSpPr>
                  <p:cNvPr id="205" name="Rectangle 116"/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3667"/>
                    <a:ext cx="1200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587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3797" y="3686"/>
                    <a:ext cx="1067" cy="26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zh-CN" altLang="en-US" sz="2800" dirty="0"/>
                      <a:t>主存储器</a:t>
                    </a:r>
                  </a:p>
                </p:txBody>
              </p:sp>
            </p:grpSp>
            <p:grpSp>
              <p:nvGrpSpPr>
                <p:cNvPr id="197" name="Group 118"/>
                <p:cNvGrpSpPr/>
                <p:nvPr/>
              </p:nvGrpSpPr>
              <p:grpSpPr bwMode="auto">
                <a:xfrm>
                  <a:off x="3552" y="2832"/>
                  <a:ext cx="1376" cy="576"/>
                  <a:chOff x="3552" y="2832"/>
                  <a:chExt cx="1376" cy="576"/>
                </a:xfrm>
              </p:grpSpPr>
              <p:sp>
                <p:nvSpPr>
                  <p:cNvPr id="201" name="Rectangle 119"/>
                  <p:cNvSpPr>
                    <a:spLocks noChangeArrowheads="1"/>
                  </p:cNvSpPr>
                  <p:nvPr/>
                </p:nvSpPr>
                <p:spPr bwMode="auto">
                  <a:xfrm>
                    <a:off x="4266" y="2832"/>
                    <a:ext cx="630" cy="576"/>
                  </a:xfrm>
                  <a:prstGeom prst="rect">
                    <a:avLst/>
                  </a:prstGeom>
                  <a:noFill/>
                  <a:ln w="28575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2" name="Rectangle 120"/>
                  <p:cNvSpPr>
                    <a:spLocks noChangeArrowheads="1"/>
                  </p:cNvSpPr>
                  <p:nvPr/>
                </p:nvSpPr>
                <p:spPr bwMode="auto">
                  <a:xfrm>
                    <a:off x="4354" y="2985"/>
                    <a:ext cx="574" cy="2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en-US" altLang="zh-CN" sz="2400">
                        <a:latin typeface="Times New Roman" panose="02020603050405020304" pitchFamily="18" charset="0"/>
                      </a:rPr>
                      <a:t>MDR</a:t>
                    </a:r>
                    <a:endParaRPr lang="en-US" altLang="zh-CN" sz="2400"/>
                  </a:p>
                </p:txBody>
              </p:sp>
              <p:sp>
                <p:nvSpPr>
                  <p:cNvPr id="203" name="Rectangle 121"/>
                  <p:cNvSpPr>
                    <a:spLocks noChangeArrowheads="1"/>
                  </p:cNvSpPr>
                  <p:nvPr/>
                </p:nvSpPr>
                <p:spPr bwMode="auto">
                  <a:xfrm>
                    <a:off x="3552" y="2832"/>
                    <a:ext cx="624" cy="576"/>
                  </a:xfrm>
                  <a:prstGeom prst="rect">
                    <a:avLst/>
                  </a:prstGeom>
                  <a:noFill/>
                  <a:ln w="28575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4" name="Rectangle 122"/>
                  <p:cNvSpPr>
                    <a:spLocks noChangeArrowheads="1"/>
                  </p:cNvSpPr>
                  <p:nvPr/>
                </p:nvSpPr>
                <p:spPr bwMode="auto">
                  <a:xfrm>
                    <a:off x="3631" y="2985"/>
                    <a:ext cx="628" cy="2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en-US" altLang="zh-CN" sz="2400">
                        <a:latin typeface="Times New Roman" panose="02020603050405020304" pitchFamily="18" charset="0"/>
                      </a:rPr>
                      <a:t>MAR</a:t>
                    </a:r>
                    <a:endParaRPr lang="en-US" altLang="zh-CN" sz="2400"/>
                  </a:p>
                </p:txBody>
              </p:sp>
            </p:grpSp>
            <p:grpSp>
              <p:nvGrpSpPr>
                <p:cNvPr id="198" name="Group 123"/>
                <p:cNvGrpSpPr/>
                <p:nvPr/>
              </p:nvGrpSpPr>
              <p:grpSpPr bwMode="auto">
                <a:xfrm>
                  <a:off x="3552" y="1344"/>
                  <a:ext cx="1392" cy="912"/>
                  <a:chOff x="3552" y="1344"/>
                  <a:chExt cx="1392" cy="912"/>
                </a:xfrm>
              </p:grpSpPr>
              <p:sp>
                <p:nvSpPr>
                  <p:cNvPr id="199" name="Rectangle 124"/>
                  <p:cNvSpPr>
                    <a:spLocks noChangeArrowheads="1"/>
                  </p:cNvSpPr>
                  <p:nvPr/>
                </p:nvSpPr>
                <p:spPr bwMode="auto">
                  <a:xfrm>
                    <a:off x="3552" y="1344"/>
                    <a:ext cx="1392" cy="912"/>
                  </a:xfrm>
                  <a:prstGeom prst="rect">
                    <a:avLst/>
                  </a:prstGeom>
                  <a:noFill/>
                  <a:ln w="28575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0" name="Text Box 1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20" y="1602"/>
                    <a:ext cx="884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zh-CN" altLang="en-US" sz="3200"/>
                      <a:t>存储体</a:t>
                    </a:r>
                  </a:p>
                </p:txBody>
              </p:sp>
            </p:grpSp>
          </p:grpSp>
          <p:grpSp>
            <p:nvGrpSpPr>
              <p:cNvPr id="157" name="Group 126"/>
              <p:cNvGrpSpPr/>
              <p:nvPr/>
            </p:nvGrpSpPr>
            <p:grpSpPr bwMode="auto">
              <a:xfrm>
                <a:off x="292" y="1200"/>
                <a:ext cx="2876" cy="2830"/>
                <a:chOff x="292" y="1200"/>
                <a:chExt cx="2876" cy="2830"/>
              </a:xfrm>
            </p:grpSpPr>
            <p:sp>
              <p:nvSpPr>
                <p:cNvPr id="163" name="Rectangle 127"/>
                <p:cNvSpPr>
                  <a:spLocks noChangeArrowheads="1"/>
                </p:cNvSpPr>
                <p:nvPr/>
              </p:nvSpPr>
              <p:spPr bwMode="auto">
                <a:xfrm>
                  <a:off x="292" y="1200"/>
                  <a:ext cx="2828" cy="2830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" name="Rectangle 128"/>
                <p:cNvSpPr>
                  <a:spLocks noChangeArrowheads="1"/>
                </p:cNvSpPr>
                <p:nvPr/>
              </p:nvSpPr>
              <p:spPr bwMode="auto">
                <a:xfrm>
                  <a:off x="1360" y="1248"/>
                  <a:ext cx="526" cy="3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algn="ctr"/>
                  <a:r>
                    <a:rPr lang="en-US" altLang="zh-CN" sz="3200">
                      <a:latin typeface="Times New Roman" panose="02020603050405020304" pitchFamily="18" charset="0"/>
                    </a:rPr>
                    <a:t>CPU</a:t>
                  </a:r>
                  <a:endParaRPr lang="en-US" altLang="zh-CN" sz="3200"/>
                </a:p>
              </p:txBody>
            </p:sp>
            <p:grpSp>
              <p:nvGrpSpPr>
                <p:cNvPr id="165" name="Group 129"/>
                <p:cNvGrpSpPr/>
                <p:nvPr/>
              </p:nvGrpSpPr>
              <p:grpSpPr bwMode="auto">
                <a:xfrm>
                  <a:off x="1680" y="1584"/>
                  <a:ext cx="1488" cy="2352"/>
                  <a:chOff x="1680" y="1584"/>
                  <a:chExt cx="1488" cy="2352"/>
                </a:xfrm>
              </p:grpSpPr>
              <p:grpSp>
                <p:nvGrpSpPr>
                  <p:cNvPr id="183" name="Group 130"/>
                  <p:cNvGrpSpPr/>
                  <p:nvPr/>
                </p:nvGrpSpPr>
                <p:grpSpPr bwMode="auto">
                  <a:xfrm>
                    <a:off x="2427" y="2980"/>
                    <a:ext cx="741" cy="284"/>
                    <a:chOff x="2427" y="2980"/>
                    <a:chExt cx="741" cy="284"/>
                  </a:xfrm>
                </p:grpSpPr>
                <p:sp>
                  <p:nvSpPr>
                    <p:cNvPr id="193" name="Rectangle 13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27" y="2980"/>
                      <a:ext cx="438" cy="284"/>
                    </a:xfrm>
                    <a:prstGeom prst="rect">
                      <a:avLst/>
                    </a:prstGeom>
                    <a:noFill/>
                    <a:ln w="20701">
                      <a:solidFill>
                        <a:schemeClr val="folHlink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94" name="Rectangle 1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11" y="2980"/>
                      <a:ext cx="657" cy="26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/>
                    <a:p>
                      <a:r>
                        <a:rPr lang="en-US" altLang="zh-CN" sz="2800">
                          <a:latin typeface="Times New Roman" panose="02020603050405020304" pitchFamily="18" charset="0"/>
                        </a:rPr>
                        <a:t>PC</a:t>
                      </a:r>
                      <a:endParaRPr lang="en-US" altLang="zh-CN" sz="2800"/>
                    </a:p>
                  </p:txBody>
                </p:sp>
              </p:grpSp>
              <p:sp>
                <p:nvSpPr>
                  <p:cNvPr id="184" name="Rectangle 133"/>
                  <p:cNvSpPr>
                    <a:spLocks noChangeArrowheads="1"/>
                  </p:cNvSpPr>
                  <p:nvPr/>
                </p:nvSpPr>
                <p:spPr bwMode="auto">
                  <a:xfrm>
                    <a:off x="2064" y="3610"/>
                    <a:ext cx="816" cy="2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zh-CN" altLang="en-US" sz="2400"/>
                      <a:t>控制器</a:t>
                    </a:r>
                  </a:p>
                </p:txBody>
              </p:sp>
              <p:sp>
                <p:nvSpPr>
                  <p:cNvPr id="185" name="Rectangle 134"/>
                  <p:cNvSpPr>
                    <a:spLocks noChangeArrowheads="1"/>
                  </p:cNvSpPr>
                  <p:nvPr/>
                </p:nvSpPr>
                <p:spPr bwMode="auto">
                  <a:xfrm>
                    <a:off x="1778" y="2160"/>
                    <a:ext cx="478" cy="1300"/>
                  </a:xfrm>
                  <a:prstGeom prst="rect">
                    <a:avLst/>
                  </a:prstGeom>
                  <a:noFill/>
                  <a:ln w="20701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86" name="Group 135"/>
                  <p:cNvGrpSpPr/>
                  <p:nvPr/>
                </p:nvGrpSpPr>
                <p:grpSpPr bwMode="auto">
                  <a:xfrm>
                    <a:off x="2427" y="2453"/>
                    <a:ext cx="693" cy="283"/>
                    <a:chOff x="2427" y="2453"/>
                    <a:chExt cx="693" cy="283"/>
                  </a:xfrm>
                </p:grpSpPr>
                <p:sp>
                  <p:nvSpPr>
                    <p:cNvPr id="191" name="Rectangle 1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27" y="2453"/>
                      <a:ext cx="438" cy="283"/>
                    </a:xfrm>
                    <a:prstGeom prst="rect">
                      <a:avLst/>
                    </a:prstGeom>
                    <a:noFill/>
                    <a:ln w="20701">
                      <a:solidFill>
                        <a:schemeClr val="folHlink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92" name="Rectangle 1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20" y="2453"/>
                      <a:ext cx="600" cy="26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/>
                    <a:p>
                      <a:r>
                        <a:rPr lang="en-US" altLang="zh-CN" sz="2800">
                          <a:latin typeface="Times New Roman" panose="02020603050405020304" pitchFamily="18" charset="0"/>
                        </a:rPr>
                        <a:t>IR</a:t>
                      </a:r>
                      <a:endParaRPr lang="en-US" altLang="zh-CN" sz="2800"/>
                    </a:p>
                  </p:txBody>
                </p:sp>
              </p:grpSp>
              <p:sp>
                <p:nvSpPr>
                  <p:cNvPr id="187" name="Rectangle 138"/>
                  <p:cNvSpPr>
                    <a:spLocks noChangeArrowheads="1"/>
                  </p:cNvSpPr>
                  <p:nvPr/>
                </p:nvSpPr>
                <p:spPr bwMode="auto">
                  <a:xfrm>
                    <a:off x="1680" y="1584"/>
                    <a:ext cx="1296" cy="2352"/>
                  </a:xfrm>
                  <a:prstGeom prst="rect">
                    <a:avLst/>
                  </a:prstGeom>
                  <a:noFill/>
                  <a:ln w="28575">
                    <a:solidFill>
                      <a:schemeClr val="folHlink"/>
                    </a:solidFill>
                    <a:prstDash val="lgDashDot"/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88" name="Line 13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48" y="1584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folHlink"/>
                    </a:solidFill>
                    <a:round/>
                    <a:tailEnd type="stealth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89" name="Line 14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064" y="1584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folHlink"/>
                    </a:solidFill>
                    <a:round/>
                    <a:tailEnd type="stealth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90" name="Text Box 14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14" y="1754"/>
                    <a:ext cx="30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2400">
                        <a:solidFill>
                          <a:schemeClr val="folHlink"/>
                        </a:solidFill>
                        <a:latin typeface="Times New Roman" panose="02020603050405020304"/>
                      </a:rPr>
                      <a:t>…</a:t>
                    </a:r>
                    <a:endParaRPr lang="zh-CN" altLang="en-US" sz="2400">
                      <a:solidFill>
                        <a:schemeClr val="folHlink"/>
                      </a:solidFill>
                    </a:endParaRPr>
                  </a:p>
                </p:txBody>
              </p:sp>
            </p:grpSp>
            <p:grpSp>
              <p:nvGrpSpPr>
                <p:cNvPr id="166" name="Group 142"/>
                <p:cNvGrpSpPr/>
                <p:nvPr/>
              </p:nvGrpSpPr>
              <p:grpSpPr bwMode="auto">
                <a:xfrm>
                  <a:off x="384" y="1584"/>
                  <a:ext cx="1209" cy="2352"/>
                  <a:chOff x="384" y="1584"/>
                  <a:chExt cx="1209" cy="2352"/>
                </a:xfrm>
              </p:grpSpPr>
              <p:sp>
                <p:nvSpPr>
                  <p:cNvPr id="167" name="Rectangle 143"/>
                  <p:cNvSpPr>
                    <a:spLocks noChangeArrowheads="1"/>
                  </p:cNvSpPr>
                  <p:nvPr/>
                </p:nvSpPr>
                <p:spPr bwMode="auto">
                  <a:xfrm>
                    <a:off x="779" y="3486"/>
                    <a:ext cx="495" cy="3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587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8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698" y="3601"/>
                    <a:ext cx="785" cy="2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zh-CN" altLang="en-US" sz="2400"/>
                      <a:t>运算器</a:t>
                    </a:r>
                  </a:p>
                </p:txBody>
              </p:sp>
              <p:sp>
                <p:nvSpPr>
                  <p:cNvPr id="169" name="Rectangle 145"/>
                  <p:cNvSpPr>
                    <a:spLocks noChangeArrowheads="1"/>
                  </p:cNvSpPr>
                  <p:nvPr/>
                </p:nvSpPr>
                <p:spPr bwMode="auto">
                  <a:xfrm>
                    <a:off x="1117" y="1988"/>
                    <a:ext cx="374" cy="282"/>
                  </a:xfrm>
                  <a:prstGeom prst="rect">
                    <a:avLst/>
                  </a:prstGeom>
                  <a:noFill/>
                  <a:ln w="20701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0" name="Rectangle 146"/>
                  <p:cNvSpPr>
                    <a:spLocks noChangeArrowheads="1"/>
                  </p:cNvSpPr>
                  <p:nvPr/>
                </p:nvSpPr>
                <p:spPr bwMode="auto">
                  <a:xfrm>
                    <a:off x="1178" y="2038"/>
                    <a:ext cx="415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en-US" altLang="zh-CN" sz="1800">
                        <a:latin typeface="Times New Roman" panose="02020603050405020304" pitchFamily="18" charset="0"/>
                      </a:rPr>
                      <a:t>MQ</a:t>
                    </a:r>
                    <a:endParaRPr lang="en-US" altLang="zh-CN" sz="4000"/>
                  </a:p>
                </p:txBody>
              </p:sp>
              <p:sp>
                <p:nvSpPr>
                  <p:cNvPr id="171" name="Freeform 147"/>
                  <p:cNvSpPr/>
                  <p:nvPr/>
                </p:nvSpPr>
                <p:spPr bwMode="auto">
                  <a:xfrm>
                    <a:off x="772" y="2272"/>
                    <a:ext cx="94" cy="317"/>
                  </a:xfrm>
                  <a:custGeom>
                    <a:avLst/>
                    <a:gdLst>
                      <a:gd name="T0" fmla="*/ 0 w 120"/>
                      <a:gd name="T1" fmla="*/ 80 h 315"/>
                      <a:gd name="T2" fmla="*/ 30 w 120"/>
                      <a:gd name="T3" fmla="*/ 80 h 315"/>
                      <a:gd name="T4" fmla="*/ 30 w 120"/>
                      <a:gd name="T5" fmla="*/ 315 h 315"/>
                      <a:gd name="T6" fmla="*/ 89 w 120"/>
                      <a:gd name="T7" fmla="*/ 315 h 315"/>
                      <a:gd name="T8" fmla="*/ 89 w 120"/>
                      <a:gd name="T9" fmla="*/ 80 h 315"/>
                      <a:gd name="T10" fmla="*/ 120 w 120"/>
                      <a:gd name="T11" fmla="*/ 80 h 315"/>
                      <a:gd name="T12" fmla="*/ 59 w 120"/>
                      <a:gd name="T13" fmla="*/ 0 h 315"/>
                      <a:gd name="T14" fmla="*/ 0 w 120"/>
                      <a:gd name="T15" fmla="*/ 80 h 3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20" h="315">
                        <a:moveTo>
                          <a:pt x="0" y="80"/>
                        </a:moveTo>
                        <a:lnTo>
                          <a:pt x="30" y="80"/>
                        </a:lnTo>
                        <a:lnTo>
                          <a:pt x="30" y="315"/>
                        </a:lnTo>
                        <a:lnTo>
                          <a:pt x="89" y="315"/>
                        </a:lnTo>
                        <a:lnTo>
                          <a:pt x="89" y="80"/>
                        </a:lnTo>
                        <a:lnTo>
                          <a:pt x="120" y="80"/>
                        </a:lnTo>
                        <a:lnTo>
                          <a:pt x="59" y="0"/>
                        </a:lnTo>
                        <a:lnTo>
                          <a:pt x="0" y="80"/>
                        </a:lnTo>
                        <a:close/>
                      </a:path>
                    </a:pathLst>
                  </a:custGeom>
                  <a:noFill/>
                  <a:ln w="15875">
                    <a:solidFill>
                      <a:schemeClr val="folHlink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2" name="Rectangle 148"/>
                  <p:cNvSpPr>
                    <a:spLocks noChangeArrowheads="1"/>
                  </p:cNvSpPr>
                  <p:nvPr/>
                </p:nvSpPr>
                <p:spPr bwMode="auto">
                  <a:xfrm>
                    <a:off x="542" y="1988"/>
                    <a:ext cx="373" cy="282"/>
                  </a:xfrm>
                  <a:prstGeom prst="rect">
                    <a:avLst/>
                  </a:prstGeom>
                  <a:noFill/>
                  <a:ln w="20701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3" name="Rectangle 149"/>
                  <p:cNvSpPr>
                    <a:spLocks noChangeArrowheads="1"/>
                  </p:cNvSpPr>
                  <p:nvPr/>
                </p:nvSpPr>
                <p:spPr bwMode="auto">
                  <a:xfrm>
                    <a:off x="578" y="2039"/>
                    <a:ext cx="536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en-US" altLang="zh-CN" sz="1800">
                        <a:latin typeface="Times New Roman" panose="02020603050405020304" pitchFamily="18" charset="0"/>
                      </a:rPr>
                      <a:t>ACC</a:t>
                    </a:r>
                    <a:endParaRPr lang="en-US" altLang="zh-CN" sz="4000"/>
                  </a:p>
                </p:txBody>
              </p:sp>
              <p:sp>
                <p:nvSpPr>
                  <p:cNvPr id="174" name="Rectangle 150"/>
                  <p:cNvSpPr>
                    <a:spLocks noChangeArrowheads="1"/>
                  </p:cNvSpPr>
                  <p:nvPr/>
                </p:nvSpPr>
                <p:spPr bwMode="auto">
                  <a:xfrm>
                    <a:off x="542" y="2591"/>
                    <a:ext cx="373" cy="281"/>
                  </a:xfrm>
                  <a:prstGeom prst="rect">
                    <a:avLst/>
                  </a:prstGeom>
                  <a:noFill/>
                  <a:ln w="20701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" name="Rectangle 151"/>
                  <p:cNvSpPr>
                    <a:spLocks noChangeArrowheads="1"/>
                  </p:cNvSpPr>
                  <p:nvPr/>
                </p:nvSpPr>
                <p:spPr bwMode="auto">
                  <a:xfrm>
                    <a:off x="575" y="2641"/>
                    <a:ext cx="304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ctr"/>
                    <a:r>
                      <a:rPr lang="en-US" altLang="zh-CN" sz="1800">
                        <a:latin typeface="Times New Roman" panose="02020603050405020304" pitchFamily="18" charset="0"/>
                      </a:rPr>
                      <a:t>ALU</a:t>
                    </a:r>
                    <a:endParaRPr lang="en-US" altLang="zh-CN" sz="4000"/>
                  </a:p>
                </p:txBody>
              </p:sp>
              <p:sp>
                <p:nvSpPr>
                  <p:cNvPr id="176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539" y="3198"/>
                    <a:ext cx="373" cy="281"/>
                  </a:xfrm>
                  <a:prstGeom prst="rect">
                    <a:avLst/>
                  </a:prstGeom>
                  <a:noFill/>
                  <a:ln w="20701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7" name="Rectangle 153"/>
                  <p:cNvSpPr>
                    <a:spLocks noChangeArrowheads="1"/>
                  </p:cNvSpPr>
                  <p:nvPr/>
                </p:nvSpPr>
                <p:spPr bwMode="auto">
                  <a:xfrm>
                    <a:off x="680" y="3246"/>
                    <a:ext cx="268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en-US" altLang="zh-CN" sz="1800">
                        <a:latin typeface="Times New Roman" panose="02020603050405020304" pitchFamily="18" charset="0"/>
                      </a:rPr>
                      <a:t>X</a:t>
                    </a:r>
                    <a:endParaRPr lang="en-US" altLang="zh-CN" sz="4000"/>
                  </a:p>
                </p:txBody>
              </p:sp>
              <p:sp>
                <p:nvSpPr>
                  <p:cNvPr id="178" name="Freeform 154"/>
                  <p:cNvSpPr/>
                  <p:nvPr/>
                </p:nvSpPr>
                <p:spPr bwMode="auto">
                  <a:xfrm>
                    <a:off x="682" y="2880"/>
                    <a:ext cx="92" cy="316"/>
                  </a:xfrm>
                  <a:custGeom>
                    <a:avLst/>
                    <a:gdLst>
                      <a:gd name="T0" fmla="*/ 0 w 119"/>
                      <a:gd name="T1" fmla="*/ 77 h 313"/>
                      <a:gd name="T2" fmla="*/ 30 w 119"/>
                      <a:gd name="T3" fmla="*/ 77 h 313"/>
                      <a:gd name="T4" fmla="*/ 30 w 119"/>
                      <a:gd name="T5" fmla="*/ 313 h 313"/>
                      <a:gd name="T6" fmla="*/ 89 w 119"/>
                      <a:gd name="T7" fmla="*/ 313 h 313"/>
                      <a:gd name="T8" fmla="*/ 89 w 119"/>
                      <a:gd name="T9" fmla="*/ 77 h 313"/>
                      <a:gd name="T10" fmla="*/ 119 w 119"/>
                      <a:gd name="T11" fmla="*/ 77 h 313"/>
                      <a:gd name="T12" fmla="*/ 60 w 119"/>
                      <a:gd name="T13" fmla="*/ 0 h 313"/>
                      <a:gd name="T14" fmla="*/ 0 w 119"/>
                      <a:gd name="T15" fmla="*/ 77 h 3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19" h="313">
                        <a:moveTo>
                          <a:pt x="0" y="77"/>
                        </a:moveTo>
                        <a:lnTo>
                          <a:pt x="30" y="77"/>
                        </a:lnTo>
                        <a:lnTo>
                          <a:pt x="30" y="313"/>
                        </a:lnTo>
                        <a:lnTo>
                          <a:pt x="89" y="313"/>
                        </a:lnTo>
                        <a:lnTo>
                          <a:pt x="89" y="77"/>
                        </a:lnTo>
                        <a:lnTo>
                          <a:pt x="119" y="77"/>
                        </a:lnTo>
                        <a:lnTo>
                          <a:pt x="60" y="0"/>
                        </a:lnTo>
                        <a:lnTo>
                          <a:pt x="0" y="77"/>
                        </a:lnTo>
                        <a:close/>
                      </a:path>
                    </a:pathLst>
                  </a:custGeom>
                  <a:noFill/>
                  <a:ln w="15875">
                    <a:solidFill>
                      <a:schemeClr val="folHlink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" name="Rectangle 155"/>
                  <p:cNvSpPr>
                    <a:spLocks noChangeArrowheads="1"/>
                  </p:cNvSpPr>
                  <p:nvPr/>
                </p:nvSpPr>
                <p:spPr bwMode="auto">
                  <a:xfrm>
                    <a:off x="384" y="1584"/>
                    <a:ext cx="1200" cy="2352"/>
                  </a:xfrm>
                  <a:prstGeom prst="rect">
                    <a:avLst/>
                  </a:prstGeom>
                  <a:noFill/>
                  <a:ln w="28575">
                    <a:solidFill>
                      <a:schemeClr val="folHlink"/>
                    </a:solidFill>
                    <a:prstDash val="lgDashDot"/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" name="Freeform 156"/>
                  <p:cNvSpPr/>
                  <p:nvPr/>
                </p:nvSpPr>
                <p:spPr bwMode="auto">
                  <a:xfrm rot="10800000">
                    <a:off x="576" y="2275"/>
                    <a:ext cx="94" cy="317"/>
                  </a:xfrm>
                  <a:custGeom>
                    <a:avLst/>
                    <a:gdLst>
                      <a:gd name="T0" fmla="*/ 0 w 120"/>
                      <a:gd name="T1" fmla="*/ 80 h 315"/>
                      <a:gd name="T2" fmla="*/ 30 w 120"/>
                      <a:gd name="T3" fmla="*/ 80 h 315"/>
                      <a:gd name="T4" fmla="*/ 30 w 120"/>
                      <a:gd name="T5" fmla="*/ 315 h 315"/>
                      <a:gd name="T6" fmla="*/ 89 w 120"/>
                      <a:gd name="T7" fmla="*/ 315 h 315"/>
                      <a:gd name="T8" fmla="*/ 89 w 120"/>
                      <a:gd name="T9" fmla="*/ 80 h 315"/>
                      <a:gd name="T10" fmla="*/ 120 w 120"/>
                      <a:gd name="T11" fmla="*/ 80 h 315"/>
                      <a:gd name="T12" fmla="*/ 59 w 120"/>
                      <a:gd name="T13" fmla="*/ 0 h 315"/>
                      <a:gd name="T14" fmla="*/ 0 w 120"/>
                      <a:gd name="T15" fmla="*/ 80 h 3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20" h="315">
                        <a:moveTo>
                          <a:pt x="0" y="80"/>
                        </a:moveTo>
                        <a:lnTo>
                          <a:pt x="30" y="80"/>
                        </a:lnTo>
                        <a:lnTo>
                          <a:pt x="30" y="315"/>
                        </a:lnTo>
                        <a:lnTo>
                          <a:pt x="89" y="315"/>
                        </a:lnTo>
                        <a:lnTo>
                          <a:pt x="89" y="80"/>
                        </a:lnTo>
                        <a:lnTo>
                          <a:pt x="120" y="80"/>
                        </a:lnTo>
                        <a:lnTo>
                          <a:pt x="59" y="0"/>
                        </a:lnTo>
                        <a:lnTo>
                          <a:pt x="0" y="80"/>
                        </a:lnTo>
                        <a:close/>
                      </a:path>
                    </a:pathLst>
                  </a:custGeom>
                  <a:noFill/>
                  <a:ln w="15875">
                    <a:solidFill>
                      <a:schemeClr val="folHlink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1" name="Freeform 157"/>
                  <p:cNvSpPr/>
                  <p:nvPr/>
                </p:nvSpPr>
                <p:spPr bwMode="auto">
                  <a:xfrm>
                    <a:off x="915" y="2064"/>
                    <a:ext cx="200" cy="1"/>
                  </a:xfrm>
                  <a:custGeom>
                    <a:avLst/>
                    <a:gdLst>
                      <a:gd name="T0" fmla="*/ 0 w 200"/>
                      <a:gd name="T1" fmla="*/ 0 h 1"/>
                      <a:gd name="T2" fmla="*/ 200 w 200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00" h="1">
                        <a:moveTo>
                          <a:pt x="0" y="0"/>
                        </a:moveTo>
                        <a:lnTo>
                          <a:pt x="200" y="0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82" name="Freeform 158"/>
                  <p:cNvSpPr/>
                  <p:nvPr/>
                </p:nvSpPr>
                <p:spPr bwMode="auto">
                  <a:xfrm>
                    <a:off x="915" y="2184"/>
                    <a:ext cx="203" cy="1"/>
                  </a:xfrm>
                  <a:custGeom>
                    <a:avLst/>
                    <a:gdLst>
                      <a:gd name="T0" fmla="*/ 203 w 203"/>
                      <a:gd name="T1" fmla="*/ 0 h 1"/>
                      <a:gd name="T2" fmla="*/ 0 w 203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03" h="1">
                        <a:moveTo>
                          <a:pt x="203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58" name="Group 159"/>
              <p:cNvGrpSpPr/>
              <p:nvPr/>
            </p:nvGrpSpPr>
            <p:grpSpPr bwMode="auto">
              <a:xfrm>
                <a:off x="5232" y="1200"/>
                <a:ext cx="389" cy="2832"/>
                <a:chOff x="5232" y="1200"/>
                <a:chExt cx="389" cy="2832"/>
              </a:xfrm>
            </p:grpSpPr>
            <p:grpSp>
              <p:nvGrpSpPr>
                <p:cNvPr id="159" name="Group 160"/>
                <p:cNvGrpSpPr/>
                <p:nvPr/>
              </p:nvGrpSpPr>
              <p:grpSpPr bwMode="auto">
                <a:xfrm>
                  <a:off x="5232" y="1200"/>
                  <a:ext cx="389" cy="2832"/>
                  <a:chOff x="5232" y="1200"/>
                  <a:chExt cx="389" cy="2832"/>
                </a:xfrm>
              </p:grpSpPr>
              <p:sp>
                <p:nvSpPr>
                  <p:cNvPr id="161" name="Rectangle 161"/>
                  <p:cNvSpPr>
                    <a:spLocks noChangeArrowheads="1"/>
                  </p:cNvSpPr>
                  <p:nvPr/>
                </p:nvSpPr>
                <p:spPr bwMode="auto">
                  <a:xfrm>
                    <a:off x="5232" y="1200"/>
                    <a:ext cx="389" cy="283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2" name="Rectangle 162"/>
                  <p:cNvSpPr>
                    <a:spLocks noChangeArrowheads="1"/>
                  </p:cNvSpPr>
                  <p:nvPr/>
                </p:nvSpPr>
                <p:spPr bwMode="auto">
                  <a:xfrm>
                    <a:off x="5324" y="2341"/>
                    <a:ext cx="243" cy="68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ctr"/>
                    <a:r>
                      <a:rPr lang="en-US" altLang="zh-CN" sz="2100">
                        <a:latin typeface="Times New Roman" panose="02020603050405020304" pitchFamily="18" charset="0"/>
                      </a:rPr>
                      <a:t>I/O</a:t>
                    </a:r>
                  </a:p>
                  <a:p>
                    <a:pPr algn="ctr"/>
                    <a:r>
                      <a:rPr lang="zh-CN" altLang="en-US" sz="2100">
                        <a:latin typeface="Times New Roman" panose="02020603050405020304" pitchFamily="18" charset="0"/>
                      </a:rPr>
                      <a:t>设</a:t>
                    </a:r>
                  </a:p>
                  <a:p>
                    <a:pPr algn="ctr"/>
                    <a:r>
                      <a:rPr lang="zh-CN" altLang="en-US" sz="2100">
                        <a:latin typeface="Times New Roman" panose="02020603050405020304" pitchFamily="18" charset="0"/>
                      </a:rPr>
                      <a:t>备</a:t>
                    </a:r>
                    <a:endParaRPr lang="zh-CN" altLang="en-US" sz="4000"/>
                  </a:p>
                </p:txBody>
              </p:sp>
            </p:grpSp>
            <p:sp>
              <p:nvSpPr>
                <p:cNvPr id="160" name="Rectangle 163"/>
                <p:cNvSpPr>
                  <a:spLocks noChangeArrowheads="1"/>
                </p:cNvSpPr>
                <p:nvPr/>
              </p:nvSpPr>
              <p:spPr bwMode="auto">
                <a:xfrm>
                  <a:off x="5232" y="1200"/>
                  <a:ext cx="384" cy="2832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50" name="TextBox 149"/>
          <p:cNvSpPr txBox="1"/>
          <p:nvPr/>
        </p:nvSpPr>
        <p:spPr>
          <a:xfrm>
            <a:off x="3342617" y="3974"/>
            <a:ext cx="5801383" cy="46166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prstClr val="white"/>
                </a:solidFill>
                <a:latin typeface="+mn-ea"/>
              </a:rPr>
              <a:t>取指令：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PC</a:t>
            </a:r>
            <a:r>
              <a:rPr lang="zh-CN" altLang="zh-CN" sz="2400" b="1" dirty="0" smtClean="0">
                <a:solidFill>
                  <a:prstClr val="white"/>
                </a:solidFill>
                <a:latin typeface="+mn-ea"/>
              </a:rPr>
              <a:t>→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MAR</a:t>
            </a:r>
            <a:r>
              <a:rPr lang="zh-CN" altLang="zh-CN" sz="2400" b="1" dirty="0" smtClean="0">
                <a:solidFill>
                  <a:prstClr val="white"/>
                </a:solidFill>
                <a:latin typeface="+mn-ea"/>
              </a:rPr>
              <a:t>→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M</a:t>
            </a:r>
            <a:r>
              <a:rPr lang="zh-CN" altLang="zh-CN" sz="2400" b="1" dirty="0" smtClean="0">
                <a:solidFill>
                  <a:prstClr val="white"/>
                </a:solidFill>
                <a:latin typeface="+mn-ea"/>
              </a:rPr>
              <a:t>→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MDR</a:t>
            </a:r>
            <a:r>
              <a:rPr lang="zh-CN" altLang="zh-CN" sz="2400" b="1" dirty="0" smtClean="0">
                <a:solidFill>
                  <a:prstClr val="white"/>
                </a:solidFill>
                <a:latin typeface="+mn-ea"/>
              </a:rPr>
              <a:t>→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IR</a:t>
            </a:r>
            <a:endParaRPr lang="zh-CN" altLang="en-US" sz="24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07" name="TextBox 51"/>
          <p:cNvSpPr txBox="1"/>
          <p:nvPr/>
        </p:nvSpPr>
        <p:spPr>
          <a:xfrm>
            <a:off x="3343252" y="424344"/>
            <a:ext cx="5801383" cy="46166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prstClr val="white"/>
                </a:solidFill>
                <a:latin typeface="+mn-ea"/>
              </a:rPr>
              <a:t>分析指令：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OP(IR)→CU</a:t>
            </a:r>
            <a:endParaRPr lang="zh-CN" altLang="en-US" sz="24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08" name="TextBox 51"/>
          <p:cNvSpPr txBox="1"/>
          <p:nvPr/>
        </p:nvSpPr>
        <p:spPr>
          <a:xfrm>
            <a:off x="3342617" y="874559"/>
            <a:ext cx="5801383" cy="8309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prstClr val="white"/>
                </a:solidFill>
                <a:latin typeface="+mn-ea"/>
              </a:rPr>
              <a:t>执行指令：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Ad(IR)→MAR→M</a:t>
            </a:r>
            <a:r>
              <a:rPr lang="zh-CN" altLang="en-US" sz="2400" b="1" dirty="0" smtClean="0">
                <a:solidFill>
                  <a:prstClr val="white"/>
                </a:solidFill>
                <a:latin typeface="+mn-ea"/>
              </a:rPr>
              <a:t>，</a:t>
            </a:r>
            <a:endParaRPr lang="en-US" altLang="zh-CN" sz="2400" b="1" dirty="0" smtClean="0">
              <a:solidFill>
                <a:prstClr val="white"/>
              </a:solidFill>
              <a:latin typeface="+mn-ea"/>
            </a:endParaRPr>
          </a:p>
          <a:p>
            <a:r>
              <a:rPr lang="en-US" altLang="zh-CN" sz="2400" b="1" dirty="0">
                <a:solidFill>
                  <a:prstClr val="white"/>
                </a:solidFill>
                <a:latin typeface="+mn-ea"/>
              </a:rPr>
              <a:t> 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         ACC</a:t>
            </a:r>
            <a:r>
              <a:rPr lang="en-US" altLang="zh-CN" sz="2400" b="1" dirty="0">
                <a:solidFill>
                  <a:prstClr val="white"/>
                </a:solidFill>
                <a:latin typeface="+mn-ea"/>
              </a:rPr>
              <a:t>→MDR 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→M</a:t>
            </a:r>
            <a:endParaRPr lang="zh-CN" altLang="en-US" sz="2400" b="1" dirty="0">
              <a:solidFill>
                <a:prstClr val="white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4076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115" grpId="0" animBg="1"/>
      <p:bldP spid="119" grpId="0" animBg="1"/>
      <p:bldP spid="129" grpId="0" animBg="1"/>
      <p:bldP spid="130" grpId="0" animBg="1"/>
      <p:bldP spid="145" grpId="0" animBg="1"/>
      <p:bldP spid="146" grpId="0" animBg="1"/>
      <p:bldP spid="150" grpId="0" bldLvl="0" animBg="1"/>
      <p:bldP spid="207" grpId="0" bldLvl="0" animBg="1"/>
      <p:bldP spid="208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★</a:t>
            </a:r>
            <a:r>
              <a:rPr lang="zh-CN" altLang="en-US" dirty="0" smtClean="0"/>
              <a:t>四、</a:t>
            </a:r>
            <a:r>
              <a:rPr lang="zh-CN" altLang="en-US" dirty="0"/>
              <a:t>计算机的</a:t>
            </a:r>
            <a:r>
              <a:rPr lang="zh-CN" altLang="en-US" dirty="0" smtClean="0"/>
              <a:t>工作</a:t>
            </a:r>
            <a:r>
              <a:rPr lang="zh-CN" altLang="en-US" dirty="0"/>
              <a:t>原理</a:t>
            </a:r>
          </a:p>
        </p:txBody>
      </p:sp>
      <p:sp>
        <p:nvSpPr>
          <p:cNvPr id="105" name="Text Box 41"/>
          <p:cNvSpPr txBox="1">
            <a:spLocks noChangeArrowheads="1"/>
          </p:cNvSpPr>
          <p:nvPr/>
        </p:nvSpPr>
        <p:spPr bwMode="auto">
          <a:xfrm>
            <a:off x="288131" y="1013460"/>
            <a:ext cx="8356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600" dirty="0" smtClean="0">
                <a:latin typeface="Times New Roman" panose="02020603050405020304" pitchFamily="18" charset="0"/>
              </a:rPr>
              <a:t>(3)</a:t>
            </a:r>
            <a:r>
              <a:rPr lang="zh-CN" altLang="en-US" sz="3600" dirty="0" smtClean="0"/>
              <a:t> </a:t>
            </a:r>
            <a:r>
              <a:rPr lang="en-US" altLang="zh-CN" sz="3600" dirty="0"/>
              <a:t>ADD  M</a:t>
            </a:r>
            <a:r>
              <a:rPr lang="zh-CN" altLang="en-US" sz="3600" dirty="0" smtClean="0"/>
              <a:t>指</a:t>
            </a:r>
            <a:r>
              <a:rPr lang="zh-CN" altLang="en-US" sz="3600" dirty="0"/>
              <a:t>令</a:t>
            </a:r>
          </a:p>
        </p:txBody>
      </p:sp>
      <p:pic>
        <p:nvPicPr>
          <p:cNvPr id="150" name="图片 149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07"/>
          <a:stretch>
            <a:fillRect/>
          </a:stretch>
        </p:blipFill>
        <p:spPr bwMode="auto">
          <a:xfrm>
            <a:off x="534928" y="2060848"/>
            <a:ext cx="8213536" cy="4608512"/>
          </a:xfrm>
          <a:prstGeom prst="rect">
            <a:avLst/>
          </a:prstGeom>
          <a:noFill/>
        </p:spPr>
      </p:pic>
      <p:cxnSp>
        <p:nvCxnSpPr>
          <p:cNvPr id="207" name="直接箭头连接符 206"/>
          <p:cNvCxnSpPr/>
          <p:nvPr/>
        </p:nvCxnSpPr>
        <p:spPr>
          <a:xfrm>
            <a:off x="4891412" y="5201394"/>
            <a:ext cx="116648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/>
          <p:cNvSpPr txBox="1"/>
          <p:nvPr/>
        </p:nvSpPr>
        <p:spPr>
          <a:xfrm>
            <a:off x="5303088" y="4766146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prstClr val="black"/>
                </a:solidFill>
              </a:rPr>
              <a:t>①</a:t>
            </a:r>
            <a:endParaRPr lang="zh-CN" altLang="en-US" sz="2800" dirty="0">
              <a:solidFill>
                <a:prstClr val="black"/>
              </a:solidFill>
            </a:endParaRPr>
          </a:p>
        </p:txBody>
      </p:sp>
      <p:cxnSp>
        <p:nvCxnSpPr>
          <p:cNvPr id="209" name="直接箭头连接符 208"/>
          <p:cNvCxnSpPr/>
          <p:nvPr/>
        </p:nvCxnSpPr>
        <p:spPr>
          <a:xfrm flipV="1">
            <a:off x="6307360" y="3780348"/>
            <a:ext cx="0" cy="91815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6240685" y="4024837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prstClr val="black"/>
                </a:solidFill>
              </a:rPr>
              <a:t>②</a:t>
            </a:r>
            <a:endParaRPr lang="zh-CN" altLang="en-US" sz="2800" dirty="0">
              <a:solidFill>
                <a:prstClr val="black"/>
              </a:solidFill>
            </a:endParaRPr>
          </a:p>
        </p:txBody>
      </p:sp>
      <p:cxnSp>
        <p:nvCxnSpPr>
          <p:cNvPr id="211" name="直接箭头连接符 210"/>
          <p:cNvCxnSpPr/>
          <p:nvPr/>
        </p:nvCxnSpPr>
        <p:spPr>
          <a:xfrm flipV="1">
            <a:off x="7446842" y="3780348"/>
            <a:ext cx="0" cy="944796"/>
          </a:xfrm>
          <a:prstGeom prst="straightConnector1">
            <a:avLst/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1"/>
          <p:cNvSpPr txBox="1"/>
          <p:nvPr/>
        </p:nvSpPr>
        <p:spPr>
          <a:xfrm>
            <a:off x="7375688" y="4005173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prstClr val="black"/>
                </a:solidFill>
              </a:rPr>
              <a:t>③</a:t>
            </a:r>
            <a:endParaRPr lang="zh-CN" altLang="en-US" sz="2800" dirty="0">
              <a:solidFill>
                <a:prstClr val="black"/>
              </a:solidFill>
            </a:endParaRPr>
          </a:p>
        </p:txBody>
      </p:sp>
      <p:cxnSp>
        <p:nvCxnSpPr>
          <p:cNvPr id="213" name="直接箭头连接符 212"/>
          <p:cNvCxnSpPr/>
          <p:nvPr/>
        </p:nvCxnSpPr>
        <p:spPr>
          <a:xfrm flipV="1">
            <a:off x="7457568" y="5615662"/>
            <a:ext cx="0" cy="33361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箭头连接符 213"/>
          <p:cNvCxnSpPr/>
          <p:nvPr/>
        </p:nvCxnSpPr>
        <p:spPr>
          <a:xfrm>
            <a:off x="3955308" y="5949280"/>
            <a:ext cx="3502260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箭头连接符 214"/>
          <p:cNvCxnSpPr/>
          <p:nvPr/>
        </p:nvCxnSpPr>
        <p:spPr>
          <a:xfrm flipV="1">
            <a:off x="3960404" y="4273932"/>
            <a:ext cx="0" cy="167534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/>
          <p:cNvCxnSpPr/>
          <p:nvPr/>
        </p:nvCxnSpPr>
        <p:spPr>
          <a:xfrm>
            <a:off x="3955308" y="4273932"/>
            <a:ext cx="216024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5304174" y="5504452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prstClr val="black"/>
                </a:solidFill>
              </a:rPr>
              <a:t>④</a:t>
            </a:r>
            <a:endParaRPr lang="zh-CN" altLang="en-US" sz="2800" dirty="0">
              <a:solidFill>
                <a:prstClr val="black"/>
              </a:solidFill>
            </a:endParaRPr>
          </a:p>
        </p:txBody>
      </p:sp>
      <p:cxnSp>
        <p:nvCxnSpPr>
          <p:cNvPr id="218" name="直接箭头连接符 217"/>
          <p:cNvCxnSpPr/>
          <p:nvPr/>
        </p:nvCxnSpPr>
        <p:spPr>
          <a:xfrm flipV="1">
            <a:off x="4351352" y="3295930"/>
            <a:ext cx="0" cy="79536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/>
          <p:cNvCxnSpPr/>
          <p:nvPr/>
        </p:nvCxnSpPr>
        <p:spPr>
          <a:xfrm>
            <a:off x="3775288" y="3309377"/>
            <a:ext cx="576064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/>
          <p:cNvCxnSpPr/>
          <p:nvPr/>
        </p:nvCxnSpPr>
        <p:spPr>
          <a:xfrm flipV="1">
            <a:off x="3754680" y="3295930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TextBox 220"/>
          <p:cNvSpPr txBox="1"/>
          <p:nvPr/>
        </p:nvSpPr>
        <p:spPr>
          <a:xfrm>
            <a:off x="3821340" y="2871140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prstClr val="black"/>
                </a:solidFill>
              </a:rPr>
              <a:t>⑤</a:t>
            </a:r>
            <a:endParaRPr lang="zh-CN" altLang="en-US" sz="2800" dirty="0">
              <a:solidFill>
                <a:prstClr val="black"/>
              </a:solidFill>
            </a:endParaRPr>
          </a:p>
        </p:txBody>
      </p:sp>
      <p:cxnSp>
        <p:nvCxnSpPr>
          <p:cNvPr id="222" name="直接箭头连接符 221"/>
          <p:cNvCxnSpPr/>
          <p:nvPr/>
        </p:nvCxnSpPr>
        <p:spPr>
          <a:xfrm flipV="1">
            <a:off x="4711392" y="3882462"/>
            <a:ext cx="0" cy="21716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箭头连接符 222"/>
          <p:cNvCxnSpPr/>
          <p:nvPr/>
        </p:nvCxnSpPr>
        <p:spPr>
          <a:xfrm>
            <a:off x="4711392" y="3882462"/>
            <a:ext cx="1440160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箭头连接符 223"/>
          <p:cNvCxnSpPr/>
          <p:nvPr/>
        </p:nvCxnSpPr>
        <p:spPr>
          <a:xfrm flipV="1">
            <a:off x="6138831" y="3882462"/>
            <a:ext cx="0" cy="807970"/>
          </a:xfrm>
          <a:prstGeom prst="straightConnector1">
            <a:avLst/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5304174" y="3475950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prstClr val="black"/>
                </a:solidFill>
              </a:rPr>
              <a:t>⑥</a:t>
            </a:r>
            <a:endParaRPr lang="zh-CN" altLang="en-US" sz="2800" dirty="0">
              <a:solidFill>
                <a:prstClr val="black"/>
              </a:solidFill>
            </a:endParaRPr>
          </a:p>
        </p:txBody>
      </p:sp>
      <p:cxnSp>
        <p:nvCxnSpPr>
          <p:cNvPr id="226" name="直接箭头连接符 225"/>
          <p:cNvCxnSpPr/>
          <p:nvPr/>
        </p:nvCxnSpPr>
        <p:spPr>
          <a:xfrm flipV="1">
            <a:off x="6811416" y="3762752"/>
            <a:ext cx="0" cy="92768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/>
          <p:cNvSpPr txBox="1"/>
          <p:nvPr/>
        </p:nvSpPr>
        <p:spPr>
          <a:xfrm>
            <a:off x="6739408" y="4027567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prstClr val="black"/>
                </a:solidFill>
              </a:rPr>
              <a:t>⑦</a:t>
            </a:r>
            <a:endParaRPr lang="zh-CN" altLang="en-US" sz="2800" dirty="0">
              <a:solidFill>
                <a:prstClr val="black"/>
              </a:solidFill>
            </a:endParaRPr>
          </a:p>
        </p:txBody>
      </p:sp>
      <p:cxnSp>
        <p:nvCxnSpPr>
          <p:cNvPr id="228" name="直接箭头连接符 227"/>
          <p:cNvCxnSpPr/>
          <p:nvPr/>
        </p:nvCxnSpPr>
        <p:spPr>
          <a:xfrm flipV="1">
            <a:off x="1269603" y="5694362"/>
            <a:ext cx="0" cy="7781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箭头连接符 228"/>
          <p:cNvCxnSpPr/>
          <p:nvPr/>
        </p:nvCxnSpPr>
        <p:spPr>
          <a:xfrm>
            <a:off x="1259632" y="6472500"/>
            <a:ext cx="6764128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箭头连接符 229"/>
          <p:cNvCxnSpPr/>
          <p:nvPr/>
        </p:nvCxnSpPr>
        <p:spPr>
          <a:xfrm flipV="1">
            <a:off x="8023760" y="5615662"/>
            <a:ext cx="0" cy="85683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/>
          <p:cNvSpPr txBox="1"/>
          <p:nvPr/>
        </p:nvSpPr>
        <p:spPr>
          <a:xfrm>
            <a:off x="5303088" y="6027672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prstClr val="black"/>
                </a:solidFill>
              </a:rPr>
              <a:t>⑨</a:t>
            </a:r>
            <a:endParaRPr lang="zh-CN" altLang="en-US" sz="2800" dirty="0">
              <a:solidFill>
                <a:prstClr val="black"/>
              </a:solidFill>
            </a:endParaRPr>
          </a:p>
        </p:txBody>
      </p:sp>
      <p:cxnSp>
        <p:nvCxnSpPr>
          <p:cNvPr id="232" name="直接箭头连接符 231"/>
          <p:cNvCxnSpPr/>
          <p:nvPr/>
        </p:nvCxnSpPr>
        <p:spPr>
          <a:xfrm flipV="1">
            <a:off x="8016804" y="3762752"/>
            <a:ext cx="0" cy="962392"/>
          </a:xfrm>
          <a:prstGeom prst="straightConnector1">
            <a:avLst/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/>
          <p:cNvSpPr txBox="1"/>
          <p:nvPr/>
        </p:nvSpPr>
        <p:spPr>
          <a:xfrm>
            <a:off x="7947560" y="3999520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prstClr val="black"/>
                </a:solidFill>
              </a:rPr>
              <a:t>⑧</a:t>
            </a:r>
            <a:endParaRPr lang="zh-CN" altLang="en-US" sz="2800" dirty="0">
              <a:solidFill>
                <a:prstClr val="black"/>
              </a:solidFill>
            </a:endParaRPr>
          </a:p>
        </p:txBody>
      </p:sp>
      <p:cxnSp>
        <p:nvCxnSpPr>
          <p:cNvPr id="234" name="直接箭头连接符 233"/>
          <p:cNvCxnSpPr/>
          <p:nvPr/>
        </p:nvCxnSpPr>
        <p:spPr>
          <a:xfrm flipV="1">
            <a:off x="1116807" y="3802582"/>
            <a:ext cx="0" cy="486595"/>
          </a:xfrm>
          <a:prstGeom prst="straightConnector1">
            <a:avLst/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 flipV="1">
            <a:off x="1290623" y="4735656"/>
            <a:ext cx="0" cy="55371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TextBox 235"/>
          <p:cNvSpPr txBox="1"/>
          <p:nvPr/>
        </p:nvSpPr>
        <p:spPr>
          <a:xfrm>
            <a:off x="621531" y="3750712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prstClr val="black"/>
                </a:solidFill>
              </a:rPr>
              <a:t>⑩</a:t>
            </a:r>
            <a:endParaRPr lang="zh-CN" altLang="en-US" sz="2800" dirty="0">
              <a:solidFill>
                <a:prstClr val="black"/>
              </a:solidFill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837555" y="4740835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prstClr val="black"/>
                </a:solidFill>
              </a:rPr>
              <a:t>⑩</a:t>
            </a:r>
            <a:endParaRPr lang="zh-CN" altLang="en-US" sz="2800" dirty="0">
              <a:solidFill>
                <a:prstClr val="black"/>
              </a:solidFill>
            </a:endParaRPr>
          </a:p>
        </p:txBody>
      </p:sp>
      <p:cxnSp>
        <p:nvCxnSpPr>
          <p:cNvPr id="238" name="直接箭头连接符 237"/>
          <p:cNvCxnSpPr/>
          <p:nvPr/>
        </p:nvCxnSpPr>
        <p:spPr>
          <a:xfrm flipV="1">
            <a:off x="1436746" y="3802582"/>
            <a:ext cx="0" cy="45854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1409642" y="3780348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prstClr val="black"/>
                </a:solidFill>
              </a:rPr>
              <a:t>⑾</a:t>
            </a:r>
            <a:endParaRPr lang="zh-CN" altLang="en-US" sz="2800" dirty="0">
              <a:solidFill>
                <a:prstClr val="black"/>
              </a:solidFill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3342617" y="3974"/>
            <a:ext cx="5801383" cy="46166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prstClr val="white"/>
                </a:solidFill>
                <a:latin typeface="+mn-ea"/>
              </a:rPr>
              <a:t>取指令：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PC</a:t>
            </a:r>
            <a:r>
              <a:rPr lang="zh-CN" altLang="zh-CN" sz="2400" b="1" dirty="0" smtClean="0">
                <a:solidFill>
                  <a:prstClr val="white"/>
                </a:solidFill>
                <a:latin typeface="+mn-ea"/>
              </a:rPr>
              <a:t>→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MAR</a:t>
            </a:r>
            <a:r>
              <a:rPr lang="zh-CN" altLang="zh-CN" sz="2400" b="1" dirty="0" smtClean="0">
                <a:solidFill>
                  <a:prstClr val="white"/>
                </a:solidFill>
                <a:latin typeface="+mn-ea"/>
              </a:rPr>
              <a:t>→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M</a:t>
            </a:r>
            <a:r>
              <a:rPr lang="zh-CN" altLang="zh-CN" sz="2400" b="1" dirty="0" smtClean="0">
                <a:solidFill>
                  <a:prstClr val="white"/>
                </a:solidFill>
                <a:latin typeface="+mn-ea"/>
              </a:rPr>
              <a:t>→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MDR</a:t>
            </a:r>
            <a:r>
              <a:rPr lang="zh-CN" altLang="zh-CN" sz="2400" b="1" dirty="0" smtClean="0">
                <a:solidFill>
                  <a:prstClr val="white"/>
                </a:solidFill>
                <a:latin typeface="+mn-ea"/>
              </a:rPr>
              <a:t>→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IR</a:t>
            </a:r>
            <a:endParaRPr lang="zh-CN" altLang="en-US" sz="24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1" name="TextBox 51"/>
          <p:cNvSpPr txBox="1"/>
          <p:nvPr/>
        </p:nvSpPr>
        <p:spPr>
          <a:xfrm>
            <a:off x="3343252" y="424344"/>
            <a:ext cx="5801383" cy="46166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prstClr val="white"/>
                </a:solidFill>
                <a:latin typeface="+mn-ea"/>
              </a:rPr>
              <a:t>分析指令：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OP(IR)→CU</a:t>
            </a:r>
            <a:endParaRPr lang="zh-CN" altLang="en-US" sz="24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2" name="TextBox 51"/>
          <p:cNvSpPr txBox="1"/>
          <p:nvPr/>
        </p:nvSpPr>
        <p:spPr>
          <a:xfrm>
            <a:off x="3342617" y="874559"/>
            <a:ext cx="5801383" cy="120032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prstClr val="white"/>
                </a:solidFill>
                <a:latin typeface="+mn-ea"/>
              </a:rPr>
              <a:t>执行指令：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Ad(IR)→MAR→M→MDR→</a:t>
            </a:r>
            <a:r>
              <a:rPr lang="en-US" altLang="zh-CN" sz="2400" b="1" dirty="0">
                <a:solidFill>
                  <a:prstClr val="white"/>
                </a:solidFill>
                <a:latin typeface="+mn-ea"/>
              </a:rPr>
              <a:t>X</a:t>
            </a:r>
            <a:r>
              <a:rPr lang="zh-CN" altLang="en-US" sz="2400" b="1" dirty="0" smtClean="0">
                <a:solidFill>
                  <a:prstClr val="white"/>
                </a:solidFill>
                <a:latin typeface="+mn-ea"/>
              </a:rPr>
              <a:t>，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		ACC→ALU</a:t>
            </a:r>
            <a:r>
              <a:rPr lang="zh-CN" altLang="en-US" sz="2400" b="1" dirty="0" smtClean="0">
                <a:solidFill>
                  <a:prstClr val="white"/>
                </a:solidFill>
                <a:latin typeface="+mn-ea"/>
              </a:rPr>
              <a:t>，同时</a:t>
            </a:r>
            <a:r>
              <a:rPr lang="en-US" altLang="zh-CN" sz="2400" b="1" dirty="0">
                <a:solidFill>
                  <a:prstClr val="white"/>
                </a:solidFill>
                <a:latin typeface="+mn-ea"/>
              </a:rPr>
              <a:t>X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→ALU</a:t>
            </a:r>
            <a:r>
              <a:rPr lang="zh-CN" altLang="en-US" sz="2400" b="1" dirty="0" smtClean="0">
                <a:solidFill>
                  <a:prstClr val="white"/>
                </a:solidFill>
                <a:latin typeface="+mn-ea"/>
              </a:rPr>
              <a:t>，</a:t>
            </a:r>
            <a:endParaRPr lang="en-US" altLang="zh-CN" sz="2400" b="1" dirty="0" smtClean="0">
              <a:solidFill>
                <a:prstClr val="white"/>
              </a:solidFill>
              <a:latin typeface="+mn-ea"/>
            </a:endParaRPr>
          </a:p>
          <a:p>
            <a:r>
              <a:rPr lang="en-US" altLang="zh-CN" sz="2400" b="1" dirty="0">
                <a:solidFill>
                  <a:prstClr val="white"/>
                </a:solidFill>
                <a:latin typeface="+mn-ea"/>
              </a:rPr>
              <a:t>	</a:t>
            </a:r>
            <a:r>
              <a:rPr lang="en-US" altLang="zh-CN" sz="2400" b="1" dirty="0" smtClean="0">
                <a:solidFill>
                  <a:prstClr val="white"/>
                </a:solidFill>
                <a:latin typeface="+mn-ea"/>
              </a:rPr>
              <a:t>	ALU→ACC</a:t>
            </a:r>
            <a:endParaRPr lang="zh-CN" altLang="en-US" sz="24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3" name="矩形 242"/>
          <p:cNvSpPr/>
          <p:nvPr/>
        </p:nvSpPr>
        <p:spPr>
          <a:xfrm>
            <a:off x="921118" y="4280440"/>
            <a:ext cx="740022" cy="458124"/>
          </a:xfrm>
          <a:prstGeom prst="rect">
            <a:avLst/>
          </a:prstGeom>
          <a:solidFill>
            <a:srgbClr val="90363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/>
              <a:t>ADD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5245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 tmFilter="0, 0; .2, .5; .8, .5; 1, 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7" dur="250" autoRev="1" fill="hold"/>
                                        <p:tgtEl>
                                          <p:spTgt spid="2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208" grpId="0"/>
      <p:bldP spid="210" grpId="0"/>
      <p:bldP spid="212" grpId="0"/>
      <p:bldP spid="217" grpId="0"/>
      <p:bldP spid="221" grpId="0"/>
      <p:bldP spid="225" grpId="0"/>
      <p:bldP spid="227" grpId="0"/>
      <p:bldP spid="231" grpId="0"/>
      <p:bldP spid="233" grpId="0"/>
      <p:bldP spid="236" grpId="0"/>
      <p:bldP spid="237" grpId="0"/>
      <p:bldP spid="239" grpId="0"/>
      <p:bldP spid="240" grpId="0" bldLvl="0" animBg="1"/>
      <p:bldP spid="241" grpId="0" bldLvl="0" animBg="1"/>
      <p:bldP spid="242" grpId="0" bldLvl="0" animBg="1"/>
      <p:bldP spid="243" grpId="0" animBg="1"/>
      <p:bldP spid="24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★</a:t>
            </a:r>
            <a:r>
              <a:rPr lang="zh-CN" altLang="en-US" dirty="0" smtClean="0"/>
              <a:t>四、</a:t>
            </a:r>
            <a:r>
              <a:rPr lang="zh-CN" altLang="en-US" dirty="0"/>
              <a:t>计算机的</a:t>
            </a:r>
            <a:r>
              <a:rPr lang="zh-CN" altLang="en-US" dirty="0" smtClean="0"/>
              <a:t>工作原理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zh-CN" altLang="en-US" dirty="0" smtClean="0"/>
              <a:t>例：</a:t>
            </a:r>
            <a:r>
              <a:rPr lang="zh-CN" altLang="en-US" dirty="0"/>
              <a:t>设主存储器容量为</a:t>
            </a:r>
            <a:r>
              <a:rPr lang="en-US" altLang="zh-CN" dirty="0"/>
              <a:t>64K*32</a:t>
            </a:r>
            <a:r>
              <a:rPr lang="zh-CN" altLang="en-US" dirty="0"/>
              <a:t>位，并且指令字长、存储字长、机器字长三者相等，写出图中各寄存器的位数，并指出哪些</a:t>
            </a:r>
            <a:r>
              <a:rPr lang="zh-CN" altLang="en-US" u="sng" dirty="0">
                <a:solidFill>
                  <a:srgbClr val="FF0000"/>
                </a:solidFill>
              </a:rPr>
              <a:t>寄存器之间</a:t>
            </a:r>
            <a:r>
              <a:rPr lang="zh-CN" altLang="en-US" dirty="0"/>
              <a:t>有信息通路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分析：</a:t>
            </a:r>
            <a:r>
              <a:rPr lang="en-US" altLang="zh-CN" dirty="0" smtClean="0">
                <a:solidFill>
                  <a:srgbClr val="FF0000"/>
                </a:solidFill>
              </a:rPr>
              <a:t>MAR</a:t>
            </a:r>
            <a:r>
              <a:rPr lang="zh-CN" altLang="en-US" dirty="0" smtClean="0">
                <a:solidFill>
                  <a:srgbClr val="FF0000"/>
                </a:solidFill>
              </a:rPr>
              <a:t>的位数反映存储单元的个数，</a:t>
            </a:r>
            <a:r>
              <a:rPr lang="en-US" altLang="zh-CN" dirty="0" smtClean="0">
                <a:solidFill>
                  <a:srgbClr val="FF0000"/>
                </a:solidFill>
              </a:rPr>
              <a:t>MDR</a:t>
            </a:r>
            <a:r>
              <a:rPr lang="zh-CN" altLang="en-US" dirty="0" smtClean="0">
                <a:solidFill>
                  <a:srgbClr val="FF0000"/>
                </a:solidFill>
              </a:rPr>
              <a:t>的位数反映存储字长 。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主存储器容量</a:t>
            </a:r>
            <a:r>
              <a:rPr lang="en-US" altLang="zh-CN" dirty="0" smtClean="0"/>
              <a:t>64K*32</a:t>
            </a:r>
            <a:r>
              <a:rPr lang="zh-CN" altLang="en-US" dirty="0"/>
              <a:t>位</a:t>
            </a:r>
            <a:r>
              <a:rPr lang="zh-CN" altLang="en-US" dirty="0" smtClean="0"/>
              <a:t>：主存</a:t>
            </a:r>
            <a:r>
              <a:rPr lang="zh-CN" altLang="en-US" dirty="0"/>
              <a:t>储器</a:t>
            </a:r>
            <a:r>
              <a:rPr lang="zh-CN" altLang="en-US" dirty="0" smtClean="0"/>
              <a:t>由</a:t>
            </a:r>
            <a:r>
              <a:rPr lang="en-US" altLang="zh-CN" dirty="0" smtClean="0"/>
              <a:t>64K</a:t>
            </a:r>
            <a:r>
              <a:rPr lang="zh-CN" altLang="en-US" dirty="0" smtClean="0"/>
              <a:t>个存储单元构成，每</a:t>
            </a:r>
            <a:r>
              <a:rPr lang="zh-CN" altLang="en-US" dirty="0"/>
              <a:t>个存储单元可以存放一个字长为</a:t>
            </a:r>
            <a:r>
              <a:rPr lang="en-US" altLang="zh-CN" dirty="0"/>
              <a:t>32</a:t>
            </a:r>
            <a:r>
              <a:rPr lang="zh-CN" altLang="en-US" dirty="0"/>
              <a:t>位的存储字。</a:t>
            </a:r>
          </a:p>
          <a:p>
            <a:pPr marL="0" indent="0">
              <a:buNone/>
            </a:pPr>
            <a:r>
              <a:rPr lang="en-US" altLang="zh-CN" dirty="0" smtClean="0"/>
              <a:t>64K</a:t>
            </a:r>
            <a:r>
              <a:rPr lang="zh-CN" altLang="en-US" dirty="0" smtClean="0"/>
              <a:t>个存储单元的编址需要几位二进制数？这个地址从哪儿来？访存时该地址存放在哪儿？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什么是存储字长？哪个寄存器存放指令？哪些寄存器存放数据？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有信息通路意味着什么？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929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5762" y="5090368"/>
            <a:ext cx="86005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prstClr val="black"/>
                </a:solidFill>
              </a:rPr>
              <a:t>寄存器位数</a:t>
            </a:r>
            <a:r>
              <a:rPr lang="zh-CN" altLang="en-US" sz="2400" dirty="0">
                <a:solidFill>
                  <a:prstClr val="black"/>
                </a:solidFill>
              </a:rPr>
              <a:t>：</a:t>
            </a:r>
            <a:r>
              <a:rPr lang="en-US" altLang="zh-CN" sz="2400" dirty="0" smtClean="0">
                <a:solidFill>
                  <a:prstClr val="black"/>
                </a:solidFill>
              </a:rPr>
              <a:t>MAR</a:t>
            </a:r>
            <a:r>
              <a:rPr lang="zh-CN" altLang="en-US" sz="2400" dirty="0">
                <a:solidFill>
                  <a:prstClr val="black"/>
                </a:solidFill>
              </a:rPr>
              <a:t>，</a:t>
            </a:r>
            <a:r>
              <a:rPr lang="en-US" altLang="zh-CN" sz="2400" dirty="0">
                <a:solidFill>
                  <a:prstClr val="black"/>
                </a:solidFill>
              </a:rPr>
              <a:t>PC </a:t>
            </a:r>
            <a:r>
              <a:rPr lang="en-US" altLang="zh-CN" sz="2400" dirty="0" smtClean="0">
                <a:solidFill>
                  <a:prstClr val="black"/>
                </a:solidFill>
              </a:rPr>
              <a:t>16</a:t>
            </a:r>
            <a:r>
              <a:rPr lang="zh-CN" altLang="en-US" sz="2400" dirty="0" smtClean="0">
                <a:solidFill>
                  <a:prstClr val="black"/>
                </a:solidFill>
              </a:rPr>
              <a:t>位；</a:t>
            </a:r>
            <a:r>
              <a:rPr lang="en-US" altLang="zh-CN" sz="2400" dirty="0" smtClean="0">
                <a:solidFill>
                  <a:prstClr val="black"/>
                </a:solidFill>
              </a:rPr>
              <a:t>MDR</a:t>
            </a:r>
            <a:r>
              <a:rPr lang="zh-CN" altLang="en-US" sz="2400" dirty="0">
                <a:solidFill>
                  <a:prstClr val="black"/>
                </a:solidFill>
              </a:rPr>
              <a:t>，</a:t>
            </a:r>
            <a:r>
              <a:rPr lang="en-US" altLang="zh-CN" sz="2400" dirty="0">
                <a:solidFill>
                  <a:prstClr val="black"/>
                </a:solidFill>
              </a:rPr>
              <a:t>IR</a:t>
            </a:r>
            <a:r>
              <a:rPr lang="zh-CN" altLang="en-US" sz="2400" dirty="0">
                <a:solidFill>
                  <a:prstClr val="black"/>
                </a:solidFill>
              </a:rPr>
              <a:t>，</a:t>
            </a:r>
            <a:r>
              <a:rPr lang="en-US" altLang="zh-CN" sz="2400" dirty="0">
                <a:solidFill>
                  <a:prstClr val="black"/>
                </a:solidFill>
              </a:rPr>
              <a:t>ACC</a:t>
            </a:r>
            <a:r>
              <a:rPr lang="zh-CN" altLang="en-US" sz="2400" dirty="0">
                <a:solidFill>
                  <a:prstClr val="black"/>
                </a:solidFill>
              </a:rPr>
              <a:t>，</a:t>
            </a:r>
            <a:r>
              <a:rPr lang="en-US" altLang="zh-CN" sz="2400" dirty="0">
                <a:solidFill>
                  <a:prstClr val="black"/>
                </a:solidFill>
              </a:rPr>
              <a:t>MQ</a:t>
            </a:r>
            <a:r>
              <a:rPr lang="zh-CN" altLang="en-US" sz="2400" dirty="0">
                <a:solidFill>
                  <a:prstClr val="black"/>
                </a:solidFill>
              </a:rPr>
              <a:t>，</a:t>
            </a:r>
            <a:r>
              <a:rPr lang="en-US" altLang="zh-CN" sz="2400" dirty="0">
                <a:solidFill>
                  <a:prstClr val="black"/>
                </a:solidFill>
              </a:rPr>
              <a:t>X</a:t>
            </a:r>
            <a:r>
              <a:rPr lang="zh-CN" altLang="en-US" sz="2400" dirty="0">
                <a:solidFill>
                  <a:prstClr val="black"/>
                </a:solidFill>
              </a:rPr>
              <a:t>    </a:t>
            </a:r>
            <a:r>
              <a:rPr lang="en-US" altLang="zh-CN" sz="2400" dirty="0">
                <a:solidFill>
                  <a:prstClr val="black"/>
                </a:solidFill>
              </a:rPr>
              <a:t>32</a:t>
            </a:r>
            <a:r>
              <a:rPr lang="zh-CN" altLang="en-US" sz="2400" dirty="0">
                <a:solidFill>
                  <a:prstClr val="black"/>
                </a:solidFill>
              </a:rPr>
              <a:t>位</a:t>
            </a:r>
            <a:endParaRPr lang="en-US" altLang="zh-CN" sz="2400" dirty="0">
              <a:solidFill>
                <a:prstClr val="black"/>
              </a:solidFill>
            </a:endParaRPr>
          </a:p>
          <a:p>
            <a:r>
              <a:rPr lang="zh-CN" altLang="en-US" sz="2400" dirty="0">
                <a:solidFill>
                  <a:prstClr val="black"/>
                </a:solidFill>
              </a:rPr>
              <a:t>信息</a:t>
            </a:r>
            <a:r>
              <a:rPr lang="zh-CN" altLang="en-US" sz="2400" dirty="0" smtClean="0">
                <a:solidFill>
                  <a:prstClr val="black"/>
                </a:solidFill>
              </a:rPr>
              <a:t>通路：</a:t>
            </a:r>
            <a:r>
              <a:rPr lang="en-US" altLang="zh-CN" sz="2400" dirty="0" smtClean="0">
                <a:solidFill>
                  <a:prstClr val="black"/>
                </a:solidFill>
              </a:rPr>
              <a:t>	PC</a:t>
            </a:r>
            <a:r>
              <a:rPr lang="zh-CN" altLang="en-US" sz="2400" dirty="0" smtClean="0">
                <a:solidFill>
                  <a:srgbClr val="002060"/>
                </a:solidFill>
              </a:rPr>
              <a:t> </a:t>
            </a:r>
            <a:r>
              <a:rPr lang="zh-CN" altLang="en-US" sz="2400" dirty="0">
                <a:solidFill>
                  <a:srgbClr val="002060"/>
                </a:solidFill>
              </a:rPr>
              <a:t>→</a:t>
            </a:r>
            <a:r>
              <a:rPr lang="en-US" altLang="zh-CN" sz="2400" dirty="0">
                <a:solidFill>
                  <a:srgbClr val="002060"/>
                </a:solidFill>
              </a:rPr>
              <a:t>MAR, AD(IR)</a:t>
            </a:r>
            <a:r>
              <a:rPr lang="zh-CN" altLang="en-US" sz="2400" dirty="0">
                <a:solidFill>
                  <a:srgbClr val="002060"/>
                </a:solidFill>
              </a:rPr>
              <a:t> →</a:t>
            </a:r>
            <a:r>
              <a:rPr lang="en-US" altLang="zh-CN" sz="2400" dirty="0">
                <a:solidFill>
                  <a:srgbClr val="002060"/>
                </a:solidFill>
              </a:rPr>
              <a:t>MAR,MDR</a:t>
            </a:r>
            <a:r>
              <a:rPr lang="zh-CN" altLang="en-US" sz="2400" dirty="0">
                <a:solidFill>
                  <a:srgbClr val="002060"/>
                </a:solidFill>
              </a:rPr>
              <a:t> →</a:t>
            </a:r>
            <a:r>
              <a:rPr lang="en-US" altLang="zh-CN" sz="2400" dirty="0">
                <a:solidFill>
                  <a:srgbClr val="002060"/>
                </a:solidFill>
              </a:rPr>
              <a:t>IR</a:t>
            </a:r>
          </a:p>
          <a:p>
            <a:r>
              <a:rPr lang="en-US" altLang="zh-CN" sz="2400" dirty="0" smtClean="0">
                <a:solidFill>
                  <a:srgbClr val="002060"/>
                </a:solidFill>
              </a:rPr>
              <a:t>		MDR</a:t>
            </a:r>
            <a:r>
              <a:rPr lang="zh-CN" altLang="en-US" sz="2400" dirty="0" smtClean="0">
                <a:solidFill>
                  <a:srgbClr val="002060"/>
                </a:solidFill>
              </a:rPr>
              <a:t> </a:t>
            </a:r>
            <a:r>
              <a:rPr lang="zh-CN" altLang="en-US" sz="2400" dirty="0">
                <a:solidFill>
                  <a:srgbClr val="002060"/>
                </a:solidFill>
              </a:rPr>
              <a:t>→</a:t>
            </a:r>
            <a:r>
              <a:rPr lang="en-US" altLang="zh-CN" sz="2400" dirty="0" smtClean="0">
                <a:solidFill>
                  <a:srgbClr val="002060"/>
                </a:solidFill>
              </a:rPr>
              <a:t>ACC(</a:t>
            </a:r>
            <a:r>
              <a:rPr lang="zh-CN" altLang="en-US" sz="2400" dirty="0" smtClean="0">
                <a:solidFill>
                  <a:srgbClr val="002060"/>
                </a:solidFill>
              </a:rPr>
              <a:t>取数</a:t>
            </a:r>
            <a:r>
              <a:rPr lang="en-US" altLang="zh-CN" sz="2400" dirty="0" smtClean="0">
                <a:solidFill>
                  <a:srgbClr val="002060"/>
                </a:solidFill>
              </a:rPr>
              <a:t>),</a:t>
            </a:r>
            <a:r>
              <a:rPr lang="en-US" altLang="zh-CN" sz="2400" dirty="0">
                <a:solidFill>
                  <a:srgbClr val="002060"/>
                </a:solidFill>
              </a:rPr>
              <a:t>ACC</a:t>
            </a:r>
            <a:r>
              <a:rPr lang="zh-CN" altLang="en-US" sz="2400" dirty="0">
                <a:solidFill>
                  <a:srgbClr val="002060"/>
                </a:solidFill>
              </a:rPr>
              <a:t> →</a:t>
            </a:r>
            <a:r>
              <a:rPr lang="en-US" altLang="zh-CN" sz="2400" dirty="0" smtClean="0">
                <a:solidFill>
                  <a:srgbClr val="002060"/>
                </a:solidFill>
              </a:rPr>
              <a:t>MDR(</a:t>
            </a:r>
            <a:r>
              <a:rPr lang="zh-CN" altLang="en-US" sz="2400" dirty="0" smtClean="0">
                <a:solidFill>
                  <a:srgbClr val="002060"/>
                </a:solidFill>
              </a:rPr>
              <a:t>存数</a:t>
            </a:r>
            <a:r>
              <a:rPr lang="en-US" altLang="zh-CN" sz="2400" dirty="0" smtClean="0">
                <a:solidFill>
                  <a:srgbClr val="002060"/>
                </a:solidFill>
              </a:rPr>
              <a:t>),</a:t>
            </a:r>
          </a:p>
          <a:p>
            <a:r>
              <a:rPr lang="en-US" altLang="zh-CN" sz="2400" dirty="0" smtClean="0">
                <a:solidFill>
                  <a:srgbClr val="002060"/>
                </a:solidFill>
              </a:rPr>
              <a:t>		MDR</a:t>
            </a:r>
            <a:r>
              <a:rPr lang="zh-CN" altLang="en-US" sz="2400" dirty="0" smtClean="0">
                <a:solidFill>
                  <a:srgbClr val="002060"/>
                </a:solidFill>
              </a:rPr>
              <a:t> </a:t>
            </a:r>
            <a:r>
              <a:rPr lang="zh-CN" altLang="en-US" sz="2400" dirty="0">
                <a:solidFill>
                  <a:srgbClr val="002060"/>
                </a:solidFill>
              </a:rPr>
              <a:t>→</a:t>
            </a:r>
            <a:r>
              <a:rPr lang="en-US" altLang="zh-CN" sz="2400" dirty="0" smtClean="0">
                <a:solidFill>
                  <a:srgbClr val="002060"/>
                </a:solidFill>
              </a:rPr>
              <a:t>X(</a:t>
            </a:r>
            <a:r>
              <a:rPr lang="zh-CN" altLang="en-US" sz="2400" dirty="0" smtClean="0">
                <a:solidFill>
                  <a:srgbClr val="002060"/>
                </a:solidFill>
              </a:rPr>
              <a:t>加</a:t>
            </a:r>
            <a:r>
              <a:rPr lang="en-US" altLang="zh-CN" sz="2400" dirty="0" smtClean="0">
                <a:solidFill>
                  <a:srgbClr val="002060"/>
                </a:solidFill>
              </a:rPr>
              <a:t>,</a:t>
            </a:r>
            <a:r>
              <a:rPr lang="zh-CN" altLang="en-US" sz="2400" dirty="0" smtClean="0">
                <a:solidFill>
                  <a:srgbClr val="002060"/>
                </a:solidFill>
              </a:rPr>
              <a:t>减</a:t>
            </a:r>
            <a:r>
              <a:rPr lang="en-US" altLang="zh-CN" sz="2400" dirty="0" smtClean="0">
                <a:solidFill>
                  <a:srgbClr val="002060"/>
                </a:solidFill>
              </a:rPr>
              <a:t>,</a:t>
            </a:r>
            <a:r>
              <a:rPr lang="zh-CN" altLang="en-US" sz="2400" dirty="0" smtClean="0">
                <a:solidFill>
                  <a:srgbClr val="002060"/>
                </a:solidFill>
              </a:rPr>
              <a:t>除</a:t>
            </a:r>
            <a:r>
              <a:rPr lang="en-US" altLang="zh-CN" sz="2400" dirty="0" smtClean="0">
                <a:solidFill>
                  <a:srgbClr val="002060"/>
                </a:solidFill>
              </a:rPr>
              <a:t>), MDR</a:t>
            </a:r>
            <a:r>
              <a:rPr lang="zh-CN" altLang="en-US" sz="2400" dirty="0" smtClean="0">
                <a:solidFill>
                  <a:srgbClr val="002060"/>
                </a:solidFill>
              </a:rPr>
              <a:t> →</a:t>
            </a:r>
            <a:r>
              <a:rPr lang="en-US" altLang="zh-CN" sz="2400" dirty="0" smtClean="0">
                <a:solidFill>
                  <a:srgbClr val="002060"/>
                </a:solidFill>
              </a:rPr>
              <a:t>MQ(</a:t>
            </a:r>
            <a:r>
              <a:rPr lang="zh-CN" altLang="en-US" sz="2400" dirty="0" smtClean="0">
                <a:solidFill>
                  <a:srgbClr val="002060"/>
                </a:solidFill>
              </a:rPr>
              <a:t>乘</a:t>
            </a:r>
            <a:r>
              <a:rPr lang="en-US" altLang="zh-CN" sz="2400" dirty="0" smtClean="0">
                <a:solidFill>
                  <a:srgbClr val="002060"/>
                </a:solidFill>
              </a:rPr>
              <a:t>)</a:t>
            </a:r>
            <a:endParaRPr lang="zh-CN" altLang="en-US" sz="2400" dirty="0">
              <a:solidFill>
                <a:prstClr val="black"/>
              </a:solidFill>
            </a:endParaRPr>
          </a:p>
        </p:txBody>
      </p:sp>
      <p:sp>
        <p:nvSpPr>
          <p:cNvPr id="3" name="Rectangle 42"/>
          <p:cNvSpPr>
            <a:spLocks noChangeArrowheads="1"/>
          </p:cNvSpPr>
          <p:nvPr/>
        </p:nvSpPr>
        <p:spPr bwMode="auto">
          <a:xfrm>
            <a:off x="3126581" y="3985419"/>
            <a:ext cx="909637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0701">
                <a:solidFill>
                  <a:schemeClr val="folHlink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4" name="Group 108"/>
          <p:cNvGrpSpPr/>
          <p:nvPr/>
        </p:nvGrpSpPr>
        <p:grpSpPr bwMode="auto">
          <a:xfrm>
            <a:off x="385762" y="473869"/>
            <a:ext cx="8459788" cy="4495800"/>
            <a:chOff x="292" y="1200"/>
            <a:chExt cx="5329" cy="2832"/>
          </a:xfrm>
        </p:grpSpPr>
        <p:sp>
          <p:nvSpPr>
            <p:cNvPr id="5" name="Rectangle 109"/>
            <p:cNvSpPr>
              <a:spLocks noChangeArrowheads="1"/>
            </p:cNvSpPr>
            <p:nvPr/>
          </p:nvSpPr>
          <p:spPr bwMode="auto">
            <a:xfrm>
              <a:off x="1876" y="2246"/>
              <a:ext cx="5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2400">
                  <a:solidFill>
                    <a:prstClr val="black"/>
                  </a:solidFill>
                  <a:latin typeface="Times New Roman" panose="02020603050405020304" pitchFamily="18" charset="0"/>
                </a:rPr>
                <a:t>CU</a:t>
              </a:r>
              <a:endParaRPr lang="en-US" altLang="zh-CN" sz="2400">
                <a:solidFill>
                  <a:prstClr val="black"/>
                </a:solidFill>
              </a:endParaRPr>
            </a:p>
          </p:txBody>
        </p:sp>
        <p:sp>
          <p:nvSpPr>
            <p:cNvPr id="6" name="Rectangle 110"/>
            <p:cNvSpPr>
              <a:spLocks noChangeArrowheads="1"/>
            </p:cNvSpPr>
            <p:nvPr/>
          </p:nvSpPr>
          <p:spPr bwMode="auto">
            <a:xfrm>
              <a:off x="1818" y="2636"/>
              <a:ext cx="5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400">
                  <a:solidFill>
                    <a:prstClr val="black"/>
                  </a:solidFill>
                </a:rPr>
                <a:t>控制</a:t>
              </a:r>
            </a:p>
          </p:txBody>
        </p:sp>
        <p:sp>
          <p:nvSpPr>
            <p:cNvPr id="7" name="Rectangle 111"/>
            <p:cNvSpPr>
              <a:spLocks noChangeArrowheads="1"/>
            </p:cNvSpPr>
            <p:nvPr/>
          </p:nvSpPr>
          <p:spPr bwMode="auto">
            <a:xfrm>
              <a:off x="1818" y="3045"/>
              <a:ext cx="52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400">
                  <a:solidFill>
                    <a:prstClr val="black"/>
                  </a:solidFill>
                </a:rPr>
                <a:t>单元</a:t>
              </a:r>
            </a:p>
          </p:txBody>
        </p:sp>
        <p:grpSp>
          <p:nvGrpSpPr>
            <p:cNvPr id="8" name="Group 112"/>
            <p:cNvGrpSpPr/>
            <p:nvPr/>
          </p:nvGrpSpPr>
          <p:grpSpPr bwMode="auto">
            <a:xfrm>
              <a:off x="292" y="1200"/>
              <a:ext cx="5329" cy="2832"/>
              <a:chOff x="292" y="1200"/>
              <a:chExt cx="5329" cy="2832"/>
            </a:xfrm>
          </p:grpSpPr>
          <p:grpSp>
            <p:nvGrpSpPr>
              <p:cNvPr id="9" name="Group 113"/>
              <p:cNvGrpSpPr/>
              <p:nvPr/>
            </p:nvGrpSpPr>
            <p:grpSpPr bwMode="auto">
              <a:xfrm>
                <a:off x="3456" y="1200"/>
                <a:ext cx="1584" cy="2832"/>
                <a:chOff x="3456" y="1200"/>
                <a:chExt cx="1584" cy="2832"/>
              </a:xfrm>
            </p:grpSpPr>
            <p:sp>
              <p:nvSpPr>
                <p:cNvPr id="48" name="Rectangle 114"/>
                <p:cNvSpPr>
                  <a:spLocks noChangeArrowheads="1"/>
                </p:cNvSpPr>
                <p:nvPr/>
              </p:nvSpPr>
              <p:spPr bwMode="auto">
                <a:xfrm>
                  <a:off x="3456" y="1200"/>
                  <a:ext cx="1584" cy="2832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49" name="Group 115"/>
                <p:cNvGrpSpPr/>
                <p:nvPr/>
              </p:nvGrpSpPr>
              <p:grpSpPr bwMode="auto">
                <a:xfrm>
                  <a:off x="3648" y="3667"/>
                  <a:ext cx="1216" cy="365"/>
                  <a:chOff x="3648" y="3667"/>
                  <a:chExt cx="1216" cy="365"/>
                </a:xfrm>
              </p:grpSpPr>
              <p:sp>
                <p:nvSpPr>
                  <p:cNvPr id="58" name="Rectangle 116"/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3667"/>
                    <a:ext cx="1200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587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9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3797" y="3686"/>
                    <a:ext cx="1067" cy="26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zh-CN" altLang="en-US" sz="2800">
                        <a:solidFill>
                          <a:prstClr val="black"/>
                        </a:solidFill>
                      </a:rPr>
                      <a:t>主存储器</a:t>
                    </a:r>
                  </a:p>
                </p:txBody>
              </p:sp>
            </p:grpSp>
            <p:grpSp>
              <p:nvGrpSpPr>
                <p:cNvPr id="50" name="Group 118"/>
                <p:cNvGrpSpPr/>
                <p:nvPr/>
              </p:nvGrpSpPr>
              <p:grpSpPr bwMode="auto">
                <a:xfrm>
                  <a:off x="3552" y="2832"/>
                  <a:ext cx="1376" cy="576"/>
                  <a:chOff x="3552" y="2832"/>
                  <a:chExt cx="1376" cy="576"/>
                </a:xfrm>
              </p:grpSpPr>
              <p:sp>
                <p:nvSpPr>
                  <p:cNvPr id="54" name="Rectangle 119"/>
                  <p:cNvSpPr>
                    <a:spLocks noChangeArrowheads="1"/>
                  </p:cNvSpPr>
                  <p:nvPr/>
                </p:nvSpPr>
                <p:spPr bwMode="auto">
                  <a:xfrm>
                    <a:off x="4266" y="2832"/>
                    <a:ext cx="630" cy="576"/>
                  </a:xfrm>
                  <a:prstGeom prst="rect">
                    <a:avLst/>
                  </a:prstGeom>
                  <a:noFill/>
                  <a:ln w="28575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5" name="Rectangle 120"/>
                  <p:cNvSpPr>
                    <a:spLocks noChangeArrowheads="1"/>
                  </p:cNvSpPr>
                  <p:nvPr/>
                </p:nvSpPr>
                <p:spPr bwMode="auto">
                  <a:xfrm>
                    <a:off x="4354" y="2985"/>
                    <a:ext cx="574" cy="2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en-US" altLang="zh-CN" sz="2400">
                        <a:solidFill>
                          <a:prstClr val="black"/>
                        </a:solidFill>
                        <a:latin typeface="Times New Roman" panose="02020603050405020304" pitchFamily="18" charset="0"/>
                      </a:rPr>
                      <a:t>MDR</a:t>
                    </a:r>
                    <a:endParaRPr lang="en-US" altLang="zh-CN" sz="24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6" name="Rectangle 121"/>
                  <p:cNvSpPr>
                    <a:spLocks noChangeArrowheads="1"/>
                  </p:cNvSpPr>
                  <p:nvPr/>
                </p:nvSpPr>
                <p:spPr bwMode="auto">
                  <a:xfrm>
                    <a:off x="3552" y="2832"/>
                    <a:ext cx="624" cy="576"/>
                  </a:xfrm>
                  <a:prstGeom prst="rect">
                    <a:avLst/>
                  </a:prstGeom>
                  <a:noFill/>
                  <a:ln w="28575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7" name="Rectangle 122"/>
                  <p:cNvSpPr>
                    <a:spLocks noChangeArrowheads="1"/>
                  </p:cNvSpPr>
                  <p:nvPr/>
                </p:nvSpPr>
                <p:spPr bwMode="auto">
                  <a:xfrm>
                    <a:off x="3631" y="2985"/>
                    <a:ext cx="628" cy="2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en-US" altLang="zh-CN" sz="2400">
                        <a:solidFill>
                          <a:prstClr val="black"/>
                        </a:solidFill>
                        <a:latin typeface="Times New Roman" panose="02020603050405020304" pitchFamily="18" charset="0"/>
                      </a:rPr>
                      <a:t>MAR</a:t>
                    </a:r>
                    <a:endParaRPr lang="en-US" altLang="zh-CN" sz="2400">
                      <a:solidFill>
                        <a:prstClr val="black"/>
                      </a:solidFill>
                    </a:endParaRPr>
                  </a:p>
                </p:txBody>
              </p:sp>
            </p:grpSp>
            <p:grpSp>
              <p:nvGrpSpPr>
                <p:cNvPr id="51" name="Group 123"/>
                <p:cNvGrpSpPr/>
                <p:nvPr/>
              </p:nvGrpSpPr>
              <p:grpSpPr bwMode="auto">
                <a:xfrm>
                  <a:off x="3552" y="1344"/>
                  <a:ext cx="1392" cy="912"/>
                  <a:chOff x="3552" y="1344"/>
                  <a:chExt cx="1392" cy="912"/>
                </a:xfrm>
              </p:grpSpPr>
              <p:sp>
                <p:nvSpPr>
                  <p:cNvPr id="52" name="Rectangle 124"/>
                  <p:cNvSpPr>
                    <a:spLocks noChangeArrowheads="1"/>
                  </p:cNvSpPr>
                  <p:nvPr/>
                </p:nvSpPr>
                <p:spPr bwMode="auto">
                  <a:xfrm>
                    <a:off x="3552" y="1344"/>
                    <a:ext cx="1392" cy="912"/>
                  </a:xfrm>
                  <a:prstGeom prst="rect">
                    <a:avLst/>
                  </a:prstGeom>
                  <a:noFill/>
                  <a:ln w="28575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53" name="Text Box 1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20" y="1602"/>
                    <a:ext cx="884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zh-CN" altLang="en-US" sz="3200">
                        <a:solidFill>
                          <a:prstClr val="black"/>
                        </a:solidFill>
                      </a:rPr>
                      <a:t>存储体</a:t>
                    </a:r>
                  </a:p>
                </p:txBody>
              </p:sp>
            </p:grpSp>
          </p:grpSp>
          <p:grpSp>
            <p:nvGrpSpPr>
              <p:cNvPr id="10" name="Group 126"/>
              <p:cNvGrpSpPr/>
              <p:nvPr/>
            </p:nvGrpSpPr>
            <p:grpSpPr bwMode="auto">
              <a:xfrm>
                <a:off x="292" y="1200"/>
                <a:ext cx="2876" cy="2830"/>
                <a:chOff x="292" y="1200"/>
                <a:chExt cx="2876" cy="2830"/>
              </a:xfrm>
            </p:grpSpPr>
            <p:sp>
              <p:nvSpPr>
                <p:cNvPr id="16" name="Rectangle 127"/>
                <p:cNvSpPr>
                  <a:spLocks noChangeArrowheads="1"/>
                </p:cNvSpPr>
                <p:nvPr/>
              </p:nvSpPr>
              <p:spPr bwMode="auto">
                <a:xfrm>
                  <a:off x="292" y="1200"/>
                  <a:ext cx="2828" cy="2830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7" name="Rectangle 128"/>
                <p:cNvSpPr>
                  <a:spLocks noChangeArrowheads="1"/>
                </p:cNvSpPr>
                <p:nvPr/>
              </p:nvSpPr>
              <p:spPr bwMode="auto">
                <a:xfrm>
                  <a:off x="1360" y="1248"/>
                  <a:ext cx="526" cy="3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algn="ctr"/>
                  <a:r>
                    <a:rPr lang="en-US" altLang="zh-CN" sz="3200">
                      <a:solidFill>
                        <a:prstClr val="black"/>
                      </a:solidFill>
                      <a:latin typeface="Times New Roman" panose="02020603050405020304" pitchFamily="18" charset="0"/>
                    </a:rPr>
                    <a:t>CPU</a:t>
                  </a:r>
                  <a:endParaRPr lang="en-US" altLang="zh-CN" sz="320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18" name="Group 129"/>
                <p:cNvGrpSpPr/>
                <p:nvPr/>
              </p:nvGrpSpPr>
              <p:grpSpPr bwMode="auto">
                <a:xfrm>
                  <a:off x="1680" y="1584"/>
                  <a:ext cx="1488" cy="2352"/>
                  <a:chOff x="1680" y="1584"/>
                  <a:chExt cx="1488" cy="2352"/>
                </a:xfrm>
              </p:grpSpPr>
              <p:grpSp>
                <p:nvGrpSpPr>
                  <p:cNvPr id="36" name="Group 130"/>
                  <p:cNvGrpSpPr/>
                  <p:nvPr/>
                </p:nvGrpSpPr>
                <p:grpSpPr bwMode="auto">
                  <a:xfrm>
                    <a:off x="2427" y="2980"/>
                    <a:ext cx="741" cy="284"/>
                    <a:chOff x="2427" y="2980"/>
                    <a:chExt cx="741" cy="284"/>
                  </a:xfrm>
                </p:grpSpPr>
                <p:sp>
                  <p:nvSpPr>
                    <p:cNvPr id="46" name="Rectangle 13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27" y="2980"/>
                      <a:ext cx="438" cy="284"/>
                    </a:xfrm>
                    <a:prstGeom prst="rect">
                      <a:avLst/>
                    </a:prstGeom>
                    <a:noFill/>
                    <a:ln w="20701">
                      <a:solidFill>
                        <a:schemeClr val="folHlink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47" name="Rectangle 1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11" y="2980"/>
                      <a:ext cx="657" cy="26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/>
                    <a:p>
                      <a:r>
                        <a:rPr lang="en-US" altLang="zh-CN" sz="280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</a:rPr>
                        <a:t>PC</a:t>
                      </a:r>
                      <a:endParaRPr lang="en-US" altLang="zh-CN" sz="2800" dirty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sp>
                <p:nvSpPr>
                  <p:cNvPr id="37" name="Rectangle 133"/>
                  <p:cNvSpPr>
                    <a:spLocks noChangeArrowheads="1"/>
                  </p:cNvSpPr>
                  <p:nvPr/>
                </p:nvSpPr>
                <p:spPr bwMode="auto">
                  <a:xfrm>
                    <a:off x="2064" y="3610"/>
                    <a:ext cx="816" cy="2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zh-CN" altLang="en-US" sz="2400">
                        <a:solidFill>
                          <a:prstClr val="black"/>
                        </a:solidFill>
                      </a:rPr>
                      <a:t>控制器</a:t>
                    </a:r>
                  </a:p>
                </p:txBody>
              </p:sp>
              <p:sp>
                <p:nvSpPr>
                  <p:cNvPr id="38" name="Rectangle 134"/>
                  <p:cNvSpPr>
                    <a:spLocks noChangeArrowheads="1"/>
                  </p:cNvSpPr>
                  <p:nvPr/>
                </p:nvSpPr>
                <p:spPr bwMode="auto">
                  <a:xfrm>
                    <a:off x="1778" y="2160"/>
                    <a:ext cx="478" cy="1300"/>
                  </a:xfrm>
                  <a:prstGeom prst="rect">
                    <a:avLst/>
                  </a:prstGeom>
                  <a:noFill/>
                  <a:ln w="20701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grpSp>
                <p:nvGrpSpPr>
                  <p:cNvPr id="39" name="Group 135"/>
                  <p:cNvGrpSpPr/>
                  <p:nvPr/>
                </p:nvGrpSpPr>
                <p:grpSpPr bwMode="auto">
                  <a:xfrm>
                    <a:off x="2427" y="2453"/>
                    <a:ext cx="693" cy="283"/>
                    <a:chOff x="2427" y="2453"/>
                    <a:chExt cx="693" cy="283"/>
                  </a:xfrm>
                </p:grpSpPr>
                <p:sp>
                  <p:nvSpPr>
                    <p:cNvPr id="44" name="Rectangle 1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27" y="2453"/>
                      <a:ext cx="438" cy="283"/>
                    </a:xfrm>
                    <a:prstGeom prst="rect">
                      <a:avLst/>
                    </a:prstGeom>
                    <a:noFill/>
                    <a:ln w="20701">
                      <a:solidFill>
                        <a:schemeClr val="folHlink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45" name="Rectangle 1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20" y="2453"/>
                      <a:ext cx="600" cy="26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/>
                    <a:p>
                      <a:r>
                        <a:rPr lang="en-US" altLang="zh-CN" sz="280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</a:rPr>
                        <a:t>IR</a:t>
                      </a:r>
                      <a:endParaRPr lang="en-US" altLang="zh-CN" sz="280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sp>
                <p:nvSpPr>
                  <p:cNvPr id="40" name="Rectangle 138"/>
                  <p:cNvSpPr>
                    <a:spLocks noChangeArrowheads="1"/>
                  </p:cNvSpPr>
                  <p:nvPr/>
                </p:nvSpPr>
                <p:spPr bwMode="auto">
                  <a:xfrm>
                    <a:off x="1680" y="1584"/>
                    <a:ext cx="1296" cy="2352"/>
                  </a:xfrm>
                  <a:prstGeom prst="rect">
                    <a:avLst/>
                  </a:prstGeom>
                  <a:noFill/>
                  <a:ln w="28575">
                    <a:solidFill>
                      <a:schemeClr val="folHlink"/>
                    </a:solidFill>
                    <a:prstDash val="lgDashDot"/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1" name="Line 13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48" y="1584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folHlink"/>
                    </a:solidFill>
                    <a:round/>
                    <a:tailEnd type="stealth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2" name="Line 14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064" y="1584"/>
                    <a:ext cx="0" cy="576"/>
                  </a:xfrm>
                  <a:prstGeom prst="line">
                    <a:avLst/>
                  </a:prstGeom>
                  <a:noFill/>
                  <a:ln w="28575">
                    <a:solidFill>
                      <a:schemeClr val="folHlink"/>
                    </a:solidFill>
                    <a:round/>
                    <a:tailEnd type="stealth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43" name="Text Box 14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14" y="1754"/>
                    <a:ext cx="30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2400">
                        <a:solidFill>
                          <a:srgbClr val="800080"/>
                        </a:solidFill>
                        <a:latin typeface="Times New Roman" panose="02020603050405020304"/>
                      </a:rPr>
                      <a:t>…</a:t>
                    </a:r>
                    <a:endParaRPr lang="zh-CN" altLang="en-US" sz="2400">
                      <a:solidFill>
                        <a:srgbClr val="800080"/>
                      </a:solidFill>
                    </a:endParaRPr>
                  </a:p>
                </p:txBody>
              </p:sp>
            </p:grpSp>
            <p:grpSp>
              <p:nvGrpSpPr>
                <p:cNvPr id="19" name="Group 142"/>
                <p:cNvGrpSpPr/>
                <p:nvPr/>
              </p:nvGrpSpPr>
              <p:grpSpPr bwMode="auto">
                <a:xfrm>
                  <a:off x="384" y="1584"/>
                  <a:ext cx="1209" cy="2352"/>
                  <a:chOff x="384" y="1584"/>
                  <a:chExt cx="1209" cy="2352"/>
                </a:xfrm>
              </p:grpSpPr>
              <p:sp>
                <p:nvSpPr>
                  <p:cNvPr id="20" name="Rectangle 143"/>
                  <p:cNvSpPr>
                    <a:spLocks noChangeArrowheads="1"/>
                  </p:cNvSpPr>
                  <p:nvPr/>
                </p:nvSpPr>
                <p:spPr bwMode="auto">
                  <a:xfrm>
                    <a:off x="779" y="3486"/>
                    <a:ext cx="495" cy="3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587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1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698" y="3601"/>
                    <a:ext cx="785" cy="2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zh-CN" altLang="en-US" sz="2400">
                        <a:solidFill>
                          <a:prstClr val="black"/>
                        </a:solidFill>
                      </a:rPr>
                      <a:t>运算器</a:t>
                    </a:r>
                  </a:p>
                </p:txBody>
              </p:sp>
              <p:sp>
                <p:nvSpPr>
                  <p:cNvPr id="22" name="Rectangle 145"/>
                  <p:cNvSpPr>
                    <a:spLocks noChangeArrowheads="1"/>
                  </p:cNvSpPr>
                  <p:nvPr/>
                </p:nvSpPr>
                <p:spPr bwMode="auto">
                  <a:xfrm>
                    <a:off x="1117" y="1988"/>
                    <a:ext cx="374" cy="282"/>
                  </a:xfrm>
                  <a:prstGeom prst="rect">
                    <a:avLst/>
                  </a:prstGeom>
                  <a:noFill/>
                  <a:ln w="20701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3" name="Rectangle 146"/>
                  <p:cNvSpPr>
                    <a:spLocks noChangeArrowheads="1"/>
                  </p:cNvSpPr>
                  <p:nvPr/>
                </p:nvSpPr>
                <p:spPr bwMode="auto">
                  <a:xfrm>
                    <a:off x="1178" y="2038"/>
                    <a:ext cx="415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en-US" altLang="zh-CN">
                        <a:solidFill>
                          <a:prstClr val="black"/>
                        </a:solidFill>
                        <a:latin typeface="Times New Roman" panose="02020603050405020304" pitchFamily="18" charset="0"/>
                      </a:rPr>
                      <a:t>MQ</a:t>
                    </a:r>
                    <a:endParaRPr lang="en-US" altLang="zh-CN" sz="40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4" name="Freeform 147"/>
                  <p:cNvSpPr/>
                  <p:nvPr/>
                </p:nvSpPr>
                <p:spPr bwMode="auto">
                  <a:xfrm>
                    <a:off x="772" y="2272"/>
                    <a:ext cx="94" cy="317"/>
                  </a:xfrm>
                  <a:custGeom>
                    <a:avLst/>
                    <a:gdLst>
                      <a:gd name="T0" fmla="*/ 0 w 120"/>
                      <a:gd name="T1" fmla="*/ 80 h 315"/>
                      <a:gd name="T2" fmla="*/ 30 w 120"/>
                      <a:gd name="T3" fmla="*/ 80 h 315"/>
                      <a:gd name="T4" fmla="*/ 30 w 120"/>
                      <a:gd name="T5" fmla="*/ 315 h 315"/>
                      <a:gd name="T6" fmla="*/ 89 w 120"/>
                      <a:gd name="T7" fmla="*/ 315 h 315"/>
                      <a:gd name="T8" fmla="*/ 89 w 120"/>
                      <a:gd name="T9" fmla="*/ 80 h 315"/>
                      <a:gd name="T10" fmla="*/ 120 w 120"/>
                      <a:gd name="T11" fmla="*/ 80 h 315"/>
                      <a:gd name="T12" fmla="*/ 59 w 120"/>
                      <a:gd name="T13" fmla="*/ 0 h 315"/>
                      <a:gd name="T14" fmla="*/ 0 w 120"/>
                      <a:gd name="T15" fmla="*/ 80 h 3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20" h="315">
                        <a:moveTo>
                          <a:pt x="0" y="80"/>
                        </a:moveTo>
                        <a:lnTo>
                          <a:pt x="30" y="80"/>
                        </a:lnTo>
                        <a:lnTo>
                          <a:pt x="30" y="315"/>
                        </a:lnTo>
                        <a:lnTo>
                          <a:pt x="89" y="315"/>
                        </a:lnTo>
                        <a:lnTo>
                          <a:pt x="89" y="80"/>
                        </a:lnTo>
                        <a:lnTo>
                          <a:pt x="120" y="80"/>
                        </a:lnTo>
                        <a:lnTo>
                          <a:pt x="59" y="0"/>
                        </a:lnTo>
                        <a:lnTo>
                          <a:pt x="0" y="80"/>
                        </a:lnTo>
                        <a:close/>
                      </a:path>
                    </a:pathLst>
                  </a:custGeom>
                  <a:noFill/>
                  <a:ln w="15875">
                    <a:solidFill>
                      <a:schemeClr val="folHlink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5" name="Rectangle 148"/>
                  <p:cNvSpPr>
                    <a:spLocks noChangeArrowheads="1"/>
                  </p:cNvSpPr>
                  <p:nvPr/>
                </p:nvSpPr>
                <p:spPr bwMode="auto">
                  <a:xfrm>
                    <a:off x="542" y="1988"/>
                    <a:ext cx="373" cy="282"/>
                  </a:xfrm>
                  <a:prstGeom prst="rect">
                    <a:avLst/>
                  </a:prstGeom>
                  <a:noFill/>
                  <a:ln w="20701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6" name="Rectangle 149"/>
                  <p:cNvSpPr>
                    <a:spLocks noChangeArrowheads="1"/>
                  </p:cNvSpPr>
                  <p:nvPr/>
                </p:nvSpPr>
                <p:spPr bwMode="auto">
                  <a:xfrm>
                    <a:off x="578" y="2039"/>
                    <a:ext cx="536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en-US" altLang="zh-CN">
                        <a:solidFill>
                          <a:prstClr val="black"/>
                        </a:solidFill>
                        <a:latin typeface="Times New Roman" panose="02020603050405020304" pitchFamily="18" charset="0"/>
                      </a:rPr>
                      <a:t>ACC</a:t>
                    </a:r>
                    <a:endParaRPr lang="en-US" altLang="zh-CN" sz="40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7" name="Rectangle 150"/>
                  <p:cNvSpPr>
                    <a:spLocks noChangeArrowheads="1"/>
                  </p:cNvSpPr>
                  <p:nvPr/>
                </p:nvSpPr>
                <p:spPr bwMode="auto">
                  <a:xfrm>
                    <a:off x="542" y="2591"/>
                    <a:ext cx="373" cy="281"/>
                  </a:xfrm>
                  <a:prstGeom prst="rect">
                    <a:avLst/>
                  </a:prstGeom>
                  <a:noFill/>
                  <a:ln w="20701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8" name="Rectangle 151"/>
                  <p:cNvSpPr>
                    <a:spLocks noChangeArrowheads="1"/>
                  </p:cNvSpPr>
                  <p:nvPr/>
                </p:nvSpPr>
                <p:spPr bwMode="auto">
                  <a:xfrm>
                    <a:off x="575" y="2641"/>
                    <a:ext cx="304" cy="17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ctr"/>
                    <a:r>
                      <a:rPr lang="en-US" altLang="zh-CN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</a:rPr>
                      <a:t>ALU</a:t>
                    </a:r>
                    <a:endParaRPr lang="en-US" altLang="zh-CN" sz="4000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9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539" y="3198"/>
                    <a:ext cx="373" cy="281"/>
                  </a:xfrm>
                  <a:prstGeom prst="rect">
                    <a:avLst/>
                  </a:prstGeom>
                  <a:noFill/>
                  <a:ln w="20701">
                    <a:solidFill>
                      <a:schemeClr val="folHlink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0" name="Rectangle 153"/>
                  <p:cNvSpPr>
                    <a:spLocks noChangeArrowheads="1"/>
                  </p:cNvSpPr>
                  <p:nvPr/>
                </p:nvSpPr>
                <p:spPr bwMode="auto">
                  <a:xfrm>
                    <a:off x="680" y="3246"/>
                    <a:ext cx="268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en-US" altLang="zh-CN">
                        <a:solidFill>
                          <a:prstClr val="black"/>
                        </a:solidFill>
                        <a:latin typeface="Times New Roman" panose="02020603050405020304" pitchFamily="18" charset="0"/>
                      </a:rPr>
                      <a:t>X</a:t>
                    </a:r>
                    <a:endParaRPr lang="en-US" altLang="zh-CN" sz="40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1" name="Freeform 154"/>
                  <p:cNvSpPr/>
                  <p:nvPr/>
                </p:nvSpPr>
                <p:spPr bwMode="auto">
                  <a:xfrm>
                    <a:off x="682" y="2880"/>
                    <a:ext cx="92" cy="316"/>
                  </a:xfrm>
                  <a:custGeom>
                    <a:avLst/>
                    <a:gdLst>
                      <a:gd name="T0" fmla="*/ 0 w 119"/>
                      <a:gd name="T1" fmla="*/ 77 h 313"/>
                      <a:gd name="T2" fmla="*/ 30 w 119"/>
                      <a:gd name="T3" fmla="*/ 77 h 313"/>
                      <a:gd name="T4" fmla="*/ 30 w 119"/>
                      <a:gd name="T5" fmla="*/ 313 h 313"/>
                      <a:gd name="T6" fmla="*/ 89 w 119"/>
                      <a:gd name="T7" fmla="*/ 313 h 313"/>
                      <a:gd name="T8" fmla="*/ 89 w 119"/>
                      <a:gd name="T9" fmla="*/ 77 h 313"/>
                      <a:gd name="T10" fmla="*/ 119 w 119"/>
                      <a:gd name="T11" fmla="*/ 77 h 313"/>
                      <a:gd name="T12" fmla="*/ 60 w 119"/>
                      <a:gd name="T13" fmla="*/ 0 h 313"/>
                      <a:gd name="T14" fmla="*/ 0 w 119"/>
                      <a:gd name="T15" fmla="*/ 77 h 3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19" h="313">
                        <a:moveTo>
                          <a:pt x="0" y="77"/>
                        </a:moveTo>
                        <a:lnTo>
                          <a:pt x="30" y="77"/>
                        </a:lnTo>
                        <a:lnTo>
                          <a:pt x="30" y="313"/>
                        </a:lnTo>
                        <a:lnTo>
                          <a:pt x="89" y="313"/>
                        </a:lnTo>
                        <a:lnTo>
                          <a:pt x="89" y="77"/>
                        </a:lnTo>
                        <a:lnTo>
                          <a:pt x="119" y="77"/>
                        </a:lnTo>
                        <a:lnTo>
                          <a:pt x="60" y="0"/>
                        </a:lnTo>
                        <a:lnTo>
                          <a:pt x="0" y="77"/>
                        </a:lnTo>
                        <a:close/>
                      </a:path>
                    </a:pathLst>
                  </a:custGeom>
                  <a:noFill/>
                  <a:ln w="15875">
                    <a:solidFill>
                      <a:schemeClr val="folHlink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2" name="Rectangle 155"/>
                  <p:cNvSpPr>
                    <a:spLocks noChangeArrowheads="1"/>
                  </p:cNvSpPr>
                  <p:nvPr/>
                </p:nvSpPr>
                <p:spPr bwMode="auto">
                  <a:xfrm>
                    <a:off x="384" y="1584"/>
                    <a:ext cx="1200" cy="2352"/>
                  </a:xfrm>
                  <a:prstGeom prst="rect">
                    <a:avLst/>
                  </a:prstGeom>
                  <a:noFill/>
                  <a:ln w="28575">
                    <a:solidFill>
                      <a:schemeClr val="folHlink"/>
                    </a:solidFill>
                    <a:prstDash val="lgDashDot"/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3" name="Freeform 156"/>
                  <p:cNvSpPr/>
                  <p:nvPr/>
                </p:nvSpPr>
                <p:spPr bwMode="auto">
                  <a:xfrm rot="10800000">
                    <a:off x="576" y="2275"/>
                    <a:ext cx="94" cy="317"/>
                  </a:xfrm>
                  <a:custGeom>
                    <a:avLst/>
                    <a:gdLst>
                      <a:gd name="T0" fmla="*/ 0 w 120"/>
                      <a:gd name="T1" fmla="*/ 80 h 315"/>
                      <a:gd name="T2" fmla="*/ 30 w 120"/>
                      <a:gd name="T3" fmla="*/ 80 h 315"/>
                      <a:gd name="T4" fmla="*/ 30 w 120"/>
                      <a:gd name="T5" fmla="*/ 315 h 315"/>
                      <a:gd name="T6" fmla="*/ 89 w 120"/>
                      <a:gd name="T7" fmla="*/ 315 h 315"/>
                      <a:gd name="T8" fmla="*/ 89 w 120"/>
                      <a:gd name="T9" fmla="*/ 80 h 315"/>
                      <a:gd name="T10" fmla="*/ 120 w 120"/>
                      <a:gd name="T11" fmla="*/ 80 h 315"/>
                      <a:gd name="T12" fmla="*/ 59 w 120"/>
                      <a:gd name="T13" fmla="*/ 0 h 315"/>
                      <a:gd name="T14" fmla="*/ 0 w 120"/>
                      <a:gd name="T15" fmla="*/ 80 h 3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20" h="315">
                        <a:moveTo>
                          <a:pt x="0" y="80"/>
                        </a:moveTo>
                        <a:lnTo>
                          <a:pt x="30" y="80"/>
                        </a:lnTo>
                        <a:lnTo>
                          <a:pt x="30" y="315"/>
                        </a:lnTo>
                        <a:lnTo>
                          <a:pt x="89" y="315"/>
                        </a:lnTo>
                        <a:lnTo>
                          <a:pt x="89" y="80"/>
                        </a:lnTo>
                        <a:lnTo>
                          <a:pt x="120" y="80"/>
                        </a:lnTo>
                        <a:lnTo>
                          <a:pt x="59" y="0"/>
                        </a:lnTo>
                        <a:lnTo>
                          <a:pt x="0" y="80"/>
                        </a:lnTo>
                        <a:close/>
                      </a:path>
                    </a:pathLst>
                  </a:custGeom>
                  <a:noFill/>
                  <a:ln w="15875">
                    <a:solidFill>
                      <a:schemeClr val="folHlink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4" name="Freeform 157"/>
                  <p:cNvSpPr/>
                  <p:nvPr/>
                </p:nvSpPr>
                <p:spPr bwMode="auto">
                  <a:xfrm>
                    <a:off x="915" y="2064"/>
                    <a:ext cx="200" cy="1"/>
                  </a:xfrm>
                  <a:custGeom>
                    <a:avLst/>
                    <a:gdLst>
                      <a:gd name="T0" fmla="*/ 0 w 200"/>
                      <a:gd name="T1" fmla="*/ 0 h 1"/>
                      <a:gd name="T2" fmla="*/ 200 w 200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00" h="1">
                        <a:moveTo>
                          <a:pt x="0" y="0"/>
                        </a:moveTo>
                        <a:lnTo>
                          <a:pt x="200" y="0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5" name="Freeform 158"/>
                  <p:cNvSpPr/>
                  <p:nvPr/>
                </p:nvSpPr>
                <p:spPr bwMode="auto">
                  <a:xfrm>
                    <a:off x="915" y="2184"/>
                    <a:ext cx="203" cy="1"/>
                  </a:xfrm>
                  <a:custGeom>
                    <a:avLst/>
                    <a:gdLst>
                      <a:gd name="T0" fmla="*/ 203 w 203"/>
                      <a:gd name="T1" fmla="*/ 0 h 1"/>
                      <a:gd name="T2" fmla="*/ 0 w 203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03" h="1">
                        <a:moveTo>
                          <a:pt x="203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stealth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</p:grpSp>
          </p:grpSp>
          <p:grpSp>
            <p:nvGrpSpPr>
              <p:cNvPr id="11" name="Group 159"/>
              <p:cNvGrpSpPr/>
              <p:nvPr/>
            </p:nvGrpSpPr>
            <p:grpSpPr bwMode="auto">
              <a:xfrm>
                <a:off x="5232" y="1200"/>
                <a:ext cx="389" cy="2832"/>
                <a:chOff x="5232" y="1200"/>
                <a:chExt cx="389" cy="2832"/>
              </a:xfrm>
            </p:grpSpPr>
            <p:grpSp>
              <p:nvGrpSpPr>
                <p:cNvPr id="12" name="Group 160"/>
                <p:cNvGrpSpPr/>
                <p:nvPr/>
              </p:nvGrpSpPr>
              <p:grpSpPr bwMode="auto">
                <a:xfrm>
                  <a:off x="5232" y="1200"/>
                  <a:ext cx="389" cy="2832"/>
                  <a:chOff x="5232" y="1200"/>
                  <a:chExt cx="389" cy="2832"/>
                </a:xfrm>
              </p:grpSpPr>
              <p:sp>
                <p:nvSpPr>
                  <p:cNvPr id="14" name="Rectangle 161"/>
                  <p:cNvSpPr>
                    <a:spLocks noChangeArrowheads="1"/>
                  </p:cNvSpPr>
                  <p:nvPr/>
                </p:nvSpPr>
                <p:spPr bwMode="auto">
                  <a:xfrm>
                    <a:off x="5232" y="1200"/>
                    <a:ext cx="389" cy="283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5" name="Rectangle 162"/>
                  <p:cNvSpPr>
                    <a:spLocks noChangeArrowheads="1"/>
                  </p:cNvSpPr>
                  <p:nvPr/>
                </p:nvSpPr>
                <p:spPr bwMode="auto">
                  <a:xfrm>
                    <a:off x="5324" y="2341"/>
                    <a:ext cx="243" cy="68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ctr"/>
                    <a:r>
                      <a:rPr lang="en-US" altLang="zh-CN" sz="2100">
                        <a:solidFill>
                          <a:prstClr val="black"/>
                        </a:solidFill>
                        <a:latin typeface="Times New Roman" panose="02020603050405020304" pitchFamily="18" charset="0"/>
                      </a:rPr>
                      <a:t>I/O</a:t>
                    </a:r>
                  </a:p>
                  <a:p>
                    <a:pPr algn="ctr"/>
                    <a:r>
                      <a:rPr lang="zh-CN" altLang="en-US" sz="2100">
                        <a:solidFill>
                          <a:prstClr val="black"/>
                        </a:solidFill>
                        <a:latin typeface="Times New Roman" panose="02020603050405020304" pitchFamily="18" charset="0"/>
                      </a:rPr>
                      <a:t>设</a:t>
                    </a:r>
                  </a:p>
                  <a:p>
                    <a:pPr algn="ctr"/>
                    <a:r>
                      <a:rPr lang="zh-CN" altLang="en-US" sz="2100">
                        <a:solidFill>
                          <a:prstClr val="black"/>
                        </a:solidFill>
                        <a:latin typeface="Times New Roman" panose="02020603050405020304" pitchFamily="18" charset="0"/>
                      </a:rPr>
                      <a:t>备</a:t>
                    </a:r>
                    <a:endParaRPr lang="zh-CN" altLang="en-US" sz="4000">
                      <a:solidFill>
                        <a:prstClr val="black"/>
                      </a:solidFill>
                    </a:endParaRPr>
                  </a:p>
                </p:txBody>
              </p:sp>
            </p:grpSp>
            <p:sp>
              <p:nvSpPr>
                <p:cNvPr id="13" name="Rectangle 163"/>
                <p:cNvSpPr>
                  <a:spLocks noChangeArrowheads="1"/>
                </p:cNvSpPr>
                <p:nvPr/>
              </p:nvSpPr>
              <p:spPr bwMode="auto">
                <a:xfrm>
                  <a:off x="5232" y="1200"/>
                  <a:ext cx="384" cy="2832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>
                    <a:solidFill>
                      <a:prstClr val="black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081902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★</a:t>
            </a:r>
            <a:r>
              <a:rPr lang="zh-CN" altLang="en-US" dirty="0" smtClean="0"/>
              <a:t>四、</a:t>
            </a:r>
            <a:r>
              <a:rPr lang="zh-CN" altLang="en-US" dirty="0"/>
              <a:t>计算机的</a:t>
            </a:r>
            <a:r>
              <a:rPr lang="zh-CN" altLang="en-US" dirty="0" smtClean="0"/>
              <a:t>工作原理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思考</a:t>
            </a:r>
            <a:r>
              <a:rPr lang="zh-CN" altLang="en-US" smtClean="0"/>
              <a:t>：</a:t>
            </a:r>
            <a:r>
              <a:rPr lang="zh-CN" altLang="en-US" dirty="0"/>
              <a:t>指令和数据都在于存储器中，计算机如何区分他们？</a:t>
            </a:r>
          </a:p>
          <a:p>
            <a:r>
              <a:rPr lang="zh-CN" altLang="en-US" dirty="0"/>
              <a:t>方法一：根据不同阶段去区分，取指阶段取的是指令，执行阶段取的是数据；</a:t>
            </a:r>
          </a:p>
          <a:p>
            <a:r>
              <a:rPr lang="zh-CN" altLang="en-US" dirty="0"/>
              <a:t>方法二：根据地址的来源区分，来自</a:t>
            </a:r>
            <a:r>
              <a:rPr lang="en-US" altLang="zh-CN" dirty="0"/>
              <a:t>PC</a:t>
            </a:r>
            <a:r>
              <a:rPr lang="zh-CN" altLang="en-US" dirty="0"/>
              <a:t>寄存器的地址取的是指令，来自</a:t>
            </a:r>
            <a:r>
              <a:rPr lang="en-US" altLang="zh-CN" dirty="0"/>
              <a:t>IR</a:t>
            </a:r>
            <a:r>
              <a:rPr lang="zh-CN" altLang="en-US" dirty="0"/>
              <a:t>寄存器的地址码部分的地址取的是数据。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301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mtClean="0"/>
              <a:t>★</a:t>
            </a:r>
            <a:r>
              <a:rPr lang="zh-CN" altLang="en-US" smtClean="0"/>
              <a:t>六、</a:t>
            </a:r>
            <a:r>
              <a:rPr lang="zh-CN" altLang="en-US" dirty="0" smtClean="0"/>
              <a:t>存储器容量</a:t>
            </a:r>
            <a:r>
              <a:rPr lang="zh-CN" altLang="en-US" dirty="0"/>
              <a:t>的</a:t>
            </a:r>
            <a:r>
              <a:rPr lang="zh-CN" altLang="en-US" dirty="0" smtClean="0"/>
              <a:t>扩展</a:t>
            </a:r>
            <a:endParaRPr lang="zh-CN" altLang="en-US" dirty="0"/>
          </a:p>
        </p:txBody>
      </p:sp>
      <p:sp>
        <p:nvSpPr>
          <p:cNvPr id="92" name="Text Box 2"/>
          <p:cNvSpPr txBox="1">
            <a:spLocks noChangeArrowheads="1"/>
          </p:cNvSpPr>
          <p:nvPr/>
        </p:nvSpPr>
        <p:spPr bwMode="auto">
          <a:xfrm>
            <a:off x="725488" y="2162538"/>
            <a:ext cx="83058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 smtClean="0">
                <a:latin typeface="Times New Roman" pitchFamily="18" charset="0"/>
              </a:rPr>
              <a:t> 用             </a:t>
            </a:r>
            <a:r>
              <a:rPr lang="en-US" altLang="zh-CN" sz="2600" dirty="0" smtClean="0">
                <a:latin typeface="Times New Roman" pitchFamily="18" charset="0"/>
              </a:rPr>
              <a:t>1K×4</a:t>
            </a:r>
            <a:r>
              <a:rPr lang="zh-CN" altLang="en-US" sz="2600" dirty="0">
                <a:latin typeface="Times New Roman" pitchFamily="18" charset="0"/>
              </a:rPr>
              <a:t>位存储芯</a:t>
            </a:r>
            <a:r>
              <a:rPr lang="zh-CN" altLang="en-US" sz="2600" dirty="0" smtClean="0">
                <a:latin typeface="Times New Roman" pitchFamily="18" charset="0"/>
              </a:rPr>
              <a:t>片组成 </a:t>
            </a:r>
            <a:r>
              <a:rPr lang="en-US" altLang="zh-CN" sz="2600" dirty="0" smtClean="0">
                <a:latin typeface="Times New Roman" pitchFamily="18" charset="0"/>
              </a:rPr>
              <a:t>1K×8</a:t>
            </a:r>
            <a:r>
              <a:rPr lang="zh-CN" altLang="en-US" sz="2600" dirty="0" smtClean="0">
                <a:latin typeface="Times New Roman" pitchFamily="18" charset="0"/>
              </a:rPr>
              <a:t>位</a:t>
            </a:r>
            <a:r>
              <a:rPr lang="zh-CN" altLang="en-US" sz="2600" dirty="0">
                <a:latin typeface="Times New Roman" pitchFamily="18" charset="0"/>
              </a:rPr>
              <a:t>的</a:t>
            </a:r>
            <a:r>
              <a:rPr lang="zh-CN" altLang="en-US" sz="2600" dirty="0" smtClean="0">
                <a:latin typeface="Times New Roman" pitchFamily="18" charset="0"/>
              </a:rPr>
              <a:t>存储器</a:t>
            </a:r>
            <a:endParaRPr lang="zh-CN" altLang="en-US" sz="2600" dirty="0">
              <a:latin typeface="Times New Roman" pitchFamily="18" charset="0"/>
            </a:endParaRPr>
          </a:p>
        </p:txBody>
      </p:sp>
      <p:sp>
        <p:nvSpPr>
          <p:cNvPr id="93" name="Text Box 3"/>
          <p:cNvSpPr txBox="1">
            <a:spLocks noChangeArrowheads="1"/>
          </p:cNvSpPr>
          <p:nvPr/>
        </p:nvSpPr>
        <p:spPr bwMode="auto">
          <a:xfrm>
            <a:off x="1312863" y="2165711"/>
            <a:ext cx="12827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>
                <a:solidFill>
                  <a:schemeClr val="folHlink"/>
                </a:solidFill>
                <a:latin typeface="Times New Roman" pitchFamily="18" charset="0"/>
              </a:rPr>
              <a:t>？片</a:t>
            </a:r>
          </a:p>
        </p:txBody>
      </p:sp>
      <p:grpSp>
        <p:nvGrpSpPr>
          <p:cNvPr id="94" name="Group 4"/>
          <p:cNvGrpSpPr>
            <a:grpSpLocks/>
          </p:cNvGrpSpPr>
          <p:nvPr/>
        </p:nvGrpSpPr>
        <p:grpSpPr bwMode="auto">
          <a:xfrm>
            <a:off x="2314575" y="4862082"/>
            <a:ext cx="852488" cy="665162"/>
            <a:chOff x="1458" y="2953"/>
            <a:chExt cx="537" cy="419"/>
          </a:xfrm>
        </p:grpSpPr>
        <p:sp>
          <p:nvSpPr>
            <p:cNvPr id="95" name="Freeform 5"/>
            <p:cNvSpPr>
              <a:spLocks/>
            </p:cNvSpPr>
            <p:nvPr/>
          </p:nvSpPr>
          <p:spPr bwMode="auto">
            <a:xfrm>
              <a:off x="1458" y="2954"/>
              <a:ext cx="1" cy="193"/>
            </a:xfrm>
            <a:custGeom>
              <a:avLst/>
              <a:gdLst>
                <a:gd name="T0" fmla="*/ 0 w 1"/>
                <a:gd name="T1" fmla="*/ 0 h 193"/>
                <a:gd name="T2" fmla="*/ 0 w 1"/>
                <a:gd name="T3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93">
                  <a:moveTo>
                    <a:pt x="0" y="0"/>
                  </a:moveTo>
                  <a:lnTo>
                    <a:pt x="0" y="193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 type="none" w="med" len="med"/>
              <a:tail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6"/>
            <p:cNvSpPr>
              <a:spLocks noChangeShapeType="1"/>
            </p:cNvSpPr>
            <p:nvPr/>
          </p:nvSpPr>
          <p:spPr bwMode="auto">
            <a:xfrm>
              <a:off x="1635" y="2953"/>
              <a:ext cx="1" cy="2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7"/>
            <p:cNvSpPr>
              <a:spLocks noChangeShapeType="1"/>
            </p:cNvSpPr>
            <p:nvPr/>
          </p:nvSpPr>
          <p:spPr bwMode="auto">
            <a:xfrm>
              <a:off x="1813" y="2953"/>
              <a:ext cx="1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8"/>
            <p:cNvSpPr>
              <a:spLocks/>
            </p:cNvSpPr>
            <p:nvPr/>
          </p:nvSpPr>
          <p:spPr bwMode="auto">
            <a:xfrm>
              <a:off x="1993" y="2960"/>
              <a:ext cx="2" cy="412"/>
            </a:xfrm>
            <a:custGeom>
              <a:avLst/>
              <a:gdLst>
                <a:gd name="T0" fmla="*/ 2 w 2"/>
                <a:gd name="T1" fmla="*/ 0 h 412"/>
                <a:gd name="T2" fmla="*/ 0 w 2"/>
                <a:gd name="T3" fmla="*/ 41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412">
                  <a:moveTo>
                    <a:pt x="2" y="0"/>
                  </a:moveTo>
                  <a:lnTo>
                    <a:pt x="0" y="412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 type="none" w="med" len="med"/>
              <a:tail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9" name="Group 11"/>
          <p:cNvGrpSpPr>
            <a:grpSpLocks/>
          </p:cNvGrpSpPr>
          <p:nvPr/>
        </p:nvGrpSpPr>
        <p:grpSpPr bwMode="auto">
          <a:xfrm>
            <a:off x="243396" y="962025"/>
            <a:ext cx="6540702" cy="954223"/>
            <a:chOff x="757" y="787"/>
            <a:chExt cx="2027" cy="360"/>
          </a:xfrm>
        </p:grpSpPr>
        <p:sp>
          <p:nvSpPr>
            <p:cNvPr id="101" name="Text Box 13"/>
            <p:cNvSpPr txBox="1">
              <a:spLocks noChangeArrowheads="1"/>
            </p:cNvSpPr>
            <p:nvPr/>
          </p:nvSpPr>
          <p:spPr bwMode="auto">
            <a:xfrm>
              <a:off x="768" y="847"/>
              <a:ext cx="2016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sz="2800" dirty="0">
                <a:latin typeface="Times New Roman" pitchFamily="18" charset="0"/>
              </a:endParaRPr>
            </a:p>
          </p:txBody>
        </p:sp>
        <p:sp>
          <p:nvSpPr>
            <p:cNvPr id="100" name="Text Box 12"/>
            <p:cNvSpPr txBox="1">
              <a:spLocks noChangeArrowheads="1"/>
            </p:cNvSpPr>
            <p:nvPr/>
          </p:nvSpPr>
          <p:spPr bwMode="auto">
            <a:xfrm>
              <a:off x="757" y="787"/>
              <a:ext cx="2023" cy="3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Times New Roman" pitchFamily="18" charset="0"/>
                </a:rPr>
                <a:t> </a:t>
              </a:r>
              <a:r>
                <a:rPr lang="en-US" altLang="zh-CN" sz="2800" dirty="0" smtClean="0">
                  <a:latin typeface="Times New Roman" pitchFamily="18" charset="0"/>
                </a:rPr>
                <a:t>1</a:t>
              </a:r>
              <a:r>
                <a:rPr lang="zh-CN" altLang="en-US" sz="2800" dirty="0" smtClean="0">
                  <a:latin typeface="Times New Roman" pitchFamily="18" charset="0"/>
                </a:rPr>
                <a:t>、位扩展（当</a:t>
              </a:r>
              <a:r>
                <a:rPr lang="zh-CN" altLang="en-US" sz="2800" dirty="0">
                  <a:latin typeface="Times New Roman" pitchFamily="18" charset="0"/>
                </a:rPr>
                <a:t>存储芯片数据总线位宽小于</a:t>
              </a:r>
              <a:r>
                <a:rPr lang="en-US" altLang="zh-CN" sz="2800" dirty="0">
                  <a:latin typeface="Times New Roman" pitchFamily="18" charset="0"/>
                </a:rPr>
                <a:t>CPU</a:t>
              </a:r>
              <a:r>
                <a:rPr lang="zh-CN" altLang="en-US" sz="2800" dirty="0">
                  <a:latin typeface="Times New Roman" pitchFamily="18" charset="0"/>
                </a:rPr>
                <a:t>数据总线位宽</a:t>
              </a:r>
              <a:r>
                <a:rPr lang="zh-CN" altLang="en-US" sz="2800" dirty="0" smtClean="0">
                  <a:latin typeface="Times New Roman" pitchFamily="18" charset="0"/>
                </a:rPr>
                <a:t>时）</a:t>
              </a:r>
              <a:endParaRPr lang="zh-CN" altLang="en-US" sz="2800" dirty="0">
                <a:latin typeface="Times New Roman" pitchFamily="18" charset="0"/>
              </a:endParaRPr>
            </a:p>
          </p:txBody>
        </p:sp>
      </p:grpSp>
      <p:grpSp>
        <p:nvGrpSpPr>
          <p:cNvPr id="102" name="Group 14"/>
          <p:cNvGrpSpPr>
            <a:grpSpLocks/>
          </p:cNvGrpSpPr>
          <p:nvPr/>
        </p:nvGrpSpPr>
        <p:grpSpPr bwMode="auto">
          <a:xfrm>
            <a:off x="3438750" y="2626883"/>
            <a:ext cx="2016125" cy="533400"/>
            <a:chOff x="1821" y="1434"/>
            <a:chExt cx="1344" cy="336"/>
          </a:xfrm>
        </p:grpSpPr>
        <p:sp>
          <p:nvSpPr>
            <p:cNvPr id="103" name="AutoShape 15"/>
            <p:cNvSpPr>
              <a:spLocks noChangeArrowheads="1"/>
            </p:cNvSpPr>
            <p:nvPr/>
          </p:nvSpPr>
          <p:spPr bwMode="auto">
            <a:xfrm>
              <a:off x="1821" y="1434"/>
              <a:ext cx="1344" cy="336"/>
            </a:xfrm>
            <a:prstGeom prst="wedgeRoundRectCallout">
              <a:avLst>
                <a:gd name="adj1" fmla="val -85835"/>
                <a:gd name="adj2" fmla="val -56619"/>
                <a:gd name="adj3" fmla="val 16667"/>
              </a:avLst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Ins="0"/>
            <a:lstStyle/>
            <a:p>
              <a:pPr>
                <a:spcBef>
                  <a:spcPct val="50000"/>
                </a:spcBef>
              </a:pPr>
              <a:endParaRPr lang="en-US" altLang="zh-CN" sz="2800">
                <a:latin typeface="Times New Roman" pitchFamily="18" charset="0"/>
              </a:endParaRPr>
            </a:p>
          </p:txBody>
        </p:sp>
        <p:sp>
          <p:nvSpPr>
            <p:cNvPr id="104" name="Text Box 16"/>
            <p:cNvSpPr txBox="1">
              <a:spLocks noChangeArrowheads="1"/>
            </p:cNvSpPr>
            <p:nvPr/>
          </p:nvSpPr>
          <p:spPr bwMode="auto">
            <a:xfrm>
              <a:off x="1846" y="1448"/>
              <a:ext cx="129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600" dirty="0">
                  <a:latin typeface="Times New Roman" pitchFamily="18" charset="0"/>
                </a:rPr>
                <a:t>10根地址线</a:t>
              </a:r>
            </a:p>
          </p:txBody>
        </p:sp>
      </p:grpSp>
      <p:sp>
        <p:nvSpPr>
          <p:cNvPr id="194" name="Line 20"/>
          <p:cNvSpPr>
            <a:spLocks noChangeShapeType="1"/>
          </p:cNvSpPr>
          <p:nvPr/>
        </p:nvSpPr>
        <p:spPr bwMode="auto">
          <a:xfrm>
            <a:off x="1006475" y="6333694"/>
            <a:ext cx="255588" cy="15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" name="Rectangle 21"/>
          <p:cNvSpPr>
            <a:spLocks noChangeArrowheads="1"/>
          </p:cNvSpPr>
          <p:nvPr/>
        </p:nvSpPr>
        <p:spPr bwMode="auto">
          <a:xfrm>
            <a:off x="998538" y="3609544"/>
            <a:ext cx="296862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6" name="Group 22"/>
          <p:cNvGrpSpPr>
            <a:grpSpLocks/>
          </p:cNvGrpSpPr>
          <p:nvPr/>
        </p:nvGrpSpPr>
        <p:grpSpPr bwMode="auto">
          <a:xfrm>
            <a:off x="4276725" y="4874782"/>
            <a:ext cx="842963" cy="1168400"/>
            <a:chOff x="2694" y="2961"/>
            <a:chExt cx="531" cy="736"/>
          </a:xfrm>
        </p:grpSpPr>
        <p:grpSp>
          <p:nvGrpSpPr>
            <p:cNvPr id="197" name="Group 23"/>
            <p:cNvGrpSpPr>
              <a:grpSpLocks/>
            </p:cNvGrpSpPr>
            <p:nvPr/>
          </p:nvGrpSpPr>
          <p:grpSpPr bwMode="auto">
            <a:xfrm>
              <a:off x="2694" y="2971"/>
              <a:ext cx="36" cy="501"/>
              <a:chOff x="2499" y="2165"/>
              <a:chExt cx="36" cy="501"/>
            </a:xfrm>
          </p:grpSpPr>
          <p:sp>
            <p:nvSpPr>
              <p:cNvPr id="202" name="Line 24"/>
              <p:cNvSpPr>
                <a:spLocks noChangeShapeType="1"/>
              </p:cNvSpPr>
              <p:nvPr/>
            </p:nvSpPr>
            <p:spPr bwMode="auto">
              <a:xfrm>
                <a:off x="2516" y="2165"/>
                <a:ext cx="7" cy="49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3" name="Oval 25"/>
              <p:cNvSpPr>
                <a:spLocks noChangeArrowheads="1"/>
              </p:cNvSpPr>
              <p:nvPr/>
            </p:nvSpPr>
            <p:spPr bwMode="auto">
              <a:xfrm>
                <a:off x="2499" y="2630"/>
                <a:ext cx="36" cy="3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8" name="Freeform 26"/>
            <p:cNvSpPr>
              <a:spLocks/>
            </p:cNvSpPr>
            <p:nvPr/>
          </p:nvSpPr>
          <p:spPr bwMode="auto">
            <a:xfrm>
              <a:off x="2881" y="2966"/>
              <a:ext cx="2" cy="555"/>
            </a:xfrm>
            <a:custGeom>
              <a:avLst/>
              <a:gdLst>
                <a:gd name="T0" fmla="*/ 2 w 2"/>
                <a:gd name="T1" fmla="*/ 0 h 555"/>
                <a:gd name="T2" fmla="*/ 0 w 2"/>
                <a:gd name="T3" fmla="*/ 555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555">
                  <a:moveTo>
                    <a:pt x="2" y="0"/>
                  </a:moveTo>
                  <a:lnTo>
                    <a:pt x="0" y="555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 type="none" w="med" len="med"/>
              <a:tail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Freeform 27"/>
            <p:cNvSpPr>
              <a:spLocks/>
            </p:cNvSpPr>
            <p:nvPr/>
          </p:nvSpPr>
          <p:spPr bwMode="auto">
            <a:xfrm>
              <a:off x="3060" y="2961"/>
              <a:ext cx="1" cy="648"/>
            </a:xfrm>
            <a:custGeom>
              <a:avLst/>
              <a:gdLst>
                <a:gd name="T0" fmla="*/ 0 w 1"/>
                <a:gd name="T1" fmla="*/ 0 h 648"/>
                <a:gd name="T2" fmla="*/ 1 w 1"/>
                <a:gd name="T3" fmla="*/ 648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648">
                  <a:moveTo>
                    <a:pt x="0" y="0"/>
                  </a:moveTo>
                  <a:lnTo>
                    <a:pt x="1" y="648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Oval 28"/>
            <p:cNvSpPr>
              <a:spLocks noChangeArrowheads="1"/>
            </p:cNvSpPr>
            <p:nvPr/>
          </p:nvSpPr>
          <p:spPr bwMode="auto">
            <a:xfrm>
              <a:off x="3041" y="3593"/>
              <a:ext cx="32" cy="3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Freeform 29"/>
            <p:cNvSpPr>
              <a:spLocks/>
            </p:cNvSpPr>
            <p:nvPr/>
          </p:nvSpPr>
          <p:spPr bwMode="auto">
            <a:xfrm>
              <a:off x="3223" y="2966"/>
              <a:ext cx="2" cy="731"/>
            </a:xfrm>
            <a:custGeom>
              <a:avLst/>
              <a:gdLst>
                <a:gd name="T0" fmla="*/ 2 w 2"/>
                <a:gd name="T1" fmla="*/ 0 h 731"/>
                <a:gd name="T2" fmla="*/ 0 w 2"/>
                <a:gd name="T3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731">
                  <a:moveTo>
                    <a:pt x="2" y="0"/>
                  </a:moveTo>
                  <a:lnTo>
                    <a:pt x="0" y="731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 type="none" w="med" len="med"/>
              <a:tail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4" name="Rectangle 30"/>
          <p:cNvSpPr>
            <a:spLocks noChangeArrowheads="1"/>
          </p:cNvSpPr>
          <p:nvPr/>
        </p:nvSpPr>
        <p:spPr bwMode="auto">
          <a:xfrm>
            <a:off x="954088" y="6281307"/>
            <a:ext cx="2921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" name="Rectangle 31"/>
          <p:cNvSpPr>
            <a:spLocks noChangeArrowheads="1"/>
          </p:cNvSpPr>
          <p:nvPr/>
        </p:nvSpPr>
        <p:spPr bwMode="auto">
          <a:xfrm>
            <a:off x="968375" y="6066994"/>
            <a:ext cx="2984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6" name="Oval 32"/>
          <p:cNvSpPr>
            <a:spLocks noChangeArrowheads="1"/>
          </p:cNvSpPr>
          <p:nvPr/>
        </p:nvSpPr>
        <p:spPr bwMode="auto">
          <a:xfrm>
            <a:off x="1096963" y="3325382"/>
            <a:ext cx="31750" cy="36512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7" name="Oval 33"/>
          <p:cNvSpPr>
            <a:spLocks noChangeArrowheads="1"/>
          </p:cNvSpPr>
          <p:nvPr/>
        </p:nvSpPr>
        <p:spPr bwMode="auto">
          <a:xfrm>
            <a:off x="1079500" y="3588907"/>
            <a:ext cx="36513" cy="36512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" name="Oval 34"/>
          <p:cNvSpPr>
            <a:spLocks noChangeArrowheads="1"/>
          </p:cNvSpPr>
          <p:nvPr/>
        </p:nvSpPr>
        <p:spPr bwMode="auto">
          <a:xfrm>
            <a:off x="1096963" y="3517469"/>
            <a:ext cx="36512" cy="36513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3" name="Group 69"/>
          <p:cNvGrpSpPr>
            <a:grpSpLocks/>
          </p:cNvGrpSpPr>
          <p:nvPr/>
        </p:nvGrpSpPr>
        <p:grpSpPr bwMode="auto">
          <a:xfrm>
            <a:off x="911225" y="3050744"/>
            <a:ext cx="5376863" cy="936625"/>
            <a:chOff x="574" y="1812"/>
            <a:chExt cx="3387" cy="590"/>
          </a:xfrm>
        </p:grpSpPr>
        <p:sp>
          <p:nvSpPr>
            <p:cNvPr id="214" name="Rectangle 70"/>
            <p:cNvSpPr>
              <a:spLocks noChangeArrowheads="1"/>
            </p:cNvSpPr>
            <p:nvPr/>
          </p:nvSpPr>
          <p:spPr bwMode="auto">
            <a:xfrm>
              <a:off x="701" y="1871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1400"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15" name="Rectangle 71"/>
            <p:cNvSpPr>
              <a:spLocks noChangeArrowheads="1"/>
            </p:cNvSpPr>
            <p:nvPr/>
          </p:nvSpPr>
          <p:spPr bwMode="auto">
            <a:xfrm>
              <a:off x="629" y="2210"/>
              <a:ext cx="8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400">
                  <a:latin typeface="Times New Roman" pitchFamily="18" charset="0"/>
                </a:rPr>
                <a:t>A</a:t>
              </a:r>
            </a:p>
          </p:txBody>
        </p:sp>
        <p:grpSp>
          <p:nvGrpSpPr>
            <p:cNvPr id="216" name="Group 72"/>
            <p:cNvGrpSpPr>
              <a:grpSpLocks/>
            </p:cNvGrpSpPr>
            <p:nvPr/>
          </p:nvGrpSpPr>
          <p:grpSpPr bwMode="auto">
            <a:xfrm>
              <a:off x="574" y="1812"/>
              <a:ext cx="3387" cy="590"/>
              <a:chOff x="574" y="1812"/>
              <a:chExt cx="3387" cy="590"/>
            </a:xfrm>
          </p:grpSpPr>
          <p:sp>
            <p:nvSpPr>
              <p:cNvPr id="217" name="Line 73"/>
              <p:cNvSpPr>
                <a:spLocks noChangeShapeType="1"/>
              </p:cNvSpPr>
              <p:nvPr/>
            </p:nvSpPr>
            <p:spPr bwMode="auto">
              <a:xfrm>
                <a:off x="795" y="1913"/>
                <a:ext cx="3155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8" name="Line 74"/>
              <p:cNvSpPr>
                <a:spLocks noChangeShapeType="1"/>
              </p:cNvSpPr>
              <p:nvPr/>
            </p:nvSpPr>
            <p:spPr bwMode="auto">
              <a:xfrm>
                <a:off x="795" y="1992"/>
                <a:ext cx="3155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" name="Line 75"/>
              <p:cNvSpPr>
                <a:spLocks noChangeShapeType="1"/>
              </p:cNvSpPr>
              <p:nvPr/>
            </p:nvSpPr>
            <p:spPr bwMode="auto">
              <a:xfrm>
                <a:off x="806" y="2233"/>
                <a:ext cx="3155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0" name="Line 76"/>
              <p:cNvSpPr>
                <a:spLocks noChangeShapeType="1"/>
              </p:cNvSpPr>
              <p:nvPr/>
            </p:nvSpPr>
            <p:spPr bwMode="auto">
              <a:xfrm>
                <a:off x="795" y="2311"/>
                <a:ext cx="3155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1" name="Line 77"/>
              <p:cNvSpPr>
                <a:spLocks noChangeShapeType="1"/>
              </p:cNvSpPr>
              <p:nvPr/>
            </p:nvSpPr>
            <p:spPr bwMode="auto">
              <a:xfrm>
                <a:off x="795" y="2067"/>
                <a:ext cx="3155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2" name="Rectangle 78"/>
              <p:cNvSpPr>
                <a:spLocks noChangeArrowheads="1"/>
              </p:cNvSpPr>
              <p:nvPr/>
            </p:nvSpPr>
            <p:spPr bwMode="auto">
              <a:xfrm>
                <a:off x="630" y="1812"/>
                <a:ext cx="81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1400"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223" name="Rectangle 79"/>
              <p:cNvSpPr>
                <a:spLocks noChangeArrowheads="1"/>
              </p:cNvSpPr>
              <p:nvPr/>
            </p:nvSpPr>
            <p:spPr bwMode="auto">
              <a:xfrm>
                <a:off x="700" y="2268"/>
                <a:ext cx="5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1400"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224" name="Text Box 80"/>
              <p:cNvSpPr txBox="1">
                <a:spLocks noChangeArrowheads="1"/>
              </p:cNvSpPr>
              <p:nvPr/>
            </p:nvSpPr>
            <p:spPr bwMode="auto">
              <a:xfrm>
                <a:off x="574" y="1969"/>
                <a:ext cx="230" cy="2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lIns="0" r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0">
                    <a:latin typeface="Times New Roman" pitchFamily="18" charset="0"/>
                    <a:cs typeface="Times New Roman" pitchFamily="18" charset="0"/>
                  </a:rPr>
                  <a:t>•••</a:t>
                </a:r>
                <a:endParaRPr lang="zh-CN" altLang="en-US" sz="2400" b="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225" name="Group 81"/>
          <p:cNvGrpSpPr>
            <a:grpSpLocks/>
          </p:cNvGrpSpPr>
          <p:nvPr/>
        </p:nvGrpSpPr>
        <p:grpSpPr bwMode="auto">
          <a:xfrm>
            <a:off x="2222500" y="4236607"/>
            <a:ext cx="3024188" cy="646112"/>
            <a:chOff x="1400" y="2559"/>
            <a:chExt cx="1905" cy="407"/>
          </a:xfrm>
        </p:grpSpPr>
        <p:sp>
          <p:nvSpPr>
            <p:cNvPr id="226" name="Rectangle 82"/>
            <p:cNvSpPr>
              <a:spLocks noChangeArrowheads="1"/>
            </p:cNvSpPr>
            <p:nvPr/>
          </p:nvSpPr>
          <p:spPr bwMode="auto">
            <a:xfrm>
              <a:off x="1561" y="2659"/>
              <a:ext cx="3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solidFill>
                    <a:schemeClr val="folHlink"/>
                  </a:solidFill>
                  <a:latin typeface="Times New Roman" pitchFamily="18" charset="0"/>
                </a:rPr>
                <a:t>2114</a:t>
              </a:r>
            </a:p>
          </p:txBody>
        </p:sp>
        <p:grpSp>
          <p:nvGrpSpPr>
            <p:cNvPr id="227" name="Group 83"/>
            <p:cNvGrpSpPr>
              <a:grpSpLocks/>
            </p:cNvGrpSpPr>
            <p:nvPr/>
          </p:nvGrpSpPr>
          <p:grpSpPr bwMode="auto">
            <a:xfrm>
              <a:off x="1400" y="2559"/>
              <a:ext cx="1905" cy="407"/>
              <a:chOff x="1400" y="2559"/>
              <a:chExt cx="1905" cy="407"/>
            </a:xfrm>
          </p:grpSpPr>
          <p:sp>
            <p:nvSpPr>
              <p:cNvPr id="229" name="Rectangle 84"/>
              <p:cNvSpPr>
                <a:spLocks noChangeArrowheads="1"/>
              </p:cNvSpPr>
              <p:nvPr/>
            </p:nvSpPr>
            <p:spPr bwMode="auto">
              <a:xfrm>
                <a:off x="1400" y="2559"/>
                <a:ext cx="651" cy="401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0" name="Rectangle 85"/>
              <p:cNvSpPr>
                <a:spLocks noChangeArrowheads="1"/>
              </p:cNvSpPr>
              <p:nvPr/>
            </p:nvSpPr>
            <p:spPr bwMode="auto">
              <a:xfrm>
                <a:off x="2654" y="2565"/>
                <a:ext cx="651" cy="401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8" name="Rectangle 86"/>
            <p:cNvSpPr>
              <a:spLocks noChangeArrowheads="1"/>
            </p:cNvSpPr>
            <p:nvPr/>
          </p:nvSpPr>
          <p:spPr bwMode="auto">
            <a:xfrm>
              <a:off x="2832" y="2659"/>
              <a:ext cx="3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solidFill>
                    <a:schemeClr val="folHlink"/>
                  </a:solidFill>
                  <a:latin typeface="Times New Roman" pitchFamily="18" charset="0"/>
                </a:rPr>
                <a:t>2114</a:t>
              </a:r>
            </a:p>
          </p:txBody>
        </p:sp>
      </p:grpSp>
      <p:grpSp>
        <p:nvGrpSpPr>
          <p:cNvPr id="231" name="Group 87"/>
          <p:cNvGrpSpPr>
            <a:grpSpLocks/>
          </p:cNvGrpSpPr>
          <p:nvPr/>
        </p:nvGrpSpPr>
        <p:grpSpPr bwMode="auto">
          <a:xfrm>
            <a:off x="3276600" y="4668407"/>
            <a:ext cx="2276475" cy="11112"/>
            <a:chOff x="2064" y="2831"/>
            <a:chExt cx="1434" cy="7"/>
          </a:xfrm>
        </p:grpSpPr>
        <p:sp>
          <p:nvSpPr>
            <p:cNvPr id="232" name="Freeform 88"/>
            <p:cNvSpPr>
              <a:spLocks/>
            </p:cNvSpPr>
            <p:nvPr/>
          </p:nvSpPr>
          <p:spPr bwMode="auto">
            <a:xfrm>
              <a:off x="3309" y="2837"/>
              <a:ext cx="189" cy="1"/>
            </a:xfrm>
            <a:custGeom>
              <a:avLst/>
              <a:gdLst>
                <a:gd name="T0" fmla="*/ 0 w 189"/>
                <a:gd name="T1" fmla="*/ 0 h 1"/>
                <a:gd name="T2" fmla="*/ 189 w 189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9" h="1">
                  <a:moveTo>
                    <a:pt x="0" y="0"/>
                  </a:moveTo>
                  <a:lnTo>
                    <a:pt x="189" y="1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3" name="Line 89"/>
            <p:cNvSpPr>
              <a:spLocks noChangeShapeType="1"/>
            </p:cNvSpPr>
            <p:nvPr/>
          </p:nvSpPr>
          <p:spPr bwMode="auto">
            <a:xfrm>
              <a:off x="2064" y="2831"/>
              <a:ext cx="1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34" name="Group 90"/>
          <p:cNvGrpSpPr>
            <a:grpSpLocks/>
          </p:cNvGrpSpPr>
          <p:nvPr/>
        </p:nvGrpSpPr>
        <p:grpSpPr bwMode="auto">
          <a:xfrm>
            <a:off x="3476625" y="4654119"/>
            <a:ext cx="2057400" cy="1638300"/>
            <a:chOff x="2190" y="2822"/>
            <a:chExt cx="1296" cy="1032"/>
          </a:xfrm>
        </p:grpSpPr>
        <p:grpSp>
          <p:nvGrpSpPr>
            <p:cNvPr id="235" name="Group 91"/>
            <p:cNvGrpSpPr>
              <a:grpSpLocks/>
            </p:cNvGrpSpPr>
            <p:nvPr/>
          </p:nvGrpSpPr>
          <p:grpSpPr bwMode="auto">
            <a:xfrm>
              <a:off x="2209" y="2822"/>
              <a:ext cx="1277" cy="1025"/>
              <a:chOff x="2209" y="2822"/>
              <a:chExt cx="1277" cy="1025"/>
            </a:xfrm>
          </p:grpSpPr>
          <p:sp>
            <p:nvSpPr>
              <p:cNvPr id="237" name="Freeform 92"/>
              <p:cNvSpPr>
                <a:spLocks/>
              </p:cNvSpPr>
              <p:nvPr/>
            </p:nvSpPr>
            <p:spPr bwMode="auto">
              <a:xfrm>
                <a:off x="3485" y="2837"/>
                <a:ext cx="1" cy="1003"/>
              </a:xfrm>
              <a:custGeom>
                <a:avLst/>
                <a:gdLst>
                  <a:gd name="T0" fmla="*/ 1 w 1"/>
                  <a:gd name="T1" fmla="*/ 0 h 1003"/>
                  <a:gd name="T2" fmla="*/ 0 w 1"/>
                  <a:gd name="T3" fmla="*/ 1003 h 10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003">
                    <a:moveTo>
                      <a:pt x="1" y="0"/>
                    </a:moveTo>
                    <a:lnTo>
                      <a:pt x="0" y="1003"/>
                    </a:lnTo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8" name="Line 93"/>
              <p:cNvSpPr>
                <a:spLocks noChangeShapeType="1"/>
              </p:cNvSpPr>
              <p:nvPr/>
            </p:nvSpPr>
            <p:spPr bwMode="auto">
              <a:xfrm>
                <a:off x="2209" y="2822"/>
                <a:ext cx="1" cy="102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6" name="Oval 94"/>
            <p:cNvSpPr>
              <a:spLocks noChangeArrowheads="1"/>
            </p:cNvSpPr>
            <p:nvPr/>
          </p:nvSpPr>
          <p:spPr bwMode="auto">
            <a:xfrm>
              <a:off x="2190" y="3821"/>
              <a:ext cx="35" cy="3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9" name="Group 95"/>
          <p:cNvGrpSpPr>
            <a:grpSpLocks/>
          </p:cNvGrpSpPr>
          <p:nvPr/>
        </p:nvGrpSpPr>
        <p:grpSpPr bwMode="auto">
          <a:xfrm>
            <a:off x="966788" y="6176532"/>
            <a:ext cx="4573587" cy="212725"/>
            <a:chOff x="609" y="3781"/>
            <a:chExt cx="2881" cy="134"/>
          </a:xfrm>
        </p:grpSpPr>
        <p:sp>
          <p:nvSpPr>
            <p:cNvPr id="240" name="Line 96"/>
            <p:cNvSpPr>
              <a:spLocks noChangeShapeType="1"/>
            </p:cNvSpPr>
            <p:nvPr/>
          </p:nvSpPr>
          <p:spPr bwMode="auto">
            <a:xfrm>
              <a:off x="795" y="3831"/>
              <a:ext cx="2695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1" name="Group 97"/>
            <p:cNvGrpSpPr>
              <a:grpSpLocks/>
            </p:cNvGrpSpPr>
            <p:nvPr/>
          </p:nvGrpSpPr>
          <p:grpSpPr bwMode="auto">
            <a:xfrm>
              <a:off x="609" y="3781"/>
              <a:ext cx="156" cy="134"/>
              <a:chOff x="414" y="2975"/>
              <a:chExt cx="156" cy="134"/>
            </a:xfrm>
          </p:grpSpPr>
          <p:sp>
            <p:nvSpPr>
              <p:cNvPr id="242" name="Rectangle 98"/>
              <p:cNvSpPr>
                <a:spLocks noChangeArrowheads="1"/>
              </p:cNvSpPr>
              <p:nvPr/>
            </p:nvSpPr>
            <p:spPr bwMode="auto">
              <a:xfrm>
                <a:off x="415" y="2975"/>
                <a:ext cx="143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1400">
                    <a:latin typeface="Times New Roman" pitchFamily="18" charset="0"/>
                  </a:rPr>
                  <a:t>CS</a:t>
                </a:r>
              </a:p>
            </p:txBody>
          </p:sp>
          <p:sp>
            <p:nvSpPr>
              <p:cNvPr id="243" name="Line 99"/>
              <p:cNvSpPr>
                <a:spLocks noChangeShapeType="1"/>
              </p:cNvSpPr>
              <p:nvPr/>
            </p:nvSpPr>
            <p:spPr bwMode="auto">
              <a:xfrm>
                <a:off x="414" y="2991"/>
                <a:ext cx="15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44" name="Group 100"/>
          <p:cNvGrpSpPr>
            <a:grpSpLocks/>
          </p:cNvGrpSpPr>
          <p:nvPr/>
        </p:nvGrpSpPr>
        <p:grpSpPr bwMode="auto">
          <a:xfrm>
            <a:off x="3246438" y="4404882"/>
            <a:ext cx="2509837" cy="1587"/>
            <a:chOff x="2045" y="2665"/>
            <a:chExt cx="1581" cy="1"/>
          </a:xfrm>
        </p:grpSpPr>
        <p:sp>
          <p:nvSpPr>
            <p:cNvPr id="245" name="Line 101"/>
            <p:cNvSpPr>
              <a:spLocks noChangeShapeType="1"/>
            </p:cNvSpPr>
            <p:nvPr/>
          </p:nvSpPr>
          <p:spPr bwMode="auto">
            <a:xfrm>
              <a:off x="3303" y="2665"/>
              <a:ext cx="32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Line 102"/>
            <p:cNvSpPr>
              <a:spLocks noChangeShapeType="1"/>
            </p:cNvSpPr>
            <p:nvPr/>
          </p:nvSpPr>
          <p:spPr bwMode="auto">
            <a:xfrm>
              <a:off x="2045" y="2665"/>
              <a:ext cx="306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7" name="Group 103"/>
          <p:cNvGrpSpPr>
            <a:grpSpLocks/>
          </p:cNvGrpSpPr>
          <p:nvPr/>
        </p:nvGrpSpPr>
        <p:grpSpPr bwMode="auto">
          <a:xfrm>
            <a:off x="3702050" y="4392182"/>
            <a:ext cx="2055813" cy="2055812"/>
            <a:chOff x="2332" y="2657"/>
            <a:chExt cx="1295" cy="1295"/>
          </a:xfrm>
        </p:grpSpPr>
        <p:grpSp>
          <p:nvGrpSpPr>
            <p:cNvPr id="248" name="Group 104"/>
            <p:cNvGrpSpPr>
              <a:grpSpLocks/>
            </p:cNvGrpSpPr>
            <p:nvPr/>
          </p:nvGrpSpPr>
          <p:grpSpPr bwMode="auto">
            <a:xfrm>
              <a:off x="2345" y="2657"/>
              <a:ext cx="1282" cy="1291"/>
              <a:chOff x="2345" y="2657"/>
              <a:chExt cx="1282" cy="1291"/>
            </a:xfrm>
          </p:grpSpPr>
          <p:sp>
            <p:nvSpPr>
              <p:cNvPr id="250" name="Line 105"/>
              <p:cNvSpPr>
                <a:spLocks noChangeShapeType="1"/>
              </p:cNvSpPr>
              <p:nvPr/>
            </p:nvSpPr>
            <p:spPr bwMode="auto">
              <a:xfrm>
                <a:off x="3620" y="2657"/>
                <a:ext cx="7" cy="129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1" name="Line 106"/>
              <p:cNvSpPr>
                <a:spLocks noChangeShapeType="1"/>
              </p:cNvSpPr>
              <p:nvPr/>
            </p:nvSpPr>
            <p:spPr bwMode="auto">
              <a:xfrm>
                <a:off x="2345" y="2660"/>
                <a:ext cx="7" cy="127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9" name="Oval 107"/>
            <p:cNvSpPr>
              <a:spLocks noChangeArrowheads="1"/>
            </p:cNvSpPr>
            <p:nvPr/>
          </p:nvSpPr>
          <p:spPr bwMode="auto">
            <a:xfrm>
              <a:off x="2332" y="3919"/>
              <a:ext cx="32" cy="3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2" name="Group 108"/>
          <p:cNvGrpSpPr>
            <a:grpSpLocks/>
          </p:cNvGrpSpPr>
          <p:nvPr/>
        </p:nvGrpSpPr>
        <p:grpSpPr bwMode="auto">
          <a:xfrm>
            <a:off x="947738" y="6373382"/>
            <a:ext cx="4808537" cy="212725"/>
            <a:chOff x="597" y="3905"/>
            <a:chExt cx="3029" cy="134"/>
          </a:xfrm>
        </p:grpSpPr>
        <p:sp>
          <p:nvSpPr>
            <p:cNvPr id="253" name="Line 109"/>
            <p:cNvSpPr>
              <a:spLocks noChangeShapeType="1"/>
            </p:cNvSpPr>
            <p:nvPr/>
          </p:nvSpPr>
          <p:spPr bwMode="auto">
            <a:xfrm>
              <a:off x="795" y="3935"/>
              <a:ext cx="2831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4" name="Group 110"/>
            <p:cNvGrpSpPr>
              <a:grpSpLocks/>
            </p:cNvGrpSpPr>
            <p:nvPr/>
          </p:nvGrpSpPr>
          <p:grpSpPr bwMode="auto">
            <a:xfrm>
              <a:off x="597" y="3905"/>
              <a:ext cx="195" cy="134"/>
              <a:chOff x="402" y="3099"/>
              <a:chExt cx="195" cy="134"/>
            </a:xfrm>
          </p:grpSpPr>
          <p:sp>
            <p:nvSpPr>
              <p:cNvPr id="255" name="Rectangle 111"/>
              <p:cNvSpPr>
                <a:spLocks noChangeArrowheads="1"/>
              </p:cNvSpPr>
              <p:nvPr/>
            </p:nvSpPr>
            <p:spPr bwMode="auto">
              <a:xfrm>
                <a:off x="406" y="3099"/>
                <a:ext cx="187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1400">
                    <a:latin typeface="Times New Roman" pitchFamily="18" charset="0"/>
                  </a:rPr>
                  <a:t>WE</a:t>
                </a:r>
              </a:p>
            </p:txBody>
          </p:sp>
          <p:sp>
            <p:nvSpPr>
              <p:cNvPr id="256" name="Freeform 112"/>
              <p:cNvSpPr>
                <a:spLocks/>
              </p:cNvSpPr>
              <p:nvPr/>
            </p:nvSpPr>
            <p:spPr bwMode="auto">
              <a:xfrm>
                <a:off x="402" y="3099"/>
                <a:ext cx="195" cy="3"/>
              </a:xfrm>
              <a:custGeom>
                <a:avLst/>
                <a:gdLst>
                  <a:gd name="T0" fmla="*/ 0 w 195"/>
                  <a:gd name="T1" fmla="*/ 3 h 3"/>
                  <a:gd name="T2" fmla="*/ 195 w 195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5" h="3">
                    <a:moveTo>
                      <a:pt x="0" y="3"/>
                    </a:moveTo>
                    <a:lnTo>
                      <a:pt x="19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57" name="Group 113"/>
          <p:cNvGrpSpPr>
            <a:grpSpLocks/>
          </p:cNvGrpSpPr>
          <p:nvPr/>
        </p:nvGrpSpPr>
        <p:grpSpPr bwMode="auto">
          <a:xfrm>
            <a:off x="4303713" y="3206319"/>
            <a:ext cx="855662" cy="1039813"/>
            <a:chOff x="2711" y="1910"/>
            <a:chExt cx="539" cy="655"/>
          </a:xfrm>
        </p:grpSpPr>
        <p:grpSp>
          <p:nvGrpSpPr>
            <p:cNvPr id="258" name="Group 114"/>
            <p:cNvGrpSpPr>
              <a:grpSpLocks/>
            </p:cNvGrpSpPr>
            <p:nvPr/>
          </p:nvGrpSpPr>
          <p:grpSpPr bwMode="auto">
            <a:xfrm>
              <a:off x="2711" y="1910"/>
              <a:ext cx="539" cy="655"/>
              <a:chOff x="2711" y="1910"/>
              <a:chExt cx="539" cy="655"/>
            </a:xfrm>
          </p:grpSpPr>
          <p:sp>
            <p:nvSpPr>
              <p:cNvPr id="263" name="Freeform 115"/>
              <p:cNvSpPr>
                <a:spLocks/>
              </p:cNvSpPr>
              <p:nvPr/>
            </p:nvSpPr>
            <p:spPr bwMode="auto">
              <a:xfrm>
                <a:off x="3249" y="2295"/>
                <a:ext cx="1" cy="270"/>
              </a:xfrm>
              <a:custGeom>
                <a:avLst/>
                <a:gdLst>
                  <a:gd name="T0" fmla="*/ 1 w 1"/>
                  <a:gd name="T1" fmla="*/ 270 h 270"/>
                  <a:gd name="T2" fmla="*/ 0 w 1"/>
                  <a:gd name="T3" fmla="*/ 0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70">
                    <a:moveTo>
                      <a:pt x="1" y="27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 type="none" w="med" len="med"/>
                <a:tailEnd type="oval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4" name="Freeform 116"/>
              <p:cNvSpPr>
                <a:spLocks/>
              </p:cNvSpPr>
              <p:nvPr/>
            </p:nvSpPr>
            <p:spPr bwMode="auto">
              <a:xfrm>
                <a:off x="3156" y="2225"/>
                <a:ext cx="1" cy="340"/>
              </a:xfrm>
              <a:custGeom>
                <a:avLst/>
                <a:gdLst>
                  <a:gd name="T0" fmla="*/ 1 w 1"/>
                  <a:gd name="T1" fmla="*/ 340 h 340"/>
                  <a:gd name="T2" fmla="*/ 0 w 1"/>
                  <a:gd name="T3" fmla="*/ 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40">
                    <a:moveTo>
                      <a:pt x="1" y="34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 type="none" w="med" len="med"/>
                <a:tailEnd type="oval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5" name="Line 117"/>
              <p:cNvSpPr>
                <a:spLocks noChangeShapeType="1"/>
              </p:cNvSpPr>
              <p:nvPr/>
            </p:nvSpPr>
            <p:spPr bwMode="auto">
              <a:xfrm flipV="1">
                <a:off x="2891" y="2069"/>
                <a:ext cx="1" cy="4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" name="Line 118"/>
              <p:cNvSpPr>
                <a:spLocks noChangeShapeType="1"/>
              </p:cNvSpPr>
              <p:nvPr/>
            </p:nvSpPr>
            <p:spPr bwMode="auto">
              <a:xfrm flipV="1">
                <a:off x="2801" y="1998"/>
                <a:ext cx="1" cy="5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" name="Line 119"/>
              <p:cNvSpPr>
                <a:spLocks noChangeShapeType="1"/>
              </p:cNvSpPr>
              <p:nvPr/>
            </p:nvSpPr>
            <p:spPr bwMode="auto">
              <a:xfrm flipV="1">
                <a:off x="2711" y="1910"/>
                <a:ext cx="1" cy="65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59" name="Group 120"/>
            <p:cNvGrpSpPr>
              <a:grpSpLocks/>
            </p:cNvGrpSpPr>
            <p:nvPr/>
          </p:nvGrpSpPr>
          <p:grpSpPr bwMode="auto">
            <a:xfrm>
              <a:off x="2935" y="2464"/>
              <a:ext cx="169" cy="23"/>
              <a:chOff x="2935" y="2464"/>
              <a:chExt cx="169" cy="23"/>
            </a:xfrm>
          </p:grpSpPr>
          <p:sp>
            <p:nvSpPr>
              <p:cNvPr id="260" name="Oval 121"/>
              <p:cNvSpPr>
                <a:spLocks noChangeArrowheads="1"/>
              </p:cNvSpPr>
              <p:nvPr/>
            </p:nvSpPr>
            <p:spPr bwMode="auto">
              <a:xfrm>
                <a:off x="3082" y="2464"/>
                <a:ext cx="22" cy="23"/>
              </a:xfrm>
              <a:prstGeom prst="ellipse">
                <a:avLst/>
              </a:prstGeom>
              <a:solidFill>
                <a:srgbClr val="0000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" name="Oval 122"/>
              <p:cNvSpPr>
                <a:spLocks noChangeArrowheads="1"/>
              </p:cNvSpPr>
              <p:nvPr/>
            </p:nvSpPr>
            <p:spPr bwMode="auto">
              <a:xfrm>
                <a:off x="2935" y="2464"/>
                <a:ext cx="22" cy="23"/>
              </a:xfrm>
              <a:prstGeom prst="ellipse">
                <a:avLst/>
              </a:prstGeom>
              <a:solidFill>
                <a:srgbClr val="0000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" name="Oval 123"/>
              <p:cNvSpPr>
                <a:spLocks noChangeArrowheads="1"/>
              </p:cNvSpPr>
              <p:nvPr/>
            </p:nvSpPr>
            <p:spPr bwMode="auto">
              <a:xfrm>
                <a:off x="3008" y="2464"/>
                <a:ext cx="22" cy="23"/>
              </a:xfrm>
              <a:prstGeom prst="ellipse">
                <a:avLst/>
              </a:prstGeom>
              <a:solidFill>
                <a:srgbClr val="0000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68" name="Group 124"/>
          <p:cNvGrpSpPr>
            <a:grpSpLocks/>
          </p:cNvGrpSpPr>
          <p:nvPr/>
        </p:nvGrpSpPr>
        <p:grpSpPr bwMode="auto">
          <a:xfrm>
            <a:off x="2312988" y="3196794"/>
            <a:ext cx="857250" cy="1039813"/>
            <a:chOff x="1457" y="1904"/>
            <a:chExt cx="540" cy="655"/>
          </a:xfrm>
        </p:grpSpPr>
        <p:grpSp>
          <p:nvGrpSpPr>
            <p:cNvPr id="269" name="Group 125"/>
            <p:cNvGrpSpPr>
              <a:grpSpLocks/>
            </p:cNvGrpSpPr>
            <p:nvPr/>
          </p:nvGrpSpPr>
          <p:grpSpPr bwMode="auto">
            <a:xfrm>
              <a:off x="1457" y="1904"/>
              <a:ext cx="540" cy="655"/>
              <a:chOff x="1457" y="1904"/>
              <a:chExt cx="540" cy="655"/>
            </a:xfrm>
          </p:grpSpPr>
          <p:sp>
            <p:nvSpPr>
              <p:cNvPr id="274" name="Line 126"/>
              <p:cNvSpPr>
                <a:spLocks noChangeShapeType="1"/>
              </p:cNvSpPr>
              <p:nvPr/>
            </p:nvSpPr>
            <p:spPr bwMode="auto">
              <a:xfrm flipV="1">
                <a:off x="1996" y="2301"/>
                <a:ext cx="1" cy="25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5" name="Line 127"/>
              <p:cNvSpPr>
                <a:spLocks noChangeShapeType="1"/>
              </p:cNvSpPr>
              <p:nvPr/>
            </p:nvSpPr>
            <p:spPr bwMode="auto">
              <a:xfrm flipV="1">
                <a:off x="1903" y="2223"/>
                <a:ext cx="1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" name="Line 128"/>
              <p:cNvSpPr>
                <a:spLocks noChangeShapeType="1"/>
              </p:cNvSpPr>
              <p:nvPr/>
            </p:nvSpPr>
            <p:spPr bwMode="auto">
              <a:xfrm flipV="1">
                <a:off x="1637" y="2063"/>
                <a:ext cx="1" cy="4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" name="Line 129"/>
              <p:cNvSpPr>
                <a:spLocks noChangeShapeType="1"/>
              </p:cNvSpPr>
              <p:nvPr/>
            </p:nvSpPr>
            <p:spPr bwMode="auto">
              <a:xfrm flipV="1">
                <a:off x="1547" y="1992"/>
                <a:ext cx="1" cy="5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8" name="Line 130"/>
              <p:cNvSpPr>
                <a:spLocks noChangeShapeType="1"/>
              </p:cNvSpPr>
              <p:nvPr/>
            </p:nvSpPr>
            <p:spPr bwMode="auto">
              <a:xfrm flipV="1">
                <a:off x="1457" y="1904"/>
                <a:ext cx="1" cy="65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70" name="Group 131"/>
            <p:cNvGrpSpPr>
              <a:grpSpLocks/>
            </p:cNvGrpSpPr>
            <p:nvPr/>
          </p:nvGrpSpPr>
          <p:grpSpPr bwMode="auto">
            <a:xfrm>
              <a:off x="1684" y="2464"/>
              <a:ext cx="169" cy="23"/>
              <a:chOff x="1684" y="2464"/>
              <a:chExt cx="169" cy="23"/>
            </a:xfrm>
          </p:grpSpPr>
          <p:sp>
            <p:nvSpPr>
              <p:cNvPr id="271" name="Oval 132"/>
              <p:cNvSpPr>
                <a:spLocks noChangeArrowheads="1"/>
              </p:cNvSpPr>
              <p:nvPr/>
            </p:nvSpPr>
            <p:spPr bwMode="auto">
              <a:xfrm>
                <a:off x="1831" y="2464"/>
                <a:ext cx="22" cy="23"/>
              </a:xfrm>
              <a:prstGeom prst="ellipse">
                <a:avLst/>
              </a:prstGeom>
              <a:solidFill>
                <a:srgbClr val="0000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2" name="Oval 133"/>
              <p:cNvSpPr>
                <a:spLocks noChangeArrowheads="1"/>
              </p:cNvSpPr>
              <p:nvPr/>
            </p:nvSpPr>
            <p:spPr bwMode="auto">
              <a:xfrm>
                <a:off x="1684" y="2464"/>
                <a:ext cx="22" cy="23"/>
              </a:xfrm>
              <a:prstGeom prst="ellipse">
                <a:avLst/>
              </a:prstGeom>
              <a:solidFill>
                <a:srgbClr val="0000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3" name="Oval 134"/>
              <p:cNvSpPr>
                <a:spLocks noChangeArrowheads="1"/>
              </p:cNvSpPr>
              <p:nvPr/>
            </p:nvSpPr>
            <p:spPr bwMode="auto">
              <a:xfrm>
                <a:off x="1757" y="2464"/>
                <a:ext cx="22" cy="23"/>
              </a:xfrm>
              <a:prstGeom prst="ellipse">
                <a:avLst/>
              </a:prstGeom>
              <a:solidFill>
                <a:srgbClr val="000000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79" name="Text Box 136"/>
          <p:cNvSpPr txBox="1">
            <a:spLocks noChangeArrowheads="1"/>
          </p:cNvSpPr>
          <p:nvPr/>
        </p:nvSpPr>
        <p:spPr bwMode="auto">
          <a:xfrm>
            <a:off x="1469439" y="2182708"/>
            <a:ext cx="79216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600" b="1" dirty="0">
                <a:solidFill>
                  <a:schemeClr val="folHlink"/>
                </a:solidFill>
                <a:latin typeface="Times New Roman" pitchFamily="18" charset="0"/>
              </a:rPr>
              <a:t>2</a:t>
            </a:r>
            <a:r>
              <a:rPr lang="zh-CN" altLang="en-US" sz="2600" b="1" dirty="0" smtClean="0">
                <a:solidFill>
                  <a:schemeClr val="folHlink"/>
                </a:solidFill>
                <a:latin typeface="Times New Roman" pitchFamily="18" charset="0"/>
              </a:rPr>
              <a:t>片</a:t>
            </a:r>
            <a:endParaRPr lang="zh-CN" altLang="en-US" sz="2600" b="1" dirty="0">
              <a:solidFill>
                <a:schemeClr val="folHlink"/>
              </a:solidFill>
              <a:latin typeface="Times New Roman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495724" y="60800"/>
            <a:ext cx="156645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2600" dirty="0">
                <a:solidFill>
                  <a:prstClr val="black"/>
                </a:solidFill>
                <a:latin typeface="Times New Roman" pitchFamily="18" charset="0"/>
              </a:rPr>
              <a:t>K</a:t>
            </a:r>
            <a:r>
              <a:rPr lang="en-US" altLang="zh-CN" sz="900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sz="2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 altLang="zh-CN" sz="9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6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zh-CN" altLang="en-US" sz="2600" dirty="0">
                <a:solidFill>
                  <a:prstClr val="black"/>
                </a:solidFill>
                <a:latin typeface="Times New Roman" pitchFamily="18" charset="0"/>
              </a:rPr>
              <a:t>位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495724" y="636324"/>
            <a:ext cx="156645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2600" dirty="0">
                <a:solidFill>
                  <a:prstClr val="black"/>
                </a:solidFill>
                <a:latin typeface="Times New Roman" pitchFamily="18" charset="0"/>
              </a:rPr>
              <a:t>K</a:t>
            </a:r>
            <a:r>
              <a:rPr lang="en-US" altLang="zh-CN" sz="900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sz="2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 altLang="zh-CN" sz="9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600" dirty="0">
                <a:solidFill>
                  <a:prstClr val="black"/>
                </a:solidFill>
                <a:latin typeface="Times New Roman" pitchFamily="18" charset="0"/>
              </a:rPr>
              <a:t>4位 </a:t>
            </a:r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7441667" y="575524"/>
            <a:ext cx="16149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/>
          <p:cNvSpPr/>
          <p:nvPr/>
        </p:nvSpPr>
        <p:spPr>
          <a:xfrm>
            <a:off x="6870621" y="1115962"/>
            <a:ext cx="2199641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600" b="1" dirty="0" smtClean="0">
                <a:solidFill>
                  <a:srgbClr val="FF0000"/>
                </a:solidFill>
                <a:latin typeface="Times New Roman" pitchFamily="18" charset="0"/>
              </a:rPr>
              <a:t>=</a:t>
            </a:r>
            <a:r>
              <a:rPr lang="zh-CN" altLang="en-US" sz="2600" b="1" dirty="0" smtClean="0">
                <a:solidFill>
                  <a:srgbClr val="FF0000"/>
                </a:solidFill>
                <a:latin typeface="Times New Roman" pitchFamily="18" charset="0"/>
              </a:rPr>
              <a:t>1组</a:t>
            </a:r>
            <a:r>
              <a:rPr lang="en-US" altLang="zh-CN" sz="900" b="1" dirty="0" smtClean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sz="2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 altLang="zh-CN" sz="9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600" b="1" dirty="0" smtClean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zh-CN" altLang="en-US" sz="2600" b="1" dirty="0" smtClean="0">
                <a:solidFill>
                  <a:srgbClr val="FF0000"/>
                </a:solidFill>
                <a:latin typeface="Times New Roman" pitchFamily="18" charset="0"/>
              </a:rPr>
              <a:t>片</a:t>
            </a:r>
            <a:r>
              <a:rPr lang="en-US" altLang="zh-CN" sz="2600" b="1" dirty="0" smtClean="0">
                <a:solidFill>
                  <a:srgbClr val="FF0000"/>
                </a:solidFill>
                <a:latin typeface="Times New Roman" pitchFamily="18" charset="0"/>
              </a:rPr>
              <a:t>/</a:t>
            </a:r>
            <a:r>
              <a:rPr lang="zh-CN" altLang="en-US" sz="2600" b="1" dirty="0" smtClean="0">
                <a:solidFill>
                  <a:srgbClr val="FF0000"/>
                </a:solidFill>
                <a:latin typeface="Times New Roman" pitchFamily="18" charset="0"/>
              </a:rPr>
              <a:t>组</a:t>
            </a:r>
            <a:endParaRPr lang="en-US" altLang="zh-CN" sz="2600" b="1" dirty="0" smtClean="0">
              <a:solidFill>
                <a:srgbClr val="FF0000"/>
              </a:solidFill>
              <a:latin typeface="Times New Roman" pitchFamily="18" charset="0"/>
            </a:endParaRPr>
          </a:p>
          <a:p>
            <a:r>
              <a:rPr lang="en-US" altLang="zh-CN" sz="2600" b="1" dirty="0" smtClean="0">
                <a:solidFill>
                  <a:srgbClr val="FF0000"/>
                </a:solidFill>
                <a:latin typeface="Times New Roman" pitchFamily="18" charset="0"/>
              </a:rPr>
              <a:t>=2</a:t>
            </a:r>
            <a:r>
              <a:rPr lang="zh-CN" altLang="en-US" sz="2600" b="1" dirty="0" smtClean="0">
                <a:solidFill>
                  <a:srgbClr val="FF0000"/>
                </a:solidFill>
                <a:latin typeface="Times New Roman" pitchFamily="18" charset="0"/>
              </a:rPr>
              <a:t>片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06996" y="5051515"/>
            <a:ext cx="5376863" cy="1071857"/>
            <a:chOff x="906996" y="4877321"/>
            <a:chExt cx="5376863" cy="1071857"/>
          </a:xfrm>
        </p:grpSpPr>
        <p:sp>
          <p:nvSpPr>
            <p:cNvPr id="124" name="Oval 65"/>
            <p:cNvSpPr>
              <a:spLocks noChangeArrowheads="1"/>
            </p:cNvSpPr>
            <p:nvPr/>
          </p:nvSpPr>
          <p:spPr bwMode="auto">
            <a:xfrm>
              <a:off x="1096963" y="5060950"/>
              <a:ext cx="36512" cy="36513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Oval 66"/>
            <p:cNvSpPr>
              <a:spLocks noChangeArrowheads="1"/>
            </p:cNvSpPr>
            <p:nvPr/>
          </p:nvSpPr>
          <p:spPr bwMode="auto">
            <a:xfrm>
              <a:off x="1103313" y="5237163"/>
              <a:ext cx="34925" cy="36512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Oval 67"/>
            <p:cNvSpPr>
              <a:spLocks noChangeArrowheads="1"/>
            </p:cNvSpPr>
            <p:nvPr/>
          </p:nvSpPr>
          <p:spPr bwMode="auto">
            <a:xfrm>
              <a:off x="1096963" y="5548313"/>
              <a:ext cx="36512" cy="3175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Oval 68"/>
            <p:cNvSpPr>
              <a:spLocks noChangeArrowheads="1"/>
            </p:cNvSpPr>
            <p:nvPr/>
          </p:nvSpPr>
          <p:spPr bwMode="auto">
            <a:xfrm>
              <a:off x="1096963" y="5681663"/>
              <a:ext cx="36512" cy="34925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Rectangle 71"/>
            <p:cNvSpPr>
              <a:spLocks noChangeArrowheads="1"/>
            </p:cNvSpPr>
            <p:nvPr/>
          </p:nvSpPr>
          <p:spPr bwMode="auto">
            <a:xfrm>
              <a:off x="994309" y="5733734"/>
              <a:ext cx="18915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400" smtClean="0">
                  <a:latin typeface="Times New Roman" pitchFamily="18" charset="0"/>
                </a:rPr>
                <a:t>D</a:t>
              </a:r>
              <a:r>
                <a:rPr lang="en-US" altLang="zh-CN" sz="1400" baseline="-25000" smtClean="0">
                  <a:latin typeface="Times New Roman" pitchFamily="18" charset="0"/>
                </a:rPr>
                <a:t>0</a:t>
              </a:r>
              <a:endParaRPr lang="en-US" altLang="zh-CN" sz="1400" baseline="-25000">
                <a:latin typeface="Times New Roman" pitchFamily="18" charset="0"/>
              </a:endParaRPr>
            </a:p>
          </p:txBody>
        </p:sp>
        <p:sp>
          <p:nvSpPr>
            <p:cNvPr id="129" name="Line 73"/>
            <p:cNvSpPr>
              <a:spLocks noChangeShapeType="1"/>
            </p:cNvSpPr>
            <p:nvPr/>
          </p:nvSpPr>
          <p:spPr bwMode="auto">
            <a:xfrm>
              <a:off x="1275296" y="5005241"/>
              <a:ext cx="5008563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74"/>
            <p:cNvSpPr>
              <a:spLocks noChangeShapeType="1"/>
            </p:cNvSpPr>
            <p:nvPr/>
          </p:nvSpPr>
          <p:spPr bwMode="auto">
            <a:xfrm>
              <a:off x="1275296" y="5121128"/>
              <a:ext cx="5008563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75"/>
            <p:cNvSpPr>
              <a:spLocks noChangeShapeType="1"/>
            </p:cNvSpPr>
            <p:nvPr/>
          </p:nvSpPr>
          <p:spPr bwMode="auto">
            <a:xfrm>
              <a:off x="1275296" y="5497366"/>
              <a:ext cx="5008563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76"/>
            <p:cNvSpPr>
              <a:spLocks noChangeShapeType="1"/>
            </p:cNvSpPr>
            <p:nvPr/>
          </p:nvSpPr>
          <p:spPr bwMode="auto">
            <a:xfrm>
              <a:off x="1275296" y="5618016"/>
              <a:ext cx="5008563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77"/>
            <p:cNvSpPr>
              <a:spLocks noChangeShapeType="1"/>
            </p:cNvSpPr>
            <p:nvPr/>
          </p:nvSpPr>
          <p:spPr bwMode="auto">
            <a:xfrm>
              <a:off x="1275296" y="5237016"/>
              <a:ext cx="5008563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Rectangle 78"/>
            <p:cNvSpPr>
              <a:spLocks noChangeArrowheads="1"/>
            </p:cNvSpPr>
            <p:nvPr/>
          </p:nvSpPr>
          <p:spPr bwMode="auto">
            <a:xfrm>
              <a:off x="1011938" y="4877321"/>
              <a:ext cx="18915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400" smtClean="0">
                  <a:latin typeface="Times New Roman" pitchFamily="18" charset="0"/>
                </a:rPr>
                <a:t>D</a:t>
              </a:r>
              <a:r>
                <a:rPr lang="en-US" altLang="zh-CN" sz="1400" baseline="-25000" smtClean="0">
                  <a:latin typeface="Times New Roman" pitchFamily="18" charset="0"/>
                </a:rPr>
                <a:t>7</a:t>
              </a:r>
              <a:endParaRPr lang="en-US" altLang="zh-CN" sz="1400" baseline="-25000">
                <a:latin typeface="Times New Roman" pitchFamily="18" charset="0"/>
              </a:endParaRPr>
            </a:p>
          </p:txBody>
        </p:sp>
        <p:sp>
          <p:nvSpPr>
            <p:cNvPr id="135" name="Text Box 80"/>
            <p:cNvSpPr txBox="1">
              <a:spLocks noChangeArrowheads="1"/>
            </p:cNvSpPr>
            <p:nvPr/>
          </p:nvSpPr>
          <p:spPr bwMode="auto">
            <a:xfrm>
              <a:off x="906996" y="5292995"/>
              <a:ext cx="365125" cy="449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0">
                  <a:latin typeface="Times New Roman" pitchFamily="18" charset="0"/>
                  <a:cs typeface="Times New Roman" pitchFamily="18" charset="0"/>
                </a:rPr>
                <a:t>•••</a:t>
              </a:r>
              <a:endParaRPr lang="zh-CN" altLang="en-US" sz="2400" b="0">
                <a:latin typeface="Times New Roman" pitchFamily="18" charset="0"/>
              </a:endParaRPr>
            </a:p>
          </p:txBody>
        </p:sp>
        <p:sp>
          <p:nvSpPr>
            <p:cNvPr id="136" name="Line 77"/>
            <p:cNvSpPr>
              <a:spLocks noChangeShapeType="1"/>
            </p:cNvSpPr>
            <p:nvPr/>
          </p:nvSpPr>
          <p:spPr bwMode="auto">
            <a:xfrm>
              <a:off x="1275296" y="5357666"/>
              <a:ext cx="5008563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77"/>
            <p:cNvSpPr>
              <a:spLocks noChangeShapeType="1"/>
            </p:cNvSpPr>
            <p:nvPr/>
          </p:nvSpPr>
          <p:spPr bwMode="auto">
            <a:xfrm>
              <a:off x="1275296" y="5742636"/>
              <a:ext cx="5008563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77"/>
            <p:cNvSpPr>
              <a:spLocks noChangeShapeType="1"/>
            </p:cNvSpPr>
            <p:nvPr/>
          </p:nvSpPr>
          <p:spPr bwMode="auto">
            <a:xfrm>
              <a:off x="1275296" y="5870429"/>
              <a:ext cx="5008563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0327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4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9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2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00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93" grpId="0"/>
      <p:bldP spid="279" grpId="0"/>
      <p:bldP spid="3" grpId="0"/>
      <p:bldP spid="4" grpId="0"/>
      <p:bldP spid="10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mtClean="0"/>
              <a:t>★</a:t>
            </a:r>
            <a:r>
              <a:rPr lang="zh-CN" altLang="en-US" smtClean="0"/>
              <a:t>六、</a:t>
            </a:r>
            <a:r>
              <a:rPr lang="zh-CN" altLang="en-US" dirty="0" smtClean="0"/>
              <a:t>存储器容量</a:t>
            </a:r>
            <a:r>
              <a:rPr lang="zh-CN" altLang="en-US" dirty="0"/>
              <a:t>的</a:t>
            </a:r>
            <a:r>
              <a:rPr lang="zh-CN" altLang="en-US" dirty="0" smtClean="0"/>
              <a:t>扩展</a:t>
            </a:r>
            <a:endParaRPr lang="zh-CN" altLang="en-US" dirty="0"/>
          </a:p>
        </p:txBody>
      </p:sp>
      <p:sp>
        <p:nvSpPr>
          <p:cNvPr id="106" name="Text Box 2"/>
          <p:cNvSpPr txBox="1">
            <a:spLocks noChangeArrowheads="1"/>
          </p:cNvSpPr>
          <p:nvPr/>
        </p:nvSpPr>
        <p:spPr bwMode="auto">
          <a:xfrm>
            <a:off x="127522" y="929113"/>
            <a:ext cx="68580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dirty="0" smtClean="0">
                <a:latin typeface="Times New Roman" pitchFamily="18" charset="0"/>
              </a:rPr>
              <a:t>2</a:t>
            </a:r>
            <a:r>
              <a:rPr lang="zh-CN" altLang="en-US" sz="2800" dirty="0" smtClean="0">
                <a:latin typeface="Times New Roman" pitchFamily="18" charset="0"/>
              </a:rPr>
              <a:t>、字</a:t>
            </a:r>
            <a:r>
              <a:rPr lang="zh-CN" altLang="en-US" sz="2800" dirty="0">
                <a:latin typeface="Times New Roman" pitchFamily="18" charset="0"/>
              </a:rPr>
              <a:t>扩展</a:t>
            </a:r>
            <a:r>
              <a:rPr lang="zh-CN" altLang="en-US" sz="2800" dirty="0" smtClean="0">
                <a:latin typeface="Times New Roman" pitchFamily="18" charset="0"/>
              </a:rPr>
              <a:t>（当存储芯片存储单元数小于存储器所需存储单元数量时）</a:t>
            </a:r>
            <a:endParaRPr lang="en-US" altLang="zh-CN" sz="2800" dirty="0">
              <a:latin typeface="Times New Roman" pitchFamily="18" charset="0"/>
            </a:endParaRPr>
          </a:p>
        </p:txBody>
      </p:sp>
      <p:sp>
        <p:nvSpPr>
          <p:cNvPr id="107" name="Text Box 3"/>
          <p:cNvSpPr txBox="1">
            <a:spLocks noChangeArrowheads="1"/>
          </p:cNvSpPr>
          <p:nvPr/>
        </p:nvSpPr>
        <p:spPr bwMode="auto">
          <a:xfrm>
            <a:off x="685800" y="1962236"/>
            <a:ext cx="77724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>
                <a:latin typeface="Times New Roman" pitchFamily="18" charset="0"/>
              </a:rPr>
              <a:t> 用         1</a:t>
            </a:r>
            <a:r>
              <a:rPr lang="en-US" altLang="zh-CN" sz="2600" dirty="0">
                <a:latin typeface="Times New Roman" pitchFamily="18" charset="0"/>
              </a:rPr>
              <a:t>K</a:t>
            </a:r>
            <a:r>
              <a:rPr lang="en-US" altLang="zh-CN" sz="900" dirty="0">
                <a:latin typeface="Times New Roman" pitchFamily="18" charset="0"/>
              </a:rPr>
              <a:t> </a:t>
            </a:r>
            <a:r>
              <a:rPr lang="en-US" altLang="zh-CN" sz="2600" dirty="0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 altLang="zh-CN" sz="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600" dirty="0">
                <a:latin typeface="Times New Roman" pitchFamily="18" charset="0"/>
              </a:rPr>
              <a:t>8位 存储芯片组成 2</a:t>
            </a:r>
            <a:r>
              <a:rPr lang="en-US" altLang="zh-CN" sz="2600" dirty="0">
                <a:latin typeface="Times New Roman" pitchFamily="18" charset="0"/>
              </a:rPr>
              <a:t>K</a:t>
            </a:r>
            <a:r>
              <a:rPr lang="en-US" altLang="zh-CN" sz="900" dirty="0">
                <a:latin typeface="Times New Roman" pitchFamily="18" charset="0"/>
              </a:rPr>
              <a:t> </a:t>
            </a:r>
            <a:r>
              <a:rPr lang="en-US" altLang="zh-CN" sz="2600" dirty="0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 altLang="zh-CN" sz="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600" dirty="0">
                <a:latin typeface="Times New Roman" pitchFamily="18" charset="0"/>
              </a:rPr>
              <a:t>8</a:t>
            </a:r>
            <a:r>
              <a:rPr lang="zh-CN" altLang="en-US" sz="2600" dirty="0">
                <a:latin typeface="Times New Roman" pitchFamily="18" charset="0"/>
              </a:rPr>
              <a:t>位 的存储器</a:t>
            </a:r>
          </a:p>
        </p:txBody>
      </p:sp>
      <p:grpSp>
        <p:nvGrpSpPr>
          <p:cNvPr id="108" name="Group 4"/>
          <p:cNvGrpSpPr>
            <a:grpSpLocks/>
          </p:cNvGrpSpPr>
          <p:nvPr/>
        </p:nvGrpSpPr>
        <p:grpSpPr bwMode="auto">
          <a:xfrm>
            <a:off x="2767013" y="2479282"/>
            <a:ext cx="1998662" cy="457200"/>
            <a:chOff x="4224" y="571"/>
            <a:chExt cx="1259" cy="288"/>
          </a:xfrm>
        </p:grpSpPr>
        <p:sp>
          <p:nvSpPr>
            <p:cNvPr id="109" name="AutoShape 5"/>
            <p:cNvSpPr>
              <a:spLocks noChangeArrowheads="1"/>
            </p:cNvSpPr>
            <p:nvPr/>
          </p:nvSpPr>
          <p:spPr bwMode="auto">
            <a:xfrm>
              <a:off x="4224" y="576"/>
              <a:ext cx="1248" cy="270"/>
            </a:xfrm>
            <a:prstGeom prst="wedgeRoundRectCallout">
              <a:avLst>
                <a:gd name="adj1" fmla="val -75908"/>
                <a:gd name="adj2" fmla="val -69346"/>
                <a:gd name="adj3" fmla="val 16667"/>
              </a:avLst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Ins="0"/>
            <a:lstStyle/>
            <a:p>
              <a:pPr>
                <a:spcBef>
                  <a:spcPct val="50000"/>
                </a:spcBef>
              </a:pPr>
              <a:endParaRPr lang="en-US" altLang="zh-CN" sz="2600">
                <a:latin typeface="Times New Roman" pitchFamily="18" charset="0"/>
              </a:endParaRPr>
            </a:p>
          </p:txBody>
        </p:sp>
        <p:sp>
          <p:nvSpPr>
            <p:cNvPr id="110" name="Text Box 6"/>
            <p:cNvSpPr txBox="1">
              <a:spLocks noChangeArrowheads="1"/>
            </p:cNvSpPr>
            <p:nvPr/>
          </p:nvSpPr>
          <p:spPr bwMode="auto">
            <a:xfrm>
              <a:off x="4280" y="571"/>
              <a:ext cx="12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 smtClean="0">
                  <a:latin typeface="Times New Roman" pitchFamily="18" charset="0"/>
                </a:rPr>
                <a:t>1</a:t>
              </a:r>
              <a:r>
                <a:rPr lang="en-US" altLang="zh-CN" sz="2400" dirty="0" smtClean="0">
                  <a:latin typeface="Times New Roman" pitchFamily="18" charset="0"/>
                </a:rPr>
                <a:t>0</a:t>
              </a:r>
              <a:r>
                <a:rPr lang="zh-CN" altLang="en-US" sz="2400" dirty="0" smtClean="0">
                  <a:latin typeface="Times New Roman" pitchFamily="18" charset="0"/>
                </a:rPr>
                <a:t>根</a:t>
              </a:r>
              <a:r>
                <a:rPr lang="zh-CN" altLang="en-US" sz="2400" dirty="0">
                  <a:latin typeface="Times New Roman" pitchFamily="18" charset="0"/>
                </a:rPr>
                <a:t>地址线</a:t>
              </a:r>
            </a:p>
          </p:txBody>
        </p:sp>
      </p:grpSp>
      <p:grpSp>
        <p:nvGrpSpPr>
          <p:cNvPr id="111" name="Group 7"/>
          <p:cNvGrpSpPr>
            <a:grpSpLocks/>
          </p:cNvGrpSpPr>
          <p:nvPr/>
        </p:nvGrpSpPr>
        <p:grpSpPr bwMode="auto">
          <a:xfrm>
            <a:off x="6086335" y="2476495"/>
            <a:ext cx="2119313" cy="457200"/>
            <a:chOff x="4272" y="1396"/>
            <a:chExt cx="1335" cy="288"/>
          </a:xfrm>
        </p:grpSpPr>
        <p:sp>
          <p:nvSpPr>
            <p:cNvPr id="112" name="AutoShape 8"/>
            <p:cNvSpPr>
              <a:spLocks noChangeArrowheads="1"/>
            </p:cNvSpPr>
            <p:nvPr/>
          </p:nvSpPr>
          <p:spPr bwMode="auto">
            <a:xfrm>
              <a:off x="4272" y="1410"/>
              <a:ext cx="1250" cy="270"/>
            </a:xfrm>
            <a:prstGeom prst="wedgeRoundRectCallout">
              <a:avLst>
                <a:gd name="adj1" fmla="val -59902"/>
                <a:gd name="adj2" fmla="val -77634"/>
                <a:gd name="adj3" fmla="val 16667"/>
              </a:avLst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50000"/>
                </a:spcBef>
              </a:pPr>
              <a:endParaRPr lang="zh-CN" altLang="en-US" sz="2600">
                <a:latin typeface="Times New Roman" pitchFamily="18" charset="0"/>
              </a:endParaRPr>
            </a:p>
          </p:txBody>
        </p:sp>
        <p:sp>
          <p:nvSpPr>
            <p:cNvPr id="113" name="Text Box 9"/>
            <p:cNvSpPr txBox="1">
              <a:spLocks noChangeArrowheads="1"/>
            </p:cNvSpPr>
            <p:nvPr/>
          </p:nvSpPr>
          <p:spPr bwMode="auto">
            <a:xfrm>
              <a:off x="4404" y="1396"/>
              <a:ext cx="12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 smtClean="0">
                  <a:latin typeface="Times New Roman" pitchFamily="18" charset="0"/>
                </a:rPr>
                <a:t>11</a:t>
              </a:r>
              <a:r>
                <a:rPr lang="zh-CN" altLang="en-US" sz="2400" dirty="0" smtClean="0">
                  <a:latin typeface="Times New Roman" pitchFamily="18" charset="0"/>
                </a:rPr>
                <a:t>根地址线</a:t>
              </a:r>
              <a:endParaRPr lang="zh-CN" altLang="en-US" sz="2400" dirty="0">
                <a:latin typeface="Times New Roman" pitchFamily="18" charset="0"/>
              </a:endParaRPr>
            </a:p>
          </p:txBody>
        </p:sp>
      </p:grpSp>
      <p:sp>
        <p:nvSpPr>
          <p:cNvPr id="114" name="Text Box 11"/>
          <p:cNvSpPr txBox="1">
            <a:spLocks noChangeArrowheads="1"/>
          </p:cNvSpPr>
          <p:nvPr/>
        </p:nvSpPr>
        <p:spPr bwMode="auto">
          <a:xfrm>
            <a:off x="1144588" y="1940011"/>
            <a:ext cx="12827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>
                <a:solidFill>
                  <a:schemeClr val="folHlink"/>
                </a:solidFill>
                <a:latin typeface="Times New Roman" pitchFamily="18" charset="0"/>
              </a:rPr>
              <a:t>？片</a:t>
            </a:r>
          </a:p>
        </p:txBody>
      </p:sp>
      <p:sp>
        <p:nvSpPr>
          <p:cNvPr id="115" name="Text Box 12"/>
          <p:cNvSpPr txBox="1">
            <a:spLocks noChangeArrowheads="1"/>
          </p:cNvSpPr>
          <p:nvPr/>
        </p:nvSpPr>
        <p:spPr bwMode="auto">
          <a:xfrm>
            <a:off x="1288720" y="1943666"/>
            <a:ext cx="79216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600" b="1" dirty="0">
                <a:solidFill>
                  <a:schemeClr val="folHlink"/>
                </a:solidFill>
                <a:latin typeface="Times New Roman" pitchFamily="18" charset="0"/>
              </a:rPr>
              <a:t>2</a:t>
            </a:r>
            <a:r>
              <a:rPr lang="zh-CN" altLang="en-US" sz="2600" b="1" dirty="0">
                <a:solidFill>
                  <a:schemeClr val="folHlink"/>
                </a:solidFill>
                <a:latin typeface="Times New Roman" pitchFamily="18" charset="0"/>
              </a:rPr>
              <a:t>片</a:t>
            </a:r>
          </a:p>
        </p:txBody>
      </p:sp>
      <p:grpSp>
        <p:nvGrpSpPr>
          <p:cNvPr id="116" name="Group 13"/>
          <p:cNvGrpSpPr>
            <a:grpSpLocks/>
          </p:cNvGrpSpPr>
          <p:nvPr/>
        </p:nvGrpSpPr>
        <p:grpSpPr bwMode="auto">
          <a:xfrm>
            <a:off x="3843338" y="4925213"/>
            <a:ext cx="3173412" cy="1587"/>
            <a:chOff x="2421" y="3015"/>
            <a:chExt cx="1999" cy="1"/>
          </a:xfrm>
        </p:grpSpPr>
        <p:sp>
          <p:nvSpPr>
            <p:cNvPr id="117" name="Freeform 14"/>
            <p:cNvSpPr>
              <a:spLocks/>
            </p:cNvSpPr>
            <p:nvPr/>
          </p:nvSpPr>
          <p:spPr bwMode="auto">
            <a:xfrm>
              <a:off x="2421" y="3015"/>
              <a:ext cx="233" cy="1"/>
            </a:xfrm>
            <a:custGeom>
              <a:avLst/>
              <a:gdLst>
                <a:gd name="T0" fmla="*/ 0 w 233"/>
                <a:gd name="T1" fmla="*/ 0 h 1"/>
                <a:gd name="T2" fmla="*/ 233 w 233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3" h="1">
                  <a:moveTo>
                    <a:pt x="0" y="0"/>
                  </a:moveTo>
                  <a:lnTo>
                    <a:pt x="233" y="0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Freeform 15"/>
            <p:cNvSpPr>
              <a:spLocks/>
            </p:cNvSpPr>
            <p:nvPr/>
          </p:nvSpPr>
          <p:spPr bwMode="auto">
            <a:xfrm>
              <a:off x="4194" y="3015"/>
              <a:ext cx="226" cy="1"/>
            </a:xfrm>
            <a:custGeom>
              <a:avLst/>
              <a:gdLst>
                <a:gd name="T0" fmla="*/ 0 w 226"/>
                <a:gd name="T1" fmla="*/ 0 h 1"/>
                <a:gd name="T2" fmla="*/ 226 w 22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6" h="1">
                  <a:moveTo>
                    <a:pt x="0" y="0"/>
                  </a:moveTo>
                  <a:lnTo>
                    <a:pt x="226" y="0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9" name="Group 16"/>
          <p:cNvGrpSpPr>
            <a:grpSpLocks/>
          </p:cNvGrpSpPr>
          <p:nvPr/>
        </p:nvGrpSpPr>
        <p:grpSpPr bwMode="auto">
          <a:xfrm>
            <a:off x="4217988" y="4912513"/>
            <a:ext cx="2805112" cy="1612900"/>
            <a:chOff x="2657" y="3007"/>
            <a:chExt cx="1767" cy="1016"/>
          </a:xfrm>
        </p:grpSpPr>
        <p:sp>
          <p:nvSpPr>
            <p:cNvPr id="120" name="Line 17"/>
            <p:cNvSpPr>
              <a:spLocks noChangeShapeType="1"/>
            </p:cNvSpPr>
            <p:nvPr/>
          </p:nvSpPr>
          <p:spPr bwMode="auto">
            <a:xfrm>
              <a:off x="2657" y="3007"/>
              <a:ext cx="1" cy="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Freeform 18"/>
            <p:cNvSpPr>
              <a:spLocks/>
            </p:cNvSpPr>
            <p:nvPr/>
          </p:nvSpPr>
          <p:spPr bwMode="auto">
            <a:xfrm>
              <a:off x="4419" y="3009"/>
              <a:ext cx="5" cy="1014"/>
            </a:xfrm>
            <a:custGeom>
              <a:avLst/>
              <a:gdLst>
                <a:gd name="T0" fmla="*/ 0 w 5"/>
                <a:gd name="T1" fmla="*/ 0 h 1014"/>
                <a:gd name="T2" fmla="*/ 5 w 5"/>
                <a:gd name="T3" fmla="*/ 1014 h 1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" h="1014">
                  <a:moveTo>
                    <a:pt x="0" y="0"/>
                  </a:moveTo>
                  <a:lnTo>
                    <a:pt x="5" y="1014"/>
                  </a:lnTo>
                </a:path>
              </a:pathLst>
            </a:custGeom>
            <a:solidFill>
              <a:srgbClr val="FFFFFF"/>
            </a:solidFill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2" name="Group 19"/>
          <p:cNvGrpSpPr>
            <a:grpSpLocks/>
          </p:cNvGrpSpPr>
          <p:nvPr/>
        </p:nvGrpSpPr>
        <p:grpSpPr bwMode="auto">
          <a:xfrm>
            <a:off x="2493963" y="4429913"/>
            <a:ext cx="4160837" cy="652462"/>
            <a:chOff x="1571" y="2703"/>
            <a:chExt cx="2621" cy="411"/>
          </a:xfrm>
        </p:grpSpPr>
        <p:sp>
          <p:nvSpPr>
            <p:cNvPr id="123" name="Rectangle 20"/>
            <p:cNvSpPr>
              <a:spLocks noChangeArrowheads="1"/>
            </p:cNvSpPr>
            <p:nvPr/>
          </p:nvSpPr>
          <p:spPr bwMode="auto">
            <a:xfrm>
              <a:off x="1571" y="2703"/>
              <a:ext cx="857" cy="411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Rectangle 21"/>
            <p:cNvSpPr>
              <a:spLocks noChangeArrowheads="1"/>
            </p:cNvSpPr>
            <p:nvPr/>
          </p:nvSpPr>
          <p:spPr bwMode="auto">
            <a:xfrm>
              <a:off x="1674" y="2792"/>
              <a:ext cx="64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solidFill>
                    <a:schemeClr val="folHlink"/>
                  </a:solidFill>
                  <a:latin typeface="Times New Roman" pitchFamily="18" charset="0"/>
                </a:rPr>
                <a:t>1</a:t>
              </a:r>
              <a:r>
                <a:rPr lang="en-US" altLang="zh-CN" sz="2000">
                  <a:solidFill>
                    <a:schemeClr val="folHlink"/>
                  </a:solidFill>
                  <a:latin typeface="Times New Roman" pitchFamily="18" charset="0"/>
                </a:rPr>
                <a:t>K× </a:t>
              </a:r>
              <a:r>
                <a:rPr lang="zh-CN" altLang="en-US" sz="2000">
                  <a:solidFill>
                    <a:schemeClr val="folHlink"/>
                  </a:solidFill>
                </a:rPr>
                <a:t>8位</a:t>
              </a:r>
              <a:endParaRPr lang="en-US" altLang="zh-CN" sz="2000">
                <a:solidFill>
                  <a:schemeClr val="folHlink"/>
                </a:solidFill>
              </a:endParaRPr>
            </a:p>
          </p:txBody>
        </p:sp>
        <p:sp>
          <p:nvSpPr>
            <p:cNvPr id="125" name="Rectangle 22"/>
            <p:cNvSpPr>
              <a:spLocks noChangeArrowheads="1"/>
            </p:cNvSpPr>
            <p:nvPr/>
          </p:nvSpPr>
          <p:spPr bwMode="auto">
            <a:xfrm>
              <a:off x="3335" y="2703"/>
              <a:ext cx="857" cy="411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Rectangle 23"/>
            <p:cNvSpPr>
              <a:spLocks noChangeArrowheads="1"/>
            </p:cNvSpPr>
            <p:nvPr/>
          </p:nvSpPr>
          <p:spPr bwMode="auto">
            <a:xfrm>
              <a:off x="3443" y="2805"/>
              <a:ext cx="64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solidFill>
                    <a:schemeClr val="folHlink"/>
                  </a:solidFill>
                  <a:latin typeface="Times New Roman" pitchFamily="18" charset="0"/>
                </a:rPr>
                <a:t>1</a:t>
              </a:r>
              <a:r>
                <a:rPr lang="en-US" altLang="zh-CN" sz="2000">
                  <a:solidFill>
                    <a:schemeClr val="folHlink"/>
                  </a:solidFill>
                  <a:latin typeface="Times New Roman" pitchFamily="18" charset="0"/>
                </a:rPr>
                <a:t>K× </a:t>
              </a:r>
              <a:r>
                <a:rPr lang="zh-CN" altLang="en-US" sz="2000">
                  <a:solidFill>
                    <a:schemeClr val="folHlink"/>
                  </a:solidFill>
                </a:rPr>
                <a:t>8位</a:t>
              </a:r>
              <a:endParaRPr lang="en-US" altLang="zh-CN" sz="2000">
                <a:solidFill>
                  <a:schemeClr val="folHlink"/>
                </a:solidFill>
              </a:endParaRPr>
            </a:p>
          </p:txBody>
        </p:sp>
      </p:grpSp>
      <p:grpSp>
        <p:nvGrpSpPr>
          <p:cNvPr id="127" name="Group 24"/>
          <p:cNvGrpSpPr>
            <a:grpSpLocks/>
          </p:cNvGrpSpPr>
          <p:nvPr/>
        </p:nvGrpSpPr>
        <p:grpSpPr bwMode="auto">
          <a:xfrm>
            <a:off x="568325" y="5336375"/>
            <a:ext cx="7653338" cy="1271588"/>
            <a:chOff x="358" y="3274"/>
            <a:chExt cx="4821" cy="801"/>
          </a:xfrm>
        </p:grpSpPr>
        <p:sp>
          <p:nvSpPr>
            <p:cNvPr id="128" name="Line 25"/>
            <p:cNvSpPr>
              <a:spLocks noChangeShapeType="1"/>
            </p:cNvSpPr>
            <p:nvPr/>
          </p:nvSpPr>
          <p:spPr bwMode="auto">
            <a:xfrm>
              <a:off x="735" y="3869"/>
              <a:ext cx="4444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9" name="Group 26"/>
            <p:cNvGrpSpPr>
              <a:grpSpLocks/>
            </p:cNvGrpSpPr>
            <p:nvPr/>
          </p:nvGrpSpPr>
          <p:grpSpPr bwMode="auto">
            <a:xfrm>
              <a:off x="358" y="3274"/>
              <a:ext cx="4821" cy="801"/>
              <a:chOff x="358" y="3274"/>
              <a:chExt cx="4821" cy="801"/>
            </a:xfrm>
          </p:grpSpPr>
          <p:sp>
            <p:nvSpPr>
              <p:cNvPr id="130" name="Freeform 27"/>
              <p:cNvSpPr>
                <a:spLocks/>
              </p:cNvSpPr>
              <p:nvPr/>
            </p:nvSpPr>
            <p:spPr bwMode="auto">
              <a:xfrm>
                <a:off x="735" y="3404"/>
                <a:ext cx="4443" cy="1"/>
              </a:xfrm>
              <a:custGeom>
                <a:avLst/>
                <a:gdLst>
                  <a:gd name="T0" fmla="*/ 0 w 4447"/>
                  <a:gd name="T1" fmla="*/ 1 h 1"/>
                  <a:gd name="T2" fmla="*/ 4447 w 4447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447" h="1">
                    <a:moveTo>
                      <a:pt x="0" y="1"/>
                    </a:moveTo>
                    <a:lnTo>
                      <a:pt x="4447" y="0"/>
                    </a:lnTo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Freeform 28"/>
              <p:cNvSpPr>
                <a:spLocks/>
              </p:cNvSpPr>
              <p:nvPr/>
            </p:nvSpPr>
            <p:spPr bwMode="auto">
              <a:xfrm>
                <a:off x="738" y="3490"/>
                <a:ext cx="4441" cy="5"/>
              </a:xfrm>
              <a:custGeom>
                <a:avLst/>
                <a:gdLst>
                  <a:gd name="T0" fmla="*/ 0 w 4441"/>
                  <a:gd name="T1" fmla="*/ 5 h 5"/>
                  <a:gd name="T2" fmla="*/ 4441 w 4441"/>
                  <a:gd name="T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441" h="5">
                    <a:moveTo>
                      <a:pt x="0" y="5"/>
                    </a:moveTo>
                    <a:lnTo>
                      <a:pt x="4441" y="0"/>
                    </a:lnTo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Freeform 29"/>
              <p:cNvSpPr>
                <a:spLocks/>
              </p:cNvSpPr>
              <p:nvPr/>
            </p:nvSpPr>
            <p:spPr bwMode="auto">
              <a:xfrm>
                <a:off x="735" y="3575"/>
                <a:ext cx="4443" cy="4"/>
              </a:xfrm>
              <a:custGeom>
                <a:avLst/>
                <a:gdLst>
                  <a:gd name="T0" fmla="*/ 0 w 4435"/>
                  <a:gd name="T1" fmla="*/ 4 h 4"/>
                  <a:gd name="T2" fmla="*/ 4435 w 4435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435" h="4">
                    <a:moveTo>
                      <a:pt x="0" y="4"/>
                    </a:moveTo>
                    <a:lnTo>
                      <a:pt x="4435" y="0"/>
                    </a:lnTo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Rectangle 30"/>
              <p:cNvSpPr>
                <a:spLocks noChangeArrowheads="1"/>
              </p:cNvSpPr>
              <p:nvPr/>
            </p:nvSpPr>
            <p:spPr bwMode="auto">
              <a:xfrm>
                <a:off x="479" y="3274"/>
                <a:ext cx="15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1800">
                    <a:latin typeface="Times New Roman" pitchFamily="18" charset="0"/>
                  </a:rPr>
                  <a:t>D</a:t>
                </a:r>
                <a:r>
                  <a:rPr lang="en-US" altLang="zh-CN" sz="1800" baseline="-25000">
                    <a:latin typeface="Times New Roman" pitchFamily="18" charset="0"/>
                  </a:rPr>
                  <a:t>7</a:t>
                </a:r>
                <a:endParaRPr lang="en-US" altLang="zh-CN" sz="1800">
                  <a:latin typeface="Times New Roman" pitchFamily="18" charset="0"/>
                </a:endParaRPr>
              </a:p>
            </p:txBody>
          </p:sp>
          <p:sp>
            <p:nvSpPr>
              <p:cNvPr id="134" name="Rectangle 31"/>
              <p:cNvSpPr>
                <a:spLocks noChangeArrowheads="1"/>
              </p:cNvSpPr>
              <p:nvPr/>
            </p:nvSpPr>
            <p:spPr bwMode="auto">
              <a:xfrm>
                <a:off x="479" y="3729"/>
                <a:ext cx="385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1800">
                    <a:latin typeface="Times New Roman" pitchFamily="18" charset="0"/>
                  </a:rPr>
                  <a:t>D</a:t>
                </a:r>
                <a:r>
                  <a:rPr lang="en-US" altLang="zh-CN" sz="1800" baseline="-25000">
                    <a:latin typeface="Times New Roman" pitchFamily="18" charset="0"/>
                  </a:rPr>
                  <a:t>0</a:t>
                </a:r>
              </a:p>
              <a:p>
                <a:pPr>
                  <a:spcBef>
                    <a:spcPct val="0"/>
                  </a:spcBef>
                </a:pPr>
                <a:endParaRPr lang="en-US" altLang="zh-CN" sz="1800">
                  <a:latin typeface="Times New Roman" pitchFamily="18" charset="0"/>
                </a:endParaRPr>
              </a:p>
            </p:txBody>
          </p:sp>
          <p:sp>
            <p:nvSpPr>
              <p:cNvPr id="135" name="Text Box 32"/>
              <p:cNvSpPr txBox="1">
                <a:spLocks noChangeArrowheads="1"/>
              </p:cNvSpPr>
              <p:nvPr/>
            </p:nvSpPr>
            <p:spPr bwMode="auto">
              <a:xfrm>
                <a:off x="358" y="3373"/>
                <a:ext cx="346" cy="4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2400" b="0">
                    <a:latin typeface="Times New Roman" pitchFamily="18" charset="0"/>
                    <a:cs typeface="Times New Roman" pitchFamily="18" charset="0"/>
                  </a:rPr>
                  <a:t>•••</a:t>
                </a:r>
                <a:endParaRPr lang="zh-CN" altLang="en-US" sz="2400" b="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36" name="Group 33"/>
          <p:cNvGrpSpPr>
            <a:grpSpLocks/>
          </p:cNvGrpSpPr>
          <p:nvPr/>
        </p:nvGrpSpPr>
        <p:grpSpPr bwMode="auto">
          <a:xfrm>
            <a:off x="2609850" y="3299613"/>
            <a:ext cx="1074738" cy="1196975"/>
            <a:chOff x="1644" y="1991"/>
            <a:chExt cx="677" cy="754"/>
          </a:xfrm>
        </p:grpSpPr>
        <p:sp>
          <p:nvSpPr>
            <p:cNvPr id="137" name="Line 34"/>
            <p:cNvSpPr>
              <a:spLocks noChangeShapeType="1"/>
            </p:cNvSpPr>
            <p:nvPr/>
          </p:nvSpPr>
          <p:spPr bwMode="auto">
            <a:xfrm flipV="1">
              <a:off x="2319" y="2525"/>
              <a:ext cx="2" cy="1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35"/>
            <p:cNvSpPr>
              <a:spLocks noChangeShapeType="1"/>
            </p:cNvSpPr>
            <p:nvPr/>
          </p:nvSpPr>
          <p:spPr bwMode="auto">
            <a:xfrm flipV="1">
              <a:off x="2198" y="2434"/>
              <a:ext cx="1" cy="2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9" name="Group 36"/>
            <p:cNvGrpSpPr>
              <a:grpSpLocks/>
            </p:cNvGrpSpPr>
            <p:nvPr/>
          </p:nvGrpSpPr>
          <p:grpSpPr bwMode="auto">
            <a:xfrm>
              <a:off x="1644" y="1991"/>
              <a:ext cx="578" cy="754"/>
              <a:chOff x="1644" y="1991"/>
              <a:chExt cx="578" cy="754"/>
            </a:xfrm>
          </p:grpSpPr>
          <p:sp>
            <p:nvSpPr>
              <p:cNvPr id="140" name="Line 37"/>
              <p:cNvSpPr>
                <a:spLocks noChangeShapeType="1"/>
              </p:cNvSpPr>
              <p:nvPr/>
            </p:nvSpPr>
            <p:spPr bwMode="auto">
              <a:xfrm flipV="1">
                <a:off x="1777" y="2075"/>
                <a:ext cx="1" cy="6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Line 38"/>
              <p:cNvSpPr>
                <a:spLocks noChangeShapeType="1"/>
              </p:cNvSpPr>
              <p:nvPr/>
            </p:nvSpPr>
            <p:spPr bwMode="auto">
              <a:xfrm flipV="1">
                <a:off x="1644" y="1991"/>
                <a:ext cx="1" cy="7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Text Box 39"/>
              <p:cNvSpPr txBox="1">
                <a:spLocks noChangeArrowheads="1"/>
              </p:cNvSpPr>
              <p:nvPr/>
            </p:nvSpPr>
            <p:spPr bwMode="auto">
              <a:xfrm>
                <a:off x="1768" y="2457"/>
                <a:ext cx="4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2400" b="0">
                    <a:latin typeface="Times New Roman" pitchFamily="18" charset="0"/>
                    <a:cs typeface="Times New Roman" pitchFamily="18" charset="0"/>
                  </a:rPr>
                  <a:t>•••</a:t>
                </a:r>
                <a:endParaRPr lang="zh-CN" altLang="en-US" sz="2400" b="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43" name="Group 40"/>
          <p:cNvGrpSpPr>
            <a:grpSpLocks/>
          </p:cNvGrpSpPr>
          <p:nvPr/>
        </p:nvGrpSpPr>
        <p:grpSpPr bwMode="auto">
          <a:xfrm>
            <a:off x="2624138" y="5071263"/>
            <a:ext cx="1174750" cy="1209675"/>
            <a:chOff x="1653" y="3107"/>
            <a:chExt cx="740" cy="762"/>
          </a:xfrm>
        </p:grpSpPr>
        <p:sp>
          <p:nvSpPr>
            <p:cNvPr id="144" name="Freeform 41"/>
            <p:cNvSpPr>
              <a:spLocks/>
            </p:cNvSpPr>
            <p:nvPr/>
          </p:nvSpPr>
          <p:spPr bwMode="auto">
            <a:xfrm>
              <a:off x="1653" y="3114"/>
              <a:ext cx="3" cy="289"/>
            </a:xfrm>
            <a:custGeom>
              <a:avLst/>
              <a:gdLst>
                <a:gd name="T0" fmla="*/ 0 w 3"/>
                <a:gd name="T1" fmla="*/ 0 h 289"/>
                <a:gd name="T2" fmla="*/ 3 w 3"/>
                <a:gd name="T3" fmla="*/ 289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89">
                  <a:moveTo>
                    <a:pt x="0" y="0"/>
                  </a:moveTo>
                  <a:lnTo>
                    <a:pt x="3" y="289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Freeform 42"/>
            <p:cNvSpPr>
              <a:spLocks/>
            </p:cNvSpPr>
            <p:nvPr/>
          </p:nvSpPr>
          <p:spPr bwMode="auto">
            <a:xfrm>
              <a:off x="1797" y="3120"/>
              <a:ext cx="1" cy="378"/>
            </a:xfrm>
            <a:custGeom>
              <a:avLst/>
              <a:gdLst>
                <a:gd name="T0" fmla="*/ 0 w 1"/>
                <a:gd name="T1" fmla="*/ 0 h 378"/>
                <a:gd name="T2" fmla="*/ 0 w 1"/>
                <a:gd name="T3" fmla="*/ 378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78">
                  <a:moveTo>
                    <a:pt x="0" y="0"/>
                  </a:moveTo>
                  <a:lnTo>
                    <a:pt x="0" y="378"/>
                  </a:lnTo>
                </a:path>
              </a:pathLst>
            </a:custGeom>
            <a:solidFill>
              <a:srgbClr val="FFFFFF"/>
            </a:solidFill>
            <a:ln w="38100" cmpd="sng">
              <a:solidFill>
                <a:schemeClr val="tx1"/>
              </a:solidFill>
              <a:prstDash val="solid"/>
              <a:round/>
              <a:headEnd/>
              <a:tail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Freeform 43"/>
            <p:cNvSpPr>
              <a:spLocks/>
            </p:cNvSpPr>
            <p:nvPr/>
          </p:nvSpPr>
          <p:spPr bwMode="auto">
            <a:xfrm>
              <a:off x="2370" y="3114"/>
              <a:ext cx="1" cy="755"/>
            </a:xfrm>
            <a:custGeom>
              <a:avLst/>
              <a:gdLst>
                <a:gd name="T0" fmla="*/ 0 w 1"/>
                <a:gd name="T1" fmla="*/ 0 h 755"/>
                <a:gd name="T2" fmla="*/ 0 w 1"/>
                <a:gd name="T3" fmla="*/ 755 h 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55">
                  <a:moveTo>
                    <a:pt x="0" y="0"/>
                  </a:moveTo>
                  <a:lnTo>
                    <a:pt x="0" y="755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Text Box 44"/>
            <p:cNvSpPr txBox="1">
              <a:spLocks noChangeArrowheads="1"/>
            </p:cNvSpPr>
            <p:nvPr/>
          </p:nvSpPr>
          <p:spPr bwMode="auto">
            <a:xfrm>
              <a:off x="1743" y="3107"/>
              <a:ext cx="6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0">
                  <a:latin typeface="Times New Roman" pitchFamily="18" charset="0"/>
                  <a:cs typeface="Times New Roman" pitchFamily="18" charset="0"/>
                </a:rPr>
                <a:t>•••</a:t>
              </a:r>
            </a:p>
          </p:txBody>
        </p:sp>
      </p:grpSp>
      <p:grpSp>
        <p:nvGrpSpPr>
          <p:cNvPr id="148" name="Group 45"/>
          <p:cNvGrpSpPr>
            <a:grpSpLocks/>
          </p:cNvGrpSpPr>
          <p:nvPr/>
        </p:nvGrpSpPr>
        <p:grpSpPr bwMode="auto">
          <a:xfrm>
            <a:off x="5395913" y="3299613"/>
            <a:ext cx="1096962" cy="1196975"/>
            <a:chOff x="3399" y="1991"/>
            <a:chExt cx="691" cy="754"/>
          </a:xfrm>
        </p:grpSpPr>
        <p:sp>
          <p:nvSpPr>
            <p:cNvPr id="149" name="Line 46"/>
            <p:cNvSpPr>
              <a:spLocks noChangeShapeType="1"/>
            </p:cNvSpPr>
            <p:nvPr/>
          </p:nvSpPr>
          <p:spPr bwMode="auto">
            <a:xfrm flipV="1">
              <a:off x="4089" y="2525"/>
              <a:ext cx="1" cy="1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Line 47"/>
            <p:cNvSpPr>
              <a:spLocks noChangeShapeType="1"/>
            </p:cNvSpPr>
            <p:nvPr/>
          </p:nvSpPr>
          <p:spPr bwMode="auto">
            <a:xfrm flipV="1">
              <a:off x="3955" y="2434"/>
              <a:ext cx="1" cy="2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1" name="Group 48"/>
            <p:cNvGrpSpPr>
              <a:grpSpLocks/>
            </p:cNvGrpSpPr>
            <p:nvPr/>
          </p:nvGrpSpPr>
          <p:grpSpPr bwMode="auto">
            <a:xfrm>
              <a:off x="3399" y="1991"/>
              <a:ext cx="557" cy="754"/>
              <a:chOff x="3399" y="1991"/>
              <a:chExt cx="557" cy="754"/>
            </a:xfrm>
          </p:grpSpPr>
          <p:sp>
            <p:nvSpPr>
              <p:cNvPr id="152" name="Line 49"/>
              <p:cNvSpPr>
                <a:spLocks noChangeShapeType="1"/>
              </p:cNvSpPr>
              <p:nvPr/>
            </p:nvSpPr>
            <p:spPr bwMode="auto">
              <a:xfrm flipV="1">
                <a:off x="3532" y="2075"/>
                <a:ext cx="1" cy="6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Line 50"/>
              <p:cNvSpPr>
                <a:spLocks noChangeShapeType="1"/>
              </p:cNvSpPr>
              <p:nvPr/>
            </p:nvSpPr>
            <p:spPr bwMode="auto">
              <a:xfrm flipV="1">
                <a:off x="3399" y="1991"/>
                <a:ext cx="1" cy="7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" name="Text Box 51"/>
              <p:cNvSpPr txBox="1">
                <a:spLocks noChangeArrowheads="1"/>
              </p:cNvSpPr>
              <p:nvPr/>
            </p:nvSpPr>
            <p:spPr bwMode="auto">
              <a:xfrm>
                <a:off x="3557" y="2457"/>
                <a:ext cx="39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2400" b="0">
                    <a:latin typeface="Times New Roman" pitchFamily="18" charset="0"/>
                    <a:cs typeface="Times New Roman" pitchFamily="18" charset="0"/>
                  </a:rPr>
                  <a:t>•••</a:t>
                </a:r>
                <a:endParaRPr lang="zh-CN" altLang="en-US" sz="2400" b="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55" name="Group 52"/>
          <p:cNvGrpSpPr>
            <a:grpSpLocks/>
          </p:cNvGrpSpPr>
          <p:nvPr/>
        </p:nvGrpSpPr>
        <p:grpSpPr bwMode="auto">
          <a:xfrm>
            <a:off x="5434013" y="5071263"/>
            <a:ext cx="1219200" cy="1209675"/>
            <a:chOff x="3423" y="3107"/>
            <a:chExt cx="768" cy="762"/>
          </a:xfrm>
        </p:grpSpPr>
        <p:sp>
          <p:nvSpPr>
            <p:cNvPr id="156" name="Line 53"/>
            <p:cNvSpPr>
              <a:spLocks noChangeShapeType="1"/>
            </p:cNvSpPr>
            <p:nvPr/>
          </p:nvSpPr>
          <p:spPr bwMode="auto">
            <a:xfrm>
              <a:off x="3565" y="3123"/>
              <a:ext cx="1" cy="3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7" name="Group 54"/>
            <p:cNvGrpSpPr>
              <a:grpSpLocks/>
            </p:cNvGrpSpPr>
            <p:nvPr/>
          </p:nvGrpSpPr>
          <p:grpSpPr bwMode="auto">
            <a:xfrm>
              <a:off x="3423" y="3107"/>
              <a:ext cx="768" cy="762"/>
              <a:chOff x="3423" y="3107"/>
              <a:chExt cx="768" cy="762"/>
            </a:xfrm>
          </p:grpSpPr>
          <p:sp>
            <p:nvSpPr>
              <p:cNvPr id="158" name="Freeform 55"/>
              <p:cNvSpPr>
                <a:spLocks/>
              </p:cNvSpPr>
              <p:nvPr/>
            </p:nvSpPr>
            <p:spPr bwMode="auto">
              <a:xfrm>
                <a:off x="3423" y="3111"/>
                <a:ext cx="1" cy="292"/>
              </a:xfrm>
              <a:custGeom>
                <a:avLst/>
                <a:gdLst>
                  <a:gd name="T0" fmla="*/ 0 w 1"/>
                  <a:gd name="T1" fmla="*/ 0 h 292"/>
                  <a:gd name="T2" fmla="*/ 0 w 1"/>
                  <a:gd name="T3" fmla="*/ 292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92">
                    <a:moveTo>
                      <a:pt x="0" y="0"/>
                    </a:moveTo>
                    <a:lnTo>
                      <a:pt x="0" y="292"/>
                    </a:lnTo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Freeform 56"/>
              <p:cNvSpPr>
                <a:spLocks/>
              </p:cNvSpPr>
              <p:nvPr/>
            </p:nvSpPr>
            <p:spPr bwMode="auto">
              <a:xfrm>
                <a:off x="4134" y="3114"/>
                <a:ext cx="2" cy="755"/>
              </a:xfrm>
              <a:custGeom>
                <a:avLst/>
                <a:gdLst>
                  <a:gd name="T0" fmla="*/ 0 w 2"/>
                  <a:gd name="T1" fmla="*/ 0 h 755"/>
                  <a:gd name="T2" fmla="*/ 2 w 2"/>
                  <a:gd name="T3" fmla="*/ 755 h 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755">
                    <a:moveTo>
                      <a:pt x="0" y="0"/>
                    </a:moveTo>
                    <a:lnTo>
                      <a:pt x="2" y="755"/>
                    </a:lnTo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0" name="Text Box 57"/>
              <p:cNvSpPr txBox="1">
                <a:spLocks noChangeArrowheads="1"/>
              </p:cNvSpPr>
              <p:nvPr/>
            </p:nvSpPr>
            <p:spPr bwMode="auto">
              <a:xfrm>
                <a:off x="3541" y="310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2400" b="0">
                    <a:latin typeface="Times New Roman" pitchFamily="18" charset="0"/>
                    <a:cs typeface="Times New Roman" pitchFamily="18" charset="0"/>
                  </a:rPr>
                  <a:t>•••</a:t>
                </a:r>
              </a:p>
            </p:txBody>
          </p:sp>
        </p:grpSp>
      </p:grpSp>
      <p:grpSp>
        <p:nvGrpSpPr>
          <p:cNvPr id="161" name="Group 58"/>
          <p:cNvGrpSpPr>
            <a:grpSpLocks/>
          </p:cNvGrpSpPr>
          <p:nvPr/>
        </p:nvGrpSpPr>
        <p:grpSpPr bwMode="auto">
          <a:xfrm>
            <a:off x="682625" y="6387300"/>
            <a:ext cx="6334125" cy="280988"/>
            <a:chOff x="430" y="3936"/>
            <a:chExt cx="3990" cy="177"/>
          </a:xfrm>
        </p:grpSpPr>
        <p:sp>
          <p:nvSpPr>
            <p:cNvPr id="162" name="Freeform 59"/>
            <p:cNvSpPr>
              <a:spLocks/>
            </p:cNvSpPr>
            <p:nvPr/>
          </p:nvSpPr>
          <p:spPr bwMode="auto">
            <a:xfrm>
              <a:off x="735" y="4007"/>
              <a:ext cx="3685" cy="4"/>
            </a:xfrm>
            <a:custGeom>
              <a:avLst/>
              <a:gdLst>
                <a:gd name="T0" fmla="*/ 0 w 3685"/>
                <a:gd name="T1" fmla="*/ 4 h 4"/>
                <a:gd name="T2" fmla="*/ 3685 w 3685"/>
                <a:gd name="T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85" h="4">
                  <a:moveTo>
                    <a:pt x="0" y="4"/>
                  </a:moveTo>
                  <a:lnTo>
                    <a:pt x="3685" y="0"/>
                  </a:lnTo>
                </a:path>
              </a:pathLst>
            </a:custGeom>
            <a:solidFill>
              <a:srgbClr val="FFFFFF"/>
            </a:solidFill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Rectangle 60"/>
            <p:cNvSpPr>
              <a:spLocks noChangeArrowheads="1"/>
            </p:cNvSpPr>
            <p:nvPr/>
          </p:nvSpPr>
          <p:spPr bwMode="auto">
            <a:xfrm>
              <a:off x="440" y="3940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WE</a:t>
              </a:r>
            </a:p>
          </p:txBody>
        </p:sp>
        <p:sp>
          <p:nvSpPr>
            <p:cNvPr id="164" name="Line 61"/>
            <p:cNvSpPr>
              <a:spLocks noChangeShapeType="1"/>
            </p:cNvSpPr>
            <p:nvPr/>
          </p:nvSpPr>
          <p:spPr bwMode="auto">
            <a:xfrm>
              <a:off x="430" y="3936"/>
              <a:ext cx="242" cy="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5" name="Group 62"/>
          <p:cNvGrpSpPr>
            <a:grpSpLocks/>
          </p:cNvGrpSpPr>
          <p:nvPr/>
        </p:nvGrpSpPr>
        <p:grpSpPr bwMode="auto">
          <a:xfrm>
            <a:off x="609600" y="3078950"/>
            <a:ext cx="7612063" cy="1495425"/>
            <a:chOff x="384" y="1852"/>
            <a:chExt cx="4795" cy="942"/>
          </a:xfrm>
        </p:grpSpPr>
        <p:sp>
          <p:nvSpPr>
            <p:cNvPr id="166" name="Rectangle 63"/>
            <p:cNvSpPr>
              <a:spLocks noChangeArrowheads="1"/>
            </p:cNvSpPr>
            <p:nvPr/>
          </p:nvSpPr>
          <p:spPr bwMode="auto">
            <a:xfrm>
              <a:off x="499" y="2269"/>
              <a:ext cx="19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A</a:t>
              </a:r>
              <a:r>
                <a:rPr lang="en-US" altLang="zh-CN" sz="1800" baseline="-25000">
                  <a:latin typeface="Times New Roman" pitchFamily="18" charset="0"/>
                </a:rPr>
                <a:t>1</a:t>
              </a:r>
              <a:endParaRPr lang="en-US" altLang="zh-CN" sz="1800">
                <a:latin typeface="Times New Roman" pitchFamily="18" charset="0"/>
              </a:endParaRPr>
            </a:p>
          </p:txBody>
        </p:sp>
        <p:grpSp>
          <p:nvGrpSpPr>
            <p:cNvPr id="167" name="Group 64"/>
            <p:cNvGrpSpPr>
              <a:grpSpLocks/>
            </p:cNvGrpSpPr>
            <p:nvPr/>
          </p:nvGrpSpPr>
          <p:grpSpPr bwMode="auto">
            <a:xfrm>
              <a:off x="384" y="1852"/>
              <a:ext cx="4795" cy="942"/>
              <a:chOff x="384" y="1852"/>
              <a:chExt cx="4795" cy="942"/>
            </a:xfrm>
          </p:grpSpPr>
          <p:sp>
            <p:nvSpPr>
              <p:cNvPr id="168" name="Line 65"/>
              <p:cNvSpPr>
                <a:spLocks noChangeShapeType="1"/>
              </p:cNvSpPr>
              <p:nvPr/>
            </p:nvSpPr>
            <p:spPr bwMode="auto">
              <a:xfrm>
                <a:off x="735" y="1991"/>
                <a:ext cx="4444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" name="Freeform 66"/>
              <p:cNvSpPr>
                <a:spLocks/>
              </p:cNvSpPr>
              <p:nvPr/>
            </p:nvSpPr>
            <p:spPr bwMode="auto">
              <a:xfrm>
                <a:off x="738" y="2076"/>
                <a:ext cx="4440" cy="1"/>
              </a:xfrm>
              <a:custGeom>
                <a:avLst/>
                <a:gdLst>
                  <a:gd name="T0" fmla="*/ 0 w 4440"/>
                  <a:gd name="T1" fmla="*/ 0 h 1"/>
                  <a:gd name="T2" fmla="*/ 4440 w 444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440" h="1">
                    <a:moveTo>
                      <a:pt x="0" y="0"/>
                    </a:moveTo>
                    <a:lnTo>
                      <a:pt x="4440" y="0"/>
                    </a:lnTo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0" name="Line 67"/>
              <p:cNvSpPr>
                <a:spLocks noChangeShapeType="1"/>
              </p:cNvSpPr>
              <p:nvPr/>
            </p:nvSpPr>
            <p:spPr bwMode="auto">
              <a:xfrm>
                <a:off x="735" y="2431"/>
                <a:ext cx="4444" cy="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1" name="Freeform 68"/>
              <p:cNvSpPr>
                <a:spLocks/>
              </p:cNvSpPr>
              <p:nvPr/>
            </p:nvSpPr>
            <p:spPr bwMode="auto">
              <a:xfrm>
                <a:off x="738" y="2517"/>
                <a:ext cx="4441" cy="3"/>
              </a:xfrm>
              <a:custGeom>
                <a:avLst/>
                <a:gdLst>
                  <a:gd name="T0" fmla="*/ 0 w 4441"/>
                  <a:gd name="T1" fmla="*/ 3 h 3"/>
                  <a:gd name="T2" fmla="*/ 4441 w 4441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441" h="3">
                    <a:moveTo>
                      <a:pt x="0" y="3"/>
                    </a:moveTo>
                    <a:lnTo>
                      <a:pt x="4441" y="0"/>
                    </a:lnTo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2" name="Freeform 69"/>
              <p:cNvSpPr>
                <a:spLocks/>
              </p:cNvSpPr>
              <p:nvPr/>
            </p:nvSpPr>
            <p:spPr bwMode="auto">
              <a:xfrm>
                <a:off x="741" y="2157"/>
                <a:ext cx="4437" cy="6"/>
              </a:xfrm>
              <a:custGeom>
                <a:avLst/>
                <a:gdLst>
                  <a:gd name="T0" fmla="*/ 0 w 4437"/>
                  <a:gd name="T1" fmla="*/ 0 h 6"/>
                  <a:gd name="T2" fmla="*/ 4437 w 4437"/>
                  <a:gd name="T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437" h="6">
                    <a:moveTo>
                      <a:pt x="0" y="0"/>
                    </a:moveTo>
                    <a:lnTo>
                      <a:pt x="4437" y="6"/>
                    </a:lnTo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3" name="Rectangle 70"/>
              <p:cNvSpPr>
                <a:spLocks noChangeArrowheads="1"/>
              </p:cNvSpPr>
              <p:nvPr/>
            </p:nvSpPr>
            <p:spPr bwMode="auto">
              <a:xfrm>
                <a:off x="499" y="2448"/>
                <a:ext cx="317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1800">
                    <a:latin typeface="Times New Roman" pitchFamily="18" charset="0"/>
                  </a:rPr>
                  <a:t>A</a:t>
                </a:r>
                <a:r>
                  <a:rPr lang="en-US" altLang="zh-CN" sz="1800" baseline="-25000">
                    <a:latin typeface="Times New Roman" pitchFamily="18" charset="0"/>
                  </a:rPr>
                  <a:t>0</a:t>
                </a:r>
              </a:p>
              <a:p>
                <a:pPr>
                  <a:spcBef>
                    <a:spcPct val="0"/>
                  </a:spcBef>
                </a:pPr>
                <a:endParaRPr lang="en-US" altLang="zh-CN" sz="1800">
                  <a:latin typeface="Times New Roman" pitchFamily="18" charset="0"/>
                </a:endParaRPr>
              </a:p>
            </p:txBody>
          </p:sp>
          <p:sp>
            <p:nvSpPr>
              <p:cNvPr id="174" name="Text Box 71"/>
              <p:cNvSpPr txBox="1">
                <a:spLocks noChangeArrowheads="1"/>
              </p:cNvSpPr>
              <p:nvPr/>
            </p:nvSpPr>
            <p:spPr bwMode="auto">
              <a:xfrm>
                <a:off x="384" y="1956"/>
                <a:ext cx="346" cy="4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2400" b="0">
                    <a:latin typeface="Times New Roman" pitchFamily="18" charset="0"/>
                    <a:cs typeface="Times New Roman" pitchFamily="18" charset="0"/>
                  </a:rPr>
                  <a:t>•••</a:t>
                </a:r>
                <a:endParaRPr lang="zh-CN" altLang="en-US" sz="2400" b="0">
                  <a:latin typeface="Times New Roman" pitchFamily="18" charset="0"/>
                </a:endParaRPr>
              </a:p>
            </p:txBody>
          </p:sp>
          <p:sp>
            <p:nvSpPr>
              <p:cNvPr id="175" name="Rectangle 72"/>
              <p:cNvSpPr>
                <a:spLocks noChangeArrowheads="1"/>
              </p:cNvSpPr>
              <p:nvPr/>
            </p:nvSpPr>
            <p:spPr bwMode="auto">
              <a:xfrm>
                <a:off x="491" y="1852"/>
                <a:ext cx="15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1800">
                    <a:latin typeface="Times New Roman" pitchFamily="18" charset="0"/>
                  </a:rPr>
                  <a:t>A</a:t>
                </a:r>
                <a:r>
                  <a:rPr lang="en-US" altLang="zh-CN" sz="1800" baseline="-25000">
                    <a:latin typeface="Times New Roman" pitchFamily="18" charset="0"/>
                  </a:rPr>
                  <a:t>9</a:t>
                </a:r>
                <a:endParaRPr lang="en-US" altLang="zh-CN" sz="18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76" name="Group 73"/>
          <p:cNvGrpSpPr>
            <a:grpSpLocks/>
          </p:cNvGrpSpPr>
          <p:nvPr/>
        </p:nvGrpSpPr>
        <p:grpSpPr bwMode="auto">
          <a:xfrm>
            <a:off x="792163" y="2823363"/>
            <a:ext cx="4856162" cy="1854200"/>
            <a:chOff x="499" y="1691"/>
            <a:chExt cx="3059" cy="1168"/>
          </a:xfrm>
        </p:grpSpPr>
        <p:sp>
          <p:nvSpPr>
            <p:cNvPr id="177" name="Line 74"/>
            <p:cNvSpPr>
              <a:spLocks noChangeShapeType="1"/>
            </p:cNvSpPr>
            <p:nvPr/>
          </p:nvSpPr>
          <p:spPr bwMode="auto">
            <a:xfrm flipV="1">
              <a:off x="2852" y="1835"/>
              <a:ext cx="1" cy="10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Freeform 75"/>
            <p:cNvSpPr>
              <a:spLocks/>
            </p:cNvSpPr>
            <p:nvPr/>
          </p:nvSpPr>
          <p:spPr bwMode="auto">
            <a:xfrm>
              <a:off x="2424" y="2841"/>
              <a:ext cx="428" cy="1"/>
            </a:xfrm>
            <a:custGeom>
              <a:avLst/>
              <a:gdLst>
                <a:gd name="T0" fmla="*/ 0 w 428"/>
                <a:gd name="T1" fmla="*/ 0 h 1"/>
                <a:gd name="T2" fmla="*/ 428 w 428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28" h="1">
                  <a:moveTo>
                    <a:pt x="0" y="0"/>
                  </a:moveTo>
                  <a:lnTo>
                    <a:pt x="428" y="1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Rectangle 76"/>
            <p:cNvSpPr>
              <a:spLocks noChangeArrowheads="1"/>
            </p:cNvSpPr>
            <p:nvPr/>
          </p:nvSpPr>
          <p:spPr bwMode="auto">
            <a:xfrm>
              <a:off x="2515" y="2623"/>
              <a:ext cx="30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CS</a:t>
              </a:r>
              <a:r>
                <a:rPr lang="en-US" altLang="zh-CN" sz="1800" baseline="-25000">
                  <a:latin typeface="Times New Roman" pitchFamily="18" charset="0"/>
                </a:rPr>
                <a:t>0</a:t>
              </a:r>
              <a:endParaRPr lang="en-US" altLang="zh-CN" sz="1800">
                <a:latin typeface="Times New Roman" pitchFamily="18" charset="0"/>
              </a:endParaRPr>
            </a:p>
          </p:txBody>
        </p:sp>
        <p:sp>
          <p:nvSpPr>
            <p:cNvPr id="180" name="Line 77"/>
            <p:cNvSpPr>
              <a:spLocks noChangeShapeType="1"/>
            </p:cNvSpPr>
            <p:nvPr/>
          </p:nvSpPr>
          <p:spPr bwMode="auto">
            <a:xfrm>
              <a:off x="735" y="1830"/>
              <a:ext cx="2823" cy="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Rectangle 78"/>
            <p:cNvSpPr>
              <a:spLocks noChangeArrowheads="1"/>
            </p:cNvSpPr>
            <p:nvPr/>
          </p:nvSpPr>
          <p:spPr bwMode="auto">
            <a:xfrm>
              <a:off x="499" y="1691"/>
              <a:ext cx="20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A</a:t>
              </a:r>
              <a:r>
                <a:rPr lang="en-US" altLang="zh-CN" sz="1800" baseline="-25000">
                  <a:latin typeface="Times New Roman" pitchFamily="18" charset="0"/>
                </a:rPr>
                <a:t>10</a:t>
              </a:r>
              <a:endParaRPr lang="en-US" altLang="zh-CN" sz="1800">
                <a:latin typeface="Times New Roman" pitchFamily="18" charset="0"/>
              </a:endParaRPr>
            </a:p>
          </p:txBody>
        </p:sp>
        <p:sp>
          <p:nvSpPr>
            <p:cNvPr id="182" name="Freeform 79"/>
            <p:cNvSpPr>
              <a:spLocks/>
            </p:cNvSpPr>
            <p:nvPr/>
          </p:nvSpPr>
          <p:spPr bwMode="auto">
            <a:xfrm>
              <a:off x="2511" y="2625"/>
              <a:ext cx="213" cy="1"/>
            </a:xfrm>
            <a:custGeom>
              <a:avLst/>
              <a:gdLst>
                <a:gd name="T0" fmla="*/ 0 w 213"/>
                <a:gd name="T1" fmla="*/ 0 h 1"/>
                <a:gd name="T2" fmla="*/ 213 w 213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3" h="1">
                  <a:moveTo>
                    <a:pt x="0" y="0"/>
                  </a:moveTo>
                  <a:lnTo>
                    <a:pt x="21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3" name="Group 80"/>
          <p:cNvGrpSpPr>
            <a:grpSpLocks/>
          </p:cNvGrpSpPr>
          <p:nvPr/>
        </p:nvGrpSpPr>
        <p:grpSpPr bwMode="auto">
          <a:xfrm>
            <a:off x="5654675" y="2875750"/>
            <a:ext cx="346075" cy="342900"/>
            <a:chOff x="3562" y="1724"/>
            <a:chExt cx="218" cy="216"/>
          </a:xfrm>
        </p:grpSpPr>
        <p:sp>
          <p:nvSpPr>
            <p:cNvPr id="184" name="Rectangle 81"/>
            <p:cNvSpPr>
              <a:spLocks noChangeArrowheads="1"/>
            </p:cNvSpPr>
            <p:nvPr/>
          </p:nvSpPr>
          <p:spPr bwMode="auto">
            <a:xfrm>
              <a:off x="3562" y="1724"/>
              <a:ext cx="146" cy="216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>
                  <a:solidFill>
                    <a:schemeClr val="folHlink"/>
                  </a:solidFill>
                  <a:latin typeface="Times New Roman" pitchFamily="18" charset="0"/>
                </a:rPr>
                <a:t> </a:t>
              </a:r>
              <a:r>
                <a:rPr lang="zh-CN" altLang="en-US" sz="2000">
                  <a:solidFill>
                    <a:schemeClr val="folHlink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85" name="Oval 82"/>
            <p:cNvSpPr>
              <a:spLocks noChangeArrowheads="1"/>
            </p:cNvSpPr>
            <p:nvPr/>
          </p:nvSpPr>
          <p:spPr bwMode="auto">
            <a:xfrm>
              <a:off x="3724" y="1797"/>
              <a:ext cx="56" cy="56"/>
            </a:xfrm>
            <a:prstGeom prst="ellips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6" name="Group 83"/>
          <p:cNvGrpSpPr>
            <a:grpSpLocks/>
          </p:cNvGrpSpPr>
          <p:nvPr/>
        </p:nvGrpSpPr>
        <p:grpSpPr bwMode="auto">
          <a:xfrm>
            <a:off x="5995988" y="3015450"/>
            <a:ext cx="1360487" cy="1655763"/>
            <a:chOff x="3777" y="1812"/>
            <a:chExt cx="857" cy="1043"/>
          </a:xfrm>
        </p:grpSpPr>
        <p:sp>
          <p:nvSpPr>
            <p:cNvPr id="187" name="Freeform 84"/>
            <p:cNvSpPr>
              <a:spLocks/>
            </p:cNvSpPr>
            <p:nvPr/>
          </p:nvSpPr>
          <p:spPr bwMode="auto">
            <a:xfrm>
              <a:off x="4623" y="1812"/>
              <a:ext cx="2" cy="1043"/>
            </a:xfrm>
            <a:custGeom>
              <a:avLst/>
              <a:gdLst>
                <a:gd name="T0" fmla="*/ 2 w 2"/>
                <a:gd name="T1" fmla="*/ 1043 h 1043"/>
                <a:gd name="T2" fmla="*/ 0 w 2"/>
                <a:gd name="T3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1043">
                  <a:moveTo>
                    <a:pt x="2" y="1043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 type="none" w="med" len="med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Freeform 85"/>
            <p:cNvSpPr>
              <a:spLocks/>
            </p:cNvSpPr>
            <p:nvPr/>
          </p:nvSpPr>
          <p:spPr bwMode="auto">
            <a:xfrm>
              <a:off x="4191" y="2841"/>
              <a:ext cx="428" cy="1"/>
            </a:xfrm>
            <a:custGeom>
              <a:avLst/>
              <a:gdLst>
                <a:gd name="T0" fmla="*/ 0 w 428"/>
                <a:gd name="T1" fmla="*/ 0 h 1"/>
                <a:gd name="T2" fmla="*/ 428 w 428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28" h="1">
                  <a:moveTo>
                    <a:pt x="0" y="0"/>
                  </a:moveTo>
                  <a:lnTo>
                    <a:pt x="428" y="1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Rectangle 86"/>
            <p:cNvSpPr>
              <a:spLocks noChangeArrowheads="1"/>
            </p:cNvSpPr>
            <p:nvPr/>
          </p:nvSpPr>
          <p:spPr bwMode="auto">
            <a:xfrm>
              <a:off x="4271" y="2623"/>
              <a:ext cx="23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CS</a:t>
              </a:r>
              <a:r>
                <a:rPr lang="en-US" altLang="zh-CN" sz="1800" baseline="-25000">
                  <a:latin typeface="Times New Roman" pitchFamily="18" charset="0"/>
                </a:rPr>
                <a:t>1</a:t>
              </a:r>
              <a:endParaRPr lang="en-US" altLang="zh-CN" sz="1800">
                <a:latin typeface="Times New Roman" pitchFamily="18" charset="0"/>
              </a:endParaRPr>
            </a:p>
          </p:txBody>
        </p:sp>
        <p:sp>
          <p:nvSpPr>
            <p:cNvPr id="190" name="Line 87"/>
            <p:cNvSpPr>
              <a:spLocks noChangeShapeType="1"/>
            </p:cNvSpPr>
            <p:nvPr/>
          </p:nvSpPr>
          <p:spPr bwMode="auto">
            <a:xfrm>
              <a:off x="3777" y="1822"/>
              <a:ext cx="85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Freeform 88"/>
            <p:cNvSpPr>
              <a:spLocks/>
            </p:cNvSpPr>
            <p:nvPr/>
          </p:nvSpPr>
          <p:spPr bwMode="auto">
            <a:xfrm>
              <a:off x="4263" y="2625"/>
              <a:ext cx="213" cy="1"/>
            </a:xfrm>
            <a:custGeom>
              <a:avLst/>
              <a:gdLst>
                <a:gd name="T0" fmla="*/ 0 w 213"/>
                <a:gd name="T1" fmla="*/ 0 h 1"/>
                <a:gd name="T2" fmla="*/ 213 w 213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3" h="1">
                  <a:moveTo>
                    <a:pt x="0" y="0"/>
                  </a:moveTo>
                  <a:lnTo>
                    <a:pt x="21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9" name="矩形 88"/>
          <p:cNvSpPr/>
          <p:nvPr/>
        </p:nvSpPr>
        <p:spPr>
          <a:xfrm>
            <a:off x="7436848" y="99621"/>
            <a:ext cx="156645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600" dirty="0" smtClean="0">
                <a:solidFill>
                  <a:prstClr val="black"/>
                </a:solidFill>
                <a:latin typeface="Times New Roman" pitchFamily="18" charset="0"/>
              </a:rPr>
              <a:t>2K</a:t>
            </a:r>
            <a:r>
              <a:rPr lang="en-US" altLang="zh-CN" sz="900" dirty="0" smtClean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sz="2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 altLang="zh-CN" sz="9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6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zh-CN" altLang="en-US" sz="2600" dirty="0">
                <a:solidFill>
                  <a:prstClr val="black"/>
                </a:solidFill>
                <a:latin typeface="Times New Roman" pitchFamily="18" charset="0"/>
              </a:rPr>
              <a:t>位 </a:t>
            </a:r>
            <a:endParaRPr lang="zh-CN" altLang="en-US" dirty="0"/>
          </a:p>
        </p:txBody>
      </p:sp>
      <p:sp>
        <p:nvSpPr>
          <p:cNvPr id="90" name="矩形 89"/>
          <p:cNvSpPr/>
          <p:nvPr/>
        </p:nvSpPr>
        <p:spPr>
          <a:xfrm>
            <a:off x="7436848" y="675145"/>
            <a:ext cx="153760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2600" dirty="0">
                <a:solidFill>
                  <a:prstClr val="black"/>
                </a:solidFill>
                <a:latin typeface="Times New Roman" pitchFamily="18" charset="0"/>
              </a:rPr>
              <a:t>K</a:t>
            </a:r>
            <a:r>
              <a:rPr lang="en-US" altLang="zh-CN" sz="900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sz="2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×8</a:t>
            </a:r>
            <a:r>
              <a:rPr lang="zh-CN" altLang="en-US" sz="2600" dirty="0" smtClean="0">
                <a:solidFill>
                  <a:prstClr val="black"/>
                </a:solidFill>
                <a:latin typeface="Times New Roman" pitchFamily="18" charset="0"/>
              </a:rPr>
              <a:t>位 </a:t>
            </a:r>
            <a:endParaRPr lang="zh-CN" altLang="en-US" dirty="0"/>
          </a:p>
        </p:txBody>
      </p:sp>
      <p:cxnSp>
        <p:nvCxnSpPr>
          <p:cNvPr id="91" name="直接连接符 90"/>
          <p:cNvCxnSpPr/>
          <p:nvPr/>
        </p:nvCxnSpPr>
        <p:spPr>
          <a:xfrm>
            <a:off x="7382791" y="614345"/>
            <a:ext cx="16149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91"/>
          <p:cNvSpPr/>
          <p:nvPr/>
        </p:nvSpPr>
        <p:spPr>
          <a:xfrm>
            <a:off x="6870621" y="1115962"/>
            <a:ext cx="2199641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600" b="1" smtClean="0">
                <a:solidFill>
                  <a:srgbClr val="FF0000"/>
                </a:solidFill>
                <a:latin typeface="Times New Roman" pitchFamily="18" charset="0"/>
              </a:rPr>
              <a:t>=2</a:t>
            </a:r>
            <a:r>
              <a:rPr lang="zh-CN" altLang="en-US" sz="2600" b="1" smtClean="0">
                <a:solidFill>
                  <a:srgbClr val="FF0000"/>
                </a:solidFill>
                <a:latin typeface="Times New Roman" pitchFamily="18" charset="0"/>
              </a:rPr>
              <a:t>组</a:t>
            </a:r>
            <a:r>
              <a:rPr lang="en-US" altLang="zh-CN" sz="900" b="1" smtClean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sz="26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 altLang="zh-CN" sz="9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600" b="1" smtClean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zh-CN" altLang="en-US" sz="2600" b="1" smtClean="0">
                <a:solidFill>
                  <a:srgbClr val="FF0000"/>
                </a:solidFill>
                <a:latin typeface="Times New Roman" pitchFamily="18" charset="0"/>
              </a:rPr>
              <a:t>片</a:t>
            </a:r>
            <a:r>
              <a:rPr lang="en-US" altLang="zh-CN" sz="2600" b="1" smtClean="0">
                <a:solidFill>
                  <a:srgbClr val="FF0000"/>
                </a:solidFill>
                <a:latin typeface="Times New Roman" pitchFamily="18" charset="0"/>
              </a:rPr>
              <a:t>/</a:t>
            </a:r>
            <a:r>
              <a:rPr lang="zh-CN" altLang="en-US" sz="2600" b="1" smtClean="0">
                <a:solidFill>
                  <a:srgbClr val="FF0000"/>
                </a:solidFill>
                <a:latin typeface="Times New Roman" pitchFamily="18" charset="0"/>
              </a:rPr>
              <a:t>组</a:t>
            </a:r>
            <a:endParaRPr lang="en-US" altLang="zh-CN" sz="2600" b="1" smtClean="0">
              <a:solidFill>
                <a:srgbClr val="FF0000"/>
              </a:solidFill>
              <a:latin typeface="Times New Roman" pitchFamily="18" charset="0"/>
            </a:endParaRPr>
          </a:p>
          <a:p>
            <a:r>
              <a:rPr lang="en-US" altLang="zh-CN" sz="2600" b="1" smtClean="0">
                <a:solidFill>
                  <a:srgbClr val="FF0000"/>
                </a:solidFill>
                <a:latin typeface="Times New Roman" pitchFamily="18" charset="0"/>
              </a:rPr>
              <a:t>=2</a:t>
            </a:r>
            <a:r>
              <a:rPr lang="zh-CN" altLang="en-US" sz="2600" b="1" smtClean="0">
                <a:solidFill>
                  <a:srgbClr val="FF0000"/>
                </a:solidFill>
                <a:latin typeface="Times New Roman" pitchFamily="18" charset="0"/>
              </a:rPr>
              <a:t>片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46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2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utoUpdateAnimBg="0"/>
      <p:bldP spid="114" grpId="0"/>
      <p:bldP spid="115" grpId="0"/>
      <p:bldP spid="89" grpId="0"/>
      <p:bldP spid="90" grpId="0"/>
      <p:bldP spid="9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mtClean="0"/>
              <a:t>★</a:t>
            </a:r>
            <a:r>
              <a:rPr lang="zh-CN" altLang="en-US" smtClean="0"/>
              <a:t>六、</a:t>
            </a:r>
            <a:r>
              <a:rPr lang="zh-CN" altLang="en-US" dirty="0" smtClean="0"/>
              <a:t>存储器容量</a:t>
            </a:r>
            <a:r>
              <a:rPr lang="zh-CN" altLang="en-US" dirty="0"/>
              <a:t>的</a:t>
            </a:r>
            <a:r>
              <a:rPr lang="zh-CN" altLang="en-US" dirty="0" smtClean="0"/>
              <a:t>扩展</a:t>
            </a:r>
            <a:endParaRPr lang="zh-CN" altLang="en-US" dirty="0"/>
          </a:p>
        </p:txBody>
      </p:sp>
      <p:grpSp>
        <p:nvGrpSpPr>
          <p:cNvPr id="89" name="Group 2"/>
          <p:cNvGrpSpPr>
            <a:grpSpLocks/>
          </p:cNvGrpSpPr>
          <p:nvPr/>
        </p:nvGrpSpPr>
        <p:grpSpPr bwMode="auto">
          <a:xfrm>
            <a:off x="1933575" y="4679950"/>
            <a:ext cx="6505575" cy="1662113"/>
            <a:chOff x="1218" y="2948"/>
            <a:chExt cx="4098" cy="1047"/>
          </a:xfrm>
        </p:grpSpPr>
        <p:sp>
          <p:nvSpPr>
            <p:cNvPr id="90" name="Line 3"/>
            <p:cNvSpPr>
              <a:spLocks noChangeShapeType="1"/>
            </p:cNvSpPr>
            <p:nvPr/>
          </p:nvSpPr>
          <p:spPr bwMode="auto">
            <a:xfrm>
              <a:off x="1218" y="2952"/>
              <a:ext cx="1" cy="104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4"/>
            <p:cNvSpPr>
              <a:spLocks noChangeShapeType="1"/>
            </p:cNvSpPr>
            <p:nvPr/>
          </p:nvSpPr>
          <p:spPr bwMode="auto">
            <a:xfrm>
              <a:off x="1798" y="2952"/>
              <a:ext cx="1" cy="104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5"/>
            <p:cNvSpPr>
              <a:spLocks noChangeShapeType="1"/>
            </p:cNvSpPr>
            <p:nvPr/>
          </p:nvSpPr>
          <p:spPr bwMode="auto">
            <a:xfrm>
              <a:off x="2368" y="2952"/>
              <a:ext cx="1" cy="104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6"/>
            <p:cNvSpPr>
              <a:spLocks noChangeShapeType="1"/>
            </p:cNvSpPr>
            <p:nvPr/>
          </p:nvSpPr>
          <p:spPr bwMode="auto">
            <a:xfrm>
              <a:off x="2951" y="2952"/>
              <a:ext cx="1" cy="104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7"/>
            <p:cNvSpPr>
              <a:spLocks noChangeShapeType="1"/>
            </p:cNvSpPr>
            <p:nvPr/>
          </p:nvSpPr>
          <p:spPr bwMode="auto">
            <a:xfrm>
              <a:off x="3567" y="2952"/>
              <a:ext cx="1" cy="104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Line 8"/>
            <p:cNvSpPr>
              <a:spLocks noChangeShapeType="1"/>
            </p:cNvSpPr>
            <p:nvPr/>
          </p:nvSpPr>
          <p:spPr bwMode="auto">
            <a:xfrm>
              <a:off x="4162" y="2952"/>
              <a:ext cx="1" cy="104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9"/>
            <p:cNvSpPr>
              <a:spLocks noChangeShapeType="1"/>
            </p:cNvSpPr>
            <p:nvPr/>
          </p:nvSpPr>
          <p:spPr bwMode="auto">
            <a:xfrm>
              <a:off x="4732" y="2952"/>
              <a:ext cx="1" cy="104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10"/>
            <p:cNvSpPr>
              <a:spLocks noChangeShapeType="1"/>
            </p:cNvSpPr>
            <p:nvPr/>
          </p:nvSpPr>
          <p:spPr bwMode="auto">
            <a:xfrm>
              <a:off x="5315" y="2948"/>
              <a:ext cx="1" cy="10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8" name="Text Box 11"/>
          <p:cNvSpPr txBox="1">
            <a:spLocks noChangeArrowheads="1"/>
          </p:cNvSpPr>
          <p:nvPr/>
        </p:nvSpPr>
        <p:spPr bwMode="auto">
          <a:xfrm>
            <a:off x="85726" y="1091708"/>
            <a:ext cx="6858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3200" dirty="0" smtClean="0">
                <a:latin typeface="Times New Roman" pitchFamily="18" charset="0"/>
              </a:rPr>
              <a:t>3</a:t>
            </a:r>
            <a:r>
              <a:rPr lang="zh-CN" altLang="en-US" sz="3200" dirty="0" smtClean="0">
                <a:latin typeface="Times New Roman" pitchFamily="18" charset="0"/>
              </a:rPr>
              <a:t>、字</a:t>
            </a:r>
            <a:r>
              <a:rPr lang="zh-CN" altLang="en-US" sz="3200" dirty="0">
                <a:latin typeface="Times New Roman" pitchFamily="18" charset="0"/>
              </a:rPr>
              <a:t>、位扩展</a:t>
            </a:r>
            <a:endParaRPr lang="en-US" altLang="zh-CN" sz="3200" dirty="0">
              <a:latin typeface="Times New Roman" pitchFamily="18" charset="0"/>
            </a:endParaRPr>
          </a:p>
        </p:txBody>
      </p:sp>
      <p:sp>
        <p:nvSpPr>
          <p:cNvPr id="99" name="Text Box 12"/>
          <p:cNvSpPr txBox="1">
            <a:spLocks noChangeArrowheads="1"/>
          </p:cNvSpPr>
          <p:nvPr/>
        </p:nvSpPr>
        <p:spPr bwMode="auto">
          <a:xfrm>
            <a:off x="785813" y="1620779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itchFamily="18" charset="0"/>
              </a:rPr>
              <a:t>用        1</a:t>
            </a:r>
            <a:r>
              <a:rPr lang="en-US" altLang="zh-CN" sz="2800" dirty="0">
                <a:latin typeface="Times New Roman" pitchFamily="18" charset="0"/>
              </a:rPr>
              <a:t>K</a:t>
            </a:r>
            <a:r>
              <a:rPr lang="en-US" altLang="zh-CN" sz="900" dirty="0">
                <a:latin typeface="Times New Roman" pitchFamily="18" charset="0"/>
              </a:rPr>
              <a:t> 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 altLang="zh-CN" sz="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800" dirty="0">
                <a:latin typeface="Times New Roman" pitchFamily="18" charset="0"/>
              </a:rPr>
              <a:t>4位 存储芯片组成 4</a:t>
            </a:r>
            <a:r>
              <a:rPr lang="en-US" altLang="zh-CN" sz="2800" dirty="0">
                <a:latin typeface="Times New Roman" pitchFamily="18" charset="0"/>
              </a:rPr>
              <a:t>K</a:t>
            </a:r>
            <a:r>
              <a:rPr lang="en-US" altLang="zh-CN" sz="900" dirty="0">
                <a:latin typeface="Times New Roman" pitchFamily="18" charset="0"/>
              </a:rPr>
              <a:t> 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 altLang="zh-CN" sz="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800" dirty="0">
                <a:latin typeface="Times New Roman" pitchFamily="18" charset="0"/>
              </a:rPr>
              <a:t>8</a:t>
            </a:r>
            <a:r>
              <a:rPr lang="zh-CN" altLang="en-US" sz="2800" dirty="0">
                <a:latin typeface="Times New Roman" pitchFamily="18" charset="0"/>
              </a:rPr>
              <a:t>位 的存储器</a:t>
            </a:r>
          </a:p>
        </p:txBody>
      </p:sp>
      <p:grpSp>
        <p:nvGrpSpPr>
          <p:cNvPr id="100" name="Group 13"/>
          <p:cNvGrpSpPr>
            <a:grpSpLocks/>
          </p:cNvGrpSpPr>
          <p:nvPr/>
        </p:nvGrpSpPr>
        <p:grpSpPr bwMode="auto">
          <a:xfrm>
            <a:off x="4972731" y="936770"/>
            <a:ext cx="1447120" cy="533400"/>
            <a:chOff x="4176" y="1067"/>
            <a:chExt cx="1296" cy="336"/>
          </a:xfrm>
        </p:grpSpPr>
        <p:sp>
          <p:nvSpPr>
            <p:cNvPr id="101" name="AutoShape 14"/>
            <p:cNvSpPr>
              <a:spLocks noChangeArrowheads="1"/>
            </p:cNvSpPr>
            <p:nvPr/>
          </p:nvSpPr>
          <p:spPr bwMode="auto">
            <a:xfrm>
              <a:off x="4176" y="1067"/>
              <a:ext cx="1296" cy="336"/>
            </a:xfrm>
            <a:prstGeom prst="wedgeRoundRectCallout">
              <a:avLst>
                <a:gd name="adj1" fmla="val -25040"/>
                <a:gd name="adj2" fmla="val 218839"/>
                <a:gd name="adj3" fmla="val 16667"/>
              </a:avLst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50000"/>
                </a:spcBef>
              </a:pPr>
              <a:endParaRPr lang="zh-CN" altLang="en-US" sz="2800">
                <a:latin typeface="Times New Roman" pitchFamily="18" charset="0"/>
              </a:endParaRPr>
            </a:p>
          </p:txBody>
        </p:sp>
        <p:sp>
          <p:nvSpPr>
            <p:cNvPr id="102" name="Text Box 15"/>
            <p:cNvSpPr txBox="1">
              <a:spLocks noChangeArrowheads="1"/>
            </p:cNvSpPr>
            <p:nvPr/>
          </p:nvSpPr>
          <p:spPr bwMode="auto">
            <a:xfrm>
              <a:off x="4201" y="1073"/>
              <a:ext cx="1271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600" dirty="0" smtClean="0">
                  <a:latin typeface="Times New Roman" pitchFamily="18" charset="0"/>
                </a:rPr>
                <a:t>字扩展</a:t>
              </a:r>
              <a:endParaRPr lang="zh-CN" altLang="en-US" sz="2600" dirty="0">
                <a:latin typeface="Times New Roman" pitchFamily="18" charset="0"/>
              </a:endParaRPr>
            </a:p>
          </p:txBody>
        </p:sp>
      </p:grpSp>
      <p:grpSp>
        <p:nvGrpSpPr>
          <p:cNvPr id="103" name="Group 16"/>
          <p:cNvGrpSpPr>
            <a:grpSpLocks/>
          </p:cNvGrpSpPr>
          <p:nvPr/>
        </p:nvGrpSpPr>
        <p:grpSpPr bwMode="auto">
          <a:xfrm>
            <a:off x="3019158" y="982711"/>
            <a:ext cx="1379805" cy="533400"/>
            <a:chOff x="2384" y="1064"/>
            <a:chExt cx="1385" cy="336"/>
          </a:xfrm>
        </p:grpSpPr>
        <p:sp>
          <p:nvSpPr>
            <p:cNvPr id="104" name="AutoShape 17"/>
            <p:cNvSpPr>
              <a:spLocks noChangeArrowheads="1"/>
            </p:cNvSpPr>
            <p:nvPr/>
          </p:nvSpPr>
          <p:spPr bwMode="auto">
            <a:xfrm>
              <a:off x="2427" y="1064"/>
              <a:ext cx="1342" cy="336"/>
            </a:xfrm>
            <a:prstGeom prst="wedgeRoundRectCallout">
              <a:avLst>
                <a:gd name="adj1" fmla="val -19262"/>
                <a:gd name="adj2" fmla="val 210015"/>
                <a:gd name="adj3" fmla="val 16667"/>
              </a:avLst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Ins="0"/>
            <a:lstStyle/>
            <a:p>
              <a:pPr>
                <a:spcBef>
                  <a:spcPct val="50000"/>
                </a:spcBef>
              </a:pPr>
              <a:endParaRPr lang="en-US" altLang="zh-CN" sz="2800">
                <a:latin typeface="Times New Roman" pitchFamily="18" charset="0"/>
              </a:endParaRPr>
            </a:p>
          </p:txBody>
        </p:sp>
        <p:sp>
          <p:nvSpPr>
            <p:cNvPr id="105" name="Text Box 18"/>
            <p:cNvSpPr txBox="1">
              <a:spLocks noChangeArrowheads="1"/>
            </p:cNvSpPr>
            <p:nvPr/>
          </p:nvSpPr>
          <p:spPr bwMode="auto">
            <a:xfrm>
              <a:off x="2384" y="1064"/>
              <a:ext cx="1385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600" dirty="0" smtClean="0">
                  <a:latin typeface="Times New Roman" pitchFamily="18" charset="0"/>
                </a:rPr>
                <a:t>位扩展</a:t>
              </a:r>
              <a:endParaRPr lang="zh-CN" altLang="en-US" sz="2600" dirty="0">
                <a:latin typeface="Times New Roman" pitchFamily="18" charset="0"/>
              </a:endParaRPr>
            </a:p>
          </p:txBody>
        </p:sp>
      </p:grpSp>
      <p:sp>
        <p:nvSpPr>
          <p:cNvPr id="192" name="Rectangle 19"/>
          <p:cNvSpPr>
            <a:spLocks noChangeArrowheads="1"/>
          </p:cNvSpPr>
          <p:nvPr/>
        </p:nvSpPr>
        <p:spPr bwMode="auto">
          <a:xfrm>
            <a:off x="8424863" y="2697163"/>
            <a:ext cx="320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3" name="Group 20"/>
          <p:cNvGrpSpPr>
            <a:grpSpLocks/>
          </p:cNvGrpSpPr>
          <p:nvPr/>
        </p:nvGrpSpPr>
        <p:grpSpPr bwMode="auto">
          <a:xfrm>
            <a:off x="588963" y="6337300"/>
            <a:ext cx="8115300" cy="274638"/>
            <a:chOff x="371" y="3992"/>
            <a:chExt cx="5112" cy="173"/>
          </a:xfrm>
        </p:grpSpPr>
        <p:sp>
          <p:nvSpPr>
            <p:cNvPr id="194" name="Rectangle 21"/>
            <p:cNvSpPr>
              <a:spLocks noChangeArrowheads="1"/>
            </p:cNvSpPr>
            <p:nvPr/>
          </p:nvSpPr>
          <p:spPr bwMode="auto">
            <a:xfrm>
              <a:off x="395" y="3992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WE</a:t>
              </a:r>
            </a:p>
          </p:txBody>
        </p:sp>
        <p:sp>
          <p:nvSpPr>
            <p:cNvPr id="195" name="Line 22"/>
            <p:cNvSpPr>
              <a:spLocks noChangeShapeType="1"/>
            </p:cNvSpPr>
            <p:nvPr/>
          </p:nvSpPr>
          <p:spPr bwMode="auto">
            <a:xfrm>
              <a:off x="677" y="3998"/>
              <a:ext cx="4806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Line 23"/>
            <p:cNvSpPr>
              <a:spLocks noChangeShapeType="1"/>
            </p:cNvSpPr>
            <p:nvPr/>
          </p:nvSpPr>
          <p:spPr bwMode="auto">
            <a:xfrm>
              <a:off x="371" y="3996"/>
              <a:ext cx="24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7" name="Group 24"/>
          <p:cNvGrpSpPr>
            <a:grpSpLocks/>
          </p:cNvGrpSpPr>
          <p:nvPr/>
        </p:nvGrpSpPr>
        <p:grpSpPr bwMode="auto">
          <a:xfrm>
            <a:off x="609600" y="3213100"/>
            <a:ext cx="8094663" cy="1236663"/>
            <a:chOff x="384" y="2024"/>
            <a:chExt cx="5099" cy="779"/>
          </a:xfrm>
        </p:grpSpPr>
        <p:sp>
          <p:nvSpPr>
            <p:cNvPr id="198" name="Rectangle 25"/>
            <p:cNvSpPr>
              <a:spLocks noChangeArrowheads="1"/>
            </p:cNvSpPr>
            <p:nvPr/>
          </p:nvSpPr>
          <p:spPr bwMode="auto">
            <a:xfrm>
              <a:off x="395" y="2146"/>
              <a:ext cx="15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A</a:t>
              </a:r>
              <a:r>
                <a:rPr lang="en-US" altLang="zh-CN" sz="1800" baseline="-25000">
                  <a:latin typeface="Times New Roman" pitchFamily="18" charset="0"/>
                </a:rPr>
                <a:t>8</a:t>
              </a:r>
              <a:endParaRPr lang="en-US" altLang="zh-CN" sz="1800">
                <a:latin typeface="Times New Roman" pitchFamily="18" charset="0"/>
              </a:endParaRPr>
            </a:p>
          </p:txBody>
        </p:sp>
        <p:grpSp>
          <p:nvGrpSpPr>
            <p:cNvPr id="199" name="Group 26"/>
            <p:cNvGrpSpPr>
              <a:grpSpLocks/>
            </p:cNvGrpSpPr>
            <p:nvPr/>
          </p:nvGrpSpPr>
          <p:grpSpPr bwMode="auto">
            <a:xfrm>
              <a:off x="384" y="2024"/>
              <a:ext cx="5099" cy="779"/>
              <a:chOff x="384" y="2024"/>
              <a:chExt cx="5099" cy="779"/>
            </a:xfrm>
          </p:grpSpPr>
          <p:sp>
            <p:nvSpPr>
              <p:cNvPr id="200" name="Line 27"/>
              <p:cNvSpPr>
                <a:spLocks noChangeShapeType="1"/>
              </p:cNvSpPr>
              <p:nvPr/>
            </p:nvSpPr>
            <p:spPr bwMode="auto">
              <a:xfrm>
                <a:off x="677" y="2174"/>
                <a:ext cx="4806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1" name="Line 28"/>
              <p:cNvSpPr>
                <a:spLocks noChangeShapeType="1"/>
              </p:cNvSpPr>
              <p:nvPr/>
            </p:nvSpPr>
            <p:spPr bwMode="auto">
              <a:xfrm>
                <a:off x="677" y="2268"/>
                <a:ext cx="4806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2" name="Freeform 29"/>
              <p:cNvSpPr>
                <a:spLocks/>
              </p:cNvSpPr>
              <p:nvPr/>
            </p:nvSpPr>
            <p:spPr bwMode="auto">
              <a:xfrm>
                <a:off x="677" y="2553"/>
                <a:ext cx="4806" cy="1"/>
              </a:xfrm>
              <a:custGeom>
                <a:avLst/>
                <a:gdLst>
                  <a:gd name="T0" fmla="*/ 0 w 4649"/>
                  <a:gd name="T1" fmla="*/ 0 h 1"/>
                  <a:gd name="T2" fmla="*/ 4649 w 4649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649" h="1">
                    <a:moveTo>
                      <a:pt x="0" y="0"/>
                    </a:moveTo>
                    <a:lnTo>
                      <a:pt x="4649" y="0"/>
                    </a:lnTo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3" name="Rectangle 30"/>
              <p:cNvSpPr>
                <a:spLocks noChangeArrowheads="1"/>
              </p:cNvSpPr>
              <p:nvPr/>
            </p:nvSpPr>
            <p:spPr bwMode="auto">
              <a:xfrm>
                <a:off x="395" y="2024"/>
                <a:ext cx="15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800">
                    <a:latin typeface="Times New Roman" pitchFamily="18" charset="0"/>
                  </a:rPr>
                  <a:t>A</a:t>
                </a:r>
                <a:r>
                  <a:rPr lang="en-US" altLang="zh-CN" sz="1800" baseline="-25000">
                    <a:latin typeface="Times New Roman" pitchFamily="18" charset="0"/>
                  </a:rPr>
                  <a:t>9</a:t>
                </a:r>
                <a:endParaRPr lang="en-US" altLang="zh-CN" sz="1800">
                  <a:latin typeface="Times New Roman" pitchFamily="18" charset="0"/>
                </a:endParaRPr>
              </a:p>
            </p:txBody>
          </p:sp>
          <p:sp>
            <p:nvSpPr>
              <p:cNvPr id="204" name="Rectangle 31"/>
              <p:cNvSpPr>
                <a:spLocks noChangeArrowheads="1"/>
              </p:cNvSpPr>
              <p:nvPr/>
            </p:nvSpPr>
            <p:spPr bwMode="auto">
              <a:xfrm>
                <a:off x="395" y="2457"/>
                <a:ext cx="152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800">
                    <a:latin typeface="Times New Roman" pitchFamily="18" charset="0"/>
                  </a:rPr>
                  <a:t>A</a:t>
                </a:r>
                <a:r>
                  <a:rPr lang="en-US" altLang="zh-CN" sz="1800" baseline="-25000">
                    <a:latin typeface="Times New Roman" pitchFamily="18" charset="0"/>
                  </a:rPr>
                  <a:t>0</a:t>
                </a:r>
              </a:p>
              <a:p>
                <a:pPr algn="ctr">
                  <a:spcBef>
                    <a:spcPct val="0"/>
                  </a:spcBef>
                </a:pPr>
                <a:endParaRPr lang="en-US" altLang="zh-CN" sz="1800">
                  <a:latin typeface="Times New Roman" pitchFamily="18" charset="0"/>
                </a:endParaRPr>
              </a:p>
            </p:txBody>
          </p:sp>
          <p:sp>
            <p:nvSpPr>
              <p:cNvPr id="205" name="Text Box 32"/>
              <p:cNvSpPr txBox="1">
                <a:spLocks noChangeArrowheads="1"/>
              </p:cNvSpPr>
              <p:nvPr/>
            </p:nvSpPr>
            <p:spPr bwMode="auto">
              <a:xfrm>
                <a:off x="384" y="2286"/>
                <a:ext cx="252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eaVert" lIns="18000" rIns="1800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2400">
                    <a:latin typeface="Times New Roman" pitchFamily="18" charset="0"/>
                    <a:cs typeface="Times New Roman" pitchFamily="18" charset="0"/>
                  </a:rPr>
                  <a:t>...</a:t>
                </a:r>
                <a:endParaRPr lang="zh-CN" alt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206" name="Group 33"/>
          <p:cNvGrpSpPr>
            <a:grpSpLocks/>
          </p:cNvGrpSpPr>
          <p:nvPr/>
        </p:nvGrpSpPr>
        <p:grpSpPr bwMode="auto">
          <a:xfrm>
            <a:off x="590550" y="5048250"/>
            <a:ext cx="8120063" cy="1533525"/>
            <a:chOff x="372" y="3180"/>
            <a:chExt cx="5115" cy="966"/>
          </a:xfrm>
        </p:grpSpPr>
        <p:grpSp>
          <p:nvGrpSpPr>
            <p:cNvPr id="207" name="Group 34"/>
            <p:cNvGrpSpPr>
              <a:grpSpLocks/>
            </p:cNvGrpSpPr>
            <p:nvPr/>
          </p:nvGrpSpPr>
          <p:grpSpPr bwMode="auto">
            <a:xfrm>
              <a:off x="672" y="3335"/>
              <a:ext cx="4815" cy="567"/>
              <a:chOff x="672" y="3335"/>
              <a:chExt cx="4815" cy="567"/>
            </a:xfrm>
          </p:grpSpPr>
          <p:sp>
            <p:nvSpPr>
              <p:cNvPr id="212" name="Freeform 35"/>
              <p:cNvSpPr>
                <a:spLocks/>
              </p:cNvSpPr>
              <p:nvPr/>
            </p:nvSpPr>
            <p:spPr bwMode="auto">
              <a:xfrm>
                <a:off x="677" y="3335"/>
                <a:ext cx="4806" cy="1"/>
              </a:xfrm>
              <a:custGeom>
                <a:avLst/>
                <a:gdLst>
                  <a:gd name="T0" fmla="*/ 0 w 4659"/>
                  <a:gd name="T1" fmla="*/ 1 h 1"/>
                  <a:gd name="T2" fmla="*/ 4659 w 4659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659" h="1">
                    <a:moveTo>
                      <a:pt x="0" y="1"/>
                    </a:moveTo>
                    <a:lnTo>
                      <a:pt x="4659" y="0"/>
                    </a:lnTo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3" name="Freeform 36"/>
              <p:cNvSpPr>
                <a:spLocks/>
              </p:cNvSpPr>
              <p:nvPr/>
            </p:nvSpPr>
            <p:spPr bwMode="auto">
              <a:xfrm>
                <a:off x="672" y="3411"/>
                <a:ext cx="4815" cy="3"/>
              </a:xfrm>
              <a:custGeom>
                <a:avLst/>
                <a:gdLst>
                  <a:gd name="T0" fmla="*/ 0 w 4815"/>
                  <a:gd name="T1" fmla="*/ 3 h 3"/>
                  <a:gd name="T2" fmla="*/ 4815 w 4815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815" h="3">
                    <a:moveTo>
                      <a:pt x="0" y="3"/>
                    </a:moveTo>
                    <a:lnTo>
                      <a:pt x="4815" y="0"/>
                    </a:lnTo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4" name="Line 37"/>
              <p:cNvSpPr>
                <a:spLocks noChangeShapeType="1"/>
              </p:cNvSpPr>
              <p:nvPr/>
            </p:nvSpPr>
            <p:spPr bwMode="auto">
              <a:xfrm>
                <a:off x="677" y="3492"/>
                <a:ext cx="4806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" name="Line 38"/>
              <p:cNvSpPr>
                <a:spLocks noChangeShapeType="1"/>
              </p:cNvSpPr>
              <p:nvPr/>
            </p:nvSpPr>
            <p:spPr bwMode="auto">
              <a:xfrm>
                <a:off x="677" y="3575"/>
                <a:ext cx="4806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" name="Line 39"/>
              <p:cNvSpPr>
                <a:spLocks noChangeShapeType="1"/>
              </p:cNvSpPr>
              <p:nvPr/>
            </p:nvSpPr>
            <p:spPr bwMode="auto">
              <a:xfrm>
                <a:off x="677" y="3655"/>
                <a:ext cx="4806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7" name="Freeform 40"/>
              <p:cNvSpPr>
                <a:spLocks/>
              </p:cNvSpPr>
              <p:nvPr/>
            </p:nvSpPr>
            <p:spPr bwMode="auto">
              <a:xfrm>
                <a:off x="672" y="3735"/>
                <a:ext cx="4811" cy="4"/>
              </a:xfrm>
              <a:custGeom>
                <a:avLst/>
                <a:gdLst>
                  <a:gd name="T0" fmla="*/ 0 w 4811"/>
                  <a:gd name="T1" fmla="*/ 0 h 4"/>
                  <a:gd name="T2" fmla="*/ 4811 w 4811"/>
                  <a:gd name="T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811" h="4">
                    <a:moveTo>
                      <a:pt x="0" y="0"/>
                    </a:moveTo>
                    <a:lnTo>
                      <a:pt x="4811" y="4"/>
                    </a:lnTo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8" name="Line 41"/>
              <p:cNvSpPr>
                <a:spLocks noChangeShapeType="1"/>
              </p:cNvSpPr>
              <p:nvPr/>
            </p:nvSpPr>
            <p:spPr bwMode="auto">
              <a:xfrm>
                <a:off x="677" y="3818"/>
                <a:ext cx="4806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" name="Line 42"/>
              <p:cNvSpPr>
                <a:spLocks noChangeShapeType="1"/>
              </p:cNvSpPr>
              <p:nvPr/>
            </p:nvSpPr>
            <p:spPr bwMode="auto">
              <a:xfrm>
                <a:off x="677" y="3901"/>
                <a:ext cx="4806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8" name="Group 43"/>
            <p:cNvGrpSpPr>
              <a:grpSpLocks/>
            </p:cNvGrpSpPr>
            <p:nvPr/>
          </p:nvGrpSpPr>
          <p:grpSpPr bwMode="auto">
            <a:xfrm>
              <a:off x="372" y="3180"/>
              <a:ext cx="252" cy="966"/>
              <a:chOff x="372" y="3180"/>
              <a:chExt cx="252" cy="966"/>
            </a:xfrm>
          </p:grpSpPr>
          <p:sp>
            <p:nvSpPr>
              <p:cNvPr id="209" name="Rectangle 44"/>
              <p:cNvSpPr>
                <a:spLocks noChangeArrowheads="1"/>
              </p:cNvSpPr>
              <p:nvPr/>
            </p:nvSpPr>
            <p:spPr bwMode="auto">
              <a:xfrm>
                <a:off x="395" y="3180"/>
                <a:ext cx="15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800">
                    <a:latin typeface="Times New Roman" pitchFamily="18" charset="0"/>
                  </a:rPr>
                  <a:t>D</a:t>
                </a:r>
                <a:r>
                  <a:rPr lang="en-US" altLang="zh-CN" sz="1800" baseline="-25000">
                    <a:latin typeface="Times New Roman" pitchFamily="18" charset="0"/>
                  </a:rPr>
                  <a:t>7</a:t>
                </a:r>
                <a:endParaRPr lang="en-US" altLang="zh-CN" sz="1800">
                  <a:latin typeface="Times New Roman" pitchFamily="18" charset="0"/>
                </a:endParaRPr>
              </a:p>
            </p:txBody>
          </p:sp>
          <p:sp>
            <p:nvSpPr>
              <p:cNvPr id="210" name="Rectangle 45"/>
              <p:cNvSpPr>
                <a:spLocks noChangeArrowheads="1"/>
              </p:cNvSpPr>
              <p:nvPr/>
            </p:nvSpPr>
            <p:spPr bwMode="auto">
              <a:xfrm>
                <a:off x="395" y="3800"/>
                <a:ext cx="152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800">
                    <a:latin typeface="Times New Roman" pitchFamily="18" charset="0"/>
                  </a:rPr>
                  <a:t>D</a:t>
                </a:r>
                <a:r>
                  <a:rPr lang="en-US" altLang="zh-CN" sz="1800" baseline="-25000">
                    <a:latin typeface="Times New Roman" pitchFamily="18" charset="0"/>
                  </a:rPr>
                  <a:t>0</a:t>
                </a:r>
              </a:p>
              <a:p>
                <a:pPr algn="ctr">
                  <a:spcBef>
                    <a:spcPct val="0"/>
                  </a:spcBef>
                </a:pPr>
                <a:endParaRPr lang="en-US" altLang="zh-CN" sz="1800">
                  <a:latin typeface="Times New Roman" pitchFamily="18" charset="0"/>
                </a:endParaRPr>
              </a:p>
            </p:txBody>
          </p:sp>
          <p:sp>
            <p:nvSpPr>
              <p:cNvPr id="211" name="Text Box 46"/>
              <p:cNvSpPr txBox="1">
                <a:spLocks noChangeArrowheads="1"/>
              </p:cNvSpPr>
              <p:nvPr/>
            </p:nvSpPr>
            <p:spPr bwMode="auto">
              <a:xfrm>
                <a:off x="372" y="3359"/>
                <a:ext cx="252" cy="4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eaVert" lIns="18000" rIns="1800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2400">
                    <a:latin typeface="Times New Roman" pitchFamily="18" charset="0"/>
                    <a:cs typeface="Times New Roman" pitchFamily="18" charset="0"/>
                  </a:rPr>
                  <a:t>…</a:t>
                </a:r>
              </a:p>
            </p:txBody>
          </p:sp>
        </p:grpSp>
      </p:grpSp>
      <p:grpSp>
        <p:nvGrpSpPr>
          <p:cNvPr id="220" name="Group 47"/>
          <p:cNvGrpSpPr>
            <a:grpSpLocks/>
          </p:cNvGrpSpPr>
          <p:nvPr/>
        </p:nvGrpSpPr>
        <p:grpSpPr bwMode="auto">
          <a:xfrm>
            <a:off x="1160463" y="4757738"/>
            <a:ext cx="6991350" cy="1457325"/>
            <a:chOff x="731" y="2997"/>
            <a:chExt cx="4404" cy="918"/>
          </a:xfrm>
        </p:grpSpPr>
        <p:sp>
          <p:nvSpPr>
            <p:cNvPr id="221" name="Line 48"/>
            <p:cNvSpPr>
              <a:spLocks noChangeShapeType="1"/>
            </p:cNvSpPr>
            <p:nvPr/>
          </p:nvSpPr>
          <p:spPr bwMode="auto">
            <a:xfrm>
              <a:off x="859" y="3006"/>
              <a:ext cx="1" cy="4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Line 49"/>
            <p:cNvSpPr>
              <a:spLocks noChangeShapeType="1"/>
            </p:cNvSpPr>
            <p:nvPr/>
          </p:nvSpPr>
          <p:spPr bwMode="auto">
            <a:xfrm>
              <a:off x="951" y="3006"/>
              <a:ext cx="1" cy="4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Freeform 50"/>
            <p:cNvSpPr>
              <a:spLocks/>
            </p:cNvSpPr>
            <p:nvPr/>
          </p:nvSpPr>
          <p:spPr bwMode="auto">
            <a:xfrm>
              <a:off x="1041" y="3000"/>
              <a:ext cx="6" cy="582"/>
            </a:xfrm>
            <a:custGeom>
              <a:avLst/>
              <a:gdLst>
                <a:gd name="T0" fmla="*/ 6 w 6"/>
                <a:gd name="T1" fmla="*/ 0 h 582"/>
                <a:gd name="T2" fmla="*/ 0 w 6"/>
                <a:gd name="T3" fmla="*/ 582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" h="582">
                  <a:moveTo>
                    <a:pt x="6" y="0"/>
                  </a:moveTo>
                  <a:lnTo>
                    <a:pt x="0" y="582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Line 51"/>
            <p:cNvSpPr>
              <a:spLocks noChangeShapeType="1"/>
            </p:cNvSpPr>
            <p:nvPr/>
          </p:nvSpPr>
          <p:spPr bwMode="auto">
            <a:xfrm>
              <a:off x="1344" y="3003"/>
              <a:ext cx="1" cy="65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Freeform 52"/>
            <p:cNvSpPr>
              <a:spLocks/>
            </p:cNvSpPr>
            <p:nvPr/>
          </p:nvSpPr>
          <p:spPr bwMode="auto">
            <a:xfrm>
              <a:off x="1437" y="2997"/>
              <a:ext cx="1" cy="745"/>
            </a:xfrm>
            <a:custGeom>
              <a:avLst/>
              <a:gdLst>
                <a:gd name="T0" fmla="*/ 0 w 1"/>
                <a:gd name="T1" fmla="*/ 0 h 745"/>
                <a:gd name="T2" fmla="*/ 0 w 1"/>
                <a:gd name="T3" fmla="*/ 745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45">
                  <a:moveTo>
                    <a:pt x="0" y="0"/>
                  </a:moveTo>
                  <a:lnTo>
                    <a:pt x="0" y="745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Line 53"/>
            <p:cNvSpPr>
              <a:spLocks noChangeShapeType="1"/>
            </p:cNvSpPr>
            <p:nvPr/>
          </p:nvSpPr>
          <p:spPr bwMode="auto">
            <a:xfrm>
              <a:off x="1528" y="3003"/>
              <a:ext cx="1" cy="82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Line 54"/>
            <p:cNvSpPr>
              <a:spLocks noChangeShapeType="1"/>
            </p:cNvSpPr>
            <p:nvPr/>
          </p:nvSpPr>
          <p:spPr bwMode="auto">
            <a:xfrm>
              <a:off x="1620" y="3003"/>
              <a:ext cx="1" cy="9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8" name="Line 55"/>
            <p:cNvSpPr>
              <a:spLocks noChangeShapeType="1"/>
            </p:cNvSpPr>
            <p:nvPr/>
          </p:nvSpPr>
          <p:spPr bwMode="auto">
            <a:xfrm>
              <a:off x="1917" y="3004"/>
              <a:ext cx="1" cy="3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Line 56"/>
            <p:cNvSpPr>
              <a:spLocks noChangeShapeType="1"/>
            </p:cNvSpPr>
            <p:nvPr/>
          </p:nvSpPr>
          <p:spPr bwMode="auto">
            <a:xfrm>
              <a:off x="2009" y="3006"/>
              <a:ext cx="1" cy="4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Line 57"/>
            <p:cNvSpPr>
              <a:spLocks noChangeShapeType="1"/>
            </p:cNvSpPr>
            <p:nvPr/>
          </p:nvSpPr>
          <p:spPr bwMode="auto">
            <a:xfrm flipH="1">
              <a:off x="2101" y="3006"/>
              <a:ext cx="4" cy="4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Line 58"/>
            <p:cNvSpPr>
              <a:spLocks noChangeShapeType="1"/>
            </p:cNvSpPr>
            <p:nvPr/>
          </p:nvSpPr>
          <p:spPr bwMode="auto">
            <a:xfrm>
              <a:off x="2197" y="3006"/>
              <a:ext cx="1" cy="5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Line 59"/>
            <p:cNvSpPr>
              <a:spLocks noChangeShapeType="1"/>
            </p:cNvSpPr>
            <p:nvPr/>
          </p:nvSpPr>
          <p:spPr bwMode="auto">
            <a:xfrm>
              <a:off x="2494" y="3003"/>
              <a:ext cx="1" cy="65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Line 60"/>
            <p:cNvSpPr>
              <a:spLocks noChangeShapeType="1"/>
            </p:cNvSpPr>
            <p:nvPr/>
          </p:nvSpPr>
          <p:spPr bwMode="auto">
            <a:xfrm>
              <a:off x="2586" y="3003"/>
              <a:ext cx="1" cy="7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Line 61"/>
            <p:cNvSpPr>
              <a:spLocks noChangeShapeType="1"/>
            </p:cNvSpPr>
            <p:nvPr/>
          </p:nvSpPr>
          <p:spPr bwMode="auto">
            <a:xfrm>
              <a:off x="2678" y="3003"/>
              <a:ext cx="1" cy="82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Freeform 62"/>
            <p:cNvSpPr>
              <a:spLocks/>
            </p:cNvSpPr>
            <p:nvPr/>
          </p:nvSpPr>
          <p:spPr bwMode="auto">
            <a:xfrm>
              <a:off x="2771" y="3000"/>
              <a:ext cx="3" cy="915"/>
            </a:xfrm>
            <a:custGeom>
              <a:avLst/>
              <a:gdLst>
                <a:gd name="T0" fmla="*/ 3 w 3"/>
                <a:gd name="T1" fmla="*/ 0 h 915"/>
                <a:gd name="T2" fmla="*/ 0 w 3"/>
                <a:gd name="T3" fmla="*/ 915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915">
                  <a:moveTo>
                    <a:pt x="3" y="0"/>
                  </a:moveTo>
                  <a:lnTo>
                    <a:pt x="0" y="915"/>
                  </a:lnTo>
                </a:path>
              </a:pathLst>
            </a:custGeom>
            <a:solidFill>
              <a:srgbClr val="FFFFFF"/>
            </a:solidFill>
            <a:ln w="38100" cmpd="sng">
              <a:solidFill>
                <a:schemeClr val="tx1"/>
              </a:solidFill>
              <a:prstDash val="solid"/>
              <a:round/>
              <a:headEnd/>
              <a:tail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Freeform 63"/>
            <p:cNvSpPr>
              <a:spLocks/>
            </p:cNvSpPr>
            <p:nvPr/>
          </p:nvSpPr>
          <p:spPr bwMode="auto">
            <a:xfrm>
              <a:off x="3131" y="3006"/>
              <a:ext cx="1" cy="318"/>
            </a:xfrm>
            <a:custGeom>
              <a:avLst/>
              <a:gdLst>
                <a:gd name="T0" fmla="*/ 0 w 1"/>
                <a:gd name="T1" fmla="*/ 0 h 318"/>
                <a:gd name="T2" fmla="*/ 1 w 1"/>
                <a:gd name="T3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8">
                  <a:moveTo>
                    <a:pt x="0" y="0"/>
                  </a:moveTo>
                  <a:lnTo>
                    <a:pt x="1" y="318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Line 64"/>
            <p:cNvSpPr>
              <a:spLocks noChangeShapeType="1"/>
            </p:cNvSpPr>
            <p:nvPr/>
          </p:nvSpPr>
          <p:spPr bwMode="auto">
            <a:xfrm>
              <a:off x="3223" y="3003"/>
              <a:ext cx="1" cy="4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Freeform 65"/>
            <p:cNvSpPr>
              <a:spLocks/>
            </p:cNvSpPr>
            <p:nvPr/>
          </p:nvSpPr>
          <p:spPr bwMode="auto">
            <a:xfrm>
              <a:off x="3309" y="2997"/>
              <a:ext cx="6" cy="504"/>
            </a:xfrm>
            <a:custGeom>
              <a:avLst/>
              <a:gdLst>
                <a:gd name="T0" fmla="*/ 6 w 6"/>
                <a:gd name="T1" fmla="*/ 0 h 504"/>
                <a:gd name="T2" fmla="*/ 0 w 6"/>
                <a:gd name="T3" fmla="*/ 504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" h="504">
                  <a:moveTo>
                    <a:pt x="6" y="0"/>
                  </a:moveTo>
                  <a:lnTo>
                    <a:pt x="0" y="504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Line 66"/>
            <p:cNvSpPr>
              <a:spLocks noChangeShapeType="1"/>
            </p:cNvSpPr>
            <p:nvPr/>
          </p:nvSpPr>
          <p:spPr bwMode="auto">
            <a:xfrm>
              <a:off x="3407" y="3003"/>
              <a:ext cx="1" cy="5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Line 67"/>
            <p:cNvSpPr>
              <a:spLocks noChangeShapeType="1"/>
            </p:cNvSpPr>
            <p:nvPr/>
          </p:nvSpPr>
          <p:spPr bwMode="auto">
            <a:xfrm>
              <a:off x="3704" y="3000"/>
              <a:ext cx="1" cy="6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Line 68"/>
            <p:cNvSpPr>
              <a:spLocks noChangeShapeType="1"/>
            </p:cNvSpPr>
            <p:nvPr/>
          </p:nvSpPr>
          <p:spPr bwMode="auto">
            <a:xfrm>
              <a:off x="3796" y="3004"/>
              <a:ext cx="1" cy="7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Line 69"/>
            <p:cNvSpPr>
              <a:spLocks noChangeShapeType="1"/>
            </p:cNvSpPr>
            <p:nvPr/>
          </p:nvSpPr>
          <p:spPr bwMode="auto">
            <a:xfrm flipH="1">
              <a:off x="3888" y="3004"/>
              <a:ext cx="4" cy="8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Line 70"/>
            <p:cNvSpPr>
              <a:spLocks noChangeShapeType="1"/>
            </p:cNvSpPr>
            <p:nvPr/>
          </p:nvSpPr>
          <p:spPr bwMode="auto">
            <a:xfrm>
              <a:off x="3984" y="3000"/>
              <a:ext cx="1" cy="9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Freeform 71"/>
            <p:cNvSpPr>
              <a:spLocks/>
            </p:cNvSpPr>
            <p:nvPr/>
          </p:nvSpPr>
          <p:spPr bwMode="auto">
            <a:xfrm>
              <a:off x="4281" y="3009"/>
              <a:ext cx="1" cy="324"/>
            </a:xfrm>
            <a:custGeom>
              <a:avLst/>
              <a:gdLst>
                <a:gd name="T0" fmla="*/ 0 w 1"/>
                <a:gd name="T1" fmla="*/ 0 h 324"/>
                <a:gd name="T2" fmla="*/ 0 w 1"/>
                <a:gd name="T3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24">
                  <a:moveTo>
                    <a:pt x="0" y="0"/>
                  </a:moveTo>
                  <a:lnTo>
                    <a:pt x="0" y="324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Line 72"/>
            <p:cNvSpPr>
              <a:spLocks noChangeShapeType="1"/>
            </p:cNvSpPr>
            <p:nvPr/>
          </p:nvSpPr>
          <p:spPr bwMode="auto">
            <a:xfrm>
              <a:off x="4373" y="3003"/>
              <a:ext cx="1" cy="4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Line 73"/>
            <p:cNvSpPr>
              <a:spLocks noChangeShapeType="1"/>
            </p:cNvSpPr>
            <p:nvPr/>
          </p:nvSpPr>
          <p:spPr bwMode="auto">
            <a:xfrm>
              <a:off x="4465" y="3003"/>
              <a:ext cx="1" cy="4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Line 74"/>
            <p:cNvSpPr>
              <a:spLocks noChangeShapeType="1"/>
            </p:cNvSpPr>
            <p:nvPr/>
          </p:nvSpPr>
          <p:spPr bwMode="auto">
            <a:xfrm>
              <a:off x="4557" y="3003"/>
              <a:ext cx="1" cy="5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Line 75"/>
            <p:cNvSpPr>
              <a:spLocks noChangeShapeType="1"/>
            </p:cNvSpPr>
            <p:nvPr/>
          </p:nvSpPr>
          <p:spPr bwMode="auto">
            <a:xfrm>
              <a:off x="4854" y="3000"/>
              <a:ext cx="1" cy="6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Line 76"/>
            <p:cNvSpPr>
              <a:spLocks noChangeShapeType="1"/>
            </p:cNvSpPr>
            <p:nvPr/>
          </p:nvSpPr>
          <p:spPr bwMode="auto">
            <a:xfrm>
              <a:off x="4946" y="3004"/>
              <a:ext cx="1" cy="7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Line 77"/>
            <p:cNvSpPr>
              <a:spLocks noChangeShapeType="1"/>
            </p:cNvSpPr>
            <p:nvPr/>
          </p:nvSpPr>
          <p:spPr bwMode="auto">
            <a:xfrm flipH="1">
              <a:off x="5038" y="3004"/>
              <a:ext cx="4" cy="8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Line 78"/>
            <p:cNvSpPr>
              <a:spLocks noChangeShapeType="1"/>
            </p:cNvSpPr>
            <p:nvPr/>
          </p:nvSpPr>
          <p:spPr bwMode="auto">
            <a:xfrm>
              <a:off x="5134" y="3000"/>
              <a:ext cx="1" cy="9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Line 79"/>
            <p:cNvSpPr>
              <a:spLocks noChangeShapeType="1"/>
            </p:cNvSpPr>
            <p:nvPr/>
          </p:nvSpPr>
          <p:spPr bwMode="auto">
            <a:xfrm>
              <a:off x="731" y="3004"/>
              <a:ext cx="1" cy="3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3" name="Group 80"/>
          <p:cNvGrpSpPr>
            <a:grpSpLocks/>
          </p:cNvGrpSpPr>
          <p:nvPr/>
        </p:nvGrpSpPr>
        <p:grpSpPr bwMode="auto">
          <a:xfrm>
            <a:off x="627063" y="2608263"/>
            <a:ext cx="1119187" cy="817562"/>
            <a:chOff x="395" y="1643"/>
            <a:chExt cx="705" cy="515"/>
          </a:xfrm>
        </p:grpSpPr>
        <p:sp>
          <p:nvSpPr>
            <p:cNvPr id="254" name="Rectangle 81"/>
            <p:cNvSpPr>
              <a:spLocks noChangeArrowheads="1"/>
            </p:cNvSpPr>
            <p:nvPr/>
          </p:nvSpPr>
          <p:spPr bwMode="auto">
            <a:xfrm>
              <a:off x="395" y="1643"/>
              <a:ext cx="20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A</a:t>
              </a:r>
              <a:r>
                <a:rPr lang="en-US" altLang="zh-CN" sz="1800" baseline="-25000">
                  <a:latin typeface="Times New Roman" pitchFamily="18" charset="0"/>
                </a:rPr>
                <a:t>11</a:t>
              </a:r>
              <a:endParaRPr lang="en-US" altLang="zh-CN" sz="1800">
                <a:latin typeface="Times New Roman" pitchFamily="18" charset="0"/>
              </a:endParaRPr>
            </a:p>
          </p:txBody>
        </p:sp>
        <p:sp>
          <p:nvSpPr>
            <p:cNvPr id="255" name="Rectangle 82"/>
            <p:cNvSpPr>
              <a:spLocks noChangeArrowheads="1"/>
            </p:cNvSpPr>
            <p:nvPr/>
          </p:nvSpPr>
          <p:spPr bwMode="auto">
            <a:xfrm>
              <a:off x="395" y="1812"/>
              <a:ext cx="325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A</a:t>
              </a:r>
              <a:r>
                <a:rPr lang="en-US" altLang="zh-CN" sz="1800" baseline="-25000">
                  <a:latin typeface="Times New Roman" pitchFamily="18" charset="0"/>
                </a:rPr>
                <a:t>10</a:t>
              </a:r>
            </a:p>
            <a:p>
              <a:pPr>
                <a:spcBef>
                  <a:spcPct val="0"/>
                </a:spcBef>
              </a:pPr>
              <a:endParaRPr lang="en-US" altLang="zh-CN" sz="1800">
                <a:latin typeface="Times New Roman" pitchFamily="18" charset="0"/>
              </a:endParaRPr>
            </a:p>
          </p:txBody>
        </p:sp>
        <p:sp>
          <p:nvSpPr>
            <p:cNvPr id="256" name="Freeform 83"/>
            <p:cNvSpPr>
              <a:spLocks/>
            </p:cNvSpPr>
            <p:nvPr/>
          </p:nvSpPr>
          <p:spPr bwMode="auto">
            <a:xfrm>
              <a:off x="679" y="1742"/>
              <a:ext cx="421" cy="1"/>
            </a:xfrm>
            <a:custGeom>
              <a:avLst/>
              <a:gdLst>
                <a:gd name="T0" fmla="*/ 421 w 421"/>
                <a:gd name="T1" fmla="*/ 0 h 1"/>
                <a:gd name="T2" fmla="*/ 0 w 421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21" h="1">
                  <a:moveTo>
                    <a:pt x="421" y="0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Freeform 84"/>
            <p:cNvSpPr>
              <a:spLocks/>
            </p:cNvSpPr>
            <p:nvPr/>
          </p:nvSpPr>
          <p:spPr bwMode="auto">
            <a:xfrm>
              <a:off x="681" y="1899"/>
              <a:ext cx="411" cy="4"/>
            </a:xfrm>
            <a:custGeom>
              <a:avLst/>
              <a:gdLst>
                <a:gd name="T0" fmla="*/ 411 w 411"/>
                <a:gd name="T1" fmla="*/ 4 h 4"/>
                <a:gd name="T2" fmla="*/ 0 w 411"/>
                <a:gd name="T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11" h="4">
                  <a:moveTo>
                    <a:pt x="411" y="4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8" name="Group 85"/>
          <p:cNvGrpSpPr>
            <a:grpSpLocks/>
          </p:cNvGrpSpPr>
          <p:nvPr/>
        </p:nvGrpSpPr>
        <p:grpSpPr bwMode="auto">
          <a:xfrm>
            <a:off x="1790700" y="3095625"/>
            <a:ext cx="1497013" cy="1403350"/>
            <a:chOff x="1128" y="1950"/>
            <a:chExt cx="943" cy="884"/>
          </a:xfrm>
        </p:grpSpPr>
        <p:sp>
          <p:nvSpPr>
            <p:cNvPr id="259" name="Line 86"/>
            <p:cNvSpPr>
              <a:spLocks noChangeShapeType="1"/>
            </p:cNvSpPr>
            <p:nvPr/>
          </p:nvSpPr>
          <p:spPr bwMode="auto">
            <a:xfrm flipV="1">
              <a:off x="1705" y="2821"/>
              <a:ext cx="104" cy="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0" name="Group 87"/>
            <p:cNvGrpSpPr>
              <a:grpSpLocks/>
            </p:cNvGrpSpPr>
            <p:nvPr/>
          </p:nvGrpSpPr>
          <p:grpSpPr bwMode="auto">
            <a:xfrm>
              <a:off x="1128" y="1950"/>
              <a:ext cx="943" cy="884"/>
              <a:chOff x="1128" y="1950"/>
              <a:chExt cx="943" cy="884"/>
            </a:xfrm>
          </p:grpSpPr>
          <p:sp>
            <p:nvSpPr>
              <p:cNvPr id="261" name="Freeform 88"/>
              <p:cNvSpPr>
                <a:spLocks/>
              </p:cNvSpPr>
              <p:nvPr/>
            </p:nvSpPr>
            <p:spPr bwMode="auto">
              <a:xfrm>
                <a:off x="1467" y="1950"/>
                <a:ext cx="339" cy="6"/>
              </a:xfrm>
              <a:custGeom>
                <a:avLst/>
                <a:gdLst>
                  <a:gd name="T0" fmla="*/ 0 w 339"/>
                  <a:gd name="T1" fmla="*/ 6 h 6"/>
                  <a:gd name="T2" fmla="*/ 0 w 339"/>
                  <a:gd name="T3" fmla="*/ 0 h 6"/>
                  <a:gd name="T4" fmla="*/ 339 w 33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39" h="6">
                    <a:moveTo>
                      <a:pt x="0" y="6"/>
                    </a:moveTo>
                    <a:lnTo>
                      <a:pt x="0" y="0"/>
                    </a:lnTo>
                    <a:lnTo>
                      <a:pt x="339" y="0"/>
                    </a:lnTo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" name="Freeform 89"/>
              <p:cNvSpPr>
                <a:spLocks/>
              </p:cNvSpPr>
              <p:nvPr/>
            </p:nvSpPr>
            <p:spPr bwMode="auto">
              <a:xfrm>
                <a:off x="1795" y="1950"/>
                <a:ext cx="1" cy="884"/>
              </a:xfrm>
              <a:custGeom>
                <a:avLst/>
                <a:gdLst>
                  <a:gd name="T0" fmla="*/ 1 w 1"/>
                  <a:gd name="T1" fmla="*/ 0 h 861"/>
                  <a:gd name="T2" fmla="*/ 0 w 1"/>
                  <a:gd name="T3" fmla="*/ 861 h 8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861">
                    <a:moveTo>
                      <a:pt x="1" y="0"/>
                    </a:moveTo>
                    <a:lnTo>
                      <a:pt x="0" y="861"/>
                    </a:lnTo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" name="Line 90"/>
              <p:cNvSpPr>
                <a:spLocks noChangeShapeType="1"/>
              </p:cNvSpPr>
              <p:nvPr/>
            </p:nvSpPr>
            <p:spPr bwMode="auto">
              <a:xfrm>
                <a:off x="1128" y="2823"/>
                <a:ext cx="10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4" name="Line 91"/>
              <p:cNvSpPr>
                <a:spLocks noChangeShapeType="1"/>
              </p:cNvSpPr>
              <p:nvPr/>
            </p:nvSpPr>
            <p:spPr bwMode="auto">
              <a:xfrm flipV="1">
                <a:off x="1218" y="2639"/>
                <a:ext cx="1" cy="1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5" name="Line 92"/>
              <p:cNvSpPr>
                <a:spLocks noChangeShapeType="1"/>
              </p:cNvSpPr>
              <p:nvPr/>
            </p:nvSpPr>
            <p:spPr bwMode="auto">
              <a:xfrm>
                <a:off x="1209" y="2639"/>
                <a:ext cx="577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" name="Rectangle 93"/>
              <p:cNvSpPr>
                <a:spLocks noChangeArrowheads="1"/>
              </p:cNvSpPr>
              <p:nvPr/>
            </p:nvSpPr>
            <p:spPr bwMode="auto">
              <a:xfrm>
                <a:off x="1839" y="1954"/>
                <a:ext cx="23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800">
                    <a:latin typeface="Times New Roman" pitchFamily="18" charset="0"/>
                  </a:rPr>
                  <a:t>CS</a:t>
                </a:r>
                <a:r>
                  <a:rPr lang="en-US" altLang="zh-CN" sz="1800" baseline="-25000">
                    <a:latin typeface="Times New Roman" pitchFamily="18" charset="0"/>
                  </a:rPr>
                  <a:t>0</a:t>
                </a:r>
                <a:endParaRPr lang="en-US" altLang="zh-CN" sz="1800">
                  <a:latin typeface="Times New Roman" pitchFamily="18" charset="0"/>
                </a:endParaRPr>
              </a:p>
            </p:txBody>
          </p:sp>
          <p:sp>
            <p:nvSpPr>
              <p:cNvPr id="267" name="Freeform 94"/>
              <p:cNvSpPr>
                <a:spLocks/>
              </p:cNvSpPr>
              <p:nvPr/>
            </p:nvSpPr>
            <p:spPr bwMode="auto">
              <a:xfrm>
                <a:off x="1842" y="1962"/>
                <a:ext cx="195" cy="1"/>
              </a:xfrm>
              <a:custGeom>
                <a:avLst/>
                <a:gdLst>
                  <a:gd name="T0" fmla="*/ 0 w 195"/>
                  <a:gd name="T1" fmla="*/ 0 h 1"/>
                  <a:gd name="T2" fmla="*/ 195 w 19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68" name="Group 95"/>
          <p:cNvGrpSpPr>
            <a:grpSpLocks/>
          </p:cNvGrpSpPr>
          <p:nvPr/>
        </p:nvGrpSpPr>
        <p:grpSpPr bwMode="auto">
          <a:xfrm>
            <a:off x="2328863" y="2971800"/>
            <a:ext cx="2787650" cy="1509713"/>
            <a:chOff x="1467" y="1872"/>
            <a:chExt cx="1756" cy="951"/>
          </a:xfrm>
        </p:grpSpPr>
        <p:sp>
          <p:nvSpPr>
            <p:cNvPr id="269" name="Line 96"/>
            <p:cNvSpPr>
              <a:spLocks noChangeShapeType="1"/>
            </p:cNvSpPr>
            <p:nvPr/>
          </p:nvSpPr>
          <p:spPr bwMode="auto">
            <a:xfrm flipV="1">
              <a:off x="2855" y="2821"/>
              <a:ext cx="104" cy="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70" name="Group 97"/>
            <p:cNvGrpSpPr>
              <a:grpSpLocks/>
            </p:cNvGrpSpPr>
            <p:nvPr/>
          </p:nvGrpSpPr>
          <p:grpSpPr bwMode="auto">
            <a:xfrm>
              <a:off x="1467" y="1872"/>
              <a:ext cx="1756" cy="951"/>
              <a:chOff x="1467" y="1872"/>
              <a:chExt cx="1756" cy="951"/>
            </a:xfrm>
          </p:grpSpPr>
          <p:sp>
            <p:nvSpPr>
              <p:cNvPr id="271" name="Freeform 98"/>
              <p:cNvSpPr>
                <a:spLocks/>
              </p:cNvSpPr>
              <p:nvPr/>
            </p:nvSpPr>
            <p:spPr bwMode="auto">
              <a:xfrm>
                <a:off x="2948" y="1872"/>
                <a:ext cx="1" cy="948"/>
              </a:xfrm>
              <a:custGeom>
                <a:avLst/>
                <a:gdLst>
                  <a:gd name="T0" fmla="*/ 0 w 1"/>
                  <a:gd name="T1" fmla="*/ 948 h 948"/>
                  <a:gd name="T2" fmla="*/ 0 w 1"/>
                  <a:gd name="T3" fmla="*/ 0 h 9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948">
                    <a:moveTo>
                      <a:pt x="0" y="948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2" name="Line 99"/>
              <p:cNvSpPr>
                <a:spLocks noChangeShapeType="1"/>
              </p:cNvSpPr>
              <p:nvPr/>
            </p:nvSpPr>
            <p:spPr bwMode="auto">
              <a:xfrm flipV="1">
                <a:off x="2278" y="2820"/>
                <a:ext cx="104" cy="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3" name="Line 100"/>
              <p:cNvSpPr>
                <a:spLocks noChangeShapeType="1"/>
              </p:cNvSpPr>
              <p:nvPr/>
            </p:nvSpPr>
            <p:spPr bwMode="auto">
              <a:xfrm flipV="1">
                <a:off x="2371" y="2639"/>
                <a:ext cx="1" cy="1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4" name="Line 101"/>
              <p:cNvSpPr>
                <a:spLocks noChangeShapeType="1"/>
              </p:cNvSpPr>
              <p:nvPr/>
            </p:nvSpPr>
            <p:spPr bwMode="auto">
              <a:xfrm>
                <a:off x="2365" y="2639"/>
                <a:ext cx="578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75" name="Group 102"/>
              <p:cNvGrpSpPr>
                <a:grpSpLocks/>
              </p:cNvGrpSpPr>
              <p:nvPr/>
            </p:nvGrpSpPr>
            <p:grpSpPr bwMode="auto">
              <a:xfrm>
                <a:off x="1467" y="1878"/>
                <a:ext cx="1756" cy="249"/>
                <a:chOff x="1467" y="1878"/>
                <a:chExt cx="1756" cy="249"/>
              </a:xfrm>
            </p:grpSpPr>
            <p:sp>
              <p:nvSpPr>
                <p:cNvPr id="276" name="Rectangle 103"/>
                <p:cNvSpPr>
                  <a:spLocks noChangeArrowheads="1"/>
                </p:cNvSpPr>
                <p:nvPr/>
              </p:nvSpPr>
              <p:spPr bwMode="auto">
                <a:xfrm>
                  <a:off x="2991" y="1954"/>
                  <a:ext cx="232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US" altLang="zh-CN" sz="1800">
                      <a:latin typeface="Times New Roman" pitchFamily="18" charset="0"/>
                    </a:rPr>
                    <a:t>CS</a:t>
                  </a:r>
                  <a:r>
                    <a:rPr lang="en-US" altLang="zh-CN" sz="1800" baseline="-25000">
                      <a:latin typeface="Times New Roman" pitchFamily="18" charset="0"/>
                    </a:rPr>
                    <a:t>1</a:t>
                  </a:r>
                  <a:endParaRPr lang="en-US" altLang="zh-CN" sz="1800">
                    <a:latin typeface="Times New Roman" pitchFamily="18" charset="0"/>
                  </a:endParaRPr>
                </a:p>
              </p:txBody>
            </p:sp>
            <p:sp>
              <p:nvSpPr>
                <p:cNvPr id="277" name="Freeform 104"/>
                <p:cNvSpPr>
                  <a:spLocks/>
                </p:cNvSpPr>
                <p:nvPr/>
              </p:nvSpPr>
              <p:spPr bwMode="auto">
                <a:xfrm>
                  <a:off x="1467" y="1878"/>
                  <a:ext cx="1485" cy="1"/>
                </a:xfrm>
                <a:custGeom>
                  <a:avLst/>
                  <a:gdLst>
                    <a:gd name="T0" fmla="*/ 0 w 1485"/>
                    <a:gd name="T1" fmla="*/ 0 h 1"/>
                    <a:gd name="T2" fmla="*/ 1485 w 1485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485" h="1">
                      <a:moveTo>
                        <a:pt x="0" y="0"/>
                      </a:moveTo>
                      <a:lnTo>
                        <a:pt x="1485" y="0"/>
                      </a:lnTo>
                    </a:path>
                  </a:pathLst>
                </a:custGeom>
                <a:solidFill>
                  <a:srgbClr val="FFFFFF"/>
                </a:solidFill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8" name="Freeform 105"/>
                <p:cNvSpPr>
                  <a:spLocks/>
                </p:cNvSpPr>
                <p:nvPr/>
              </p:nvSpPr>
              <p:spPr bwMode="auto">
                <a:xfrm flipV="1">
                  <a:off x="2994" y="1936"/>
                  <a:ext cx="195" cy="27"/>
                </a:xfrm>
                <a:custGeom>
                  <a:avLst/>
                  <a:gdLst>
                    <a:gd name="T0" fmla="*/ 0 w 195"/>
                    <a:gd name="T1" fmla="*/ 0 h 1"/>
                    <a:gd name="T2" fmla="*/ 195 w 195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95" h="1">
                      <a:moveTo>
                        <a:pt x="0" y="0"/>
                      </a:moveTo>
                      <a:lnTo>
                        <a:pt x="195" y="0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79" name="Group 106"/>
          <p:cNvGrpSpPr>
            <a:grpSpLocks/>
          </p:cNvGrpSpPr>
          <p:nvPr/>
        </p:nvGrpSpPr>
        <p:grpSpPr bwMode="auto">
          <a:xfrm>
            <a:off x="2309813" y="2819400"/>
            <a:ext cx="4725987" cy="1662113"/>
            <a:chOff x="1455" y="1776"/>
            <a:chExt cx="2977" cy="1047"/>
          </a:xfrm>
        </p:grpSpPr>
        <p:sp>
          <p:nvSpPr>
            <p:cNvPr id="280" name="Freeform 107"/>
            <p:cNvSpPr>
              <a:spLocks/>
            </p:cNvSpPr>
            <p:nvPr/>
          </p:nvSpPr>
          <p:spPr bwMode="auto">
            <a:xfrm>
              <a:off x="4154" y="1776"/>
              <a:ext cx="6" cy="1044"/>
            </a:xfrm>
            <a:custGeom>
              <a:avLst/>
              <a:gdLst>
                <a:gd name="T0" fmla="*/ 6 w 6"/>
                <a:gd name="T1" fmla="*/ 1044 h 1044"/>
                <a:gd name="T2" fmla="*/ 0 w 6"/>
                <a:gd name="T3" fmla="*/ 0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" h="1044">
                  <a:moveTo>
                    <a:pt x="6" y="1044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" name="Line 108"/>
            <p:cNvSpPr>
              <a:spLocks noChangeShapeType="1"/>
            </p:cNvSpPr>
            <p:nvPr/>
          </p:nvSpPr>
          <p:spPr bwMode="auto">
            <a:xfrm flipV="1">
              <a:off x="3474" y="2814"/>
              <a:ext cx="110" cy="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Line 109"/>
            <p:cNvSpPr>
              <a:spLocks noChangeShapeType="1"/>
            </p:cNvSpPr>
            <p:nvPr/>
          </p:nvSpPr>
          <p:spPr bwMode="auto">
            <a:xfrm flipV="1">
              <a:off x="4069" y="2814"/>
              <a:ext cx="104" cy="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Freeform 110"/>
            <p:cNvSpPr>
              <a:spLocks/>
            </p:cNvSpPr>
            <p:nvPr/>
          </p:nvSpPr>
          <p:spPr bwMode="auto">
            <a:xfrm>
              <a:off x="3573" y="2641"/>
              <a:ext cx="1" cy="182"/>
            </a:xfrm>
            <a:custGeom>
              <a:avLst/>
              <a:gdLst>
                <a:gd name="T0" fmla="*/ 0 w 1"/>
                <a:gd name="T1" fmla="*/ 182 h 182"/>
                <a:gd name="T2" fmla="*/ 1 w 1"/>
                <a:gd name="T3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82">
                  <a:moveTo>
                    <a:pt x="0" y="182"/>
                  </a:move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Line 111"/>
            <p:cNvSpPr>
              <a:spLocks noChangeShapeType="1"/>
            </p:cNvSpPr>
            <p:nvPr/>
          </p:nvSpPr>
          <p:spPr bwMode="auto">
            <a:xfrm>
              <a:off x="3564" y="2628"/>
              <a:ext cx="589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85" name="Group 112"/>
            <p:cNvGrpSpPr>
              <a:grpSpLocks/>
            </p:cNvGrpSpPr>
            <p:nvPr/>
          </p:nvGrpSpPr>
          <p:grpSpPr bwMode="auto">
            <a:xfrm>
              <a:off x="1455" y="1779"/>
              <a:ext cx="2977" cy="348"/>
              <a:chOff x="1455" y="1779"/>
              <a:chExt cx="2977" cy="348"/>
            </a:xfrm>
          </p:grpSpPr>
          <p:sp>
            <p:nvSpPr>
              <p:cNvPr id="286" name="Freeform 113"/>
              <p:cNvSpPr>
                <a:spLocks/>
              </p:cNvSpPr>
              <p:nvPr/>
            </p:nvSpPr>
            <p:spPr bwMode="auto">
              <a:xfrm>
                <a:off x="1455" y="1779"/>
                <a:ext cx="2712" cy="3"/>
              </a:xfrm>
              <a:custGeom>
                <a:avLst/>
                <a:gdLst>
                  <a:gd name="T0" fmla="*/ 0 w 2712"/>
                  <a:gd name="T1" fmla="*/ 0 h 3"/>
                  <a:gd name="T2" fmla="*/ 2712 w 2712"/>
                  <a:gd name="T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712" h="3">
                    <a:moveTo>
                      <a:pt x="0" y="0"/>
                    </a:moveTo>
                    <a:lnTo>
                      <a:pt x="2712" y="3"/>
                    </a:lnTo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" name="Rectangle 114"/>
              <p:cNvSpPr>
                <a:spLocks noChangeArrowheads="1"/>
              </p:cNvSpPr>
              <p:nvPr/>
            </p:nvSpPr>
            <p:spPr bwMode="auto">
              <a:xfrm>
                <a:off x="4200" y="1954"/>
                <a:ext cx="23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800">
                    <a:latin typeface="Times New Roman" pitchFamily="18" charset="0"/>
                  </a:rPr>
                  <a:t>CS</a:t>
                </a:r>
                <a:r>
                  <a:rPr lang="en-US" altLang="zh-CN" sz="1800" baseline="-25000">
                    <a:latin typeface="Times New Roman" pitchFamily="18" charset="0"/>
                  </a:rPr>
                  <a:t>2</a:t>
                </a:r>
                <a:endParaRPr lang="en-US" altLang="zh-CN" sz="1800">
                  <a:latin typeface="Times New Roman" pitchFamily="18" charset="0"/>
                </a:endParaRPr>
              </a:p>
            </p:txBody>
          </p:sp>
          <p:sp>
            <p:nvSpPr>
              <p:cNvPr id="288" name="Freeform 115"/>
              <p:cNvSpPr>
                <a:spLocks/>
              </p:cNvSpPr>
              <p:nvPr/>
            </p:nvSpPr>
            <p:spPr bwMode="auto">
              <a:xfrm flipV="1">
                <a:off x="4200" y="1936"/>
                <a:ext cx="195" cy="27"/>
              </a:xfrm>
              <a:custGeom>
                <a:avLst/>
                <a:gdLst>
                  <a:gd name="T0" fmla="*/ 0 w 195"/>
                  <a:gd name="T1" fmla="*/ 0 h 1"/>
                  <a:gd name="T2" fmla="*/ 195 w 19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89" name="Group 116"/>
          <p:cNvGrpSpPr>
            <a:grpSpLocks/>
          </p:cNvGrpSpPr>
          <p:nvPr/>
        </p:nvGrpSpPr>
        <p:grpSpPr bwMode="auto">
          <a:xfrm>
            <a:off x="2305050" y="2692400"/>
            <a:ext cx="6554788" cy="1778000"/>
            <a:chOff x="1452" y="1696"/>
            <a:chExt cx="4129" cy="1120"/>
          </a:xfrm>
        </p:grpSpPr>
        <p:sp>
          <p:nvSpPr>
            <p:cNvPr id="290" name="Line 117"/>
            <p:cNvSpPr>
              <a:spLocks noChangeShapeType="1"/>
            </p:cNvSpPr>
            <p:nvPr/>
          </p:nvSpPr>
          <p:spPr bwMode="auto">
            <a:xfrm flipV="1">
              <a:off x="4642" y="2814"/>
              <a:ext cx="104" cy="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Line 118"/>
            <p:cNvSpPr>
              <a:spLocks noChangeShapeType="1"/>
            </p:cNvSpPr>
            <p:nvPr/>
          </p:nvSpPr>
          <p:spPr bwMode="auto">
            <a:xfrm flipV="1">
              <a:off x="5219" y="2814"/>
              <a:ext cx="104" cy="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Line 119"/>
            <p:cNvSpPr>
              <a:spLocks noChangeShapeType="1"/>
            </p:cNvSpPr>
            <p:nvPr/>
          </p:nvSpPr>
          <p:spPr bwMode="auto">
            <a:xfrm flipV="1">
              <a:off x="4732" y="2628"/>
              <a:ext cx="1" cy="1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" name="Line 120"/>
            <p:cNvSpPr>
              <a:spLocks noChangeShapeType="1"/>
            </p:cNvSpPr>
            <p:nvPr/>
          </p:nvSpPr>
          <p:spPr bwMode="auto">
            <a:xfrm>
              <a:off x="4726" y="2628"/>
              <a:ext cx="578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" name="Line 121"/>
            <p:cNvSpPr>
              <a:spLocks noChangeShapeType="1"/>
            </p:cNvSpPr>
            <p:nvPr/>
          </p:nvSpPr>
          <p:spPr bwMode="auto">
            <a:xfrm flipH="1" flipV="1">
              <a:off x="5308" y="1696"/>
              <a:ext cx="4" cy="11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95" name="Group 122"/>
            <p:cNvGrpSpPr>
              <a:grpSpLocks/>
            </p:cNvGrpSpPr>
            <p:nvPr/>
          </p:nvGrpSpPr>
          <p:grpSpPr bwMode="auto">
            <a:xfrm>
              <a:off x="1452" y="1698"/>
              <a:ext cx="4129" cy="429"/>
              <a:chOff x="1452" y="1698"/>
              <a:chExt cx="4129" cy="429"/>
            </a:xfrm>
          </p:grpSpPr>
          <p:sp>
            <p:nvSpPr>
              <p:cNvPr id="296" name="Freeform 123"/>
              <p:cNvSpPr>
                <a:spLocks/>
              </p:cNvSpPr>
              <p:nvPr/>
            </p:nvSpPr>
            <p:spPr bwMode="auto">
              <a:xfrm>
                <a:off x="1452" y="1698"/>
                <a:ext cx="3870" cy="1"/>
              </a:xfrm>
              <a:custGeom>
                <a:avLst/>
                <a:gdLst>
                  <a:gd name="T0" fmla="*/ 0 w 3870"/>
                  <a:gd name="T1" fmla="*/ 0 h 1"/>
                  <a:gd name="T2" fmla="*/ 3870 w 387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870" h="1">
                    <a:moveTo>
                      <a:pt x="0" y="0"/>
                    </a:moveTo>
                    <a:lnTo>
                      <a:pt x="3870" y="0"/>
                    </a:lnTo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" name="Rectangle 124"/>
              <p:cNvSpPr>
                <a:spLocks noChangeArrowheads="1"/>
              </p:cNvSpPr>
              <p:nvPr/>
            </p:nvSpPr>
            <p:spPr bwMode="auto">
              <a:xfrm>
                <a:off x="5349" y="1954"/>
                <a:ext cx="23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800">
                    <a:latin typeface="Times New Roman" pitchFamily="18" charset="0"/>
                  </a:rPr>
                  <a:t>CS</a:t>
                </a:r>
                <a:r>
                  <a:rPr lang="en-US" altLang="zh-CN" sz="1800" baseline="-25000">
                    <a:latin typeface="Times New Roman" pitchFamily="18" charset="0"/>
                  </a:rPr>
                  <a:t>3</a:t>
                </a:r>
                <a:endParaRPr lang="en-US" altLang="zh-CN" sz="1800">
                  <a:latin typeface="Times New Roman" pitchFamily="18" charset="0"/>
                </a:endParaRPr>
              </a:p>
            </p:txBody>
          </p:sp>
          <p:sp>
            <p:nvSpPr>
              <p:cNvPr id="298" name="Freeform 125"/>
              <p:cNvSpPr>
                <a:spLocks/>
              </p:cNvSpPr>
              <p:nvPr/>
            </p:nvSpPr>
            <p:spPr bwMode="auto">
              <a:xfrm flipV="1">
                <a:off x="5343" y="1936"/>
                <a:ext cx="195" cy="27"/>
              </a:xfrm>
              <a:custGeom>
                <a:avLst/>
                <a:gdLst>
                  <a:gd name="T0" fmla="*/ 0 w 195"/>
                  <a:gd name="T1" fmla="*/ 0 h 1"/>
                  <a:gd name="T2" fmla="*/ 195 w 19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99" name="Group 126"/>
          <p:cNvGrpSpPr>
            <a:grpSpLocks/>
          </p:cNvGrpSpPr>
          <p:nvPr/>
        </p:nvGrpSpPr>
        <p:grpSpPr bwMode="auto">
          <a:xfrm>
            <a:off x="1746250" y="2614613"/>
            <a:ext cx="574675" cy="622300"/>
            <a:chOff x="1100" y="1647"/>
            <a:chExt cx="362" cy="392"/>
          </a:xfrm>
        </p:grpSpPr>
        <p:sp>
          <p:nvSpPr>
            <p:cNvPr id="300" name="Rectangle 127"/>
            <p:cNvSpPr>
              <a:spLocks noChangeArrowheads="1"/>
            </p:cNvSpPr>
            <p:nvPr/>
          </p:nvSpPr>
          <p:spPr bwMode="auto">
            <a:xfrm>
              <a:off x="1100" y="1651"/>
              <a:ext cx="298" cy="388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" name="Rectangle 128"/>
            <p:cNvSpPr>
              <a:spLocks noChangeArrowheads="1"/>
            </p:cNvSpPr>
            <p:nvPr/>
          </p:nvSpPr>
          <p:spPr bwMode="auto">
            <a:xfrm>
              <a:off x="1103" y="1647"/>
              <a:ext cx="29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1800"/>
                <a:t>片选</a:t>
              </a:r>
            </a:p>
          </p:txBody>
        </p:sp>
        <p:sp>
          <p:nvSpPr>
            <p:cNvPr id="302" name="Rectangle 129"/>
            <p:cNvSpPr>
              <a:spLocks noChangeArrowheads="1"/>
            </p:cNvSpPr>
            <p:nvPr/>
          </p:nvSpPr>
          <p:spPr bwMode="auto">
            <a:xfrm>
              <a:off x="1103" y="1835"/>
              <a:ext cx="29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1800"/>
                <a:t>译码</a:t>
              </a:r>
            </a:p>
          </p:txBody>
        </p:sp>
        <p:sp>
          <p:nvSpPr>
            <p:cNvPr id="303" name="Oval 130"/>
            <p:cNvSpPr>
              <a:spLocks noChangeArrowheads="1"/>
            </p:cNvSpPr>
            <p:nvPr/>
          </p:nvSpPr>
          <p:spPr bwMode="auto">
            <a:xfrm>
              <a:off x="1397" y="1673"/>
              <a:ext cx="56" cy="56"/>
            </a:xfrm>
            <a:prstGeom prst="ellips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4" name="Oval 131"/>
            <p:cNvSpPr>
              <a:spLocks noChangeArrowheads="1"/>
            </p:cNvSpPr>
            <p:nvPr/>
          </p:nvSpPr>
          <p:spPr bwMode="auto">
            <a:xfrm>
              <a:off x="1403" y="1754"/>
              <a:ext cx="56" cy="56"/>
            </a:xfrm>
            <a:prstGeom prst="ellips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5" name="Oval 132"/>
            <p:cNvSpPr>
              <a:spLocks noChangeArrowheads="1"/>
            </p:cNvSpPr>
            <p:nvPr/>
          </p:nvSpPr>
          <p:spPr bwMode="auto">
            <a:xfrm>
              <a:off x="1403" y="1847"/>
              <a:ext cx="56" cy="56"/>
            </a:xfrm>
            <a:prstGeom prst="ellips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6" name="Oval 133"/>
            <p:cNvSpPr>
              <a:spLocks noChangeArrowheads="1"/>
            </p:cNvSpPr>
            <p:nvPr/>
          </p:nvSpPr>
          <p:spPr bwMode="auto">
            <a:xfrm>
              <a:off x="1406" y="1931"/>
              <a:ext cx="56" cy="56"/>
            </a:xfrm>
            <a:prstGeom prst="ellips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" name="Group 220"/>
          <p:cNvGrpSpPr>
            <a:grpSpLocks/>
          </p:cNvGrpSpPr>
          <p:nvPr/>
        </p:nvGrpSpPr>
        <p:grpSpPr bwMode="auto">
          <a:xfrm>
            <a:off x="1190625" y="3433763"/>
            <a:ext cx="7061200" cy="985837"/>
            <a:chOff x="750" y="2163"/>
            <a:chExt cx="4448" cy="621"/>
          </a:xfrm>
        </p:grpSpPr>
        <p:grpSp>
          <p:nvGrpSpPr>
            <p:cNvPr id="308" name="Group 219"/>
            <p:cNvGrpSpPr>
              <a:grpSpLocks/>
            </p:cNvGrpSpPr>
            <p:nvPr/>
          </p:nvGrpSpPr>
          <p:grpSpPr bwMode="auto">
            <a:xfrm>
              <a:off x="750" y="2169"/>
              <a:ext cx="354" cy="615"/>
              <a:chOff x="750" y="2169"/>
              <a:chExt cx="354" cy="615"/>
            </a:xfrm>
          </p:grpSpPr>
          <p:sp>
            <p:nvSpPr>
              <p:cNvPr id="344" name="Line 136"/>
              <p:cNvSpPr>
                <a:spLocks noChangeShapeType="1"/>
              </p:cNvSpPr>
              <p:nvPr/>
            </p:nvSpPr>
            <p:spPr bwMode="auto">
              <a:xfrm flipV="1">
                <a:off x="834" y="2254"/>
                <a:ext cx="1" cy="4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5" name="Line 137"/>
              <p:cNvSpPr>
                <a:spLocks noChangeShapeType="1"/>
              </p:cNvSpPr>
              <p:nvPr/>
            </p:nvSpPr>
            <p:spPr bwMode="auto">
              <a:xfrm flipV="1">
                <a:off x="750" y="2169"/>
                <a:ext cx="1" cy="5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6" name="Line 138"/>
              <p:cNvSpPr>
                <a:spLocks noChangeShapeType="1"/>
              </p:cNvSpPr>
              <p:nvPr/>
            </p:nvSpPr>
            <p:spPr bwMode="auto">
              <a:xfrm flipV="1">
                <a:off x="1056" y="2546"/>
                <a:ext cx="1" cy="20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7" name="Text Box 139"/>
              <p:cNvSpPr txBox="1">
                <a:spLocks noChangeArrowheads="1"/>
              </p:cNvSpPr>
              <p:nvPr/>
            </p:nvSpPr>
            <p:spPr bwMode="auto">
              <a:xfrm>
                <a:off x="796" y="2496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>
                    <a:latin typeface="Times New Roman"/>
                  </a:rPr>
                  <a:t>…</a:t>
                </a:r>
                <a:endParaRPr lang="zh-CN" altLang="en-US" sz="2400"/>
              </a:p>
            </p:txBody>
          </p:sp>
        </p:grpSp>
        <p:grpSp>
          <p:nvGrpSpPr>
            <p:cNvPr id="309" name="Group 218"/>
            <p:cNvGrpSpPr>
              <a:grpSpLocks/>
            </p:cNvGrpSpPr>
            <p:nvPr/>
          </p:nvGrpSpPr>
          <p:grpSpPr bwMode="auto">
            <a:xfrm>
              <a:off x="1340" y="2174"/>
              <a:ext cx="352" cy="610"/>
              <a:chOff x="1340" y="2174"/>
              <a:chExt cx="352" cy="610"/>
            </a:xfrm>
          </p:grpSpPr>
          <p:sp>
            <p:nvSpPr>
              <p:cNvPr id="340" name="Line 141"/>
              <p:cNvSpPr>
                <a:spLocks noChangeShapeType="1"/>
              </p:cNvSpPr>
              <p:nvPr/>
            </p:nvSpPr>
            <p:spPr bwMode="auto">
              <a:xfrm flipV="1">
                <a:off x="1424" y="2259"/>
                <a:ext cx="1" cy="4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1" name="Line 142"/>
              <p:cNvSpPr>
                <a:spLocks noChangeShapeType="1"/>
              </p:cNvSpPr>
              <p:nvPr/>
            </p:nvSpPr>
            <p:spPr bwMode="auto">
              <a:xfrm flipV="1">
                <a:off x="1340" y="2174"/>
                <a:ext cx="1" cy="5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2" name="Line 143"/>
              <p:cNvSpPr>
                <a:spLocks noChangeShapeType="1"/>
              </p:cNvSpPr>
              <p:nvPr/>
            </p:nvSpPr>
            <p:spPr bwMode="auto">
              <a:xfrm flipV="1">
                <a:off x="1646" y="2551"/>
                <a:ext cx="1" cy="20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3" name="Text Box 144"/>
              <p:cNvSpPr txBox="1">
                <a:spLocks noChangeArrowheads="1"/>
              </p:cNvSpPr>
              <p:nvPr/>
            </p:nvSpPr>
            <p:spPr bwMode="auto">
              <a:xfrm>
                <a:off x="1384" y="2496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>
                    <a:latin typeface="Times New Roman"/>
                  </a:rPr>
                  <a:t>…</a:t>
                </a:r>
                <a:endParaRPr lang="zh-CN" altLang="en-US" sz="2400"/>
              </a:p>
            </p:txBody>
          </p:sp>
        </p:grpSp>
        <p:grpSp>
          <p:nvGrpSpPr>
            <p:cNvPr id="310" name="Group 217"/>
            <p:cNvGrpSpPr>
              <a:grpSpLocks/>
            </p:cNvGrpSpPr>
            <p:nvPr/>
          </p:nvGrpSpPr>
          <p:grpSpPr bwMode="auto">
            <a:xfrm>
              <a:off x="1917" y="2166"/>
              <a:ext cx="337" cy="611"/>
              <a:chOff x="1917" y="2166"/>
              <a:chExt cx="337" cy="611"/>
            </a:xfrm>
          </p:grpSpPr>
          <p:sp>
            <p:nvSpPr>
              <p:cNvPr id="336" name="Line 146"/>
              <p:cNvSpPr>
                <a:spLocks noChangeShapeType="1"/>
              </p:cNvSpPr>
              <p:nvPr/>
            </p:nvSpPr>
            <p:spPr bwMode="auto">
              <a:xfrm flipV="1">
                <a:off x="2001" y="2251"/>
                <a:ext cx="1" cy="4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" name="Line 147"/>
              <p:cNvSpPr>
                <a:spLocks noChangeShapeType="1"/>
              </p:cNvSpPr>
              <p:nvPr/>
            </p:nvSpPr>
            <p:spPr bwMode="auto">
              <a:xfrm flipV="1">
                <a:off x="1917" y="2166"/>
                <a:ext cx="1" cy="5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" name="Line 148"/>
              <p:cNvSpPr>
                <a:spLocks noChangeShapeType="1"/>
              </p:cNvSpPr>
              <p:nvPr/>
            </p:nvSpPr>
            <p:spPr bwMode="auto">
              <a:xfrm flipV="1">
                <a:off x="2223" y="2543"/>
                <a:ext cx="1" cy="20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" name="Text Box 149"/>
              <p:cNvSpPr txBox="1">
                <a:spLocks noChangeArrowheads="1"/>
              </p:cNvSpPr>
              <p:nvPr/>
            </p:nvSpPr>
            <p:spPr bwMode="auto">
              <a:xfrm>
                <a:off x="1978" y="2527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000">
                    <a:latin typeface="Times New Roman"/>
                  </a:rPr>
                  <a:t>…</a:t>
                </a:r>
                <a:endParaRPr lang="zh-CN" altLang="en-US" sz="2000"/>
              </a:p>
            </p:txBody>
          </p:sp>
        </p:grpSp>
        <p:grpSp>
          <p:nvGrpSpPr>
            <p:cNvPr id="311" name="Group 216"/>
            <p:cNvGrpSpPr>
              <a:grpSpLocks/>
            </p:cNvGrpSpPr>
            <p:nvPr/>
          </p:nvGrpSpPr>
          <p:grpSpPr bwMode="auto">
            <a:xfrm>
              <a:off x="2481" y="2171"/>
              <a:ext cx="359" cy="613"/>
              <a:chOff x="2481" y="2171"/>
              <a:chExt cx="359" cy="613"/>
            </a:xfrm>
          </p:grpSpPr>
          <p:sp>
            <p:nvSpPr>
              <p:cNvPr id="332" name="Line 151"/>
              <p:cNvSpPr>
                <a:spLocks noChangeShapeType="1"/>
              </p:cNvSpPr>
              <p:nvPr/>
            </p:nvSpPr>
            <p:spPr bwMode="auto">
              <a:xfrm flipV="1">
                <a:off x="2565" y="2256"/>
                <a:ext cx="1" cy="4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3" name="Line 152"/>
              <p:cNvSpPr>
                <a:spLocks noChangeShapeType="1"/>
              </p:cNvSpPr>
              <p:nvPr/>
            </p:nvSpPr>
            <p:spPr bwMode="auto">
              <a:xfrm flipV="1">
                <a:off x="2481" y="2171"/>
                <a:ext cx="1" cy="5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4" name="Line 153"/>
              <p:cNvSpPr>
                <a:spLocks noChangeShapeType="1"/>
              </p:cNvSpPr>
              <p:nvPr/>
            </p:nvSpPr>
            <p:spPr bwMode="auto">
              <a:xfrm flipV="1">
                <a:off x="2787" y="2548"/>
                <a:ext cx="1" cy="20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5" name="Text Box 154"/>
              <p:cNvSpPr txBox="1">
                <a:spLocks noChangeArrowheads="1"/>
              </p:cNvSpPr>
              <p:nvPr/>
            </p:nvSpPr>
            <p:spPr bwMode="auto">
              <a:xfrm>
                <a:off x="2532" y="2496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>
                    <a:latin typeface="Times New Roman"/>
                  </a:rPr>
                  <a:t>…</a:t>
                </a:r>
                <a:endParaRPr lang="zh-CN" altLang="en-US" sz="2400"/>
              </a:p>
            </p:txBody>
          </p:sp>
        </p:grpSp>
        <p:grpSp>
          <p:nvGrpSpPr>
            <p:cNvPr id="312" name="Group 215"/>
            <p:cNvGrpSpPr>
              <a:grpSpLocks/>
            </p:cNvGrpSpPr>
            <p:nvPr/>
          </p:nvGrpSpPr>
          <p:grpSpPr bwMode="auto">
            <a:xfrm>
              <a:off x="3093" y="2178"/>
              <a:ext cx="347" cy="606"/>
              <a:chOff x="3093" y="2178"/>
              <a:chExt cx="347" cy="606"/>
            </a:xfrm>
          </p:grpSpPr>
          <p:sp>
            <p:nvSpPr>
              <p:cNvPr id="328" name="Line 156"/>
              <p:cNvSpPr>
                <a:spLocks noChangeShapeType="1"/>
              </p:cNvSpPr>
              <p:nvPr/>
            </p:nvSpPr>
            <p:spPr bwMode="auto">
              <a:xfrm flipV="1">
                <a:off x="3176" y="2256"/>
                <a:ext cx="1" cy="4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" name="Freeform 157"/>
              <p:cNvSpPr>
                <a:spLocks/>
              </p:cNvSpPr>
              <p:nvPr/>
            </p:nvSpPr>
            <p:spPr bwMode="auto">
              <a:xfrm>
                <a:off x="3093" y="2178"/>
                <a:ext cx="1" cy="561"/>
              </a:xfrm>
              <a:custGeom>
                <a:avLst/>
                <a:gdLst>
                  <a:gd name="T0" fmla="*/ 0 w 1"/>
                  <a:gd name="T1" fmla="*/ 561 h 561"/>
                  <a:gd name="T2" fmla="*/ 0 w 1"/>
                  <a:gd name="T3" fmla="*/ 0 h 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561">
                    <a:moveTo>
                      <a:pt x="0" y="561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0" name="Line 158"/>
              <p:cNvSpPr>
                <a:spLocks noChangeShapeType="1"/>
              </p:cNvSpPr>
              <p:nvPr/>
            </p:nvSpPr>
            <p:spPr bwMode="auto">
              <a:xfrm flipV="1">
                <a:off x="3398" y="2548"/>
                <a:ext cx="1" cy="20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1" name="Text Box 159"/>
              <p:cNvSpPr txBox="1">
                <a:spLocks noChangeArrowheads="1"/>
              </p:cNvSpPr>
              <p:nvPr/>
            </p:nvSpPr>
            <p:spPr bwMode="auto">
              <a:xfrm>
                <a:off x="3132" y="2496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>
                    <a:latin typeface="Times New Roman" pitchFamily="18" charset="0"/>
                  </a:rPr>
                  <a:t>…</a:t>
                </a:r>
                <a:endParaRPr lang="zh-CN" altLang="en-US" sz="2400">
                  <a:latin typeface="Times New Roman" pitchFamily="18" charset="0"/>
                </a:endParaRPr>
              </a:p>
            </p:txBody>
          </p:sp>
        </p:grpSp>
        <p:grpSp>
          <p:nvGrpSpPr>
            <p:cNvPr id="313" name="Group 214"/>
            <p:cNvGrpSpPr>
              <a:grpSpLocks/>
            </p:cNvGrpSpPr>
            <p:nvPr/>
          </p:nvGrpSpPr>
          <p:grpSpPr bwMode="auto">
            <a:xfrm>
              <a:off x="3695" y="2163"/>
              <a:ext cx="349" cy="621"/>
              <a:chOff x="3695" y="2163"/>
              <a:chExt cx="349" cy="621"/>
            </a:xfrm>
          </p:grpSpPr>
          <p:sp>
            <p:nvSpPr>
              <p:cNvPr id="324" name="Line 161"/>
              <p:cNvSpPr>
                <a:spLocks noChangeShapeType="1"/>
              </p:cNvSpPr>
              <p:nvPr/>
            </p:nvSpPr>
            <p:spPr bwMode="auto">
              <a:xfrm flipV="1">
                <a:off x="3779" y="2248"/>
                <a:ext cx="1" cy="4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5" name="Line 162"/>
              <p:cNvSpPr>
                <a:spLocks noChangeShapeType="1"/>
              </p:cNvSpPr>
              <p:nvPr/>
            </p:nvSpPr>
            <p:spPr bwMode="auto">
              <a:xfrm flipV="1">
                <a:off x="3695" y="2163"/>
                <a:ext cx="1" cy="5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6" name="Line 163"/>
              <p:cNvSpPr>
                <a:spLocks noChangeShapeType="1"/>
              </p:cNvSpPr>
              <p:nvPr/>
            </p:nvSpPr>
            <p:spPr bwMode="auto">
              <a:xfrm flipV="1">
                <a:off x="4001" y="2540"/>
                <a:ext cx="1" cy="20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" name="Text Box 164"/>
              <p:cNvSpPr txBox="1">
                <a:spLocks noChangeArrowheads="1"/>
              </p:cNvSpPr>
              <p:nvPr/>
            </p:nvSpPr>
            <p:spPr bwMode="auto">
              <a:xfrm>
                <a:off x="3736" y="2496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>
                    <a:latin typeface="Times New Roman" pitchFamily="18" charset="0"/>
                  </a:rPr>
                  <a:t>…</a:t>
                </a:r>
                <a:endParaRPr lang="zh-CN" altLang="en-US" sz="2400">
                  <a:latin typeface="Times New Roman" pitchFamily="18" charset="0"/>
                </a:endParaRPr>
              </a:p>
            </p:txBody>
          </p:sp>
        </p:grpSp>
        <p:grpSp>
          <p:nvGrpSpPr>
            <p:cNvPr id="314" name="Group 213"/>
            <p:cNvGrpSpPr>
              <a:grpSpLocks/>
            </p:cNvGrpSpPr>
            <p:nvPr/>
          </p:nvGrpSpPr>
          <p:grpSpPr bwMode="auto">
            <a:xfrm>
              <a:off x="4246" y="2168"/>
              <a:ext cx="346" cy="616"/>
              <a:chOff x="4246" y="2168"/>
              <a:chExt cx="346" cy="616"/>
            </a:xfrm>
          </p:grpSpPr>
          <p:sp>
            <p:nvSpPr>
              <p:cNvPr id="320" name="Freeform 166"/>
              <p:cNvSpPr>
                <a:spLocks/>
              </p:cNvSpPr>
              <p:nvPr/>
            </p:nvSpPr>
            <p:spPr bwMode="auto">
              <a:xfrm>
                <a:off x="4326" y="2250"/>
                <a:ext cx="4" cy="497"/>
              </a:xfrm>
              <a:custGeom>
                <a:avLst/>
                <a:gdLst>
                  <a:gd name="T0" fmla="*/ 4 w 4"/>
                  <a:gd name="T1" fmla="*/ 497 h 497"/>
                  <a:gd name="T2" fmla="*/ 0 w 4"/>
                  <a:gd name="T3" fmla="*/ 0 h 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" h="497">
                    <a:moveTo>
                      <a:pt x="4" y="497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1" name="Line 167"/>
              <p:cNvSpPr>
                <a:spLocks noChangeShapeType="1"/>
              </p:cNvSpPr>
              <p:nvPr/>
            </p:nvSpPr>
            <p:spPr bwMode="auto">
              <a:xfrm flipV="1">
                <a:off x="4246" y="2168"/>
                <a:ext cx="1" cy="5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2" name="Line 168"/>
              <p:cNvSpPr>
                <a:spLocks noChangeShapeType="1"/>
              </p:cNvSpPr>
              <p:nvPr/>
            </p:nvSpPr>
            <p:spPr bwMode="auto">
              <a:xfrm flipV="1">
                <a:off x="4552" y="2545"/>
                <a:ext cx="1" cy="20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3" name="Text Box 169"/>
              <p:cNvSpPr txBox="1">
                <a:spLocks noChangeArrowheads="1"/>
              </p:cNvSpPr>
              <p:nvPr/>
            </p:nvSpPr>
            <p:spPr bwMode="auto">
              <a:xfrm>
                <a:off x="4284" y="2496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>
                    <a:latin typeface="Times New Roman" pitchFamily="18" charset="0"/>
                  </a:rPr>
                  <a:t>…</a:t>
                </a:r>
                <a:endParaRPr lang="zh-CN" altLang="en-US" sz="2400">
                  <a:latin typeface="Times New Roman" pitchFamily="18" charset="0"/>
                </a:endParaRPr>
              </a:p>
            </p:txBody>
          </p:sp>
        </p:grpSp>
        <p:grpSp>
          <p:nvGrpSpPr>
            <p:cNvPr id="315" name="Group 212"/>
            <p:cNvGrpSpPr>
              <a:grpSpLocks/>
            </p:cNvGrpSpPr>
            <p:nvPr/>
          </p:nvGrpSpPr>
          <p:grpSpPr bwMode="auto">
            <a:xfrm>
              <a:off x="4845" y="2175"/>
              <a:ext cx="353" cy="609"/>
              <a:chOff x="4845" y="2175"/>
              <a:chExt cx="353" cy="609"/>
            </a:xfrm>
          </p:grpSpPr>
          <p:sp>
            <p:nvSpPr>
              <p:cNvPr id="316" name="Line 171"/>
              <p:cNvSpPr>
                <a:spLocks noChangeShapeType="1"/>
              </p:cNvSpPr>
              <p:nvPr/>
            </p:nvSpPr>
            <p:spPr bwMode="auto">
              <a:xfrm flipV="1">
                <a:off x="4933" y="2258"/>
                <a:ext cx="1" cy="4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" name="Freeform 172"/>
              <p:cNvSpPr>
                <a:spLocks/>
              </p:cNvSpPr>
              <p:nvPr/>
            </p:nvSpPr>
            <p:spPr bwMode="auto">
              <a:xfrm>
                <a:off x="4845" y="2175"/>
                <a:ext cx="4" cy="570"/>
              </a:xfrm>
              <a:custGeom>
                <a:avLst/>
                <a:gdLst>
                  <a:gd name="T0" fmla="*/ 4 w 4"/>
                  <a:gd name="T1" fmla="*/ 570 h 570"/>
                  <a:gd name="T2" fmla="*/ 0 w 4"/>
                  <a:gd name="T3" fmla="*/ 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" h="570">
                    <a:moveTo>
                      <a:pt x="4" y="57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" name="Line 173"/>
              <p:cNvSpPr>
                <a:spLocks noChangeShapeType="1"/>
              </p:cNvSpPr>
              <p:nvPr/>
            </p:nvSpPr>
            <p:spPr bwMode="auto">
              <a:xfrm flipV="1">
                <a:off x="5155" y="2550"/>
                <a:ext cx="1" cy="20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9" name="Text Box 174"/>
              <p:cNvSpPr txBox="1">
                <a:spLocks noChangeArrowheads="1"/>
              </p:cNvSpPr>
              <p:nvPr/>
            </p:nvSpPr>
            <p:spPr bwMode="auto">
              <a:xfrm>
                <a:off x="4890" y="2496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2400">
                    <a:latin typeface="Times New Roman" pitchFamily="18" charset="0"/>
                  </a:rPr>
                  <a:t>…</a:t>
                </a:r>
                <a:endParaRPr lang="zh-CN" alt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348" name="Group 176"/>
          <p:cNvGrpSpPr>
            <a:grpSpLocks/>
          </p:cNvGrpSpPr>
          <p:nvPr/>
        </p:nvGrpSpPr>
        <p:grpSpPr bwMode="auto">
          <a:xfrm>
            <a:off x="1790700" y="4678363"/>
            <a:ext cx="6664325" cy="19050"/>
            <a:chOff x="1128" y="2947"/>
            <a:chExt cx="4198" cy="12"/>
          </a:xfrm>
        </p:grpSpPr>
        <p:grpSp>
          <p:nvGrpSpPr>
            <p:cNvPr id="349" name="Group 177"/>
            <p:cNvGrpSpPr>
              <a:grpSpLocks/>
            </p:cNvGrpSpPr>
            <p:nvPr/>
          </p:nvGrpSpPr>
          <p:grpSpPr bwMode="auto">
            <a:xfrm>
              <a:off x="1128" y="2947"/>
              <a:ext cx="4198" cy="12"/>
              <a:chOff x="1128" y="2947"/>
              <a:chExt cx="4198" cy="12"/>
            </a:xfrm>
          </p:grpSpPr>
          <p:grpSp>
            <p:nvGrpSpPr>
              <p:cNvPr id="351" name="Group 178"/>
              <p:cNvGrpSpPr>
                <a:grpSpLocks/>
              </p:cNvGrpSpPr>
              <p:nvPr/>
            </p:nvGrpSpPr>
            <p:grpSpPr bwMode="auto">
              <a:xfrm>
                <a:off x="2858" y="2947"/>
                <a:ext cx="1318" cy="12"/>
                <a:chOff x="2858" y="2947"/>
                <a:chExt cx="1318" cy="12"/>
              </a:xfrm>
            </p:grpSpPr>
            <p:sp>
              <p:nvSpPr>
                <p:cNvPr id="359" name="Line 179"/>
                <p:cNvSpPr>
                  <a:spLocks noChangeShapeType="1"/>
                </p:cNvSpPr>
                <p:nvPr/>
              </p:nvSpPr>
              <p:spPr bwMode="auto">
                <a:xfrm>
                  <a:off x="2858" y="2958"/>
                  <a:ext cx="104" cy="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0" name="Line 180"/>
                <p:cNvSpPr>
                  <a:spLocks noChangeShapeType="1"/>
                </p:cNvSpPr>
                <p:nvPr/>
              </p:nvSpPr>
              <p:spPr bwMode="auto">
                <a:xfrm>
                  <a:off x="3477" y="2947"/>
                  <a:ext cx="104" cy="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1" name="Line 181"/>
                <p:cNvSpPr>
                  <a:spLocks noChangeShapeType="1"/>
                </p:cNvSpPr>
                <p:nvPr/>
              </p:nvSpPr>
              <p:spPr bwMode="auto">
                <a:xfrm>
                  <a:off x="4072" y="2947"/>
                  <a:ext cx="104" cy="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2" name="Group 182"/>
              <p:cNvGrpSpPr>
                <a:grpSpLocks/>
              </p:cNvGrpSpPr>
              <p:nvPr/>
            </p:nvGrpSpPr>
            <p:grpSpPr bwMode="auto">
              <a:xfrm>
                <a:off x="1128" y="2947"/>
                <a:ext cx="4198" cy="12"/>
                <a:chOff x="1128" y="2947"/>
                <a:chExt cx="4198" cy="12"/>
              </a:xfrm>
            </p:grpSpPr>
            <p:sp>
              <p:nvSpPr>
                <p:cNvPr id="353" name="Line 183"/>
                <p:cNvSpPr>
                  <a:spLocks noChangeShapeType="1"/>
                </p:cNvSpPr>
                <p:nvPr/>
              </p:nvSpPr>
              <p:spPr bwMode="auto">
                <a:xfrm>
                  <a:off x="2278" y="2958"/>
                  <a:ext cx="104" cy="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54" name="Group 184"/>
                <p:cNvGrpSpPr>
                  <a:grpSpLocks/>
                </p:cNvGrpSpPr>
                <p:nvPr/>
              </p:nvGrpSpPr>
              <p:grpSpPr bwMode="auto">
                <a:xfrm>
                  <a:off x="1128" y="2947"/>
                  <a:ext cx="4198" cy="12"/>
                  <a:chOff x="1128" y="2947"/>
                  <a:chExt cx="4198" cy="12"/>
                </a:xfrm>
              </p:grpSpPr>
              <p:sp>
                <p:nvSpPr>
                  <p:cNvPr id="355" name="Line 185"/>
                  <p:cNvSpPr>
                    <a:spLocks noChangeShapeType="1"/>
                  </p:cNvSpPr>
                  <p:nvPr/>
                </p:nvSpPr>
                <p:spPr bwMode="auto">
                  <a:xfrm>
                    <a:off x="1708" y="2958"/>
                    <a:ext cx="104" cy="1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56" name="Group 186"/>
                  <p:cNvGrpSpPr>
                    <a:grpSpLocks/>
                  </p:cNvGrpSpPr>
                  <p:nvPr/>
                </p:nvGrpSpPr>
                <p:grpSpPr bwMode="auto">
                  <a:xfrm>
                    <a:off x="1128" y="2947"/>
                    <a:ext cx="4198" cy="12"/>
                    <a:chOff x="1128" y="2947"/>
                    <a:chExt cx="4198" cy="12"/>
                  </a:xfrm>
                </p:grpSpPr>
                <p:sp>
                  <p:nvSpPr>
                    <p:cNvPr id="357" name="Line 18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28" y="2958"/>
                      <a:ext cx="104" cy="1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58" name="Line 18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222" y="2947"/>
                      <a:ext cx="104" cy="1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</p:grpSp>
        <p:sp>
          <p:nvSpPr>
            <p:cNvPr id="350" name="Line 189"/>
            <p:cNvSpPr>
              <a:spLocks noChangeShapeType="1"/>
            </p:cNvSpPr>
            <p:nvPr/>
          </p:nvSpPr>
          <p:spPr bwMode="auto">
            <a:xfrm>
              <a:off x="4642" y="2947"/>
              <a:ext cx="104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62" name="Group 190"/>
          <p:cNvGrpSpPr>
            <a:grpSpLocks/>
          </p:cNvGrpSpPr>
          <p:nvPr/>
        </p:nvGrpSpPr>
        <p:grpSpPr bwMode="auto">
          <a:xfrm>
            <a:off x="1049337" y="4359275"/>
            <a:ext cx="7224707" cy="407988"/>
            <a:chOff x="661" y="2746"/>
            <a:chExt cx="4551" cy="257"/>
          </a:xfrm>
        </p:grpSpPr>
        <p:grpSp>
          <p:nvGrpSpPr>
            <p:cNvPr id="363" name="Group 191"/>
            <p:cNvGrpSpPr>
              <a:grpSpLocks/>
            </p:cNvGrpSpPr>
            <p:nvPr/>
          </p:nvGrpSpPr>
          <p:grpSpPr bwMode="auto">
            <a:xfrm>
              <a:off x="661" y="2746"/>
              <a:ext cx="4551" cy="257"/>
              <a:chOff x="661" y="2746"/>
              <a:chExt cx="4551" cy="257"/>
            </a:xfrm>
          </p:grpSpPr>
          <p:sp>
            <p:nvSpPr>
              <p:cNvPr id="365" name="Rectangle 192"/>
              <p:cNvSpPr>
                <a:spLocks noChangeArrowheads="1"/>
              </p:cNvSpPr>
              <p:nvPr/>
            </p:nvSpPr>
            <p:spPr bwMode="auto">
              <a:xfrm>
                <a:off x="690" y="2794"/>
                <a:ext cx="407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sz="1800" dirty="0">
                    <a:solidFill>
                      <a:schemeClr val="folHlink"/>
                    </a:solidFill>
                    <a:latin typeface="Times New Roman" pitchFamily="18" charset="0"/>
                  </a:rPr>
                  <a:t>1</a:t>
                </a:r>
                <a:r>
                  <a:rPr lang="en-US" altLang="zh-CN" sz="1800" dirty="0">
                    <a:solidFill>
                      <a:schemeClr val="folHlink"/>
                    </a:solidFill>
                    <a:latin typeface="Times New Roman" pitchFamily="18" charset="0"/>
                  </a:rPr>
                  <a:t>K</a:t>
                </a:r>
                <a:r>
                  <a:rPr lang="en-US" altLang="zh-CN" sz="1600" dirty="0">
                    <a:solidFill>
                      <a:schemeClr val="folHlink"/>
                    </a:solidFill>
                    <a:latin typeface="Times New Roman" pitchFamily="18" charset="0"/>
                  </a:rPr>
                  <a:t>×</a:t>
                </a:r>
                <a:r>
                  <a:rPr lang="en-US" altLang="zh-CN" sz="1800" dirty="0">
                    <a:solidFill>
                      <a:schemeClr val="folHlink"/>
                    </a:solidFill>
                    <a:latin typeface="Times New Roman" pitchFamily="18" charset="0"/>
                  </a:rPr>
                  <a:t>4</a:t>
                </a:r>
              </a:p>
            </p:txBody>
          </p:sp>
          <p:grpSp>
            <p:nvGrpSpPr>
              <p:cNvPr id="366" name="Group 193"/>
              <p:cNvGrpSpPr>
                <a:grpSpLocks/>
              </p:cNvGrpSpPr>
              <p:nvPr/>
            </p:nvGrpSpPr>
            <p:grpSpPr bwMode="auto">
              <a:xfrm>
                <a:off x="661" y="2746"/>
                <a:ext cx="4551" cy="257"/>
                <a:chOff x="661" y="2746"/>
                <a:chExt cx="4551" cy="257"/>
              </a:xfrm>
            </p:grpSpPr>
            <p:sp>
              <p:nvSpPr>
                <p:cNvPr id="373" name="Rectangle 194"/>
                <p:cNvSpPr>
                  <a:spLocks noChangeArrowheads="1"/>
                </p:cNvSpPr>
                <p:nvPr/>
              </p:nvSpPr>
              <p:spPr bwMode="auto">
                <a:xfrm>
                  <a:off x="661" y="2746"/>
                  <a:ext cx="463" cy="253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4" name="Rectangle 195"/>
                <p:cNvSpPr>
                  <a:spLocks noChangeArrowheads="1"/>
                </p:cNvSpPr>
                <p:nvPr/>
              </p:nvSpPr>
              <p:spPr bwMode="auto">
                <a:xfrm>
                  <a:off x="1853" y="2746"/>
                  <a:ext cx="421" cy="253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5" name="Rectangle 196"/>
                <p:cNvSpPr>
                  <a:spLocks noChangeArrowheads="1"/>
                </p:cNvSpPr>
                <p:nvPr/>
              </p:nvSpPr>
              <p:spPr bwMode="auto">
                <a:xfrm>
                  <a:off x="2427" y="2746"/>
                  <a:ext cx="421" cy="253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6" name="Rectangle 197"/>
                <p:cNvSpPr>
                  <a:spLocks noChangeArrowheads="1"/>
                </p:cNvSpPr>
                <p:nvPr/>
              </p:nvSpPr>
              <p:spPr bwMode="auto">
                <a:xfrm>
                  <a:off x="3043" y="2746"/>
                  <a:ext cx="421" cy="257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7" name="Rectangle 198"/>
                <p:cNvSpPr>
                  <a:spLocks noChangeArrowheads="1"/>
                </p:cNvSpPr>
                <p:nvPr/>
              </p:nvSpPr>
              <p:spPr bwMode="auto">
                <a:xfrm>
                  <a:off x="3640" y="2746"/>
                  <a:ext cx="422" cy="254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8" name="Rectangle 199"/>
                <p:cNvSpPr>
                  <a:spLocks noChangeArrowheads="1"/>
                </p:cNvSpPr>
                <p:nvPr/>
              </p:nvSpPr>
              <p:spPr bwMode="auto">
                <a:xfrm>
                  <a:off x="4214" y="2746"/>
                  <a:ext cx="421" cy="257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" name="Rectangle 200"/>
                <p:cNvSpPr>
                  <a:spLocks noChangeArrowheads="1"/>
                </p:cNvSpPr>
                <p:nvPr/>
              </p:nvSpPr>
              <p:spPr bwMode="auto">
                <a:xfrm>
                  <a:off x="4791" y="2746"/>
                  <a:ext cx="421" cy="254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" name="Rectangle 201"/>
                <p:cNvSpPr>
                  <a:spLocks noChangeArrowheads="1"/>
                </p:cNvSpPr>
                <p:nvPr/>
              </p:nvSpPr>
              <p:spPr bwMode="auto">
                <a:xfrm>
                  <a:off x="1277" y="2746"/>
                  <a:ext cx="421" cy="253"/>
                </a:xfrm>
                <a:prstGeom prst="rect">
                  <a:avLst/>
                </a:prstGeom>
                <a:noFill/>
                <a:ln w="38100">
                  <a:solidFill>
                    <a:schemeClr val="folHlink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67" name="Rectangle 202"/>
              <p:cNvSpPr>
                <a:spLocks noChangeArrowheads="1"/>
              </p:cNvSpPr>
              <p:nvPr/>
            </p:nvSpPr>
            <p:spPr bwMode="auto">
              <a:xfrm>
                <a:off x="1858" y="2794"/>
                <a:ext cx="407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sz="1800">
                    <a:solidFill>
                      <a:schemeClr val="folHlink"/>
                    </a:solidFill>
                    <a:latin typeface="Times New Roman" pitchFamily="18" charset="0"/>
                  </a:rPr>
                  <a:t>1</a:t>
                </a:r>
                <a:r>
                  <a:rPr lang="en-US" altLang="zh-CN" sz="1800">
                    <a:solidFill>
                      <a:schemeClr val="folHlink"/>
                    </a:solidFill>
                    <a:latin typeface="Times New Roman" pitchFamily="18" charset="0"/>
                  </a:rPr>
                  <a:t>K</a:t>
                </a:r>
                <a:r>
                  <a:rPr lang="en-US" altLang="zh-CN" sz="1600">
                    <a:solidFill>
                      <a:schemeClr val="folHlink"/>
                    </a:solidFill>
                  </a:rPr>
                  <a:t>×</a:t>
                </a:r>
                <a:r>
                  <a:rPr lang="en-US" altLang="zh-CN" sz="1800">
                    <a:solidFill>
                      <a:schemeClr val="folHlink"/>
                    </a:solidFill>
                    <a:latin typeface="Times New Roman" pitchFamily="18" charset="0"/>
                  </a:rPr>
                  <a:t>4</a:t>
                </a:r>
              </a:p>
            </p:txBody>
          </p:sp>
          <p:sp>
            <p:nvSpPr>
              <p:cNvPr id="368" name="Rectangle 203"/>
              <p:cNvSpPr>
                <a:spLocks noChangeArrowheads="1"/>
              </p:cNvSpPr>
              <p:nvPr/>
            </p:nvSpPr>
            <p:spPr bwMode="auto">
              <a:xfrm>
                <a:off x="2432" y="2794"/>
                <a:ext cx="407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sz="1800">
                    <a:solidFill>
                      <a:schemeClr val="folHlink"/>
                    </a:solidFill>
                    <a:latin typeface="Times New Roman" pitchFamily="18" charset="0"/>
                  </a:rPr>
                  <a:t>1</a:t>
                </a:r>
                <a:r>
                  <a:rPr lang="en-US" altLang="zh-CN" sz="1800">
                    <a:solidFill>
                      <a:schemeClr val="folHlink"/>
                    </a:solidFill>
                    <a:latin typeface="Times New Roman" pitchFamily="18" charset="0"/>
                  </a:rPr>
                  <a:t>K</a:t>
                </a:r>
                <a:r>
                  <a:rPr lang="en-US" altLang="zh-CN" sz="1600">
                    <a:solidFill>
                      <a:schemeClr val="folHlink"/>
                    </a:solidFill>
                  </a:rPr>
                  <a:t>×</a:t>
                </a:r>
                <a:r>
                  <a:rPr lang="en-US" altLang="zh-CN" sz="1800">
                    <a:solidFill>
                      <a:schemeClr val="folHlink"/>
                    </a:solidFill>
                    <a:latin typeface="Times New Roman" pitchFamily="18" charset="0"/>
                  </a:rPr>
                  <a:t>4</a:t>
                </a:r>
              </a:p>
            </p:txBody>
          </p:sp>
          <p:sp>
            <p:nvSpPr>
              <p:cNvPr id="369" name="Rectangle 204"/>
              <p:cNvSpPr>
                <a:spLocks noChangeArrowheads="1"/>
              </p:cNvSpPr>
              <p:nvPr/>
            </p:nvSpPr>
            <p:spPr bwMode="auto">
              <a:xfrm>
                <a:off x="3051" y="2794"/>
                <a:ext cx="407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sz="1800">
                    <a:solidFill>
                      <a:schemeClr val="folHlink"/>
                    </a:solidFill>
                    <a:latin typeface="Times New Roman" pitchFamily="18" charset="0"/>
                  </a:rPr>
                  <a:t>1</a:t>
                </a:r>
                <a:r>
                  <a:rPr lang="en-US" altLang="zh-CN" sz="1800">
                    <a:solidFill>
                      <a:schemeClr val="folHlink"/>
                    </a:solidFill>
                    <a:latin typeface="Times New Roman" pitchFamily="18" charset="0"/>
                  </a:rPr>
                  <a:t>K</a:t>
                </a:r>
                <a:r>
                  <a:rPr lang="en-US" altLang="zh-CN" sz="1600">
                    <a:solidFill>
                      <a:schemeClr val="folHlink"/>
                    </a:solidFill>
                  </a:rPr>
                  <a:t>×</a:t>
                </a:r>
                <a:r>
                  <a:rPr lang="en-US" altLang="zh-CN" sz="1800">
                    <a:solidFill>
                      <a:schemeClr val="folHlink"/>
                    </a:solidFill>
                    <a:latin typeface="Times New Roman" pitchFamily="18" charset="0"/>
                  </a:rPr>
                  <a:t>4</a:t>
                </a:r>
              </a:p>
            </p:txBody>
          </p:sp>
          <p:sp>
            <p:nvSpPr>
              <p:cNvPr id="370" name="Rectangle 205"/>
              <p:cNvSpPr>
                <a:spLocks noChangeArrowheads="1"/>
              </p:cNvSpPr>
              <p:nvPr/>
            </p:nvSpPr>
            <p:spPr bwMode="auto">
              <a:xfrm>
                <a:off x="3645" y="2794"/>
                <a:ext cx="407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sz="1800">
                    <a:solidFill>
                      <a:schemeClr val="folHlink"/>
                    </a:solidFill>
                    <a:latin typeface="Times New Roman" pitchFamily="18" charset="0"/>
                  </a:rPr>
                  <a:t>1</a:t>
                </a:r>
                <a:r>
                  <a:rPr lang="en-US" altLang="zh-CN" sz="1800">
                    <a:solidFill>
                      <a:schemeClr val="folHlink"/>
                    </a:solidFill>
                    <a:latin typeface="Times New Roman" pitchFamily="18" charset="0"/>
                  </a:rPr>
                  <a:t>K</a:t>
                </a:r>
                <a:r>
                  <a:rPr lang="en-US" altLang="zh-CN" sz="1600">
                    <a:solidFill>
                      <a:schemeClr val="folHlink"/>
                    </a:solidFill>
                  </a:rPr>
                  <a:t>×</a:t>
                </a:r>
                <a:r>
                  <a:rPr lang="en-US" altLang="zh-CN" sz="1800">
                    <a:solidFill>
                      <a:schemeClr val="folHlink"/>
                    </a:solidFill>
                    <a:latin typeface="Times New Roman" pitchFamily="18" charset="0"/>
                  </a:rPr>
                  <a:t>4</a:t>
                </a:r>
              </a:p>
            </p:txBody>
          </p:sp>
          <p:sp>
            <p:nvSpPr>
              <p:cNvPr id="371" name="Rectangle 206"/>
              <p:cNvSpPr>
                <a:spLocks noChangeArrowheads="1"/>
              </p:cNvSpPr>
              <p:nvPr/>
            </p:nvSpPr>
            <p:spPr bwMode="auto">
              <a:xfrm>
                <a:off x="4221" y="2794"/>
                <a:ext cx="407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sz="1800">
                    <a:solidFill>
                      <a:schemeClr val="folHlink"/>
                    </a:solidFill>
                    <a:latin typeface="Times New Roman" pitchFamily="18" charset="0"/>
                  </a:rPr>
                  <a:t>1</a:t>
                </a:r>
                <a:r>
                  <a:rPr lang="en-US" altLang="zh-CN" sz="1800">
                    <a:solidFill>
                      <a:schemeClr val="folHlink"/>
                    </a:solidFill>
                    <a:latin typeface="Times New Roman" pitchFamily="18" charset="0"/>
                  </a:rPr>
                  <a:t>K</a:t>
                </a:r>
                <a:r>
                  <a:rPr lang="en-US" altLang="zh-CN" sz="1600">
                    <a:solidFill>
                      <a:schemeClr val="folHlink"/>
                    </a:solidFill>
                  </a:rPr>
                  <a:t>×</a:t>
                </a:r>
                <a:r>
                  <a:rPr lang="en-US" altLang="zh-CN" sz="1800">
                    <a:solidFill>
                      <a:schemeClr val="folHlink"/>
                    </a:solidFill>
                    <a:latin typeface="Times New Roman" pitchFamily="18" charset="0"/>
                  </a:rPr>
                  <a:t>4</a:t>
                </a:r>
              </a:p>
            </p:txBody>
          </p:sp>
          <p:sp>
            <p:nvSpPr>
              <p:cNvPr id="372" name="Rectangle 207"/>
              <p:cNvSpPr>
                <a:spLocks noChangeArrowheads="1"/>
              </p:cNvSpPr>
              <p:nvPr/>
            </p:nvSpPr>
            <p:spPr bwMode="auto">
              <a:xfrm>
                <a:off x="4797" y="2794"/>
                <a:ext cx="407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sz="1800" dirty="0">
                    <a:solidFill>
                      <a:schemeClr val="folHlink"/>
                    </a:solidFill>
                    <a:latin typeface="Times New Roman" pitchFamily="18" charset="0"/>
                  </a:rPr>
                  <a:t>1</a:t>
                </a:r>
                <a:r>
                  <a:rPr lang="en-US" altLang="zh-CN" sz="1800" dirty="0">
                    <a:solidFill>
                      <a:schemeClr val="folHlink"/>
                    </a:solidFill>
                    <a:latin typeface="Times New Roman" pitchFamily="18" charset="0"/>
                  </a:rPr>
                  <a:t>K</a:t>
                </a:r>
                <a:r>
                  <a:rPr lang="en-US" altLang="zh-CN" sz="1600" dirty="0">
                    <a:solidFill>
                      <a:schemeClr val="folHlink"/>
                    </a:solidFill>
                  </a:rPr>
                  <a:t>×</a:t>
                </a:r>
                <a:r>
                  <a:rPr lang="en-US" altLang="zh-CN" sz="1800" dirty="0">
                    <a:solidFill>
                      <a:schemeClr val="folHlink"/>
                    </a:solidFill>
                    <a:latin typeface="Times New Roman" pitchFamily="18" charset="0"/>
                  </a:rPr>
                  <a:t>4</a:t>
                </a:r>
              </a:p>
            </p:txBody>
          </p:sp>
        </p:grpSp>
        <p:sp>
          <p:nvSpPr>
            <p:cNvPr id="364" name="Rectangle 208"/>
            <p:cNvSpPr>
              <a:spLocks noChangeArrowheads="1"/>
            </p:cNvSpPr>
            <p:nvPr/>
          </p:nvSpPr>
          <p:spPr bwMode="auto">
            <a:xfrm>
              <a:off x="1278" y="2794"/>
              <a:ext cx="40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1800" dirty="0">
                  <a:solidFill>
                    <a:schemeClr val="folHlink"/>
                  </a:solidFill>
                  <a:latin typeface="Times New Roman" pitchFamily="18" charset="0"/>
                </a:rPr>
                <a:t>1</a:t>
              </a:r>
              <a:r>
                <a:rPr lang="en-US" altLang="zh-CN" sz="1800" dirty="0">
                  <a:solidFill>
                    <a:schemeClr val="folHlink"/>
                  </a:solidFill>
                  <a:latin typeface="Times New Roman" pitchFamily="18" charset="0"/>
                </a:rPr>
                <a:t>K</a:t>
              </a:r>
              <a:r>
                <a:rPr lang="en-US" altLang="zh-CN" sz="1600" dirty="0">
                  <a:solidFill>
                    <a:schemeClr val="folHlink"/>
                  </a:solidFill>
                  <a:latin typeface="Times New Roman" pitchFamily="18" charset="0"/>
                </a:rPr>
                <a:t>×</a:t>
              </a:r>
              <a:r>
                <a:rPr lang="en-US" altLang="zh-CN" sz="1800" dirty="0">
                  <a:solidFill>
                    <a:schemeClr val="folHlink"/>
                  </a:solidFill>
                  <a:latin typeface="Times New Roman" pitchFamily="18" charset="0"/>
                </a:rPr>
                <a:t>4</a:t>
              </a:r>
            </a:p>
          </p:txBody>
        </p:sp>
      </p:grpSp>
      <p:sp>
        <p:nvSpPr>
          <p:cNvPr id="381" name="Text Box 209"/>
          <p:cNvSpPr txBox="1">
            <a:spLocks noChangeArrowheads="1"/>
          </p:cNvSpPr>
          <p:nvPr/>
        </p:nvSpPr>
        <p:spPr bwMode="auto">
          <a:xfrm>
            <a:off x="1134359" y="1675501"/>
            <a:ext cx="12827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>
                <a:solidFill>
                  <a:schemeClr val="folHlink"/>
                </a:solidFill>
                <a:latin typeface="Times New Roman" pitchFamily="18" charset="0"/>
              </a:rPr>
              <a:t>？片</a:t>
            </a:r>
          </a:p>
        </p:txBody>
      </p:sp>
      <p:sp>
        <p:nvSpPr>
          <p:cNvPr id="382" name="Text Box 210"/>
          <p:cNvSpPr txBox="1">
            <a:spLocks noChangeArrowheads="1"/>
          </p:cNvSpPr>
          <p:nvPr/>
        </p:nvSpPr>
        <p:spPr bwMode="auto">
          <a:xfrm>
            <a:off x="1288257" y="1675501"/>
            <a:ext cx="79216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600" b="1" dirty="0" smtClean="0">
                <a:solidFill>
                  <a:schemeClr val="folHlink"/>
                </a:solidFill>
                <a:latin typeface="Times New Roman" pitchFamily="18" charset="0"/>
              </a:rPr>
              <a:t>8</a:t>
            </a:r>
            <a:r>
              <a:rPr lang="zh-CN" altLang="en-US" sz="2600" b="1" dirty="0" smtClean="0">
                <a:solidFill>
                  <a:schemeClr val="folHlink"/>
                </a:solidFill>
                <a:latin typeface="Times New Roman" pitchFamily="18" charset="0"/>
              </a:rPr>
              <a:t>片</a:t>
            </a:r>
            <a:endParaRPr lang="zh-CN" altLang="en-US" sz="2600" b="1" dirty="0">
              <a:solidFill>
                <a:schemeClr val="folHlink"/>
              </a:solidFill>
              <a:latin typeface="Times New Roman" pitchFamily="18" charset="0"/>
            </a:endParaRPr>
          </a:p>
        </p:txBody>
      </p:sp>
      <p:sp>
        <p:nvSpPr>
          <p:cNvPr id="383" name="矩形 382"/>
          <p:cNvSpPr/>
          <p:nvPr/>
        </p:nvSpPr>
        <p:spPr>
          <a:xfrm>
            <a:off x="7436848" y="99621"/>
            <a:ext cx="156645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600" dirty="0" smtClean="0">
                <a:solidFill>
                  <a:prstClr val="black"/>
                </a:solidFill>
                <a:latin typeface="Times New Roman" pitchFamily="18" charset="0"/>
              </a:rPr>
              <a:t>4K</a:t>
            </a:r>
            <a:r>
              <a:rPr lang="en-US" altLang="zh-CN" sz="900" dirty="0" smtClean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sz="2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 altLang="zh-CN" sz="9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6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zh-CN" altLang="en-US" sz="2600" dirty="0">
                <a:solidFill>
                  <a:prstClr val="black"/>
                </a:solidFill>
                <a:latin typeface="Times New Roman" pitchFamily="18" charset="0"/>
              </a:rPr>
              <a:t>位 </a:t>
            </a:r>
            <a:endParaRPr lang="zh-CN" altLang="en-US" dirty="0"/>
          </a:p>
        </p:txBody>
      </p:sp>
      <p:sp>
        <p:nvSpPr>
          <p:cNvPr id="384" name="矩形 383"/>
          <p:cNvSpPr/>
          <p:nvPr/>
        </p:nvSpPr>
        <p:spPr>
          <a:xfrm>
            <a:off x="7436848" y="617089"/>
            <a:ext cx="153760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2600" dirty="0">
                <a:solidFill>
                  <a:prstClr val="black"/>
                </a:solidFill>
                <a:latin typeface="Times New Roman" pitchFamily="18" charset="0"/>
              </a:rPr>
              <a:t>K</a:t>
            </a:r>
            <a:r>
              <a:rPr lang="en-US" altLang="zh-CN" sz="900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sz="2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×4</a:t>
            </a:r>
            <a:r>
              <a:rPr lang="zh-CN" altLang="en-US" sz="2600" dirty="0" smtClean="0">
                <a:solidFill>
                  <a:prstClr val="black"/>
                </a:solidFill>
                <a:latin typeface="Times New Roman" pitchFamily="18" charset="0"/>
              </a:rPr>
              <a:t>位 </a:t>
            </a:r>
            <a:endParaRPr lang="zh-CN" altLang="en-US" dirty="0"/>
          </a:p>
        </p:txBody>
      </p:sp>
      <p:cxnSp>
        <p:nvCxnSpPr>
          <p:cNvPr id="385" name="直接连接符 384"/>
          <p:cNvCxnSpPr/>
          <p:nvPr/>
        </p:nvCxnSpPr>
        <p:spPr>
          <a:xfrm>
            <a:off x="7382791" y="614345"/>
            <a:ext cx="161491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矩形 385"/>
          <p:cNvSpPr/>
          <p:nvPr/>
        </p:nvSpPr>
        <p:spPr>
          <a:xfrm>
            <a:off x="6898005" y="1046362"/>
            <a:ext cx="2199641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600" b="1" dirty="0" smtClean="0">
                <a:solidFill>
                  <a:srgbClr val="FF0000"/>
                </a:solidFill>
                <a:latin typeface="Times New Roman" pitchFamily="18" charset="0"/>
              </a:rPr>
              <a:t>=4</a:t>
            </a:r>
            <a:r>
              <a:rPr lang="zh-CN" altLang="en-US" sz="2600" b="1" dirty="0" smtClean="0">
                <a:solidFill>
                  <a:srgbClr val="FF0000"/>
                </a:solidFill>
                <a:latin typeface="Times New Roman" pitchFamily="18" charset="0"/>
              </a:rPr>
              <a:t>组</a:t>
            </a:r>
            <a:r>
              <a:rPr lang="en-US" altLang="zh-CN" sz="900" b="1" dirty="0" smtClean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sz="2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 altLang="zh-CN" sz="9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600" b="1" dirty="0" smtClean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zh-CN" altLang="en-US" sz="2600" b="1" dirty="0" smtClean="0">
                <a:solidFill>
                  <a:srgbClr val="FF0000"/>
                </a:solidFill>
                <a:latin typeface="Times New Roman" pitchFamily="18" charset="0"/>
              </a:rPr>
              <a:t>片</a:t>
            </a:r>
            <a:r>
              <a:rPr lang="en-US" altLang="zh-CN" sz="2600" b="1" dirty="0" smtClean="0">
                <a:solidFill>
                  <a:srgbClr val="FF0000"/>
                </a:solidFill>
                <a:latin typeface="Times New Roman" pitchFamily="18" charset="0"/>
              </a:rPr>
              <a:t>/</a:t>
            </a:r>
            <a:r>
              <a:rPr lang="zh-CN" altLang="en-US" sz="2600" b="1" dirty="0" smtClean="0">
                <a:solidFill>
                  <a:srgbClr val="FF0000"/>
                </a:solidFill>
                <a:latin typeface="Times New Roman" pitchFamily="18" charset="0"/>
              </a:rPr>
              <a:t>组</a:t>
            </a:r>
            <a:endParaRPr lang="en-US" altLang="zh-CN" sz="2600" b="1" dirty="0" smtClean="0">
              <a:solidFill>
                <a:srgbClr val="FF0000"/>
              </a:solidFill>
              <a:latin typeface="Times New Roman" pitchFamily="18" charset="0"/>
            </a:endParaRPr>
          </a:p>
          <a:p>
            <a:r>
              <a:rPr lang="en-US" altLang="zh-CN" sz="2600" b="1" dirty="0" smtClean="0">
                <a:solidFill>
                  <a:srgbClr val="FF0000"/>
                </a:solidFill>
                <a:latin typeface="Times New Roman" pitchFamily="18" charset="0"/>
              </a:rPr>
              <a:t>=8</a:t>
            </a:r>
            <a:r>
              <a:rPr lang="zh-CN" altLang="en-US" sz="2600" b="1" dirty="0" smtClean="0">
                <a:solidFill>
                  <a:srgbClr val="FF0000"/>
                </a:solidFill>
                <a:latin typeface="Times New Roman" pitchFamily="18" charset="0"/>
              </a:rPr>
              <a:t>片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9650" y="4292203"/>
            <a:ext cx="1701800" cy="5611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7" name="矩形 386"/>
          <p:cNvSpPr/>
          <p:nvPr/>
        </p:nvSpPr>
        <p:spPr>
          <a:xfrm>
            <a:off x="2882149" y="4279503"/>
            <a:ext cx="1701800" cy="5611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矩形 387"/>
          <p:cNvSpPr/>
          <p:nvPr/>
        </p:nvSpPr>
        <p:spPr>
          <a:xfrm>
            <a:off x="4806950" y="4279502"/>
            <a:ext cx="1701800" cy="5611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9" name="矩形 388"/>
          <p:cNvSpPr/>
          <p:nvPr/>
        </p:nvSpPr>
        <p:spPr>
          <a:xfrm>
            <a:off x="6651625" y="4279501"/>
            <a:ext cx="1701800" cy="5611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0" name="矩形 389"/>
          <p:cNvSpPr/>
          <p:nvPr/>
        </p:nvSpPr>
        <p:spPr>
          <a:xfrm>
            <a:off x="1825729" y="2178434"/>
            <a:ext cx="53623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2800" dirty="0" smtClean="0">
                <a:solidFill>
                  <a:prstClr val="black"/>
                </a:solidFill>
                <a:latin typeface="Times New Roman" pitchFamily="18" charset="0"/>
              </a:rPr>
              <a:t>K </a:t>
            </a:r>
            <a:r>
              <a:rPr lang="en-US" altLang="zh-CN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×4</a:t>
            </a:r>
            <a:r>
              <a:rPr lang="zh-CN" altLang="en-US" sz="2800" dirty="0" smtClean="0">
                <a:solidFill>
                  <a:prstClr val="black"/>
                </a:solidFill>
                <a:latin typeface="Times New Roman" pitchFamily="18" charset="0"/>
              </a:rPr>
              <a:t>位→ 1</a:t>
            </a:r>
            <a:r>
              <a:rPr lang="en-US" altLang="zh-CN" sz="2800" dirty="0" smtClean="0">
                <a:solidFill>
                  <a:prstClr val="black"/>
                </a:solidFill>
                <a:latin typeface="Times New Roman" pitchFamily="18" charset="0"/>
              </a:rPr>
              <a:t>K </a:t>
            </a:r>
            <a:r>
              <a:rPr lang="en-US" altLang="zh-CN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×8</a:t>
            </a:r>
            <a:r>
              <a:rPr lang="zh-CN" altLang="en-US" sz="2800" dirty="0" smtClean="0">
                <a:solidFill>
                  <a:prstClr val="black"/>
                </a:solidFill>
                <a:latin typeface="Times New Roman" pitchFamily="18" charset="0"/>
              </a:rPr>
              <a:t>位</a:t>
            </a:r>
            <a:r>
              <a:rPr lang="en-US" altLang="zh-CN" sz="2800" dirty="0" smtClean="0">
                <a:solidFill>
                  <a:prstClr val="black"/>
                </a:solidFill>
                <a:latin typeface="Times New Roman" pitchFamily="18" charset="0"/>
              </a:rPr>
              <a:t>→ 4K ×8</a:t>
            </a:r>
            <a:r>
              <a:rPr lang="zh-CN" altLang="en-US" sz="2800" dirty="0" smtClean="0">
                <a:solidFill>
                  <a:prstClr val="black"/>
                </a:solidFill>
                <a:latin typeface="Times New Roman" pitchFamily="18" charset="0"/>
              </a:rPr>
              <a:t>位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10617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4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9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7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2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6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1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6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1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6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utoUpdateAnimBg="0"/>
      <p:bldP spid="381" grpId="0"/>
      <p:bldP spid="381" grpId="1"/>
      <p:bldP spid="382" grpId="0"/>
      <p:bldP spid="383" grpId="0"/>
      <p:bldP spid="384" grpId="0"/>
      <p:bldP spid="386" grpId="0"/>
      <p:bldP spid="3" grpId="0" animBg="1"/>
      <p:bldP spid="387" grpId="0" animBg="1"/>
      <p:bldP spid="388" grpId="0" animBg="1"/>
      <p:bldP spid="389" grpId="0" animBg="1"/>
      <p:bldP spid="39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mtClean="0"/>
              <a:t>★</a:t>
            </a:r>
            <a:r>
              <a:rPr lang="zh-CN" altLang="en-US" smtClean="0"/>
              <a:t>七、</a:t>
            </a:r>
            <a:r>
              <a:rPr lang="zh-CN" altLang="en-US" dirty="0" smtClean="0">
                <a:latin typeface="Times New Roman" pitchFamily="18" charset="0"/>
              </a:rPr>
              <a:t>存储器</a:t>
            </a:r>
            <a:r>
              <a:rPr lang="zh-CN" altLang="en-US" dirty="0">
                <a:latin typeface="Times New Roman" pitchFamily="18" charset="0"/>
              </a:rPr>
              <a:t>与 </a:t>
            </a:r>
            <a:r>
              <a:rPr lang="en-US" altLang="zh-CN" dirty="0">
                <a:latin typeface="Times New Roman" pitchFamily="18" charset="0"/>
              </a:rPr>
              <a:t>CPU </a:t>
            </a:r>
            <a:r>
              <a:rPr lang="zh-CN" altLang="en-US" dirty="0">
                <a:latin typeface="Times New Roman" pitchFamily="18" charset="0"/>
              </a:rPr>
              <a:t>的连接</a:t>
            </a:r>
            <a:r>
              <a:rPr lang="en-US" altLang="zh-CN" sz="3600" dirty="0">
                <a:latin typeface="Times New Roman" pitchFamily="18" charset="0"/>
              </a:rPr>
              <a:t> </a:t>
            </a:r>
            <a:endParaRPr lang="zh-CN" altLang="en-US" dirty="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749962" y="1103025"/>
            <a:ext cx="55707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3600" dirty="0" smtClean="0">
                <a:latin typeface="Times New Roman" pitchFamily="18" charset="0"/>
              </a:rPr>
              <a:t>存储器</a:t>
            </a:r>
            <a:r>
              <a:rPr lang="zh-CN" altLang="en-US" sz="3600" dirty="0">
                <a:latin typeface="Times New Roman" pitchFamily="18" charset="0"/>
              </a:rPr>
              <a:t>与 </a:t>
            </a:r>
            <a:r>
              <a:rPr lang="en-US" altLang="zh-CN" sz="3600" dirty="0">
                <a:latin typeface="Times New Roman" pitchFamily="18" charset="0"/>
              </a:rPr>
              <a:t>CPU </a:t>
            </a:r>
            <a:r>
              <a:rPr lang="zh-CN" altLang="en-US" sz="3600" dirty="0">
                <a:latin typeface="Times New Roman" pitchFamily="18" charset="0"/>
              </a:rPr>
              <a:t>的</a:t>
            </a:r>
            <a:r>
              <a:rPr lang="zh-CN" altLang="en-US" sz="3600" dirty="0" smtClean="0">
                <a:latin typeface="Times New Roman" pitchFamily="18" charset="0"/>
              </a:rPr>
              <a:t>连接</a:t>
            </a:r>
            <a:r>
              <a:rPr lang="zh-CN" altLang="en-US" sz="3600" dirty="0">
                <a:latin typeface="Times New Roman" pitchFamily="18" charset="0"/>
              </a:rPr>
              <a:t>方法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endParaRPr lang="en-US" altLang="zh-CN" sz="3200" dirty="0">
              <a:latin typeface="Times New Roman" pitchFamily="18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749961" y="1721031"/>
            <a:ext cx="853592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</a:rPr>
              <a:t>(1) 地址线的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itchFamily="18" charset="0"/>
              </a:rPr>
              <a:t>连接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itchFamily="18" charset="0"/>
              </a:rPr>
              <a:t>片内地址来自地址总线低位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itchFamily="18" charset="0"/>
              </a:rPr>
              <a:t>)</a:t>
            </a:r>
            <a:endParaRPr lang="zh-CN" altLang="en-US" sz="32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749962" y="2410878"/>
            <a:ext cx="8083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itchFamily="18" charset="0"/>
              </a:rPr>
              <a:t>(2) 数据线的</a:t>
            </a:r>
            <a:r>
              <a:rPr lang="zh-CN" altLang="en-US" sz="3200" dirty="0" smtClean="0">
                <a:latin typeface="Times New Roman" pitchFamily="18" charset="0"/>
              </a:rPr>
              <a:t>连接</a:t>
            </a:r>
            <a:r>
              <a:rPr lang="en-US" altLang="zh-CN" sz="3200" dirty="0" smtClean="0">
                <a:latin typeface="Times New Roman" pitchFamily="18" charset="0"/>
              </a:rPr>
              <a:t>(</a:t>
            </a:r>
            <a:r>
              <a:rPr lang="zh-CN" altLang="en-US" sz="3200" dirty="0" smtClean="0">
                <a:latin typeface="Times New Roman" pitchFamily="18" charset="0"/>
              </a:rPr>
              <a:t>同字、位扩展时的连法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endParaRPr lang="zh-CN" altLang="en-US" sz="3200" dirty="0">
              <a:latin typeface="Times New Roman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49962" y="3039248"/>
            <a:ext cx="64389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itchFamily="18" charset="0"/>
              </a:rPr>
              <a:t>(3) 读/写命令线的</a:t>
            </a:r>
            <a:r>
              <a:rPr lang="zh-CN" altLang="en-US" sz="3200" dirty="0" smtClean="0">
                <a:latin typeface="Times New Roman" pitchFamily="18" charset="0"/>
              </a:rPr>
              <a:t>连接</a:t>
            </a:r>
            <a:r>
              <a:rPr lang="en-US" altLang="zh-CN" sz="3200" dirty="0" smtClean="0">
                <a:latin typeface="Times New Roman" pitchFamily="18" charset="0"/>
              </a:rPr>
              <a:t>(ROM</a:t>
            </a:r>
            <a:r>
              <a:rPr lang="zh-CN" altLang="en-US" sz="3200" dirty="0" smtClean="0">
                <a:latin typeface="Times New Roman" pitchFamily="18" charset="0"/>
              </a:rPr>
              <a:t>除外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endParaRPr lang="zh-CN" altLang="en-US" sz="3200" dirty="0">
              <a:latin typeface="Times New Roman" pitchFamily="18" charset="0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749961" y="3681797"/>
            <a:ext cx="829243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</a:rPr>
              <a:t>(4) 片选线的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itchFamily="18" charset="0"/>
              </a:rPr>
              <a:t>连</a:t>
            </a:r>
            <a:r>
              <a:rPr lang="zh-CN" altLang="en-US" sz="3200" b="1" smtClean="0">
                <a:solidFill>
                  <a:srgbClr val="FF0000"/>
                </a:solidFill>
                <a:latin typeface="Times New Roman" pitchFamily="18" charset="0"/>
              </a:rPr>
              <a:t>接</a:t>
            </a:r>
            <a:r>
              <a:rPr lang="en-US" altLang="zh-CN" sz="3200" b="1" smtClean="0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lang="zh-CN" altLang="en-US" sz="3200" b="1" smtClean="0">
                <a:solidFill>
                  <a:srgbClr val="FF0000"/>
                </a:solidFill>
                <a:latin typeface="Times New Roman" pitchFamily="18" charset="0"/>
              </a:rPr>
              <a:t>片选输入来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itchFamily="18" charset="0"/>
              </a:rPr>
              <a:t>自地址总线高位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itchFamily="18" charset="0"/>
              </a:rPr>
              <a:t>)</a:t>
            </a:r>
            <a:endParaRPr lang="zh-CN" altLang="en-US" sz="32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749961" y="4325934"/>
            <a:ext cx="808355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Times New Roman" pitchFamily="18" charset="0"/>
              </a:rPr>
              <a:t>(5) 合理选择</a:t>
            </a:r>
            <a:r>
              <a:rPr lang="zh-CN" altLang="en-US" sz="3200" dirty="0" smtClean="0">
                <a:latin typeface="Times New Roman" pitchFamily="18" charset="0"/>
              </a:rPr>
              <a:t>存储芯片</a:t>
            </a:r>
            <a:endParaRPr lang="en-US" altLang="zh-CN" sz="3200" dirty="0" smtClean="0">
              <a:latin typeface="Times New Roman" pitchFamily="18" charset="0"/>
            </a:endParaRPr>
          </a:p>
          <a:p>
            <a:r>
              <a:rPr lang="zh-CN" altLang="en-US" sz="3200" dirty="0" smtClean="0">
                <a:latin typeface="Times New Roman" pitchFamily="18" charset="0"/>
              </a:rPr>
              <a:t>    （原则：芯片尽量少，片选逻辑尽量简单</a:t>
            </a:r>
            <a:r>
              <a:rPr lang="zh-CN" altLang="en-US" sz="3200" dirty="0">
                <a:latin typeface="Times New Roman" pitchFamily="18" charset="0"/>
              </a:rPr>
              <a:t>）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749962" y="5403152"/>
            <a:ext cx="808924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itchFamily="18" charset="0"/>
              </a:rPr>
              <a:t>(6) 其他       时序、</a:t>
            </a:r>
            <a:r>
              <a:rPr lang="zh-CN" altLang="en-US" sz="3200" dirty="0" smtClean="0">
                <a:latin typeface="Times New Roman" pitchFamily="18" charset="0"/>
              </a:rPr>
              <a:t>负载、工作频率、电</a:t>
            </a:r>
            <a:r>
              <a:rPr lang="zh-CN" altLang="en-US" sz="3200" smtClean="0">
                <a:latin typeface="Times New Roman" pitchFamily="18" charset="0"/>
              </a:rPr>
              <a:t>压等</a:t>
            </a:r>
            <a:endParaRPr lang="en-US" altLang="zh-CN" sz="3200" smtClean="0">
              <a:latin typeface="Times New Roman" pitchFamily="18" charset="0"/>
            </a:endParaRPr>
          </a:p>
          <a:p>
            <a:r>
              <a:rPr lang="en-US" altLang="zh-CN" sz="3200">
                <a:latin typeface="Times New Roman" pitchFamily="18" charset="0"/>
              </a:rPr>
              <a:t> </a:t>
            </a:r>
            <a:r>
              <a:rPr lang="en-US" altLang="zh-CN" sz="3200" smtClean="0">
                <a:latin typeface="Times New Roman" pitchFamily="18" charset="0"/>
              </a:rPr>
              <a:t>                     【</a:t>
            </a:r>
            <a:r>
              <a:rPr lang="zh-CN" altLang="en-US" sz="3200" smtClean="0">
                <a:latin typeface="Times New Roman" pitchFamily="18" charset="0"/>
              </a:rPr>
              <a:t>本课程不考虑</a:t>
            </a:r>
            <a:r>
              <a:rPr lang="en-US" altLang="zh-CN" sz="3200" smtClean="0">
                <a:latin typeface="Times New Roman" pitchFamily="18" charset="0"/>
              </a:rPr>
              <a:t>】</a:t>
            </a:r>
            <a:endParaRPr lang="zh-CN" altLang="en-US" sz="32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71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1122" name="Text Box 2"/>
              <p:cNvSpPr txBox="1">
                <a:spLocks noChangeArrowheads="1"/>
              </p:cNvSpPr>
              <p:nvPr/>
            </p:nvSpPr>
            <p:spPr bwMode="auto">
              <a:xfrm>
                <a:off x="262327" y="332656"/>
                <a:ext cx="8115300" cy="64026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 b="1" dirty="0" smtClean="0">
                    <a:latin typeface="黑体" pitchFamily="49" charset="-122"/>
                    <a:ea typeface="黑体" pitchFamily="49" charset="-122"/>
                  </a:rPr>
                  <a:t>  例</a:t>
                </a:r>
                <a:r>
                  <a:rPr lang="zh-CN" altLang="en-US" sz="3200" b="1" dirty="0">
                    <a:latin typeface="黑体" pitchFamily="49" charset="-122"/>
                    <a:ea typeface="黑体" pitchFamily="49" charset="-122"/>
                  </a:rPr>
                  <a:t>4.1</a:t>
                </a:r>
                <a:r>
                  <a:rPr lang="zh-CN" altLang="en-US" sz="2800" b="1" dirty="0">
                    <a:latin typeface="黑体" pitchFamily="49" charset="-122"/>
                    <a:ea typeface="黑体" pitchFamily="49" charset="-122"/>
                  </a:rPr>
                  <a:t>   </a:t>
                </a:r>
                <a:r>
                  <a:rPr lang="zh-CN" altLang="en-US" sz="2800" dirty="0" smtClean="0"/>
                  <a:t>设</a:t>
                </a:r>
                <a:r>
                  <a:rPr lang="en-US" altLang="zh-CN" sz="2800" dirty="0">
                    <a:latin typeface="Times New Roman" pitchFamily="18" charset="0"/>
                  </a:rPr>
                  <a:t>CPU</a:t>
                </a:r>
                <a:r>
                  <a:rPr lang="zh-CN" altLang="en-US" sz="2800" dirty="0" smtClean="0"/>
                  <a:t>有</a:t>
                </a:r>
                <a:r>
                  <a:rPr lang="en-US" altLang="zh-CN" sz="2800" dirty="0" smtClean="0"/>
                  <a:t>16</a:t>
                </a:r>
                <a:r>
                  <a:rPr lang="zh-CN" altLang="en-US" sz="2800" dirty="0" smtClean="0"/>
                  <a:t>根地址线、</a:t>
                </a:r>
                <a:r>
                  <a:rPr lang="en-US" altLang="zh-CN" sz="2800" dirty="0" smtClean="0"/>
                  <a:t>8</a:t>
                </a:r>
                <a:r>
                  <a:rPr lang="zh-CN" altLang="en-US" sz="2800" dirty="0" smtClean="0"/>
                  <a:t>根数据线，并</a:t>
                </a:r>
                <a:r>
                  <a:rPr lang="zh-CN" altLang="en-US" sz="2800" dirty="0"/>
                  <a:t>用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800" i="1" smtClean="0">
                            <a:latin typeface="Cambria Math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/>
                          </a:rPr>
                          <m:t>MREQ</m:t>
                        </m:r>
                      </m:e>
                    </m:acc>
                  </m:oMath>
                </a14:m>
                <a:r>
                  <a:rPr lang="en-US" altLang="zh-CN" sz="2800" dirty="0" smtClean="0">
                    <a:latin typeface="Times New Roman" pitchFamily="18" charset="0"/>
                  </a:rPr>
                  <a:t> </a:t>
                </a:r>
                <a:r>
                  <a:rPr lang="zh-CN" altLang="en-US" sz="2800" dirty="0" smtClean="0">
                    <a:latin typeface="Times New Roman" pitchFamily="18" charset="0"/>
                  </a:rPr>
                  <a:t>作为访存控制信号（低电平有效），用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800" i="1">
                            <a:latin typeface="Cambria Math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1" smtClean="0">
                            <a:latin typeface="Cambria Math"/>
                          </a:rPr>
                          <m:t>W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/>
                          </a:rPr>
                          <m:t>R</m:t>
                        </m:r>
                      </m:e>
                    </m:acc>
                  </m:oMath>
                </a14:m>
                <a:r>
                  <a:rPr lang="zh-CN" altLang="en-US" sz="2800" dirty="0" smtClean="0">
                    <a:latin typeface="Times New Roman" pitchFamily="18" charset="0"/>
                  </a:rPr>
                  <a:t>作为读</a:t>
                </a:r>
                <a:r>
                  <a:rPr lang="en-US" altLang="zh-CN" sz="2800" dirty="0" smtClean="0">
                    <a:latin typeface="Times New Roman" pitchFamily="18" charset="0"/>
                  </a:rPr>
                  <a:t>/</a:t>
                </a:r>
                <a:r>
                  <a:rPr lang="zh-CN" altLang="en-US" sz="2800" dirty="0" smtClean="0">
                    <a:latin typeface="Times New Roman" pitchFamily="18" charset="0"/>
                  </a:rPr>
                  <a:t>写控制信号（高电平为读，低电平为写）。现有下列存储芯片：</a:t>
                </a:r>
                <a:r>
                  <a:rPr lang="en-US" altLang="zh-CN" sz="2800" dirty="0" smtClean="0">
                    <a:latin typeface="Times New Roman" pitchFamily="18" charset="0"/>
                  </a:rPr>
                  <a:t>1K*4</a:t>
                </a:r>
                <a:r>
                  <a:rPr lang="zh-CN" altLang="en-US" sz="2800" dirty="0" smtClean="0">
                    <a:latin typeface="Times New Roman" pitchFamily="18" charset="0"/>
                  </a:rPr>
                  <a:t>位</a:t>
                </a:r>
                <a:r>
                  <a:rPr lang="en-US" altLang="zh-CN" sz="2800" dirty="0" smtClean="0">
                    <a:latin typeface="Times New Roman" pitchFamily="18" charset="0"/>
                  </a:rPr>
                  <a:t>RAM</a:t>
                </a:r>
                <a:r>
                  <a:rPr lang="zh-CN" altLang="en-US" sz="2800" dirty="0" smtClean="0">
                    <a:latin typeface="Times New Roman" pitchFamily="18" charset="0"/>
                  </a:rPr>
                  <a:t>、</a:t>
                </a:r>
                <a:r>
                  <a:rPr lang="en-US" altLang="zh-CN" sz="2800" dirty="0" smtClean="0">
                    <a:latin typeface="Times New Roman" pitchFamily="18" charset="0"/>
                  </a:rPr>
                  <a:t>4K*8</a:t>
                </a:r>
                <a:r>
                  <a:rPr lang="zh-CN" altLang="en-US" sz="2800" dirty="0" smtClean="0">
                    <a:latin typeface="Times New Roman" pitchFamily="18" charset="0"/>
                  </a:rPr>
                  <a:t>位</a:t>
                </a:r>
                <a:r>
                  <a:rPr lang="en-US" altLang="zh-CN" sz="2800" dirty="0" smtClean="0">
                    <a:latin typeface="Times New Roman" pitchFamily="18" charset="0"/>
                  </a:rPr>
                  <a:t>RAM</a:t>
                </a:r>
                <a:r>
                  <a:rPr lang="zh-CN" altLang="en-US" sz="2800" dirty="0" smtClean="0">
                    <a:latin typeface="Times New Roman" pitchFamily="18" charset="0"/>
                  </a:rPr>
                  <a:t>、</a:t>
                </a:r>
                <a:r>
                  <a:rPr lang="en-US" altLang="zh-CN" sz="2800" dirty="0" smtClean="0">
                    <a:latin typeface="Times New Roman" pitchFamily="18" charset="0"/>
                  </a:rPr>
                  <a:t>8K</a:t>
                </a:r>
                <a:r>
                  <a:rPr lang="zh-CN" altLang="en-US" sz="2800" dirty="0" smtClean="0">
                    <a:latin typeface="Times New Roman" pitchFamily="18" charset="0"/>
                  </a:rPr>
                  <a:t>*</a:t>
                </a:r>
                <a:r>
                  <a:rPr lang="en-US" altLang="zh-CN" sz="2800" dirty="0" smtClean="0">
                    <a:latin typeface="Times New Roman" pitchFamily="18" charset="0"/>
                  </a:rPr>
                  <a:t>8</a:t>
                </a:r>
                <a:r>
                  <a:rPr lang="zh-CN" altLang="en-US" sz="2800" dirty="0" smtClean="0">
                    <a:latin typeface="Times New Roman" pitchFamily="18" charset="0"/>
                  </a:rPr>
                  <a:t>位</a:t>
                </a:r>
                <a:r>
                  <a:rPr lang="en-US" altLang="zh-CN" sz="2800" dirty="0" smtClean="0">
                    <a:latin typeface="Times New Roman" pitchFamily="18" charset="0"/>
                  </a:rPr>
                  <a:t>RAM</a:t>
                </a:r>
                <a:r>
                  <a:rPr lang="zh-CN" altLang="en-US" sz="2800" dirty="0" smtClean="0">
                    <a:latin typeface="Times New Roman" pitchFamily="18" charset="0"/>
                  </a:rPr>
                  <a:t>、</a:t>
                </a:r>
                <a:r>
                  <a:rPr lang="en-US" altLang="zh-CN" sz="2800" dirty="0" smtClean="0">
                    <a:latin typeface="Times New Roman" pitchFamily="18" charset="0"/>
                  </a:rPr>
                  <a:t>2K</a:t>
                </a:r>
                <a:r>
                  <a:rPr lang="zh-CN" altLang="en-US" sz="2800" dirty="0" smtClean="0">
                    <a:latin typeface="Times New Roman" pitchFamily="18" charset="0"/>
                  </a:rPr>
                  <a:t>*</a:t>
                </a:r>
                <a:r>
                  <a:rPr lang="en-US" altLang="zh-CN" sz="2800" dirty="0" smtClean="0">
                    <a:latin typeface="Times New Roman" pitchFamily="18" charset="0"/>
                  </a:rPr>
                  <a:t>8</a:t>
                </a:r>
                <a:r>
                  <a:rPr lang="zh-CN" altLang="en-US" sz="2800" dirty="0" smtClean="0">
                    <a:latin typeface="Times New Roman" pitchFamily="18" charset="0"/>
                  </a:rPr>
                  <a:t>位</a:t>
                </a:r>
                <a:r>
                  <a:rPr lang="en-US" altLang="zh-CN" sz="2800" dirty="0" smtClean="0">
                    <a:latin typeface="Times New Roman" pitchFamily="18" charset="0"/>
                  </a:rPr>
                  <a:t>ROM</a:t>
                </a:r>
                <a:r>
                  <a:rPr lang="zh-CN" altLang="en-US" sz="2800" dirty="0" smtClean="0">
                    <a:latin typeface="Times New Roman" pitchFamily="18" charset="0"/>
                  </a:rPr>
                  <a:t>、</a:t>
                </a:r>
                <a:r>
                  <a:rPr lang="en-US" altLang="zh-CN" sz="2800" dirty="0" smtClean="0">
                    <a:latin typeface="Times New Roman" pitchFamily="18" charset="0"/>
                  </a:rPr>
                  <a:t>4K</a:t>
                </a:r>
                <a:r>
                  <a:rPr lang="zh-CN" altLang="en-US" sz="2800" dirty="0" smtClean="0">
                    <a:latin typeface="Times New Roman" pitchFamily="18" charset="0"/>
                  </a:rPr>
                  <a:t>*</a:t>
                </a:r>
                <a:r>
                  <a:rPr lang="en-US" altLang="zh-CN" sz="2800" dirty="0" smtClean="0">
                    <a:latin typeface="Times New Roman" pitchFamily="18" charset="0"/>
                  </a:rPr>
                  <a:t>8</a:t>
                </a:r>
                <a:r>
                  <a:rPr lang="zh-CN" altLang="en-US" sz="2800" dirty="0" smtClean="0">
                    <a:latin typeface="Times New Roman" pitchFamily="18" charset="0"/>
                  </a:rPr>
                  <a:t>位</a:t>
                </a:r>
                <a:r>
                  <a:rPr lang="en-US" altLang="zh-CN" sz="2800" dirty="0" smtClean="0">
                    <a:latin typeface="Times New Roman" pitchFamily="18" charset="0"/>
                  </a:rPr>
                  <a:t>ROM</a:t>
                </a:r>
                <a:r>
                  <a:rPr lang="zh-CN" altLang="en-US" sz="2800" dirty="0" smtClean="0">
                    <a:latin typeface="Times New Roman" pitchFamily="18" charset="0"/>
                  </a:rPr>
                  <a:t>、</a:t>
                </a:r>
                <a:r>
                  <a:rPr lang="en-US" altLang="zh-CN" sz="2800" dirty="0" smtClean="0">
                    <a:latin typeface="Times New Roman" pitchFamily="18" charset="0"/>
                  </a:rPr>
                  <a:t>8K*8</a:t>
                </a:r>
                <a:r>
                  <a:rPr lang="zh-CN" altLang="en-US" sz="2800" dirty="0" smtClean="0">
                    <a:latin typeface="Times New Roman" pitchFamily="18" charset="0"/>
                  </a:rPr>
                  <a:t>位</a:t>
                </a:r>
                <a:r>
                  <a:rPr lang="en-US" altLang="zh-CN" sz="2800" dirty="0" smtClean="0">
                    <a:latin typeface="Times New Roman" pitchFamily="18" charset="0"/>
                  </a:rPr>
                  <a:t>ROM</a:t>
                </a:r>
                <a:r>
                  <a:rPr lang="zh-CN" altLang="en-US" sz="2800" dirty="0" smtClean="0">
                    <a:latin typeface="Times New Roman" pitchFamily="18" charset="0"/>
                  </a:rPr>
                  <a:t>及</a:t>
                </a:r>
                <a:r>
                  <a:rPr lang="en-US" altLang="zh-CN" sz="2800" dirty="0" smtClean="0">
                    <a:latin typeface="Times New Roman" pitchFamily="18" charset="0"/>
                  </a:rPr>
                  <a:t>74138</a:t>
                </a:r>
                <a:r>
                  <a:rPr lang="zh-CN" altLang="en-US" sz="2800" dirty="0" smtClean="0">
                    <a:latin typeface="Times New Roman" pitchFamily="18" charset="0"/>
                  </a:rPr>
                  <a:t>译码器和各种门电路，画出</a:t>
                </a:r>
                <a:r>
                  <a:rPr lang="en-US" altLang="zh-CN" sz="2800" dirty="0" smtClean="0">
                    <a:latin typeface="Times New Roman" pitchFamily="18" charset="0"/>
                  </a:rPr>
                  <a:t>CPU</a:t>
                </a:r>
                <a:r>
                  <a:rPr lang="zh-CN" altLang="en-US" sz="2800" dirty="0" smtClean="0">
                    <a:latin typeface="Times New Roman" pitchFamily="18" charset="0"/>
                  </a:rPr>
                  <a:t>与存储器的连接图，要求如下：</a:t>
                </a:r>
                <a:endParaRPr lang="en-US" altLang="zh-CN" sz="2800" dirty="0" smtClean="0">
                  <a:latin typeface="Times New Roman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800" dirty="0" smtClean="0">
                    <a:latin typeface="Times New Roman" pitchFamily="18" charset="0"/>
                  </a:rPr>
                  <a:t>（</a:t>
                </a:r>
                <a:r>
                  <a:rPr lang="en-US" altLang="zh-CN" sz="2800" dirty="0" smtClean="0">
                    <a:latin typeface="Times New Roman" pitchFamily="18" charset="0"/>
                  </a:rPr>
                  <a:t>1</a:t>
                </a:r>
                <a:r>
                  <a:rPr lang="zh-CN" altLang="en-US" sz="2800" dirty="0" smtClean="0">
                    <a:latin typeface="Times New Roman" pitchFamily="18" charset="0"/>
                  </a:rPr>
                  <a:t>）主存地址空间分配：</a:t>
                </a:r>
                <a:endParaRPr lang="en-US" altLang="zh-CN" sz="2800" dirty="0" smtClean="0">
                  <a:latin typeface="Times New Roman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en-US" altLang="zh-CN" sz="2800" dirty="0" smtClean="0">
                    <a:latin typeface="Times New Roman" pitchFamily="18" charset="0"/>
                  </a:rPr>
                  <a:t>6000H~67FFH</a:t>
                </a:r>
                <a:r>
                  <a:rPr lang="zh-CN" altLang="en-US" sz="2800" dirty="0" smtClean="0">
                    <a:latin typeface="Times New Roman" pitchFamily="18" charset="0"/>
                  </a:rPr>
                  <a:t>为系统程序区</a:t>
                </a:r>
                <a:endParaRPr lang="en-US" altLang="zh-CN" sz="2800" dirty="0" smtClean="0">
                  <a:latin typeface="Times New Roman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en-US" altLang="zh-CN" sz="2800" dirty="0" smtClean="0">
                    <a:latin typeface="Times New Roman" pitchFamily="18" charset="0"/>
                  </a:rPr>
                  <a:t>6800H~6BFFH</a:t>
                </a:r>
                <a:r>
                  <a:rPr lang="zh-CN" altLang="en-US" sz="2800" dirty="0" smtClean="0">
                    <a:latin typeface="Times New Roman" pitchFamily="18" charset="0"/>
                  </a:rPr>
                  <a:t>为用户程序区。</a:t>
                </a:r>
                <a:endParaRPr lang="en-US" altLang="zh-CN" sz="2800" dirty="0" smtClean="0">
                  <a:latin typeface="Times New Roman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800" dirty="0" smtClean="0">
                    <a:latin typeface="Times New Roman" pitchFamily="18" charset="0"/>
                  </a:rPr>
                  <a:t>（</a:t>
                </a:r>
                <a:r>
                  <a:rPr lang="en-US" altLang="zh-CN" sz="2800" dirty="0" smtClean="0">
                    <a:latin typeface="Times New Roman" pitchFamily="18" charset="0"/>
                  </a:rPr>
                  <a:t>2</a:t>
                </a:r>
                <a:r>
                  <a:rPr lang="zh-CN" altLang="en-US" sz="2800" dirty="0" smtClean="0">
                    <a:latin typeface="Times New Roman" pitchFamily="18" charset="0"/>
                  </a:rPr>
                  <a:t>）合理选用上述存储芯片，说明各选几片。</a:t>
                </a:r>
                <a:endParaRPr lang="en-US" altLang="zh-CN" sz="2800" dirty="0" smtClean="0">
                  <a:latin typeface="Times New Roman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800" dirty="0" smtClean="0">
                    <a:latin typeface="Times New Roman" pitchFamily="18" charset="0"/>
                  </a:rPr>
                  <a:t>（</a:t>
                </a:r>
                <a:r>
                  <a:rPr lang="en-US" altLang="zh-CN" sz="2800" dirty="0" smtClean="0">
                    <a:latin typeface="Times New Roman" pitchFamily="18" charset="0"/>
                  </a:rPr>
                  <a:t>3</a:t>
                </a:r>
                <a:r>
                  <a:rPr lang="zh-CN" altLang="en-US" sz="2800" dirty="0" smtClean="0">
                    <a:latin typeface="Times New Roman" pitchFamily="18" charset="0"/>
                  </a:rPr>
                  <a:t>）详细画出存储芯片的片选逻辑图。</a:t>
                </a:r>
                <a:endParaRPr lang="en-US" altLang="zh-CN" sz="28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61122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327" y="332656"/>
                <a:ext cx="8115300" cy="6402650"/>
              </a:xfrm>
              <a:prstGeom prst="rect">
                <a:avLst/>
              </a:prstGeom>
              <a:blipFill rotWithShape="1">
                <a:blip r:embed="rId3"/>
                <a:stretch>
                  <a:fillRect l="-1503" t="-1905" r="-3681" b="-181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1156" name="Text Box 36"/>
          <p:cNvSpPr txBox="1">
            <a:spLocks noChangeArrowheads="1"/>
          </p:cNvSpPr>
          <p:nvPr/>
        </p:nvSpPr>
        <p:spPr bwMode="auto">
          <a:xfrm>
            <a:off x="7604125" y="6011863"/>
            <a:ext cx="15398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3200">
              <a:latin typeface="Times New Roman" pitchFamily="18" charset="0"/>
            </a:endParaRPr>
          </a:p>
        </p:txBody>
      </p:sp>
      <p:sp>
        <p:nvSpPr>
          <p:cNvPr id="261168" name="AutoShape 48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5784614" y="3267971"/>
            <a:ext cx="1959318" cy="2250062"/>
            <a:chOff x="6523308" y="3143251"/>
            <a:chExt cx="1959318" cy="2250062"/>
          </a:xfrm>
        </p:grpSpPr>
        <p:grpSp>
          <p:nvGrpSpPr>
            <p:cNvPr id="11" name="组合 10"/>
            <p:cNvGrpSpPr/>
            <p:nvPr/>
          </p:nvGrpSpPr>
          <p:grpSpPr>
            <a:xfrm>
              <a:off x="6523308" y="3143251"/>
              <a:ext cx="1959318" cy="2011362"/>
              <a:chOff x="6438306" y="3284984"/>
              <a:chExt cx="1959318" cy="2011362"/>
            </a:xfrm>
          </p:grpSpPr>
          <p:pic>
            <p:nvPicPr>
              <p:cNvPr id="5122" name="Picture 2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89714" y="3284984"/>
                <a:ext cx="1146175" cy="20113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3" name="直接连接符 2"/>
              <p:cNvCxnSpPr/>
              <p:nvPr/>
            </p:nvCxnSpPr>
            <p:spPr>
              <a:xfrm>
                <a:off x="6444208" y="3533981"/>
                <a:ext cx="288032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6440733" y="3822781"/>
                <a:ext cx="17426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6444208" y="4130268"/>
                <a:ext cx="154086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6438306" y="4437112"/>
                <a:ext cx="288032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6444208" y="4725144"/>
                <a:ext cx="288032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6444208" y="5013176"/>
                <a:ext cx="288032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" name="组合 9"/>
              <p:cNvGrpSpPr/>
              <p:nvPr/>
            </p:nvGrpSpPr>
            <p:grpSpPr>
              <a:xfrm>
                <a:off x="7731344" y="3331731"/>
                <a:ext cx="661735" cy="369332"/>
                <a:chOff x="7740869" y="3331731"/>
                <a:chExt cx="661735" cy="369332"/>
              </a:xfrm>
            </p:grpSpPr>
            <p:grpSp>
              <p:nvGrpSpPr>
                <p:cNvPr id="8" name="组合 7"/>
                <p:cNvGrpSpPr/>
                <p:nvPr/>
              </p:nvGrpSpPr>
              <p:grpSpPr>
                <a:xfrm>
                  <a:off x="7740869" y="3493966"/>
                  <a:ext cx="254391" cy="92128"/>
                  <a:chOff x="7740869" y="3493966"/>
                  <a:chExt cx="254391" cy="92128"/>
                </a:xfrm>
              </p:grpSpPr>
              <p:sp>
                <p:nvSpPr>
                  <p:cNvPr id="6" name="椭圆 5"/>
                  <p:cNvSpPr/>
                  <p:nvPr/>
                </p:nvSpPr>
                <p:spPr>
                  <a:xfrm>
                    <a:off x="7740869" y="3493966"/>
                    <a:ext cx="90781" cy="9212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61" name="直接连接符 60"/>
                  <p:cNvCxnSpPr/>
                  <p:nvPr/>
                </p:nvCxnSpPr>
                <p:spPr>
                  <a:xfrm>
                    <a:off x="7841174" y="3540501"/>
                    <a:ext cx="154086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TextBox 8"/>
                    <p:cNvSpPr txBox="1"/>
                    <p:nvPr/>
                  </p:nvSpPr>
                  <p:spPr>
                    <a:xfrm>
                      <a:off x="8003198" y="3331731"/>
                      <a:ext cx="39940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i="1" smtClean="0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7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 xmlns="">
                <p:sp>
                  <p:nvSpPr>
                    <p:cNvPr id="9" name="TextBox 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03198" y="3331731"/>
                      <a:ext cx="399406" cy="369332"/>
                    </a:xfrm>
                    <a:prstGeom prst="rect">
                      <a:avLst/>
                    </a:prstGeom>
                    <a:blipFill rotWithShape="1">
                      <a:blip r:embed="rId6"/>
                      <a:stretch>
                        <a:fillRect b="-1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71" name="组合 70"/>
              <p:cNvGrpSpPr/>
              <p:nvPr/>
            </p:nvGrpSpPr>
            <p:grpSpPr>
              <a:xfrm>
                <a:off x="7725417" y="3603904"/>
                <a:ext cx="661735" cy="338554"/>
                <a:chOff x="7740869" y="3331731"/>
                <a:chExt cx="661735" cy="338554"/>
              </a:xfrm>
            </p:grpSpPr>
            <p:grpSp>
              <p:nvGrpSpPr>
                <p:cNvPr id="72" name="组合 71"/>
                <p:cNvGrpSpPr/>
                <p:nvPr/>
              </p:nvGrpSpPr>
              <p:grpSpPr>
                <a:xfrm>
                  <a:off x="7740869" y="3493966"/>
                  <a:ext cx="254391" cy="92128"/>
                  <a:chOff x="7740869" y="3493966"/>
                  <a:chExt cx="254391" cy="92128"/>
                </a:xfrm>
              </p:grpSpPr>
              <p:sp>
                <p:nvSpPr>
                  <p:cNvPr id="74" name="椭圆 73"/>
                  <p:cNvSpPr/>
                  <p:nvPr/>
                </p:nvSpPr>
                <p:spPr>
                  <a:xfrm>
                    <a:off x="7740869" y="3493966"/>
                    <a:ext cx="90781" cy="9212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75" name="直接连接符 74"/>
                  <p:cNvCxnSpPr/>
                  <p:nvPr/>
                </p:nvCxnSpPr>
                <p:spPr>
                  <a:xfrm>
                    <a:off x="7841174" y="3540501"/>
                    <a:ext cx="154086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3" name="TextBox 72"/>
                    <p:cNvSpPr txBox="1"/>
                    <p:nvPr/>
                  </p:nvSpPr>
                  <p:spPr>
                    <a:xfrm>
                      <a:off x="8003198" y="3331731"/>
                      <a:ext cx="399406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60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sz="1600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600" i="1">
                                        <a:latin typeface="Cambria Math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/>
                                  </a:rPr>
                                  <m:t>6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 xmlns="">
                <p:sp>
                  <p:nvSpPr>
                    <p:cNvPr id="73" name="TextBox 7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03198" y="3331731"/>
                      <a:ext cx="399406" cy="338554"/>
                    </a:xfrm>
                    <a:prstGeom prst="rect">
                      <a:avLst/>
                    </a:prstGeom>
                    <a:blipFill rotWithShape="1"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76" name="TextBox 75"/>
              <p:cNvSpPr txBox="1"/>
              <p:nvPr/>
            </p:nvSpPr>
            <p:spPr>
              <a:xfrm>
                <a:off x="7713978" y="4005064"/>
                <a:ext cx="4018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/>
                  <a:t>……</a:t>
                </a:r>
                <a:endParaRPr lang="zh-CN" altLang="en-US" dirty="0"/>
              </a:p>
            </p:txBody>
          </p:sp>
          <p:grpSp>
            <p:nvGrpSpPr>
              <p:cNvPr id="77" name="组合 76"/>
              <p:cNvGrpSpPr/>
              <p:nvPr/>
            </p:nvGrpSpPr>
            <p:grpSpPr>
              <a:xfrm>
                <a:off x="7735889" y="4797152"/>
                <a:ext cx="661735" cy="368947"/>
                <a:chOff x="7740869" y="3331731"/>
                <a:chExt cx="661735" cy="368947"/>
              </a:xfrm>
            </p:grpSpPr>
            <p:grpSp>
              <p:nvGrpSpPr>
                <p:cNvPr id="78" name="组合 77"/>
                <p:cNvGrpSpPr/>
                <p:nvPr/>
              </p:nvGrpSpPr>
              <p:grpSpPr>
                <a:xfrm>
                  <a:off x="7740869" y="3493966"/>
                  <a:ext cx="254391" cy="92128"/>
                  <a:chOff x="7740869" y="3493966"/>
                  <a:chExt cx="254391" cy="92128"/>
                </a:xfrm>
              </p:grpSpPr>
              <p:sp>
                <p:nvSpPr>
                  <p:cNvPr id="80" name="椭圆 79"/>
                  <p:cNvSpPr/>
                  <p:nvPr/>
                </p:nvSpPr>
                <p:spPr>
                  <a:xfrm>
                    <a:off x="7740869" y="3493966"/>
                    <a:ext cx="90781" cy="92128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1" name="直接连接符 80"/>
                  <p:cNvCxnSpPr/>
                  <p:nvPr/>
                </p:nvCxnSpPr>
                <p:spPr>
                  <a:xfrm>
                    <a:off x="7841174" y="3540501"/>
                    <a:ext cx="154086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9" name="TextBox 78"/>
                    <p:cNvSpPr txBox="1"/>
                    <p:nvPr/>
                  </p:nvSpPr>
                  <p:spPr>
                    <a:xfrm>
                      <a:off x="8003198" y="3331731"/>
                      <a:ext cx="399406" cy="36894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latin typeface="Cambria Math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 xmlns="">
                <p:sp>
                  <p:nvSpPr>
                    <p:cNvPr id="79" name="TextBox 7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03198" y="3331731"/>
                      <a:ext cx="399406" cy="368947"/>
                    </a:xfrm>
                    <a:prstGeom prst="rect">
                      <a:avLst/>
                    </a:prstGeom>
                    <a:blipFill rotWithShape="1"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/>
                <p:cNvSpPr txBox="1"/>
                <p:nvPr/>
              </p:nvSpPr>
              <p:spPr>
                <a:xfrm>
                  <a:off x="6667324" y="5024366"/>
                  <a:ext cx="1434526" cy="3689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/>
                          </a:rPr>
                          <m:t>7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4138</m:t>
                        </m:r>
                        <m:r>
                          <a:rPr lang="zh-CN" altLang="en-US" i="1">
                            <a:latin typeface="Cambria Math"/>
                          </a:rPr>
                          <m:t>译码</m:t>
                        </m:r>
                        <m:r>
                          <a:rPr lang="zh-CN" altLang="en-US" b="0" i="1" smtClean="0">
                            <a:latin typeface="Cambria Math"/>
                          </a:rPr>
                          <m:t>器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7324" y="5024366"/>
                  <a:ext cx="1434526" cy="368947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r="-5957"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91170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组合 64"/>
          <p:cNvGrpSpPr/>
          <p:nvPr/>
        </p:nvGrpSpPr>
        <p:grpSpPr>
          <a:xfrm>
            <a:off x="390059" y="1045927"/>
            <a:ext cx="2376812" cy="4570966"/>
            <a:chOff x="251552" y="296862"/>
            <a:chExt cx="3314503" cy="6026242"/>
          </a:xfrm>
        </p:grpSpPr>
        <p:sp>
          <p:nvSpPr>
            <p:cNvPr id="3" name="Rectangle 100"/>
            <p:cNvSpPr>
              <a:spLocks noChangeArrowheads="1"/>
            </p:cNvSpPr>
            <p:nvPr/>
          </p:nvSpPr>
          <p:spPr bwMode="auto">
            <a:xfrm>
              <a:off x="518515" y="296862"/>
              <a:ext cx="2737149" cy="6026242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/>
            </a:p>
          </p:txBody>
        </p:sp>
        <p:sp>
          <p:nvSpPr>
            <p:cNvPr id="4" name="Freeform 101"/>
            <p:cNvSpPr>
              <a:spLocks/>
            </p:cNvSpPr>
            <p:nvPr/>
          </p:nvSpPr>
          <p:spPr bwMode="auto">
            <a:xfrm>
              <a:off x="479493" y="1404947"/>
              <a:ext cx="1234452" cy="45719"/>
            </a:xfrm>
            <a:custGeom>
              <a:avLst/>
              <a:gdLst>
                <a:gd name="T0" fmla="*/ 0 w 474"/>
                <a:gd name="T1" fmla="*/ 0 h 1"/>
                <a:gd name="T2" fmla="*/ 474 w 47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74" h="1">
                  <a:moveTo>
                    <a:pt x="0" y="0"/>
                  </a:moveTo>
                  <a:lnTo>
                    <a:pt x="474" y="0"/>
                  </a:lnTo>
                </a:path>
              </a:pathLst>
            </a:custGeom>
            <a:solidFill>
              <a:srgbClr val="FFFFFF"/>
            </a:solidFill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 Box 102"/>
            <p:cNvSpPr txBox="1">
              <a:spLocks noChangeArrowheads="1"/>
            </p:cNvSpPr>
            <p:nvPr/>
          </p:nvSpPr>
          <p:spPr bwMode="auto">
            <a:xfrm>
              <a:off x="497680" y="1344904"/>
              <a:ext cx="140894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latin typeface="Times New Roman" pitchFamily="18" charset="0"/>
                </a:rPr>
                <a:t>MREQ</a:t>
              </a:r>
            </a:p>
          </p:txBody>
        </p:sp>
        <p:sp>
          <p:nvSpPr>
            <p:cNvPr id="6" name="Text Box 103"/>
            <p:cNvSpPr txBox="1">
              <a:spLocks noChangeArrowheads="1"/>
            </p:cNvSpPr>
            <p:nvPr/>
          </p:nvSpPr>
          <p:spPr bwMode="auto">
            <a:xfrm>
              <a:off x="2614864" y="296862"/>
              <a:ext cx="50526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latin typeface="Times New Roman" pitchFamily="18" charset="0"/>
                </a:rPr>
                <a:t>A</a:t>
              </a:r>
              <a:r>
                <a:rPr lang="en-US" altLang="zh-CN" baseline="-25000" dirty="0">
                  <a:latin typeface="Times New Roman" pitchFamily="18" charset="0"/>
                </a:rPr>
                <a:t>14</a:t>
              </a:r>
            </a:p>
          </p:txBody>
        </p:sp>
        <p:sp>
          <p:nvSpPr>
            <p:cNvPr id="7" name="Text Box 104"/>
            <p:cNvSpPr txBox="1">
              <a:spLocks noChangeArrowheads="1"/>
            </p:cNvSpPr>
            <p:nvPr/>
          </p:nvSpPr>
          <p:spPr bwMode="auto">
            <a:xfrm>
              <a:off x="2614864" y="646209"/>
              <a:ext cx="50526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latin typeface="Times New Roman" pitchFamily="18" charset="0"/>
                </a:rPr>
                <a:t>A</a:t>
              </a:r>
              <a:r>
                <a:rPr lang="en-US" altLang="zh-CN" baseline="-25000">
                  <a:latin typeface="Times New Roman" pitchFamily="18" charset="0"/>
                </a:rPr>
                <a:t>15</a:t>
              </a:r>
            </a:p>
          </p:txBody>
        </p:sp>
        <p:sp>
          <p:nvSpPr>
            <p:cNvPr id="8" name="Text Box 105"/>
            <p:cNvSpPr txBox="1">
              <a:spLocks noChangeArrowheads="1"/>
            </p:cNvSpPr>
            <p:nvPr/>
          </p:nvSpPr>
          <p:spPr bwMode="auto">
            <a:xfrm>
              <a:off x="2614864" y="1051962"/>
              <a:ext cx="50526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latin typeface="Times New Roman" pitchFamily="18" charset="0"/>
                </a:rPr>
                <a:t>A</a:t>
              </a:r>
              <a:r>
                <a:rPr lang="en-US" altLang="zh-CN" baseline="-25000" dirty="0">
                  <a:latin typeface="Times New Roman" pitchFamily="18" charset="0"/>
                </a:rPr>
                <a:t>13</a:t>
              </a:r>
            </a:p>
          </p:txBody>
        </p:sp>
        <p:sp>
          <p:nvSpPr>
            <p:cNvPr id="9" name="Text Box 106"/>
            <p:cNvSpPr txBox="1">
              <a:spLocks noChangeArrowheads="1"/>
            </p:cNvSpPr>
            <p:nvPr/>
          </p:nvSpPr>
          <p:spPr bwMode="auto">
            <a:xfrm>
              <a:off x="2614864" y="1401309"/>
              <a:ext cx="50526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latin typeface="Times New Roman" pitchFamily="18" charset="0"/>
                </a:rPr>
                <a:t>A</a:t>
              </a:r>
              <a:r>
                <a:rPr lang="en-US" altLang="zh-CN" baseline="-25000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10" name="Text Box 107"/>
            <p:cNvSpPr txBox="1">
              <a:spLocks noChangeArrowheads="1"/>
            </p:cNvSpPr>
            <p:nvPr/>
          </p:nvSpPr>
          <p:spPr bwMode="auto">
            <a:xfrm>
              <a:off x="2614864" y="1750656"/>
              <a:ext cx="49956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latin typeface="Times New Roman" pitchFamily="18" charset="0"/>
                </a:rPr>
                <a:t>A</a:t>
              </a:r>
              <a:r>
                <a:rPr lang="en-US" altLang="zh-CN" baseline="-25000"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11" name="Text Box 108"/>
            <p:cNvSpPr txBox="1">
              <a:spLocks noChangeArrowheads="1"/>
            </p:cNvSpPr>
            <p:nvPr/>
          </p:nvSpPr>
          <p:spPr bwMode="auto">
            <a:xfrm>
              <a:off x="2614864" y="2100004"/>
              <a:ext cx="50526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latin typeface="Times New Roman" pitchFamily="18" charset="0"/>
                </a:rPr>
                <a:t>A</a:t>
              </a:r>
              <a:r>
                <a:rPr lang="en-US" altLang="zh-CN" baseline="-25000"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12" name="Text Box 109"/>
            <p:cNvSpPr txBox="1">
              <a:spLocks noChangeArrowheads="1"/>
            </p:cNvSpPr>
            <p:nvPr/>
          </p:nvSpPr>
          <p:spPr bwMode="auto">
            <a:xfrm>
              <a:off x="2614864" y="2409322"/>
              <a:ext cx="42832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latin typeface="Times New Roman" pitchFamily="18" charset="0"/>
                </a:rPr>
                <a:t>A</a:t>
              </a:r>
              <a:r>
                <a:rPr lang="en-US" altLang="zh-CN" baseline="-25000" dirty="0"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13" name="Text Box 110"/>
            <p:cNvSpPr txBox="1">
              <a:spLocks noChangeArrowheads="1"/>
            </p:cNvSpPr>
            <p:nvPr/>
          </p:nvSpPr>
          <p:spPr bwMode="auto">
            <a:xfrm>
              <a:off x="2614864" y="3108016"/>
              <a:ext cx="42832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latin typeface="Times New Roman" pitchFamily="18" charset="0"/>
                </a:rPr>
                <a:t>A</a:t>
              </a:r>
              <a:r>
                <a:rPr lang="en-US" altLang="zh-CN" baseline="-25000" dirty="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4" name="Text Box 111"/>
            <p:cNvSpPr txBox="1">
              <a:spLocks noChangeArrowheads="1"/>
            </p:cNvSpPr>
            <p:nvPr/>
          </p:nvSpPr>
          <p:spPr bwMode="auto">
            <a:xfrm>
              <a:off x="2855422" y="2793240"/>
              <a:ext cx="492443" cy="3488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dirty="0">
                  <a:latin typeface="Times New Roman" pitchFamily="18" charset="0"/>
                </a:rPr>
                <a:t>…</a:t>
              </a:r>
            </a:p>
          </p:txBody>
        </p:sp>
        <p:sp>
          <p:nvSpPr>
            <p:cNvPr id="15" name="Text Box 112"/>
            <p:cNvSpPr txBox="1">
              <a:spLocks noChangeArrowheads="1"/>
            </p:cNvSpPr>
            <p:nvPr/>
          </p:nvSpPr>
          <p:spPr bwMode="auto">
            <a:xfrm>
              <a:off x="2660829" y="3861297"/>
              <a:ext cx="42832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latin typeface="Times New Roman" pitchFamily="18" charset="0"/>
                </a:rPr>
                <a:t>D</a:t>
              </a:r>
              <a:r>
                <a:rPr lang="en-US" altLang="zh-CN" baseline="-25000" dirty="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16" name="Text Box 113"/>
            <p:cNvSpPr txBox="1">
              <a:spLocks noChangeArrowheads="1"/>
            </p:cNvSpPr>
            <p:nvPr/>
          </p:nvSpPr>
          <p:spPr bwMode="auto">
            <a:xfrm>
              <a:off x="2660829" y="4221561"/>
              <a:ext cx="42832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 smtClean="0">
                  <a:latin typeface="Times New Roman" pitchFamily="18" charset="0"/>
                </a:rPr>
                <a:t>D</a:t>
              </a:r>
              <a:r>
                <a:rPr lang="en-US" altLang="zh-CN" baseline="-25000" dirty="0" smtClean="0">
                  <a:latin typeface="Times New Roman" pitchFamily="18" charset="0"/>
                </a:rPr>
                <a:t>6</a:t>
              </a:r>
              <a:endParaRPr lang="en-US" altLang="zh-CN" baseline="-25000" dirty="0">
                <a:latin typeface="Times New Roman" pitchFamily="18" charset="0"/>
              </a:endParaRPr>
            </a:p>
          </p:txBody>
        </p:sp>
        <p:sp>
          <p:nvSpPr>
            <p:cNvPr id="17" name="Text Box 114"/>
            <p:cNvSpPr txBox="1">
              <a:spLocks noChangeArrowheads="1"/>
            </p:cNvSpPr>
            <p:nvPr/>
          </p:nvSpPr>
          <p:spPr bwMode="auto">
            <a:xfrm>
              <a:off x="2660829" y="4581825"/>
              <a:ext cx="42832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 smtClean="0">
                  <a:latin typeface="Times New Roman" pitchFamily="18" charset="0"/>
                </a:rPr>
                <a:t>D</a:t>
              </a:r>
              <a:r>
                <a:rPr lang="en-US" altLang="zh-CN" baseline="-25000" dirty="0" smtClean="0">
                  <a:latin typeface="Times New Roman" pitchFamily="18" charset="0"/>
                </a:rPr>
                <a:t>5</a:t>
              </a:r>
              <a:endParaRPr lang="en-US" altLang="zh-CN" baseline="-25000" dirty="0">
                <a:latin typeface="Times New Roman" pitchFamily="18" charset="0"/>
              </a:endParaRPr>
            </a:p>
          </p:txBody>
        </p:sp>
        <p:sp>
          <p:nvSpPr>
            <p:cNvPr id="18" name="Text Box 115"/>
            <p:cNvSpPr txBox="1">
              <a:spLocks noChangeArrowheads="1"/>
            </p:cNvSpPr>
            <p:nvPr/>
          </p:nvSpPr>
          <p:spPr bwMode="auto">
            <a:xfrm>
              <a:off x="2660828" y="5721038"/>
              <a:ext cx="42832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latin typeface="Times New Roman" pitchFamily="18" charset="0"/>
                </a:rPr>
                <a:t>D</a:t>
              </a:r>
              <a:r>
                <a:rPr lang="en-US" altLang="zh-CN" baseline="-25000" dirty="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9" name="Text Box 116"/>
            <p:cNvSpPr txBox="1">
              <a:spLocks noChangeArrowheads="1"/>
            </p:cNvSpPr>
            <p:nvPr/>
          </p:nvSpPr>
          <p:spPr bwMode="auto">
            <a:xfrm>
              <a:off x="479493" y="5218882"/>
              <a:ext cx="55656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latin typeface="Times New Roman" pitchFamily="18" charset="0"/>
                </a:rPr>
                <a:t>WR</a:t>
              </a:r>
            </a:p>
          </p:txBody>
        </p:sp>
        <p:sp>
          <p:nvSpPr>
            <p:cNvPr id="20" name="Freeform 117"/>
            <p:cNvSpPr>
              <a:spLocks/>
            </p:cNvSpPr>
            <p:nvPr/>
          </p:nvSpPr>
          <p:spPr bwMode="auto">
            <a:xfrm>
              <a:off x="581019" y="5263128"/>
              <a:ext cx="632852" cy="1820"/>
            </a:xfrm>
            <a:custGeom>
              <a:avLst/>
              <a:gdLst>
                <a:gd name="T0" fmla="*/ 0 w 243"/>
                <a:gd name="T1" fmla="*/ 1 h 1"/>
                <a:gd name="T2" fmla="*/ 243 w 243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3" h="1">
                  <a:moveTo>
                    <a:pt x="0" y="1"/>
                  </a:moveTo>
                  <a:lnTo>
                    <a:pt x="243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8" name="Text Box 111"/>
            <p:cNvSpPr txBox="1">
              <a:spLocks noChangeArrowheads="1"/>
            </p:cNvSpPr>
            <p:nvPr/>
          </p:nvSpPr>
          <p:spPr bwMode="auto">
            <a:xfrm>
              <a:off x="2877257" y="5026236"/>
              <a:ext cx="492443" cy="3488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dirty="0">
                  <a:latin typeface="Times New Roman" pitchFamily="18" charset="0"/>
                </a:rPr>
                <a:t>…</a:t>
              </a:r>
            </a:p>
          </p:txBody>
        </p:sp>
        <p:cxnSp>
          <p:nvCxnSpPr>
            <p:cNvPr id="49" name="直接连接符 48"/>
            <p:cNvCxnSpPr/>
            <p:nvPr/>
          </p:nvCxnSpPr>
          <p:spPr>
            <a:xfrm>
              <a:off x="3273475" y="3407798"/>
              <a:ext cx="2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3255664" y="2744113"/>
              <a:ext cx="2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3255664" y="2392038"/>
              <a:ext cx="2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3273475" y="2039961"/>
              <a:ext cx="2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3278055" y="1687884"/>
              <a:ext cx="2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3233392" y="1335807"/>
              <a:ext cx="2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3273475" y="983730"/>
              <a:ext cx="2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3255664" y="631653"/>
              <a:ext cx="2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3255664" y="4209503"/>
              <a:ext cx="2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3233392" y="4570718"/>
              <a:ext cx="2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>
              <a:off x="3233392" y="4909151"/>
              <a:ext cx="2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3255664" y="5653521"/>
              <a:ext cx="2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3233392" y="6027417"/>
              <a:ext cx="2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251552" y="1533284"/>
              <a:ext cx="2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251552" y="5385374"/>
              <a:ext cx="2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 Box 111"/>
            <p:cNvSpPr txBox="1">
              <a:spLocks noChangeArrowheads="1"/>
            </p:cNvSpPr>
            <p:nvPr/>
          </p:nvSpPr>
          <p:spPr bwMode="auto">
            <a:xfrm>
              <a:off x="2873556" y="5442033"/>
              <a:ext cx="492443" cy="3488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 dirty="0">
                  <a:latin typeface="Times New Roman" pitchFamily="18" charset="0"/>
                </a:rPr>
                <a:t>…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967289" y="5728471"/>
            <a:ext cx="942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Arial" pitchFamily="34" charset="0"/>
                <a:cs typeface="Arial" pitchFamily="34" charset="0"/>
              </a:rPr>
              <a:t>CPU</a:t>
            </a:r>
            <a:endParaRPr lang="zh-CN" altLang="en-US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2" name="Picture 4" descr="http://file.koolearn.com/20140424/1398319891354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97" b="20571"/>
          <a:stretch/>
        </p:blipFill>
        <p:spPr bwMode="auto">
          <a:xfrm>
            <a:off x="2884298" y="60301"/>
            <a:ext cx="6259702" cy="396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436" y="3225094"/>
            <a:ext cx="5305425" cy="348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138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Text Box 2"/>
          <p:cNvSpPr txBox="1">
            <a:spLocks noChangeArrowheads="1"/>
          </p:cNvSpPr>
          <p:nvPr/>
        </p:nvSpPr>
        <p:spPr bwMode="auto">
          <a:xfrm>
            <a:off x="114300" y="152400"/>
            <a:ext cx="4343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/>
              <a:t>例</a:t>
            </a:r>
            <a:r>
              <a:rPr lang="zh-CN" altLang="en-US" sz="3600">
                <a:latin typeface="Times New Roman" pitchFamily="18" charset="0"/>
              </a:rPr>
              <a:t>4.1</a:t>
            </a:r>
            <a:r>
              <a:rPr lang="zh-CN" altLang="en-US" sz="3200">
                <a:latin typeface="Times New Roman" pitchFamily="18" charset="0"/>
              </a:rPr>
              <a:t>   </a:t>
            </a:r>
            <a:r>
              <a:rPr lang="zh-CN" altLang="en-US" sz="3200"/>
              <a:t>解:</a:t>
            </a:r>
            <a:r>
              <a:rPr lang="zh-CN" altLang="en-US" sz="3200">
                <a:latin typeface="Times New Roman" pitchFamily="18" charset="0"/>
              </a:rPr>
              <a:t> </a:t>
            </a:r>
            <a:endParaRPr lang="en-US" altLang="zh-CN" sz="3200">
              <a:latin typeface="Times New Roman" pitchFamily="18" charset="0"/>
            </a:endParaRPr>
          </a:p>
        </p:txBody>
      </p:sp>
      <p:sp>
        <p:nvSpPr>
          <p:cNvPr id="261123" name="Text Box 3"/>
          <p:cNvSpPr txBox="1">
            <a:spLocks noChangeArrowheads="1"/>
          </p:cNvSpPr>
          <p:nvPr/>
        </p:nvSpPr>
        <p:spPr bwMode="auto">
          <a:xfrm>
            <a:off x="533400" y="990600"/>
            <a:ext cx="792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itchFamily="18" charset="0"/>
              </a:rPr>
              <a:t>(1) 写出对应的二进制地址码</a:t>
            </a:r>
          </a:p>
        </p:txBody>
      </p:sp>
      <p:sp>
        <p:nvSpPr>
          <p:cNvPr id="261124" name="Text Box 4"/>
          <p:cNvSpPr txBox="1">
            <a:spLocks noChangeArrowheads="1"/>
          </p:cNvSpPr>
          <p:nvPr/>
        </p:nvSpPr>
        <p:spPr bwMode="auto">
          <a:xfrm>
            <a:off x="533400" y="5791200"/>
            <a:ext cx="792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itchFamily="18" charset="0"/>
              </a:rPr>
              <a:t>(2) 确定芯片的数量及类型</a:t>
            </a:r>
          </a:p>
        </p:txBody>
      </p:sp>
      <p:grpSp>
        <p:nvGrpSpPr>
          <p:cNvPr id="261125" name="Group 5"/>
          <p:cNvGrpSpPr>
            <a:grpSpLocks/>
          </p:cNvGrpSpPr>
          <p:nvPr/>
        </p:nvGrpSpPr>
        <p:grpSpPr bwMode="auto">
          <a:xfrm>
            <a:off x="457200" y="2057400"/>
            <a:ext cx="6858000" cy="579438"/>
            <a:chOff x="384" y="1296"/>
            <a:chExt cx="4320" cy="365"/>
          </a:xfrm>
        </p:grpSpPr>
        <p:sp>
          <p:nvSpPr>
            <p:cNvPr id="261126" name="Text Box 6"/>
            <p:cNvSpPr txBox="1">
              <a:spLocks noChangeArrowheads="1"/>
            </p:cNvSpPr>
            <p:nvPr/>
          </p:nvSpPr>
          <p:spPr bwMode="auto">
            <a:xfrm>
              <a:off x="384" y="1296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>
                  <a:latin typeface="Times New Roman" pitchFamily="18" charset="0"/>
                </a:rPr>
                <a:t>0  1  1  0</a:t>
              </a:r>
            </a:p>
          </p:txBody>
        </p:sp>
        <p:sp>
          <p:nvSpPr>
            <p:cNvPr id="261127" name="Text Box 7"/>
            <p:cNvSpPr txBox="1">
              <a:spLocks noChangeArrowheads="1"/>
            </p:cNvSpPr>
            <p:nvPr/>
          </p:nvSpPr>
          <p:spPr bwMode="auto">
            <a:xfrm>
              <a:off x="1440" y="1296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dirty="0">
                  <a:latin typeface="Times New Roman" pitchFamily="18" charset="0"/>
                </a:rPr>
                <a:t>0  0  0  0</a:t>
              </a:r>
            </a:p>
          </p:txBody>
        </p:sp>
        <p:sp>
          <p:nvSpPr>
            <p:cNvPr id="261128" name="Text Box 8"/>
            <p:cNvSpPr txBox="1">
              <a:spLocks noChangeArrowheads="1"/>
            </p:cNvSpPr>
            <p:nvPr/>
          </p:nvSpPr>
          <p:spPr bwMode="auto">
            <a:xfrm>
              <a:off x="2496" y="1296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dirty="0">
                  <a:latin typeface="Times New Roman" pitchFamily="18" charset="0"/>
                </a:rPr>
                <a:t>0  0  0  0</a:t>
              </a:r>
            </a:p>
          </p:txBody>
        </p:sp>
        <p:sp>
          <p:nvSpPr>
            <p:cNvPr id="261129" name="Text Box 9"/>
            <p:cNvSpPr txBox="1">
              <a:spLocks noChangeArrowheads="1"/>
            </p:cNvSpPr>
            <p:nvPr/>
          </p:nvSpPr>
          <p:spPr bwMode="auto">
            <a:xfrm>
              <a:off x="3552" y="1296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>
                  <a:latin typeface="Times New Roman" pitchFamily="18" charset="0"/>
                </a:rPr>
                <a:t>0  0  0  0</a:t>
              </a:r>
            </a:p>
          </p:txBody>
        </p:sp>
      </p:grpSp>
      <p:sp>
        <p:nvSpPr>
          <p:cNvPr id="261130" name="Text Box 10"/>
          <p:cNvSpPr txBox="1">
            <a:spLocks noChangeArrowheads="1"/>
          </p:cNvSpPr>
          <p:nvPr/>
        </p:nvSpPr>
        <p:spPr bwMode="auto">
          <a:xfrm>
            <a:off x="381000" y="16764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000" baseline="-25000" dirty="0" smtClean="0">
                <a:latin typeface="Times New Roman" pitchFamily="18" charset="0"/>
              </a:rPr>
              <a:t>15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000" baseline="-25000" dirty="0" smtClean="0">
                <a:latin typeface="Times New Roman" pitchFamily="18" charset="0"/>
              </a:rPr>
              <a:t>14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000" baseline="-25000" dirty="0" smtClean="0">
                <a:latin typeface="Times New Roman" pitchFamily="18" charset="0"/>
              </a:rPr>
              <a:t>13</a:t>
            </a:r>
            <a:r>
              <a:rPr lang="en-US" altLang="zh-CN" sz="2400" baseline="-25000" dirty="0" smtClean="0">
                <a:latin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000" baseline="-25000" dirty="0" smtClean="0">
                <a:latin typeface="Times New Roman" pitchFamily="18" charset="0"/>
              </a:rPr>
              <a:t>12</a:t>
            </a:r>
            <a:r>
              <a:rPr lang="en-US" altLang="zh-CN" sz="2400" baseline="-25000" dirty="0" smtClean="0">
                <a:latin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000" baseline="-25000" dirty="0" smtClean="0">
                <a:latin typeface="Times New Roman" pitchFamily="18" charset="0"/>
              </a:rPr>
              <a:t>11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000" baseline="-25000" dirty="0" smtClean="0">
                <a:latin typeface="Times New Roman" pitchFamily="18" charset="0"/>
              </a:rPr>
              <a:t>10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000" baseline="-25000" dirty="0" smtClean="0">
                <a:latin typeface="Times New Roman" pitchFamily="18" charset="0"/>
              </a:rPr>
              <a:t>9 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000" baseline="-25000" dirty="0" smtClean="0">
                <a:latin typeface="Times New Roman" pitchFamily="18" charset="0"/>
              </a:rPr>
              <a:t>8</a:t>
            </a:r>
            <a:r>
              <a:rPr lang="en-US" altLang="zh-CN" sz="2400" dirty="0" smtClean="0">
                <a:latin typeface="Times New Roman" pitchFamily="18" charset="0"/>
              </a:rPr>
              <a:t>  A</a:t>
            </a:r>
            <a:r>
              <a:rPr lang="en-US" altLang="zh-CN" sz="2400" baseline="-25000" dirty="0" smtClean="0">
                <a:latin typeface="Times New Roman" pitchFamily="18" charset="0"/>
              </a:rPr>
              <a:t>7 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400" baseline="-25000" dirty="0" smtClean="0">
                <a:latin typeface="Times New Roman" pitchFamily="18" charset="0"/>
              </a:rPr>
              <a:t>6 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400" baseline="-25000" dirty="0" smtClean="0">
                <a:latin typeface="Times New Roman" pitchFamily="18" charset="0"/>
              </a:rPr>
              <a:t>5</a:t>
            </a:r>
            <a:r>
              <a:rPr lang="en-US" altLang="zh-CN" sz="2400" dirty="0" smtClean="0">
                <a:latin typeface="Times New Roman" pitchFamily="18" charset="0"/>
              </a:rPr>
              <a:t> </a:t>
            </a:r>
            <a:r>
              <a:rPr lang="en-US" altLang="zh-CN" sz="2400" baseline="-25000" dirty="0" smtClean="0">
                <a:latin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400" baseline="-25000" dirty="0" smtClean="0">
                <a:latin typeface="Times New Roman" pitchFamily="18" charset="0"/>
              </a:rPr>
              <a:t>4  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400" baseline="-25000" dirty="0" smtClean="0">
                <a:latin typeface="Times New Roman" pitchFamily="18" charset="0"/>
              </a:rPr>
              <a:t>3 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400" baseline="-25000" dirty="0">
                <a:latin typeface="Times New Roman" pitchFamily="18" charset="0"/>
              </a:rPr>
              <a:t>2</a:t>
            </a:r>
            <a:r>
              <a:rPr lang="en-US" altLang="zh-CN" sz="2400" baseline="-25000" dirty="0" smtClean="0">
                <a:latin typeface="Times New Roman" pitchFamily="18" charset="0"/>
              </a:rPr>
              <a:t> 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400" baseline="-25000" dirty="0">
                <a:latin typeface="Times New Roman" pitchFamily="18" charset="0"/>
              </a:rPr>
              <a:t>1</a:t>
            </a:r>
            <a:r>
              <a:rPr lang="en-US" altLang="zh-CN" sz="2400" baseline="-25000" dirty="0" smtClean="0">
                <a:latin typeface="Times New Roman" pitchFamily="18" charset="0"/>
              </a:rPr>
              <a:t> 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400" baseline="-25000" dirty="0" smtClean="0">
                <a:latin typeface="Times New Roman" pitchFamily="18" charset="0"/>
              </a:rPr>
              <a:t>0</a:t>
            </a:r>
            <a:endParaRPr lang="en-US" altLang="zh-CN" sz="2400" baseline="-25000" dirty="0">
              <a:latin typeface="Times New Roman" pitchFamily="18" charset="0"/>
            </a:endParaRPr>
          </a:p>
        </p:txBody>
      </p:sp>
      <p:grpSp>
        <p:nvGrpSpPr>
          <p:cNvPr id="261131" name="Group 11"/>
          <p:cNvGrpSpPr>
            <a:grpSpLocks/>
          </p:cNvGrpSpPr>
          <p:nvPr/>
        </p:nvGrpSpPr>
        <p:grpSpPr bwMode="auto">
          <a:xfrm>
            <a:off x="457200" y="2590800"/>
            <a:ext cx="6858000" cy="1112838"/>
            <a:chOff x="288" y="1632"/>
            <a:chExt cx="4320" cy="701"/>
          </a:xfrm>
        </p:grpSpPr>
        <p:sp>
          <p:nvSpPr>
            <p:cNvPr id="261132" name="Text Box 12"/>
            <p:cNvSpPr txBox="1">
              <a:spLocks noChangeArrowheads="1"/>
            </p:cNvSpPr>
            <p:nvPr/>
          </p:nvSpPr>
          <p:spPr bwMode="auto">
            <a:xfrm>
              <a:off x="297" y="1632"/>
              <a:ext cx="423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3200">
                  <a:latin typeface="Times New Roman" pitchFamily="18" charset="0"/>
                </a:rPr>
                <a:t>…</a:t>
              </a:r>
            </a:p>
          </p:txBody>
        </p:sp>
        <p:grpSp>
          <p:nvGrpSpPr>
            <p:cNvPr id="261133" name="Group 13"/>
            <p:cNvGrpSpPr>
              <a:grpSpLocks/>
            </p:cNvGrpSpPr>
            <p:nvPr/>
          </p:nvGrpSpPr>
          <p:grpSpPr bwMode="auto">
            <a:xfrm>
              <a:off x="288" y="1968"/>
              <a:ext cx="4320" cy="365"/>
              <a:chOff x="384" y="1968"/>
              <a:chExt cx="4320" cy="365"/>
            </a:xfrm>
          </p:grpSpPr>
          <p:sp>
            <p:nvSpPr>
              <p:cNvPr id="261134" name="Text Box 14"/>
              <p:cNvSpPr txBox="1">
                <a:spLocks noChangeArrowheads="1"/>
              </p:cNvSpPr>
              <p:nvPr/>
            </p:nvSpPr>
            <p:spPr bwMode="auto">
              <a:xfrm>
                <a:off x="384" y="1968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>
                    <a:latin typeface="Times New Roman" pitchFamily="18" charset="0"/>
                  </a:rPr>
                  <a:t>0  1  1  0</a:t>
                </a:r>
              </a:p>
            </p:txBody>
          </p:sp>
          <p:sp>
            <p:nvSpPr>
              <p:cNvPr id="261135" name="Text Box 15"/>
              <p:cNvSpPr txBox="1">
                <a:spLocks noChangeArrowheads="1"/>
              </p:cNvSpPr>
              <p:nvPr/>
            </p:nvSpPr>
            <p:spPr bwMode="auto">
              <a:xfrm>
                <a:off x="1440" y="1968"/>
                <a:ext cx="144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 dirty="0">
                    <a:latin typeface="Times New Roman" pitchFamily="18" charset="0"/>
                  </a:rPr>
                  <a:t>0  1  1  1</a:t>
                </a:r>
              </a:p>
            </p:txBody>
          </p:sp>
          <p:sp>
            <p:nvSpPr>
              <p:cNvPr id="261136" name="Text Box 16"/>
              <p:cNvSpPr txBox="1">
                <a:spLocks noChangeArrowheads="1"/>
              </p:cNvSpPr>
              <p:nvPr/>
            </p:nvSpPr>
            <p:spPr bwMode="auto">
              <a:xfrm>
                <a:off x="2496" y="1968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>
                    <a:latin typeface="Times New Roman" pitchFamily="18" charset="0"/>
                  </a:rPr>
                  <a:t>1  1  1  1</a:t>
                </a:r>
              </a:p>
            </p:txBody>
          </p:sp>
          <p:sp>
            <p:nvSpPr>
              <p:cNvPr id="261137" name="Text Box 17"/>
              <p:cNvSpPr txBox="1">
                <a:spLocks noChangeArrowheads="1"/>
              </p:cNvSpPr>
              <p:nvPr/>
            </p:nvSpPr>
            <p:spPr bwMode="auto">
              <a:xfrm>
                <a:off x="3552" y="1968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 dirty="0">
                    <a:latin typeface="Times New Roman" pitchFamily="18" charset="0"/>
                  </a:rPr>
                  <a:t>1  1  1  1</a:t>
                </a:r>
              </a:p>
            </p:txBody>
          </p:sp>
        </p:grpSp>
      </p:grpSp>
      <p:grpSp>
        <p:nvGrpSpPr>
          <p:cNvPr id="261138" name="Group 18"/>
          <p:cNvGrpSpPr>
            <a:grpSpLocks/>
          </p:cNvGrpSpPr>
          <p:nvPr/>
        </p:nvGrpSpPr>
        <p:grpSpPr bwMode="auto">
          <a:xfrm>
            <a:off x="457200" y="3763963"/>
            <a:ext cx="6858000" cy="579437"/>
            <a:chOff x="384" y="1296"/>
            <a:chExt cx="4320" cy="365"/>
          </a:xfrm>
        </p:grpSpPr>
        <p:sp>
          <p:nvSpPr>
            <p:cNvPr id="261139" name="Text Box 19"/>
            <p:cNvSpPr txBox="1">
              <a:spLocks noChangeArrowheads="1"/>
            </p:cNvSpPr>
            <p:nvPr/>
          </p:nvSpPr>
          <p:spPr bwMode="auto">
            <a:xfrm>
              <a:off x="384" y="1296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dirty="0">
                  <a:latin typeface="Times New Roman" pitchFamily="18" charset="0"/>
                </a:rPr>
                <a:t>0  1  1  0</a:t>
              </a:r>
            </a:p>
          </p:txBody>
        </p:sp>
        <p:sp>
          <p:nvSpPr>
            <p:cNvPr id="261140" name="Text Box 20"/>
            <p:cNvSpPr txBox="1">
              <a:spLocks noChangeArrowheads="1"/>
            </p:cNvSpPr>
            <p:nvPr/>
          </p:nvSpPr>
          <p:spPr bwMode="auto">
            <a:xfrm>
              <a:off x="1440" y="1296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>
                  <a:latin typeface="Times New Roman" pitchFamily="18" charset="0"/>
                </a:rPr>
                <a:t>1  0  0  0</a:t>
              </a:r>
            </a:p>
          </p:txBody>
        </p:sp>
        <p:sp>
          <p:nvSpPr>
            <p:cNvPr id="261141" name="Text Box 21"/>
            <p:cNvSpPr txBox="1">
              <a:spLocks noChangeArrowheads="1"/>
            </p:cNvSpPr>
            <p:nvPr/>
          </p:nvSpPr>
          <p:spPr bwMode="auto">
            <a:xfrm>
              <a:off x="2496" y="1296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>
                  <a:latin typeface="Times New Roman" pitchFamily="18" charset="0"/>
                </a:rPr>
                <a:t>0  0  0  0</a:t>
              </a:r>
            </a:p>
          </p:txBody>
        </p:sp>
        <p:sp>
          <p:nvSpPr>
            <p:cNvPr id="261142" name="Text Box 22"/>
            <p:cNvSpPr txBox="1">
              <a:spLocks noChangeArrowheads="1"/>
            </p:cNvSpPr>
            <p:nvPr/>
          </p:nvSpPr>
          <p:spPr bwMode="auto">
            <a:xfrm>
              <a:off x="3552" y="1296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>
                  <a:latin typeface="Times New Roman" pitchFamily="18" charset="0"/>
                </a:rPr>
                <a:t>0  0  0  0</a:t>
              </a:r>
            </a:p>
          </p:txBody>
        </p:sp>
      </p:grpSp>
      <p:grpSp>
        <p:nvGrpSpPr>
          <p:cNvPr id="261143" name="Group 23"/>
          <p:cNvGrpSpPr>
            <a:grpSpLocks/>
          </p:cNvGrpSpPr>
          <p:nvPr/>
        </p:nvGrpSpPr>
        <p:grpSpPr bwMode="auto">
          <a:xfrm>
            <a:off x="457200" y="4267200"/>
            <a:ext cx="6858000" cy="1189038"/>
            <a:chOff x="288" y="2688"/>
            <a:chExt cx="4320" cy="749"/>
          </a:xfrm>
        </p:grpSpPr>
        <p:sp>
          <p:nvSpPr>
            <p:cNvPr id="261144" name="Text Box 24"/>
            <p:cNvSpPr txBox="1">
              <a:spLocks noChangeArrowheads="1"/>
            </p:cNvSpPr>
            <p:nvPr/>
          </p:nvSpPr>
          <p:spPr bwMode="auto">
            <a:xfrm>
              <a:off x="288" y="2688"/>
              <a:ext cx="423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3200">
                  <a:latin typeface="Times New Roman" pitchFamily="18" charset="0"/>
                </a:rPr>
                <a:t>…</a:t>
              </a:r>
            </a:p>
          </p:txBody>
        </p:sp>
        <p:grpSp>
          <p:nvGrpSpPr>
            <p:cNvPr id="261145" name="Group 25"/>
            <p:cNvGrpSpPr>
              <a:grpSpLocks/>
            </p:cNvGrpSpPr>
            <p:nvPr/>
          </p:nvGrpSpPr>
          <p:grpSpPr bwMode="auto">
            <a:xfrm>
              <a:off x="288" y="3072"/>
              <a:ext cx="4320" cy="365"/>
              <a:chOff x="384" y="1968"/>
              <a:chExt cx="4320" cy="365"/>
            </a:xfrm>
          </p:grpSpPr>
          <p:sp>
            <p:nvSpPr>
              <p:cNvPr id="261146" name="Text Box 26"/>
              <p:cNvSpPr txBox="1">
                <a:spLocks noChangeArrowheads="1"/>
              </p:cNvSpPr>
              <p:nvPr/>
            </p:nvSpPr>
            <p:spPr bwMode="auto">
              <a:xfrm>
                <a:off x="384" y="1968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>
                    <a:latin typeface="Times New Roman" pitchFamily="18" charset="0"/>
                  </a:rPr>
                  <a:t>0  1  1  0</a:t>
                </a:r>
              </a:p>
            </p:txBody>
          </p:sp>
          <p:sp>
            <p:nvSpPr>
              <p:cNvPr id="261147" name="Text Box 27"/>
              <p:cNvSpPr txBox="1">
                <a:spLocks noChangeArrowheads="1"/>
              </p:cNvSpPr>
              <p:nvPr/>
            </p:nvSpPr>
            <p:spPr bwMode="auto">
              <a:xfrm>
                <a:off x="1440" y="1968"/>
                <a:ext cx="144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>
                    <a:latin typeface="Times New Roman" pitchFamily="18" charset="0"/>
                  </a:rPr>
                  <a:t>1  0  1  1</a:t>
                </a:r>
              </a:p>
            </p:txBody>
          </p:sp>
          <p:sp>
            <p:nvSpPr>
              <p:cNvPr id="261148" name="Text Box 28"/>
              <p:cNvSpPr txBox="1">
                <a:spLocks noChangeArrowheads="1"/>
              </p:cNvSpPr>
              <p:nvPr/>
            </p:nvSpPr>
            <p:spPr bwMode="auto">
              <a:xfrm>
                <a:off x="2496" y="1968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 dirty="0">
                    <a:latin typeface="Times New Roman" pitchFamily="18" charset="0"/>
                  </a:rPr>
                  <a:t>1  1  1  1</a:t>
                </a:r>
              </a:p>
            </p:txBody>
          </p:sp>
          <p:sp>
            <p:nvSpPr>
              <p:cNvPr id="261149" name="Text Box 29"/>
              <p:cNvSpPr txBox="1">
                <a:spLocks noChangeArrowheads="1"/>
              </p:cNvSpPr>
              <p:nvPr/>
            </p:nvSpPr>
            <p:spPr bwMode="auto">
              <a:xfrm>
                <a:off x="3552" y="1968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>
                    <a:latin typeface="Times New Roman" pitchFamily="18" charset="0"/>
                  </a:rPr>
                  <a:t>1  1  1  1</a:t>
                </a:r>
              </a:p>
            </p:txBody>
          </p:sp>
        </p:grpSp>
      </p:grpSp>
      <p:grpSp>
        <p:nvGrpSpPr>
          <p:cNvPr id="261150" name="Group 30"/>
          <p:cNvGrpSpPr>
            <a:grpSpLocks/>
          </p:cNvGrpSpPr>
          <p:nvPr/>
        </p:nvGrpSpPr>
        <p:grpSpPr bwMode="auto">
          <a:xfrm>
            <a:off x="7162800" y="2286000"/>
            <a:ext cx="2514600" cy="1219200"/>
            <a:chOff x="4512" y="1440"/>
            <a:chExt cx="1584" cy="768"/>
          </a:xfrm>
        </p:grpSpPr>
        <p:sp>
          <p:nvSpPr>
            <p:cNvPr id="261151" name="AutoShape 31"/>
            <p:cNvSpPr>
              <a:spLocks/>
            </p:cNvSpPr>
            <p:nvPr/>
          </p:nvSpPr>
          <p:spPr bwMode="auto">
            <a:xfrm>
              <a:off x="4512" y="1440"/>
              <a:ext cx="192" cy="768"/>
            </a:xfrm>
            <a:prstGeom prst="rightBrace">
              <a:avLst>
                <a:gd name="adj1" fmla="val 33333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1152" name="Text Box 32"/>
            <p:cNvSpPr txBox="1">
              <a:spLocks noChangeArrowheads="1"/>
            </p:cNvSpPr>
            <p:nvPr/>
          </p:nvSpPr>
          <p:spPr bwMode="auto">
            <a:xfrm>
              <a:off x="4752" y="1795"/>
              <a:ext cx="13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Times New Roman" pitchFamily="18" charset="0"/>
                </a:rPr>
                <a:t>2</a:t>
              </a:r>
              <a:r>
                <a:rPr lang="en-US" altLang="zh-CN" sz="2800" dirty="0">
                  <a:latin typeface="Times New Roman" pitchFamily="18" charset="0"/>
                </a:rPr>
                <a:t>K</a:t>
              </a:r>
              <a:r>
                <a:rPr lang="en-US" altLang="zh-CN" sz="3200" dirty="0">
                  <a:latin typeface="Times New Roman" pitchFamily="18" charset="0"/>
                  <a:cs typeface="Times New Roman" pitchFamily="18" charset="0"/>
                </a:rPr>
                <a:t>×</a:t>
              </a:r>
              <a:r>
                <a:rPr lang="en-US" altLang="zh-CN" sz="2800" dirty="0"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zh-CN" altLang="en-US" sz="2800" dirty="0">
                  <a:latin typeface="Times New Roman" pitchFamily="18" charset="0"/>
                </a:rPr>
                <a:t>位</a:t>
              </a:r>
            </a:p>
          </p:txBody>
        </p:sp>
      </p:grpSp>
      <p:grpSp>
        <p:nvGrpSpPr>
          <p:cNvPr id="261153" name="Group 33"/>
          <p:cNvGrpSpPr>
            <a:grpSpLocks/>
          </p:cNvGrpSpPr>
          <p:nvPr/>
        </p:nvGrpSpPr>
        <p:grpSpPr bwMode="auto">
          <a:xfrm>
            <a:off x="7162800" y="4038600"/>
            <a:ext cx="2514600" cy="1219200"/>
            <a:chOff x="4512" y="2544"/>
            <a:chExt cx="1584" cy="768"/>
          </a:xfrm>
        </p:grpSpPr>
        <p:sp>
          <p:nvSpPr>
            <p:cNvPr id="261154" name="Text Box 34"/>
            <p:cNvSpPr txBox="1">
              <a:spLocks noChangeArrowheads="1"/>
            </p:cNvSpPr>
            <p:nvPr/>
          </p:nvSpPr>
          <p:spPr bwMode="auto">
            <a:xfrm>
              <a:off x="4752" y="2544"/>
              <a:ext cx="13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latin typeface="Times New Roman" pitchFamily="18" charset="0"/>
                </a:rPr>
                <a:t>1K</a:t>
              </a:r>
              <a:r>
                <a:rPr lang="en-US" altLang="zh-CN" sz="3200" dirty="0">
                  <a:latin typeface="Times New Roman" pitchFamily="18" charset="0"/>
                  <a:cs typeface="Times New Roman" pitchFamily="18" charset="0"/>
                </a:rPr>
                <a:t>×</a:t>
              </a:r>
              <a:r>
                <a:rPr lang="en-US" altLang="zh-CN" sz="2800" dirty="0"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zh-CN" altLang="en-US" sz="2800" dirty="0">
                  <a:latin typeface="Times New Roman" pitchFamily="18" charset="0"/>
                </a:rPr>
                <a:t>位</a:t>
              </a:r>
            </a:p>
          </p:txBody>
        </p:sp>
        <p:sp>
          <p:nvSpPr>
            <p:cNvPr id="261155" name="AutoShape 35"/>
            <p:cNvSpPr>
              <a:spLocks/>
            </p:cNvSpPr>
            <p:nvPr/>
          </p:nvSpPr>
          <p:spPr bwMode="auto">
            <a:xfrm>
              <a:off x="4512" y="2544"/>
              <a:ext cx="192" cy="768"/>
            </a:xfrm>
            <a:prstGeom prst="rightBrace">
              <a:avLst>
                <a:gd name="adj1" fmla="val 33333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61156" name="Text Box 36"/>
          <p:cNvSpPr txBox="1">
            <a:spLocks noChangeArrowheads="1"/>
          </p:cNvSpPr>
          <p:nvPr/>
        </p:nvSpPr>
        <p:spPr bwMode="auto">
          <a:xfrm>
            <a:off x="7604125" y="6011863"/>
            <a:ext cx="15398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3200">
              <a:latin typeface="Times New Roman" pitchFamily="18" charset="0"/>
            </a:endParaRPr>
          </a:p>
        </p:txBody>
      </p:sp>
      <p:grpSp>
        <p:nvGrpSpPr>
          <p:cNvPr id="261157" name="Group 37"/>
          <p:cNvGrpSpPr>
            <a:grpSpLocks/>
          </p:cNvGrpSpPr>
          <p:nvPr/>
        </p:nvGrpSpPr>
        <p:grpSpPr bwMode="auto">
          <a:xfrm>
            <a:off x="6545263" y="4630738"/>
            <a:ext cx="2497137" cy="1541462"/>
            <a:chOff x="4123" y="2917"/>
            <a:chExt cx="1573" cy="971"/>
          </a:xfrm>
        </p:grpSpPr>
        <p:sp>
          <p:nvSpPr>
            <p:cNvPr id="261158" name="AutoShape 38"/>
            <p:cNvSpPr>
              <a:spLocks noChangeArrowheads="1"/>
            </p:cNvSpPr>
            <p:nvPr/>
          </p:nvSpPr>
          <p:spPr bwMode="auto">
            <a:xfrm>
              <a:off x="4720" y="2917"/>
              <a:ext cx="976" cy="349"/>
            </a:xfrm>
            <a:prstGeom prst="wedgeRoundRectCallout">
              <a:avLst>
                <a:gd name="adj1" fmla="val -43750"/>
                <a:gd name="adj2" fmla="val 70000"/>
                <a:gd name="adj3" fmla="val 16667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RAM</a:t>
              </a:r>
            </a:p>
          </p:txBody>
        </p:sp>
        <p:grpSp>
          <p:nvGrpSpPr>
            <p:cNvPr id="261159" name="Group 39"/>
            <p:cNvGrpSpPr>
              <a:grpSpLocks/>
            </p:cNvGrpSpPr>
            <p:nvPr/>
          </p:nvGrpSpPr>
          <p:grpSpPr bwMode="auto">
            <a:xfrm>
              <a:off x="4123" y="3511"/>
              <a:ext cx="1546" cy="377"/>
              <a:chOff x="4123" y="3511"/>
              <a:chExt cx="1546" cy="377"/>
            </a:xfrm>
          </p:grpSpPr>
          <p:sp>
            <p:nvSpPr>
              <p:cNvPr id="261160" name="AutoShape 40"/>
              <p:cNvSpPr>
                <a:spLocks noChangeArrowheads="1"/>
              </p:cNvSpPr>
              <p:nvPr/>
            </p:nvSpPr>
            <p:spPr bwMode="auto">
              <a:xfrm>
                <a:off x="4176" y="3552"/>
                <a:ext cx="1392" cy="336"/>
              </a:xfrm>
              <a:prstGeom prst="wedgeRoundRectCallout">
                <a:avLst>
                  <a:gd name="adj1" fmla="val -505"/>
                  <a:gd name="adj2" fmla="val -157144"/>
                  <a:gd name="adj3" fmla="val 16667"/>
                </a:avLst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50000"/>
                  </a:spcBef>
                </a:pPr>
                <a:endParaRPr lang="zh-CN" altLang="en-US" sz="2800">
                  <a:latin typeface="Times New Roman" pitchFamily="18" charset="0"/>
                </a:endParaRPr>
              </a:p>
            </p:txBody>
          </p:sp>
          <p:sp>
            <p:nvSpPr>
              <p:cNvPr id="261161" name="AutoShape 41"/>
              <p:cNvSpPr>
                <a:spLocks noChangeArrowheads="1"/>
              </p:cNvSpPr>
              <p:nvPr/>
            </p:nvSpPr>
            <p:spPr bwMode="auto">
              <a:xfrm>
                <a:off x="4123" y="3511"/>
                <a:ext cx="1546" cy="328"/>
              </a:xfrm>
              <a:prstGeom prst="wedgeRoundRectCallout">
                <a:avLst>
                  <a:gd name="adj1" fmla="val -43750"/>
                  <a:gd name="adj2" fmla="val 70000"/>
                  <a:gd name="adj3" fmla="val 16667"/>
                </a:avLst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2600">
                    <a:latin typeface="Times New Roman" pitchFamily="18" charset="0"/>
                  </a:rPr>
                  <a:t>2片</a:t>
                </a:r>
                <a:r>
                  <a:rPr lang="en-US" altLang="zh-CN" sz="2600">
                    <a:latin typeface="Times New Roman" pitchFamily="18" charset="0"/>
                  </a:rPr>
                  <a:t>1K</a:t>
                </a:r>
                <a:r>
                  <a:rPr lang="en-US" altLang="zh-CN" sz="2600">
                    <a:latin typeface="Times New Roman" pitchFamily="18" charset="0"/>
                    <a:cs typeface="Times New Roman" pitchFamily="18" charset="0"/>
                  </a:rPr>
                  <a:t>×4</a:t>
                </a:r>
                <a:r>
                  <a:rPr lang="zh-CN" altLang="en-US" sz="2600">
                    <a:latin typeface="Times New Roman" pitchFamily="18" charset="0"/>
                  </a:rPr>
                  <a:t>位</a:t>
                </a:r>
              </a:p>
            </p:txBody>
          </p:sp>
        </p:grpSp>
      </p:grpSp>
      <p:grpSp>
        <p:nvGrpSpPr>
          <p:cNvPr id="261162" name="Group 42"/>
          <p:cNvGrpSpPr>
            <a:grpSpLocks/>
          </p:cNvGrpSpPr>
          <p:nvPr/>
        </p:nvGrpSpPr>
        <p:grpSpPr bwMode="auto">
          <a:xfrm>
            <a:off x="7010400" y="1295400"/>
            <a:ext cx="2057400" cy="1585913"/>
            <a:chOff x="4416" y="816"/>
            <a:chExt cx="1296" cy="999"/>
          </a:xfrm>
        </p:grpSpPr>
        <p:sp>
          <p:nvSpPr>
            <p:cNvPr id="261163" name="Text Box 43"/>
            <p:cNvSpPr txBox="1">
              <a:spLocks noChangeArrowheads="1"/>
            </p:cNvSpPr>
            <p:nvPr/>
          </p:nvSpPr>
          <p:spPr bwMode="auto">
            <a:xfrm>
              <a:off x="4752" y="1488"/>
              <a:ext cx="9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ROM</a:t>
              </a:r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61164" name="Group 44"/>
            <p:cNvGrpSpPr>
              <a:grpSpLocks/>
            </p:cNvGrpSpPr>
            <p:nvPr/>
          </p:nvGrpSpPr>
          <p:grpSpPr bwMode="auto">
            <a:xfrm>
              <a:off x="4416" y="816"/>
              <a:ext cx="1296" cy="384"/>
              <a:chOff x="4416" y="816"/>
              <a:chExt cx="1296" cy="384"/>
            </a:xfrm>
          </p:grpSpPr>
          <p:sp>
            <p:nvSpPr>
              <p:cNvPr id="261165" name="AutoShape 45"/>
              <p:cNvSpPr>
                <a:spLocks noChangeArrowheads="1"/>
              </p:cNvSpPr>
              <p:nvPr/>
            </p:nvSpPr>
            <p:spPr bwMode="auto">
              <a:xfrm>
                <a:off x="4416" y="816"/>
                <a:ext cx="1296" cy="384"/>
              </a:xfrm>
              <a:prstGeom prst="wedgeRoundRectCallout">
                <a:avLst>
                  <a:gd name="adj1" fmla="val -3319"/>
                  <a:gd name="adj2" fmla="val 141926"/>
                  <a:gd name="adj3" fmla="val 16667"/>
                </a:avLst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endParaRPr lang="zh-CN" altLang="en-US" sz="3200">
                  <a:latin typeface="Times New Roman" pitchFamily="18" charset="0"/>
                </a:endParaRPr>
              </a:p>
            </p:txBody>
          </p:sp>
          <p:sp>
            <p:nvSpPr>
              <p:cNvPr id="261166" name="Text Box 46"/>
              <p:cNvSpPr txBox="1">
                <a:spLocks noChangeArrowheads="1"/>
              </p:cNvSpPr>
              <p:nvPr/>
            </p:nvSpPr>
            <p:spPr bwMode="auto">
              <a:xfrm>
                <a:off x="4416" y="816"/>
                <a:ext cx="1296" cy="3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2600">
                    <a:latin typeface="Times New Roman" pitchFamily="18" charset="0"/>
                  </a:rPr>
                  <a:t>1片 2</a:t>
                </a:r>
                <a:r>
                  <a:rPr lang="en-US" altLang="zh-CN" sz="2600">
                    <a:latin typeface="Times New Roman" pitchFamily="18" charset="0"/>
                  </a:rPr>
                  <a:t>K</a:t>
                </a:r>
                <a:r>
                  <a:rPr lang="en-US" altLang="zh-CN" sz="2600">
                    <a:latin typeface="Times New Roman" pitchFamily="18" charset="0"/>
                    <a:cs typeface="Times New Roman" pitchFamily="18" charset="0"/>
                  </a:rPr>
                  <a:t>×8</a:t>
                </a:r>
                <a:r>
                  <a:rPr lang="zh-CN" altLang="en-US" sz="2600">
                    <a:latin typeface="Times New Roman" pitchFamily="18" charset="0"/>
                  </a:rPr>
                  <a:t>位</a:t>
                </a:r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131233" y="154880"/>
            <a:ext cx="6979444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solidFill>
                  <a:prstClr val="black"/>
                </a:solidFill>
                <a:latin typeface="Times New Roman" pitchFamily="18" charset="0"/>
              </a:rPr>
              <a:t>备选芯片：</a:t>
            </a:r>
            <a:endParaRPr lang="en-US" altLang="zh-CN" sz="2800" dirty="0" smtClean="0">
              <a:solidFill>
                <a:prstClr val="black"/>
              </a:solidFill>
              <a:latin typeface="Times New Roman" pitchFamily="18" charset="0"/>
            </a:endParaRPr>
          </a:p>
          <a:p>
            <a:r>
              <a:rPr lang="en-US" altLang="zh-CN" sz="2800" dirty="0" smtClean="0">
                <a:solidFill>
                  <a:prstClr val="black"/>
                </a:solidFill>
                <a:latin typeface="Times New Roman" pitchFamily="18" charset="0"/>
              </a:rPr>
              <a:t>1K*4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</a:rPr>
              <a:t>位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</a:rPr>
              <a:t>RAM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</a:rPr>
              <a:t>、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</a:rPr>
              <a:t>4K*8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</a:rPr>
              <a:t>位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</a:rPr>
              <a:t>RAM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</a:rPr>
              <a:t>、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</a:rPr>
              <a:t>8K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</a:rPr>
              <a:t>*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</a:rPr>
              <a:t>位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</a:rPr>
              <a:t>RAM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</a:rPr>
              <a:t>、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</a:rPr>
              <a:t>2K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</a:rPr>
              <a:t>*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</a:rPr>
              <a:t>位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</a:rPr>
              <a:t>ROM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</a:rPr>
              <a:t>、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</a:rPr>
              <a:t>4K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</a:rPr>
              <a:t>*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</a:rPr>
              <a:t>位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</a:rPr>
              <a:t>ROM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</a:rPr>
              <a:t>、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</a:rPr>
              <a:t>8K*8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</a:rPr>
              <a:t>位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</a:rPr>
              <a:t>ROM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486400" y="2590800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/>
              <a:t>0</a:t>
            </a:r>
            <a:endParaRPr lang="zh-CN" altLang="en-US" sz="2800" dirty="0"/>
          </a:p>
        </p:txBody>
      </p:sp>
      <p:sp>
        <p:nvSpPr>
          <p:cNvPr id="52" name="矩形 51"/>
          <p:cNvSpPr/>
          <p:nvPr/>
        </p:nvSpPr>
        <p:spPr>
          <a:xfrm>
            <a:off x="3841984" y="2590800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/>
              <a:t>0</a:t>
            </a:r>
            <a:endParaRPr lang="zh-CN" altLang="en-US" sz="2800" dirty="0"/>
          </a:p>
        </p:txBody>
      </p:sp>
      <p:sp>
        <p:nvSpPr>
          <p:cNvPr id="53" name="矩形 52"/>
          <p:cNvSpPr/>
          <p:nvPr/>
        </p:nvSpPr>
        <p:spPr>
          <a:xfrm>
            <a:off x="2141220" y="2590800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/>
              <a:t>0</a:t>
            </a:r>
            <a:endParaRPr lang="zh-CN" altLang="en-US" sz="2800" dirty="0"/>
          </a:p>
        </p:txBody>
      </p:sp>
      <p:sp>
        <p:nvSpPr>
          <p:cNvPr id="54" name="矩形 53"/>
          <p:cNvSpPr/>
          <p:nvPr/>
        </p:nvSpPr>
        <p:spPr>
          <a:xfrm>
            <a:off x="457200" y="2590800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/>
              <a:t>6</a:t>
            </a:r>
            <a:endParaRPr lang="zh-CN" altLang="en-US" sz="2800" dirty="0"/>
          </a:p>
        </p:txBody>
      </p:sp>
      <p:sp>
        <p:nvSpPr>
          <p:cNvPr id="55" name="矩形 54"/>
          <p:cNvSpPr/>
          <p:nvPr/>
        </p:nvSpPr>
        <p:spPr>
          <a:xfrm>
            <a:off x="5482952" y="3611563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/>
              <a:t>F</a:t>
            </a:r>
            <a:endParaRPr lang="zh-CN" altLang="en-US" sz="2800" dirty="0"/>
          </a:p>
        </p:txBody>
      </p:sp>
      <p:sp>
        <p:nvSpPr>
          <p:cNvPr id="56" name="矩形 55"/>
          <p:cNvSpPr/>
          <p:nvPr/>
        </p:nvSpPr>
        <p:spPr>
          <a:xfrm>
            <a:off x="3838536" y="3611563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/>
              <a:t>F</a:t>
            </a:r>
            <a:endParaRPr lang="zh-CN" altLang="en-US" sz="2800" dirty="0"/>
          </a:p>
        </p:txBody>
      </p:sp>
      <p:sp>
        <p:nvSpPr>
          <p:cNvPr id="57" name="矩形 56"/>
          <p:cNvSpPr/>
          <p:nvPr/>
        </p:nvSpPr>
        <p:spPr>
          <a:xfrm>
            <a:off x="2137772" y="3611563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/>
              <a:t>7</a:t>
            </a:r>
            <a:endParaRPr lang="zh-CN" altLang="en-US" sz="2800" dirty="0"/>
          </a:p>
        </p:txBody>
      </p:sp>
      <p:sp>
        <p:nvSpPr>
          <p:cNvPr id="58" name="矩形 57"/>
          <p:cNvSpPr/>
          <p:nvPr/>
        </p:nvSpPr>
        <p:spPr>
          <a:xfrm>
            <a:off x="453752" y="3611563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/>
              <a:t>6</a:t>
            </a:r>
            <a:endParaRPr lang="zh-CN" altLang="en-US" sz="2800" dirty="0"/>
          </a:p>
        </p:txBody>
      </p:sp>
      <p:sp>
        <p:nvSpPr>
          <p:cNvPr id="59" name="矩形 58"/>
          <p:cNvSpPr/>
          <p:nvPr/>
        </p:nvSpPr>
        <p:spPr>
          <a:xfrm>
            <a:off x="5486400" y="4257739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0</a:t>
            </a:r>
            <a:endParaRPr lang="zh-CN" altLang="en-US" sz="2800" dirty="0"/>
          </a:p>
        </p:txBody>
      </p:sp>
      <p:sp>
        <p:nvSpPr>
          <p:cNvPr id="60" name="矩形 59"/>
          <p:cNvSpPr/>
          <p:nvPr/>
        </p:nvSpPr>
        <p:spPr>
          <a:xfrm>
            <a:off x="3841984" y="4257739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0</a:t>
            </a:r>
            <a:endParaRPr lang="zh-CN" altLang="en-US" sz="2800" dirty="0"/>
          </a:p>
        </p:txBody>
      </p:sp>
      <p:sp>
        <p:nvSpPr>
          <p:cNvPr id="61" name="矩形 60"/>
          <p:cNvSpPr/>
          <p:nvPr/>
        </p:nvSpPr>
        <p:spPr>
          <a:xfrm>
            <a:off x="2141220" y="4257739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8</a:t>
            </a:r>
            <a:endParaRPr lang="zh-CN" altLang="en-US" sz="2800" dirty="0"/>
          </a:p>
        </p:txBody>
      </p:sp>
      <p:sp>
        <p:nvSpPr>
          <p:cNvPr id="62" name="矩形 61"/>
          <p:cNvSpPr/>
          <p:nvPr/>
        </p:nvSpPr>
        <p:spPr>
          <a:xfrm>
            <a:off x="457200" y="4257739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/>
              <a:t>6</a:t>
            </a:r>
            <a:endParaRPr lang="zh-CN" altLang="en-US" sz="2800" dirty="0"/>
          </a:p>
        </p:txBody>
      </p:sp>
      <p:sp>
        <p:nvSpPr>
          <p:cNvPr id="63" name="矩形 62"/>
          <p:cNvSpPr/>
          <p:nvPr/>
        </p:nvSpPr>
        <p:spPr>
          <a:xfrm>
            <a:off x="5486400" y="5373216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/>
              <a:t>F</a:t>
            </a:r>
            <a:endParaRPr lang="zh-CN" altLang="en-US" sz="2800" dirty="0"/>
          </a:p>
        </p:txBody>
      </p:sp>
      <p:sp>
        <p:nvSpPr>
          <p:cNvPr id="64" name="矩形 63"/>
          <p:cNvSpPr/>
          <p:nvPr/>
        </p:nvSpPr>
        <p:spPr>
          <a:xfrm>
            <a:off x="3841984" y="5373216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/>
              <a:t>F</a:t>
            </a:r>
            <a:endParaRPr lang="zh-CN" altLang="en-US" sz="2800" dirty="0"/>
          </a:p>
        </p:txBody>
      </p:sp>
      <p:sp>
        <p:nvSpPr>
          <p:cNvPr id="65" name="矩形 64"/>
          <p:cNvSpPr/>
          <p:nvPr/>
        </p:nvSpPr>
        <p:spPr>
          <a:xfrm>
            <a:off x="2141220" y="5373216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/>
              <a:t>B</a:t>
            </a:r>
            <a:endParaRPr lang="zh-CN" altLang="en-US" sz="2800" dirty="0"/>
          </a:p>
        </p:txBody>
      </p:sp>
      <p:sp>
        <p:nvSpPr>
          <p:cNvPr id="66" name="矩形 65"/>
          <p:cNvSpPr/>
          <p:nvPr/>
        </p:nvSpPr>
        <p:spPr>
          <a:xfrm>
            <a:off x="457200" y="5373216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/>
              <a:t>6</a:t>
            </a:r>
            <a:endParaRPr lang="zh-CN" altLang="en-US" sz="2800" dirty="0"/>
          </a:p>
        </p:txBody>
      </p:sp>
      <p:sp>
        <p:nvSpPr>
          <p:cNvPr id="67" name="Line 7"/>
          <p:cNvSpPr>
            <a:spLocks noChangeShapeType="1"/>
          </p:cNvSpPr>
          <p:nvPr/>
        </p:nvSpPr>
        <p:spPr bwMode="auto">
          <a:xfrm flipH="1">
            <a:off x="2548156" y="2286000"/>
            <a:ext cx="7620" cy="1260000"/>
          </a:xfrm>
          <a:prstGeom prst="line">
            <a:avLst/>
          </a:prstGeom>
          <a:noFill/>
          <a:ln w="57150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68" name="Line 7"/>
          <p:cNvSpPr>
            <a:spLocks noChangeShapeType="1"/>
          </p:cNvSpPr>
          <p:nvPr/>
        </p:nvSpPr>
        <p:spPr bwMode="auto">
          <a:xfrm flipH="1">
            <a:off x="2899772" y="3906518"/>
            <a:ext cx="11068" cy="1466697"/>
          </a:xfrm>
          <a:prstGeom prst="line">
            <a:avLst/>
          </a:prstGeom>
          <a:noFill/>
          <a:ln w="57150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267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6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6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6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6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26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26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500"/>
                                        <p:tgtEl>
                                          <p:spTgt spid="26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4" dur="500"/>
                                        <p:tgtEl>
                                          <p:spTgt spid="26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9" dur="500"/>
                                        <p:tgtEl>
                                          <p:spTgt spid="26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3" grpId="0" autoUpdateAnimBg="0"/>
      <p:bldP spid="261124" grpId="0" autoUpdateAnimBg="0"/>
      <p:bldP spid="261130" grpId="0" autoUpdateAnimBg="0"/>
      <p:bldP spid="2" grpId="0" animBg="1"/>
      <p:bldP spid="4" grpId="0" animBg="1"/>
      <p:bldP spid="4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Text Box 2"/>
          <p:cNvSpPr txBox="1">
            <a:spLocks noChangeArrowheads="1"/>
          </p:cNvSpPr>
          <p:nvPr/>
        </p:nvSpPr>
        <p:spPr bwMode="auto">
          <a:xfrm>
            <a:off x="533400" y="304800"/>
            <a:ext cx="7924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>
                <a:latin typeface="Times New Roman" pitchFamily="18" charset="0"/>
              </a:rPr>
              <a:t>(3) 分配地址线</a:t>
            </a:r>
          </a:p>
        </p:txBody>
      </p:sp>
      <p:sp>
        <p:nvSpPr>
          <p:cNvPr id="262147" name="Text Box 3"/>
          <p:cNvSpPr txBox="1">
            <a:spLocks noChangeArrowheads="1"/>
          </p:cNvSpPr>
          <p:nvPr/>
        </p:nvSpPr>
        <p:spPr bwMode="auto">
          <a:xfrm>
            <a:off x="762000" y="4953000"/>
            <a:ext cx="61722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600" dirty="0">
                <a:latin typeface="Times New Roman" pitchFamily="18" charset="0"/>
              </a:rPr>
              <a:t>A</a:t>
            </a:r>
            <a:r>
              <a:rPr lang="en-US" altLang="zh-CN" sz="2600" baseline="-25000" dirty="0">
                <a:latin typeface="Times New Roman" pitchFamily="18" charset="0"/>
              </a:rPr>
              <a:t>10</a:t>
            </a:r>
            <a:r>
              <a:rPr lang="en-US" altLang="zh-CN" sz="2600" dirty="0">
                <a:latin typeface="Times New Roman" pitchFamily="18" charset="0"/>
              </a:rPr>
              <a:t>~ A</a:t>
            </a:r>
            <a:r>
              <a:rPr lang="en-US" altLang="zh-CN" sz="2600" baseline="-25000" dirty="0">
                <a:latin typeface="Times New Roman" pitchFamily="18" charset="0"/>
              </a:rPr>
              <a:t>0    </a:t>
            </a:r>
            <a:r>
              <a:rPr lang="zh-CN" altLang="en-US" sz="2600" dirty="0">
                <a:latin typeface="Times New Roman" pitchFamily="18" charset="0"/>
              </a:rPr>
              <a:t>接 2</a:t>
            </a:r>
            <a:r>
              <a:rPr lang="en-US" altLang="zh-CN" sz="2600" dirty="0">
                <a:latin typeface="Times New Roman" pitchFamily="18" charset="0"/>
              </a:rPr>
              <a:t>K</a:t>
            </a:r>
            <a:r>
              <a:rPr lang="en-US" altLang="zh-CN" sz="900" dirty="0">
                <a:latin typeface="Times New Roman" pitchFamily="18" charset="0"/>
              </a:rPr>
              <a:t> </a:t>
            </a:r>
            <a:r>
              <a:rPr lang="en-US" altLang="zh-CN" sz="2600" dirty="0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 altLang="zh-CN" sz="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6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zh-CN" altLang="en-US" sz="2600" dirty="0">
                <a:latin typeface="Times New Roman" pitchFamily="18" charset="0"/>
              </a:rPr>
              <a:t>位 </a:t>
            </a:r>
            <a:r>
              <a:rPr lang="en-US" altLang="zh-CN" sz="2600" dirty="0">
                <a:latin typeface="Times New Roman" pitchFamily="18" charset="0"/>
              </a:rPr>
              <a:t>ROM </a:t>
            </a:r>
            <a:r>
              <a:rPr lang="zh-CN" altLang="en-US" sz="2600" dirty="0">
                <a:latin typeface="Times New Roman" pitchFamily="18" charset="0"/>
              </a:rPr>
              <a:t>的地址线</a:t>
            </a:r>
          </a:p>
        </p:txBody>
      </p:sp>
      <p:sp>
        <p:nvSpPr>
          <p:cNvPr id="262148" name="Text Box 4"/>
          <p:cNvSpPr txBox="1">
            <a:spLocks noChangeArrowheads="1"/>
          </p:cNvSpPr>
          <p:nvPr/>
        </p:nvSpPr>
        <p:spPr bwMode="auto">
          <a:xfrm>
            <a:off x="762000" y="5486400"/>
            <a:ext cx="62484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600">
                <a:latin typeface="Times New Roman" pitchFamily="18" charset="0"/>
              </a:rPr>
              <a:t>A</a:t>
            </a:r>
            <a:r>
              <a:rPr lang="en-US" altLang="zh-CN" sz="2600" baseline="-25000">
                <a:latin typeface="Times New Roman" pitchFamily="18" charset="0"/>
              </a:rPr>
              <a:t>9  </a:t>
            </a:r>
            <a:r>
              <a:rPr lang="en-US" altLang="zh-CN" sz="2600">
                <a:latin typeface="Times New Roman" pitchFamily="18" charset="0"/>
              </a:rPr>
              <a:t>~ A</a:t>
            </a:r>
            <a:r>
              <a:rPr lang="en-US" altLang="zh-CN" sz="2600" baseline="-25000">
                <a:latin typeface="Times New Roman" pitchFamily="18" charset="0"/>
              </a:rPr>
              <a:t>0    </a:t>
            </a:r>
            <a:r>
              <a:rPr lang="zh-CN" altLang="en-US" sz="2600">
                <a:latin typeface="Times New Roman" pitchFamily="18" charset="0"/>
              </a:rPr>
              <a:t>接 1</a:t>
            </a:r>
            <a:r>
              <a:rPr lang="en-US" altLang="zh-CN" sz="2600">
                <a:latin typeface="Times New Roman" pitchFamily="18" charset="0"/>
              </a:rPr>
              <a:t>K</a:t>
            </a:r>
            <a:r>
              <a:rPr lang="en-US" altLang="zh-CN" sz="900">
                <a:latin typeface="Times New Roman" pitchFamily="18" charset="0"/>
              </a:rPr>
              <a:t> </a:t>
            </a:r>
            <a:r>
              <a:rPr lang="en-US" altLang="zh-CN" sz="2600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en-US" altLang="zh-CN" sz="9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60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z="2600">
                <a:latin typeface="Times New Roman" pitchFamily="18" charset="0"/>
              </a:rPr>
              <a:t>位 </a:t>
            </a:r>
            <a:r>
              <a:rPr lang="en-US" altLang="zh-CN" sz="2600">
                <a:latin typeface="Times New Roman" pitchFamily="18" charset="0"/>
              </a:rPr>
              <a:t>RAM </a:t>
            </a:r>
            <a:r>
              <a:rPr lang="zh-CN" altLang="en-US" sz="2600">
                <a:latin typeface="Times New Roman" pitchFamily="18" charset="0"/>
              </a:rPr>
              <a:t>的地址线</a:t>
            </a:r>
            <a:endParaRPr lang="en-US" altLang="zh-CN" sz="2600">
              <a:latin typeface="Times New Roman" pitchFamily="18" charset="0"/>
            </a:endParaRPr>
          </a:p>
        </p:txBody>
      </p:sp>
      <p:sp>
        <p:nvSpPr>
          <p:cNvPr id="262149" name="Rectangle 5"/>
          <p:cNvSpPr>
            <a:spLocks noChangeArrowheads="1"/>
          </p:cNvSpPr>
          <p:nvPr/>
        </p:nvSpPr>
        <p:spPr bwMode="auto">
          <a:xfrm>
            <a:off x="533399" y="6049963"/>
            <a:ext cx="859631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itchFamily="18" charset="0"/>
              </a:rPr>
              <a:t>(4) 确定片选</a:t>
            </a:r>
            <a:r>
              <a:rPr lang="zh-CN" altLang="en-US" sz="3200" dirty="0" smtClean="0">
                <a:latin typeface="Times New Roman" pitchFamily="18" charset="0"/>
              </a:rPr>
              <a:t>信号（</a:t>
            </a:r>
            <a:r>
              <a:rPr lang="en-US" altLang="zh-CN" sz="3200" dirty="0" smtClean="0">
                <a:latin typeface="Times New Roman" pitchFamily="18" charset="0"/>
              </a:rPr>
              <a:t>CPU</a:t>
            </a:r>
            <a:r>
              <a:rPr lang="zh-CN" altLang="en-US" sz="3200" dirty="0" smtClean="0">
                <a:latin typeface="Times New Roman" pitchFamily="18" charset="0"/>
              </a:rPr>
              <a:t>地址线高位的变化部分）</a:t>
            </a:r>
            <a:endParaRPr lang="en-US" altLang="zh-CN" sz="3200" dirty="0">
              <a:latin typeface="Times New Roman" pitchFamily="18" charset="0"/>
            </a:endParaRPr>
          </a:p>
        </p:txBody>
      </p:sp>
      <p:sp>
        <p:nvSpPr>
          <p:cNvPr id="262150" name="Line 6"/>
          <p:cNvSpPr>
            <a:spLocks noChangeShapeType="1"/>
          </p:cNvSpPr>
          <p:nvPr/>
        </p:nvSpPr>
        <p:spPr bwMode="auto">
          <a:xfrm>
            <a:off x="2438400" y="1447800"/>
            <a:ext cx="0" cy="1620000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2151" name="Line 7"/>
          <p:cNvSpPr>
            <a:spLocks noChangeShapeType="1"/>
          </p:cNvSpPr>
          <p:nvPr/>
        </p:nvSpPr>
        <p:spPr bwMode="auto">
          <a:xfrm>
            <a:off x="2895600" y="3103230"/>
            <a:ext cx="0" cy="1620000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2152" name="Line 8"/>
          <p:cNvSpPr>
            <a:spLocks noChangeShapeType="1"/>
          </p:cNvSpPr>
          <p:nvPr/>
        </p:nvSpPr>
        <p:spPr bwMode="auto">
          <a:xfrm>
            <a:off x="1143000" y="1447800"/>
            <a:ext cx="0" cy="3200400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262153" name="Group 9"/>
          <p:cNvGrpSpPr>
            <a:grpSpLocks/>
          </p:cNvGrpSpPr>
          <p:nvPr/>
        </p:nvGrpSpPr>
        <p:grpSpPr bwMode="auto">
          <a:xfrm>
            <a:off x="1143000" y="4572000"/>
            <a:ext cx="1371600" cy="519113"/>
            <a:chOff x="720" y="2880"/>
            <a:chExt cx="864" cy="327"/>
          </a:xfrm>
        </p:grpSpPr>
        <p:sp>
          <p:nvSpPr>
            <p:cNvPr id="262154" name="Text Box 10"/>
            <p:cNvSpPr txBox="1">
              <a:spLocks noChangeArrowheads="1"/>
            </p:cNvSpPr>
            <p:nvPr/>
          </p:nvSpPr>
          <p:spPr bwMode="auto">
            <a:xfrm>
              <a:off x="720" y="2880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chemeClr val="folHlink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262155" name="Text Box 11"/>
            <p:cNvSpPr txBox="1">
              <a:spLocks noChangeArrowheads="1"/>
            </p:cNvSpPr>
            <p:nvPr/>
          </p:nvSpPr>
          <p:spPr bwMode="auto">
            <a:xfrm>
              <a:off x="960" y="2880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chemeClr val="folHlink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262156" name="Text Box 12"/>
            <p:cNvSpPr txBox="1">
              <a:spLocks noChangeArrowheads="1"/>
            </p:cNvSpPr>
            <p:nvPr/>
          </p:nvSpPr>
          <p:spPr bwMode="auto">
            <a:xfrm>
              <a:off x="1248" y="2880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chemeClr val="folHlink"/>
                  </a:solidFill>
                  <a:latin typeface="Times New Roman" pitchFamily="18" charset="0"/>
                </a:rPr>
                <a:t>A</a:t>
              </a:r>
            </a:p>
          </p:txBody>
        </p:sp>
      </p:grpSp>
      <p:grpSp>
        <p:nvGrpSpPr>
          <p:cNvPr id="262157" name="Group 13"/>
          <p:cNvGrpSpPr>
            <a:grpSpLocks/>
          </p:cNvGrpSpPr>
          <p:nvPr/>
        </p:nvGrpSpPr>
        <p:grpSpPr bwMode="auto">
          <a:xfrm>
            <a:off x="381000" y="1371600"/>
            <a:ext cx="9220200" cy="3398838"/>
            <a:chOff x="240" y="864"/>
            <a:chExt cx="5808" cy="2141"/>
          </a:xfrm>
        </p:grpSpPr>
        <p:grpSp>
          <p:nvGrpSpPr>
            <p:cNvPr id="262158" name="Group 14"/>
            <p:cNvGrpSpPr>
              <a:grpSpLocks/>
            </p:cNvGrpSpPr>
            <p:nvPr/>
          </p:nvGrpSpPr>
          <p:grpSpPr bwMode="auto">
            <a:xfrm>
              <a:off x="240" y="864"/>
              <a:ext cx="4320" cy="365"/>
              <a:chOff x="384" y="1296"/>
              <a:chExt cx="4320" cy="365"/>
            </a:xfrm>
          </p:grpSpPr>
          <p:sp>
            <p:nvSpPr>
              <p:cNvPr id="262159" name="Text Box 15"/>
              <p:cNvSpPr txBox="1">
                <a:spLocks noChangeArrowheads="1"/>
              </p:cNvSpPr>
              <p:nvPr/>
            </p:nvSpPr>
            <p:spPr bwMode="auto">
              <a:xfrm>
                <a:off x="384" y="1296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 dirty="0">
                    <a:latin typeface="Times New Roman" pitchFamily="18" charset="0"/>
                  </a:rPr>
                  <a:t>0  1  1  0</a:t>
                </a:r>
              </a:p>
            </p:txBody>
          </p:sp>
          <p:sp>
            <p:nvSpPr>
              <p:cNvPr id="262160" name="Text Box 16"/>
              <p:cNvSpPr txBox="1">
                <a:spLocks noChangeArrowheads="1"/>
              </p:cNvSpPr>
              <p:nvPr/>
            </p:nvSpPr>
            <p:spPr bwMode="auto">
              <a:xfrm>
                <a:off x="1440" y="1296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>
                    <a:latin typeface="Times New Roman" pitchFamily="18" charset="0"/>
                  </a:rPr>
                  <a:t>0  0  0  0</a:t>
                </a:r>
              </a:p>
            </p:txBody>
          </p:sp>
          <p:sp>
            <p:nvSpPr>
              <p:cNvPr id="262161" name="Text Box 17"/>
              <p:cNvSpPr txBox="1">
                <a:spLocks noChangeArrowheads="1"/>
              </p:cNvSpPr>
              <p:nvPr/>
            </p:nvSpPr>
            <p:spPr bwMode="auto">
              <a:xfrm>
                <a:off x="2496" y="1296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>
                    <a:latin typeface="Times New Roman" pitchFamily="18" charset="0"/>
                  </a:rPr>
                  <a:t>0  0  0  0</a:t>
                </a:r>
              </a:p>
            </p:txBody>
          </p:sp>
          <p:sp>
            <p:nvSpPr>
              <p:cNvPr id="262162" name="Text Box 18"/>
              <p:cNvSpPr txBox="1">
                <a:spLocks noChangeArrowheads="1"/>
              </p:cNvSpPr>
              <p:nvPr/>
            </p:nvSpPr>
            <p:spPr bwMode="auto">
              <a:xfrm>
                <a:off x="3552" y="1296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>
                    <a:latin typeface="Times New Roman" pitchFamily="18" charset="0"/>
                  </a:rPr>
                  <a:t>0  0  0  0</a:t>
                </a:r>
              </a:p>
            </p:txBody>
          </p:sp>
        </p:grpSp>
        <p:grpSp>
          <p:nvGrpSpPr>
            <p:cNvPr id="262164" name="Group 20"/>
            <p:cNvGrpSpPr>
              <a:grpSpLocks/>
            </p:cNvGrpSpPr>
            <p:nvPr/>
          </p:nvGrpSpPr>
          <p:grpSpPr bwMode="auto">
            <a:xfrm>
              <a:off x="240" y="1200"/>
              <a:ext cx="4320" cy="701"/>
              <a:chOff x="288" y="1632"/>
              <a:chExt cx="4320" cy="701"/>
            </a:xfrm>
          </p:grpSpPr>
          <p:sp>
            <p:nvSpPr>
              <p:cNvPr id="262165" name="Text Box 21"/>
              <p:cNvSpPr txBox="1">
                <a:spLocks noChangeArrowheads="1"/>
              </p:cNvSpPr>
              <p:nvPr/>
            </p:nvSpPr>
            <p:spPr bwMode="auto">
              <a:xfrm>
                <a:off x="297" y="1632"/>
                <a:ext cx="423" cy="4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3200">
                    <a:latin typeface="Times New Roman" pitchFamily="18" charset="0"/>
                  </a:rPr>
                  <a:t>…</a:t>
                </a:r>
              </a:p>
            </p:txBody>
          </p:sp>
          <p:grpSp>
            <p:nvGrpSpPr>
              <p:cNvPr id="262166" name="Group 22"/>
              <p:cNvGrpSpPr>
                <a:grpSpLocks/>
              </p:cNvGrpSpPr>
              <p:nvPr/>
            </p:nvGrpSpPr>
            <p:grpSpPr bwMode="auto">
              <a:xfrm>
                <a:off x="288" y="1968"/>
                <a:ext cx="4320" cy="365"/>
                <a:chOff x="384" y="1968"/>
                <a:chExt cx="4320" cy="365"/>
              </a:xfrm>
            </p:grpSpPr>
            <p:sp>
              <p:nvSpPr>
                <p:cNvPr id="262167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384" y="1968"/>
                  <a:ext cx="1152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3200">
                      <a:latin typeface="Times New Roman" pitchFamily="18" charset="0"/>
                    </a:rPr>
                    <a:t>0  1  1  0</a:t>
                  </a:r>
                </a:p>
              </p:txBody>
            </p:sp>
            <p:sp>
              <p:nvSpPr>
                <p:cNvPr id="262168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440" y="1968"/>
                  <a:ext cx="1440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3200" dirty="0">
                      <a:latin typeface="Times New Roman" pitchFamily="18" charset="0"/>
                    </a:rPr>
                    <a:t>0  1  1  1</a:t>
                  </a:r>
                </a:p>
              </p:txBody>
            </p:sp>
            <p:sp>
              <p:nvSpPr>
                <p:cNvPr id="262169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496" y="1968"/>
                  <a:ext cx="1152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3200">
                      <a:latin typeface="Times New Roman" pitchFamily="18" charset="0"/>
                    </a:rPr>
                    <a:t>1  1  1  1</a:t>
                  </a:r>
                </a:p>
              </p:txBody>
            </p:sp>
            <p:sp>
              <p:nvSpPr>
                <p:cNvPr id="262170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3552" y="1968"/>
                  <a:ext cx="1152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3200">
                      <a:latin typeface="Times New Roman" pitchFamily="18" charset="0"/>
                    </a:rPr>
                    <a:t>1  1  1  1</a:t>
                  </a:r>
                </a:p>
              </p:txBody>
            </p:sp>
          </p:grpSp>
        </p:grpSp>
        <p:grpSp>
          <p:nvGrpSpPr>
            <p:cNvPr id="262171" name="Group 27"/>
            <p:cNvGrpSpPr>
              <a:grpSpLocks/>
            </p:cNvGrpSpPr>
            <p:nvPr/>
          </p:nvGrpSpPr>
          <p:grpSpPr bwMode="auto">
            <a:xfrm>
              <a:off x="240" y="1939"/>
              <a:ext cx="4320" cy="365"/>
              <a:chOff x="384" y="1296"/>
              <a:chExt cx="4320" cy="365"/>
            </a:xfrm>
          </p:grpSpPr>
          <p:sp>
            <p:nvSpPr>
              <p:cNvPr id="262172" name="Text Box 28"/>
              <p:cNvSpPr txBox="1">
                <a:spLocks noChangeArrowheads="1"/>
              </p:cNvSpPr>
              <p:nvPr/>
            </p:nvSpPr>
            <p:spPr bwMode="auto">
              <a:xfrm>
                <a:off x="384" y="1296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 dirty="0">
                    <a:latin typeface="Times New Roman" pitchFamily="18" charset="0"/>
                  </a:rPr>
                  <a:t>0  1  1  0</a:t>
                </a:r>
              </a:p>
            </p:txBody>
          </p:sp>
          <p:sp>
            <p:nvSpPr>
              <p:cNvPr id="262173" name="Text Box 29"/>
              <p:cNvSpPr txBox="1">
                <a:spLocks noChangeArrowheads="1"/>
              </p:cNvSpPr>
              <p:nvPr/>
            </p:nvSpPr>
            <p:spPr bwMode="auto">
              <a:xfrm>
                <a:off x="1440" y="1296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 dirty="0">
                    <a:latin typeface="Times New Roman" pitchFamily="18" charset="0"/>
                  </a:rPr>
                  <a:t>1  0  0  0</a:t>
                </a:r>
              </a:p>
            </p:txBody>
          </p:sp>
          <p:sp>
            <p:nvSpPr>
              <p:cNvPr id="262174" name="Text Box 30"/>
              <p:cNvSpPr txBox="1">
                <a:spLocks noChangeArrowheads="1"/>
              </p:cNvSpPr>
              <p:nvPr/>
            </p:nvSpPr>
            <p:spPr bwMode="auto">
              <a:xfrm>
                <a:off x="2496" y="1296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>
                    <a:latin typeface="Times New Roman" pitchFamily="18" charset="0"/>
                  </a:rPr>
                  <a:t>0  0  0  0</a:t>
                </a:r>
              </a:p>
            </p:txBody>
          </p:sp>
          <p:sp>
            <p:nvSpPr>
              <p:cNvPr id="262175" name="Text Box 31"/>
              <p:cNvSpPr txBox="1">
                <a:spLocks noChangeArrowheads="1"/>
              </p:cNvSpPr>
              <p:nvPr/>
            </p:nvSpPr>
            <p:spPr bwMode="auto">
              <a:xfrm>
                <a:off x="3552" y="1296"/>
                <a:ext cx="115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>
                    <a:latin typeface="Times New Roman" pitchFamily="18" charset="0"/>
                  </a:rPr>
                  <a:t>0  0  0  0</a:t>
                </a:r>
              </a:p>
            </p:txBody>
          </p:sp>
        </p:grpSp>
        <p:grpSp>
          <p:nvGrpSpPr>
            <p:cNvPr id="262176" name="Group 32"/>
            <p:cNvGrpSpPr>
              <a:grpSpLocks/>
            </p:cNvGrpSpPr>
            <p:nvPr/>
          </p:nvGrpSpPr>
          <p:grpSpPr bwMode="auto">
            <a:xfrm>
              <a:off x="240" y="2256"/>
              <a:ext cx="4320" cy="749"/>
              <a:chOff x="288" y="2688"/>
              <a:chExt cx="4320" cy="749"/>
            </a:xfrm>
          </p:grpSpPr>
          <p:sp>
            <p:nvSpPr>
              <p:cNvPr id="262177" name="Text Box 33"/>
              <p:cNvSpPr txBox="1">
                <a:spLocks noChangeArrowheads="1"/>
              </p:cNvSpPr>
              <p:nvPr/>
            </p:nvSpPr>
            <p:spPr bwMode="auto">
              <a:xfrm>
                <a:off x="288" y="2688"/>
                <a:ext cx="423" cy="4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3200">
                    <a:latin typeface="Times New Roman" pitchFamily="18" charset="0"/>
                  </a:rPr>
                  <a:t>…</a:t>
                </a:r>
              </a:p>
            </p:txBody>
          </p:sp>
          <p:grpSp>
            <p:nvGrpSpPr>
              <p:cNvPr id="262178" name="Group 34"/>
              <p:cNvGrpSpPr>
                <a:grpSpLocks/>
              </p:cNvGrpSpPr>
              <p:nvPr/>
            </p:nvGrpSpPr>
            <p:grpSpPr bwMode="auto">
              <a:xfrm>
                <a:off x="288" y="3072"/>
                <a:ext cx="4320" cy="365"/>
                <a:chOff x="384" y="1968"/>
                <a:chExt cx="4320" cy="365"/>
              </a:xfrm>
            </p:grpSpPr>
            <p:sp>
              <p:nvSpPr>
                <p:cNvPr id="262179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384" y="1968"/>
                  <a:ext cx="1152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3200">
                      <a:latin typeface="Times New Roman" pitchFamily="18" charset="0"/>
                    </a:rPr>
                    <a:t>0  1  1  0</a:t>
                  </a:r>
                </a:p>
              </p:txBody>
            </p:sp>
            <p:sp>
              <p:nvSpPr>
                <p:cNvPr id="262180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1440" y="1968"/>
                  <a:ext cx="1440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3200" dirty="0">
                      <a:latin typeface="Times New Roman" pitchFamily="18" charset="0"/>
                    </a:rPr>
                    <a:t>1  0  1  1</a:t>
                  </a:r>
                </a:p>
              </p:txBody>
            </p:sp>
            <p:sp>
              <p:nvSpPr>
                <p:cNvPr id="262181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496" y="1968"/>
                  <a:ext cx="1152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3200">
                      <a:latin typeface="Times New Roman" pitchFamily="18" charset="0"/>
                    </a:rPr>
                    <a:t>1  1  1  1</a:t>
                  </a:r>
                </a:p>
              </p:txBody>
            </p:sp>
            <p:sp>
              <p:nvSpPr>
                <p:cNvPr id="262182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3552" y="1968"/>
                  <a:ext cx="1152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3200">
                      <a:latin typeface="Times New Roman" pitchFamily="18" charset="0"/>
                    </a:rPr>
                    <a:t>1  1  1  1</a:t>
                  </a:r>
                </a:p>
              </p:txBody>
            </p:sp>
          </p:grpSp>
        </p:grpSp>
        <p:sp>
          <p:nvSpPr>
            <p:cNvPr id="262183" name="AutoShape 39"/>
            <p:cNvSpPr>
              <a:spLocks/>
            </p:cNvSpPr>
            <p:nvPr/>
          </p:nvSpPr>
          <p:spPr bwMode="auto">
            <a:xfrm>
              <a:off x="4464" y="1008"/>
              <a:ext cx="192" cy="768"/>
            </a:xfrm>
            <a:prstGeom prst="rightBrace">
              <a:avLst>
                <a:gd name="adj1" fmla="val 33333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2184" name="Text Box 40"/>
            <p:cNvSpPr txBox="1">
              <a:spLocks noChangeArrowheads="1"/>
            </p:cNvSpPr>
            <p:nvPr/>
          </p:nvSpPr>
          <p:spPr bwMode="auto">
            <a:xfrm>
              <a:off x="4704" y="1363"/>
              <a:ext cx="13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</a:rPr>
                <a:t>2K</a:t>
              </a:r>
              <a:r>
                <a:rPr lang="en-US" altLang="zh-CN" sz="900">
                  <a:latin typeface="Times New Roman" pitchFamily="18" charset="0"/>
                </a:rPr>
                <a:t> </a:t>
              </a:r>
              <a:r>
                <a:rPr lang="en-US" altLang="zh-CN" sz="3200">
                  <a:latin typeface="Times New Roman" pitchFamily="18" charset="0"/>
                  <a:cs typeface="Times New Roman" pitchFamily="18" charset="0"/>
                </a:rPr>
                <a:t>×</a:t>
              </a:r>
              <a:r>
                <a:rPr lang="en-US" altLang="zh-CN" sz="9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zh-CN" altLang="en-US" sz="2800">
                  <a:latin typeface="Times New Roman" pitchFamily="18" charset="0"/>
                </a:rPr>
                <a:t>位</a:t>
              </a:r>
              <a:endParaRPr lang="en-US" altLang="zh-CN" sz="2800">
                <a:latin typeface="Times New Roman" pitchFamily="18" charset="0"/>
              </a:endParaRPr>
            </a:p>
          </p:txBody>
        </p:sp>
        <p:sp>
          <p:nvSpPr>
            <p:cNvPr id="262185" name="Text Box 41"/>
            <p:cNvSpPr txBox="1">
              <a:spLocks noChangeArrowheads="1"/>
            </p:cNvSpPr>
            <p:nvPr/>
          </p:nvSpPr>
          <p:spPr bwMode="auto">
            <a:xfrm>
              <a:off x="4704" y="1056"/>
              <a:ext cx="11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zh-CN" altLang="en-US" sz="2800">
                  <a:latin typeface="Times New Roman" pitchFamily="18" charset="0"/>
                </a:rPr>
                <a:t>片 </a:t>
              </a: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ROM</a:t>
              </a:r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2186" name="AutoShape 42"/>
            <p:cNvSpPr>
              <a:spLocks/>
            </p:cNvSpPr>
            <p:nvPr/>
          </p:nvSpPr>
          <p:spPr bwMode="auto">
            <a:xfrm>
              <a:off x="4464" y="2112"/>
              <a:ext cx="192" cy="768"/>
            </a:xfrm>
            <a:prstGeom prst="rightBrace">
              <a:avLst>
                <a:gd name="adj1" fmla="val 33333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2187" name="Text Box 43"/>
            <p:cNvSpPr txBox="1">
              <a:spLocks noChangeArrowheads="1"/>
            </p:cNvSpPr>
            <p:nvPr/>
          </p:nvSpPr>
          <p:spPr bwMode="auto">
            <a:xfrm>
              <a:off x="4704" y="2448"/>
              <a:ext cx="13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Times New Roman" pitchFamily="18" charset="0"/>
                </a:rPr>
                <a:t>1K</a:t>
              </a:r>
              <a:r>
                <a:rPr lang="en-US" altLang="zh-CN" sz="900">
                  <a:latin typeface="Times New Roman" pitchFamily="18" charset="0"/>
                </a:rPr>
                <a:t> </a:t>
              </a:r>
              <a:r>
                <a:rPr lang="en-US" altLang="zh-CN" sz="3200">
                  <a:latin typeface="Times New Roman" pitchFamily="18" charset="0"/>
                  <a:cs typeface="Times New Roman" pitchFamily="18" charset="0"/>
                </a:rPr>
                <a:t>×</a:t>
              </a:r>
              <a:r>
                <a:rPr lang="en-US" altLang="zh-CN" sz="9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zh-CN" altLang="en-US" sz="2800">
                  <a:latin typeface="Times New Roman" pitchFamily="18" charset="0"/>
                </a:rPr>
                <a:t>位</a:t>
              </a:r>
              <a:endParaRPr lang="en-US" altLang="zh-CN" sz="2800">
                <a:latin typeface="Times New Roman" pitchFamily="18" charset="0"/>
              </a:endParaRPr>
            </a:p>
          </p:txBody>
        </p:sp>
        <p:sp>
          <p:nvSpPr>
            <p:cNvPr id="262188" name="Text Box 44"/>
            <p:cNvSpPr txBox="1">
              <a:spLocks noChangeArrowheads="1"/>
            </p:cNvSpPr>
            <p:nvPr/>
          </p:nvSpPr>
          <p:spPr bwMode="auto">
            <a:xfrm>
              <a:off x="4704" y="2121"/>
              <a:ext cx="11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zh-CN" altLang="en-US" sz="2800">
                  <a:latin typeface="Times New Roman" pitchFamily="18" charset="0"/>
                </a:rPr>
                <a:t>片</a:t>
              </a: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RAM</a:t>
              </a:r>
              <a:endParaRPr lang="zh-CN" altLang="en-US" sz="28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62189" name="Rectangle 45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4.2</a:t>
            </a:r>
          </a:p>
        </p:txBody>
      </p:sp>
      <p:sp>
        <p:nvSpPr>
          <p:cNvPr id="262190" name="AutoShape 46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" name="Text Box 10"/>
          <p:cNvSpPr txBox="1">
            <a:spLocks noChangeArrowheads="1"/>
          </p:cNvSpPr>
          <p:nvPr/>
        </p:nvSpPr>
        <p:spPr bwMode="auto">
          <a:xfrm>
            <a:off x="381000" y="862331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000" baseline="-25000" dirty="0" smtClean="0">
                <a:latin typeface="Times New Roman" pitchFamily="18" charset="0"/>
              </a:rPr>
              <a:t>15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000" baseline="-25000" dirty="0" smtClean="0">
                <a:latin typeface="Times New Roman" pitchFamily="18" charset="0"/>
              </a:rPr>
              <a:t>14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000" baseline="-25000" dirty="0" smtClean="0">
                <a:latin typeface="Times New Roman" pitchFamily="18" charset="0"/>
              </a:rPr>
              <a:t>13</a:t>
            </a:r>
            <a:r>
              <a:rPr lang="en-US" altLang="zh-CN" sz="2400" baseline="-25000" dirty="0" smtClean="0">
                <a:latin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000" baseline="-25000" dirty="0" smtClean="0">
                <a:latin typeface="Times New Roman" pitchFamily="18" charset="0"/>
              </a:rPr>
              <a:t>12</a:t>
            </a:r>
            <a:r>
              <a:rPr lang="en-US" altLang="zh-CN" sz="2400" baseline="-25000" dirty="0" smtClean="0">
                <a:latin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000" baseline="-25000" dirty="0" smtClean="0">
                <a:latin typeface="Times New Roman" pitchFamily="18" charset="0"/>
              </a:rPr>
              <a:t>11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000" baseline="-25000" dirty="0" smtClean="0">
                <a:latin typeface="Times New Roman" pitchFamily="18" charset="0"/>
              </a:rPr>
              <a:t>10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000" baseline="-25000" dirty="0" smtClean="0">
                <a:latin typeface="Times New Roman" pitchFamily="18" charset="0"/>
              </a:rPr>
              <a:t>9 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000" baseline="-25000" dirty="0" smtClean="0">
                <a:latin typeface="Times New Roman" pitchFamily="18" charset="0"/>
              </a:rPr>
              <a:t>8</a:t>
            </a:r>
            <a:r>
              <a:rPr lang="en-US" altLang="zh-CN" sz="2400" dirty="0" smtClean="0">
                <a:latin typeface="Times New Roman" pitchFamily="18" charset="0"/>
              </a:rPr>
              <a:t> A</a:t>
            </a:r>
            <a:r>
              <a:rPr lang="en-US" altLang="zh-CN" sz="2400" baseline="-25000" dirty="0" smtClean="0">
                <a:latin typeface="Times New Roman" pitchFamily="18" charset="0"/>
              </a:rPr>
              <a:t>7 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400" baseline="-25000" dirty="0" smtClean="0">
                <a:latin typeface="Times New Roman" pitchFamily="18" charset="0"/>
              </a:rPr>
              <a:t>6 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400" baseline="-25000" dirty="0" smtClean="0">
                <a:latin typeface="Times New Roman" pitchFamily="18" charset="0"/>
              </a:rPr>
              <a:t>5</a:t>
            </a:r>
            <a:r>
              <a:rPr lang="en-US" altLang="zh-CN" sz="2400" dirty="0" smtClean="0">
                <a:latin typeface="Times New Roman" pitchFamily="18" charset="0"/>
              </a:rPr>
              <a:t> </a:t>
            </a:r>
            <a:r>
              <a:rPr lang="en-US" altLang="zh-CN" sz="2400" baseline="-25000" dirty="0" smtClean="0">
                <a:latin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400" baseline="-25000" dirty="0" smtClean="0">
                <a:latin typeface="Times New Roman" pitchFamily="18" charset="0"/>
              </a:rPr>
              <a:t>4  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400" baseline="-25000" dirty="0" smtClean="0">
                <a:latin typeface="Times New Roman" pitchFamily="18" charset="0"/>
              </a:rPr>
              <a:t>3 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400" baseline="-25000" dirty="0">
                <a:latin typeface="Times New Roman" pitchFamily="18" charset="0"/>
              </a:rPr>
              <a:t>2</a:t>
            </a:r>
            <a:r>
              <a:rPr lang="en-US" altLang="zh-CN" sz="2400" baseline="-25000" dirty="0" smtClean="0">
                <a:latin typeface="Times New Roman" pitchFamily="18" charset="0"/>
              </a:rPr>
              <a:t> 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400" baseline="-25000" dirty="0" smtClean="0">
                <a:latin typeface="Times New Roman" pitchFamily="18" charset="0"/>
              </a:rPr>
              <a:t>1 </a:t>
            </a:r>
            <a:r>
              <a:rPr lang="en-US" altLang="zh-CN" sz="2400" dirty="0" smtClean="0">
                <a:latin typeface="Times New Roman" pitchFamily="18" charset="0"/>
              </a:rPr>
              <a:t>A</a:t>
            </a:r>
            <a:r>
              <a:rPr lang="en-US" altLang="zh-CN" sz="2400" baseline="-25000" dirty="0" smtClean="0">
                <a:latin typeface="Times New Roman" pitchFamily="18" charset="0"/>
              </a:rPr>
              <a:t>0</a:t>
            </a:r>
            <a:endParaRPr lang="en-US" altLang="zh-CN" sz="2400" baseline="-250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333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2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26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2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262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26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62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7" grpId="0" autoUpdateAnimBg="0"/>
      <p:bldP spid="262148" grpId="0" autoUpdateAnimBg="0"/>
      <p:bldP spid="262149" grpId="0" autoUpdateAnimBg="0"/>
      <p:bldP spid="262150" grpId="0" animBg="1"/>
      <p:bldP spid="262151" grpId="0" animBg="1"/>
      <p:bldP spid="262152" grpId="0" animBg="1"/>
      <p:bldP spid="4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Freeform 2"/>
          <p:cNvSpPr>
            <a:spLocks/>
          </p:cNvSpPr>
          <p:nvPr/>
        </p:nvSpPr>
        <p:spPr bwMode="auto">
          <a:xfrm>
            <a:off x="2209800" y="1809750"/>
            <a:ext cx="1062038" cy="1588"/>
          </a:xfrm>
          <a:custGeom>
            <a:avLst/>
            <a:gdLst>
              <a:gd name="T0" fmla="*/ 669 w 669"/>
              <a:gd name="T1" fmla="*/ 0 h 1"/>
              <a:gd name="T2" fmla="*/ 0 w 669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69" h="1">
                <a:moveTo>
                  <a:pt x="669" y="0"/>
                </a:moveTo>
                <a:lnTo>
                  <a:pt x="0" y="0"/>
                </a:lnTo>
              </a:path>
            </a:pathLst>
          </a:custGeom>
          <a:solidFill>
            <a:srgbClr val="FF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3171" name="Line 3"/>
          <p:cNvSpPr>
            <a:spLocks noChangeShapeType="1"/>
          </p:cNvSpPr>
          <p:nvPr/>
        </p:nvSpPr>
        <p:spPr bwMode="auto">
          <a:xfrm flipH="1">
            <a:off x="2209800" y="1524000"/>
            <a:ext cx="1198563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63172" name="Group 4"/>
          <p:cNvGrpSpPr>
            <a:grpSpLocks/>
          </p:cNvGrpSpPr>
          <p:nvPr/>
        </p:nvGrpSpPr>
        <p:grpSpPr bwMode="auto">
          <a:xfrm>
            <a:off x="247650" y="1104900"/>
            <a:ext cx="298450" cy="1247775"/>
            <a:chOff x="156" y="696"/>
            <a:chExt cx="188" cy="786"/>
          </a:xfrm>
        </p:grpSpPr>
        <p:sp>
          <p:nvSpPr>
            <p:cNvPr id="263173" name="Line 5"/>
            <p:cNvSpPr>
              <a:spLocks noChangeShapeType="1"/>
            </p:cNvSpPr>
            <p:nvPr/>
          </p:nvSpPr>
          <p:spPr bwMode="auto">
            <a:xfrm flipH="1">
              <a:off x="157" y="1467"/>
              <a:ext cx="187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174" name="Freeform 6"/>
            <p:cNvSpPr>
              <a:spLocks/>
            </p:cNvSpPr>
            <p:nvPr/>
          </p:nvSpPr>
          <p:spPr bwMode="auto">
            <a:xfrm>
              <a:off x="156" y="696"/>
              <a:ext cx="1" cy="786"/>
            </a:xfrm>
            <a:custGeom>
              <a:avLst/>
              <a:gdLst>
                <a:gd name="T0" fmla="*/ 0 w 1"/>
                <a:gd name="T1" fmla="*/ 786 h 786"/>
                <a:gd name="T2" fmla="*/ 0 w 1"/>
                <a:gd name="T3" fmla="*/ 0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86">
                  <a:moveTo>
                    <a:pt x="0" y="786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3175" name="Group 7"/>
          <p:cNvGrpSpPr>
            <a:grpSpLocks/>
          </p:cNvGrpSpPr>
          <p:nvPr/>
        </p:nvGrpSpPr>
        <p:grpSpPr bwMode="auto">
          <a:xfrm>
            <a:off x="236538" y="1108075"/>
            <a:ext cx="3040062" cy="990600"/>
            <a:chOff x="149" y="698"/>
            <a:chExt cx="1915" cy="624"/>
          </a:xfrm>
        </p:grpSpPr>
        <p:sp>
          <p:nvSpPr>
            <p:cNvPr id="263176" name="Freeform 8"/>
            <p:cNvSpPr>
              <a:spLocks/>
            </p:cNvSpPr>
            <p:nvPr/>
          </p:nvSpPr>
          <p:spPr bwMode="auto">
            <a:xfrm>
              <a:off x="1727" y="1321"/>
              <a:ext cx="337" cy="1"/>
            </a:xfrm>
            <a:custGeom>
              <a:avLst/>
              <a:gdLst>
                <a:gd name="T0" fmla="*/ 336 w 336"/>
                <a:gd name="T1" fmla="*/ 0 h 1"/>
                <a:gd name="T2" fmla="*/ 0 w 33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36" h="1">
                  <a:moveTo>
                    <a:pt x="336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177" name="Line 9"/>
            <p:cNvSpPr>
              <a:spLocks noChangeShapeType="1"/>
            </p:cNvSpPr>
            <p:nvPr/>
          </p:nvSpPr>
          <p:spPr bwMode="auto">
            <a:xfrm>
              <a:off x="149" y="698"/>
              <a:ext cx="1589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178" name="Line 10"/>
            <p:cNvSpPr>
              <a:spLocks noChangeShapeType="1"/>
            </p:cNvSpPr>
            <p:nvPr/>
          </p:nvSpPr>
          <p:spPr bwMode="auto">
            <a:xfrm>
              <a:off x="1733" y="698"/>
              <a:ext cx="1" cy="6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3179" name="Line 11"/>
          <p:cNvSpPr>
            <a:spLocks noChangeShapeType="1"/>
          </p:cNvSpPr>
          <p:nvPr/>
        </p:nvSpPr>
        <p:spPr bwMode="auto">
          <a:xfrm flipH="1">
            <a:off x="2209800" y="2414588"/>
            <a:ext cx="1193800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3180" name="Line 12"/>
          <p:cNvSpPr>
            <a:spLocks noChangeShapeType="1"/>
          </p:cNvSpPr>
          <p:nvPr/>
        </p:nvSpPr>
        <p:spPr bwMode="auto">
          <a:xfrm flipH="1">
            <a:off x="2209800" y="2706688"/>
            <a:ext cx="1190625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3181" name="Line 13"/>
          <p:cNvSpPr>
            <a:spLocks noChangeShapeType="1"/>
          </p:cNvSpPr>
          <p:nvPr/>
        </p:nvSpPr>
        <p:spPr bwMode="auto">
          <a:xfrm flipH="1">
            <a:off x="2209800" y="2970213"/>
            <a:ext cx="1190625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63182" name="Group 14"/>
          <p:cNvGrpSpPr>
            <a:grpSpLocks/>
          </p:cNvGrpSpPr>
          <p:nvPr/>
        </p:nvGrpSpPr>
        <p:grpSpPr bwMode="auto">
          <a:xfrm>
            <a:off x="5791200" y="2133600"/>
            <a:ext cx="361950" cy="1190625"/>
            <a:chOff x="3648" y="1344"/>
            <a:chExt cx="228" cy="750"/>
          </a:xfrm>
        </p:grpSpPr>
        <p:sp>
          <p:nvSpPr>
            <p:cNvPr id="263183" name="Freeform 15"/>
            <p:cNvSpPr>
              <a:spLocks/>
            </p:cNvSpPr>
            <p:nvPr/>
          </p:nvSpPr>
          <p:spPr bwMode="auto">
            <a:xfrm>
              <a:off x="3651" y="1344"/>
              <a:ext cx="225" cy="1"/>
            </a:xfrm>
            <a:custGeom>
              <a:avLst/>
              <a:gdLst>
                <a:gd name="T0" fmla="*/ 0 w 225"/>
                <a:gd name="T1" fmla="*/ 0 h 1"/>
                <a:gd name="T2" fmla="*/ 225 w 22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5" h="1">
                  <a:moveTo>
                    <a:pt x="0" y="0"/>
                  </a:moveTo>
                  <a:lnTo>
                    <a:pt x="225" y="0"/>
                  </a:lnTo>
                </a:path>
              </a:pathLst>
            </a:custGeom>
            <a:solidFill>
              <a:srgbClr val="FFFFFF"/>
            </a:solidFill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184" name="Line 16"/>
            <p:cNvSpPr>
              <a:spLocks noChangeShapeType="1"/>
            </p:cNvSpPr>
            <p:nvPr/>
          </p:nvSpPr>
          <p:spPr bwMode="auto">
            <a:xfrm>
              <a:off x="3648" y="1344"/>
              <a:ext cx="1" cy="7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3185" name="Group 17"/>
          <p:cNvGrpSpPr>
            <a:grpSpLocks/>
          </p:cNvGrpSpPr>
          <p:nvPr/>
        </p:nvGrpSpPr>
        <p:grpSpPr bwMode="auto">
          <a:xfrm>
            <a:off x="2806700" y="4527550"/>
            <a:ext cx="723900" cy="355600"/>
            <a:chOff x="1768" y="2852"/>
            <a:chExt cx="456" cy="224"/>
          </a:xfrm>
        </p:grpSpPr>
        <p:sp>
          <p:nvSpPr>
            <p:cNvPr id="263186" name="Line 18"/>
            <p:cNvSpPr>
              <a:spLocks noChangeShapeType="1"/>
            </p:cNvSpPr>
            <p:nvPr/>
          </p:nvSpPr>
          <p:spPr bwMode="auto">
            <a:xfrm flipH="1">
              <a:off x="1876" y="2852"/>
              <a:ext cx="348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187" name="Line 19"/>
            <p:cNvSpPr>
              <a:spLocks noChangeShapeType="1"/>
            </p:cNvSpPr>
            <p:nvPr/>
          </p:nvSpPr>
          <p:spPr bwMode="auto">
            <a:xfrm>
              <a:off x="1876" y="2852"/>
              <a:ext cx="1" cy="2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188" name="Rectangle 20"/>
            <p:cNvSpPr>
              <a:spLocks noChangeArrowheads="1"/>
            </p:cNvSpPr>
            <p:nvPr/>
          </p:nvSpPr>
          <p:spPr bwMode="auto">
            <a:xfrm>
              <a:off x="1768" y="3057"/>
              <a:ext cx="187" cy="19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3189" name="Group 21"/>
          <p:cNvGrpSpPr>
            <a:grpSpLocks/>
          </p:cNvGrpSpPr>
          <p:nvPr/>
        </p:nvGrpSpPr>
        <p:grpSpPr bwMode="auto">
          <a:xfrm>
            <a:off x="6772275" y="1952625"/>
            <a:ext cx="314325" cy="2395538"/>
            <a:chOff x="4266" y="1230"/>
            <a:chExt cx="198" cy="1509"/>
          </a:xfrm>
        </p:grpSpPr>
        <p:sp>
          <p:nvSpPr>
            <p:cNvPr id="263190" name="Freeform 22"/>
            <p:cNvSpPr>
              <a:spLocks/>
            </p:cNvSpPr>
            <p:nvPr/>
          </p:nvSpPr>
          <p:spPr bwMode="auto">
            <a:xfrm>
              <a:off x="4266" y="1236"/>
              <a:ext cx="195" cy="1"/>
            </a:xfrm>
            <a:custGeom>
              <a:avLst/>
              <a:gdLst>
                <a:gd name="T0" fmla="*/ 0 w 195"/>
                <a:gd name="T1" fmla="*/ 0 h 1"/>
                <a:gd name="T2" fmla="*/ 195 w 19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5" h="1">
                  <a:moveTo>
                    <a:pt x="0" y="0"/>
                  </a:moveTo>
                  <a:lnTo>
                    <a:pt x="195" y="0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191" name="Freeform 23"/>
            <p:cNvSpPr>
              <a:spLocks/>
            </p:cNvSpPr>
            <p:nvPr/>
          </p:nvSpPr>
          <p:spPr bwMode="auto">
            <a:xfrm>
              <a:off x="4462" y="1230"/>
              <a:ext cx="2" cy="1509"/>
            </a:xfrm>
            <a:custGeom>
              <a:avLst/>
              <a:gdLst>
                <a:gd name="T0" fmla="*/ 3 w 3"/>
                <a:gd name="T1" fmla="*/ 0 h 1509"/>
                <a:gd name="T2" fmla="*/ 0 w 3"/>
                <a:gd name="T3" fmla="*/ 1509 h 1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1509">
                  <a:moveTo>
                    <a:pt x="3" y="0"/>
                  </a:moveTo>
                  <a:lnTo>
                    <a:pt x="0" y="1509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3192" name="Freeform 24"/>
          <p:cNvSpPr>
            <a:spLocks/>
          </p:cNvSpPr>
          <p:nvPr/>
        </p:nvSpPr>
        <p:spPr bwMode="auto">
          <a:xfrm>
            <a:off x="4638675" y="4343400"/>
            <a:ext cx="657225" cy="1588"/>
          </a:xfrm>
          <a:custGeom>
            <a:avLst/>
            <a:gdLst>
              <a:gd name="T0" fmla="*/ 414 w 414"/>
              <a:gd name="T1" fmla="*/ 0 h 1"/>
              <a:gd name="T2" fmla="*/ 0 w 414"/>
              <a:gd name="T3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14" h="1">
                <a:moveTo>
                  <a:pt x="414" y="0"/>
                </a:moveTo>
                <a:lnTo>
                  <a:pt x="0" y="1"/>
                </a:lnTo>
              </a:path>
            </a:pathLst>
          </a:custGeom>
          <a:solidFill>
            <a:srgbClr val="FF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63193" name="Group 25"/>
          <p:cNvGrpSpPr>
            <a:grpSpLocks/>
          </p:cNvGrpSpPr>
          <p:nvPr/>
        </p:nvGrpSpPr>
        <p:grpSpPr bwMode="auto">
          <a:xfrm>
            <a:off x="3530600" y="4191000"/>
            <a:ext cx="1120775" cy="595313"/>
            <a:chOff x="2224" y="2640"/>
            <a:chExt cx="706" cy="375"/>
          </a:xfrm>
        </p:grpSpPr>
        <p:sp>
          <p:nvSpPr>
            <p:cNvPr id="263194" name="Rectangle 26"/>
            <p:cNvSpPr>
              <a:spLocks noChangeArrowheads="1"/>
            </p:cNvSpPr>
            <p:nvPr/>
          </p:nvSpPr>
          <p:spPr bwMode="auto">
            <a:xfrm>
              <a:off x="2224" y="2671"/>
              <a:ext cx="700" cy="3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195" name="Text Box 27"/>
            <p:cNvSpPr txBox="1">
              <a:spLocks noChangeArrowheads="1"/>
            </p:cNvSpPr>
            <p:nvPr/>
          </p:nvSpPr>
          <p:spPr bwMode="auto">
            <a:xfrm>
              <a:off x="2232" y="2640"/>
              <a:ext cx="69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1800">
                  <a:latin typeface="Times New Roman" pitchFamily="18" charset="0"/>
                </a:rPr>
                <a:t> 2</a:t>
              </a:r>
              <a:r>
                <a:rPr lang="en-US" altLang="zh-CN" sz="1800">
                  <a:latin typeface="Times New Roman" pitchFamily="18" charset="0"/>
                </a:rPr>
                <a:t>K</a:t>
              </a:r>
              <a:r>
                <a:rPr lang="en-US" altLang="zh-CN">
                  <a:latin typeface="Times New Roman" pitchFamily="18" charset="0"/>
                </a:rPr>
                <a:t> </a:t>
              </a:r>
              <a:r>
                <a:rPr lang="en-US" altLang="zh-CN" sz="1600"/>
                <a:t>×</a:t>
              </a:r>
              <a:r>
                <a:rPr lang="en-US" altLang="zh-CN" sz="1800">
                  <a:latin typeface="Times New Roman" pitchFamily="18" charset="0"/>
                </a:rPr>
                <a:t>8</a:t>
              </a:r>
              <a:r>
                <a:rPr lang="zh-CN" altLang="en-US" sz="1800">
                  <a:latin typeface="Times New Roman" pitchFamily="18" charset="0"/>
                </a:rPr>
                <a:t>位</a:t>
              </a:r>
            </a:p>
          </p:txBody>
        </p:sp>
        <p:sp>
          <p:nvSpPr>
            <p:cNvPr id="263196" name="Text Box 28"/>
            <p:cNvSpPr txBox="1">
              <a:spLocks noChangeArrowheads="1"/>
            </p:cNvSpPr>
            <p:nvPr/>
          </p:nvSpPr>
          <p:spPr bwMode="auto">
            <a:xfrm>
              <a:off x="2304" y="2784"/>
              <a:ext cx="5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 ROM</a:t>
              </a:r>
            </a:p>
          </p:txBody>
        </p:sp>
      </p:grpSp>
      <p:sp>
        <p:nvSpPr>
          <p:cNvPr id="263197" name="Line 29"/>
          <p:cNvSpPr>
            <a:spLocks noChangeShapeType="1"/>
          </p:cNvSpPr>
          <p:nvPr/>
        </p:nvSpPr>
        <p:spPr bwMode="auto">
          <a:xfrm>
            <a:off x="6645275" y="4343400"/>
            <a:ext cx="852488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63198" name="Group 30"/>
          <p:cNvGrpSpPr>
            <a:grpSpLocks/>
          </p:cNvGrpSpPr>
          <p:nvPr/>
        </p:nvGrpSpPr>
        <p:grpSpPr bwMode="auto">
          <a:xfrm>
            <a:off x="2209800" y="4527550"/>
            <a:ext cx="5287963" cy="1649413"/>
            <a:chOff x="1392" y="2852"/>
            <a:chExt cx="3331" cy="1039"/>
          </a:xfrm>
        </p:grpSpPr>
        <p:sp>
          <p:nvSpPr>
            <p:cNvPr id="263199" name="Line 31"/>
            <p:cNvSpPr>
              <a:spLocks noChangeShapeType="1"/>
            </p:cNvSpPr>
            <p:nvPr/>
          </p:nvSpPr>
          <p:spPr bwMode="auto">
            <a:xfrm flipH="1">
              <a:off x="3137" y="2852"/>
              <a:ext cx="35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200" name="Line 32"/>
            <p:cNvSpPr>
              <a:spLocks noChangeShapeType="1"/>
            </p:cNvSpPr>
            <p:nvPr/>
          </p:nvSpPr>
          <p:spPr bwMode="auto">
            <a:xfrm rot="10800000">
              <a:off x="3137" y="2852"/>
              <a:ext cx="1" cy="10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201" name="Line 33"/>
            <p:cNvSpPr>
              <a:spLocks noChangeShapeType="1"/>
            </p:cNvSpPr>
            <p:nvPr/>
          </p:nvSpPr>
          <p:spPr bwMode="auto">
            <a:xfrm>
              <a:off x="4373" y="2852"/>
              <a:ext cx="1" cy="10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202" name="Freeform 34"/>
            <p:cNvSpPr>
              <a:spLocks/>
            </p:cNvSpPr>
            <p:nvPr/>
          </p:nvSpPr>
          <p:spPr bwMode="auto">
            <a:xfrm>
              <a:off x="1392" y="3885"/>
              <a:ext cx="2994" cy="6"/>
            </a:xfrm>
            <a:custGeom>
              <a:avLst/>
              <a:gdLst>
                <a:gd name="T0" fmla="*/ 0 w 2994"/>
                <a:gd name="T1" fmla="*/ 6 h 6"/>
                <a:gd name="T2" fmla="*/ 2994 w 2994"/>
                <a:gd name="T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994" h="6">
                  <a:moveTo>
                    <a:pt x="0" y="6"/>
                  </a:moveTo>
                  <a:lnTo>
                    <a:pt x="2994" y="0"/>
                  </a:lnTo>
                </a:path>
              </a:pathLst>
            </a:custGeom>
            <a:solidFill>
              <a:srgbClr val="FFFFFF"/>
            </a:solidFill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203" name="Line 35"/>
            <p:cNvSpPr>
              <a:spLocks noChangeShapeType="1"/>
            </p:cNvSpPr>
            <p:nvPr/>
          </p:nvSpPr>
          <p:spPr bwMode="auto">
            <a:xfrm flipH="1">
              <a:off x="4373" y="2852"/>
              <a:ext cx="35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3204" name="Group 36"/>
          <p:cNvGrpSpPr>
            <a:grpSpLocks/>
          </p:cNvGrpSpPr>
          <p:nvPr/>
        </p:nvGrpSpPr>
        <p:grpSpPr bwMode="auto">
          <a:xfrm>
            <a:off x="5518150" y="4205288"/>
            <a:ext cx="3092450" cy="614362"/>
            <a:chOff x="3476" y="2649"/>
            <a:chExt cx="1948" cy="387"/>
          </a:xfrm>
        </p:grpSpPr>
        <p:sp>
          <p:nvSpPr>
            <p:cNvPr id="263205" name="Text Box 37"/>
            <p:cNvSpPr txBox="1">
              <a:spLocks noChangeArrowheads="1"/>
            </p:cNvSpPr>
            <p:nvPr/>
          </p:nvSpPr>
          <p:spPr bwMode="auto">
            <a:xfrm>
              <a:off x="3504" y="2649"/>
              <a:ext cx="67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latin typeface="Times New Roman" pitchFamily="18" charset="0"/>
                </a:rPr>
                <a:t> </a:t>
              </a:r>
              <a:r>
                <a:rPr lang="en-US" altLang="zh-CN" sz="1800">
                  <a:latin typeface="Times New Roman" pitchFamily="18" charset="0"/>
                </a:rPr>
                <a:t>1K</a:t>
              </a:r>
              <a:r>
                <a:rPr lang="en-US" altLang="zh-CN">
                  <a:latin typeface="Times New Roman" pitchFamily="18" charset="0"/>
                </a:rPr>
                <a:t> </a:t>
              </a:r>
              <a:r>
                <a:rPr lang="en-US" altLang="zh-CN" sz="1600"/>
                <a:t>×</a:t>
              </a:r>
              <a:r>
                <a:rPr lang="en-US" altLang="zh-CN" sz="1800">
                  <a:latin typeface="Times New Roman" pitchFamily="18" charset="0"/>
                </a:rPr>
                <a:t>4</a:t>
              </a:r>
              <a:r>
                <a:rPr lang="zh-CN" altLang="en-US" sz="1800">
                  <a:latin typeface="Times New Roman" pitchFamily="18" charset="0"/>
                </a:rPr>
                <a:t>位</a:t>
              </a:r>
            </a:p>
          </p:txBody>
        </p:sp>
        <p:sp>
          <p:nvSpPr>
            <p:cNvPr id="263206" name="Rectangle 38"/>
            <p:cNvSpPr>
              <a:spLocks noChangeArrowheads="1"/>
            </p:cNvSpPr>
            <p:nvPr/>
          </p:nvSpPr>
          <p:spPr bwMode="auto">
            <a:xfrm>
              <a:off x="3476" y="2688"/>
              <a:ext cx="700" cy="3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207" name="Text Box 39"/>
            <p:cNvSpPr txBox="1">
              <a:spLocks noChangeArrowheads="1"/>
            </p:cNvSpPr>
            <p:nvPr/>
          </p:nvSpPr>
          <p:spPr bwMode="auto">
            <a:xfrm>
              <a:off x="3600" y="2784"/>
              <a:ext cx="4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latin typeface="Times New Roman" pitchFamily="18" charset="0"/>
                </a:rPr>
                <a:t> </a:t>
              </a:r>
              <a:r>
                <a:rPr lang="en-US" altLang="zh-CN" sz="1800">
                  <a:latin typeface="Times New Roman" pitchFamily="18" charset="0"/>
                </a:rPr>
                <a:t>RAM</a:t>
              </a:r>
            </a:p>
          </p:txBody>
        </p:sp>
        <p:sp>
          <p:nvSpPr>
            <p:cNvPr id="263208" name="Rectangle 40"/>
            <p:cNvSpPr>
              <a:spLocks noChangeArrowheads="1"/>
            </p:cNvSpPr>
            <p:nvPr/>
          </p:nvSpPr>
          <p:spPr bwMode="auto">
            <a:xfrm>
              <a:off x="4724" y="2697"/>
              <a:ext cx="700" cy="3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209" name="Text Box 41"/>
            <p:cNvSpPr txBox="1">
              <a:spLocks noChangeArrowheads="1"/>
            </p:cNvSpPr>
            <p:nvPr/>
          </p:nvSpPr>
          <p:spPr bwMode="auto">
            <a:xfrm>
              <a:off x="4752" y="2670"/>
              <a:ext cx="66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1K</a:t>
              </a:r>
              <a:r>
                <a:rPr lang="en-US" altLang="zh-CN">
                  <a:latin typeface="Times New Roman" pitchFamily="18" charset="0"/>
                </a:rPr>
                <a:t> </a:t>
              </a:r>
              <a:r>
                <a:rPr lang="en-US" altLang="zh-CN" sz="1600"/>
                <a:t>×</a:t>
              </a:r>
              <a:r>
                <a:rPr lang="en-US" altLang="zh-CN" sz="1800">
                  <a:latin typeface="Times New Roman" pitchFamily="18" charset="0"/>
                </a:rPr>
                <a:t>4</a:t>
              </a:r>
              <a:r>
                <a:rPr lang="zh-CN" altLang="en-US" sz="1800">
                  <a:latin typeface="Times New Roman" pitchFamily="18" charset="0"/>
                </a:rPr>
                <a:t>位</a:t>
              </a:r>
            </a:p>
          </p:txBody>
        </p:sp>
        <p:sp>
          <p:nvSpPr>
            <p:cNvPr id="263210" name="Text Box 42"/>
            <p:cNvSpPr txBox="1">
              <a:spLocks noChangeArrowheads="1"/>
            </p:cNvSpPr>
            <p:nvPr/>
          </p:nvSpPr>
          <p:spPr bwMode="auto">
            <a:xfrm>
              <a:off x="4848" y="2805"/>
              <a:ext cx="4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>
                  <a:latin typeface="Times New Roman" pitchFamily="18" charset="0"/>
                </a:rPr>
                <a:t> </a:t>
              </a:r>
              <a:r>
                <a:rPr lang="en-US" altLang="zh-CN" sz="1800">
                  <a:latin typeface="Times New Roman" pitchFamily="18" charset="0"/>
                </a:rPr>
                <a:t>RAM</a:t>
              </a:r>
            </a:p>
          </p:txBody>
        </p:sp>
      </p:grpSp>
      <p:grpSp>
        <p:nvGrpSpPr>
          <p:cNvPr id="263211" name="Group 43"/>
          <p:cNvGrpSpPr>
            <a:grpSpLocks/>
          </p:cNvGrpSpPr>
          <p:nvPr/>
        </p:nvGrpSpPr>
        <p:grpSpPr bwMode="auto">
          <a:xfrm>
            <a:off x="7672388" y="3530600"/>
            <a:ext cx="711200" cy="750888"/>
            <a:chOff x="4833" y="2224"/>
            <a:chExt cx="448" cy="473"/>
          </a:xfrm>
        </p:grpSpPr>
        <p:sp>
          <p:nvSpPr>
            <p:cNvPr id="263212" name="Freeform 44"/>
            <p:cNvSpPr>
              <a:spLocks/>
            </p:cNvSpPr>
            <p:nvPr/>
          </p:nvSpPr>
          <p:spPr bwMode="auto">
            <a:xfrm>
              <a:off x="4833" y="2224"/>
              <a:ext cx="1" cy="473"/>
            </a:xfrm>
            <a:custGeom>
              <a:avLst/>
              <a:gdLst>
                <a:gd name="T0" fmla="*/ 0 w 1"/>
                <a:gd name="T1" fmla="*/ 0 h 473"/>
                <a:gd name="T2" fmla="*/ 0 w 1"/>
                <a:gd name="T3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73">
                  <a:moveTo>
                    <a:pt x="0" y="0"/>
                  </a:moveTo>
                  <a:lnTo>
                    <a:pt x="0" y="473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3213" name="Freeform 45"/>
            <p:cNvSpPr>
              <a:spLocks/>
            </p:cNvSpPr>
            <p:nvPr/>
          </p:nvSpPr>
          <p:spPr bwMode="auto">
            <a:xfrm>
              <a:off x="5280" y="2496"/>
              <a:ext cx="1" cy="198"/>
            </a:xfrm>
            <a:custGeom>
              <a:avLst/>
              <a:gdLst>
                <a:gd name="T0" fmla="*/ 0 w 1"/>
                <a:gd name="T1" fmla="*/ 0 h 198"/>
                <a:gd name="T2" fmla="*/ 0 w 1"/>
                <a:gd name="T3" fmla="*/ 19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98">
                  <a:moveTo>
                    <a:pt x="0" y="0"/>
                  </a:moveTo>
                  <a:lnTo>
                    <a:pt x="0" y="198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3214" name="Text Box 46"/>
            <p:cNvSpPr txBox="1">
              <a:spLocks noChangeArrowheads="1"/>
            </p:cNvSpPr>
            <p:nvPr/>
          </p:nvSpPr>
          <p:spPr bwMode="auto">
            <a:xfrm>
              <a:off x="4876" y="2416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latin typeface="Times New Roman" pitchFamily="18" charset="0"/>
                </a:rPr>
                <a:t>…</a:t>
              </a:r>
            </a:p>
          </p:txBody>
        </p:sp>
      </p:grpSp>
      <p:grpSp>
        <p:nvGrpSpPr>
          <p:cNvPr id="263215" name="Group 47"/>
          <p:cNvGrpSpPr>
            <a:grpSpLocks/>
          </p:cNvGrpSpPr>
          <p:nvPr/>
        </p:nvGrpSpPr>
        <p:grpSpPr bwMode="auto">
          <a:xfrm>
            <a:off x="3657600" y="3314700"/>
            <a:ext cx="844550" cy="927100"/>
            <a:chOff x="2304" y="2088"/>
            <a:chExt cx="532" cy="584"/>
          </a:xfrm>
        </p:grpSpPr>
        <p:sp>
          <p:nvSpPr>
            <p:cNvPr id="263216" name="Freeform 48"/>
            <p:cNvSpPr>
              <a:spLocks/>
            </p:cNvSpPr>
            <p:nvPr/>
          </p:nvSpPr>
          <p:spPr bwMode="auto">
            <a:xfrm>
              <a:off x="2304" y="2088"/>
              <a:ext cx="2" cy="584"/>
            </a:xfrm>
            <a:custGeom>
              <a:avLst/>
              <a:gdLst>
                <a:gd name="T0" fmla="*/ 2 w 2"/>
                <a:gd name="T1" fmla="*/ 0 h 584"/>
                <a:gd name="T2" fmla="*/ 0 w 2"/>
                <a:gd name="T3" fmla="*/ 584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584">
                  <a:moveTo>
                    <a:pt x="2" y="0"/>
                  </a:moveTo>
                  <a:lnTo>
                    <a:pt x="0" y="584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3217" name="Freeform 49"/>
            <p:cNvSpPr>
              <a:spLocks/>
            </p:cNvSpPr>
            <p:nvPr/>
          </p:nvSpPr>
          <p:spPr bwMode="auto">
            <a:xfrm>
              <a:off x="2835" y="2496"/>
              <a:ext cx="1" cy="171"/>
            </a:xfrm>
            <a:custGeom>
              <a:avLst/>
              <a:gdLst>
                <a:gd name="T0" fmla="*/ 0 w 1"/>
                <a:gd name="T1" fmla="*/ 0 h 171"/>
                <a:gd name="T2" fmla="*/ 0 w 1"/>
                <a:gd name="T3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71">
                  <a:moveTo>
                    <a:pt x="0" y="0"/>
                  </a:moveTo>
                  <a:lnTo>
                    <a:pt x="0" y="171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3218" name="Text Box 50"/>
            <p:cNvSpPr txBox="1">
              <a:spLocks noChangeArrowheads="1"/>
            </p:cNvSpPr>
            <p:nvPr/>
          </p:nvSpPr>
          <p:spPr bwMode="auto">
            <a:xfrm>
              <a:off x="2400" y="2416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latin typeface="Times New Roman" pitchFamily="18" charset="0"/>
                </a:rPr>
                <a:t>…</a:t>
              </a:r>
            </a:p>
          </p:txBody>
        </p:sp>
      </p:grpSp>
      <p:grpSp>
        <p:nvGrpSpPr>
          <p:cNvPr id="263219" name="Group 51"/>
          <p:cNvGrpSpPr>
            <a:grpSpLocks/>
          </p:cNvGrpSpPr>
          <p:nvPr/>
        </p:nvGrpSpPr>
        <p:grpSpPr bwMode="auto">
          <a:xfrm>
            <a:off x="5689600" y="3529013"/>
            <a:ext cx="787400" cy="738187"/>
            <a:chOff x="3584" y="2223"/>
            <a:chExt cx="496" cy="465"/>
          </a:xfrm>
        </p:grpSpPr>
        <p:sp>
          <p:nvSpPr>
            <p:cNvPr id="263220" name="Freeform 52"/>
            <p:cNvSpPr>
              <a:spLocks/>
            </p:cNvSpPr>
            <p:nvPr/>
          </p:nvSpPr>
          <p:spPr bwMode="auto">
            <a:xfrm>
              <a:off x="3584" y="2223"/>
              <a:ext cx="1" cy="459"/>
            </a:xfrm>
            <a:custGeom>
              <a:avLst/>
              <a:gdLst>
                <a:gd name="T0" fmla="*/ 0 w 1"/>
                <a:gd name="T1" fmla="*/ 0 h 459"/>
                <a:gd name="T2" fmla="*/ 0 w 1"/>
                <a:gd name="T3" fmla="*/ 459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59">
                  <a:moveTo>
                    <a:pt x="0" y="0"/>
                  </a:moveTo>
                  <a:lnTo>
                    <a:pt x="0" y="459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3221" name="Line 53"/>
            <p:cNvSpPr>
              <a:spLocks noChangeShapeType="1"/>
            </p:cNvSpPr>
            <p:nvPr/>
          </p:nvSpPr>
          <p:spPr bwMode="auto">
            <a:xfrm>
              <a:off x="4080" y="2496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3222" name="Text Box 54"/>
            <p:cNvSpPr txBox="1">
              <a:spLocks noChangeArrowheads="1"/>
            </p:cNvSpPr>
            <p:nvPr/>
          </p:nvSpPr>
          <p:spPr bwMode="auto">
            <a:xfrm>
              <a:off x="3648" y="2416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latin typeface="Times New Roman" pitchFamily="18" charset="0"/>
                </a:rPr>
                <a:t>…</a:t>
              </a:r>
            </a:p>
          </p:txBody>
        </p:sp>
      </p:grpSp>
      <p:grpSp>
        <p:nvGrpSpPr>
          <p:cNvPr id="263223" name="Group 55"/>
          <p:cNvGrpSpPr>
            <a:grpSpLocks/>
          </p:cNvGrpSpPr>
          <p:nvPr/>
        </p:nvGrpSpPr>
        <p:grpSpPr bwMode="auto">
          <a:xfrm>
            <a:off x="6140450" y="1600200"/>
            <a:ext cx="641350" cy="762000"/>
            <a:chOff x="3868" y="1008"/>
            <a:chExt cx="472" cy="480"/>
          </a:xfrm>
        </p:grpSpPr>
        <p:sp>
          <p:nvSpPr>
            <p:cNvPr id="263224" name="Text Box 56"/>
            <p:cNvSpPr txBox="1">
              <a:spLocks noChangeArrowheads="1"/>
            </p:cNvSpPr>
            <p:nvPr/>
          </p:nvSpPr>
          <p:spPr bwMode="auto">
            <a:xfrm>
              <a:off x="3936" y="1065"/>
              <a:ext cx="35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>
                  <a:latin typeface="Times New Roman" pitchFamily="18" charset="0"/>
                </a:rPr>
                <a:t>&amp;</a:t>
              </a:r>
            </a:p>
          </p:txBody>
        </p:sp>
        <p:sp>
          <p:nvSpPr>
            <p:cNvPr id="263225" name="Rectangle 57"/>
            <p:cNvSpPr>
              <a:spLocks noChangeArrowheads="1"/>
            </p:cNvSpPr>
            <p:nvPr/>
          </p:nvSpPr>
          <p:spPr bwMode="auto">
            <a:xfrm>
              <a:off x="3936" y="1008"/>
              <a:ext cx="336" cy="48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3226" name="Oval 58"/>
            <p:cNvSpPr>
              <a:spLocks noChangeArrowheads="1"/>
            </p:cNvSpPr>
            <p:nvPr/>
          </p:nvSpPr>
          <p:spPr bwMode="auto">
            <a:xfrm>
              <a:off x="3868" y="1178"/>
              <a:ext cx="68" cy="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3227" name="Oval 59"/>
            <p:cNvSpPr>
              <a:spLocks noChangeArrowheads="1"/>
            </p:cNvSpPr>
            <p:nvPr/>
          </p:nvSpPr>
          <p:spPr bwMode="auto">
            <a:xfrm>
              <a:off x="3868" y="1310"/>
              <a:ext cx="68" cy="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3228" name="Oval 60"/>
            <p:cNvSpPr>
              <a:spLocks noChangeArrowheads="1"/>
            </p:cNvSpPr>
            <p:nvPr/>
          </p:nvSpPr>
          <p:spPr bwMode="auto">
            <a:xfrm>
              <a:off x="4272" y="1200"/>
              <a:ext cx="68" cy="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3229" name="Group 61"/>
          <p:cNvGrpSpPr>
            <a:grpSpLocks/>
          </p:cNvGrpSpPr>
          <p:nvPr/>
        </p:nvGrpSpPr>
        <p:grpSpPr bwMode="auto">
          <a:xfrm>
            <a:off x="2362200" y="4205288"/>
            <a:ext cx="1219200" cy="366712"/>
            <a:chOff x="1488" y="2649"/>
            <a:chExt cx="768" cy="231"/>
          </a:xfrm>
        </p:grpSpPr>
        <p:sp>
          <p:nvSpPr>
            <p:cNvPr id="263230" name="Text Box 62"/>
            <p:cNvSpPr txBox="1">
              <a:spLocks noChangeArrowheads="1"/>
            </p:cNvSpPr>
            <p:nvPr/>
          </p:nvSpPr>
          <p:spPr bwMode="auto">
            <a:xfrm>
              <a:off x="1488" y="2649"/>
              <a:ext cx="7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Times New Roman" pitchFamily="18" charset="0"/>
                </a:rPr>
                <a:t>PD/Progr</a:t>
              </a:r>
            </a:p>
          </p:txBody>
        </p:sp>
        <p:sp>
          <p:nvSpPr>
            <p:cNvPr id="263231" name="Line 63"/>
            <p:cNvSpPr>
              <a:spLocks noChangeShapeType="1"/>
            </p:cNvSpPr>
            <p:nvPr/>
          </p:nvSpPr>
          <p:spPr bwMode="auto">
            <a:xfrm>
              <a:off x="1539" y="2685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63232" name="Group 64"/>
          <p:cNvGrpSpPr>
            <a:grpSpLocks/>
          </p:cNvGrpSpPr>
          <p:nvPr/>
        </p:nvGrpSpPr>
        <p:grpSpPr bwMode="auto">
          <a:xfrm>
            <a:off x="4387850" y="1557338"/>
            <a:ext cx="1746250" cy="381000"/>
            <a:chOff x="2764" y="981"/>
            <a:chExt cx="1100" cy="240"/>
          </a:xfrm>
        </p:grpSpPr>
        <p:grpSp>
          <p:nvGrpSpPr>
            <p:cNvPr id="263233" name="Group 65"/>
            <p:cNvGrpSpPr>
              <a:grpSpLocks/>
            </p:cNvGrpSpPr>
            <p:nvPr/>
          </p:nvGrpSpPr>
          <p:grpSpPr bwMode="auto">
            <a:xfrm>
              <a:off x="2826" y="981"/>
              <a:ext cx="1038" cy="231"/>
              <a:chOff x="2826" y="981"/>
              <a:chExt cx="1038" cy="231"/>
            </a:xfrm>
          </p:grpSpPr>
          <p:sp>
            <p:nvSpPr>
              <p:cNvPr id="263234" name="Freeform 66"/>
              <p:cNvSpPr>
                <a:spLocks/>
              </p:cNvSpPr>
              <p:nvPr/>
            </p:nvSpPr>
            <p:spPr bwMode="auto">
              <a:xfrm>
                <a:off x="2826" y="1206"/>
                <a:ext cx="1038" cy="1"/>
              </a:xfrm>
              <a:custGeom>
                <a:avLst/>
                <a:gdLst>
                  <a:gd name="T0" fmla="*/ 1038 w 1038"/>
                  <a:gd name="T1" fmla="*/ 0 h 1"/>
                  <a:gd name="T2" fmla="*/ 0 w 1038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38" h="1">
                    <a:moveTo>
                      <a:pt x="1038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235" name="Text Box 67"/>
              <p:cNvSpPr txBox="1">
                <a:spLocks noChangeArrowheads="1"/>
              </p:cNvSpPr>
              <p:nvPr/>
            </p:nvSpPr>
            <p:spPr bwMode="auto">
              <a:xfrm>
                <a:off x="2844" y="981"/>
                <a:ext cx="26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1800">
                    <a:latin typeface="Times New Roman" pitchFamily="18" charset="0"/>
                  </a:rPr>
                  <a:t>Y</a:t>
                </a:r>
                <a:r>
                  <a:rPr lang="en-US" altLang="zh-CN" sz="1800" baseline="-25000">
                    <a:latin typeface="Times New Roman" pitchFamily="18" charset="0"/>
                  </a:rPr>
                  <a:t>5</a:t>
                </a:r>
              </a:p>
            </p:txBody>
          </p:sp>
          <p:sp>
            <p:nvSpPr>
              <p:cNvPr id="263236" name="Line 68"/>
              <p:cNvSpPr>
                <a:spLocks noChangeShapeType="1"/>
              </p:cNvSpPr>
              <p:nvPr/>
            </p:nvSpPr>
            <p:spPr bwMode="auto">
              <a:xfrm>
                <a:off x="2876" y="1019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263237" name="Oval 69"/>
            <p:cNvSpPr>
              <a:spLocks noChangeArrowheads="1"/>
            </p:cNvSpPr>
            <p:nvPr/>
          </p:nvSpPr>
          <p:spPr bwMode="auto">
            <a:xfrm>
              <a:off x="2764" y="1153"/>
              <a:ext cx="68" cy="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3238" name="Group 70"/>
          <p:cNvGrpSpPr>
            <a:grpSpLocks/>
          </p:cNvGrpSpPr>
          <p:nvPr/>
        </p:nvGrpSpPr>
        <p:grpSpPr bwMode="auto">
          <a:xfrm>
            <a:off x="4387850" y="2178050"/>
            <a:ext cx="903288" cy="2170113"/>
            <a:chOff x="2764" y="1372"/>
            <a:chExt cx="569" cy="1367"/>
          </a:xfrm>
        </p:grpSpPr>
        <p:grpSp>
          <p:nvGrpSpPr>
            <p:cNvPr id="263239" name="Group 71"/>
            <p:cNvGrpSpPr>
              <a:grpSpLocks/>
            </p:cNvGrpSpPr>
            <p:nvPr/>
          </p:nvGrpSpPr>
          <p:grpSpPr bwMode="auto">
            <a:xfrm>
              <a:off x="2814" y="1401"/>
              <a:ext cx="519" cy="1338"/>
              <a:chOff x="2814" y="1401"/>
              <a:chExt cx="519" cy="1338"/>
            </a:xfrm>
          </p:grpSpPr>
          <p:grpSp>
            <p:nvGrpSpPr>
              <p:cNvPr id="263240" name="Group 72"/>
              <p:cNvGrpSpPr>
                <a:grpSpLocks/>
              </p:cNvGrpSpPr>
              <p:nvPr/>
            </p:nvGrpSpPr>
            <p:grpSpPr bwMode="auto">
              <a:xfrm>
                <a:off x="2814" y="1401"/>
                <a:ext cx="519" cy="1338"/>
                <a:chOff x="2814" y="1401"/>
                <a:chExt cx="519" cy="1338"/>
              </a:xfrm>
            </p:grpSpPr>
            <p:sp>
              <p:nvSpPr>
                <p:cNvPr id="263241" name="Freeform 73"/>
                <p:cNvSpPr>
                  <a:spLocks/>
                </p:cNvSpPr>
                <p:nvPr/>
              </p:nvSpPr>
              <p:spPr bwMode="auto">
                <a:xfrm>
                  <a:off x="2814" y="1401"/>
                  <a:ext cx="519" cy="3"/>
                </a:xfrm>
                <a:custGeom>
                  <a:avLst/>
                  <a:gdLst>
                    <a:gd name="T0" fmla="*/ 0 w 519"/>
                    <a:gd name="T1" fmla="*/ 3 h 3"/>
                    <a:gd name="T2" fmla="*/ 519 w 519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19" h="3">
                      <a:moveTo>
                        <a:pt x="0" y="3"/>
                      </a:moveTo>
                      <a:lnTo>
                        <a:pt x="519" y="0"/>
                      </a:lnTo>
                    </a:path>
                  </a:pathLst>
                </a:custGeom>
                <a:solidFill>
                  <a:srgbClr val="FFFFFF"/>
                </a:solidFill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242" name="Freeform 74"/>
                <p:cNvSpPr>
                  <a:spLocks/>
                </p:cNvSpPr>
                <p:nvPr/>
              </p:nvSpPr>
              <p:spPr bwMode="auto">
                <a:xfrm>
                  <a:off x="3324" y="1402"/>
                  <a:ext cx="2" cy="1337"/>
                </a:xfrm>
                <a:custGeom>
                  <a:avLst/>
                  <a:gdLst>
                    <a:gd name="T0" fmla="*/ 2 w 2"/>
                    <a:gd name="T1" fmla="*/ 0 h 1337"/>
                    <a:gd name="T2" fmla="*/ 0 w 2"/>
                    <a:gd name="T3" fmla="*/ 1337 h 1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337">
                      <a:moveTo>
                        <a:pt x="2" y="0"/>
                      </a:moveTo>
                      <a:lnTo>
                        <a:pt x="0" y="1337"/>
                      </a:lnTo>
                    </a:path>
                  </a:pathLst>
                </a:cu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63243" name="Text Box 75"/>
              <p:cNvSpPr txBox="1">
                <a:spLocks noChangeArrowheads="1"/>
              </p:cNvSpPr>
              <p:nvPr/>
            </p:nvSpPr>
            <p:spPr bwMode="auto">
              <a:xfrm>
                <a:off x="2844" y="1464"/>
                <a:ext cx="26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1800">
                    <a:latin typeface="Times New Roman" pitchFamily="18" charset="0"/>
                  </a:rPr>
                  <a:t>Y</a:t>
                </a:r>
                <a:r>
                  <a:rPr lang="en-US" altLang="zh-CN" sz="1800" baseline="-25000">
                    <a:latin typeface="Times New Roman" pitchFamily="18" charset="0"/>
                  </a:rPr>
                  <a:t>4</a:t>
                </a:r>
              </a:p>
            </p:txBody>
          </p:sp>
          <p:sp>
            <p:nvSpPr>
              <p:cNvPr id="263244" name="Line 76"/>
              <p:cNvSpPr>
                <a:spLocks noChangeShapeType="1"/>
              </p:cNvSpPr>
              <p:nvPr/>
            </p:nvSpPr>
            <p:spPr bwMode="auto">
              <a:xfrm>
                <a:off x="2876" y="1490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263245" name="Oval 77"/>
            <p:cNvSpPr>
              <a:spLocks noChangeArrowheads="1"/>
            </p:cNvSpPr>
            <p:nvPr/>
          </p:nvSpPr>
          <p:spPr bwMode="auto">
            <a:xfrm>
              <a:off x="2764" y="1372"/>
              <a:ext cx="68" cy="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3325" name="Group 157"/>
          <p:cNvGrpSpPr>
            <a:grpSpLocks/>
          </p:cNvGrpSpPr>
          <p:nvPr/>
        </p:nvGrpSpPr>
        <p:grpSpPr bwMode="auto">
          <a:xfrm>
            <a:off x="3276600" y="1295400"/>
            <a:ext cx="1109663" cy="1890713"/>
            <a:chOff x="2064" y="816"/>
            <a:chExt cx="699" cy="1191"/>
          </a:xfrm>
        </p:grpSpPr>
        <p:sp>
          <p:nvSpPr>
            <p:cNvPr id="263247" name="Rectangle 79"/>
            <p:cNvSpPr>
              <a:spLocks noChangeArrowheads="1"/>
            </p:cNvSpPr>
            <p:nvPr/>
          </p:nvSpPr>
          <p:spPr bwMode="auto">
            <a:xfrm>
              <a:off x="2144" y="816"/>
              <a:ext cx="619" cy="115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248" name="Text Box 80"/>
            <p:cNvSpPr txBox="1">
              <a:spLocks noChangeArrowheads="1"/>
            </p:cNvSpPr>
            <p:nvPr/>
          </p:nvSpPr>
          <p:spPr bwMode="auto">
            <a:xfrm>
              <a:off x="2120" y="816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G</a:t>
              </a:r>
              <a:r>
                <a:rPr lang="en-US" altLang="zh-CN" sz="1800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63249" name="Text Box 81"/>
            <p:cNvSpPr txBox="1">
              <a:spLocks noChangeArrowheads="1"/>
            </p:cNvSpPr>
            <p:nvPr/>
          </p:nvSpPr>
          <p:spPr bwMode="auto">
            <a:xfrm>
              <a:off x="2120" y="1409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263250" name="Text Box 82"/>
            <p:cNvSpPr txBox="1">
              <a:spLocks noChangeArrowheads="1"/>
            </p:cNvSpPr>
            <p:nvPr/>
          </p:nvSpPr>
          <p:spPr bwMode="auto">
            <a:xfrm>
              <a:off x="2120" y="1593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263251" name="Text Box 83"/>
            <p:cNvSpPr txBox="1">
              <a:spLocks noChangeArrowheads="1"/>
            </p:cNvSpPr>
            <p:nvPr/>
          </p:nvSpPr>
          <p:spPr bwMode="auto">
            <a:xfrm>
              <a:off x="2120" y="1776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263252" name="Oval 84"/>
            <p:cNvSpPr>
              <a:spLocks noChangeArrowheads="1"/>
            </p:cNvSpPr>
            <p:nvPr/>
          </p:nvSpPr>
          <p:spPr bwMode="auto">
            <a:xfrm>
              <a:off x="2064" y="1099"/>
              <a:ext cx="68" cy="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3253" name="Oval 85"/>
            <p:cNvSpPr>
              <a:spLocks noChangeArrowheads="1"/>
            </p:cNvSpPr>
            <p:nvPr/>
          </p:nvSpPr>
          <p:spPr bwMode="auto">
            <a:xfrm>
              <a:off x="2064" y="1296"/>
              <a:ext cx="68" cy="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63324" name="Group 156"/>
            <p:cNvGrpSpPr>
              <a:grpSpLocks/>
            </p:cNvGrpSpPr>
            <p:nvPr/>
          </p:nvGrpSpPr>
          <p:grpSpPr bwMode="auto">
            <a:xfrm>
              <a:off x="2137" y="1205"/>
              <a:ext cx="340" cy="231"/>
              <a:chOff x="2137" y="1205"/>
              <a:chExt cx="340" cy="231"/>
            </a:xfrm>
          </p:grpSpPr>
          <p:sp>
            <p:nvSpPr>
              <p:cNvPr id="263255" name="Text Box 87"/>
              <p:cNvSpPr txBox="1">
                <a:spLocks noChangeArrowheads="1"/>
              </p:cNvSpPr>
              <p:nvPr/>
            </p:nvSpPr>
            <p:spPr bwMode="auto">
              <a:xfrm>
                <a:off x="2137" y="1205"/>
                <a:ext cx="34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1800">
                    <a:latin typeface="Times New Roman" pitchFamily="18" charset="0"/>
                  </a:rPr>
                  <a:t>G</a:t>
                </a:r>
                <a:r>
                  <a:rPr lang="en-US" altLang="zh-CN" sz="1800" baseline="-25000">
                    <a:latin typeface="Times New Roman" pitchFamily="18" charset="0"/>
                  </a:rPr>
                  <a:t>2B</a:t>
                </a:r>
              </a:p>
            </p:txBody>
          </p:sp>
          <p:sp>
            <p:nvSpPr>
              <p:cNvPr id="263256" name="Freeform 88"/>
              <p:cNvSpPr>
                <a:spLocks/>
              </p:cNvSpPr>
              <p:nvPr/>
            </p:nvSpPr>
            <p:spPr bwMode="auto">
              <a:xfrm>
                <a:off x="2184" y="1255"/>
                <a:ext cx="120" cy="1"/>
              </a:xfrm>
              <a:custGeom>
                <a:avLst/>
                <a:gdLst>
                  <a:gd name="T0" fmla="*/ 0 w 207"/>
                  <a:gd name="T1" fmla="*/ 0 h 1"/>
                  <a:gd name="T2" fmla="*/ 207 w 207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7" h="1">
                    <a:moveTo>
                      <a:pt x="0" y="0"/>
                    </a:moveTo>
                    <a:lnTo>
                      <a:pt x="207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263323" name="Group 155"/>
            <p:cNvGrpSpPr>
              <a:grpSpLocks/>
            </p:cNvGrpSpPr>
            <p:nvPr/>
          </p:nvGrpSpPr>
          <p:grpSpPr bwMode="auto">
            <a:xfrm>
              <a:off x="2132" y="1004"/>
              <a:ext cx="345" cy="231"/>
              <a:chOff x="2132" y="1004"/>
              <a:chExt cx="345" cy="231"/>
            </a:xfrm>
          </p:grpSpPr>
          <p:sp>
            <p:nvSpPr>
              <p:cNvPr id="263258" name="Text Box 90"/>
              <p:cNvSpPr txBox="1">
                <a:spLocks noChangeArrowheads="1"/>
              </p:cNvSpPr>
              <p:nvPr/>
            </p:nvSpPr>
            <p:spPr bwMode="auto">
              <a:xfrm>
                <a:off x="2132" y="1004"/>
                <a:ext cx="34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zh-CN" sz="1800">
                    <a:latin typeface="Times New Roman" pitchFamily="18" charset="0"/>
                  </a:rPr>
                  <a:t>G</a:t>
                </a:r>
                <a:r>
                  <a:rPr lang="en-US" altLang="zh-CN" sz="1800" baseline="-25000">
                    <a:latin typeface="Times New Roman" pitchFamily="18" charset="0"/>
                  </a:rPr>
                  <a:t>2A</a:t>
                </a:r>
              </a:p>
            </p:txBody>
          </p:sp>
          <p:sp>
            <p:nvSpPr>
              <p:cNvPr id="263259" name="Freeform 91"/>
              <p:cNvSpPr>
                <a:spLocks/>
              </p:cNvSpPr>
              <p:nvPr/>
            </p:nvSpPr>
            <p:spPr bwMode="auto">
              <a:xfrm>
                <a:off x="2184" y="1051"/>
                <a:ext cx="120" cy="1"/>
              </a:xfrm>
              <a:custGeom>
                <a:avLst/>
                <a:gdLst>
                  <a:gd name="T0" fmla="*/ 0 w 204"/>
                  <a:gd name="T1" fmla="*/ 0 h 1"/>
                  <a:gd name="T2" fmla="*/ 204 w 204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04" h="1">
                    <a:moveTo>
                      <a:pt x="0" y="0"/>
                    </a:moveTo>
                    <a:lnTo>
                      <a:pt x="204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263260" name="Group 92"/>
          <p:cNvGrpSpPr>
            <a:grpSpLocks/>
          </p:cNvGrpSpPr>
          <p:nvPr/>
        </p:nvGrpSpPr>
        <p:grpSpPr bwMode="auto">
          <a:xfrm>
            <a:off x="2209800" y="4999038"/>
            <a:ext cx="6737350" cy="919162"/>
            <a:chOff x="1392" y="3149"/>
            <a:chExt cx="4244" cy="579"/>
          </a:xfrm>
        </p:grpSpPr>
        <p:sp>
          <p:nvSpPr>
            <p:cNvPr id="263261" name="Line 93"/>
            <p:cNvSpPr>
              <a:spLocks noChangeShapeType="1"/>
            </p:cNvSpPr>
            <p:nvPr/>
          </p:nvSpPr>
          <p:spPr bwMode="auto">
            <a:xfrm>
              <a:off x="1392" y="3149"/>
              <a:ext cx="287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262" name="Line 94"/>
            <p:cNvSpPr>
              <a:spLocks noChangeShapeType="1"/>
            </p:cNvSpPr>
            <p:nvPr/>
          </p:nvSpPr>
          <p:spPr bwMode="auto">
            <a:xfrm>
              <a:off x="1392" y="3725"/>
              <a:ext cx="4244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263" name="Line 95"/>
            <p:cNvSpPr>
              <a:spLocks noChangeShapeType="1"/>
            </p:cNvSpPr>
            <p:nvPr/>
          </p:nvSpPr>
          <p:spPr bwMode="auto">
            <a:xfrm>
              <a:off x="1392" y="3363"/>
              <a:ext cx="287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264" name="Line 96"/>
            <p:cNvSpPr>
              <a:spLocks noChangeShapeType="1"/>
            </p:cNvSpPr>
            <p:nvPr/>
          </p:nvSpPr>
          <p:spPr bwMode="auto">
            <a:xfrm>
              <a:off x="1392" y="3528"/>
              <a:ext cx="4244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265" name="Text Box 97"/>
            <p:cNvSpPr txBox="1">
              <a:spLocks noChangeArrowheads="1"/>
            </p:cNvSpPr>
            <p:nvPr/>
          </p:nvSpPr>
          <p:spPr bwMode="auto">
            <a:xfrm>
              <a:off x="1516" y="3168"/>
              <a:ext cx="3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itchFamily="18" charset="0"/>
                </a:rPr>
                <a:t>…</a:t>
              </a:r>
            </a:p>
          </p:txBody>
        </p:sp>
        <p:sp>
          <p:nvSpPr>
            <p:cNvPr id="263266" name="Text Box 98"/>
            <p:cNvSpPr txBox="1">
              <a:spLocks noChangeArrowheads="1"/>
            </p:cNvSpPr>
            <p:nvPr/>
          </p:nvSpPr>
          <p:spPr bwMode="auto">
            <a:xfrm>
              <a:off x="1516" y="3536"/>
              <a:ext cx="3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itchFamily="18" charset="0"/>
                </a:rPr>
                <a:t>…</a:t>
              </a:r>
            </a:p>
          </p:txBody>
        </p:sp>
      </p:grpSp>
      <p:grpSp>
        <p:nvGrpSpPr>
          <p:cNvPr id="263319" name="Group 151"/>
          <p:cNvGrpSpPr>
            <a:grpSpLocks/>
          </p:cNvGrpSpPr>
          <p:nvPr/>
        </p:nvGrpSpPr>
        <p:grpSpPr bwMode="auto">
          <a:xfrm>
            <a:off x="533400" y="1295400"/>
            <a:ext cx="1681163" cy="5257800"/>
            <a:chOff x="336" y="816"/>
            <a:chExt cx="1059" cy="3312"/>
          </a:xfrm>
        </p:grpSpPr>
        <p:sp>
          <p:nvSpPr>
            <p:cNvPr id="263268" name="Rectangle 100"/>
            <p:cNvSpPr>
              <a:spLocks noChangeArrowheads="1"/>
            </p:cNvSpPr>
            <p:nvPr/>
          </p:nvSpPr>
          <p:spPr bwMode="auto">
            <a:xfrm>
              <a:off x="344" y="816"/>
              <a:ext cx="1051" cy="331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269" name="Freeform 101"/>
            <p:cNvSpPr>
              <a:spLocks/>
            </p:cNvSpPr>
            <p:nvPr/>
          </p:nvSpPr>
          <p:spPr bwMode="auto">
            <a:xfrm>
              <a:off x="368" y="1425"/>
              <a:ext cx="474" cy="1"/>
            </a:xfrm>
            <a:custGeom>
              <a:avLst/>
              <a:gdLst>
                <a:gd name="T0" fmla="*/ 0 w 474"/>
                <a:gd name="T1" fmla="*/ 0 h 1"/>
                <a:gd name="T2" fmla="*/ 474 w 474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74" h="1">
                  <a:moveTo>
                    <a:pt x="0" y="0"/>
                  </a:moveTo>
                  <a:lnTo>
                    <a:pt x="474" y="0"/>
                  </a:lnTo>
                </a:path>
              </a:pathLst>
            </a:custGeom>
            <a:solidFill>
              <a:srgbClr val="FFFFFF"/>
            </a:solidFill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270" name="Text Box 102"/>
            <p:cNvSpPr txBox="1">
              <a:spLocks noChangeArrowheads="1"/>
            </p:cNvSpPr>
            <p:nvPr/>
          </p:nvSpPr>
          <p:spPr bwMode="auto">
            <a:xfrm>
              <a:off x="336" y="1392"/>
              <a:ext cx="5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MREQ</a:t>
              </a:r>
            </a:p>
          </p:txBody>
        </p:sp>
        <p:sp>
          <p:nvSpPr>
            <p:cNvPr id="263271" name="Text Box 103"/>
            <p:cNvSpPr txBox="1">
              <a:spLocks noChangeArrowheads="1"/>
            </p:cNvSpPr>
            <p:nvPr/>
          </p:nvSpPr>
          <p:spPr bwMode="auto">
            <a:xfrm>
              <a:off x="1008" y="816"/>
              <a:ext cx="3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A</a:t>
              </a:r>
              <a:r>
                <a:rPr lang="en-US" altLang="zh-CN" sz="1800" baseline="-25000">
                  <a:latin typeface="Times New Roman" pitchFamily="18" charset="0"/>
                </a:rPr>
                <a:t>14</a:t>
              </a:r>
            </a:p>
          </p:txBody>
        </p:sp>
        <p:sp>
          <p:nvSpPr>
            <p:cNvPr id="263272" name="Text Box 104"/>
            <p:cNvSpPr txBox="1">
              <a:spLocks noChangeArrowheads="1"/>
            </p:cNvSpPr>
            <p:nvPr/>
          </p:nvSpPr>
          <p:spPr bwMode="auto">
            <a:xfrm>
              <a:off x="1008" y="1008"/>
              <a:ext cx="3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A</a:t>
              </a:r>
              <a:r>
                <a:rPr lang="en-US" altLang="zh-CN" sz="1800" baseline="-25000">
                  <a:latin typeface="Times New Roman" pitchFamily="18" charset="0"/>
                </a:rPr>
                <a:t>15</a:t>
              </a:r>
            </a:p>
          </p:txBody>
        </p:sp>
        <p:sp>
          <p:nvSpPr>
            <p:cNvPr id="263273" name="Text Box 105"/>
            <p:cNvSpPr txBox="1">
              <a:spLocks noChangeArrowheads="1"/>
            </p:cNvSpPr>
            <p:nvPr/>
          </p:nvSpPr>
          <p:spPr bwMode="auto">
            <a:xfrm>
              <a:off x="1008" y="1342"/>
              <a:ext cx="3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A</a:t>
              </a:r>
              <a:r>
                <a:rPr lang="en-US" altLang="zh-CN" sz="1800" baseline="-25000">
                  <a:latin typeface="Times New Roman" pitchFamily="18" charset="0"/>
                </a:rPr>
                <a:t>13</a:t>
              </a:r>
            </a:p>
          </p:txBody>
        </p:sp>
        <p:sp>
          <p:nvSpPr>
            <p:cNvPr id="263274" name="Text Box 106"/>
            <p:cNvSpPr txBox="1">
              <a:spLocks noChangeArrowheads="1"/>
            </p:cNvSpPr>
            <p:nvPr/>
          </p:nvSpPr>
          <p:spPr bwMode="auto">
            <a:xfrm>
              <a:off x="1008" y="1534"/>
              <a:ext cx="3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A</a:t>
              </a:r>
              <a:r>
                <a:rPr lang="en-US" altLang="zh-CN" sz="1800" baseline="-25000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263275" name="Text Box 107"/>
            <p:cNvSpPr txBox="1">
              <a:spLocks noChangeArrowheads="1"/>
            </p:cNvSpPr>
            <p:nvPr/>
          </p:nvSpPr>
          <p:spPr bwMode="auto">
            <a:xfrm>
              <a:off x="1008" y="1726"/>
              <a:ext cx="3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A</a:t>
              </a:r>
              <a:r>
                <a:rPr lang="en-US" altLang="zh-CN" sz="1800" baseline="-25000"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263276" name="Text Box 108"/>
            <p:cNvSpPr txBox="1">
              <a:spLocks noChangeArrowheads="1"/>
            </p:cNvSpPr>
            <p:nvPr/>
          </p:nvSpPr>
          <p:spPr bwMode="auto">
            <a:xfrm>
              <a:off x="1008" y="1918"/>
              <a:ext cx="3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A</a:t>
              </a:r>
              <a:r>
                <a:rPr lang="en-US" altLang="zh-CN" sz="1800" baseline="-25000"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263277" name="Text Box 109"/>
            <p:cNvSpPr txBox="1">
              <a:spLocks noChangeArrowheads="1"/>
            </p:cNvSpPr>
            <p:nvPr/>
          </p:nvSpPr>
          <p:spPr bwMode="auto">
            <a:xfrm>
              <a:off x="1008" y="2088"/>
              <a:ext cx="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A</a:t>
              </a:r>
              <a:r>
                <a:rPr lang="en-US" altLang="zh-CN" sz="1800" baseline="-25000"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263278" name="Text Box 110"/>
            <p:cNvSpPr txBox="1">
              <a:spLocks noChangeArrowheads="1"/>
            </p:cNvSpPr>
            <p:nvPr/>
          </p:nvSpPr>
          <p:spPr bwMode="auto">
            <a:xfrm>
              <a:off x="1008" y="2361"/>
              <a:ext cx="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A</a:t>
              </a:r>
              <a:r>
                <a:rPr lang="en-US" altLang="zh-CN" sz="1800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63279" name="Text Box 111"/>
            <p:cNvSpPr txBox="1">
              <a:spLocks noChangeArrowheads="1"/>
            </p:cNvSpPr>
            <p:nvPr/>
          </p:nvSpPr>
          <p:spPr bwMode="auto">
            <a:xfrm>
              <a:off x="1030" y="2251"/>
              <a:ext cx="308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000">
                  <a:latin typeface="Times New Roman" pitchFamily="18" charset="0"/>
                </a:rPr>
                <a:t>…</a:t>
              </a:r>
            </a:p>
          </p:txBody>
        </p:sp>
        <p:sp>
          <p:nvSpPr>
            <p:cNvPr id="263280" name="Text Box 112"/>
            <p:cNvSpPr txBox="1">
              <a:spLocks noChangeArrowheads="1"/>
            </p:cNvSpPr>
            <p:nvPr/>
          </p:nvSpPr>
          <p:spPr bwMode="auto">
            <a:xfrm>
              <a:off x="1056" y="3000"/>
              <a:ext cx="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D</a:t>
              </a:r>
              <a:r>
                <a:rPr lang="en-US" altLang="zh-CN" sz="1800" baseline="-2500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263281" name="Text Box 113"/>
            <p:cNvSpPr txBox="1">
              <a:spLocks noChangeArrowheads="1"/>
            </p:cNvSpPr>
            <p:nvPr/>
          </p:nvSpPr>
          <p:spPr bwMode="auto">
            <a:xfrm>
              <a:off x="1056" y="3192"/>
              <a:ext cx="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D</a:t>
              </a:r>
              <a:r>
                <a:rPr lang="en-US" altLang="zh-CN" sz="1800" baseline="-250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263282" name="Text Box 114"/>
            <p:cNvSpPr txBox="1">
              <a:spLocks noChangeArrowheads="1"/>
            </p:cNvSpPr>
            <p:nvPr/>
          </p:nvSpPr>
          <p:spPr bwMode="auto">
            <a:xfrm>
              <a:off x="1056" y="3384"/>
              <a:ext cx="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D</a:t>
              </a:r>
              <a:r>
                <a:rPr lang="en-US" altLang="zh-CN" sz="1800" baseline="-250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63283" name="Text Box 115"/>
            <p:cNvSpPr txBox="1">
              <a:spLocks noChangeArrowheads="1"/>
            </p:cNvSpPr>
            <p:nvPr/>
          </p:nvSpPr>
          <p:spPr bwMode="auto">
            <a:xfrm>
              <a:off x="1056" y="3576"/>
              <a:ext cx="2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D</a:t>
              </a:r>
              <a:r>
                <a:rPr lang="en-US" altLang="zh-CN" sz="1800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63284" name="Text Box 116"/>
            <p:cNvSpPr txBox="1">
              <a:spLocks noChangeArrowheads="1"/>
            </p:cNvSpPr>
            <p:nvPr/>
          </p:nvSpPr>
          <p:spPr bwMode="auto">
            <a:xfrm>
              <a:off x="1008" y="3792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1800">
                  <a:latin typeface="Times New Roman" pitchFamily="18" charset="0"/>
                </a:rPr>
                <a:t>WR</a:t>
              </a:r>
            </a:p>
          </p:txBody>
        </p:sp>
        <p:sp>
          <p:nvSpPr>
            <p:cNvPr id="263285" name="Freeform 117"/>
            <p:cNvSpPr>
              <a:spLocks/>
            </p:cNvSpPr>
            <p:nvPr/>
          </p:nvSpPr>
          <p:spPr bwMode="auto">
            <a:xfrm>
              <a:off x="1056" y="3834"/>
              <a:ext cx="243" cy="1"/>
            </a:xfrm>
            <a:custGeom>
              <a:avLst/>
              <a:gdLst>
                <a:gd name="T0" fmla="*/ 0 w 243"/>
                <a:gd name="T1" fmla="*/ 1 h 1"/>
                <a:gd name="T2" fmla="*/ 243 w 243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3" h="1">
                  <a:moveTo>
                    <a:pt x="0" y="1"/>
                  </a:moveTo>
                  <a:lnTo>
                    <a:pt x="243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63286" name="Group 118"/>
          <p:cNvGrpSpPr>
            <a:grpSpLocks/>
          </p:cNvGrpSpPr>
          <p:nvPr/>
        </p:nvGrpSpPr>
        <p:grpSpPr bwMode="auto">
          <a:xfrm>
            <a:off x="7672388" y="4752975"/>
            <a:ext cx="711200" cy="1162050"/>
            <a:chOff x="4833" y="2994"/>
            <a:chExt cx="448" cy="732"/>
          </a:xfrm>
        </p:grpSpPr>
        <p:sp>
          <p:nvSpPr>
            <p:cNvPr id="263287" name="Freeform 119"/>
            <p:cNvSpPr>
              <a:spLocks/>
            </p:cNvSpPr>
            <p:nvPr/>
          </p:nvSpPr>
          <p:spPr bwMode="auto">
            <a:xfrm>
              <a:off x="4833" y="2994"/>
              <a:ext cx="1" cy="510"/>
            </a:xfrm>
            <a:custGeom>
              <a:avLst/>
              <a:gdLst>
                <a:gd name="T0" fmla="*/ 0 w 1"/>
                <a:gd name="T1" fmla="*/ 0 h 510"/>
                <a:gd name="T2" fmla="*/ 1 w 1"/>
                <a:gd name="T3" fmla="*/ 51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510">
                  <a:moveTo>
                    <a:pt x="0" y="0"/>
                  </a:moveTo>
                  <a:lnTo>
                    <a:pt x="1" y="51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3288" name="Freeform 120"/>
            <p:cNvSpPr>
              <a:spLocks/>
            </p:cNvSpPr>
            <p:nvPr/>
          </p:nvSpPr>
          <p:spPr bwMode="auto">
            <a:xfrm>
              <a:off x="5280" y="3000"/>
              <a:ext cx="1" cy="726"/>
            </a:xfrm>
            <a:custGeom>
              <a:avLst/>
              <a:gdLst>
                <a:gd name="T0" fmla="*/ 0 w 1"/>
                <a:gd name="T1" fmla="*/ 0 h 726"/>
                <a:gd name="T2" fmla="*/ 0 w 1"/>
                <a:gd name="T3" fmla="*/ 726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26">
                  <a:moveTo>
                    <a:pt x="0" y="0"/>
                  </a:moveTo>
                  <a:lnTo>
                    <a:pt x="0" y="726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3289" name="Text Box 121"/>
            <p:cNvSpPr txBox="1">
              <a:spLocks noChangeArrowheads="1"/>
            </p:cNvSpPr>
            <p:nvPr/>
          </p:nvSpPr>
          <p:spPr bwMode="auto">
            <a:xfrm>
              <a:off x="4876" y="3069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latin typeface="Times New Roman" pitchFamily="18" charset="0"/>
                </a:rPr>
                <a:t>…</a:t>
              </a:r>
            </a:p>
          </p:txBody>
        </p:sp>
      </p:grpSp>
      <p:grpSp>
        <p:nvGrpSpPr>
          <p:cNvPr id="263290" name="Group 122"/>
          <p:cNvGrpSpPr>
            <a:grpSpLocks/>
          </p:cNvGrpSpPr>
          <p:nvPr/>
        </p:nvGrpSpPr>
        <p:grpSpPr bwMode="auto">
          <a:xfrm>
            <a:off x="5689600" y="4616450"/>
            <a:ext cx="788988" cy="717550"/>
            <a:chOff x="3584" y="2908"/>
            <a:chExt cx="497" cy="452"/>
          </a:xfrm>
        </p:grpSpPr>
        <p:sp>
          <p:nvSpPr>
            <p:cNvPr id="263291" name="Freeform 123"/>
            <p:cNvSpPr>
              <a:spLocks/>
            </p:cNvSpPr>
            <p:nvPr/>
          </p:nvSpPr>
          <p:spPr bwMode="auto">
            <a:xfrm>
              <a:off x="3584" y="2994"/>
              <a:ext cx="1" cy="150"/>
            </a:xfrm>
            <a:custGeom>
              <a:avLst/>
              <a:gdLst>
                <a:gd name="T0" fmla="*/ 0 w 1"/>
                <a:gd name="T1" fmla="*/ 0 h 150"/>
                <a:gd name="T2" fmla="*/ 1 w 1"/>
                <a:gd name="T3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50">
                  <a:moveTo>
                    <a:pt x="0" y="0"/>
                  </a:moveTo>
                  <a:lnTo>
                    <a:pt x="1" y="15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3292" name="Freeform 124"/>
            <p:cNvSpPr>
              <a:spLocks/>
            </p:cNvSpPr>
            <p:nvPr/>
          </p:nvSpPr>
          <p:spPr bwMode="auto">
            <a:xfrm>
              <a:off x="4080" y="2994"/>
              <a:ext cx="1" cy="366"/>
            </a:xfrm>
            <a:custGeom>
              <a:avLst/>
              <a:gdLst>
                <a:gd name="T0" fmla="*/ 0 w 1"/>
                <a:gd name="T1" fmla="*/ 0 h 366"/>
                <a:gd name="T2" fmla="*/ 0 w 1"/>
                <a:gd name="T3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66">
                  <a:moveTo>
                    <a:pt x="0" y="0"/>
                  </a:moveTo>
                  <a:lnTo>
                    <a:pt x="0" y="366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3293" name="Text Box 125"/>
            <p:cNvSpPr txBox="1">
              <a:spLocks noChangeArrowheads="1"/>
            </p:cNvSpPr>
            <p:nvPr/>
          </p:nvSpPr>
          <p:spPr bwMode="auto">
            <a:xfrm>
              <a:off x="3648" y="2908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latin typeface="Times New Roman" pitchFamily="18" charset="0"/>
                </a:rPr>
                <a:t>…</a:t>
              </a:r>
            </a:p>
          </p:txBody>
        </p:sp>
      </p:grpSp>
      <p:grpSp>
        <p:nvGrpSpPr>
          <p:cNvPr id="263294" name="Group 126"/>
          <p:cNvGrpSpPr>
            <a:grpSpLocks/>
          </p:cNvGrpSpPr>
          <p:nvPr/>
        </p:nvGrpSpPr>
        <p:grpSpPr bwMode="auto">
          <a:xfrm>
            <a:off x="3657600" y="4616450"/>
            <a:ext cx="844550" cy="1270000"/>
            <a:chOff x="2304" y="2908"/>
            <a:chExt cx="532" cy="800"/>
          </a:xfrm>
        </p:grpSpPr>
        <p:sp>
          <p:nvSpPr>
            <p:cNvPr id="263295" name="Line 127"/>
            <p:cNvSpPr>
              <a:spLocks noChangeShapeType="1"/>
            </p:cNvSpPr>
            <p:nvPr/>
          </p:nvSpPr>
          <p:spPr bwMode="auto">
            <a:xfrm>
              <a:off x="2304" y="2976"/>
              <a:ext cx="0" cy="1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3296" name="Text Box 128"/>
            <p:cNvSpPr txBox="1">
              <a:spLocks noChangeArrowheads="1"/>
            </p:cNvSpPr>
            <p:nvPr/>
          </p:nvSpPr>
          <p:spPr bwMode="auto">
            <a:xfrm>
              <a:off x="2400" y="2908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latin typeface="Times New Roman" pitchFamily="18" charset="0"/>
                </a:rPr>
                <a:t>…</a:t>
              </a:r>
            </a:p>
          </p:txBody>
        </p:sp>
        <p:sp>
          <p:nvSpPr>
            <p:cNvPr id="263297" name="Freeform 129"/>
            <p:cNvSpPr>
              <a:spLocks/>
            </p:cNvSpPr>
            <p:nvPr/>
          </p:nvSpPr>
          <p:spPr bwMode="auto">
            <a:xfrm>
              <a:off x="2835" y="2976"/>
              <a:ext cx="1" cy="732"/>
            </a:xfrm>
            <a:custGeom>
              <a:avLst/>
              <a:gdLst>
                <a:gd name="T0" fmla="*/ 0 w 1"/>
                <a:gd name="T1" fmla="*/ 0 h 732"/>
                <a:gd name="T2" fmla="*/ 0 w 1"/>
                <a:gd name="T3" fmla="*/ 732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32">
                  <a:moveTo>
                    <a:pt x="0" y="0"/>
                  </a:moveTo>
                  <a:lnTo>
                    <a:pt x="0" y="7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63298" name="Group 130"/>
          <p:cNvGrpSpPr>
            <a:grpSpLocks/>
          </p:cNvGrpSpPr>
          <p:nvPr/>
        </p:nvGrpSpPr>
        <p:grpSpPr bwMode="auto">
          <a:xfrm>
            <a:off x="2209800" y="3324225"/>
            <a:ext cx="6396038" cy="627063"/>
            <a:chOff x="1392" y="2094"/>
            <a:chExt cx="4029" cy="395"/>
          </a:xfrm>
        </p:grpSpPr>
        <p:sp>
          <p:nvSpPr>
            <p:cNvPr id="263299" name="Freeform 131"/>
            <p:cNvSpPr>
              <a:spLocks/>
            </p:cNvSpPr>
            <p:nvPr/>
          </p:nvSpPr>
          <p:spPr bwMode="auto">
            <a:xfrm>
              <a:off x="1392" y="2094"/>
              <a:ext cx="2265" cy="1"/>
            </a:xfrm>
            <a:custGeom>
              <a:avLst/>
              <a:gdLst>
                <a:gd name="T0" fmla="*/ 0 w 2265"/>
                <a:gd name="T1" fmla="*/ 0 h 1"/>
                <a:gd name="T2" fmla="*/ 2265 w 226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65" h="1">
                  <a:moveTo>
                    <a:pt x="0" y="0"/>
                  </a:moveTo>
                  <a:lnTo>
                    <a:pt x="2265" y="0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3300" name="Group 132"/>
            <p:cNvGrpSpPr>
              <a:grpSpLocks/>
            </p:cNvGrpSpPr>
            <p:nvPr/>
          </p:nvGrpSpPr>
          <p:grpSpPr bwMode="auto">
            <a:xfrm>
              <a:off x="1392" y="2229"/>
              <a:ext cx="4029" cy="260"/>
              <a:chOff x="1392" y="2229"/>
              <a:chExt cx="4029" cy="260"/>
            </a:xfrm>
          </p:grpSpPr>
          <p:sp>
            <p:nvSpPr>
              <p:cNvPr id="263301" name="Freeform 133"/>
              <p:cNvSpPr>
                <a:spLocks/>
              </p:cNvSpPr>
              <p:nvPr/>
            </p:nvSpPr>
            <p:spPr bwMode="auto">
              <a:xfrm>
                <a:off x="1395" y="2229"/>
                <a:ext cx="4026" cy="5"/>
              </a:xfrm>
              <a:custGeom>
                <a:avLst/>
                <a:gdLst>
                  <a:gd name="T0" fmla="*/ 0 w 4026"/>
                  <a:gd name="T1" fmla="*/ 0 h 5"/>
                  <a:gd name="T2" fmla="*/ 4026 w 4026"/>
                  <a:gd name="T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026" h="5">
                    <a:moveTo>
                      <a:pt x="0" y="0"/>
                    </a:moveTo>
                    <a:lnTo>
                      <a:pt x="4026" y="5"/>
                    </a:lnTo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302" name="Line 134"/>
              <p:cNvSpPr>
                <a:spLocks noChangeShapeType="1"/>
              </p:cNvSpPr>
              <p:nvPr/>
            </p:nvSpPr>
            <p:spPr bwMode="auto">
              <a:xfrm>
                <a:off x="1392" y="2488"/>
                <a:ext cx="4029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303" name="Text Box 135"/>
              <p:cNvSpPr txBox="1">
                <a:spLocks noChangeArrowheads="1"/>
              </p:cNvSpPr>
              <p:nvPr/>
            </p:nvSpPr>
            <p:spPr bwMode="auto">
              <a:xfrm>
                <a:off x="1516" y="2276"/>
                <a:ext cx="30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Times New Roman" pitchFamily="18" charset="0"/>
                  </a:rPr>
                  <a:t>…</a:t>
                </a:r>
              </a:p>
            </p:txBody>
          </p:sp>
        </p:grpSp>
      </p:grpSp>
      <p:sp>
        <p:nvSpPr>
          <p:cNvPr id="263304" name="Text Box 136"/>
          <p:cNvSpPr txBox="1">
            <a:spLocks noChangeArrowheads="1"/>
          </p:cNvSpPr>
          <p:nvPr/>
        </p:nvSpPr>
        <p:spPr bwMode="auto">
          <a:xfrm>
            <a:off x="533400" y="304800"/>
            <a:ext cx="7924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例 4.1 </a:t>
            </a:r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3200" dirty="0">
                <a:latin typeface="Times New Roman" pitchFamily="18" charset="0"/>
              </a:rPr>
              <a:t>CPU </a:t>
            </a:r>
            <a:r>
              <a:rPr lang="zh-CN" altLang="en-US" sz="3200" dirty="0">
                <a:latin typeface="Times New Roman" pitchFamily="18" charset="0"/>
              </a:rPr>
              <a:t>与存储器的连接图</a:t>
            </a:r>
          </a:p>
        </p:txBody>
      </p:sp>
      <p:grpSp>
        <p:nvGrpSpPr>
          <p:cNvPr id="263306" name="Group 138"/>
          <p:cNvGrpSpPr>
            <a:grpSpLocks/>
          </p:cNvGrpSpPr>
          <p:nvPr/>
        </p:nvGrpSpPr>
        <p:grpSpPr bwMode="auto">
          <a:xfrm>
            <a:off x="3657600" y="4616450"/>
            <a:ext cx="854075" cy="1308100"/>
            <a:chOff x="2304" y="2908"/>
            <a:chExt cx="538" cy="824"/>
          </a:xfrm>
        </p:grpSpPr>
        <p:sp>
          <p:nvSpPr>
            <p:cNvPr id="263307" name="Freeform 139"/>
            <p:cNvSpPr>
              <a:spLocks/>
            </p:cNvSpPr>
            <p:nvPr/>
          </p:nvSpPr>
          <p:spPr bwMode="auto">
            <a:xfrm>
              <a:off x="2304" y="2979"/>
              <a:ext cx="3" cy="195"/>
            </a:xfrm>
            <a:custGeom>
              <a:avLst/>
              <a:gdLst>
                <a:gd name="T0" fmla="*/ 3 w 3"/>
                <a:gd name="T1" fmla="*/ 0 h 195"/>
                <a:gd name="T2" fmla="*/ 0 w 3"/>
                <a:gd name="T3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195">
                  <a:moveTo>
                    <a:pt x="3" y="0"/>
                  </a:moveTo>
                  <a:lnTo>
                    <a:pt x="0" y="195"/>
                  </a:ln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3308" name="Text Box 140"/>
            <p:cNvSpPr txBox="1">
              <a:spLocks noChangeArrowheads="1"/>
            </p:cNvSpPr>
            <p:nvPr/>
          </p:nvSpPr>
          <p:spPr bwMode="auto">
            <a:xfrm>
              <a:off x="2400" y="2908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solidFill>
                    <a:schemeClr val="folHlink"/>
                  </a:solidFill>
                  <a:latin typeface="Times New Roman" pitchFamily="18" charset="0"/>
                </a:rPr>
                <a:t>…</a:t>
              </a:r>
            </a:p>
          </p:txBody>
        </p:sp>
        <p:sp>
          <p:nvSpPr>
            <p:cNvPr id="263309" name="Freeform 141"/>
            <p:cNvSpPr>
              <a:spLocks/>
            </p:cNvSpPr>
            <p:nvPr/>
          </p:nvSpPr>
          <p:spPr bwMode="auto">
            <a:xfrm>
              <a:off x="2841" y="2979"/>
              <a:ext cx="1" cy="753"/>
            </a:xfrm>
            <a:custGeom>
              <a:avLst/>
              <a:gdLst>
                <a:gd name="T0" fmla="*/ 0 w 1"/>
                <a:gd name="T1" fmla="*/ 0 h 753"/>
                <a:gd name="T2" fmla="*/ 0 w 1"/>
                <a:gd name="T3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53">
                  <a:moveTo>
                    <a:pt x="0" y="0"/>
                  </a:moveTo>
                  <a:lnTo>
                    <a:pt x="0" y="753"/>
                  </a:ln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 type="none" w="med" len="med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63310" name="Group 142"/>
          <p:cNvGrpSpPr>
            <a:grpSpLocks/>
          </p:cNvGrpSpPr>
          <p:nvPr/>
        </p:nvGrpSpPr>
        <p:grpSpPr bwMode="auto">
          <a:xfrm>
            <a:off x="5689600" y="4616450"/>
            <a:ext cx="782638" cy="765175"/>
            <a:chOff x="3584" y="2908"/>
            <a:chExt cx="493" cy="482"/>
          </a:xfrm>
        </p:grpSpPr>
        <p:sp>
          <p:nvSpPr>
            <p:cNvPr id="263311" name="Freeform 143"/>
            <p:cNvSpPr>
              <a:spLocks/>
            </p:cNvSpPr>
            <p:nvPr/>
          </p:nvSpPr>
          <p:spPr bwMode="auto">
            <a:xfrm>
              <a:off x="3584" y="2988"/>
              <a:ext cx="1" cy="198"/>
            </a:xfrm>
            <a:custGeom>
              <a:avLst/>
              <a:gdLst>
                <a:gd name="T0" fmla="*/ 0 w 1"/>
                <a:gd name="T1" fmla="*/ 0 h 198"/>
                <a:gd name="T2" fmla="*/ 0 w 1"/>
                <a:gd name="T3" fmla="*/ 19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98">
                  <a:moveTo>
                    <a:pt x="0" y="0"/>
                  </a:moveTo>
                  <a:lnTo>
                    <a:pt x="0" y="198"/>
                  </a:ln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 type="stealth" w="sm" len="sm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3312" name="Text Box 144"/>
            <p:cNvSpPr txBox="1">
              <a:spLocks noChangeArrowheads="1"/>
            </p:cNvSpPr>
            <p:nvPr/>
          </p:nvSpPr>
          <p:spPr bwMode="auto">
            <a:xfrm>
              <a:off x="3648" y="2908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solidFill>
                    <a:schemeClr val="folHlink"/>
                  </a:solidFill>
                  <a:latin typeface="Times New Roman" pitchFamily="18" charset="0"/>
                </a:rPr>
                <a:t>…</a:t>
              </a:r>
            </a:p>
          </p:txBody>
        </p:sp>
        <p:sp>
          <p:nvSpPr>
            <p:cNvPr id="263313" name="Freeform 145"/>
            <p:cNvSpPr>
              <a:spLocks/>
            </p:cNvSpPr>
            <p:nvPr/>
          </p:nvSpPr>
          <p:spPr bwMode="auto">
            <a:xfrm>
              <a:off x="4074" y="2991"/>
              <a:ext cx="3" cy="399"/>
            </a:xfrm>
            <a:custGeom>
              <a:avLst/>
              <a:gdLst>
                <a:gd name="T0" fmla="*/ 3 w 3"/>
                <a:gd name="T1" fmla="*/ 0 h 375"/>
                <a:gd name="T2" fmla="*/ 0 w 3"/>
                <a:gd name="T3" fmla="*/ 375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375">
                  <a:moveTo>
                    <a:pt x="3" y="0"/>
                  </a:moveTo>
                  <a:lnTo>
                    <a:pt x="0" y="375"/>
                  </a:ln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 type="stealth" w="sm" len="sm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63314" name="Group 146"/>
          <p:cNvGrpSpPr>
            <a:grpSpLocks/>
          </p:cNvGrpSpPr>
          <p:nvPr/>
        </p:nvGrpSpPr>
        <p:grpSpPr bwMode="auto">
          <a:xfrm>
            <a:off x="7672388" y="4762500"/>
            <a:ext cx="711200" cy="1162050"/>
            <a:chOff x="4833" y="3000"/>
            <a:chExt cx="448" cy="732"/>
          </a:xfrm>
        </p:grpSpPr>
        <p:sp>
          <p:nvSpPr>
            <p:cNvPr id="263315" name="Freeform 147"/>
            <p:cNvSpPr>
              <a:spLocks/>
            </p:cNvSpPr>
            <p:nvPr/>
          </p:nvSpPr>
          <p:spPr bwMode="auto">
            <a:xfrm>
              <a:off x="4833" y="3006"/>
              <a:ext cx="1" cy="519"/>
            </a:xfrm>
            <a:custGeom>
              <a:avLst/>
              <a:gdLst>
                <a:gd name="T0" fmla="*/ 0 w 1"/>
                <a:gd name="T1" fmla="*/ 0 h 519"/>
                <a:gd name="T2" fmla="*/ 0 w 1"/>
                <a:gd name="T3" fmla="*/ 519 h 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519">
                  <a:moveTo>
                    <a:pt x="0" y="0"/>
                  </a:moveTo>
                  <a:lnTo>
                    <a:pt x="0" y="519"/>
                  </a:ln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 type="stealth" w="sm" len="sm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3316" name="Text Box 148"/>
            <p:cNvSpPr txBox="1">
              <a:spLocks noChangeArrowheads="1"/>
            </p:cNvSpPr>
            <p:nvPr/>
          </p:nvSpPr>
          <p:spPr bwMode="auto">
            <a:xfrm>
              <a:off x="4876" y="3069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>
                  <a:solidFill>
                    <a:schemeClr val="folHlink"/>
                  </a:solidFill>
                  <a:latin typeface="Times New Roman" pitchFamily="18" charset="0"/>
                </a:rPr>
                <a:t>…</a:t>
              </a:r>
            </a:p>
          </p:txBody>
        </p:sp>
        <p:sp>
          <p:nvSpPr>
            <p:cNvPr id="263317" name="Freeform 149"/>
            <p:cNvSpPr>
              <a:spLocks/>
            </p:cNvSpPr>
            <p:nvPr/>
          </p:nvSpPr>
          <p:spPr bwMode="auto">
            <a:xfrm>
              <a:off x="5280" y="3000"/>
              <a:ext cx="1" cy="732"/>
            </a:xfrm>
            <a:custGeom>
              <a:avLst/>
              <a:gdLst>
                <a:gd name="T0" fmla="*/ 0 w 1"/>
                <a:gd name="T1" fmla="*/ 0 h 732"/>
                <a:gd name="T2" fmla="*/ 0 w 1"/>
                <a:gd name="T3" fmla="*/ 732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32">
                  <a:moveTo>
                    <a:pt x="0" y="0"/>
                  </a:moveTo>
                  <a:lnTo>
                    <a:pt x="0" y="732"/>
                  </a:lnTo>
                </a:path>
              </a:pathLst>
            </a:custGeom>
            <a:noFill/>
            <a:ln w="57150" cmpd="sng">
              <a:solidFill>
                <a:schemeClr val="folHlink"/>
              </a:solidFill>
              <a:round/>
              <a:headEnd type="stealth" w="sm" len="sm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63318" name="AutoShape 150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50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6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6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6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6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63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6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263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26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63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263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263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26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263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2" dur="500"/>
                                        <p:tgtEl>
                                          <p:spTgt spid="26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6" dur="500"/>
                                        <p:tgtEl>
                                          <p:spTgt spid="26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1" dur="500"/>
                                        <p:tgtEl>
                                          <p:spTgt spid="26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5" dur="500"/>
                                        <p:tgtEl>
                                          <p:spTgt spid="26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0" dur="500"/>
                                        <p:tgtEl>
                                          <p:spTgt spid="263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4" dur="500"/>
                                        <p:tgtEl>
                                          <p:spTgt spid="263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9" dur="500"/>
                                        <p:tgtEl>
                                          <p:spTgt spid="263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4" dur="500"/>
                                        <p:tgtEl>
                                          <p:spTgt spid="26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8" dur="500"/>
                                        <p:tgtEl>
                                          <p:spTgt spid="26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3" dur="500"/>
                                        <p:tgtEl>
                                          <p:spTgt spid="263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263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2" dur="500"/>
                                        <p:tgtEl>
                                          <p:spTgt spid="26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7" dur="500"/>
                                        <p:tgtEl>
                                          <p:spTgt spid="26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2" dur="500"/>
                                        <p:tgtEl>
                                          <p:spTgt spid="263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7" dur="500"/>
                                        <p:tgtEl>
                                          <p:spTgt spid="263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2" dur="500"/>
                                        <p:tgtEl>
                                          <p:spTgt spid="263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7" dur="500"/>
                                        <p:tgtEl>
                                          <p:spTgt spid="26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2" dur="500"/>
                                        <p:tgtEl>
                                          <p:spTgt spid="263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7" dur="500"/>
                                        <p:tgtEl>
                                          <p:spTgt spid="26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0" grpId="0" animBg="1"/>
      <p:bldP spid="263171" grpId="0" animBg="1"/>
      <p:bldP spid="263179" grpId="0" animBg="1"/>
      <p:bldP spid="263180" grpId="0" animBg="1"/>
      <p:bldP spid="263181" grpId="0" animBg="1"/>
      <p:bldP spid="263192" grpId="0" animBg="1"/>
      <p:bldP spid="26319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9" name="Text Box 3"/>
          <p:cNvSpPr txBox="1">
            <a:spLocks noChangeArrowheads="1"/>
          </p:cNvSpPr>
          <p:nvPr/>
        </p:nvSpPr>
        <p:spPr bwMode="auto">
          <a:xfrm>
            <a:off x="1463675" y="1774825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解：</a:t>
            </a:r>
          </a:p>
        </p:txBody>
      </p:sp>
      <p:sp>
        <p:nvSpPr>
          <p:cNvPr id="726020" name="Text Box 4"/>
          <p:cNvSpPr txBox="1">
            <a:spLocks noChangeArrowheads="1"/>
          </p:cNvSpPr>
          <p:nvPr/>
        </p:nvSpPr>
        <p:spPr bwMode="auto">
          <a:xfrm>
            <a:off x="2522538" y="1774825"/>
            <a:ext cx="9001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[</a:t>
            </a:r>
            <a:r>
              <a:rPr lang="en-US" altLang="zh-CN" sz="2800" i="1">
                <a:latin typeface="Times New Roman" pitchFamily="18" charset="0"/>
              </a:rPr>
              <a:t>A</a:t>
            </a:r>
            <a:r>
              <a:rPr lang="en-US" altLang="zh-CN" sz="2800">
                <a:latin typeface="Times New Roman" pitchFamily="18" charset="0"/>
              </a:rPr>
              <a:t>]</a:t>
            </a:r>
            <a:r>
              <a:rPr lang="zh-CN" altLang="en-US" sz="2800" baseline="-25000">
                <a:latin typeface="Times New Roman" pitchFamily="18" charset="0"/>
              </a:rPr>
              <a:t>补</a:t>
            </a:r>
          </a:p>
        </p:txBody>
      </p:sp>
      <p:sp>
        <p:nvSpPr>
          <p:cNvPr id="726021" name="Text Box 5"/>
          <p:cNvSpPr txBox="1">
            <a:spLocks noChangeArrowheads="1"/>
          </p:cNvSpPr>
          <p:nvPr/>
        </p:nvSpPr>
        <p:spPr bwMode="auto">
          <a:xfrm>
            <a:off x="2543175" y="227965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[</a:t>
            </a:r>
            <a:r>
              <a:rPr lang="en-US" altLang="zh-CN" sz="2800" i="1">
                <a:latin typeface="Times New Roman" pitchFamily="18" charset="0"/>
              </a:rPr>
              <a:t>B</a:t>
            </a:r>
            <a:r>
              <a:rPr lang="en-US" altLang="zh-CN" sz="2800">
                <a:latin typeface="Times New Roman" pitchFamily="18" charset="0"/>
              </a:rPr>
              <a:t>]</a:t>
            </a:r>
            <a:r>
              <a:rPr lang="zh-CN" altLang="en-US" sz="2800" baseline="-25000">
                <a:latin typeface="Times New Roman" pitchFamily="18" charset="0"/>
              </a:rPr>
              <a:t>补</a:t>
            </a:r>
          </a:p>
        </p:txBody>
      </p:sp>
      <p:sp>
        <p:nvSpPr>
          <p:cNvPr id="726022" name="Text Box 6"/>
          <p:cNvSpPr txBox="1">
            <a:spLocks noChangeArrowheads="1"/>
          </p:cNvSpPr>
          <p:nvPr/>
        </p:nvSpPr>
        <p:spPr bwMode="auto">
          <a:xfrm>
            <a:off x="1408113" y="2743200"/>
            <a:ext cx="1997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[</a:t>
            </a:r>
            <a:r>
              <a:rPr lang="en-US" altLang="zh-CN" sz="2800" i="1">
                <a:latin typeface="Times New Roman" pitchFamily="18" charset="0"/>
              </a:rPr>
              <a:t>A</a:t>
            </a:r>
            <a:r>
              <a:rPr lang="en-US" altLang="zh-CN" sz="2800">
                <a:latin typeface="Times New Roman" pitchFamily="18" charset="0"/>
              </a:rPr>
              <a:t>]</a:t>
            </a:r>
            <a:r>
              <a:rPr lang="zh-CN" altLang="en-US" sz="2800" baseline="-25000">
                <a:latin typeface="Times New Roman" pitchFamily="18" charset="0"/>
              </a:rPr>
              <a:t>补</a:t>
            </a:r>
            <a:r>
              <a:rPr lang="zh-CN" altLang="en-US" sz="2800">
                <a:latin typeface="Times New Roman" pitchFamily="18" charset="0"/>
              </a:rPr>
              <a:t> + [</a:t>
            </a:r>
            <a:r>
              <a:rPr lang="en-US" altLang="zh-CN" sz="2800" i="1">
                <a:latin typeface="Times New Roman" pitchFamily="18" charset="0"/>
              </a:rPr>
              <a:t>B</a:t>
            </a:r>
            <a:r>
              <a:rPr lang="en-US" altLang="zh-CN" sz="2800">
                <a:latin typeface="Times New Roman" pitchFamily="18" charset="0"/>
              </a:rPr>
              <a:t>]</a:t>
            </a:r>
            <a:r>
              <a:rPr lang="zh-CN" altLang="en-US" sz="2800" baseline="-25000">
                <a:latin typeface="Times New Roman" pitchFamily="18" charset="0"/>
              </a:rPr>
              <a:t>补</a:t>
            </a:r>
          </a:p>
        </p:txBody>
      </p:sp>
      <p:sp>
        <p:nvSpPr>
          <p:cNvPr id="726023" name="Line 7"/>
          <p:cNvSpPr>
            <a:spLocks noChangeShapeType="1"/>
          </p:cNvSpPr>
          <p:nvPr/>
        </p:nvSpPr>
        <p:spPr bwMode="auto">
          <a:xfrm>
            <a:off x="1447800" y="2782888"/>
            <a:ext cx="4649788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26024" name="Text Box 8"/>
          <p:cNvSpPr txBox="1">
            <a:spLocks noChangeArrowheads="1"/>
          </p:cNvSpPr>
          <p:nvPr/>
        </p:nvSpPr>
        <p:spPr bwMode="auto">
          <a:xfrm>
            <a:off x="2279650" y="2286000"/>
            <a:ext cx="387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+</a:t>
            </a:r>
          </a:p>
        </p:txBody>
      </p:sp>
      <p:sp>
        <p:nvSpPr>
          <p:cNvPr id="726025" name="Text Box 9"/>
          <p:cNvSpPr txBox="1">
            <a:spLocks noChangeArrowheads="1"/>
          </p:cNvSpPr>
          <p:nvPr/>
        </p:nvSpPr>
        <p:spPr bwMode="auto">
          <a:xfrm>
            <a:off x="3505200" y="1774825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=    0 . 1 0 1 1</a:t>
            </a:r>
          </a:p>
        </p:txBody>
      </p:sp>
      <p:sp>
        <p:nvSpPr>
          <p:cNvPr id="726026" name="Text Box 10"/>
          <p:cNvSpPr txBox="1">
            <a:spLocks noChangeArrowheads="1"/>
          </p:cNvSpPr>
          <p:nvPr/>
        </p:nvSpPr>
        <p:spPr bwMode="auto">
          <a:xfrm>
            <a:off x="3505200" y="2279650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=    1 . 1 0 1 1</a:t>
            </a:r>
          </a:p>
        </p:txBody>
      </p:sp>
      <p:sp>
        <p:nvSpPr>
          <p:cNvPr id="726027" name="Text Box 11"/>
          <p:cNvSpPr txBox="1">
            <a:spLocks noChangeArrowheads="1"/>
          </p:cNvSpPr>
          <p:nvPr/>
        </p:nvSpPr>
        <p:spPr bwMode="auto">
          <a:xfrm>
            <a:off x="3505200" y="2743200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= 1 0 . 0 1 1 0</a:t>
            </a:r>
          </a:p>
        </p:txBody>
      </p:sp>
      <p:sp>
        <p:nvSpPr>
          <p:cNvPr id="726028" name="Text Box 12"/>
          <p:cNvSpPr txBox="1">
            <a:spLocks noChangeArrowheads="1"/>
          </p:cNvSpPr>
          <p:nvPr/>
        </p:nvSpPr>
        <p:spPr bwMode="auto">
          <a:xfrm>
            <a:off x="5559425" y="2743200"/>
            <a:ext cx="180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= [</a:t>
            </a: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en-US" altLang="zh-CN" sz="2800" dirty="0">
                <a:latin typeface="Times New Roman" pitchFamily="18" charset="0"/>
              </a:rPr>
              <a:t> + </a:t>
            </a:r>
            <a:r>
              <a:rPr lang="en-US" altLang="zh-CN" sz="2800" i="1" dirty="0">
                <a:latin typeface="Times New Roman" pitchFamily="18" charset="0"/>
              </a:rPr>
              <a:t>B</a:t>
            </a:r>
            <a:r>
              <a:rPr lang="en-US" altLang="zh-CN" sz="2800" dirty="0">
                <a:latin typeface="Times New Roman" pitchFamily="18" charset="0"/>
              </a:rPr>
              <a:t>]</a:t>
            </a:r>
            <a:r>
              <a:rPr lang="zh-CN" altLang="en-US" sz="2800" baseline="-25000" dirty="0">
                <a:latin typeface="Times New Roman" pitchFamily="18" charset="0"/>
              </a:rPr>
              <a:t>补</a:t>
            </a:r>
          </a:p>
        </p:txBody>
      </p:sp>
      <p:grpSp>
        <p:nvGrpSpPr>
          <p:cNvPr id="726030" name="Group 14"/>
          <p:cNvGrpSpPr>
            <a:grpSpLocks/>
          </p:cNvGrpSpPr>
          <p:nvPr/>
        </p:nvGrpSpPr>
        <p:grpSpPr bwMode="auto">
          <a:xfrm>
            <a:off x="1039812" y="242888"/>
            <a:ext cx="5908675" cy="1025525"/>
            <a:chOff x="422" y="480"/>
            <a:chExt cx="3722" cy="646"/>
          </a:xfrm>
        </p:grpSpPr>
        <p:grpSp>
          <p:nvGrpSpPr>
            <p:cNvPr id="726031" name="Group 15"/>
            <p:cNvGrpSpPr>
              <a:grpSpLocks/>
            </p:cNvGrpSpPr>
            <p:nvPr/>
          </p:nvGrpSpPr>
          <p:grpSpPr bwMode="auto">
            <a:xfrm>
              <a:off x="422" y="480"/>
              <a:ext cx="3722" cy="330"/>
              <a:chOff x="422" y="576"/>
              <a:chExt cx="3722" cy="330"/>
            </a:xfrm>
          </p:grpSpPr>
          <p:sp>
            <p:nvSpPr>
              <p:cNvPr id="726032" name="Text Box 16"/>
              <p:cNvSpPr txBox="1">
                <a:spLocks noChangeArrowheads="1"/>
              </p:cNvSpPr>
              <p:nvPr/>
            </p:nvSpPr>
            <p:spPr bwMode="auto">
              <a:xfrm>
                <a:off x="422" y="576"/>
                <a:ext cx="738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Times New Roman" pitchFamily="18" charset="0"/>
                  </a:rPr>
                  <a:t>例 6. 8</a:t>
                </a:r>
              </a:p>
            </p:txBody>
          </p:sp>
          <p:sp>
            <p:nvSpPr>
              <p:cNvPr id="726033" name="Text Box 17"/>
              <p:cNvSpPr txBox="1">
                <a:spLocks noChangeArrowheads="1"/>
              </p:cNvSpPr>
              <p:nvPr/>
            </p:nvSpPr>
            <p:spPr bwMode="auto">
              <a:xfrm>
                <a:off x="1382" y="576"/>
                <a:ext cx="276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Times New Roman" pitchFamily="18" charset="0"/>
                  </a:rPr>
                  <a:t>设 </a:t>
                </a:r>
                <a:r>
                  <a:rPr lang="en-US" altLang="zh-CN" sz="2800" i="1" dirty="0">
                    <a:solidFill>
                      <a:srgbClr val="002060"/>
                    </a:solidFill>
                    <a:latin typeface="Times New Roman" pitchFamily="18" charset="0"/>
                  </a:rPr>
                  <a:t>A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Times New Roman" pitchFamily="18" charset="0"/>
                  </a:rPr>
                  <a:t> = </a:t>
                </a:r>
                <a:r>
                  <a:rPr lang="en-US" altLang="zh-CN" sz="2800" dirty="0" smtClean="0">
                    <a:solidFill>
                      <a:srgbClr val="002060"/>
                    </a:solidFill>
                    <a:latin typeface="Times New Roman" pitchFamily="18" charset="0"/>
                  </a:rPr>
                  <a:t>0.1011，</a:t>
                </a:r>
                <a:r>
                  <a:rPr lang="en-US" altLang="zh-CN" sz="2800" i="1" dirty="0" smtClean="0">
                    <a:solidFill>
                      <a:srgbClr val="002060"/>
                    </a:solidFill>
                    <a:latin typeface="Times New Roman" pitchFamily="18" charset="0"/>
                  </a:rPr>
                  <a:t>B</a:t>
                </a:r>
                <a:r>
                  <a:rPr lang="en-US" altLang="zh-CN" sz="2800" dirty="0" smtClean="0">
                    <a:solidFill>
                      <a:srgbClr val="002060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–</a:t>
                </a:r>
                <a:r>
                  <a:rPr lang="en-US" altLang="zh-CN" sz="1000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0.0101</a:t>
                </a:r>
                <a:endParaRPr lang="zh-CN" altLang="en-US" sz="2800" baseline="-25000" dirty="0">
                  <a:solidFill>
                    <a:srgbClr val="002060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726034" name="Text Box 18"/>
            <p:cNvSpPr txBox="1">
              <a:spLocks noChangeArrowheads="1"/>
            </p:cNvSpPr>
            <p:nvPr/>
          </p:nvSpPr>
          <p:spPr bwMode="auto">
            <a:xfrm>
              <a:off x="1392" y="799"/>
              <a:ext cx="12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 dirty="0">
                  <a:solidFill>
                    <a:srgbClr val="002060"/>
                  </a:solidFill>
                  <a:latin typeface="Times New Roman" pitchFamily="18" charset="0"/>
                </a:rPr>
                <a:t>求 [</a:t>
              </a:r>
              <a:r>
                <a:rPr lang="en-US" altLang="zh-CN" sz="2800" i="1" dirty="0">
                  <a:solidFill>
                    <a:srgbClr val="002060"/>
                  </a:solidFill>
                  <a:latin typeface="Times New Roman" pitchFamily="18" charset="0"/>
                </a:rPr>
                <a:t>A</a:t>
              </a:r>
              <a:r>
                <a:rPr lang="en-US" altLang="zh-CN" sz="2800" dirty="0">
                  <a:solidFill>
                    <a:srgbClr val="002060"/>
                  </a:solidFill>
                  <a:latin typeface="Times New Roman" pitchFamily="18" charset="0"/>
                </a:rPr>
                <a:t> + </a:t>
              </a:r>
              <a:r>
                <a:rPr lang="en-US" altLang="zh-CN" sz="2800" i="1" dirty="0">
                  <a:solidFill>
                    <a:srgbClr val="002060"/>
                  </a:solidFill>
                  <a:latin typeface="Times New Roman" pitchFamily="18" charset="0"/>
                </a:rPr>
                <a:t>B</a:t>
              </a:r>
              <a:r>
                <a:rPr lang="en-US" altLang="zh-CN" sz="2800" dirty="0">
                  <a:solidFill>
                    <a:srgbClr val="002060"/>
                  </a:solidFill>
                  <a:latin typeface="Times New Roman" pitchFamily="18" charset="0"/>
                </a:rPr>
                <a:t>]</a:t>
              </a:r>
              <a:r>
                <a:rPr lang="zh-CN" altLang="en-US" sz="2800" baseline="-25000" dirty="0">
                  <a:solidFill>
                    <a:srgbClr val="002060"/>
                  </a:solidFill>
                  <a:latin typeface="Times New Roman" pitchFamily="18" charset="0"/>
                </a:rPr>
                <a:t>补</a:t>
              </a:r>
              <a:endParaRPr lang="zh-CN" altLang="en-US" sz="2800" dirty="0">
                <a:solidFill>
                  <a:srgbClr val="002060"/>
                </a:solidFill>
                <a:latin typeface="Times New Roman" pitchFamily="18" charset="0"/>
              </a:endParaRPr>
            </a:p>
          </p:txBody>
        </p:sp>
      </p:grpSp>
      <p:sp>
        <p:nvSpPr>
          <p:cNvPr id="726039" name="AutoShape 23"/>
          <p:cNvSpPr>
            <a:spLocks noChangeArrowheads="1"/>
          </p:cNvSpPr>
          <p:nvPr/>
        </p:nvSpPr>
        <p:spPr bwMode="auto">
          <a:xfrm>
            <a:off x="3843338" y="2819400"/>
            <a:ext cx="304800" cy="457200"/>
          </a:xfrm>
          <a:prstGeom prst="wedgeRoundRectCallout">
            <a:avLst>
              <a:gd name="adj1" fmla="val -162500"/>
              <a:gd name="adj2" fmla="val 79167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spcBef>
                <a:spcPct val="0"/>
              </a:spcBef>
            </a:pPr>
            <a:endParaRPr lang="zh-CN" altLang="en-US" sz="2800">
              <a:latin typeface="Times New Roman" pitchFamily="18" charset="0"/>
            </a:endParaRPr>
          </a:p>
        </p:txBody>
      </p:sp>
      <p:sp>
        <p:nvSpPr>
          <p:cNvPr id="726040" name="Text Box 24"/>
          <p:cNvSpPr txBox="1">
            <a:spLocks noChangeArrowheads="1"/>
          </p:cNvSpPr>
          <p:nvPr/>
        </p:nvSpPr>
        <p:spPr bwMode="auto">
          <a:xfrm>
            <a:off x="2079625" y="3290888"/>
            <a:ext cx="4540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∴ </a:t>
            </a:r>
            <a:r>
              <a:rPr lang="en-US" altLang="zh-CN" sz="2800" i="1">
                <a:latin typeface="Times New Roman" pitchFamily="18" charset="0"/>
              </a:rPr>
              <a:t>A</a:t>
            </a:r>
            <a:r>
              <a:rPr lang="en-US" altLang="zh-CN" sz="2800">
                <a:latin typeface="Times New Roman" pitchFamily="18" charset="0"/>
              </a:rPr>
              <a:t> + </a:t>
            </a:r>
            <a:r>
              <a:rPr lang="en-US" altLang="zh-CN" sz="2800" i="1">
                <a:latin typeface="Times New Roman" pitchFamily="18" charset="0"/>
              </a:rPr>
              <a:t>B</a:t>
            </a:r>
            <a:r>
              <a:rPr lang="en-US" altLang="zh-CN" sz="2800">
                <a:latin typeface="Times New Roman" pitchFamily="18" charset="0"/>
              </a:rPr>
              <a:t> </a:t>
            </a:r>
            <a:r>
              <a:rPr lang="en-US" altLang="zh-CN">
                <a:latin typeface="Times New Roman" pitchFamily="18" charset="0"/>
              </a:rPr>
              <a:t> </a:t>
            </a:r>
            <a:r>
              <a:rPr lang="en-US" altLang="zh-CN" sz="2800">
                <a:latin typeface="Times New Roman" pitchFamily="18" charset="0"/>
              </a:rPr>
              <a:t>=    0 . 0 1 1 0</a:t>
            </a:r>
          </a:p>
        </p:txBody>
      </p:sp>
      <p:sp>
        <p:nvSpPr>
          <p:cNvPr id="726041" name="Text Box 25"/>
          <p:cNvSpPr txBox="1">
            <a:spLocks noChangeArrowheads="1"/>
          </p:cNvSpPr>
          <p:nvPr/>
        </p:nvSpPr>
        <p:spPr bwMode="auto">
          <a:xfrm>
            <a:off x="2522538" y="4808538"/>
            <a:ext cx="9001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[</a:t>
            </a:r>
            <a:r>
              <a:rPr lang="en-US" altLang="zh-CN" sz="2800" i="1">
                <a:latin typeface="Times New Roman" pitchFamily="18" charset="0"/>
              </a:rPr>
              <a:t>A</a:t>
            </a:r>
            <a:r>
              <a:rPr lang="en-US" altLang="zh-CN" sz="2800">
                <a:latin typeface="Times New Roman" pitchFamily="18" charset="0"/>
              </a:rPr>
              <a:t>]</a:t>
            </a:r>
            <a:r>
              <a:rPr lang="zh-CN" altLang="en-US" sz="2800" baseline="-25000">
                <a:latin typeface="Times New Roman" pitchFamily="18" charset="0"/>
              </a:rPr>
              <a:t>补</a:t>
            </a:r>
          </a:p>
        </p:txBody>
      </p:sp>
      <p:sp>
        <p:nvSpPr>
          <p:cNvPr id="726042" name="Text Box 26"/>
          <p:cNvSpPr txBox="1">
            <a:spLocks noChangeArrowheads="1"/>
          </p:cNvSpPr>
          <p:nvPr/>
        </p:nvSpPr>
        <p:spPr bwMode="auto">
          <a:xfrm>
            <a:off x="2522538" y="5313363"/>
            <a:ext cx="901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[</a:t>
            </a:r>
            <a:r>
              <a:rPr lang="en-US" altLang="zh-CN" sz="2800" i="1">
                <a:latin typeface="Times New Roman" pitchFamily="18" charset="0"/>
              </a:rPr>
              <a:t>B</a:t>
            </a:r>
            <a:r>
              <a:rPr lang="en-US" altLang="zh-CN" sz="2800">
                <a:latin typeface="Times New Roman" pitchFamily="18" charset="0"/>
              </a:rPr>
              <a:t>]</a:t>
            </a:r>
            <a:r>
              <a:rPr lang="zh-CN" altLang="en-US" sz="2800" baseline="-25000">
                <a:latin typeface="Times New Roman" pitchFamily="18" charset="0"/>
              </a:rPr>
              <a:t>补</a:t>
            </a:r>
          </a:p>
        </p:txBody>
      </p:sp>
      <p:sp>
        <p:nvSpPr>
          <p:cNvPr id="726043" name="Text Box 27"/>
          <p:cNvSpPr txBox="1">
            <a:spLocks noChangeArrowheads="1"/>
          </p:cNvSpPr>
          <p:nvPr/>
        </p:nvSpPr>
        <p:spPr bwMode="auto">
          <a:xfrm>
            <a:off x="1408113" y="5819775"/>
            <a:ext cx="1997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[</a:t>
            </a:r>
            <a:r>
              <a:rPr lang="en-US" altLang="zh-CN" sz="2800" i="1">
                <a:latin typeface="Times New Roman" pitchFamily="18" charset="0"/>
              </a:rPr>
              <a:t>A</a:t>
            </a:r>
            <a:r>
              <a:rPr lang="en-US" altLang="zh-CN" sz="2800">
                <a:latin typeface="Times New Roman" pitchFamily="18" charset="0"/>
              </a:rPr>
              <a:t>]</a:t>
            </a:r>
            <a:r>
              <a:rPr lang="zh-CN" altLang="en-US" sz="2800" baseline="-25000">
                <a:latin typeface="Times New Roman" pitchFamily="18" charset="0"/>
              </a:rPr>
              <a:t>补</a:t>
            </a:r>
            <a:r>
              <a:rPr lang="zh-CN" altLang="en-US" sz="2800">
                <a:latin typeface="Times New Roman" pitchFamily="18" charset="0"/>
              </a:rPr>
              <a:t> + [</a:t>
            </a:r>
            <a:r>
              <a:rPr lang="en-US" altLang="zh-CN" sz="2800" i="1">
                <a:latin typeface="Times New Roman" pitchFamily="18" charset="0"/>
              </a:rPr>
              <a:t>B</a:t>
            </a:r>
            <a:r>
              <a:rPr lang="en-US" altLang="zh-CN" sz="2800">
                <a:latin typeface="Times New Roman" pitchFamily="18" charset="0"/>
              </a:rPr>
              <a:t>]</a:t>
            </a:r>
            <a:r>
              <a:rPr lang="zh-CN" altLang="en-US" sz="2800" baseline="-25000">
                <a:latin typeface="Times New Roman" pitchFamily="18" charset="0"/>
              </a:rPr>
              <a:t>补</a:t>
            </a:r>
          </a:p>
        </p:txBody>
      </p:sp>
      <p:sp>
        <p:nvSpPr>
          <p:cNvPr id="726044" name="Line 28"/>
          <p:cNvSpPr>
            <a:spLocks noChangeShapeType="1"/>
          </p:cNvSpPr>
          <p:nvPr/>
        </p:nvSpPr>
        <p:spPr bwMode="auto">
          <a:xfrm>
            <a:off x="1447800" y="5867400"/>
            <a:ext cx="4648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26045" name="Text Box 29"/>
          <p:cNvSpPr txBox="1">
            <a:spLocks noChangeArrowheads="1"/>
          </p:cNvSpPr>
          <p:nvPr/>
        </p:nvSpPr>
        <p:spPr bwMode="auto">
          <a:xfrm>
            <a:off x="2279650" y="5334000"/>
            <a:ext cx="387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+</a:t>
            </a:r>
          </a:p>
        </p:txBody>
      </p:sp>
      <p:sp>
        <p:nvSpPr>
          <p:cNvPr id="726046" name="Text Box 30"/>
          <p:cNvSpPr txBox="1">
            <a:spLocks noChangeArrowheads="1"/>
          </p:cNvSpPr>
          <p:nvPr/>
        </p:nvSpPr>
        <p:spPr bwMode="auto">
          <a:xfrm>
            <a:off x="3505200" y="4808538"/>
            <a:ext cx="3352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=    1 </a:t>
            </a:r>
            <a:r>
              <a:rPr lang="zh-CN" altLang="en-US" sz="2800" dirty="0" smtClean="0">
                <a:latin typeface="Times New Roman" pitchFamily="18" charset="0"/>
              </a:rPr>
              <a:t>,  </a:t>
            </a:r>
            <a:r>
              <a:rPr lang="zh-CN" altLang="en-US" sz="2800" dirty="0">
                <a:latin typeface="Times New Roman" pitchFamily="18" charset="0"/>
              </a:rPr>
              <a:t>0 1 1 1</a:t>
            </a:r>
          </a:p>
        </p:txBody>
      </p:sp>
      <p:sp>
        <p:nvSpPr>
          <p:cNvPr id="726047" name="Text Box 31"/>
          <p:cNvSpPr txBox="1">
            <a:spLocks noChangeArrowheads="1"/>
          </p:cNvSpPr>
          <p:nvPr/>
        </p:nvSpPr>
        <p:spPr bwMode="auto">
          <a:xfrm>
            <a:off x="3505200" y="5313363"/>
            <a:ext cx="320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=    </a:t>
            </a:r>
            <a:r>
              <a:rPr lang="zh-CN" altLang="en-US" sz="2800">
                <a:latin typeface="Times New Roman" pitchFamily="18" charset="0"/>
              </a:rPr>
              <a:t>1 </a:t>
            </a:r>
            <a:r>
              <a:rPr lang="zh-CN" altLang="en-US" sz="2800" smtClean="0">
                <a:latin typeface="Times New Roman" pitchFamily="18" charset="0"/>
              </a:rPr>
              <a:t>,  </a:t>
            </a:r>
            <a:r>
              <a:rPr lang="zh-CN" altLang="en-US" sz="2800" dirty="0">
                <a:latin typeface="Times New Roman" pitchFamily="18" charset="0"/>
              </a:rPr>
              <a:t>1 0 1 1</a:t>
            </a:r>
          </a:p>
        </p:txBody>
      </p:sp>
      <p:sp>
        <p:nvSpPr>
          <p:cNvPr id="726048" name="Text Box 32"/>
          <p:cNvSpPr txBox="1">
            <a:spLocks noChangeArrowheads="1"/>
          </p:cNvSpPr>
          <p:nvPr/>
        </p:nvSpPr>
        <p:spPr bwMode="auto">
          <a:xfrm>
            <a:off x="3505200" y="5819775"/>
            <a:ext cx="2254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= 1 </a:t>
            </a:r>
            <a:r>
              <a:rPr lang="zh-CN" altLang="en-US" sz="2800">
                <a:latin typeface="Times New Roman" pitchFamily="18" charset="0"/>
              </a:rPr>
              <a:t>1 </a:t>
            </a:r>
            <a:r>
              <a:rPr lang="zh-CN" altLang="en-US" sz="2800" smtClean="0">
                <a:latin typeface="Times New Roman" pitchFamily="18" charset="0"/>
              </a:rPr>
              <a:t>,  </a:t>
            </a:r>
            <a:r>
              <a:rPr lang="zh-CN" altLang="en-US" sz="2800" dirty="0">
                <a:latin typeface="Times New Roman" pitchFamily="18" charset="0"/>
              </a:rPr>
              <a:t>0 0 1 0</a:t>
            </a:r>
          </a:p>
        </p:txBody>
      </p:sp>
      <p:sp>
        <p:nvSpPr>
          <p:cNvPr id="726049" name="Text Box 33"/>
          <p:cNvSpPr txBox="1">
            <a:spLocks noChangeArrowheads="1"/>
          </p:cNvSpPr>
          <p:nvPr/>
        </p:nvSpPr>
        <p:spPr bwMode="auto">
          <a:xfrm>
            <a:off x="5635625" y="5819775"/>
            <a:ext cx="180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= [</a:t>
            </a:r>
            <a:r>
              <a:rPr lang="en-US" altLang="zh-CN" sz="2800" i="1">
                <a:latin typeface="Times New Roman" pitchFamily="18" charset="0"/>
              </a:rPr>
              <a:t>A</a:t>
            </a:r>
            <a:r>
              <a:rPr lang="en-US" altLang="zh-CN" sz="2800">
                <a:latin typeface="Times New Roman" pitchFamily="18" charset="0"/>
              </a:rPr>
              <a:t> + </a:t>
            </a:r>
            <a:r>
              <a:rPr lang="en-US" altLang="zh-CN" sz="2800" i="1">
                <a:latin typeface="Times New Roman" pitchFamily="18" charset="0"/>
              </a:rPr>
              <a:t>B</a:t>
            </a:r>
            <a:r>
              <a:rPr lang="en-US" altLang="zh-CN" sz="2800">
                <a:latin typeface="Times New Roman" pitchFamily="18" charset="0"/>
              </a:rPr>
              <a:t>]</a:t>
            </a:r>
            <a:r>
              <a:rPr lang="zh-CN" altLang="en-US" sz="2800" baseline="-25000">
                <a:latin typeface="Times New Roman" pitchFamily="18" charset="0"/>
              </a:rPr>
              <a:t>补</a:t>
            </a:r>
          </a:p>
        </p:txBody>
      </p:sp>
      <p:grpSp>
        <p:nvGrpSpPr>
          <p:cNvPr id="726057" name="Group 41"/>
          <p:cNvGrpSpPr>
            <a:grpSpLocks/>
          </p:cNvGrpSpPr>
          <p:nvPr/>
        </p:nvGrpSpPr>
        <p:grpSpPr bwMode="auto">
          <a:xfrm>
            <a:off x="669925" y="3797300"/>
            <a:ext cx="4914900" cy="1023938"/>
            <a:chOff x="422" y="2392"/>
            <a:chExt cx="3096" cy="645"/>
          </a:xfrm>
        </p:grpSpPr>
        <p:sp>
          <p:nvSpPr>
            <p:cNvPr id="726058" name="Text Box 42"/>
            <p:cNvSpPr txBox="1">
              <a:spLocks noChangeArrowheads="1"/>
            </p:cNvSpPr>
            <p:nvPr/>
          </p:nvSpPr>
          <p:spPr bwMode="auto">
            <a:xfrm>
              <a:off x="422" y="2392"/>
              <a:ext cx="73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>
                  <a:solidFill>
                    <a:srgbClr val="002060"/>
                  </a:solidFill>
                  <a:latin typeface="Times New Roman" pitchFamily="18" charset="0"/>
                </a:rPr>
                <a:t>例 6. 9</a:t>
              </a:r>
            </a:p>
          </p:txBody>
        </p:sp>
        <p:sp>
          <p:nvSpPr>
            <p:cNvPr id="726059" name="Text Box 43"/>
            <p:cNvSpPr txBox="1">
              <a:spLocks noChangeArrowheads="1"/>
            </p:cNvSpPr>
            <p:nvPr/>
          </p:nvSpPr>
          <p:spPr bwMode="auto">
            <a:xfrm>
              <a:off x="1392" y="2392"/>
              <a:ext cx="21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 dirty="0">
                  <a:solidFill>
                    <a:srgbClr val="002060"/>
                  </a:solidFill>
                  <a:latin typeface="Times New Roman" pitchFamily="18" charset="0"/>
                </a:rPr>
                <a:t>设 </a:t>
              </a:r>
              <a:r>
                <a:rPr lang="en-US" altLang="zh-CN" sz="2800" i="1" dirty="0">
                  <a:solidFill>
                    <a:srgbClr val="002060"/>
                  </a:solidFill>
                  <a:latin typeface="Times New Roman" pitchFamily="18" charset="0"/>
                </a:rPr>
                <a:t>A</a:t>
              </a:r>
              <a:r>
                <a:rPr lang="en-US" altLang="zh-CN" sz="2800" dirty="0">
                  <a:solidFill>
                    <a:srgbClr val="002060"/>
                  </a:solidFill>
                  <a:latin typeface="Times New Roman" pitchFamily="18" charset="0"/>
                </a:rPr>
                <a:t> = </a:t>
              </a:r>
              <a:r>
                <a:rPr lang="en-US" altLang="zh-CN" sz="2800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–</a:t>
              </a:r>
              <a:r>
                <a:rPr lang="en-US" altLang="zh-CN" sz="2800" dirty="0" smtClean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9</a:t>
              </a:r>
              <a:r>
                <a:rPr lang="en-US" altLang="zh-CN" sz="2800" dirty="0" smtClean="0">
                  <a:solidFill>
                    <a:srgbClr val="002060"/>
                  </a:solidFill>
                  <a:latin typeface="Times New Roman" pitchFamily="18" charset="0"/>
                </a:rPr>
                <a:t>，</a:t>
              </a:r>
              <a:r>
                <a:rPr lang="en-US" altLang="zh-CN" sz="2800" i="1" dirty="0" smtClean="0">
                  <a:solidFill>
                    <a:srgbClr val="002060"/>
                  </a:solidFill>
                  <a:latin typeface="Times New Roman" pitchFamily="18" charset="0"/>
                </a:rPr>
                <a:t>B</a:t>
              </a:r>
              <a:r>
                <a:rPr lang="en-US" altLang="zh-CN" sz="2800" dirty="0" smtClean="0">
                  <a:solidFill>
                    <a:srgbClr val="002060"/>
                  </a:solidFill>
                  <a:latin typeface="Times New Roman" pitchFamily="18" charset="0"/>
                </a:rPr>
                <a:t> </a:t>
              </a:r>
              <a:r>
                <a:rPr lang="en-US" altLang="zh-CN" sz="2800" dirty="0">
                  <a:solidFill>
                    <a:srgbClr val="002060"/>
                  </a:solidFill>
                  <a:latin typeface="Times New Roman" pitchFamily="18" charset="0"/>
                </a:rPr>
                <a:t>= </a:t>
              </a:r>
              <a:r>
                <a:rPr lang="en-US" altLang="zh-CN" sz="2800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–5     </a:t>
              </a:r>
            </a:p>
          </p:txBody>
        </p:sp>
        <p:sp>
          <p:nvSpPr>
            <p:cNvPr id="726060" name="Text Box 44"/>
            <p:cNvSpPr txBox="1">
              <a:spLocks noChangeArrowheads="1"/>
            </p:cNvSpPr>
            <p:nvPr/>
          </p:nvSpPr>
          <p:spPr bwMode="auto">
            <a:xfrm>
              <a:off x="1392" y="2710"/>
              <a:ext cx="11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>
                  <a:solidFill>
                    <a:srgbClr val="002060"/>
                  </a:solidFill>
                  <a:latin typeface="Times New Roman" pitchFamily="18" charset="0"/>
                </a:rPr>
                <a:t>求 [</a:t>
              </a:r>
              <a:r>
                <a:rPr lang="en-US" altLang="zh-CN" sz="2800" i="1">
                  <a:solidFill>
                    <a:srgbClr val="002060"/>
                  </a:solidFill>
                  <a:latin typeface="Times New Roman" pitchFamily="18" charset="0"/>
                </a:rPr>
                <a:t>A</a:t>
              </a:r>
              <a:r>
                <a:rPr lang="en-US" altLang="zh-CN" sz="2800">
                  <a:solidFill>
                    <a:srgbClr val="002060"/>
                  </a:solidFill>
                  <a:latin typeface="Times New Roman" pitchFamily="18" charset="0"/>
                </a:rPr>
                <a:t>+</a:t>
              </a:r>
              <a:r>
                <a:rPr lang="en-US" altLang="zh-CN" sz="2800" i="1">
                  <a:solidFill>
                    <a:srgbClr val="002060"/>
                  </a:solidFill>
                  <a:latin typeface="Times New Roman" pitchFamily="18" charset="0"/>
                </a:rPr>
                <a:t>B</a:t>
              </a:r>
              <a:r>
                <a:rPr lang="en-US" altLang="zh-CN" sz="2800">
                  <a:solidFill>
                    <a:srgbClr val="002060"/>
                  </a:solidFill>
                  <a:latin typeface="Times New Roman" pitchFamily="18" charset="0"/>
                </a:rPr>
                <a:t>]</a:t>
              </a:r>
              <a:r>
                <a:rPr lang="zh-CN" altLang="en-US" sz="2800" baseline="-25000">
                  <a:solidFill>
                    <a:srgbClr val="002060"/>
                  </a:solidFill>
                  <a:latin typeface="Times New Roman" pitchFamily="18" charset="0"/>
                </a:rPr>
                <a:t>补</a:t>
              </a:r>
            </a:p>
          </p:txBody>
        </p:sp>
      </p:grpSp>
      <p:sp>
        <p:nvSpPr>
          <p:cNvPr id="726061" name="Text Box 45"/>
          <p:cNvSpPr txBox="1">
            <a:spLocks noChangeArrowheads="1"/>
          </p:cNvSpPr>
          <p:nvPr/>
        </p:nvSpPr>
        <p:spPr bwMode="auto">
          <a:xfrm>
            <a:off x="1463675" y="4808538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解：</a:t>
            </a:r>
          </a:p>
        </p:txBody>
      </p:sp>
      <p:sp>
        <p:nvSpPr>
          <p:cNvPr id="726062" name="Text Box 46"/>
          <p:cNvSpPr txBox="1">
            <a:spLocks noChangeArrowheads="1"/>
          </p:cNvSpPr>
          <p:nvPr/>
        </p:nvSpPr>
        <p:spPr bwMode="auto">
          <a:xfrm>
            <a:off x="2071688" y="6324600"/>
            <a:ext cx="2867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∴ </a:t>
            </a:r>
            <a:r>
              <a:rPr lang="en-US" altLang="zh-CN" sz="2800" i="1">
                <a:latin typeface="Times New Roman" pitchFamily="18" charset="0"/>
              </a:rPr>
              <a:t>A</a:t>
            </a:r>
            <a:r>
              <a:rPr lang="en-US" altLang="zh-CN" sz="2800">
                <a:latin typeface="Times New Roman" pitchFamily="18" charset="0"/>
              </a:rPr>
              <a:t> + </a:t>
            </a:r>
            <a:r>
              <a:rPr lang="en-US" altLang="zh-CN" sz="2800" i="1">
                <a:latin typeface="Times New Roman" pitchFamily="18" charset="0"/>
              </a:rPr>
              <a:t>B</a:t>
            </a:r>
            <a:r>
              <a:rPr lang="en-US" altLang="zh-CN" sz="2800">
                <a:latin typeface="Times New Roman" pitchFamily="18" charset="0"/>
              </a:rPr>
              <a:t> </a:t>
            </a:r>
            <a:r>
              <a:rPr lang="en-US" altLang="zh-CN">
                <a:latin typeface="Times New Roman" pitchFamily="18" charset="0"/>
              </a:rPr>
              <a:t> </a:t>
            </a:r>
            <a:r>
              <a:rPr lang="en-US" altLang="zh-CN" sz="2800">
                <a:latin typeface="Times New Roman" pitchFamily="18" charset="0"/>
              </a:rPr>
              <a:t>= </a:t>
            </a:r>
            <a:r>
              <a:rPr lang="en-US" altLang="zh-CN" sz="2800">
                <a:latin typeface="Times New Roman" pitchFamily="18" charset="0"/>
                <a:cs typeface="Times New Roman" pitchFamily="18" charset="0"/>
              </a:rPr>
              <a:t>– 1110</a:t>
            </a:r>
            <a:endParaRPr lang="en-US" altLang="zh-CN" sz="2800">
              <a:latin typeface="Times New Roman" pitchFamily="18" charset="0"/>
            </a:endParaRPr>
          </a:p>
        </p:txBody>
      </p:sp>
      <p:sp>
        <p:nvSpPr>
          <p:cNvPr id="726063" name="AutoShape 47"/>
          <p:cNvSpPr>
            <a:spLocks noChangeArrowheads="1"/>
          </p:cNvSpPr>
          <p:nvPr/>
        </p:nvSpPr>
        <p:spPr bwMode="auto">
          <a:xfrm>
            <a:off x="3843338" y="5867400"/>
            <a:ext cx="304800" cy="457200"/>
          </a:xfrm>
          <a:prstGeom prst="wedgeRoundRectCallout">
            <a:avLst>
              <a:gd name="adj1" fmla="val -162500"/>
              <a:gd name="adj2" fmla="val 79167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spcBef>
                <a:spcPct val="0"/>
              </a:spcBef>
            </a:pPr>
            <a:endParaRPr lang="zh-CN" altLang="en-US" sz="28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880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2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2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2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72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2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2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72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2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2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726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726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72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72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72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72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72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5" dur="500"/>
                                        <p:tgtEl>
                                          <p:spTgt spid="72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72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72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0" dur="500"/>
                                        <p:tgtEl>
                                          <p:spTgt spid="726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72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726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6019" grpId="0" autoUpdateAnimBg="0"/>
      <p:bldP spid="726020" grpId="0" autoUpdateAnimBg="0"/>
      <p:bldP spid="726021" grpId="0" autoUpdateAnimBg="0"/>
      <p:bldP spid="726022" grpId="0" autoUpdateAnimBg="0"/>
      <p:bldP spid="726023" grpId="0" animBg="1"/>
      <p:bldP spid="726024" grpId="0" autoUpdateAnimBg="0"/>
      <p:bldP spid="726025" grpId="0" autoUpdateAnimBg="0"/>
      <p:bldP spid="726026" grpId="0" autoUpdateAnimBg="0"/>
      <p:bldP spid="726027" grpId="0" autoUpdateAnimBg="0"/>
      <p:bldP spid="726028" grpId="0" autoUpdateAnimBg="0"/>
      <p:bldP spid="726039" grpId="0" animBg="1" autoUpdateAnimBg="0"/>
      <p:bldP spid="726040" grpId="0" autoUpdateAnimBg="0"/>
      <p:bldP spid="726041" grpId="0" autoUpdateAnimBg="0"/>
      <p:bldP spid="726042" grpId="0" autoUpdateAnimBg="0"/>
      <p:bldP spid="726043" grpId="0" autoUpdateAnimBg="0"/>
      <p:bldP spid="726044" grpId="0" animBg="1"/>
      <p:bldP spid="726045" grpId="0" autoUpdateAnimBg="0"/>
      <p:bldP spid="726046" grpId="0" autoUpdateAnimBg="0"/>
      <p:bldP spid="726047" grpId="0" autoUpdateAnimBg="0"/>
      <p:bldP spid="726048" grpId="0" autoUpdateAnimBg="0"/>
      <p:bldP spid="726049" grpId="0" autoUpdateAnimBg="0"/>
      <p:bldP spid="726061" grpId="0" autoUpdateAnimBg="0"/>
      <p:bldP spid="726062" grpId="0" autoUpdateAnimBg="0"/>
      <p:bldP spid="726063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2" name="Text Box 2"/>
          <p:cNvSpPr txBox="1">
            <a:spLocks noChangeArrowheads="1"/>
          </p:cNvSpPr>
          <p:nvPr/>
        </p:nvSpPr>
        <p:spPr bwMode="auto">
          <a:xfrm>
            <a:off x="703441" y="516265"/>
            <a:ext cx="12618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例 6.</a:t>
            </a:r>
            <a:r>
              <a:rPr lang="en-US" altLang="zh-CN" sz="2800">
                <a:latin typeface="Times New Roman" pitchFamily="18" charset="0"/>
              </a:rPr>
              <a:t>1</a:t>
            </a:r>
            <a:r>
              <a:rPr lang="zh-CN" altLang="en-US" sz="2800">
                <a:latin typeface="Times New Roman" pitchFamily="18" charset="0"/>
              </a:rPr>
              <a:t>0</a:t>
            </a:r>
          </a:p>
        </p:txBody>
      </p:sp>
      <p:sp>
        <p:nvSpPr>
          <p:cNvPr id="727043" name="Text Box 3"/>
          <p:cNvSpPr txBox="1">
            <a:spLocks noChangeArrowheads="1"/>
          </p:cNvSpPr>
          <p:nvPr/>
        </p:nvSpPr>
        <p:spPr bwMode="auto">
          <a:xfrm>
            <a:off x="2488980" y="304800"/>
            <a:ext cx="62293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设机器数字长为 8 位（含 1 位符号位）</a:t>
            </a:r>
          </a:p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且  </a:t>
            </a: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en-US" altLang="zh-CN" sz="2800" dirty="0">
                <a:latin typeface="Times New Roman" pitchFamily="18" charset="0"/>
              </a:rPr>
              <a:t> = </a:t>
            </a:r>
            <a:r>
              <a:rPr lang="en-US" altLang="zh-CN" sz="2800" dirty="0" smtClean="0">
                <a:latin typeface="Times New Roman" pitchFamily="18" charset="0"/>
              </a:rPr>
              <a:t>15， </a:t>
            </a:r>
            <a:r>
              <a:rPr lang="en-US" altLang="zh-CN" sz="2800" i="1" dirty="0">
                <a:latin typeface="Times New Roman" pitchFamily="18" charset="0"/>
              </a:rPr>
              <a:t>B</a:t>
            </a:r>
            <a:r>
              <a:rPr lang="en-US" altLang="zh-CN" sz="2800" dirty="0">
                <a:latin typeface="Times New Roman" pitchFamily="18" charset="0"/>
              </a:rPr>
              <a:t> = </a:t>
            </a:r>
            <a:r>
              <a:rPr lang="en-US" altLang="zh-CN" sz="2800" dirty="0" smtClean="0">
                <a:latin typeface="Times New Roman" pitchFamily="18" charset="0"/>
              </a:rPr>
              <a:t>24，</a:t>
            </a:r>
            <a:r>
              <a:rPr lang="zh-CN" altLang="en-US" sz="2800" dirty="0" smtClean="0">
                <a:latin typeface="Times New Roman" pitchFamily="18" charset="0"/>
              </a:rPr>
              <a:t>用</a:t>
            </a:r>
            <a:r>
              <a:rPr lang="zh-CN" altLang="en-US" sz="2800" dirty="0">
                <a:latin typeface="Times New Roman" pitchFamily="18" charset="0"/>
              </a:rPr>
              <a:t>补码求 </a:t>
            </a: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en-US" altLang="zh-CN" sz="2800" dirty="0">
                <a:latin typeface="Times New Roman" pitchFamily="18" charset="0"/>
              </a:rPr>
              <a:t>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altLang="zh-CN" sz="2800" i="1" dirty="0">
                <a:latin typeface="Times New Roman" pitchFamily="18" charset="0"/>
              </a:rPr>
              <a:t>B</a:t>
            </a:r>
          </a:p>
        </p:txBody>
      </p:sp>
      <p:sp>
        <p:nvSpPr>
          <p:cNvPr id="727044" name="Text Box 4"/>
          <p:cNvSpPr txBox="1">
            <a:spLocks noChangeArrowheads="1"/>
          </p:cNvSpPr>
          <p:nvPr/>
        </p:nvSpPr>
        <p:spPr bwMode="auto">
          <a:xfrm>
            <a:off x="1235075" y="1241425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解：</a:t>
            </a:r>
          </a:p>
        </p:txBody>
      </p:sp>
      <p:grpSp>
        <p:nvGrpSpPr>
          <p:cNvPr id="727045" name="Group 5"/>
          <p:cNvGrpSpPr>
            <a:grpSpLocks/>
          </p:cNvGrpSpPr>
          <p:nvPr/>
        </p:nvGrpSpPr>
        <p:grpSpPr bwMode="auto">
          <a:xfrm>
            <a:off x="2270125" y="1241425"/>
            <a:ext cx="2968625" cy="519113"/>
            <a:chOff x="1430" y="782"/>
            <a:chExt cx="1870" cy="327"/>
          </a:xfrm>
        </p:grpSpPr>
        <p:sp>
          <p:nvSpPr>
            <p:cNvPr id="727046" name="Text Box 6"/>
            <p:cNvSpPr txBox="1">
              <a:spLocks noChangeArrowheads="1"/>
            </p:cNvSpPr>
            <p:nvPr/>
          </p:nvSpPr>
          <p:spPr bwMode="auto">
            <a:xfrm>
              <a:off x="1430" y="782"/>
              <a:ext cx="8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800" i="1" dirty="0">
                  <a:latin typeface="Times New Roman" pitchFamily="18" charset="0"/>
                </a:rPr>
                <a:t>A</a:t>
              </a:r>
              <a:r>
                <a:rPr lang="en-US" altLang="zh-CN" sz="2800" dirty="0">
                  <a:latin typeface="Times New Roman" pitchFamily="18" charset="0"/>
                </a:rPr>
                <a:t> = 15   </a:t>
              </a:r>
            </a:p>
          </p:txBody>
        </p:sp>
        <p:sp>
          <p:nvSpPr>
            <p:cNvPr id="727047" name="Text Box 7"/>
            <p:cNvSpPr txBox="1">
              <a:spLocks noChangeArrowheads="1"/>
            </p:cNvSpPr>
            <p:nvPr/>
          </p:nvSpPr>
          <p:spPr bwMode="auto">
            <a:xfrm>
              <a:off x="2160" y="782"/>
              <a:ext cx="11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>
                  <a:latin typeface="Times New Roman" pitchFamily="18" charset="0"/>
                </a:rPr>
                <a:t>=  0001111</a:t>
              </a:r>
            </a:p>
          </p:txBody>
        </p:sp>
      </p:grpSp>
      <p:grpSp>
        <p:nvGrpSpPr>
          <p:cNvPr id="727048" name="Group 8"/>
          <p:cNvGrpSpPr>
            <a:grpSpLocks/>
          </p:cNvGrpSpPr>
          <p:nvPr/>
        </p:nvGrpSpPr>
        <p:grpSpPr bwMode="auto">
          <a:xfrm>
            <a:off x="2286000" y="1751013"/>
            <a:ext cx="2968625" cy="519112"/>
            <a:chOff x="1440" y="1103"/>
            <a:chExt cx="1870" cy="327"/>
          </a:xfrm>
        </p:grpSpPr>
        <p:sp>
          <p:nvSpPr>
            <p:cNvPr id="727049" name="Text Box 9"/>
            <p:cNvSpPr txBox="1">
              <a:spLocks noChangeArrowheads="1"/>
            </p:cNvSpPr>
            <p:nvPr/>
          </p:nvSpPr>
          <p:spPr bwMode="auto">
            <a:xfrm>
              <a:off x="1440" y="1103"/>
              <a:ext cx="7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800" i="1">
                  <a:latin typeface="Times New Roman" pitchFamily="18" charset="0"/>
                </a:rPr>
                <a:t>B</a:t>
              </a:r>
              <a:r>
                <a:rPr lang="en-US" altLang="zh-CN" sz="2800">
                  <a:latin typeface="Times New Roman" pitchFamily="18" charset="0"/>
                </a:rPr>
                <a:t> = 24</a:t>
              </a:r>
            </a:p>
          </p:txBody>
        </p:sp>
        <p:sp>
          <p:nvSpPr>
            <p:cNvPr id="727050" name="Text Box 10"/>
            <p:cNvSpPr txBox="1">
              <a:spLocks noChangeArrowheads="1"/>
            </p:cNvSpPr>
            <p:nvPr/>
          </p:nvSpPr>
          <p:spPr bwMode="auto">
            <a:xfrm>
              <a:off x="2170" y="1103"/>
              <a:ext cx="11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 dirty="0">
                  <a:latin typeface="Times New Roman" pitchFamily="18" charset="0"/>
                </a:rPr>
                <a:t>=  0011000</a:t>
              </a:r>
            </a:p>
          </p:txBody>
        </p:sp>
      </p:grpSp>
      <p:sp>
        <p:nvSpPr>
          <p:cNvPr id="727051" name="Text Box 11"/>
          <p:cNvSpPr txBox="1">
            <a:spLocks noChangeArrowheads="1"/>
          </p:cNvSpPr>
          <p:nvPr/>
        </p:nvSpPr>
        <p:spPr bwMode="auto">
          <a:xfrm>
            <a:off x="1143000" y="3276600"/>
            <a:ext cx="2263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[</a:t>
            </a:r>
            <a:r>
              <a:rPr lang="en-US" altLang="zh-CN" sz="2800" i="1">
                <a:latin typeface="Times New Roman" pitchFamily="18" charset="0"/>
              </a:rPr>
              <a:t>A</a:t>
            </a:r>
            <a:r>
              <a:rPr lang="en-US" altLang="zh-CN" sz="2800">
                <a:latin typeface="Times New Roman" pitchFamily="18" charset="0"/>
              </a:rPr>
              <a:t>]</a:t>
            </a:r>
            <a:r>
              <a:rPr lang="zh-CN" altLang="en-US" sz="2800" baseline="-25000">
                <a:latin typeface="Times New Roman" pitchFamily="18" charset="0"/>
              </a:rPr>
              <a:t>补</a:t>
            </a:r>
            <a:r>
              <a:rPr lang="zh-CN" altLang="en-US" sz="2800">
                <a:latin typeface="Times New Roman" pitchFamily="18" charset="0"/>
              </a:rPr>
              <a:t> + [</a:t>
            </a:r>
            <a:r>
              <a:rPr lang="en-US" altLang="zh-CN" sz="280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zh-CN" altLang="en-US" sz="2800">
                <a:latin typeface="Times New Roman" pitchFamily="18" charset="0"/>
              </a:rPr>
              <a:t> </a:t>
            </a:r>
            <a:r>
              <a:rPr lang="en-US" altLang="zh-CN" sz="2800" i="1">
                <a:latin typeface="Times New Roman" pitchFamily="18" charset="0"/>
              </a:rPr>
              <a:t>B</a:t>
            </a:r>
            <a:r>
              <a:rPr lang="en-US" altLang="zh-CN" sz="2800">
                <a:latin typeface="Times New Roman" pitchFamily="18" charset="0"/>
              </a:rPr>
              <a:t>]</a:t>
            </a:r>
            <a:r>
              <a:rPr lang="zh-CN" altLang="en-US" sz="2800" baseline="-25000">
                <a:latin typeface="Times New Roman" pitchFamily="18" charset="0"/>
              </a:rPr>
              <a:t>补</a:t>
            </a:r>
          </a:p>
        </p:txBody>
      </p:sp>
      <p:sp>
        <p:nvSpPr>
          <p:cNvPr id="727052" name="Text Box 12"/>
          <p:cNvSpPr txBox="1">
            <a:spLocks noChangeArrowheads="1"/>
          </p:cNvSpPr>
          <p:nvPr/>
        </p:nvSpPr>
        <p:spPr bwMode="auto">
          <a:xfrm>
            <a:off x="1965325" y="2833688"/>
            <a:ext cx="387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+</a:t>
            </a:r>
          </a:p>
        </p:txBody>
      </p:sp>
      <p:grpSp>
        <p:nvGrpSpPr>
          <p:cNvPr id="727053" name="Group 13"/>
          <p:cNvGrpSpPr>
            <a:grpSpLocks/>
          </p:cNvGrpSpPr>
          <p:nvPr/>
        </p:nvGrpSpPr>
        <p:grpSpPr bwMode="auto">
          <a:xfrm>
            <a:off x="2522538" y="2259013"/>
            <a:ext cx="3087687" cy="519112"/>
            <a:chOff x="1589" y="1423"/>
            <a:chExt cx="1945" cy="327"/>
          </a:xfrm>
        </p:grpSpPr>
        <p:sp>
          <p:nvSpPr>
            <p:cNvPr id="727054" name="Text Box 14"/>
            <p:cNvSpPr txBox="1">
              <a:spLocks noChangeArrowheads="1"/>
            </p:cNvSpPr>
            <p:nvPr/>
          </p:nvSpPr>
          <p:spPr bwMode="auto">
            <a:xfrm>
              <a:off x="1589" y="1423"/>
              <a:ext cx="56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>
                  <a:latin typeface="Times New Roman" pitchFamily="18" charset="0"/>
                </a:rPr>
                <a:t>[</a:t>
              </a:r>
              <a:r>
                <a:rPr lang="en-US" altLang="zh-CN" sz="2800" i="1">
                  <a:latin typeface="Times New Roman" pitchFamily="18" charset="0"/>
                </a:rPr>
                <a:t>A</a:t>
              </a:r>
              <a:r>
                <a:rPr lang="en-US" altLang="zh-CN" sz="2800">
                  <a:latin typeface="Times New Roman" pitchFamily="18" charset="0"/>
                </a:rPr>
                <a:t>]</a:t>
              </a:r>
              <a:r>
                <a:rPr lang="zh-CN" altLang="en-US" sz="2800" baseline="-25000">
                  <a:latin typeface="Times New Roman" pitchFamily="18" charset="0"/>
                </a:rPr>
                <a:t>补</a:t>
              </a:r>
            </a:p>
          </p:txBody>
        </p:sp>
        <p:sp>
          <p:nvSpPr>
            <p:cNvPr id="727055" name="Text Box 15"/>
            <p:cNvSpPr txBox="1">
              <a:spLocks noChangeArrowheads="1"/>
            </p:cNvSpPr>
            <p:nvPr/>
          </p:nvSpPr>
          <p:spPr bwMode="auto">
            <a:xfrm>
              <a:off x="2170" y="1423"/>
              <a:ext cx="13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 dirty="0">
                  <a:latin typeface="Times New Roman" pitchFamily="18" charset="0"/>
                </a:rPr>
                <a:t>=  </a:t>
              </a:r>
              <a:r>
                <a:rPr lang="zh-CN" altLang="en-US" sz="2800" dirty="0" smtClean="0">
                  <a:latin typeface="Times New Roman" pitchFamily="18" charset="0"/>
                </a:rPr>
                <a:t>0, </a:t>
              </a:r>
              <a:r>
                <a:rPr lang="zh-CN" altLang="en-US" sz="2800" dirty="0">
                  <a:latin typeface="Times New Roman" pitchFamily="18" charset="0"/>
                </a:rPr>
                <a:t>0001111</a:t>
              </a:r>
            </a:p>
          </p:txBody>
        </p:sp>
      </p:grpSp>
      <p:grpSp>
        <p:nvGrpSpPr>
          <p:cNvPr id="727056" name="Group 16"/>
          <p:cNvGrpSpPr>
            <a:grpSpLocks/>
          </p:cNvGrpSpPr>
          <p:nvPr/>
        </p:nvGrpSpPr>
        <p:grpSpPr bwMode="auto">
          <a:xfrm>
            <a:off x="2260600" y="2768600"/>
            <a:ext cx="3349625" cy="519113"/>
            <a:chOff x="1424" y="1744"/>
            <a:chExt cx="2110" cy="327"/>
          </a:xfrm>
        </p:grpSpPr>
        <p:sp>
          <p:nvSpPr>
            <p:cNvPr id="727057" name="Text Box 17"/>
            <p:cNvSpPr txBox="1">
              <a:spLocks noChangeArrowheads="1"/>
            </p:cNvSpPr>
            <p:nvPr/>
          </p:nvSpPr>
          <p:spPr bwMode="auto">
            <a:xfrm>
              <a:off x="1424" y="1744"/>
              <a:ext cx="7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>
                  <a:latin typeface="Times New Roman" pitchFamily="18" charset="0"/>
                </a:rPr>
                <a:t>[</a:t>
              </a:r>
              <a:r>
                <a:rPr lang="en-US" altLang="zh-CN" sz="2800">
                  <a:latin typeface="Times New Roman" pitchFamily="18" charset="0"/>
                  <a:cs typeface="Times New Roman" pitchFamily="18" charset="0"/>
                </a:rPr>
                <a:t>–</a:t>
              </a:r>
              <a:r>
                <a:rPr lang="zh-CN" altLang="en-US" sz="2800">
                  <a:latin typeface="Times New Roman" pitchFamily="18" charset="0"/>
                </a:rPr>
                <a:t> </a:t>
              </a:r>
              <a:r>
                <a:rPr lang="en-US" altLang="zh-CN" sz="2800" i="1">
                  <a:latin typeface="Times New Roman" pitchFamily="18" charset="0"/>
                </a:rPr>
                <a:t>B</a:t>
              </a:r>
              <a:r>
                <a:rPr lang="en-US" altLang="zh-CN" sz="2800">
                  <a:latin typeface="Times New Roman" pitchFamily="18" charset="0"/>
                </a:rPr>
                <a:t>]</a:t>
              </a:r>
              <a:r>
                <a:rPr lang="zh-CN" altLang="en-US" sz="2800" baseline="-25000">
                  <a:latin typeface="Times New Roman" pitchFamily="18" charset="0"/>
                </a:rPr>
                <a:t>补</a:t>
              </a:r>
            </a:p>
          </p:txBody>
        </p:sp>
        <p:sp>
          <p:nvSpPr>
            <p:cNvPr id="727058" name="Text Box 18"/>
            <p:cNvSpPr txBox="1">
              <a:spLocks noChangeArrowheads="1"/>
            </p:cNvSpPr>
            <p:nvPr/>
          </p:nvSpPr>
          <p:spPr bwMode="auto">
            <a:xfrm>
              <a:off x="2170" y="1744"/>
              <a:ext cx="13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 dirty="0">
                  <a:latin typeface="Times New Roman" pitchFamily="18" charset="0"/>
                </a:rPr>
                <a:t>=  </a:t>
              </a:r>
              <a:r>
                <a:rPr lang="zh-CN" altLang="en-US" sz="2800" dirty="0" smtClean="0">
                  <a:latin typeface="Times New Roman" pitchFamily="18" charset="0"/>
                </a:rPr>
                <a:t>1, </a:t>
              </a:r>
              <a:r>
                <a:rPr lang="zh-CN" altLang="en-US" sz="2800" dirty="0">
                  <a:latin typeface="Times New Roman" pitchFamily="18" charset="0"/>
                </a:rPr>
                <a:t>1101000</a:t>
              </a:r>
            </a:p>
          </p:txBody>
        </p:sp>
      </p:grpSp>
      <p:sp>
        <p:nvSpPr>
          <p:cNvPr id="727059" name="Text Box 19"/>
          <p:cNvSpPr txBox="1">
            <a:spLocks noChangeArrowheads="1"/>
          </p:cNvSpPr>
          <p:nvPr/>
        </p:nvSpPr>
        <p:spPr bwMode="auto">
          <a:xfrm>
            <a:off x="3443288" y="3276600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=  </a:t>
            </a:r>
            <a:r>
              <a:rPr lang="zh-CN" altLang="en-US" sz="2800" dirty="0" smtClean="0">
                <a:latin typeface="Times New Roman" pitchFamily="18" charset="0"/>
              </a:rPr>
              <a:t>1, </a:t>
            </a:r>
            <a:r>
              <a:rPr lang="zh-CN" altLang="en-US" sz="2800" dirty="0">
                <a:latin typeface="Times New Roman" pitchFamily="18" charset="0"/>
              </a:rPr>
              <a:t>1110111</a:t>
            </a:r>
          </a:p>
        </p:txBody>
      </p:sp>
      <p:sp>
        <p:nvSpPr>
          <p:cNvPr id="727060" name="Text Box 20"/>
          <p:cNvSpPr txBox="1">
            <a:spLocks noChangeArrowheads="1"/>
          </p:cNvSpPr>
          <p:nvPr/>
        </p:nvSpPr>
        <p:spPr bwMode="auto">
          <a:xfrm>
            <a:off x="5638800" y="3276600"/>
            <a:ext cx="1784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= [</a:t>
            </a:r>
            <a:r>
              <a:rPr lang="en-US" altLang="zh-CN" sz="2800" i="1">
                <a:latin typeface="Times New Roman" pitchFamily="18" charset="0"/>
              </a:rPr>
              <a:t>A</a:t>
            </a:r>
            <a:r>
              <a:rPr lang="en-US" altLang="zh-CN" sz="2800">
                <a:latin typeface="Times New Roman" pitchFamily="18" charset="0"/>
              </a:rPr>
              <a:t> </a:t>
            </a:r>
            <a:r>
              <a:rPr lang="en-US" altLang="zh-CN" sz="280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zh-CN" sz="2800">
                <a:latin typeface="Times New Roman" pitchFamily="18" charset="0"/>
              </a:rPr>
              <a:t> </a:t>
            </a:r>
            <a:r>
              <a:rPr lang="en-US" altLang="zh-CN" sz="2800" i="1">
                <a:latin typeface="Times New Roman" pitchFamily="18" charset="0"/>
              </a:rPr>
              <a:t>B</a:t>
            </a:r>
            <a:r>
              <a:rPr lang="en-US" altLang="zh-CN" sz="2800">
                <a:latin typeface="Times New Roman" pitchFamily="18" charset="0"/>
              </a:rPr>
              <a:t>]</a:t>
            </a:r>
            <a:r>
              <a:rPr lang="zh-CN" altLang="en-US" sz="2800" baseline="-25000">
                <a:latin typeface="Times New Roman" pitchFamily="18" charset="0"/>
              </a:rPr>
              <a:t>补</a:t>
            </a:r>
          </a:p>
        </p:txBody>
      </p:sp>
      <p:sp>
        <p:nvSpPr>
          <p:cNvPr id="727061" name="Text Box 21"/>
          <p:cNvSpPr txBox="1">
            <a:spLocks noChangeArrowheads="1"/>
          </p:cNvSpPr>
          <p:nvPr/>
        </p:nvSpPr>
        <p:spPr bwMode="auto">
          <a:xfrm>
            <a:off x="6156325" y="2259013"/>
            <a:ext cx="288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[</a:t>
            </a:r>
            <a:r>
              <a:rPr lang="en-US" altLang="zh-CN" sz="2800" i="1" dirty="0">
                <a:latin typeface="Times New Roman" pitchFamily="18" charset="0"/>
              </a:rPr>
              <a:t>B</a:t>
            </a:r>
            <a:r>
              <a:rPr lang="en-US" altLang="zh-CN" sz="2800" dirty="0">
                <a:latin typeface="Times New Roman" pitchFamily="18" charset="0"/>
              </a:rPr>
              <a:t>]</a:t>
            </a:r>
            <a:r>
              <a:rPr lang="zh-CN" altLang="en-US" sz="2800" baseline="-25000" dirty="0">
                <a:latin typeface="Times New Roman" pitchFamily="18" charset="0"/>
              </a:rPr>
              <a:t>补</a:t>
            </a:r>
            <a:r>
              <a:rPr lang="zh-CN" altLang="en-US" sz="2800" dirty="0">
                <a:latin typeface="Times New Roman" pitchFamily="18" charset="0"/>
              </a:rPr>
              <a:t> = </a:t>
            </a:r>
            <a:r>
              <a:rPr lang="zh-CN" altLang="en-US" sz="2800" dirty="0" smtClean="0">
                <a:latin typeface="Times New Roman" pitchFamily="18" charset="0"/>
              </a:rPr>
              <a:t>0, </a:t>
            </a:r>
            <a:r>
              <a:rPr lang="zh-CN" altLang="en-US" sz="2800" dirty="0">
                <a:latin typeface="Times New Roman" pitchFamily="18" charset="0"/>
              </a:rPr>
              <a:t>0011000</a:t>
            </a:r>
          </a:p>
        </p:txBody>
      </p:sp>
      <p:sp>
        <p:nvSpPr>
          <p:cNvPr id="727083" name="Text Box 43"/>
          <p:cNvSpPr txBox="1">
            <a:spLocks noChangeArrowheads="1"/>
          </p:cNvSpPr>
          <p:nvPr/>
        </p:nvSpPr>
        <p:spPr bwMode="auto">
          <a:xfrm>
            <a:off x="2057400" y="3786188"/>
            <a:ext cx="441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∴ </a:t>
            </a: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en-US" altLang="zh-CN" sz="2800" dirty="0">
                <a:latin typeface="Times New Roman" pitchFamily="18" charset="0"/>
              </a:rPr>
              <a:t>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altLang="zh-CN" sz="2800" i="1" dirty="0">
                <a:latin typeface="Times New Roman" pitchFamily="18" charset="0"/>
              </a:rPr>
              <a:t>B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= – 1001 = –9</a:t>
            </a:r>
          </a:p>
        </p:txBody>
      </p:sp>
      <p:sp>
        <p:nvSpPr>
          <p:cNvPr id="727084" name="Line 44"/>
          <p:cNvSpPr>
            <a:spLocks noChangeShapeType="1"/>
          </p:cNvSpPr>
          <p:nvPr/>
        </p:nvSpPr>
        <p:spPr bwMode="auto">
          <a:xfrm>
            <a:off x="1066800" y="3276600"/>
            <a:ext cx="6705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496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2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2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2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2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727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2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2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2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27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43" grpId="0" autoUpdateAnimBg="0"/>
      <p:bldP spid="727044" grpId="0" autoUpdateAnimBg="0"/>
      <p:bldP spid="727051" grpId="0" autoUpdateAnimBg="0"/>
      <p:bldP spid="727052" grpId="0" autoUpdateAnimBg="0"/>
      <p:bldP spid="727059" grpId="0" autoUpdateAnimBg="0"/>
      <p:bldP spid="727060" grpId="0" autoUpdateAnimBg="0"/>
      <p:bldP spid="727061" grpId="0" autoUpdateAnimBg="0"/>
      <p:bldP spid="727083" grpId="0" autoUpdateAnimBg="0"/>
      <p:bldP spid="72708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062" name="Group 22"/>
          <p:cNvGrpSpPr>
            <a:grpSpLocks/>
          </p:cNvGrpSpPr>
          <p:nvPr/>
        </p:nvGrpSpPr>
        <p:grpSpPr bwMode="auto">
          <a:xfrm>
            <a:off x="1042194" y="541138"/>
            <a:ext cx="7146926" cy="735012"/>
            <a:chOff x="470" y="2657"/>
            <a:chExt cx="4502" cy="463"/>
          </a:xfrm>
        </p:grpSpPr>
        <p:grpSp>
          <p:nvGrpSpPr>
            <p:cNvPr id="727063" name="Group 23"/>
            <p:cNvGrpSpPr>
              <a:grpSpLocks/>
            </p:cNvGrpSpPr>
            <p:nvPr/>
          </p:nvGrpSpPr>
          <p:grpSpPr bwMode="auto">
            <a:xfrm>
              <a:off x="470" y="2706"/>
              <a:ext cx="4502" cy="330"/>
              <a:chOff x="470" y="2706"/>
              <a:chExt cx="4502" cy="330"/>
            </a:xfrm>
          </p:grpSpPr>
          <p:sp>
            <p:nvSpPr>
              <p:cNvPr id="727064" name="Text Box 24"/>
              <p:cNvSpPr txBox="1">
                <a:spLocks noChangeArrowheads="1"/>
              </p:cNvSpPr>
              <p:nvPr/>
            </p:nvSpPr>
            <p:spPr bwMode="auto">
              <a:xfrm>
                <a:off x="470" y="2706"/>
                <a:ext cx="73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800">
                    <a:latin typeface="Times New Roman" pitchFamily="18" charset="0"/>
                  </a:rPr>
                  <a:t>练习 1</a:t>
                </a:r>
              </a:p>
            </p:txBody>
          </p:sp>
          <p:sp>
            <p:nvSpPr>
              <p:cNvPr id="727065" name="Text Box 25"/>
              <p:cNvSpPr txBox="1">
                <a:spLocks noChangeArrowheads="1"/>
              </p:cNvSpPr>
              <p:nvPr/>
            </p:nvSpPr>
            <p:spPr bwMode="auto">
              <a:xfrm>
                <a:off x="1303" y="2706"/>
                <a:ext cx="3669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800" dirty="0">
                    <a:latin typeface="Times New Roman" pitchFamily="18" charset="0"/>
                  </a:rPr>
                  <a:t>设 </a:t>
                </a:r>
                <a:r>
                  <a:rPr lang="en-US" altLang="zh-CN" sz="2800" i="1" dirty="0">
                    <a:latin typeface="Times New Roman" pitchFamily="18" charset="0"/>
                  </a:rPr>
                  <a:t>x</a:t>
                </a:r>
                <a:r>
                  <a:rPr lang="en-US" altLang="zh-CN" sz="2800" dirty="0">
                    <a:latin typeface="Times New Roman" pitchFamily="18" charset="0"/>
                  </a:rPr>
                  <a:t> =        </a:t>
                </a:r>
                <a:r>
                  <a:rPr lang="zh-CN" altLang="en-US" sz="2800" dirty="0" smtClean="0">
                    <a:latin typeface="Times New Roman" pitchFamily="18" charset="0"/>
                  </a:rPr>
                  <a:t>，</a:t>
                </a:r>
                <a:r>
                  <a:rPr lang="en-US" altLang="zh-CN" sz="2800" dirty="0" smtClean="0">
                    <a:latin typeface="Times New Roman" pitchFamily="18" charset="0"/>
                  </a:rPr>
                  <a:t> </a:t>
                </a:r>
                <a:r>
                  <a:rPr lang="en-US" altLang="zh-CN" sz="2800" i="1" dirty="0">
                    <a:latin typeface="Times New Roman" pitchFamily="18" charset="0"/>
                  </a:rPr>
                  <a:t>y</a:t>
                </a:r>
                <a:r>
                  <a:rPr lang="en-US" altLang="zh-CN" sz="2800" dirty="0">
                    <a:latin typeface="Times New Roman" pitchFamily="18" charset="0"/>
                  </a:rPr>
                  <a:t> =        </a:t>
                </a:r>
                <a:r>
                  <a:rPr lang="zh-CN" altLang="en-US" sz="2800" dirty="0" smtClean="0">
                    <a:latin typeface="Times New Roman" pitchFamily="18" charset="0"/>
                  </a:rPr>
                  <a:t>，用</a:t>
                </a:r>
                <a:r>
                  <a:rPr lang="zh-CN" altLang="en-US" sz="2800" dirty="0">
                    <a:latin typeface="Times New Roman" pitchFamily="18" charset="0"/>
                  </a:rPr>
                  <a:t>补码求 </a:t>
                </a:r>
                <a:r>
                  <a:rPr lang="en-US" altLang="zh-CN" sz="2800" i="1" dirty="0" err="1">
                    <a:latin typeface="Times New Roman" pitchFamily="18" charset="0"/>
                  </a:rPr>
                  <a:t>x</a:t>
                </a:r>
                <a:r>
                  <a:rPr lang="en-US" altLang="zh-CN" sz="2800" dirty="0" err="1">
                    <a:latin typeface="Times New Roman" pitchFamily="18" charset="0"/>
                  </a:rPr>
                  <a:t>+</a:t>
                </a:r>
                <a:r>
                  <a:rPr lang="en-US" altLang="zh-CN" sz="2800" i="1" dirty="0" err="1">
                    <a:latin typeface="Times New Roman" pitchFamily="18" charset="0"/>
                  </a:rPr>
                  <a:t>y</a:t>
                </a:r>
                <a:endParaRPr lang="en-US" altLang="zh-CN" sz="2800" i="1" dirty="0">
                  <a:latin typeface="Times New Roman" pitchFamily="18" charset="0"/>
                </a:endParaRPr>
              </a:p>
            </p:txBody>
          </p:sp>
        </p:grpSp>
        <p:grpSp>
          <p:nvGrpSpPr>
            <p:cNvPr id="727066" name="Group 26"/>
            <p:cNvGrpSpPr>
              <a:grpSpLocks/>
            </p:cNvGrpSpPr>
            <p:nvPr/>
          </p:nvGrpSpPr>
          <p:grpSpPr bwMode="auto">
            <a:xfrm>
              <a:off x="2016" y="2657"/>
              <a:ext cx="299" cy="457"/>
              <a:chOff x="1680" y="2937"/>
              <a:chExt cx="299" cy="457"/>
            </a:xfrm>
          </p:grpSpPr>
          <p:sp>
            <p:nvSpPr>
              <p:cNvPr id="727067" name="Text Box 27"/>
              <p:cNvSpPr txBox="1">
                <a:spLocks noChangeArrowheads="1"/>
              </p:cNvSpPr>
              <p:nvPr/>
            </p:nvSpPr>
            <p:spPr bwMode="auto">
              <a:xfrm>
                <a:off x="1772" y="2937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>
                    <a:latin typeface="Times New Roman" pitchFamily="18" charset="0"/>
                  </a:rPr>
                  <a:t>9</a:t>
                </a:r>
              </a:p>
            </p:txBody>
          </p:sp>
          <p:sp>
            <p:nvSpPr>
              <p:cNvPr id="727068" name="Text Box 28"/>
              <p:cNvSpPr txBox="1">
                <a:spLocks noChangeArrowheads="1"/>
              </p:cNvSpPr>
              <p:nvPr/>
            </p:nvSpPr>
            <p:spPr bwMode="auto">
              <a:xfrm>
                <a:off x="1692" y="3144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 dirty="0">
                    <a:latin typeface="Times New Roman" pitchFamily="18" charset="0"/>
                  </a:rPr>
                  <a:t>16</a:t>
                </a:r>
              </a:p>
            </p:txBody>
          </p:sp>
          <p:sp>
            <p:nvSpPr>
              <p:cNvPr id="727069" name="Line 29"/>
              <p:cNvSpPr>
                <a:spLocks noChangeShapeType="1"/>
              </p:cNvSpPr>
              <p:nvPr/>
            </p:nvSpPr>
            <p:spPr bwMode="auto">
              <a:xfrm>
                <a:off x="1680" y="3168"/>
                <a:ext cx="29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727070" name="Group 30"/>
            <p:cNvGrpSpPr>
              <a:grpSpLocks/>
            </p:cNvGrpSpPr>
            <p:nvPr/>
          </p:nvGrpSpPr>
          <p:grpSpPr bwMode="auto">
            <a:xfrm>
              <a:off x="2821" y="2663"/>
              <a:ext cx="299" cy="457"/>
              <a:chOff x="2485" y="2943"/>
              <a:chExt cx="299" cy="457"/>
            </a:xfrm>
          </p:grpSpPr>
          <p:sp>
            <p:nvSpPr>
              <p:cNvPr id="727071" name="Text Box 31"/>
              <p:cNvSpPr txBox="1">
                <a:spLocks noChangeArrowheads="1"/>
              </p:cNvSpPr>
              <p:nvPr/>
            </p:nvSpPr>
            <p:spPr bwMode="auto">
              <a:xfrm>
                <a:off x="2508" y="2943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 dirty="0">
                    <a:latin typeface="Times New Roman" pitchFamily="18" charset="0"/>
                  </a:rPr>
                  <a:t>11</a:t>
                </a:r>
              </a:p>
            </p:txBody>
          </p:sp>
          <p:sp>
            <p:nvSpPr>
              <p:cNvPr id="727072" name="Text Box 32"/>
              <p:cNvSpPr txBox="1">
                <a:spLocks noChangeArrowheads="1"/>
              </p:cNvSpPr>
              <p:nvPr/>
            </p:nvSpPr>
            <p:spPr bwMode="auto">
              <a:xfrm>
                <a:off x="2508" y="3150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sz="2000">
                    <a:latin typeface="Times New Roman" pitchFamily="18" charset="0"/>
                  </a:rPr>
                  <a:t>16</a:t>
                </a:r>
              </a:p>
            </p:txBody>
          </p:sp>
          <p:sp>
            <p:nvSpPr>
              <p:cNvPr id="727073" name="Line 33"/>
              <p:cNvSpPr>
                <a:spLocks noChangeShapeType="1"/>
              </p:cNvSpPr>
              <p:nvPr/>
            </p:nvSpPr>
            <p:spPr bwMode="auto">
              <a:xfrm>
                <a:off x="2485" y="3168"/>
                <a:ext cx="29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727086" name="Text Box 46"/>
          <p:cNvSpPr txBox="1">
            <a:spLocks noChangeArrowheads="1"/>
          </p:cNvSpPr>
          <p:nvPr/>
        </p:nvSpPr>
        <p:spPr bwMode="auto">
          <a:xfrm>
            <a:off x="6477084" y="5725180"/>
            <a:ext cx="20968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 smtClean="0">
                <a:solidFill>
                  <a:schemeClr val="folHlink"/>
                </a:solidFill>
                <a:latin typeface="Times New Roman" pitchFamily="18" charset="0"/>
              </a:rPr>
              <a:t>为什么错？</a:t>
            </a:r>
            <a:endParaRPr lang="zh-CN" altLang="en-US" sz="2800" dirty="0">
              <a:solidFill>
                <a:schemeClr val="folHlink"/>
              </a:solidFill>
              <a:latin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6178" y="1276150"/>
            <a:ext cx="565090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/>
              <a:t>解：</a:t>
            </a:r>
            <a:r>
              <a:rPr lang="en-US" altLang="zh-CN" sz="2800" dirty="0" smtClean="0"/>
              <a:t>x=9/16=0.1001,y=11/16=0.1011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	[x]</a:t>
            </a:r>
            <a:r>
              <a:rPr lang="zh-CN" altLang="en-US" sz="2800" baseline="-25000" dirty="0" smtClean="0"/>
              <a:t>补</a:t>
            </a:r>
            <a:r>
              <a:rPr lang="en-US" altLang="zh-CN" sz="2800" dirty="0" smtClean="0"/>
              <a:t>=0.1001,[y]</a:t>
            </a:r>
            <a:r>
              <a:rPr lang="zh-CN" altLang="en-US" sz="2800" baseline="-25000" dirty="0"/>
              <a:t>补</a:t>
            </a:r>
            <a:r>
              <a:rPr lang="en-US" altLang="zh-CN" sz="2800" dirty="0" smtClean="0"/>
              <a:t>=0.1011</a:t>
            </a:r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	[</a:t>
            </a:r>
            <a:r>
              <a:rPr lang="en-US" altLang="zh-CN" sz="2800" dirty="0" err="1" smtClean="0"/>
              <a:t>x+y</a:t>
            </a:r>
            <a:r>
              <a:rPr lang="en-US" altLang="zh-CN" sz="2800" dirty="0" smtClean="0"/>
              <a:t>]</a:t>
            </a:r>
            <a:r>
              <a:rPr lang="zh-CN" altLang="en-US" sz="2800" baseline="-25000" dirty="0"/>
              <a:t>补</a:t>
            </a:r>
            <a:r>
              <a:rPr lang="en-US" altLang="zh-CN" sz="2800" dirty="0" smtClean="0"/>
              <a:t>= </a:t>
            </a:r>
            <a:r>
              <a:rPr lang="en-US" altLang="zh-CN" sz="2800" dirty="0"/>
              <a:t>[x]</a:t>
            </a:r>
            <a:r>
              <a:rPr lang="zh-CN" altLang="en-US" sz="2800" baseline="-25000" dirty="0"/>
              <a:t>补</a:t>
            </a:r>
            <a:r>
              <a:rPr lang="en-US" altLang="zh-CN" sz="2800" dirty="0" smtClean="0"/>
              <a:t>+[</a:t>
            </a:r>
            <a:r>
              <a:rPr lang="en-US" altLang="zh-CN" sz="2800" dirty="0"/>
              <a:t>y]</a:t>
            </a:r>
            <a:r>
              <a:rPr lang="zh-CN" altLang="en-US" sz="2800" baseline="-25000" dirty="0"/>
              <a:t>补</a:t>
            </a:r>
            <a:r>
              <a:rPr lang="en-US" altLang="zh-CN" sz="2800" dirty="0" smtClean="0"/>
              <a:t>(mod 2)</a:t>
            </a:r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	=0.1001+0.1011 </a:t>
            </a:r>
            <a:r>
              <a:rPr lang="en-US" altLang="zh-CN" sz="2800" dirty="0"/>
              <a:t>(</a:t>
            </a:r>
            <a:r>
              <a:rPr lang="en-US" altLang="zh-CN" sz="2800" dirty="0" smtClean="0"/>
              <a:t>mod 2)</a:t>
            </a:r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	=1.0100 (mod 2)</a:t>
            </a:r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	=1.0100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 	</a:t>
            </a:r>
            <a:r>
              <a:rPr lang="zh-CN" altLang="en-US" sz="2800" dirty="0" smtClean="0"/>
              <a:t>所以</a:t>
            </a:r>
            <a:r>
              <a:rPr lang="en-US" altLang="zh-CN" sz="2800" dirty="0" err="1" smtClean="0"/>
              <a:t>x+y</a:t>
            </a:r>
            <a:r>
              <a:rPr lang="en-US" altLang="zh-CN" sz="2800" dirty="0" smtClean="0"/>
              <a:t>=-0.1100=-12/16</a:t>
            </a:r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	</a:t>
            </a:r>
            <a:r>
              <a:rPr lang="zh-CN" altLang="en-US" sz="2800" dirty="0" smtClean="0"/>
              <a:t>经验证结果错误</a:t>
            </a:r>
            <a:endParaRPr lang="zh-CN" altLang="en-US" sz="2800" dirty="0"/>
          </a:p>
        </p:txBody>
      </p:sp>
      <p:sp>
        <p:nvSpPr>
          <p:cNvPr id="49" name="圆角矩形标注 48"/>
          <p:cNvSpPr/>
          <p:nvPr/>
        </p:nvSpPr>
        <p:spPr>
          <a:xfrm>
            <a:off x="7081667" y="3351223"/>
            <a:ext cx="1957558" cy="1513215"/>
          </a:xfrm>
          <a:prstGeom prst="wedgeRoundRectCallout">
            <a:avLst>
              <a:gd name="adj1" fmla="val -41887"/>
              <a:gd name="adj2" fmla="val 7572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Times New Roman" pitchFamily="18" charset="0"/>
              </a:rPr>
              <a:t>运算结果超出机器数的表示范围！</a:t>
            </a:r>
            <a:endParaRPr lang="en-US" altLang="zh-CN" sz="2400" dirty="0">
              <a:latin typeface="Times New Roman" pitchFamily="18" charset="0"/>
            </a:endParaRPr>
          </a:p>
          <a:p>
            <a:pPr algn="ctr"/>
            <a:r>
              <a:rPr lang="zh-CN" altLang="en-US" sz="2400" dirty="0">
                <a:latin typeface="Times New Roman" pitchFamily="18" charset="0"/>
              </a:rPr>
              <a:t>产生溢出</a:t>
            </a:r>
            <a:endParaRPr lang="en-US" altLang="zh-CN" sz="24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994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27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6" grpId="0" autoUpdateAnimBg="0"/>
      <p:bldP spid="2" grpId="0" build="p"/>
      <p:bldP spid="4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1" name="Text Box 41"/>
          <p:cNvSpPr txBox="1">
            <a:spLocks noChangeArrowheads="1"/>
          </p:cNvSpPr>
          <p:nvPr/>
        </p:nvSpPr>
        <p:spPr bwMode="auto">
          <a:xfrm>
            <a:off x="706738" y="337102"/>
            <a:ext cx="74739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练习 2   设机器数字长为 8 位（含 1 位符号位）</a:t>
            </a:r>
          </a:p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              且 </a:t>
            </a: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en-US" altLang="zh-CN" sz="2800" dirty="0">
                <a:latin typeface="Times New Roman" pitchFamily="18" charset="0"/>
              </a:rPr>
              <a:t> =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97</a:t>
            </a:r>
            <a:r>
              <a:rPr lang="en-US" altLang="zh-CN" sz="2800" dirty="0" smtClean="0">
                <a:latin typeface="Times New Roman" pitchFamily="18" charset="0"/>
              </a:rPr>
              <a:t>，</a:t>
            </a:r>
            <a:r>
              <a:rPr lang="en-US" altLang="zh-CN" sz="2800" i="1" dirty="0" smtClean="0">
                <a:latin typeface="Times New Roman" pitchFamily="18" charset="0"/>
              </a:rPr>
              <a:t>B</a:t>
            </a:r>
            <a:r>
              <a:rPr lang="en-US" altLang="zh-CN" sz="2800" dirty="0" smtClean="0">
                <a:latin typeface="Times New Roman" pitchFamily="18" charset="0"/>
              </a:rPr>
              <a:t> </a:t>
            </a:r>
            <a:r>
              <a:rPr lang="en-US" altLang="zh-CN" sz="2800" dirty="0">
                <a:latin typeface="Times New Roman" pitchFamily="18" charset="0"/>
              </a:rPr>
              <a:t>= +</a:t>
            </a:r>
            <a:r>
              <a:rPr lang="en-US" altLang="zh-CN" sz="2800" dirty="0" smtClean="0">
                <a:latin typeface="Times New Roman" pitchFamily="18" charset="0"/>
              </a:rPr>
              <a:t>41，</a:t>
            </a:r>
            <a:r>
              <a:rPr lang="zh-CN" altLang="en-US" sz="2800" dirty="0" smtClean="0">
                <a:latin typeface="Times New Roman" pitchFamily="18" charset="0"/>
              </a:rPr>
              <a:t>用</a:t>
            </a:r>
            <a:r>
              <a:rPr lang="zh-CN" altLang="en-US" sz="2800" dirty="0">
                <a:latin typeface="Times New Roman" pitchFamily="18" charset="0"/>
              </a:rPr>
              <a:t>补码求 </a:t>
            </a: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en-US" altLang="zh-CN" sz="2800" dirty="0">
                <a:latin typeface="Times New Roman" pitchFamily="18" charset="0"/>
              </a:rPr>
              <a:t>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zh-CN" sz="2800" dirty="0">
                <a:latin typeface="Times New Roman" pitchFamily="18" charset="0"/>
              </a:rPr>
              <a:t> </a:t>
            </a:r>
            <a:r>
              <a:rPr lang="en-US" altLang="zh-CN" sz="2800" i="1" dirty="0">
                <a:latin typeface="Times New Roman" pitchFamily="18" charset="0"/>
              </a:rPr>
              <a:t>B</a:t>
            </a:r>
          </a:p>
        </p:txBody>
      </p:sp>
      <p:sp>
        <p:nvSpPr>
          <p:cNvPr id="25" name="Text Box 46"/>
          <p:cNvSpPr txBox="1">
            <a:spLocks noChangeArrowheads="1"/>
          </p:cNvSpPr>
          <p:nvPr/>
        </p:nvSpPr>
        <p:spPr bwMode="auto">
          <a:xfrm>
            <a:off x="6477084" y="5725180"/>
            <a:ext cx="20968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 smtClean="0">
                <a:solidFill>
                  <a:schemeClr val="folHlink"/>
                </a:solidFill>
                <a:latin typeface="Times New Roman" pitchFamily="18" charset="0"/>
              </a:rPr>
              <a:t>为什么错？</a:t>
            </a:r>
            <a:endParaRPr lang="zh-CN" altLang="en-US" sz="2800" dirty="0">
              <a:solidFill>
                <a:schemeClr val="folHlink"/>
              </a:solidFill>
              <a:latin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9854" y="1283252"/>
            <a:ext cx="833920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/>
              <a:t>解：</a:t>
            </a:r>
            <a:r>
              <a:rPr lang="en-US" altLang="zh-CN" sz="2800" dirty="0" smtClean="0"/>
              <a:t>A=-97=-1100001,B=+41=+101001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	[A]</a:t>
            </a:r>
            <a:r>
              <a:rPr lang="zh-CN" altLang="en-US" sz="2800" baseline="-25000" dirty="0" smtClean="0"/>
              <a:t>补</a:t>
            </a:r>
            <a:r>
              <a:rPr lang="en-US" altLang="zh-CN" sz="2800" dirty="0" smtClean="0"/>
              <a:t>=1,0011111,[B]</a:t>
            </a:r>
            <a:r>
              <a:rPr lang="zh-CN" altLang="en-US" sz="2800" baseline="-25000" dirty="0"/>
              <a:t>补</a:t>
            </a:r>
            <a:r>
              <a:rPr lang="en-US" altLang="zh-CN" sz="2800" dirty="0" smtClean="0"/>
              <a:t>=0,0101001, [-B</a:t>
            </a:r>
            <a:r>
              <a:rPr lang="en-US" altLang="zh-CN" sz="2800" dirty="0"/>
              <a:t>]</a:t>
            </a:r>
            <a:r>
              <a:rPr lang="zh-CN" altLang="en-US" sz="2800" baseline="-25000" dirty="0"/>
              <a:t>补</a:t>
            </a:r>
            <a:r>
              <a:rPr lang="en-US" altLang="zh-CN" sz="2800" dirty="0" smtClean="0"/>
              <a:t>=1,1010111</a:t>
            </a:r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	[A-B]</a:t>
            </a:r>
            <a:r>
              <a:rPr lang="zh-CN" altLang="en-US" sz="2800" baseline="-25000" dirty="0" smtClean="0"/>
              <a:t>补</a:t>
            </a:r>
            <a:r>
              <a:rPr lang="en-US" altLang="zh-CN" sz="2800" dirty="0" smtClean="0"/>
              <a:t>= [A]</a:t>
            </a:r>
            <a:r>
              <a:rPr lang="zh-CN" altLang="en-US" sz="2800" baseline="-25000" dirty="0" smtClean="0"/>
              <a:t>补</a:t>
            </a:r>
            <a:r>
              <a:rPr lang="en-US" altLang="zh-CN" sz="2800" dirty="0" smtClean="0"/>
              <a:t>+[-B]</a:t>
            </a:r>
            <a:r>
              <a:rPr lang="zh-CN" altLang="en-US" sz="2800" baseline="-25000" dirty="0" smtClean="0"/>
              <a:t>补</a:t>
            </a:r>
            <a:r>
              <a:rPr lang="en-US" altLang="zh-CN" sz="2800" dirty="0" smtClean="0"/>
              <a:t>(mod </a:t>
            </a:r>
            <a:r>
              <a:rPr lang="en-US" altLang="zh-CN" sz="2800" dirty="0"/>
              <a:t>2</a:t>
            </a:r>
            <a:r>
              <a:rPr lang="en-US" altLang="zh-CN" sz="2800" baseline="30000" dirty="0"/>
              <a:t>8</a:t>
            </a:r>
            <a:r>
              <a:rPr lang="en-US" altLang="zh-CN" sz="2800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	=</a:t>
            </a:r>
            <a:r>
              <a:rPr lang="en-US" altLang="zh-CN" sz="2800" dirty="0"/>
              <a:t> </a:t>
            </a:r>
            <a:r>
              <a:rPr lang="en-US" altLang="zh-CN" sz="2800" dirty="0" smtClean="0"/>
              <a:t>1,0011111 +</a:t>
            </a:r>
            <a:r>
              <a:rPr lang="en-US" altLang="zh-CN" sz="2800" dirty="0"/>
              <a:t> </a:t>
            </a:r>
            <a:r>
              <a:rPr lang="en-US" altLang="zh-CN" sz="2800" dirty="0" smtClean="0"/>
              <a:t>1,1010111 </a:t>
            </a:r>
            <a:r>
              <a:rPr lang="en-US" altLang="zh-CN" sz="2800" dirty="0"/>
              <a:t>(</a:t>
            </a:r>
            <a:r>
              <a:rPr lang="en-US" altLang="zh-CN" sz="2800" dirty="0" smtClean="0"/>
              <a:t>mod 2</a:t>
            </a:r>
            <a:r>
              <a:rPr lang="en-US" altLang="zh-CN" sz="2800" baseline="30000" dirty="0" smtClean="0"/>
              <a:t>8</a:t>
            </a:r>
            <a:r>
              <a:rPr lang="en-US" altLang="zh-CN" sz="2800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	=10,1110110 (mod </a:t>
            </a:r>
            <a:r>
              <a:rPr lang="en-US" altLang="zh-CN" sz="2800" dirty="0"/>
              <a:t>2</a:t>
            </a:r>
            <a:r>
              <a:rPr lang="en-US" altLang="zh-CN" sz="2800" baseline="30000" dirty="0"/>
              <a:t>8</a:t>
            </a:r>
            <a:r>
              <a:rPr lang="en-US" altLang="zh-CN" sz="2800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	=0,1110110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 	</a:t>
            </a:r>
            <a:r>
              <a:rPr lang="zh-CN" altLang="en-US" sz="2800" dirty="0" smtClean="0"/>
              <a:t>所以</a:t>
            </a:r>
            <a:r>
              <a:rPr lang="en-US" altLang="zh-CN" sz="2800" dirty="0" smtClean="0"/>
              <a:t>A-B=+0,1110110=+118</a:t>
            </a:r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	</a:t>
            </a:r>
            <a:r>
              <a:rPr lang="zh-CN" altLang="en-US" sz="2800" dirty="0" smtClean="0"/>
              <a:t>经验证结果错误</a:t>
            </a:r>
            <a:endParaRPr lang="zh-CN" altLang="en-US" sz="2800" dirty="0"/>
          </a:p>
        </p:txBody>
      </p:sp>
      <p:sp>
        <p:nvSpPr>
          <p:cNvPr id="27" name="圆角矩形标注 26"/>
          <p:cNvSpPr/>
          <p:nvPr/>
        </p:nvSpPr>
        <p:spPr>
          <a:xfrm>
            <a:off x="7081667" y="3351223"/>
            <a:ext cx="1957558" cy="1513215"/>
          </a:xfrm>
          <a:prstGeom prst="wedgeRoundRectCallout">
            <a:avLst>
              <a:gd name="adj1" fmla="val -41887"/>
              <a:gd name="adj2" fmla="val 7572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Times New Roman" pitchFamily="18" charset="0"/>
              </a:rPr>
              <a:t>运算结果超出机器数的表示范围！</a:t>
            </a:r>
            <a:endParaRPr lang="en-US" altLang="zh-CN" sz="2400" dirty="0">
              <a:latin typeface="Times New Roman" pitchFamily="18" charset="0"/>
            </a:endParaRPr>
          </a:p>
          <a:p>
            <a:pPr algn="ctr"/>
            <a:r>
              <a:rPr lang="zh-CN" altLang="en-US" sz="2400" dirty="0">
                <a:latin typeface="Times New Roman" pitchFamily="18" charset="0"/>
              </a:rPr>
              <a:t>产生溢出</a:t>
            </a:r>
            <a:endParaRPr lang="en-US" altLang="zh-CN" sz="24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051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7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1" grpId="0" autoUpdateAnimBg="0"/>
      <p:bldP spid="25" grpId="0" autoUpdateAnimBg="0"/>
      <p:bldP spid="26" grpId="0" build="p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2" name="Text Box 2"/>
          <p:cNvSpPr txBox="1">
            <a:spLocks noChangeArrowheads="1"/>
          </p:cNvSpPr>
          <p:nvPr/>
        </p:nvSpPr>
        <p:spPr bwMode="auto">
          <a:xfrm>
            <a:off x="703441" y="516265"/>
            <a:ext cx="12618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例 6.</a:t>
            </a:r>
            <a:r>
              <a:rPr lang="en-US" altLang="zh-CN" sz="2800">
                <a:latin typeface="Times New Roman" pitchFamily="18" charset="0"/>
              </a:rPr>
              <a:t>1</a:t>
            </a:r>
            <a:r>
              <a:rPr lang="zh-CN" altLang="en-US" sz="2800">
                <a:latin typeface="Times New Roman" pitchFamily="18" charset="0"/>
              </a:rPr>
              <a:t>0</a:t>
            </a:r>
          </a:p>
        </p:txBody>
      </p:sp>
      <p:sp>
        <p:nvSpPr>
          <p:cNvPr id="727043" name="Text Box 3"/>
          <p:cNvSpPr txBox="1">
            <a:spLocks noChangeArrowheads="1"/>
          </p:cNvSpPr>
          <p:nvPr/>
        </p:nvSpPr>
        <p:spPr bwMode="auto">
          <a:xfrm>
            <a:off x="1977558" y="516265"/>
            <a:ext cx="685315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 smtClean="0">
                <a:latin typeface="Times New Roman" pitchFamily="18" charset="0"/>
              </a:rPr>
              <a:t>机器字长</a:t>
            </a:r>
            <a:r>
              <a:rPr lang="en-US" altLang="zh-CN" sz="2800" dirty="0" smtClean="0">
                <a:latin typeface="Times New Roman" pitchFamily="18" charset="0"/>
              </a:rPr>
              <a:t>8</a:t>
            </a:r>
            <a:r>
              <a:rPr lang="zh-CN" altLang="en-US" sz="2800" dirty="0" smtClean="0">
                <a:latin typeface="Times New Roman" pitchFamily="18" charset="0"/>
              </a:rPr>
              <a:t>位（含</a:t>
            </a:r>
            <a:r>
              <a:rPr lang="en-US" altLang="zh-CN" sz="2800" dirty="0" smtClean="0">
                <a:latin typeface="Times New Roman" pitchFamily="18" charset="0"/>
              </a:rPr>
              <a:t>1</a:t>
            </a:r>
            <a:r>
              <a:rPr lang="zh-CN" altLang="en-US" sz="2800" dirty="0" smtClean="0">
                <a:latin typeface="Times New Roman" pitchFamily="18" charset="0"/>
              </a:rPr>
              <a:t>位符号位）</a:t>
            </a:r>
            <a:endParaRPr lang="en-US" altLang="zh-CN" sz="2800" dirty="0" smtClean="0">
              <a:latin typeface="Times New Roman" pitchFamily="18" charset="0"/>
            </a:endParaRPr>
          </a:p>
          <a:p>
            <a:pPr>
              <a:spcBef>
                <a:spcPct val="0"/>
              </a:spcBef>
            </a:pPr>
            <a:r>
              <a:rPr lang="zh-CN" altLang="en-US" sz="2800" dirty="0" smtClean="0">
                <a:latin typeface="Times New Roman" pitchFamily="18" charset="0"/>
              </a:rPr>
              <a:t>设  </a:t>
            </a: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en-US" altLang="zh-CN" sz="2800" dirty="0">
                <a:latin typeface="Times New Roman" pitchFamily="18" charset="0"/>
              </a:rPr>
              <a:t> = </a:t>
            </a:r>
            <a:r>
              <a:rPr lang="en-US" altLang="zh-CN" sz="2800" dirty="0" smtClean="0">
                <a:latin typeface="Times New Roman" pitchFamily="18" charset="0"/>
              </a:rPr>
              <a:t>15， </a:t>
            </a:r>
            <a:r>
              <a:rPr lang="en-US" altLang="zh-CN" sz="2800" i="1" dirty="0">
                <a:latin typeface="Times New Roman" pitchFamily="18" charset="0"/>
              </a:rPr>
              <a:t>B</a:t>
            </a:r>
            <a:r>
              <a:rPr lang="en-US" altLang="zh-CN" sz="2800" dirty="0">
                <a:latin typeface="Times New Roman" pitchFamily="18" charset="0"/>
              </a:rPr>
              <a:t> = </a:t>
            </a:r>
            <a:r>
              <a:rPr lang="en-US" altLang="zh-CN" sz="2800" dirty="0" smtClean="0">
                <a:latin typeface="Times New Roman" pitchFamily="18" charset="0"/>
              </a:rPr>
              <a:t>24，</a:t>
            </a:r>
            <a:r>
              <a:rPr lang="zh-CN" altLang="en-US" sz="2800" dirty="0" smtClean="0">
                <a:latin typeface="Times New Roman" pitchFamily="18" charset="0"/>
              </a:rPr>
              <a:t>用</a:t>
            </a:r>
            <a:r>
              <a:rPr lang="zh-CN" altLang="en-US" sz="2800" dirty="0">
                <a:latin typeface="Times New Roman" pitchFamily="18" charset="0"/>
              </a:rPr>
              <a:t>变形</a:t>
            </a:r>
            <a:r>
              <a:rPr lang="zh-CN" altLang="en-US" sz="2800" dirty="0" smtClean="0">
                <a:latin typeface="Times New Roman" pitchFamily="18" charset="0"/>
              </a:rPr>
              <a:t>补码求 </a:t>
            </a: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en-US" altLang="zh-CN" sz="2800" dirty="0">
                <a:latin typeface="Times New Roman" pitchFamily="18" charset="0"/>
              </a:rPr>
              <a:t>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altLang="zh-CN" sz="2800" i="1" dirty="0" smtClean="0">
                <a:latin typeface="Times New Roman" pitchFamily="18" charset="0"/>
              </a:rPr>
              <a:t>B</a:t>
            </a:r>
            <a:r>
              <a:rPr lang="zh-CN" altLang="en-US" sz="2800" i="1" dirty="0" smtClean="0">
                <a:latin typeface="Times New Roman" pitchFamily="18" charset="0"/>
              </a:rPr>
              <a:t>，</a:t>
            </a:r>
            <a:endParaRPr lang="en-US" altLang="zh-CN" sz="2800" i="1" dirty="0">
              <a:latin typeface="Times New Roman" pitchFamily="18" charset="0"/>
            </a:endParaRPr>
          </a:p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并判断是否溢出。</a:t>
            </a:r>
            <a:endParaRPr lang="en-US" altLang="zh-CN" sz="2800" dirty="0">
              <a:latin typeface="Times New Roman" pitchFamily="18" charset="0"/>
            </a:endParaRPr>
          </a:p>
        </p:txBody>
      </p:sp>
      <p:sp>
        <p:nvSpPr>
          <p:cNvPr id="727044" name="Text Box 4"/>
          <p:cNvSpPr txBox="1">
            <a:spLocks noChangeArrowheads="1"/>
          </p:cNvSpPr>
          <p:nvPr/>
        </p:nvSpPr>
        <p:spPr bwMode="auto">
          <a:xfrm>
            <a:off x="703441" y="2120682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解：</a:t>
            </a:r>
          </a:p>
        </p:txBody>
      </p:sp>
      <p:grpSp>
        <p:nvGrpSpPr>
          <p:cNvPr id="727045" name="Group 5"/>
          <p:cNvGrpSpPr>
            <a:grpSpLocks/>
          </p:cNvGrpSpPr>
          <p:nvPr/>
        </p:nvGrpSpPr>
        <p:grpSpPr bwMode="auto">
          <a:xfrm>
            <a:off x="1738491" y="2120682"/>
            <a:ext cx="2968625" cy="519113"/>
            <a:chOff x="1430" y="782"/>
            <a:chExt cx="1870" cy="327"/>
          </a:xfrm>
        </p:grpSpPr>
        <p:sp>
          <p:nvSpPr>
            <p:cNvPr id="727046" name="Text Box 6"/>
            <p:cNvSpPr txBox="1">
              <a:spLocks noChangeArrowheads="1"/>
            </p:cNvSpPr>
            <p:nvPr/>
          </p:nvSpPr>
          <p:spPr bwMode="auto">
            <a:xfrm>
              <a:off x="1430" y="782"/>
              <a:ext cx="8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800" i="1" dirty="0">
                  <a:latin typeface="Times New Roman" pitchFamily="18" charset="0"/>
                </a:rPr>
                <a:t>A</a:t>
              </a:r>
              <a:r>
                <a:rPr lang="en-US" altLang="zh-CN" sz="2800" dirty="0">
                  <a:latin typeface="Times New Roman" pitchFamily="18" charset="0"/>
                </a:rPr>
                <a:t> = 15   </a:t>
              </a:r>
            </a:p>
          </p:txBody>
        </p:sp>
        <p:sp>
          <p:nvSpPr>
            <p:cNvPr id="727047" name="Text Box 7"/>
            <p:cNvSpPr txBox="1">
              <a:spLocks noChangeArrowheads="1"/>
            </p:cNvSpPr>
            <p:nvPr/>
          </p:nvSpPr>
          <p:spPr bwMode="auto">
            <a:xfrm>
              <a:off x="2160" y="782"/>
              <a:ext cx="11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>
                  <a:latin typeface="Times New Roman" pitchFamily="18" charset="0"/>
                </a:rPr>
                <a:t>=  0001111</a:t>
              </a:r>
            </a:p>
          </p:txBody>
        </p:sp>
      </p:grpSp>
      <p:grpSp>
        <p:nvGrpSpPr>
          <p:cNvPr id="727048" name="Group 8"/>
          <p:cNvGrpSpPr>
            <a:grpSpLocks/>
          </p:cNvGrpSpPr>
          <p:nvPr/>
        </p:nvGrpSpPr>
        <p:grpSpPr bwMode="auto">
          <a:xfrm>
            <a:off x="1754366" y="2630270"/>
            <a:ext cx="2968625" cy="519112"/>
            <a:chOff x="1440" y="1103"/>
            <a:chExt cx="1870" cy="327"/>
          </a:xfrm>
        </p:grpSpPr>
        <p:sp>
          <p:nvSpPr>
            <p:cNvPr id="727049" name="Text Box 9"/>
            <p:cNvSpPr txBox="1">
              <a:spLocks noChangeArrowheads="1"/>
            </p:cNvSpPr>
            <p:nvPr/>
          </p:nvSpPr>
          <p:spPr bwMode="auto">
            <a:xfrm>
              <a:off x="1440" y="1103"/>
              <a:ext cx="7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800" i="1">
                  <a:latin typeface="Times New Roman" pitchFamily="18" charset="0"/>
                </a:rPr>
                <a:t>B</a:t>
              </a:r>
              <a:r>
                <a:rPr lang="en-US" altLang="zh-CN" sz="2800">
                  <a:latin typeface="Times New Roman" pitchFamily="18" charset="0"/>
                </a:rPr>
                <a:t> = 24</a:t>
              </a:r>
            </a:p>
          </p:txBody>
        </p:sp>
        <p:sp>
          <p:nvSpPr>
            <p:cNvPr id="727050" name="Text Box 10"/>
            <p:cNvSpPr txBox="1">
              <a:spLocks noChangeArrowheads="1"/>
            </p:cNvSpPr>
            <p:nvPr/>
          </p:nvSpPr>
          <p:spPr bwMode="auto">
            <a:xfrm>
              <a:off x="2170" y="1103"/>
              <a:ext cx="11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 dirty="0">
                  <a:latin typeface="Times New Roman" pitchFamily="18" charset="0"/>
                </a:rPr>
                <a:t>=  0011000</a:t>
              </a:r>
            </a:p>
          </p:txBody>
        </p:sp>
      </p:grpSp>
      <p:sp>
        <p:nvSpPr>
          <p:cNvPr id="727051" name="Text Box 11"/>
          <p:cNvSpPr txBox="1">
            <a:spLocks noChangeArrowheads="1"/>
          </p:cNvSpPr>
          <p:nvPr/>
        </p:nvSpPr>
        <p:spPr bwMode="auto">
          <a:xfrm>
            <a:off x="611366" y="4155857"/>
            <a:ext cx="23198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[</a:t>
            </a: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en-US" altLang="zh-CN" sz="2800" dirty="0">
                <a:latin typeface="Times New Roman" pitchFamily="18" charset="0"/>
              </a:rPr>
              <a:t>]</a:t>
            </a:r>
            <a:r>
              <a:rPr lang="zh-CN" altLang="en-US" sz="2800" baseline="-25000" dirty="0" smtClean="0">
                <a:latin typeface="Times New Roman" pitchFamily="18" charset="0"/>
              </a:rPr>
              <a:t>补</a:t>
            </a:r>
            <a:r>
              <a:rPr lang="zh-CN" altLang="en-US" sz="2800" dirty="0" smtClean="0">
                <a:latin typeface="Times New Roman" pitchFamily="18" charset="0"/>
              </a:rPr>
              <a:t> </a:t>
            </a:r>
            <a:r>
              <a:rPr lang="zh-CN" altLang="en-US" sz="2800" dirty="0">
                <a:latin typeface="Times New Roman" pitchFamily="18" charset="0"/>
              </a:rPr>
              <a:t>+ [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zh-CN" altLang="en-US" sz="2800" dirty="0">
                <a:latin typeface="Times New Roman" pitchFamily="18" charset="0"/>
              </a:rPr>
              <a:t> </a:t>
            </a:r>
            <a:r>
              <a:rPr lang="en-US" altLang="zh-CN" sz="2800" i="1" dirty="0">
                <a:latin typeface="Times New Roman" pitchFamily="18" charset="0"/>
              </a:rPr>
              <a:t>B</a:t>
            </a:r>
            <a:r>
              <a:rPr lang="en-US" altLang="zh-CN" sz="2800" dirty="0">
                <a:latin typeface="Times New Roman" pitchFamily="18" charset="0"/>
              </a:rPr>
              <a:t>]</a:t>
            </a:r>
            <a:r>
              <a:rPr lang="zh-CN" altLang="en-US" sz="2800" baseline="-25000" dirty="0" smtClean="0">
                <a:latin typeface="Times New Roman" pitchFamily="18" charset="0"/>
              </a:rPr>
              <a:t>补</a:t>
            </a:r>
            <a:endParaRPr lang="zh-CN" altLang="en-US" sz="2800" baseline="-25000" dirty="0">
              <a:latin typeface="Times New Roman" pitchFamily="18" charset="0"/>
            </a:endParaRPr>
          </a:p>
        </p:txBody>
      </p:sp>
      <p:sp>
        <p:nvSpPr>
          <p:cNvPr id="727052" name="Text Box 12"/>
          <p:cNvSpPr txBox="1">
            <a:spLocks noChangeArrowheads="1"/>
          </p:cNvSpPr>
          <p:nvPr/>
        </p:nvSpPr>
        <p:spPr bwMode="auto">
          <a:xfrm>
            <a:off x="1433691" y="3712945"/>
            <a:ext cx="387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+</a:t>
            </a:r>
          </a:p>
        </p:txBody>
      </p:sp>
      <p:grpSp>
        <p:nvGrpSpPr>
          <p:cNvPr id="727053" name="Group 13"/>
          <p:cNvGrpSpPr>
            <a:grpSpLocks/>
          </p:cNvGrpSpPr>
          <p:nvPr/>
        </p:nvGrpSpPr>
        <p:grpSpPr bwMode="auto">
          <a:xfrm>
            <a:off x="1990904" y="3138268"/>
            <a:ext cx="3243262" cy="523874"/>
            <a:chOff x="1589" y="1423"/>
            <a:chExt cx="2043" cy="330"/>
          </a:xfrm>
        </p:grpSpPr>
        <p:sp>
          <p:nvSpPr>
            <p:cNvPr id="727054" name="Text Box 14"/>
            <p:cNvSpPr txBox="1">
              <a:spLocks noChangeArrowheads="1"/>
            </p:cNvSpPr>
            <p:nvPr/>
          </p:nvSpPr>
          <p:spPr bwMode="auto">
            <a:xfrm>
              <a:off x="1589" y="1423"/>
              <a:ext cx="55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 dirty="0">
                  <a:latin typeface="Times New Roman" pitchFamily="18" charset="0"/>
                </a:rPr>
                <a:t>[</a:t>
              </a:r>
              <a:r>
                <a:rPr lang="en-US" altLang="zh-CN" sz="2800" i="1" dirty="0">
                  <a:latin typeface="Times New Roman" pitchFamily="18" charset="0"/>
                </a:rPr>
                <a:t>A</a:t>
              </a:r>
              <a:r>
                <a:rPr lang="en-US" altLang="zh-CN" sz="2800" dirty="0">
                  <a:latin typeface="Times New Roman" pitchFamily="18" charset="0"/>
                </a:rPr>
                <a:t>]</a:t>
              </a:r>
              <a:r>
                <a:rPr lang="zh-CN" altLang="en-US" sz="2800" baseline="-25000" dirty="0" smtClean="0">
                  <a:latin typeface="Times New Roman" pitchFamily="18" charset="0"/>
                </a:rPr>
                <a:t>补</a:t>
              </a:r>
              <a:endParaRPr lang="zh-CN" altLang="en-US" sz="2800" baseline="-25000" dirty="0">
                <a:latin typeface="Times New Roman" pitchFamily="18" charset="0"/>
              </a:endParaRPr>
            </a:p>
          </p:txBody>
        </p:sp>
        <p:sp>
          <p:nvSpPr>
            <p:cNvPr id="727055" name="Text Box 15"/>
            <p:cNvSpPr txBox="1">
              <a:spLocks noChangeArrowheads="1"/>
            </p:cNvSpPr>
            <p:nvPr/>
          </p:nvSpPr>
          <p:spPr bwMode="auto">
            <a:xfrm>
              <a:off x="2170" y="1423"/>
              <a:ext cx="146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 dirty="0">
                  <a:latin typeface="Times New Roman" pitchFamily="18" charset="0"/>
                </a:rPr>
                <a:t>=  </a:t>
              </a:r>
              <a:r>
                <a:rPr lang="en-US" altLang="zh-CN" sz="2800">
                  <a:latin typeface="Times New Roman" pitchFamily="18" charset="0"/>
                </a:rPr>
                <a:t>0</a:t>
              </a:r>
              <a:r>
                <a:rPr lang="zh-CN" altLang="en-US" sz="2800" smtClean="0">
                  <a:latin typeface="Times New Roman" pitchFamily="18" charset="0"/>
                </a:rPr>
                <a:t>0, </a:t>
              </a:r>
              <a:r>
                <a:rPr lang="zh-CN" altLang="en-US" sz="2800" dirty="0">
                  <a:latin typeface="Times New Roman" pitchFamily="18" charset="0"/>
                </a:rPr>
                <a:t>0001111</a:t>
              </a:r>
            </a:p>
          </p:txBody>
        </p:sp>
      </p:grpSp>
      <p:grpSp>
        <p:nvGrpSpPr>
          <p:cNvPr id="727056" name="Group 16"/>
          <p:cNvGrpSpPr>
            <a:grpSpLocks/>
          </p:cNvGrpSpPr>
          <p:nvPr/>
        </p:nvGrpSpPr>
        <p:grpSpPr bwMode="auto">
          <a:xfrm>
            <a:off x="1728966" y="3647860"/>
            <a:ext cx="3519488" cy="523876"/>
            <a:chOff x="1424" y="1744"/>
            <a:chExt cx="2217" cy="330"/>
          </a:xfrm>
        </p:grpSpPr>
        <p:sp>
          <p:nvSpPr>
            <p:cNvPr id="727057" name="Text Box 17"/>
            <p:cNvSpPr txBox="1">
              <a:spLocks noChangeArrowheads="1"/>
            </p:cNvSpPr>
            <p:nvPr/>
          </p:nvSpPr>
          <p:spPr bwMode="auto">
            <a:xfrm>
              <a:off x="1424" y="1744"/>
              <a:ext cx="75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 dirty="0">
                  <a:latin typeface="Times New Roman" pitchFamily="18" charset="0"/>
                </a:rPr>
                <a:t>[</a:t>
              </a:r>
              <a:r>
                <a:rPr lang="en-US" altLang="zh-CN" sz="2800" dirty="0">
                  <a:latin typeface="Times New Roman" pitchFamily="18" charset="0"/>
                  <a:cs typeface="Times New Roman" pitchFamily="18" charset="0"/>
                </a:rPr>
                <a:t>–</a:t>
              </a:r>
              <a:r>
                <a:rPr lang="zh-CN" altLang="en-US" sz="2800" dirty="0">
                  <a:latin typeface="Times New Roman" pitchFamily="18" charset="0"/>
                </a:rPr>
                <a:t> </a:t>
              </a:r>
              <a:r>
                <a:rPr lang="en-US" altLang="zh-CN" sz="2800" i="1" dirty="0">
                  <a:latin typeface="Times New Roman" pitchFamily="18" charset="0"/>
                </a:rPr>
                <a:t>B</a:t>
              </a:r>
              <a:r>
                <a:rPr lang="en-US" altLang="zh-CN" sz="2800" dirty="0">
                  <a:latin typeface="Times New Roman" pitchFamily="18" charset="0"/>
                </a:rPr>
                <a:t>]</a:t>
              </a:r>
              <a:r>
                <a:rPr lang="zh-CN" altLang="en-US" sz="2800" baseline="-25000" dirty="0" smtClean="0">
                  <a:latin typeface="Times New Roman" pitchFamily="18" charset="0"/>
                </a:rPr>
                <a:t>补</a:t>
              </a:r>
              <a:endParaRPr lang="zh-CN" altLang="en-US" sz="2800" baseline="-25000" dirty="0">
                <a:latin typeface="Times New Roman" pitchFamily="18" charset="0"/>
              </a:endParaRPr>
            </a:p>
          </p:txBody>
        </p:sp>
        <p:sp>
          <p:nvSpPr>
            <p:cNvPr id="727058" name="Text Box 18"/>
            <p:cNvSpPr txBox="1">
              <a:spLocks noChangeArrowheads="1"/>
            </p:cNvSpPr>
            <p:nvPr/>
          </p:nvSpPr>
          <p:spPr bwMode="auto">
            <a:xfrm>
              <a:off x="2170" y="1744"/>
              <a:ext cx="14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 dirty="0">
                  <a:latin typeface="Times New Roman" pitchFamily="18" charset="0"/>
                </a:rPr>
                <a:t>=  </a:t>
              </a:r>
              <a:r>
                <a:rPr lang="en-US" altLang="zh-CN" sz="2800">
                  <a:latin typeface="Times New Roman" pitchFamily="18" charset="0"/>
                </a:rPr>
                <a:t>1</a:t>
              </a:r>
              <a:r>
                <a:rPr lang="zh-CN" altLang="en-US" sz="2800" smtClean="0">
                  <a:latin typeface="Times New Roman" pitchFamily="18" charset="0"/>
                </a:rPr>
                <a:t>1, </a:t>
              </a:r>
              <a:r>
                <a:rPr lang="zh-CN" altLang="en-US" sz="2800" dirty="0">
                  <a:latin typeface="Times New Roman" pitchFamily="18" charset="0"/>
                </a:rPr>
                <a:t>1101000</a:t>
              </a:r>
            </a:p>
          </p:txBody>
        </p:sp>
      </p:grpSp>
      <p:sp>
        <p:nvSpPr>
          <p:cNvPr id="727059" name="Text Box 19"/>
          <p:cNvSpPr txBox="1">
            <a:spLocks noChangeArrowheads="1"/>
          </p:cNvSpPr>
          <p:nvPr/>
        </p:nvSpPr>
        <p:spPr bwMode="auto">
          <a:xfrm>
            <a:off x="2911654" y="4155857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=  </a:t>
            </a:r>
            <a:r>
              <a:rPr lang="en-US" altLang="zh-CN" sz="2800" dirty="0">
                <a:latin typeface="Times New Roman" pitchFamily="18" charset="0"/>
              </a:rPr>
              <a:t>1</a:t>
            </a:r>
            <a:r>
              <a:rPr lang="zh-CN" altLang="en-US" sz="2800" dirty="0" smtClean="0">
                <a:latin typeface="Times New Roman" pitchFamily="18" charset="0"/>
              </a:rPr>
              <a:t>1, </a:t>
            </a:r>
            <a:r>
              <a:rPr lang="zh-CN" altLang="en-US" sz="2800" dirty="0">
                <a:latin typeface="Times New Roman" pitchFamily="18" charset="0"/>
              </a:rPr>
              <a:t>1110111</a:t>
            </a:r>
          </a:p>
        </p:txBody>
      </p:sp>
      <p:sp>
        <p:nvSpPr>
          <p:cNvPr id="727060" name="Text Box 20"/>
          <p:cNvSpPr txBox="1">
            <a:spLocks noChangeArrowheads="1"/>
          </p:cNvSpPr>
          <p:nvPr/>
        </p:nvSpPr>
        <p:spPr bwMode="auto">
          <a:xfrm>
            <a:off x="5107166" y="4155857"/>
            <a:ext cx="1784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= [</a:t>
            </a: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en-US" altLang="zh-CN" sz="2800" dirty="0">
                <a:latin typeface="Times New Roman" pitchFamily="18" charset="0"/>
              </a:rPr>
              <a:t>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zh-CN" sz="2800" dirty="0">
                <a:latin typeface="Times New Roman" pitchFamily="18" charset="0"/>
              </a:rPr>
              <a:t> </a:t>
            </a:r>
            <a:r>
              <a:rPr lang="en-US" altLang="zh-CN" sz="2800" i="1" dirty="0">
                <a:latin typeface="Times New Roman" pitchFamily="18" charset="0"/>
              </a:rPr>
              <a:t>B</a:t>
            </a:r>
            <a:r>
              <a:rPr lang="en-US" altLang="zh-CN" sz="2800" dirty="0">
                <a:latin typeface="Times New Roman" pitchFamily="18" charset="0"/>
              </a:rPr>
              <a:t>]</a:t>
            </a:r>
            <a:r>
              <a:rPr lang="zh-CN" altLang="en-US" sz="2800" baseline="-25000" dirty="0" smtClean="0">
                <a:latin typeface="Times New Roman" pitchFamily="18" charset="0"/>
              </a:rPr>
              <a:t>补</a:t>
            </a:r>
            <a:endParaRPr lang="zh-CN" altLang="en-US" sz="2800" baseline="-25000" dirty="0">
              <a:latin typeface="Times New Roman" pitchFamily="18" charset="0"/>
            </a:endParaRPr>
          </a:p>
        </p:txBody>
      </p:sp>
      <p:sp>
        <p:nvSpPr>
          <p:cNvPr id="727061" name="Text Box 21"/>
          <p:cNvSpPr txBox="1">
            <a:spLocks noChangeArrowheads="1"/>
          </p:cNvSpPr>
          <p:nvPr/>
        </p:nvSpPr>
        <p:spPr bwMode="auto">
          <a:xfrm>
            <a:off x="5635454" y="2661466"/>
            <a:ext cx="30471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[</a:t>
            </a:r>
            <a:r>
              <a:rPr lang="en-US" altLang="zh-CN" sz="2800" i="1" dirty="0">
                <a:latin typeface="Times New Roman" pitchFamily="18" charset="0"/>
              </a:rPr>
              <a:t>B</a:t>
            </a:r>
            <a:r>
              <a:rPr lang="en-US" altLang="zh-CN" sz="2800" dirty="0">
                <a:latin typeface="Times New Roman" pitchFamily="18" charset="0"/>
              </a:rPr>
              <a:t>]</a:t>
            </a:r>
            <a:r>
              <a:rPr lang="zh-CN" altLang="en-US" sz="2800" baseline="-25000" dirty="0" smtClean="0">
                <a:latin typeface="Times New Roman" pitchFamily="18" charset="0"/>
              </a:rPr>
              <a:t>补</a:t>
            </a:r>
            <a:r>
              <a:rPr lang="zh-CN" altLang="en-US" sz="2800" dirty="0" smtClean="0">
                <a:latin typeface="Times New Roman" pitchFamily="18" charset="0"/>
              </a:rPr>
              <a:t> </a:t>
            </a:r>
            <a:r>
              <a:rPr lang="zh-CN" altLang="en-US" sz="2800" dirty="0">
                <a:latin typeface="Times New Roman" pitchFamily="18" charset="0"/>
              </a:rPr>
              <a:t>= </a:t>
            </a:r>
            <a:r>
              <a:rPr lang="en-US" altLang="zh-CN" sz="2800" dirty="0">
                <a:latin typeface="Times New Roman" pitchFamily="18" charset="0"/>
              </a:rPr>
              <a:t>0</a:t>
            </a:r>
            <a:r>
              <a:rPr lang="zh-CN" altLang="en-US" sz="2800" dirty="0" smtClean="0">
                <a:latin typeface="Times New Roman" pitchFamily="18" charset="0"/>
              </a:rPr>
              <a:t>0, </a:t>
            </a:r>
            <a:r>
              <a:rPr lang="zh-CN" altLang="en-US" sz="2800" dirty="0">
                <a:latin typeface="Times New Roman" pitchFamily="18" charset="0"/>
              </a:rPr>
              <a:t>0011000</a:t>
            </a:r>
          </a:p>
        </p:txBody>
      </p:sp>
      <p:sp>
        <p:nvSpPr>
          <p:cNvPr id="727083" name="Text Box 43"/>
          <p:cNvSpPr txBox="1">
            <a:spLocks noChangeArrowheads="1"/>
          </p:cNvSpPr>
          <p:nvPr/>
        </p:nvSpPr>
        <p:spPr bwMode="auto">
          <a:xfrm>
            <a:off x="1296954" y="4876743"/>
            <a:ext cx="55945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符号位为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，表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示计算结果无溢出。</a:t>
            </a:r>
            <a:endParaRPr lang="en-US" altLang="zh-C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27084" name="Line 44"/>
          <p:cNvSpPr>
            <a:spLocks noChangeShapeType="1"/>
          </p:cNvSpPr>
          <p:nvPr/>
        </p:nvSpPr>
        <p:spPr bwMode="auto">
          <a:xfrm>
            <a:off x="535166" y="4155857"/>
            <a:ext cx="6705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7" name="Text Box 21"/>
          <p:cNvSpPr txBox="1">
            <a:spLocks noChangeArrowheads="1"/>
          </p:cNvSpPr>
          <p:nvPr/>
        </p:nvSpPr>
        <p:spPr bwMode="auto">
          <a:xfrm>
            <a:off x="5633430" y="3201143"/>
            <a:ext cx="319728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[</a:t>
            </a:r>
            <a:r>
              <a:rPr lang="en-US" altLang="zh-CN" sz="2800" dirty="0">
                <a:latin typeface="Times New Roman" pitchFamily="18" charset="0"/>
              </a:rPr>
              <a:t>-</a:t>
            </a:r>
            <a:r>
              <a:rPr lang="en-US" altLang="zh-CN" sz="2800" i="1" dirty="0">
                <a:latin typeface="Times New Roman" pitchFamily="18" charset="0"/>
              </a:rPr>
              <a:t>B</a:t>
            </a:r>
            <a:r>
              <a:rPr lang="en-US" altLang="zh-CN" sz="2800" dirty="0">
                <a:latin typeface="Times New Roman" pitchFamily="18" charset="0"/>
              </a:rPr>
              <a:t>]</a:t>
            </a:r>
            <a:r>
              <a:rPr lang="zh-CN" altLang="en-US" sz="2800" baseline="-25000" dirty="0" smtClean="0">
                <a:latin typeface="Times New Roman" pitchFamily="18" charset="0"/>
              </a:rPr>
              <a:t>补</a:t>
            </a:r>
            <a:r>
              <a:rPr lang="zh-CN" altLang="en-US" sz="2800" dirty="0" smtClean="0">
                <a:latin typeface="Times New Roman" pitchFamily="18" charset="0"/>
              </a:rPr>
              <a:t> </a:t>
            </a:r>
            <a:r>
              <a:rPr lang="zh-CN" altLang="en-US" sz="2800" dirty="0">
                <a:latin typeface="Times New Roman" pitchFamily="18" charset="0"/>
              </a:rPr>
              <a:t>= </a:t>
            </a:r>
            <a:r>
              <a:rPr lang="en-US" altLang="zh-CN" sz="2800" dirty="0" smtClean="0">
                <a:latin typeface="Times New Roman" pitchFamily="18" charset="0"/>
              </a:rPr>
              <a:t>11</a:t>
            </a:r>
            <a:r>
              <a:rPr lang="zh-CN" altLang="en-US" sz="2800" dirty="0" smtClean="0">
                <a:latin typeface="Times New Roman" pitchFamily="18" charset="0"/>
              </a:rPr>
              <a:t>, </a:t>
            </a:r>
            <a:r>
              <a:rPr lang="en-US" altLang="zh-CN" sz="2800" dirty="0">
                <a:latin typeface="Times New Roman" pitchFamily="18" charset="0"/>
              </a:rPr>
              <a:t>1101</a:t>
            </a:r>
            <a:r>
              <a:rPr lang="zh-CN" altLang="en-US" sz="2800" dirty="0">
                <a:latin typeface="Times New Roman" pitchFamily="18" charset="0"/>
              </a:rPr>
              <a:t>000</a:t>
            </a:r>
          </a:p>
        </p:txBody>
      </p:sp>
      <p:sp>
        <p:nvSpPr>
          <p:cNvPr id="48" name="Text Box 43"/>
          <p:cNvSpPr txBox="1">
            <a:spLocks noChangeArrowheads="1"/>
          </p:cNvSpPr>
          <p:nvPr/>
        </p:nvSpPr>
        <p:spPr bwMode="auto">
          <a:xfrm>
            <a:off x="1222615" y="5659519"/>
            <a:ext cx="441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∴ </a:t>
            </a: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en-US" altLang="zh-CN" sz="2800" dirty="0">
                <a:latin typeface="Times New Roman" pitchFamily="18" charset="0"/>
              </a:rPr>
              <a:t>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altLang="zh-CN" sz="2800" i="1" dirty="0">
                <a:latin typeface="Times New Roman" pitchFamily="18" charset="0"/>
              </a:rPr>
              <a:t>B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= – 1001 = –9</a:t>
            </a:r>
          </a:p>
        </p:txBody>
      </p:sp>
    </p:spTree>
    <p:extLst>
      <p:ext uri="{BB962C8B-B14F-4D97-AF65-F5344CB8AC3E}">
        <p14:creationId xmlns:p14="http://schemas.microsoft.com/office/powerpoint/2010/main" val="8736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2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2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2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2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1" dur="500"/>
                                        <p:tgtEl>
                                          <p:spTgt spid="727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2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2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2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727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43" grpId="0" autoUpdateAnimBg="0"/>
      <p:bldP spid="727044" grpId="0" autoUpdateAnimBg="0"/>
      <p:bldP spid="727051" grpId="0" autoUpdateAnimBg="0"/>
      <p:bldP spid="727052" grpId="0" autoUpdateAnimBg="0"/>
      <p:bldP spid="727059" grpId="0" autoUpdateAnimBg="0"/>
      <p:bldP spid="727060" grpId="0" autoUpdateAnimBg="0"/>
      <p:bldP spid="727061" grpId="0" autoUpdateAnimBg="0"/>
      <p:bldP spid="727083" grpId="0" autoUpdateAnimBg="0"/>
      <p:bldP spid="727084" grpId="0" animBg="1"/>
      <p:bldP spid="47" grpId="0" autoUpdateAnimBg="0"/>
      <p:bldP spid="4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Text Box 2"/>
          <p:cNvSpPr txBox="1">
            <a:spLocks noChangeArrowheads="1"/>
          </p:cNvSpPr>
          <p:nvPr/>
        </p:nvSpPr>
        <p:spPr bwMode="auto">
          <a:xfrm>
            <a:off x="664458" y="577056"/>
            <a:ext cx="12618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例 6.</a:t>
            </a:r>
            <a:r>
              <a:rPr lang="en-US" altLang="zh-CN" sz="2800">
                <a:latin typeface="Times New Roman" pitchFamily="18" charset="0"/>
              </a:rPr>
              <a:t>30</a:t>
            </a:r>
            <a:endParaRPr lang="zh-CN" altLang="en-US" sz="2800" dirty="0">
              <a:latin typeface="Times New Roman" pitchFamily="18" charset="0"/>
            </a:endParaRPr>
          </a:p>
        </p:txBody>
      </p:sp>
      <p:grpSp>
        <p:nvGrpSpPr>
          <p:cNvPr id="776195" name="Group 3"/>
          <p:cNvGrpSpPr>
            <a:grpSpLocks/>
          </p:cNvGrpSpPr>
          <p:nvPr/>
        </p:nvGrpSpPr>
        <p:grpSpPr bwMode="auto">
          <a:xfrm>
            <a:off x="1621631" y="475456"/>
            <a:ext cx="5564188" cy="1209676"/>
            <a:chOff x="912" y="288"/>
            <a:chExt cx="3505" cy="762"/>
          </a:xfrm>
        </p:grpSpPr>
        <p:sp>
          <p:nvSpPr>
            <p:cNvPr id="776196" name="Text Box 4"/>
            <p:cNvSpPr txBox="1">
              <a:spLocks noChangeArrowheads="1"/>
            </p:cNvSpPr>
            <p:nvPr/>
          </p:nvSpPr>
          <p:spPr bwMode="auto">
            <a:xfrm>
              <a:off x="1226" y="352"/>
              <a:ext cx="28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800" i="1" dirty="0">
                  <a:latin typeface="Times New Roman" pitchFamily="18" charset="0"/>
                </a:rPr>
                <a:t>x</a:t>
              </a:r>
              <a:r>
                <a:rPr lang="en-US" altLang="zh-CN" sz="2800" dirty="0">
                  <a:latin typeface="Times New Roman" pitchFamily="18" charset="0"/>
                </a:rPr>
                <a:t> = (</a:t>
              </a:r>
              <a:r>
                <a:rPr lang="zh-CN" altLang="en-US" sz="2800" dirty="0">
                  <a:latin typeface="Times New Roman" pitchFamily="18" charset="0"/>
                  <a:cs typeface="Times New Roman" pitchFamily="18" charset="0"/>
                </a:rPr>
                <a:t>– </a:t>
              </a:r>
              <a:r>
                <a:rPr lang="en-US" altLang="zh-CN" sz="2800" dirty="0">
                  <a:latin typeface="Times New Roman" pitchFamily="18" charset="0"/>
                  <a:cs typeface="Times New Roman" pitchFamily="18" charset="0"/>
                </a:rPr>
                <a:t>—</a:t>
              </a:r>
              <a:r>
                <a:rPr lang="en-US" altLang="zh-CN" sz="2800" dirty="0">
                  <a:latin typeface="Times New Roman" pitchFamily="18" charset="0"/>
                </a:rPr>
                <a:t>)</a:t>
              </a:r>
              <a:r>
                <a:rPr lang="zh-CN" altLang="en-US" sz="2400" dirty="0">
                  <a:latin typeface="Times New Roman" pitchFamily="18" charset="0"/>
                </a:rPr>
                <a:t>×</a:t>
              </a:r>
              <a:r>
                <a:rPr lang="zh-CN" altLang="en-US" sz="2800" dirty="0">
                  <a:latin typeface="Times New Roman" pitchFamily="18" charset="0"/>
                </a:rPr>
                <a:t>2</a:t>
              </a:r>
              <a:r>
                <a:rPr lang="zh-CN" altLang="en-US" sz="2800" baseline="45000" dirty="0">
                  <a:latin typeface="Times New Roman" pitchFamily="18" charset="0"/>
                </a:rPr>
                <a:t>-5   </a:t>
              </a:r>
              <a:r>
                <a:rPr lang="zh-CN" altLang="en-US" sz="2800" dirty="0">
                  <a:latin typeface="Times New Roman" pitchFamily="18" charset="0"/>
                </a:rPr>
                <a:t> </a:t>
              </a:r>
              <a:r>
                <a:rPr lang="en-US" altLang="zh-CN" sz="2800" i="1" dirty="0">
                  <a:latin typeface="Times New Roman" pitchFamily="18" charset="0"/>
                </a:rPr>
                <a:t>y</a:t>
              </a:r>
              <a:r>
                <a:rPr lang="en-US" altLang="zh-CN" sz="2800" dirty="0">
                  <a:latin typeface="Times New Roman" pitchFamily="18" charset="0"/>
                </a:rPr>
                <a:t> = (</a:t>
              </a:r>
              <a:r>
                <a:rPr lang="en-US" altLang="zh-CN" sz="2800" dirty="0">
                  <a:latin typeface="Times New Roman" pitchFamily="18" charset="0"/>
                  <a:cs typeface="Times New Roman" pitchFamily="18" charset="0"/>
                </a:rPr>
                <a:t>—) </a:t>
              </a:r>
              <a:r>
                <a:rPr lang="zh-CN" altLang="en-US" sz="2400" dirty="0">
                  <a:latin typeface="Times New Roman" pitchFamily="18" charset="0"/>
                </a:rPr>
                <a:t>×</a:t>
              </a:r>
              <a:r>
                <a:rPr lang="zh-CN" altLang="en-US" sz="2800" dirty="0">
                  <a:latin typeface="Times New Roman" pitchFamily="18" charset="0"/>
                </a:rPr>
                <a:t>2</a:t>
              </a:r>
              <a:r>
                <a:rPr lang="zh-CN" altLang="en-US" sz="2800" baseline="45000" dirty="0">
                  <a:latin typeface="Times New Roman" pitchFamily="18" charset="0"/>
                </a:rPr>
                <a:t>-4 </a:t>
              </a:r>
              <a:endParaRPr lang="en-US" altLang="zh-CN" sz="2800" baseline="45000" dirty="0">
                <a:latin typeface="Times New Roman" pitchFamily="18" charset="0"/>
              </a:endParaRPr>
            </a:p>
          </p:txBody>
        </p:sp>
        <p:sp>
          <p:nvSpPr>
            <p:cNvPr id="776197" name="Text Box 5"/>
            <p:cNvSpPr txBox="1">
              <a:spLocks noChangeArrowheads="1"/>
            </p:cNvSpPr>
            <p:nvPr/>
          </p:nvSpPr>
          <p:spPr bwMode="auto">
            <a:xfrm>
              <a:off x="1862" y="28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776198" name="Text Box 6"/>
            <p:cNvSpPr txBox="1">
              <a:spLocks noChangeArrowheads="1"/>
            </p:cNvSpPr>
            <p:nvPr/>
          </p:nvSpPr>
          <p:spPr bwMode="auto">
            <a:xfrm>
              <a:off x="1862" y="50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 dirty="0"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776199" name="Text Box 7"/>
            <p:cNvSpPr txBox="1">
              <a:spLocks noChangeArrowheads="1"/>
            </p:cNvSpPr>
            <p:nvPr/>
          </p:nvSpPr>
          <p:spPr bwMode="auto">
            <a:xfrm>
              <a:off x="3216" y="28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776200" name="Text Box 8"/>
            <p:cNvSpPr txBox="1">
              <a:spLocks noChangeArrowheads="1"/>
            </p:cNvSpPr>
            <p:nvPr/>
          </p:nvSpPr>
          <p:spPr bwMode="auto">
            <a:xfrm>
              <a:off x="3216" y="50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776201" name="Text Box 9"/>
            <p:cNvSpPr txBox="1">
              <a:spLocks noChangeArrowheads="1"/>
            </p:cNvSpPr>
            <p:nvPr/>
          </p:nvSpPr>
          <p:spPr bwMode="auto">
            <a:xfrm>
              <a:off x="912" y="720"/>
              <a:ext cx="350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 dirty="0">
                  <a:latin typeface="Times New Roman" pitchFamily="18" charset="0"/>
                </a:rPr>
                <a:t>求 </a:t>
              </a:r>
              <a:r>
                <a:rPr lang="en-US" altLang="zh-CN" sz="2800" i="1" dirty="0">
                  <a:latin typeface="Times New Roman" pitchFamily="18" charset="0"/>
                </a:rPr>
                <a:t>x</a:t>
              </a:r>
              <a:r>
                <a:rPr lang="en-US" altLang="zh-CN" sz="900" i="1" dirty="0">
                  <a:latin typeface="Times New Roman" pitchFamily="18" charset="0"/>
                </a:rPr>
                <a:t> </a:t>
              </a:r>
              <a:r>
                <a:rPr lang="en-US" altLang="zh-CN" sz="2800" dirty="0">
                  <a:latin typeface="Times New Roman" pitchFamily="18" charset="0"/>
                  <a:cs typeface="Times New Roman" pitchFamily="18" charset="0"/>
                </a:rPr>
                <a:t>–</a:t>
              </a:r>
              <a:r>
                <a:rPr lang="en-US" altLang="zh-CN" sz="9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2800" i="1" dirty="0" smtClean="0">
                  <a:latin typeface="Times New Roman" pitchFamily="18" charset="0"/>
                </a:rPr>
                <a:t>y</a:t>
              </a:r>
              <a:r>
                <a:rPr lang="en-US" altLang="zh-CN" sz="2400" dirty="0">
                  <a:latin typeface="Times New Roman" pitchFamily="18" charset="0"/>
                </a:rPr>
                <a:t> </a:t>
              </a:r>
              <a:r>
                <a:rPr lang="en-US" altLang="zh-CN" sz="2400" dirty="0" smtClean="0">
                  <a:latin typeface="Times New Roman" pitchFamily="18" charset="0"/>
                </a:rPr>
                <a:t> （</a:t>
              </a:r>
              <a:r>
                <a:rPr lang="zh-CN" altLang="en-US" sz="2400" dirty="0">
                  <a:latin typeface="Times New Roman" pitchFamily="18" charset="0"/>
                </a:rPr>
                <a:t>设</a:t>
              </a:r>
              <a:r>
                <a:rPr lang="en-US" altLang="zh-CN" sz="2400" i="1" dirty="0" err="1" smtClean="0">
                  <a:latin typeface="Times New Roman" pitchFamily="18" charset="0"/>
                </a:rPr>
                <a:t>j</a:t>
              </a:r>
              <a:r>
                <a:rPr lang="en-US" altLang="zh-CN" sz="2400" i="1" baseline="-25000" dirty="0" err="1" smtClean="0">
                  <a:latin typeface="Times New Roman" pitchFamily="18" charset="0"/>
                </a:rPr>
                <a:t>f</a:t>
              </a:r>
              <a:r>
                <a:rPr lang="en-US" altLang="zh-CN" sz="2400" i="1" baseline="-25000" dirty="0" smtClean="0">
                  <a:latin typeface="Times New Roman" pitchFamily="18" charset="0"/>
                </a:rPr>
                <a:t> </a:t>
              </a:r>
              <a:r>
                <a:rPr lang="en-US" altLang="zh-CN" sz="2400" i="1" dirty="0" err="1" smtClean="0">
                  <a:latin typeface="Times New Roman" pitchFamily="18" charset="0"/>
                </a:rPr>
                <a:t>S</a:t>
              </a:r>
              <a:r>
                <a:rPr lang="en-US" altLang="zh-CN" sz="2400" i="1" baseline="-25000" dirty="0" err="1" smtClean="0">
                  <a:latin typeface="Times New Roman" pitchFamily="18" charset="0"/>
                </a:rPr>
                <a:t>f</a:t>
              </a:r>
              <a:r>
                <a:rPr lang="zh-CN" altLang="en-US" sz="2400" dirty="0">
                  <a:latin typeface="Times New Roman" pitchFamily="18" charset="0"/>
                </a:rPr>
                <a:t>双符号位，</a:t>
              </a:r>
              <a:r>
                <a:rPr lang="en-US" altLang="zh-CN" sz="2400" dirty="0">
                  <a:latin typeface="Times New Roman" pitchFamily="18" charset="0"/>
                </a:rPr>
                <a:t>m=</a:t>
              </a:r>
              <a:r>
                <a:rPr lang="zh-CN" altLang="en-US" sz="2400" dirty="0">
                  <a:latin typeface="Times New Roman" pitchFamily="18" charset="0"/>
                </a:rPr>
                <a:t>3，</a:t>
              </a:r>
              <a:r>
                <a:rPr lang="en-US" altLang="zh-CN" sz="2400" dirty="0">
                  <a:latin typeface="Times New Roman" pitchFamily="18" charset="0"/>
                </a:rPr>
                <a:t>n=</a:t>
              </a:r>
              <a:r>
                <a:rPr lang="zh-CN" altLang="en-US" sz="2400" dirty="0">
                  <a:latin typeface="Times New Roman" pitchFamily="18" charset="0"/>
                </a:rPr>
                <a:t>6）</a:t>
              </a:r>
            </a:p>
          </p:txBody>
        </p:sp>
      </p:grpSp>
      <p:sp>
        <p:nvSpPr>
          <p:cNvPr id="776202" name="Text Box 10"/>
          <p:cNvSpPr txBox="1">
            <a:spLocks noChangeArrowheads="1"/>
          </p:cNvSpPr>
          <p:nvPr/>
        </p:nvSpPr>
        <p:spPr bwMode="auto">
          <a:xfrm>
            <a:off x="517525" y="1766888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解：</a:t>
            </a:r>
          </a:p>
        </p:txBody>
      </p:sp>
      <p:sp>
        <p:nvSpPr>
          <p:cNvPr id="776203" name="Text Box 11"/>
          <p:cNvSpPr txBox="1">
            <a:spLocks noChangeArrowheads="1"/>
          </p:cNvSpPr>
          <p:nvPr/>
        </p:nvSpPr>
        <p:spPr bwMode="auto">
          <a:xfrm>
            <a:off x="1295400" y="2438400"/>
            <a:ext cx="3494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latin typeface="Times New Roman" pitchFamily="18" charset="0"/>
              </a:rPr>
              <a:t>[</a:t>
            </a:r>
            <a:r>
              <a:rPr lang="en-US" altLang="zh-CN" sz="2400" i="1">
                <a:latin typeface="Times New Roman" pitchFamily="18" charset="0"/>
              </a:rPr>
              <a:t>x</a:t>
            </a:r>
            <a:r>
              <a:rPr lang="en-US" altLang="zh-CN" sz="2400">
                <a:latin typeface="Times New Roman" pitchFamily="18" charset="0"/>
              </a:rPr>
              <a:t>]</a:t>
            </a:r>
            <a:r>
              <a:rPr lang="zh-CN" altLang="en-US" sz="2000" baseline="-25000">
                <a:latin typeface="Times New Roman" pitchFamily="18" charset="0"/>
              </a:rPr>
              <a:t>补</a:t>
            </a:r>
            <a:r>
              <a:rPr lang="zh-CN" altLang="en-US" sz="2400">
                <a:latin typeface="Times New Roman" pitchFamily="18" charset="0"/>
              </a:rPr>
              <a:t> = 11, 011; 11. 011000</a:t>
            </a:r>
          </a:p>
        </p:txBody>
      </p:sp>
      <p:sp>
        <p:nvSpPr>
          <p:cNvPr id="776204" name="Text Box 12"/>
          <p:cNvSpPr txBox="1">
            <a:spLocks noChangeArrowheads="1"/>
          </p:cNvSpPr>
          <p:nvPr/>
        </p:nvSpPr>
        <p:spPr bwMode="auto">
          <a:xfrm>
            <a:off x="5105400" y="2438400"/>
            <a:ext cx="3476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latin typeface="Times New Roman" pitchFamily="18" charset="0"/>
              </a:rPr>
              <a:t>[</a:t>
            </a:r>
            <a:r>
              <a:rPr lang="en-US" altLang="zh-CN" sz="2400" i="1" dirty="0">
                <a:latin typeface="Times New Roman" pitchFamily="18" charset="0"/>
              </a:rPr>
              <a:t>y</a:t>
            </a:r>
            <a:r>
              <a:rPr lang="en-US" altLang="zh-CN" sz="2400" dirty="0">
                <a:latin typeface="Times New Roman" pitchFamily="18" charset="0"/>
              </a:rPr>
              <a:t>]</a:t>
            </a:r>
            <a:r>
              <a:rPr lang="zh-CN" altLang="en-US" sz="2000" baseline="-25000" dirty="0">
                <a:latin typeface="Times New Roman" pitchFamily="18" charset="0"/>
              </a:rPr>
              <a:t>补</a:t>
            </a:r>
            <a:r>
              <a:rPr lang="zh-CN" altLang="en-US" sz="2400" dirty="0">
                <a:latin typeface="Times New Roman" pitchFamily="18" charset="0"/>
              </a:rPr>
              <a:t> = 11, 100; 00. 111000</a:t>
            </a:r>
          </a:p>
        </p:txBody>
      </p:sp>
      <p:sp>
        <p:nvSpPr>
          <p:cNvPr id="776205" name="Text Box 13"/>
          <p:cNvSpPr txBox="1">
            <a:spLocks noChangeArrowheads="1"/>
          </p:cNvSpPr>
          <p:nvPr/>
        </p:nvSpPr>
        <p:spPr bwMode="auto">
          <a:xfrm>
            <a:off x="1203325" y="3073400"/>
            <a:ext cx="1179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latin typeface="Times New Roman" pitchFamily="18" charset="0"/>
              </a:rPr>
              <a:t>① 对阶</a:t>
            </a:r>
          </a:p>
        </p:txBody>
      </p:sp>
      <p:sp>
        <p:nvSpPr>
          <p:cNvPr id="776206" name="Text Box 14"/>
          <p:cNvSpPr txBox="1">
            <a:spLocks noChangeArrowheads="1"/>
          </p:cNvSpPr>
          <p:nvPr/>
        </p:nvSpPr>
        <p:spPr bwMode="auto">
          <a:xfrm>
            <a:off x="1812925" y="3632200"/>
            <a:ext cx="2693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latin typeface="Times New Roman" pitchFamily="18" charset="0"/>
              </a:rPr>
              <a:t>[</a:t>
            </a:r>
            <a:r>
              <a:rPr lang="en-US" altLang="zh-CN" sz="2000">
                <a:latin typeface="Times New Roman" pitchFamily="18" charset="0"/>
              </a:rPr>
              <a:t>Δ</a:t>
            </a:r>
            <a:r>
              <a:rPr lang="en-US" altLang="zh-CN" sz="2400" i="1">
                <a:latin typeface="Times New Roman" pitchFamily="18" charset="0"/>
              </a:rPr>
              <a:t>j</a:t>
            </a:r>
            <a:r>
              <a:rPr lang="en-US" altLang="zh-CN" sz="2400">
                <a:latin typeface="Times New Roman" pitchFamily="18" charset="0"/>
              </a:rPr>
              <a:t>]</a:t>
            </a:r>
            <a:r>
              <a:rPr lang="zh-CN" altLang="en-US" sz="2000" baseline="-25000">
                <a:latin typeface="Times New Roman" pitchFamily="18" charset="0"/>
              </a:rPr>
              <a:t>补</a:t>
            </a:r>
            <a:r>
              <a:rPr lang="zh-CN" altLang="en-US" sz="2400">
                <a:latin typeface="Times New Roman" pitchFamily="18" charset="0"/>
              </a:rPr>
              <a:t> = [</a:t>
            </a:r>
            <a:r>
              <a:rPr lang="en-US" altLang="zh-CN" sz="2400" i="1">
                <a:latin typeface="Times New Roman" pitchFamily="18" charset="0"/>
              </a:rPr>
              <a:t>j</a:t>
            </a:r>
            <a:r>
              <a:rPr lang="en-US" altLang="zh-CN" sz="2400" i="1" baseline="-25000">
                <a:latin typeface="Times New Roman" pitchFamily="18" charset="0"/>
              </a:rPr>
              <a:t>x</a:t>
            </a:r>
            <a:r>
              <a:rPr lang="en-US" altLang="zh-CN" sz="2400">
                <a:latin typeface="Times New Roman" pitchFamily="18" charset="0"/>
              </a:rPr>
              <a:t>]</a:t>
            </a:r>
            <a:r>
              <a:rPr lang="zh-CN" altLang="en-US" sz="2000" baseline="-25000">
                <a:latin typeface="Times New Roman" pitchFamily="18" charset="0"/>
              </a:rPr>
              <a:t>补</a:t>
            </a:r>
            <a:r>
              <a:rPr lang="zh-CN" altLang="en-US" sz="2400">
                <a:latin typeface="Times New Roman" pitchFamily="18" charset="0"/>
              </a:rPr>
              <a:t> </a:t>
            </a:r>
            <a:r>
              <a:rPr lang="zh-CN" altLang="en-US" sz="2400">
                <a:latin typeface="Times New Roman" pitchFamily="18" charset="0"/>
                <a:cs typeface="Times New Roman" pitchFamily="18" charset="0"/>
              </a:rPr>
              <a:t>– [</a:t>
            </a:r>
            <a:r>
              <a:rPr lang="en-US" altLang="zh-CN" sz="2400" i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sz="2400" i="1" baseline="-2500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zh-CN" altLang="en-US" sz="2000" baseline="-25000">
                <a:latin typeface="Times New Roman" pitchFamily="18" charset="0"/>
              </a:rPr>
              <a:t>补</a:t>
            </a:r>
            <a:r>
              <a:rPr lang="zh-CN" altLang="en-US" sz="2400">
                <a:latin typeface="Times New Roman" pitchFamily="18" charset="0"/>
              </a:rPr>
              <a:t> </a:t>
            </a:r>
          </a:p>
        </p:txBody>
      </p:sp>
      <p:sp>
        <p:nvSpPr>
          <p:cNvPr id="776207" name="Text Box 15"/>
          <p:cNvSpPr txBox="1">
            <a:spLocks noChangeArrowheads="1"/>
          </p:cNvSpPr>
          <p:nvPr/>
        </p:nvSpPr>
        <p:spPr bwMode="auto">
          <a:xfrm>
            <a:off x="4435475" y="3667125"/>
            <a:ext cx="1889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latin typeface="Times New Roman" pitchFamily="18" charset="0"/>
              </a:rPr>
              <a:t>=  11, 011</a:t>
            </a:r>
          </a:p>
        </p:txBody>
      </p:sp>
      <p:sp>
        <p:nvSpPr>
          <p:cNvPr id="776208" name="Text Box 16"/>
          <p:cNvSpPr txBox="1">
            <a:spLocks noChangeArrowheads="1"/>
          </p:cNvSpPr>
          <p:nvPr/>
        </p:nvSpPr>
        <p:spPr bwMode="auto">
          <a:xfrm>
            <a:off x="4668838" y="4038600"/>
            <a:ext cx="2189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latin typeface="Times New Roman" pitchFamily="18" charset="0"/>
              </a:rPr>
              <a:t> 00, 100</a:t>
            </a:r>
          </a:p>
        </p:txBody>
      </p:sp>
      <p:sp>
        <p:nvSpPr>
          <p:cNvPr id="776209" name="Text Box 17"/>
          <p:cNvSpPr txBox="1">
            <a:spLocks noChangeArrowheads="1"/>
          </p:cNvSpPr>
          <p:nvPr/>
        </p:nvSpPr>
        <p:spPr bwMode="auto">
          <a:xfrm>
            <a:off x="4684713" y="4495800"/>
            <a:ext cx="163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latin typeface="Times New Roman" pitchFamily="18" charset="0"/>
              </a:rPr>
              <a:t> 11, 111</a:t>
            </a:r>
          </a:p>
        </p:txBody>
      </p:sp>
      <p:sp>
        <p:nvSpPr>
          <p:cNvPr id="776210" name="Line 18"/>
          <p:cNvSpPr>
            <a:spLocks noChangeShapeType="1"/>
          </p:cNvSpPr>
          <p:nvPr/>
        </p:nvSpPr>
        <p:spPr bwMode="auto">
          <a:xfrm>
            <a:off x="4419600" y="44958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76211" name="Text Box 19"/>
          <p:cNvSpPr txBox="1">
            <a:spLocks noChangeArrowheads="1"/>
          </p:cNvSpPr>
          <p:nvPr/>
        </p:nvSpPr>
        <p:spPr bwMode="auto">
          <a:xfrm>
            <a:off x="1889125" y="5181600"/>
            <a:ext cx="1484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latin typeface="Times New Roman" pitchFamily="18" charset="0"/>
              </a:rPr>
              <a:t>阶差为 </a:t>
            </a:r>
            <a:r>
              <a:rPr lang="zh-CN" altLang="en-US" sz="240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zh-CN" altLang="en-US" sz="2400">
                <a:latin typeface="Times New Roman" pitchFamily="18" charset="0"/>
              </a:rPr>
              <a:t>1</a:t>
            </a:r>
          </a:p>
        </p:txBody>
      </p:sp>
      <p:grpSp>
        <p:nvGrpSpPr>
          <p:cNvPr id="776212" name="Group 20"/>
          <p:cNvGrpSpPr>
            <a:grpSpLocks/>
          </p:cNvGrpSpPr>
          <p:nvPr/>
        </p:nvGrpSpPr>
        <p:grpSpPr bwMode="auto">
          <a:xfrm>
            <a:off x="3946525" y="5181600"/>
            <a:ext cx="2379663" cy="457200"/>
            <a:chOff x="2486" y="3072"/>
            <a:chExt cx="1499" cy="288"/>
          </a:xfrm>
        </p:grpSpPr>
        <p:sp>
          <p:nvSpPr>
            <p:cNvPr id="776213" name="Text Box 21"/>
            <p:cNvSpPr txBox="1">
              <a:spLocks noChangeArrowheads="1"/>
            </p:cNvSpPr>
            <p:nvPr/>
          </p:nvSpPr>
          <p:spPr bwMode="auto">
            <a:xfrm>
              <a:off x="2486" y="3072"/>
              <a:ext cx="149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>
                  <a:latin typeface="Times New Roman" pitchFamily="18" charset="0"/>
                </a:rPr>
                <a:t>∴ </a:t>
              </a:r>
              <a:r>
                <a:rPr lang="en-US" altLang="zh-CN" sz="2400" i="1">
                  <a:latin typeface="Times New Roman" pitchFamily="18" charset="0"/>
                </a:rPr>
                <a:t>S</a:t>
              </a:r>
              <a:r>
                <a:rPr lang="en-US" altLang="zh-CN" sz="2400" i="1" baseline="-25000">
                  <a:latin typeface="Times New Roman" pitchFamily="18" charset="0"/>
                </a:rPr>
                <a:t>x</a:t>
              </a:r>
              <a:r>
                <a:rPr lang="en-US" altLang="zh-CN" sz="2400">
                  <a:latin typeface="Times New Roman" pitchFamily="18" charset="0"/>
                </a:rPr>
                <a:t>      1,    </a:t>
              </a:r>
              <a:r>
                <a:rPr lang="en-US" altLang="zh-CN" sz="2400" i="1">
                  <a:latin typeface="Times New Roman" pitchFamily="18" charset="0"/>
                </a:rPr>
                <a:t>j</a:t>
              </a:r>
              <a:r>
                <a:rPr lang="en-US" altLang="zh-CN" sz="2400" i="1" baseline="-25000">
                  <a:latin typeface="Times New Roman" pitchFamily="18" charset="0"/>
                </a:rPr>
                <a:t>x</a:t>
              </a:r>
              <a:r>
                <a:rPr lang="en-US" altLang="zh-CN" sz="2400">
                  <a:latin typeface="Times New Roman" pitchFamily="18" charset="0"/>
                </a:rPr>
                <a:t>+</a:t>
              </a:r>
              <a:r>
                <a:rPr lang="en-US" altLang="zh-CN" sz="1200">
                  <a:latin typeface="Times New Roman" pitchFamily="18" charset="0"/>
                </a:rPr>
                <a:t> </a:t>
              </a:r>
              <a:r>
                <a:rPr lang="en-US" altLang="zh-CN" sz="24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776214" name="Line 22"/>
            <p:cNvSpPr>
              <a:spLocks noChangeShapeType="1"/>
            </p:cNvSpPr>
            <p:nvPr/>
          </p:nvSpPr>
          <p:spPr bwMode="auto">
            <a:xfrm>
              <a:off x="2928" y="3216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76215" name="Text Box 23"/>
          <p:cNvSpPr txBox="1">
            <a:spLocks noChangeArrowheads="1"/>
          </p:cNvSpPr>
          <p:nvPr/>
        </p:nvSpPr>
        <p:spPr bwMode="auto">
          <a:xfrm>
            <a:off x="1520825" y="5943600"/>
            <a:ext cx="39735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chemeClr val="folHlink"/>
                </a:solidFill>
                <a:latin typeface="Times New Roman" pitchFamily="18" charset="0"/>
              </a:rPr>
              <a:t>∴ [</a:t>
            </a:r>
            <a:r>
              <a:rPr lang="en-US" altLang="zh-CN" sz="2400" i="1" dirty="0">
                <a:solidFill>
                  <a:schemeClr val="folHlink"/>
                </a:solidFill>
                <a:latin typeface="Times New Roman" pitchFamily="18" charset="0"/>
              </a:rPr>
              <a:t>x</a:t>
            </a:r>
            <a:r>
              <a:rPr lang="en-US" altLang="zh-CN" sz="2400" dirty="0" smtClean="0">
                <a:solidFill>
                  <a:schemeClr val="folHlink"/>
                </a:solidFill>
                <a:latin typeface="Times New Roman" pitchFamily="18" charset="0"/>
              </a:rPr>
              <a:t>]</a:t>
            </a:r>
            <a:r>
              <a:rPr lang="en-US" altLang="zh-CN" sz="2000" dirty="0" smtClean="0">
                <a:solidFill>
                  <a:schemeClr val="folHlin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’</a:t>
            </a:r>
            <a:r>
              <a:rPr lang="zh-CN" altLang="en-US" sz="2000" baseline="-25000" dirty="0" smtClean="0">
                <a:solidFill>
                  <a:schemeClr val="folHlink"/>
                </a:solidFill>
                <a:latin typeface="Times New Roman" pitchFamily="18" charset="0"/>
              </a:rPr>
              <a:t>补</a:t>
            </a:r>
            <a:r>
              <a:rPr lang="zh-CN" altLang="en-US" sz="2400" dirty="0" smtClean="0">
                <a:solidFill>
                  <a:schemeClr val="folHlink"/>
                </a:solidFill>
                <a:latin typeface="Times New Roman" pitchFamily="18" charset="0"/>
              </a:rPr>
              <a:t> </a:t>
            </a:r>
            <a:r>
              <a:rPr lang="zh-CN" altLang="en-US" sz="2400" dirty="0">
                <a:solidFill>
                  <a:schemeClr val="folHlink"/>
                </a:solidFill>
                <a:latin typeface="Times New Roman" pitchFamily="18" charset="0"/>
              </a:rPr>
              <a:t>= 11, 100; 11. 101100</a:t>
            </a:r>
          </a:p>
        </p:txBody>
      </p:sp>
      <p:sp>
        <p:nvSpPr>
          <p:cNvPr id="776216" name="Text Box 24"/>
          <p:cNvSpPr txBox="1">
            <a:spLocks noChangeArrowheads="1"/>
          </p:cNvSpPr>
          <p:nvPr/>
        </p:nvSpPr>
        <p:spPr bwMode="auto">
          <a:xfrm>
            <a:off x="1600200" y="1819275"/>
            <a:ext cx="3097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i="1" dirty="0">
                <a:latin typeface="Times New Roman" pitchFamily="18" charset="0"/>
              </a:rPr>
              <a:t>x</a:t>
            </a:r>
            <a:r>
              <a:rPr lang="en-US" altLang="zh-CN" sz="2800" dirty="0">
                <a:latin typeface="Times New Roman" pitchFamily="18" charset="0"/>
              </a:rPr>
              <a:t> = (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– 0.101000)</a:t>
            </a:r>
            <a:r>
              <a:rPr lang="zh-CN" altLang="en-US" sz="2400" dirty="0">
                <a:latin typeface="Times New Roman" pitchFamily="18" charset="0"/>
              </a:rPr>
              <a:t>×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000" baseline="45000" dirty="0">
                <a:latin typeface="Times New Roman" pitchFamily="18" charset="0"/>
                <a:cs typeface="Times New Roman" pitchFamily="18" charset="0"/>
              </a:rPr>
              <a:t>-101</a:t>
            </a:r>
            <a:endParaRPr lang="en-US" altLang="zh-CN" sz="2000" baseline="4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76217" name="Text Box 25"/>
          <p:cNvSpPr txBox="1">
            <a:spLocks noChangeArrowheads="1"/>
          </p:cNvSpPr>
          <p:nvPr/>
        </p:nvSpPr>
        <p:spPr bwMode="auto">
          <a:xfrm>
            <a:off x="5437188" y="1819274"/>
            <a:ext cx="29225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i="1" dirty="0">
                <a:latin typeface="Times New Roman" pitchFamily="18" charset="0"/>
              </a:rPr>
              <a:t>y</a:t>
            </a:r>
            <a:r>
              <a:rPr lang="en-US" altLang="zh-CN" sz="2800" dirty="0">
                <a:latin typeface="Times New Roman" pitchFamily="18" charset="0"/>
              </a:rPr>
              <a:t> = (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 0.111000)</a:t>
            </a:r>
            <a:r>
              <a:rPr lang="zh-CN" altLang="en-US" sz="2400" dirty="0">
                <a:latin typeface="Times New Roman" pitchFamily="18" charset="0"/>
              </a:rPr>
              <a:t>×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000" baseline="45000" dirty="0">
                <a:latin typeface="Times New Roman" pitchFamily="18" charset="0"/>
                <a:cs typeface="Times New Roman" pitchFamily="18" charset="0"/>
              </a:rPr>
              <a:t>-100</a:t>
            </a:r>
            <a:endParaRPr lang="en-US" altLang="zh-CN" sz="2000" baseline="4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76218" name="Text Box 26"/>
          <p:cNvSpPr txBox="1">
            <a:spLocks noChangeArrowheads="1"/>
          </p:cNvSpPr>
          <p:nvPr/>
        </p:nvSpPr>
        <p:spPr bwMode="auto">
          <a:xfrm>
            <a:off x="4419600" y="4038600"/>
            <a:ext cx="357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latin typeface="Times New Roman" pitchFamily="18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34677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6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6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76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7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76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7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76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76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76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76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776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76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776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776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776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6202" grpId="0" autoUpdateAnimBg="0"/>
      <p:bldP spid="776203" grpId="0" autoUpdateAnimBg="0"/>
      <p:bldP spid="776204" grpId="0" autoUpdateAnimBg="0"/>
      <p:bldP spid="776205" grpId="0" autoUpdateAnimBg="0"/>
      <p:bldP spid="776206" grpId="0" autoUpdateAnimBg="0"/>
      <p:bldP spid="776207" grpId="0" autoUpdateAnimBg="0"/>
      <p:bldP spid="776208" grpId="0" autoUpdateAnimBg="0"/>
      <p:bldP spid="776209" grpId="0" autoUpdateAnimBg="0"/>
      <p:bldP spid="776210" grpId="0" animBg="1"/>
      <p:bldP spid="776211" grpId="0" autoUpdateAnimBg="0"/>
      <p:bldP spid="776215" grpId="0" autoUpdateAnimBg="0"/>
      <p:bldP spid="776216" grpId="0" autoUpdateAnimBg="0"/>
      <p:bldP spid="776217" grpId="0" autoUpdateAnimBg="0"/>
      <p:bldP spid="776218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Text Box 2"/>
          <p:cNvSpPr txBox="1">
            <a:spLocks noChangeArrowheads="1"/>
          </p:cNvSpPr>
          <p:nvPr/>
        </p:nvSpPr>
        <p:spPr bwMode="auto">
          <a:xfrm>
            <a:off x="560259" y="252679"/>
            <a:ext cx="37544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3200" dirty="0">
                <a:latin typeface="Times New Roman" pitchFamily="18" charset="0"/>
              </a:rPr>
              <a:t>② 尾数求和</a:t>
            </a:r>
          </a:p>
        </p:txBody>
      </p:sp>
      <p:sp>
        <p:nvSpPr>
          <p:cNvPr id="777219" name="Text Box 3"/>
          <p:cNvSpPr txBox="1">
            <a:spLocks noChangeArrowheads="1"/>
          </p:cNvSpPr>
          <p:nvPr/>
        </p:nvSpPr>
        <p:spPr bwMode="auto">
          <a:xfrm>
            <a:off x="4314697" y="408304"/>
            <a:ext cx="30401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[</a:t>
            </a:r>
            <a:r>
              <a:rPr lang="en-US" altLang="zh-CN" sz="2800" i="1" dirty="0" err="1">
                <a:latin typeface="Times New Roman" pitchFamily="18" charset="0"/>
              </a:rPr>
              <a:t>S</a:t>
            </a:r>
            <a:r>
              <a:rPr lang="en-US" altLang="zh-CN" sz="2800" i="1" baseline="-25000" dirty="0" err="1">
                <a:latin typeface="Times New Roman" pitchFamily="18" charset="0"/>
              </a:rPr>
              <a:t>x</a:t>
            </a:r>
            <a:r>
              <a:rPr lang="en-US" altLang="zh-CN" sz="2800" dirty="0" smtClean="0">
                <a:latin typeface="Times New Roman" pitchFamily="18" charset="0"/>
              </a:rPr>
              <a:t>]</a:t>
            </a:r>
            <a:r>
              <a:rPr lang="en-US" altLang="zh-CN" sz="2400" dirty="0" smtClean="0">
                <a:solidFill>
                  <a:schemeClr val="folHlin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’</a:t>
            </a:r>
            <a:r>
              <a:rPr lang="zh-CN" altLang="en-US" sz="2400" baseline="-25000" dirty="0" smtClean="0">
                <a:latin typeface="Times New Roman" pitchFamily="18" charset="0"/>
              </a:rPr>
              <a:t>补</a:t>
            </a:r>
            <a:r>
              <a:rPr lang="zh-CN" altLang="en-US" sz="2800" dirty="0" smtClean="0">
                <a:latin typeface="Times New Roman" pitchFamily="18" charset="0"/>
              </a:rPr>
              <a:t> </a:t>
            </a:r>
            <a:r>
              <a:rPr lang="zh-CN" altLang="en-US" sz="2800" dirty="0">
                <a:latin typeface="Times New Roman" pitchFamily="18" charset="0"/>
              </a:rPr>
              <a:t>= </a:t>
            </a:r>
            <a:r>
              <a:rPr lang="zh-CN" altLang="en-US" sz="2800" dirty="0">
                <a:solidFill>
                  <a:schemeClr val="folHlink"/>
                </a:solidFill>
                <a:latin typeface="Times New Roman" pitchFamily="18" charset="0"/>
              </a:rPr>
              <a:t>11. 101100</a:t>
            </a:r>
          </a:p>
        </p:txBody>
      </p:sp>
      <p:sp>
        <p:nvSpPr>
          <p:cNvPr id="777220" name="Text Box 4"/>
          <p:cNvSpPr txBox="1">
            <a:spLocks noChangeArrowheads="1"/>
          </p:cNvSpPr>
          <p:nvPr/>
        </p:nvSpPr>
        <p:spPr bwMode="auto">
          <a:xfrm>
            <a:off x="4219447" y="889317"/>
            <a:ext cx="3089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[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zh-CN" sz="2800" i="1" dirty="0" err="1">
                <a:latin typeface="Times New Roman" pitchFamily="18" charset="0"/>
              </a:rPr>
              <a:t>S</a:t>
            </a:r>
            <a:r>
              <a:rPr lang="en-US" altLang="zh-CN" sz="2800" i="1" baseline="-25000" dirty="0" err="1">
                <a:latin typeface="Times New Roman" pitchFamily="18" charset="0"/>
              </a:rPr>
              <a:t>y</a:t>
            </a:r>
            <a:r>
              <a:rPr lang="en-US" altLang="zh-CN" sz="2800" dirty="0">
                <a:latin typeface="Times New Roman" pitchFamily="18" charset="0"/>
              </a:rPr>
              <a:t>]</a:t>
            </a:r>
            <a:r>
              <a:rPr lang="zh-CN" altLang="en-US" sz="2400" baseline="-25000" dirty="0">
                <a:latin typeface="Times New Roman" pitchFamily="18" charset="0"/>
              </a:rPr>
              <a:t>补</a:t>
            </a:r>
            <a:r>
              <a:rPr lang="zh-CN" altLang="en-US" sz="2800" dirty="0">
                <a:latin typeface="Times New Roman" pitchFamily="18" charset="0"/>
              </a:rPr>
              <a:t> = 11. 001000</a:t>
            </a:r>
          </a:p>
        </p:txBody>
      </p:sp>
      <p:sp>
        <p:nvSpPr>
          <p:cNvPr id="777221" name="Line 5"/>
          <p:cNvSpPr>
            <a:spLocks noChangeShapeType="1"/>
          </p:cNvSpPr>
          <p:nvPr/>
        </p:nvSpPr>
        <p:spPr bwMode="auto">
          <a:xfrm>
            <a:off x="3857497" y="1398904"/>
            <a:ext cx="3403600" cy="9525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77222" name="Text Box 6"/>
          <p:cNvSpPr txBox="1">
            <a:spLocks noChangeArrowheads="1"/>
          </p:cNvSpPr>
          <p:nvPr/>
        </p:nvSpPr>
        <p:spPr bwMode="auto">
          <a:xfrm>
            <a:off x="3816222" y="941704"/>
            <a:ext cx="387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>
                <a:latin typeface="Times New Roman" pitchFamily="18" charset="0"/>
              </a:rPr>
              <a:t>+</a:t>
            </a:r>
          </a:p>
        </p:txBody>
      </p:sp>
      <p:sp>
        <p:nvSpPr>
          <p:cNvPr id="777223" name="Text Box 7"/>
          <p:cNvSpPr txBox="1">
            <a:spLocks noChangeArrowheads="1"/>
          </p:cNvSpPr>
          <p:nvPr/>
        </p:nvSpPr>
        <p:spPr bwMode="auto">
          <a:xfrm>
            <a:off x="5362447" y="1398904"/>
            <a:ext cx="2095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110. 110100</a:t>
            </a:r>
          </a:p>
        </p:txBody>
      </p:sp>
      <p:sp>
        <p:nvSpPr>
          <p:cNvPr id="777225" name="Text Box 9"/>
          <p:cNvSpPr txBox="1">
            <a:spLocks noChangeArrowheads="1"/>
          </p:cNvSpPr>
          <p:nvPr/>
        </p:nvSpPr>
        <p:spPr bwMode="auto">
          <a:xfrm>
            <a:off x="1398837" y="2024391"/>
            <a:ext cx="50824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 smtClean="0">
                <a:latin typeface="Times New Roman" pitchFamily="18" charset="0"/>
              </a:rPr>
              <a:t>即  [</a:t>
            </a:r>
            <a:r>
              <a:rPr lang="en-US" altLang="zh-CN" sz="2800" i="1" dirty="0">
                <a:latin typeface="Times New Roman" pitchFamily="18" charset="0"/>
              </a:rPr>
              <a:t>x </a:t>
            </a:r>
            <a:r>
              <a:rPr lang="zh-CN" altLang="en-US" sz="2800" dirty="0">
                <a:latin typeface="Times New Roman" pitchFamily="18" charset="0"/>
              </a:rPr>
              <a:t>–</a:t>
            </a:r>
            <a:r>
              <a:rPr lang="en-US" altLang="zh-CN" sz="2800" b="0" dirty="0">
                <a:latin typeface="Times New Roman" pitchFamily="18" charset="0"/>
              </a:rPr>
              <a:t> </a:t>
            </a:r>
            <a:r>
              <a:rPr lang="en-US" altLang="zh-CN" sz="2800" i="1" dirty="0">
                <a:latin typeface="Times New Roman" pitchFamily="18" charset="0"/>
              </a:rPr>
              <a:t>y</a:t>
            </a:r>
            <a:r>
              <a:rPr lang="en-US" altLang="zh-CN" sz="2800" dirty="0">
                <a:latin typeface="Times New Roman" pitchFamily="18" charset="0"/>
              </a:rPr>
              <a:t>]</a:t>
            </a:r>
            <a:r>
              <a:rPr lang="zh-CN" altLang="en-US" sz="2400" baseline="-25000" dirty="0">
                <a:latin typeface="Times New Roman" pitchFamily="18" charset="0"/>
              </a:rPr>
              <a:t>补</a:t>
            </a:r>
            <a:r>
              <a:rPr lang="zh-CN" altLang="en-US" sz="2800" dirty="0">
                <a:latin typeface="Times New Roman" pitchFamily="18" charset="0"/>
              </a:rPr>
              <a:t> = 11, 100; 10. 110100</a:t>
            </a:r>
          </a:p>
        </p:txBody>
      </p:sp>
      <p:sp>
        <p:nvSpPr>
          <p:cNvPr id="777226" name="Text Box 10"/>
          <p:cNvSpPr txBox="1">
            <a:spLocks noChangeArrowheads="1"/>
          </p:cNvSpPr>
          <p:nvPr/>
        </p:nvSpPr>
        <p:spPr bwMode="auto">
          <a:xfrm>
            <a:off x="1989009" y="3445569"/>
            <a:ext cx="476130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[</a:t>
            </a:r>
            <a:r>
              <a:rPr lang="en-US" altLang="zh-CN" sz="2800" i="1" dirty="0">
                <a:latin typeface="Times New Roman" pitchFamily="18" charset="0"/>
              </a:rPr>
              <a:t>x </a:t>
            </a:r>
            <a:r>
              <a:rPr lang="zh-CN" altLang="en-US" sz="2800" dirty="0">
                <a:latin typeface="Times New Roman" pitchFamily="18" charset="0"/>
              </a:rPr>
              <a:t>–</a:t>
            </a:r>
            <a:r>
              <a:rPr lang="en-US" altLang="zh-CN" sz="1600" b="0" dirty="0">
                <a:latin typeface="Times New Roman" pitchFamily="18" charset="0"/>
              </a:rPr>
              <a:t> </a:t>
            </a:r>
            <a:r>
              <a:rPr lang="en-US" altLang="zh-CN" sz="2800" i="1" dirty="0">
                <a:latin typeface="Times New Roman" pitchFamily="18" charset="0"/>
              </a:rPr>
              <a:t>y</a:t>
            </a:r>
            <a:r>
              <a:rPr lang="en-US" altLang="zh-CN" sz="2800" dirty="0">
                <a:latin typeface="Times New Roman" pitchFamily="18" charset="0"/>
              </a:rPr>
              <a:t>]</a:t>
            </a:r>
            <a:r>
              <a:rPr lang="zh-CN" altLang="en-US" sz="2400" baseline="-25000" dirty="0">
                <a:latin typeface="Times New Roman" pitchFamily="18" charset="0"/>
              </a:rPr>
              <a:t>补</a:t>
            </a:r>
            <a:r>
              <a:rPr lang="zh-CN" altLang="en-US" sz="2800" dirty="0">
                <a:latin typeface="Times New Roman" pitchFamily="18" charset="0"/>
              </a:rPr>
              <a:t> = 11, 101; 11. </a:t>
            </a:r>
            <a:r>
              <a:rPr lang="zh-CN" altLang="en-US" sz="2800" dirty="0" smtClean="0">
                <a:latin typeface="Times New Roman" pitchFamily="18" charset="0"/>
              </a:rPr>
              <a:t>011010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itchFamily="18" charset="0"/>
              </a:rPr>
              <a:t>0</a:t>
            </a:r>
            <a:endParaRPr lang="zh-CN" altLang="en-US" sz="28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777227" name="Text Box 11"/>
          <p:cNvSpPr txBox="1">
            <a:spLocks noChangeArrowheads="1"/>
          </p:cNvSpPr>
          <p:nvPr/>
        </p:nvSpPr>
        <p:spPr bwMode="auto">
          <a:xfrm>
            <a:off x="551273" y="2574849"/>
            <a:ext cx="838587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③ </a:t>
            </a:r>
            <a:r>
              <a:rPr lang="zh-CN" altLang="en-US" sz="2800" dirty="0" smtClean="0">
                <a:latin typeface="Times New Roman" pitchFamily="18" charset="0"/>
              </a:rPr>
              <a:t>规格化</a:t>
            </a:r>
            <a:r>
              <a:rPr lang="en-US" altLang="zh-CN" sz="2800" dirty="0" smtClean="0">
                <a:latin typeface="Times New Roman" pitchFamily="18" charset="0"/>
              </a:rPr>
              <a:t>  </a:t>
            </a:r>
          </a:p>
          <a:p>
            <a:pPr>
              <a:spcBef>
                <a:spcPct val="0"/>
              </a:spcBef>
            </a:pPr>
            <a:r>
              <a:rPr lang="en-US" altLang="zh-CN" sz="2800" dirty="0" smtClean="0">
                <a:latin typeface="Times New Roman" pitchFamily="18" charset="0"/>
              </a:rPr>
              <a:t>   </a:t>
            </a:r>
            <a:r>
              <a:rPr lang="zh-CN" altLang="en-US" sz="2800" dirty="0" smtClean="0">
                <a:latin typeface="Times New Roman" pitchFamily="18" charset="0"/>
              </a:rPr>
              <a:t>尾数</a:t>
            </a:r>
            <a:r>
              <a:rPr lang="zh-CN" altLang="en-US" sz="2800" dirty="0">
                <a:latin typeface="Times New Roman" pitchFamily="18" charset="0"/>
              </a:rPr>
              <a:t>符号位为</a:t>
            </a:r>
            <a:r>
              <a:rPr lang="zh-CN" altLang="en-US" sz="2800" dirty="0" smtClean="0">
                <a:latin typeface="Times New Roman" pitchFamily="18" charset="0"/>
              </a:rPr>
              <a:t>“</a:t>
            </a:r>
            <a:r>
              <a:rPr lang="en-US" altLang="zh-CN" sz="2800" dirty="0" smtClean="0">
                <a:latin typeface="Times New Roman" pitchFamily="18" charset="0"/>
              </a:rPr>
              <a:t>10”</a:t>
            </a:r>
            <a:r>
              <a:rPr lang="zh-CN" altLang="en-US" sz="2800" dirty="0">
                <a:latin typeface="Times New Roman" pitchFamily="18" charset="0"/>
              </a:rPr>
              <a:t>，尾数溢出，需右规</a:t>
            </a:r>
          </a:p>
        </p:txBody>
      </p:sp>
      <p:sp>
        <p:nvSpPr>
          <p:cNvPr id="777228" name="Text Box 12"/>
          <p:cNvSpPr txBox="1">
            <a:spLocks noChangeArrowheads="1"/>
          </p:cNvSpPr>
          <p:nvPr/>
        </p:nvSpPr>
        <p:spPr bwMode="auto">
          <a:xfrm>
            <a:off x="1020633" y="6006065"/>
            <a:ext cx="4206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itchFamily="18" charset="0"/>
              </a:rPr>
              <a:t>∴</a:t>
            </a:r>
            <a:r>
              <a:rPr lang="en-US" altLang="zh-CN" sz="2800" dirty="0">
                <a:latin typeface="Times New Roman" pitchFamily="18" charset="0"/>
              </a:rPr>
              <a:t> </a:t>
            </a:r>
            <a:r>
              <a:rPr lang="en-US" altLang="zh-CN" sz="2800" i="1" dirty="0">
                <a:latin typeface="Times New Roman" pitchFamily="18" charset="0"/>
              </a:rPr>
              <a:t>x</a:t>
            </a:r>
            <a:r>
              <a:rPr lang="en-US" altLang="zh-CN" sz="2800" dirty="0">
                <a:latin typeface="Times New Roman" pitchFamily="18" charset="0"/>
              </a:rPr>
              <a:t> 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zh-CN" sz="2800" dirty="0">
                <a:latin typeface="Times New Roman" pitchFamily="18" charset="0"/>
              </a:rPr>
              <a:t> </a:t>
            </a:r>
            <a:r>
              <a:rPr lang="en-US" altLang="zh-CN" sz="2800" i="1" dirty="0">
                <a:latin typeface="Times New Roman" pitchFamily="18" charset="0"/>
              </a:rPr>
              <a:t>y</a:t>
            </a:r>
            <a:r>
              <a:rPr lang="en-US" altLang="zh-CN" sz="2800" dirty="0">
                <a:latin typeface="Times New Roman" pitchFamily="18" charset="0"/>
              </a:rPr>
              <a:t> = (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–0.100110)</a:t>
            </a:r>
            <a:r>
              <a:rPr lang="zh-CN" altLang="en-US" sz="2400" dirty="0">
                <a:latin typeface="Times New Roman" pitchFamily="18" charset="0"/>
              </a:rPr>
              <a:t>×</a:t>
            </a:r>
            <a:r>
              <a:rPr lang="zh-CN" altLang="en-US" sz="2800" dirty="0">
                <a:latin typeface="Times New Roman" pitchFamily="18" charset="0"/>
              </a:rPr>
              <a:t>2</a:t>
            </a:r>
            <a:r>
              <a:rPr lang="zh-CN" altLang="en-US" sz="2400" baseline="45000" dirty="0">
                <a:latin typeface="Times New Roman" pitchFamily="18" charset="0"/>
              </a:rPr>
              <a:t>-11</a:t>
            </a:r>
            <a:endParaRPr lang="en-US" altLang="zh-CN" sz="2400" baseline="45000" dirty="0">
              <a:latin typeface="Times New Roman" pitchFamily="18" charset="0"/>
            </a:endParaRPr>
          </a:p>
        </p:txBody>
      </p:sp>
      <p:grpSp>
        <p:nvGrpSpPr>
          <p:cNvPr id="777229" name="Group 13"/>
          <p:cNvGrpSpPr>
            <a:grpSpLocks/>
          </p:cNvGrpSpPr>
          <p:nvPr/>
        </p:nvGrpSpPr>
        <p:grpSpPr bwMode="auto">
          <a:xfrm>
            <a:off x="5227508" y="5853665"/>
            <a:ext cx="2022475" cy="762000"/>
            <a:chOff x="1839" y="3648"/>
            <a:chExt cx="1274" cy="480"/>
          </a:xfrm>
        </p:grpSpPr>
        <p:sp>
          <p:nvSpPr>
            <p:cNvPr id="777230" name="Text Box 14"/>
            <p:cNvSpPr txBox="1">
              <a:spLocks noChangeArrowheads="1"/>
            </p:cNvSpPr>
            <p:nvPr/>
          </p:nvSpPr>
          <p:spPr bwMode="auto">
            <a:xfrm>
              <a:off x="1839" y="3705"/>
              <a:ext cx="12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800" dirty="0">
                  <a:latin typeface="Times New Roman" pitchFamily="18" charset="0"/>
                </a:rPr>
                <a:t>= (</a:t>
              </a:r>
              <a:r>
                <a:rPr lang="zh-CN" altLang="en-US" sz="2800" dirty="0">
                  <a:latin typeface="Times New Roman" pitchFamily="18" charset="0"/>
                  <a:cs typeface="Times New Roman" pitchFamily="18" charset="0"/>
                </a:rPr>
                <a:t>– —)</a:t>
              </a:r>
              <a:r>
                <a:rPr lang="zh-CN" altLang="en-US" sz="2400" dirty="0">
                  <a:latin typeface="Times New Roman" pitchFamily="18" charset="0"/>
                </a:rPr>
                <a:t>×</a:t>
              </a:r>
              <a:r>
                <a:rPr lang="zh-CN" altLang="en-US" sz="2800" dirty="0">
                  <a:latin typeface="Times New Roman" pitchFamily="18" charset="0"/>
                </a:rPr>
                <a:t>2</a:t>
              </a:r>
              <a:r>
                <a:rPr lang="zh-CN" altLang="en-US" sz="2800" baseline="45000" dirty="0">
                  <a:latin typeface="Times New Roman" pitchFamily="18" charset="0"/>
                </a:rPr>
                <a:t>-3</a:t>
              </a:r>
            </a:p>
          </p:txBody>
        </p:sp>
        <p:sp>
          <p:nvSpPr>
            <p:cNvPr id="777231" name="Text Box 15"/>
            <p:cNvSpPr txBox="1">
              <a:spLocks noChangeArrowheads="1"/>
            </p:cNvSpPr>
            <p:nvPr/>
          </p:nvSpPr>
          <p:spPr bwMode="auto">
            <a:xfrm>
              <a:off x="2288" y="364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>
                  <a:latin typeface="Times New Roman" pitchFamily="18" charset="0"/>
                </a:rPr>
                <a:t>19</a:t>
              </a:r>
            </a:p>
          </p:txBody>
        </p:sp>
        <p:sp>
          <p:nvSpPr>
            <p:cNvPr id="777232" name="Text Box 16"/>
            <p:cNvSpPr txBox="1">
              <a:spLocks noChangeArrowheads="1"/>
            </p:cNvSpPr>
            <p:nvPr/>
          </p:nvSpPr>
          <p:spPr bwMode="auto">
            <a:xfrm>
              <a:off x="2288" y="384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400" dirty="0">
                  <a:latin typeface="Times New Roman" pitchFamily="18" charset="0"/>
                </a:rPr>
                <a:t>32</a:t>
              </a:r>
            </a:p>
          </p:txBody>
        </p:sp>
      </p:grpSp>
      <p:sp>
        <p:nvSpPr>
          <p:cNvPr id="777233" name="AutoShape 17"/>
          <p:cNvSpPr>
            <a:spLocks noChangeArrowheads="1"/>
          </p:cNvSpPr>
          <p:nvPr/>
        </p:nvSpPr>
        <p:spPr bwMode="auto">
          <a:xfrm>
            <a:off x="5444997" y="1495742"/>
            <a:ext cx="228600" cy="339725"/>
          </a:xfrm>
          <a:prstGeom prst="wedgeRoundRectCallout">
            <a:avLst>
              <a:gd name="adj1" fmla="val -162500"/>
              <a:gd name="adj2" fmla="val 50000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spcBef>
                <a:spcPct val="0"/>
              </a:spcBef>
            </a:pPr>
            <a:endParaRPr lang="zh-CN" altLang="en-US" sz="2400">
              <a:latin typeface="Times New Roman" pitchFamily="18" charset="0"/>
            </a:endParaRPr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551273" y="3993752"/>
            <a:ext cx="844333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 smtClean="0">
                <a:latin typeface="Times New Roman" pitchFamily="18" charset="0"/>
              </a:rPr>
              <a:t>④ 舍入处理</a:t>
            </a:r>
            <a:endParaRPr lang="en-US" altLang="zh-CN" sz="2800" dirty="0" smtClean="0">
              <a:latin typeface="Times New Roman" pitchFamily="18" charset="0"/>
            </a:endParaRPr>
          </a:p>
          <a:p>
            <a:pPr>
              <a:spcBef>
                <a:spcPct val="0"/>
              </a:spcBef>
            </a:pPr>
            <a:r>
              <a:rPr lang="zh-CN" altLang="en-US" sz="2800" dirty="0" smtClean="0">
                <a:latin typeface="Times New Roman" pitchFamily="18" charset="0"/>
              </a:rPr>
              <a:t>  采用“</a:t>
            </a:r>
            <a:r>
              <a:rPr lang="en-US" altLang="zh-CN" sz="2800" dirty="0" smtClean="0">
                <a:latin typeface="Times New Roman" pitchFamily="18" charset="0"/>
              </a:rPr>
              <a:t>0</a:t>
            </a:r>
            <a:r>
              <a:rPr lang="zh-CN" altLang="en-US" sz="2800" dirty="0" smtClean="0">
                <a:latin typeface="Times New Roman" pitchFamily="18" charset="0"/>
              </a:rPr>
              <a:t>舍</a:t>
            </a:r>
            <a:r>
              <a:rPr lang="en-US" altLang="zh-CN" sz="2800" dirty="0" smtClean="0">
                <a:latin typeface="Times New Roman" pitchFamily="18" charset="0"/>
              </a:rPr>
              <a:t>1</a:t>
            </a:r>
            <a:r>
              <a:rPr lang="zh-CN" altLang="en-US" sz="2800" dirty="0" smtClean="0">
                <a:latin typeface="Times New Roman" pitchFamily="18" charset="0"/>
              </a:rPr>
              <a:t>入”法，尾数右规时末位丢</a:t>
            </a:r>
            <a:r>
              <a:rPr lang="en-US" altLang="zh-CN" sz="2800" dirty="0" smtClean="0">
                <a:latin typeface="Times New Roman" pitchFamily="18" charset="0"/>
              </a:rPr>
              <a:t>0</a:t>
            </a:r>
            <a:r>
              <a:rPr lang="zh-CN" altLang="en-US" sz="2800" dirty="0" smtClean="0">
                <a:latin typeface="Times New Roman" pitchFamily="18" charset="0"/>
              </a:rPr>
              <a:t>直接舍去，</a:t>
            </a:r>
            <a:endParaRPr lang="en-US" altLang="zh-CN" sz="2800" dirty="0" smtClean="0">
              <a:latin typeface="Times New Roman" pitchFamily="18" charset="0"/>
            </a:endParaRPr>
          </a:p>
          <a:p>
            <a:pPr>
              <a:spcBef>
                <a:spcPct val="0"/>
              </a:spcBef>
            </a:pPr>
            <a:r>
              <a:rPr lang="zh-CN" altLang="en-US" sz="2800" dirty="0" smtClean="0">
                <a:latin typeface="Times New Roman" pitchFamily="18" charset="0"/>
              </a:rPr>
              <a:t>    则有  [</a:t>
            </a:r>
            <a:r>
              <a:rPr lang="en-US" altLang="zh-CN" sz="2800" i="1" dirty="0">
                <a:latin typeface="Times New Roman" pitchFamily="18" charset="0"/>
              </a:rPr>
              <a:t>x </a:t>
            </a:r>
            <a:r>
              <a:rPr lang="zh-CN" altLang="en-US" sz="2800" dirty="0">
                <a:latin typeface="Times New Roman" pitchFamily="18" charset="0"/>
              </a:rPr>
              <a:t>–</a:t>
            </a:r>
            <a:r>
              <a:rPr lang="en-US" altLang="zh-CN" sz="2800" b="0" dirty="0">
                <a:latin typeface="Times New Roman" pitchFamily="18" charset="0"/>
              </a:rPr>
              <a:t> </a:t>
            </a:r>
            <a:r>
              <a:rPr lang="en-US" altLang="zh-CN" sz="2800" i="1" dirty="0">
                <a:latin typeface="Times New Roman" pitchFamily="18" charset="0"/>
              </a:rPr>
              <a:t>y</a:t>
            </a:r>
            <a:r>
              <a:rPr lang="en-US" altLang="zh-CN" sz="2800" dirty="0">
                <a:latin typeface="Times New Roman" pitchFamily="18" charset="0"/>
              </a:rPr>
              <a:t>]</a:t>
            </a:r>
            <a:r>
              <a:rPr lang="zh-CN" altLang="en-US" sz="2400" baseline="-25000" dirty="0">
                <a:latin typeface="Times New Roman" pitchFamily="18" charset="0"/>
              </a:rPr>
              <a:t>补</a:t>
            </a:r>
            <a:r>
              <a:rPr lang="zh-CN" altLang="en-US" sz="2800" dirty="0">
                <a:latin typeface="Times New Roman" pitchFamily="18" charset="0"/>
              </a:rPr>
              <a:t> = </a:t>
            </a:r>
            <a:r>
              <a:rPr lang="en-US" altLang="zh-CN" sz="2800" dirty="0">
                <a:latin typeface="Times New Roman" pitchFamily="18" charset="0"/>
              </a:rPr>
              <a:t>11, 101; 11. 011010 </a:t>
            </a:r>
            <a:endParaRPr lang="zh-CN" altLang="en-US" sz="2800" dirty="0">
              <a:latin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03214" y="3517650"/>
            <a:ext cx="325956" cy="3790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54755" y="5378747"/>
            <a:ext cx="85789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*</a:t>
            </a:r>
            <a:r>
              <a:rPr lang="zh-CN" altLang="en-US" sz="2800" dirty="0" smtClean="0"/>
              <a:t>⑤</a:t>
            </a:r>
            <a:r>
              <a:rPr lang="zh-CN" altLang="en-US" sz="2800" dirty="0"/>
              <a:t>溢出判断： 结果中阶码符号位</a:t>
            </a:r>
            <a:r>
              <a:rPr lang="zh-CN" altLang="en-US" sz="2800" dirty="0" smtClean="0"/>
              <a:t>为</a:t>
            </a:r>
            <a:r>
              <a:rPr lang="en-US" altLang="zh-CN" sz="2800" dirty="0" smtClean="0"/>
              <a:t>”11”</a:t>
            </a:r>
            <a:r>
              <a:rPr lang="zh-CN" altLang="en-US" sz="2800" dirty="0" smtClean="0"/>
              <a:t>，</a:t>
            </a:r>
            <a:r>
              <a:rPr lang="zh-CN" altLang="en-US" sz="2800" dirty="0"/>
              <a:t>结果不溢出。</a:t>
            </a:r>
          </a:p>
        </p:txBody>
      </p:sp>
    </p:spTree>
    <p:extLst>
      <p:ext uri="{BB962C8B-B14F-4D97-AF65-F5344CB8AC3E}">
        <p14:creationId xmlns:p14="http://schemas.microsoft.com/office/powerpoint/2010/main" val="74221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77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7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777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7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7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7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77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77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7219" grpId="0" autoUpdateAnimBg="0"/>
      <p:bldP spid="777220" grpId="0" autoUpdateAnimBg="0"/>
      <p:bldP spid="777221" grpId="0" animBg="1"/>
      <p:bldP spid="777222" grpId="0" autoUpdateAnimBg="0"/>
      <p:bldP spid="777223" grpId="0" autoUpdateAnimBg="0"/>
      <p:bldP spid="777225" grpId="0" autoUpdateAnimBg="0"/>
      <p:bldP spid="777226" grpId="0" autoUpdateAnimBg="0"/>
      <p:bldP spid="777227" grpId="0" autoUpdateAnimBg="0"/>
      <p:bldP spid="777228" grpId="0" autoUpdateAnimBg="0"/>
      <p:bldP spid="777233" grpId="0" animBg="1" autoUpdateAnimBg="0"/>
      <p:bldP spid="17" grpId="0" autoUpdateAnimBg="0"/>
      <p:bldP spid="2" grpId="0" animBg="1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3067" y="71718"/>
            <a:ext cx="8264769" cy="1143621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/>
            <a:r>
              <a:rPr lang="en-US" altLang="zh-CN" sz="2800" dirty="0" smtClean="0"/>
              <a:t>6.27</a:t>
            </a:r>
            <a:r>
              <a:rPr lang="zh-CN" altLang="en-US" sz="2800" dirty="0"/>
              <a:t>假</a:t>
            </a:r>
            <a:r>
              <a:rPr lang="zh-CN" altLang="en-US" sz="2800" dirty="0" smtClean="0"/>
              <a:t>设阶码取</a:t>
            </a:r>
            <a:r>
              <a:rPr lang="en-US" altLang="zh-CN" sz="2800" dirty="0" smtClean="0"/>
              <a:t>3</a:t>
            </a:r>
            <a:r>
              <a:rPr lang="zh-CN" altLang="en-US" sz="2800" dirty="0" smtClean="0"/>
              <a:t>位，尾数取</a:t>
            </a:r>
            <a:r>
              <a:rPr lang="en-US" altLang="zh-CN" sz="2800" dirty="0" smtClean="0"/>
              <a:t>6</a:t>
            </a:r>
            <a:r>
              <a:rPr lang="zh-CN" altLang="en-US" sz="2800" dirty="0" smtClean="0"/>
              <a:t>位（均不包括符号位），计算下列各题：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50422" y="1350604"/>
                <a:ext cx="8435280" cy="5301208"/>
              </a:xfr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zh-CN" altLang="en-US" sz="2800" dirty="0" smtClean="0"/>
                  <a:t>（</a:t>
                </a:r>
                <a:r>
                  <a:rPr lang="en-US" altLang="zh-CN" sz="2800" dirty="0" smtClean="0"/>
                  <a:t>1</a:t>
                </a:r>
                <a:r>
                  <a:rPr lang="zh-CN" altLang="en-US" sz="2800" dirty="0" smtClean="0"/>
                  <a:t>）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zh-CN" sz="28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28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+[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800" b="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altLang="zh-CN" sz="28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800" dirty="0" smtClean="0"/>
              </a:p>
              <a:p>
                <a:pPr marL="0" indent="0">
                  <a:buNone/>
                </a:pPr>
                <a:r>
                  <a:rPr lang="zh-CN" altLang="en-US" sz="2800" dirty="0" smtClean="0"/>
                  <a:t>解：设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altLang="zh-CN" sz="28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800" b="1" i="1" smtClean="0">
                            <a:latin typeface="Cambria Math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8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a:rPr lang="en-US" altLang="zh-CN" sz="2800" b="1" i="1" smtClean="0">
                            <a:latin typeface="Cambria Math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zh-CN" sz="2800" dirty="0" smtClean="0"/>
                  <a:t>,</a:t>
                </a:r>
                <a:r>
                  <a:rPr lang="zh-CN" altLang="en-US" sz="2800" dirty="0" smtClean="0"/>
                  <a:t>则</a:t>
                </a:r>
                <a:endParaRPr lang="en-US" altLang="zh-CN" sz="2800" dirty="0" smtClean="0"/>
              </a:p>
              <a:p>
                <a:pPr marL="0" indent="0">
                  <a:buNone/>
                </a:pPr>
                <a:r>
                  <a:rPr lang="en-US" altLang="zh-CN" sz="2800" dirty="0" smtClean="0"/>
                  <a:t>	[</a:t>
                </a:r>
                <a:r>
                  <a:rPr lang="en-US" altLang="zh-CN" sz="2800" dirty="0"/>
                  <a:t>x]</a:t>
                </a:r>
                <a:r>
                  <a:rPr lang="zh-CN" altLang="en-US" sz="2000" baseline="-25000" dirty="0">
                    <a:latin typeface="Times New Roman" pitchFamily="18" charset="0"/>
                  </a:rPr>
                  <a:t>补</a:t>
                </a:r>
                <a:r>
                  <a:rPr lang="en-US" altLang="zh-CN" sz="2800" dirty="0"/>
                  <a:t>=</a:t>
                </a:r>
                <a:r>
                  <a:rPr lang="en-US" altLang="zh-CN" sz="2800" dirty="0" smtClean="0"/>
                  <a:t>00,101;00. 101100</a:t>
                </a:r>
                <a:r>
                  <a:rPr lang="zh-CN" altLang="en-US" sz="2800" dirty="0" smtClean="0"/>
                  <a:t>，</a:t>
                </a:r>
                <a:r>
                  <a:rPr lang="en-US" altLang="zh-CN" sz="2800" dirty="0" smtClean="0"/>
                  <a:t> </a:t>
                </a:r>
                <a:r>
                  <a:rPr lang="en-US" altLang="zh-CN" sz="2800" dirty="0"/>
                  <a:t>[y]</a:t>
                </a:r>
                <a:r>
                  <a:rPr lang="zh-CN" altLang="en-US" sz="2000" baseline="-25000" dirty="0">
                    <a:latin typeface="Times New Roman" pitchFamily="18" charset="0"/>
                  </a:rPr>
                  <a:t>补</a:t>
                </a:r>
                <a:r>
                  <a:rPr lang="en-US" altLang="zh-CN" sz="2800" dirty="0"/>
                  <a:t>=</a:t>
                </a:r>
                <a:r>
                  <a:rPr lang="en-US" altLang="zh-CN" sz="2800" dirty="0" smtClean="0"/>
                  <a:t>00,100;11.011100</a:t>
                </a:r>
                <a:endParaRPr lang="en-US" altLang="zh-CN" sz="2800" dirty="0"/>
              </a:p>
              <a:p>
                <a:pPr marL="0" indent="0">
                  <a:buNone/>
                </a:pPr>
                <a:r>
                  <a:rPr lang="zh-CN" altLang="en-US" sz="2800" dirty="0">
                    <a:latin typeface="Times New Roman" pitchFamily="18" charset="0"/>
                  </a:rPr>
                  <a:t>① 对阶</a:t>
                </a:r>
              </a:p>
              <a:p>
                <a:pPr marL="0" indent="0">
                  <a:buNone/>
                </a:pPr>
                <a:r>
                  <a:rPr lang="en-US" altLang="zh-CN" sz="2800" dirty="0">
                    <a:latin typeface="Times New Roman" pitchFamily="18" charset="0"/>
                  </a:rPr>
                  <a:t>	</a:t>
                </a:r>
                <a:r>
                  <a:rPr lang="zh-CN" altLang="en-US" sz="2800" dirty="0">
                    <a:latin typeface="Times New Roman" pitchFamily="18" charset="0"/>
                  </a:rPr>
                  <a:t>[</a:t>
                </a:r>
                <a:r>
                  <a:rPr lang="en-US" altLang="zh-CN" sz="2000" dirty="0" err="1">
                    <a:latin typeface="Times New Roman" pitchFamily="18" charset="0"/>
                  </a:rPr>
                  <a:t>Δ</a:t>
                </a:r>
                <a:r>
                  <a:rPr lang="en-US" altLang="zh-CN" sz="2800" i="1" dirty="0" err="1">
                    <a:latin typeface="Times New Roman" pitchFamily="18" charset="0"/>
                  </a:rPr>
                  <a:t>j</a:t>
                </a:r>
                <a:r>
                  <a:rPr lang="en-US" altLang="zh-CN" sz="2800" dirty="0">
                    <a:latin typeface="Times New Roman" pitchFamily="18" charset="0"/>
                  </a:rPr>
                  <a:t>]</a:t>
                </a:r>
                <a:r>
                  <a:rPr lang="zh-CN" altLang="en-US" sz="2000" baseline="-25000" dirty="0">
                    <a:latin typeface="Times New Roman" pitchFamily="18" charset="0"/>
                  </a:rPr>
                  <a:t>补</a:t>
                </a:r>
                <a:r>
                  <a:rPr lang="zh-CN" altLang="en-US" sz="2800" dirty="0">
                    <a:latin typeface="Times New Roman" pitchFamily="18" charset="0"/>
                  </a:rPr>
                  <a:t> = [</a:t>
                </a:r>
                <a:r>
                  <a:rPr lang="en-US" altLang="zh-CN" sz="2800" i="1" dirty="0" err="1">
                    <a:latin typeface="Times New Roman" pitchFamily="18" charset="0"/>
                  </a:rPr>
                  <a:t>j</a:t>
                </a:r>
                <a:r>
                  <a:rPr lang="en-US" altLang="zh-CN" sz="2800" i="1" baseline="-25000" dirty="0" err="1">
                    <a:latin typeface="Times New Roman" pitchFamily="18" charset="0"/>
                  </a:rPr>
                  <a:t>x</a:t>
                </a:r>
                <a:r>
                  <a:rPr lang="en-US" altLang="zh-CN" sz="2800" dirty="0">
                    <a:latin typeface="Times New Roman" pitchFamily="18" charset="0"/>
                  </a:rPr>
                  <a:t>]</a:t>
                </a:r>
                <a:r>
                  <a:rPr lang="zh-CN" altLang="en-US" sz="2000" baseline="-25000" dirty="0">
                    <a:latin typeface="Times New Roman" pitchFamily="18" charset="0"/>
                  </a:rPr>
                  <a:t>补</a:t>
                </a:r>
                <a:r>
                  <a:rPr lang="zh-CN" altLang="en-US" sz="2800" dirty="0">
                    <a:latin typeface="Times New Roman" pitchFamily="18" charset="0"/>
                  </a:rPr>
                  <a:t> </a:t>
                </a:r>
                <a:r>
                  <a:rPr lang="zh-CN" altLang="en-US" sz="2800" dirty="0">
                    <a:latin typeface="Times New Roman" pitchFamily="18" charset="0"/>
                    <a:cs typeface="Times New Roman" pitchFamily="18" charset="0"/>
                  </a:rPr>
                  <a:t>– [</a:t>
                </a:r>
                <a:r>
                  <a:rPr lang="en-US" altLang="zh-CN" sz="2800" i="1" dirty="0" err="1">
                    <a:latin typeface="Times New Roman" pitchFamily="18" charset="0"/>
                    <a:cs typeface="Times New Roman" pitchFamily="18" charset="0"/>
                  </a:rPr>
                  <a:t>j</a:t>
                </a:r>
                <a:r>
                  <a:rPr lang="en-US" altLang="zh-CN" sz="2800" i="1" baseline="-25000" dirty="0" err="1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altLang="zh-CN" sz="2800" dirty="0">
                    <a:latin typeface="Times New Roman" pitchFamily="18" charset="0"/>
                    <a:cs typeface="Times New Roman" pitchFamily="18" charset="0"/>
                  </a:rPr>
                  <a:t>]</a:t>
                </a:r>
                <a:r>
                  <a:rPr lang="zh-CN" altLang="en-US" sz="2000" baseline="-25000" dirty="0">
                    <a:latin typeface="Times New Roman" pitchFamily="18" charset="0"/>
                  </a:rPr>
                  <a:t>补</a:t>
                </a:r>
                <a:r>
                  <a:rPr lang="zh-CN" altLang="en-US" sz="2800" dirty="0">
                    <a:latin typeface="Times New Roman" pitchFamily="18" charset="0"/>
                  </a:rPr>
                  <a:t> </a:t>
                </a:r>
                <a:r>
                  <a:rPr lang="en-US" altLang="zh-CN" sz="2800" dirty="0">
                    <a:latin typeface="Times New Roman" pitchFamily="18" charset="0"/>
                  </a:rPr>
                  <a:t>=00,101-00,100=00,001</a:t>
                </a:r>
                <a:r>
                  <a:rPr lang="zh-CN" altLang="en-US" sz="2800" dirty="0" smtClean="0">
                    <a:latin typeface="Times New Roman" pitchFamily="18" charset="0"/>
                  </a:rPr>
                  <a:t>，</a:t>
                </a:r>
                <a:endParaRPr lang="en-US" altLang="zh-CN" sz="2800" dirty="0" smtClean="0">
                  <a:latin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800" dirty="0">
                    <a:latin typeface="Times New Roman" pitchFamily="18" charset="0"/>
                  </a:rPr>
                  <a:t> </a:t>
                </a:r>
                <a:r>
                  <a:rPr lang="en-US" altLang="zh-CN" sz="2800" dirty="0" smtClean="0">
                    <a:latin typeface="Times New Roman" pitchFamily="18" charset="0"/>
                  </a:rPr>
                  <a:t>         </a:t>
                </a:r>
                <a:r>
                  <a:rPr lang="zh-CN" altLang="en-US" sz="2800" dirty="0" smtClean="0">
                    <a:latin typeface="Times New Roman" pitchFamily="18" charset="0"/>
                  </a:rPr>
                  <a:t>故</a:t>
                </a:r>
                <a:r>
                  <a:rPr lang="zh-CN" altLang="en-US" sz="2800" dirty="0">
                    <a:latin typeface="Times New Roman" pitchFamily="18" charset="0"/>
                  </a:rPr>
                  <a:t>阶差为</a:t>
                </a:r>
                <a:r>
                  <a:rPr lang="en-US" altLang="zh-CN" sz="2800" dirty="0">
                    <a:latin typeface="Times New Roman" pitchFamily="18" charset="0"/>
                  </a:rPr>
                  <a:t>+</a:t>
                </a:r>
                <a:r>
                  <a:rPr lang="en-US" altLang="zh-CN" sz="2800" dirty="0" smtClean="0">
                    <a:latin typeface="Times New Roman" pitchFamily="18" charset="0"/>
                  </a:rPr>
                  <a:t>1  </a:t>
                </a:r>
                <a:r>
                  <a:rPr lang="en-US" altLang="zh-CN" sz="2800" dirty="0">
                    <a:latin typeface="Times New Roman" pitchFamily="18" charset="0"/>
                  </a:rPr>
                  <a:t>	</a:t>
                </a:r>
                <a:r>
                  <a:rPr lang="zh-CN" altLang="en-US" sz="2800" dirty="0">
                    <a:latin typeface="Times New Roman" pitchFamily="18" charset="0"/>
                  </a:rPr>
                  <a:t>∴ </a:t>
                </a:r>
                <a:r>
                  <a:rPr lang="en-US" altLang="zh-CN" sz="2800" i="1" dirty="0" err="1">
                    <a:latin typeface="Times New Roman" pitchFamily="18" charset="0"/>
                  </a:rPr>
                  <a:t>S</a:t>
                </a:r>
                <a:r>
                  <a:rPr lang="en-US" altLang="zh-CN" sz="2800" i="1" baseline="-25000" dirty="0" err="1">
                    <a:latin typeface="Times New Roman" pitchFamily="18" charset="0"/>
                  </a:rPr>
                  <a:t>y</a:t>
                </a:r>
                <a:r>
                  <a:rPr lang="en-US" altLang="zh-CN" sz="2800" dirty="0">
                    <a:latin typeface="Times New Roman" pitchFamily="18" charset="0"/>
                  </a:rPr>
                  <a:t> </a:t>
                </a:r>
                <a:r>
                  <a:rPr lang="zh-CN" altLang="en-US" sz="2800" dirty="0">
                    <a:latin typeface="Times New Roman" pitchFamily="18" charset="0"/>
                  </a:rPr>
                  <a:t>→</a:t>
                </a:r>
                <a:r>
                  <a:rPr lang="en-US" altLang="zh-CN" sz="2800" dirty="0">
                    <a:latin typeface="Times New Roman" pitchFamily="18" charset="0"/>
                  </a:rPr>
                  <a:t>1,   </a:t>
                </a:r>
                <a:r>
                  <a:rPr lang="en-US" altLang="zh-CN" sz="2800" i="1" dirty="0">
                    <a:latin typeface="Times New Roman" pitchFamily="18" charset="0"/>
                  </a:rPr>
                  <a:t>j</a:t>
                </a:r>
                <a:r>
                  <a:rPr lang="en-US" altLang="zh-CN" sz="2800" i="1" baseline="-25000" dirty="0">
                    <a:latin typeface="Times New Roman" pitchFamily="18" charset="0"/>
                  </a:rPr>
                  <a:t>y</a:t>
                </a:r>
                <a:r>
                  <a:rPr lang="en-US" altLang="zh-CN" sz="2800" dirty="0">
                    <a:latin typeface="Times New Roman" pitchFamily="18" charset="0"/>
                  </a:rPr>
                  <a:t>+1</a:t>
                </a:r>
              </a:p>
              <a:p>
                <a:pPr marL="0" indent="0">
                  <a:buNone/>
                </a:pPr>
                <a:r>
                  <a:rPr lang="en-US" altLang="zh-CN" sz="2800" dirty="0">
                    <a:latin typeface="Times New Roman" pitchFamily="18" charset="0"/>
                  </a:rPr>
                  <a:t> </a:t>
                </a:r>
                <a:r>
                  <a:rPr lang="en-US" altLang="zh-CN" sz="2800" dirty="0" smtClean="0">
                    <a:latin typeface="Times New Roman" pitchFamily="18" charset="0"/>
                  </a:rPr>
                  <a:t>    ∴ </a:t>
                </a:r>
                <a:r>
                  <a:rPr lang="en-US" altLang="zh-CN" sz="2800" dirty="0">
                    <a:latin typeface="Times New Roman" pitchFamily="18" charset="0"/>
                  </a:rPr>
                  <a:t>[y</a:t>
                </a:r>
                <a:r>
                  <a:rPr lang="en-US" altLang="zh-CN" sz="2800" dirty="0" smtClean="0">
                    <a:latin typeface="Times New Roman" pitchFamily="18" charset="0"/>
                  </a:rPr>
                  <a:t>]</a:t>
                </a:r>
                <a:r>
                  <a:rPr lang="en-US" altLang="zh-CN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’</a:t>
                </a:r>
                <a:r>
                  <a:rPr lang="zh-CN" altLang="en-US" sz="2800" baseline="-25000" dirty="0" smtClean="0">
                    <a:latin typeface="Times New Roman" pitchFamily="18" charset="0"/>
                  </a:rPr>
                  <a:t>补</a:t>
                </a:r>
                <a:r>
                  <a:rPr lang="en-US" altLang="zh-CN" sz="2800" dirty="0" smtClean="0">
                    <a:latin typeface="Times New Roman" pitchFamily="18" charset="0"/>
                  </a:rPr>
                  <a:t> </a:t>
                </a:r>
                <a:r>
                  <a:rPr lang="en-US" altLang="zh-CN" sz="2800" dirty="0">
                    <a:latin typeface="Times New Roman" pitchFamily="18" charset="0"/>
                  </a:rPr>
                  <a:t>= 00,101; </a:t>
                </a:r>
                <a:r>
                  <a:rPr lang="en-US" altLang="zh-CN" sz="2800" dirty="0" smtClean="0">
                    <a:latin typeface="Times New Roman" pitchFamily="18" charset="0"/>
                  </a:rPr>
                  <a:t>11.101110  </a:t>
                </a:r>
                <a:r>
                  <a:rPr lang="en-US" altLang="zh-CN" sz="2800" dirty="0">
                    <a:latin typeface="Times New Roman" pitchFamily="18" charset="0"/>
                  </a:rPr>
                  <a:t>(</a:t>
                </a:r>
                <a:r>
                  <a:rPr lang="zh-CN" altLang="en-US" sz="2800" dirty="0" smtClean="0">
                    <a:latin typeface="Times New Roman" pitchFamily="18" charset="0"/>
                  </a:rPr>
                  <a:t>尾数右移时</a:t>
                </a:r>
                <a:r>
                  <a:rPr lang="en-US" altLang="zh-CN" sz="2800" dirty="0" smtClean="0">
                    <a:latin typeface="Times New Roman" pitchFamily="18" charset="0"/>
                  </a:rPr>
                  <a:t>0</a:t>
                </a:r>
                <a:r>
                  <a:rPr lang="zh-CN" altLang="en-US" sz="2800" dirty="0">
                    <a:latin typeface="Times New Roman" pitchFamily="18" charset="0"/>
                  </a:rPr>
                  <a:t>舍</a:t>
                </a:r>
                <a:r>
                  <a:rPr lang="en-US" altLang="zh-CN" sz="2800" dirty="0">
                    <a:latin typeface="Times New Roman" pitchFamily="18" charset="0"/>
                  </a:rPr>
                  <a:t>1</a:t>
                </a:r>
                <a:r>
                  <a:rPr lang="zh-CN" altLang="en-US" sz="2800" dirty="0" smtClean="0">
                    <a:latin typeface="Times New Roman" pitchFamily="18" charset="0"/>
                  </a:rPr>
                  <a:t>入）</a:t>
                </a:r>
                <a:endParaRPr lang="en-US" altLang="zh-CN" sz="2800" dirty="0">
                  <a:latin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800" dirty="0">
                    <a:latin typeface="Times New Roman" pitchFamily="18" charset="0"/>
                  </a:rPr>
                  <a:t>② 尾数求和</a:t>
                </a:r>
                <a:endParaRPr lang="en-US" altLang="zh-CN" sz="2800" dirty="0">
                  <a:latin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800" dirty="0" smtClean="0">
                    <a:latin typeface="Times New Roman" pitchFamily="18" charset="0"/>
                  </a:rPr>
                  <a:t>     </a:t>
                </a:r>
                <a:r>
                  <a:rPr lang="zh-CN" altLang="en-US" sz="2800" dirty="0">
                    <a:latin typeface="Times New Roman" pitchFamily="18" charset="0"/>
                  </a:rPr>
                  <a:t>[</a:t>
                </a:r>
                <a:r>
                  <a:rPr lang="en-US" altLang="zh-CN" sz="2800" i="1" dirty="0" err="1">
                    <a:latin typeface="Times New Roman" pitchFamily="18" charset="0"/>
                  </a:rPr>
                  <a:t>S</a:t>
                </a:r>
                <a:r>
                  <a:rPr lang="en-US" altLang="zh-CN" sz="2800" i="1" baseline="-25000" dirty="0" err="1">
                    <a:latin typeface="Times New Roman" pitchFamily="18" charset="0"/>
                  </a:rPr>
                  <a:t>x</a:t>
                </a:r>
                <a:r>
                  <a:rPr lang="en-US" altLang="zh-CN" sz="2800" dirty="0">
                    <a:latin typeface="Times New Roman" pitchFamily="18" charset="0"/>
                  </a:rPr>
                  <a:t>]</a:t>
                </a:r>
                <a:r>
                  <a:rPr lang="zh-CN" altLang="en-US" sz="2000" baseline="-25000" dirty="0">
                    <a:latin typeface="Times New Roman" pitchFamily="18" charset="0"/>
                  </a:rPr>
                  <a:t>补</a:t>
                </a:r>
                <a:r>
                  <a:rPr lang="zh-CN" altLang="en-US" sz="2800" dirty="0">
                    <a:latin typeface="Times New Roman" pitchFamily="18" charset="0"/>
                  </a:rPr>
                  <a:t> </a:t>
                </a:r>
                <a:r>
                  <a:rPr lang="en-US" altLang="zh-CN" sz="2800" dirty="0">
                    <a:latin typeface="Times New Roman" pitchFamily="18" charset="0"/>
                  </a:rPr>
                  <a:t>+</a:t>
                </a:r>
                <a:r>
                  <a:rPr lang="zh-CN" altLang="en-US" sz="2800" dirty="0">
                    <a:latin typeface="Times New Roman" pitchFamily="18" charset="0"/>
                  </a:rPr>
                  <a:t> [</a:t>
                </a:r>
                <a:r>
                  <a:rPr lang="en-US" altLang="zh-CN" sz="2800" i="1" dirty="0" err="1">
                    <a:latin typeface="Times New Roman" pitchFamily="18" charset="0"/>
                  </a:rPr>
                  <a:t>S</a:t>
                </a:r>
                <a:r>
                  <a:rPr lang="en-US" altLang="zh-CN" sz="2800" i="1" baseline="-25000" dirty="0" err="1">
                    <a:latin typeface="Times New Roman" pitchFamily="18" charset="0"/>
                  </a:rPr>
                  <a:t>y</a:t>
                </a:r>
                <a:r>
                  <a:rPr lang="en-US" altLang="zh-CN" sz="2800" dirty="0" smtClean="0">
                    <a:latin typeface="Times New Roman" pitchFamily="18" charset="0"/>
                  </a:rPr>
                  <a:t>]</a:t>
                </a:r>
                <a:r>
                  <a:rPr lang="en-US" altLang="zh-CN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'</a:t>
                </a:r>
                <a:r>
                  <a:rPr lang="zh-CN" altLang="en-US" sz="2000" baseline="-25000" dirty="0">
                    <a:latin typeface="Times New Roman" pitchFamily="18" charset="0"/>
                  </a:rPr>
                  <a:t>补</a:t>
                </a:r>
                <a:r>
                  <a:rPr lang="zh-CN" altLang="en-US" sz="2800" dirty="0">
                    <a:latin typeface="Times New Roman" pitchFamily="18" charset="0"/>
                  </a:rPr>
                  <a:t> </a:t>
                </a:r>
                <a:r>
                  <a:rPr lang="en-US" altLang="zh-CN" sz="2800" dirty="0" smtClean="0">
                    <a:latin typeface="Times New Roman" pitchFamily="18" charset="0"/>
                  </a:rPr>
                  <a:t>=</a:t>
                </a:r>
                <a:r>
                  <a:rPr lang="en-US" altLang="zh-CN" sz="2800" dirty="0"/>
                  <a:t>00. </a:t>
                </a:r>
                <a:r>
                  <a:rPr lang="en-US" altLang="zh-CN" sz="2800" dirty="0" smtClean="0"/>
                  <a:t>101100+</a:t>
                </a:r>
                <a:r>
                  <a:rPr lang="en-US" altLang="zh-CN" sz="2800" dirty="0">
                    <a:latin typeface="Times New Roman" pitchFamily="18" charset="0"/>
                  </a:rPr>
                  <a:t> </a:t>
                </a:r>
                <a:r>
                  <a:rPr lang="en-US" altLang="zh-CN" sz="2800" dirty="0" smtClean="0">
                    <a:latin typeface="Times New Roman" pitchFamily="18" charset="0"/>
                  </a:rPr>
                  <a:t>11.101110 =00.011010</a:t>
                </a:r>
                <a:endParaRPr lang="en-US" altLang="zh-CN" sz="2800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422" y="1350604"/>
                <a:ext cx="8435280" cy="5301208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29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031" y="71719"/>
            <a:ext cx="8264769" cy="108086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/>
            <a:r>
              <a:rPr lang="en-US" altLang="zh-CN" sz="2800" smtClean="0"/>
              <a:t>6.27</a:t>
            </a:r>
            <a:r>
              <a:rPr lang="zh-CN" altLang="en-US" sz="2800"/>
              <a:t>假</a:t>
            </a:r>
            <a:r>
              <a:rPr lang="zh-CN" altLang="en-US" sz="2800" smtClean="0"/>
              <a:t>设阶码取</a:t>
            </a:r>
            <a:r>
              <a:rPr lang="en-US" altLang="zh-CN" sz="2800" smtClean="0"/>
              <a:t>3</a:t>
            </a:r>
            <a:r>
              <a:rPr lang="zh-CN" altLang="en-US" sz="2800" smtClean="0"/>
              <a:t>位，尾数取</a:t>
            </a:r>
            <a:r>
              <a:rPr lang="en-US" altLang="zh-CN" sz="2800" smtClean="0"/>
              <a:t>6</a:t>
            </a:r>
            <a:r>
              <a:rPr lang="zh-CN" altLang="en-US" sz="2800" smtClean="0"/>
              <a:t>位（均不包括符号位），计算下列各题：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89022" y="1315253"/>
                <a:ext cx="8435280" cy="5301208"/>
              </a:xfr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zh-CN" altLang="en-US" sz="2800" dirty="0" smtClean="0">
                    <a:latin typeface="Times New Roman" pitchFamily="18" charset="0"/>
                  </a:rPr>
                  <a:t>     即 </a:t>
                </a:r>
                <a:r>
                  <a:rPr lang="en-US" altLang="zh-CN" sz="2800" dirty="0">
                    <a:latin typeface="Times New Roman" pitchFamily="18" charset="0"/>
                  </a:rPr>
                  <a:t>[</a:t>
                </a:r>
                <a:r>
                  <a:rPr lang="en-US" altLang="zh-CN" sz="2800" dirty="0" err="1">
                    <a:latin typeface="Times New Roman" pitchFamily="18" charset="0"/>
                  </a:rPr>
                  <a:t>x+y</a:t>
                </a:r>
                <a:r>
                  <a:rPr lang="en-US" altLang="zh-CN" sz="2800" dirty="0">
                    <a:latin typeface="Times New Roman" pitchFamily="18" charset="0"/>
                  </a:rPr>
                  <a:t>]</a:t>
                </a:r>
                <a:r>
                  <a:rPr lang="zh-CN" altLang="en-US" sz="2800" baseline="-25000" dirty="0">
                    <a:latin typeface="Times New Roman" pitchFamily="18" charset="0"/>
                  </a:rPr>
                  <a:t>补</a:t>
                </a:r>
                <a:r>
                  <a:rPr lang="en-US" altLang="zh-CN" sz="2800" dirty="0">
                    <a:latin typeface="Times New Roman" pitchFamily="18" charset="0"/>
                  </a:rPr>
                  <a:t>=00,101; 00.011010 </a:t>
                </a:r>
                <a:endParaRPr lang="en-US" altLang="zh-CN" sz="2800" dirty="0"/>
              </a:p>
              <a:p>
                <a:pPr marL="0" indent="0">
                  <a:buNone/>
                </a:pPr>
                <a:r>
                  <a:rPr lang="zh-CN" altLang="en-US" sz="2800" dirty="0" smtClean="0">
                    <a:latin typeface="Times New Roman" pitchFamily="18" charset="0"/>
                  </a:rPr>
                  <a:t>③规</a:t>
                </a:r>
                <a:r>
                  <a:rPr lang="zh-CN" altLang="en-US" sz="2800" dirty="0">
                    <a:latin typeface="Times New Roman" pitchFamily="18" charset="0"/>
                  </a:rPr>
                  <a:t>格化 </a:t>
                </a:r>
                <a:endParaRPr lang="en-US" altLang="zh-CN" sz="2800" dirty="0">
                  <a:latin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800" dirty="0" smtClean="0">
                    <a:latin typeface="Times New Roman" pitchFamily="18" charset="0"/>
                  </a:rPr>
                  <a:t>结果中尾</a:t>
                </a:r>
                <a:r>
                  <a:rPr lang="zh-CN" altLang="en-US" sz="2800" dirty="0">
                    <a:latin typeface="Times New Roman" pitchFamily="18" charset="0"/>
                  </a:rPr>
                  <a:t>数符号位与数值最高位</a:t>
                </a:r>
                <a:r>
                  <a:rPr lang="zh-CN" altLang="en-US" sz="2800" dirty="0" smtClean="0">
                    <a:latin typeface="Times New Roman" pitchFamily="18" charset="0"/>
                  </a:rPr>
                  <a:t>相同，结果为非规格化数，</a:t>
                </a:r>
                <a:endParaRPr lang="en-US" altLang="zh-CN" sz="2800" dirty="0" smtClean="0">
                  <a:latin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zh-CN" altLang="zh-CN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需</a:t>
                </a:r>
                <a:r>
                  <a:rPr lang="zh-CN" altLang="en-US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左规（</a:t>
                </a:r>
                <a:r>
                  <a:rPr lang="en-US" altLang="zh-CN" sz="28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US" altLang="zh-CN" sz="2800" baseline="-25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x+y</a:t>
                </a:r>
                <a:r>
                  <a:rPr lang="en-US" altLang="zh-CN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zh-CN" altLang="zh-CN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←</a:t>
                </a:r>
                <a:r>
                  <a:rPr lang="en-US" altLang="zh-CN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1,   </a:t>
                </a:r>
                <a:r>
                  <a:rPr lang="en-US" altLang="zh-CN" sz="28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r>
                  <a:rPr lang="en-US" altLang="zh-CN" sz="28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x+y</a:t>
                </a:r>
                <a:r>
                  <a:rPr lang="en-US" altLang="zh-CN" sz="2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-1</a:t>
                </a:r>
                <a:r>
                  <a:rPr lang="zh-CN" altLang="en-US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）</a:t>
                </a:r>
                <a:r>
                  <a:rPr lang="en-US" altLang="zh-CN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zh-CN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使结果变为规格化数</a:t>
                </a:r>
                <a:r>
                  <a:rPr lang="zh-CN" altLang="en-US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：</a:t>
                </a:r>
                <a:endParaRPr lang="en-US" altLang="zh-CN" sz="28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zh-CN" sz="2800" dirty="0" smtClean="0">
                    <a:latin typeface="Times New Roman" pitchFamily="18" charset="0"/>
                  </a:rPr>
                  <a:t>	[</a:t>
                </a:r>
                <a:r>
                  <a:rPr lang="en-US" altLang="zh-CN" sz="2800" dirty="0" err="1">
                    <a:latin typeface="Times New Roman" pitchFamily="18" charset="0"/>
                  </a:rPr>
                  <a:t>x+y</a:t>
                </a:r>
                <a:r>
                  <a:rPr lang="en-US" altLang="zh-CN" sz="2800" dirty="0">
                    <a:latin typeface="Times New Roman" pitchFamily="18" charset="0"/>
                  </a:rPr>
                  <a:t>]</a:t>
                </a:r>
                <a:r>
                  <a:rPr lang="zh-CN" altLang="en-US" sz="2800" baseline="-25000" dirty="0">
                    <a:latin typeface="Times New Roman" pitchFamily="18" charset="0"/>
                  </a:rPr>
                  <a:t>补</a:t>
                </a:r>
                <a:r>
                  <a:rPr lang="en-US" altLang="zh-CN" sz="2800" dirty="0">
                    <a:latin typeface="Times New Roman" pitchFamily="18" charset="0"/>
                  </a:rPr>
                  <a:t>=</a:t>
                </a:r>
                <a:r>
                  <a:rPr lang="en-US" altLang="zh-CN" sz="2800" dirty="0" smtClean="0">
                    <a:latin typeface="Times New Roman" pitchFamily="18" charset="0"/>
                  </a:rPr>
                  <a:t>00,100; 00.110100</a:t>
                </a: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zh-CN" altLang="en-US" sz="2800" dirty="0" smtClean="0">
                    <a:latin typeface="Times New Roman" pitchFamily="18" charset="0"/>
                  </a:rPr>
                  <a:t>④舍入处理：规格化时尾数左规，无需舍入处理。</a:t>
                </a:r>
                <a:endParaRPr lang="en-US" altLang="zh-CN" sz="2800" dirty="0" smtClean="0">
                  <a:latin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800" dirty="0" smtClean="0">
                    <a:latin typeface="Cambria" pitchFamily="18" charset="0"/>
                    <a:sym typeface="Wingdings"/>
                  </a:rPr>
                  <a:t>⑤</a:t>
                </a:r>
                <a:r>
                  <a:rPr lang="zh-CN" altLang="en-US" sz="2800" dirty="0" smtClean="0">
                    <a:latin typeface="Times New Roman" pitchFamily="18" charset="0"/>
                  </a:rPr>
                  <a:t>溢出</a:t>
                </a:r>
                <a:r>
                  <a:rPr lang="zh-CN" altLang="en-US" sz="2800" dirty="0">
                    <a:latin typeface="Times New Roman" pitchFamily="18" charset="0"/>
                  </a:rPr>
                  <a:t>判断：</a:t>
                </a:r>
                <a:r>
                  <a:rPr lang="en-US" altLang="zh-CN" sz="2800" dirty="0">
                    <a:latin typeface="Times New Roman" pitchFamily="18" charset="0"/>
                  </a:rPr>
                  <a:t> </a:t>
                </a:r>
                <a:r>
                  <a:rPr lang="zh-CN" altLang="en-US" sz="2800" dirty="0" smtClean="0">
                    <a:latin typeface="Times New Roman" pitchFamily="18" charset="0"/>
                  </a:rPr>
                  <a:t>结果中阶</a:t>
                </a:r>
                <a:r>
                  <a:rPr lang="zh-CN" altLang="en-US" sz="2800" dirty="0">
                    <a:latin typeface="Times New Roman" pitchFamily="18" charset="0"/>
                  </a:rPr>
                  <a:t>码符号位为“</a:t>
                </a:r>
                <a:r>
                  <a:rPr lang="en-US" altLang="zh-CN" sz="2800" dirty="0">
                    <a:latin typeface="Times New Roman" pitchFamily="18" charset="0"/>
                  </a:rPr>
                  <a:t>00</a:t>
                </a:r>
                <a:r>
                  <a:rPr lang="zh-CN" altLang="en-US" sz="2800" dirty="0">
                    <a:latin typeface="Times New Roman" pitchFamily="18" charset="0"/>
                  </a:rPr>
                  <a:t>”，结果不溢出。</a:t>
                </a:r>
                <a:endParaRPr lang="en-US" altLang="zh-CN" sz="2800" dirty="0">
                  <a:latin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800" dirty="0" smtClean="0">
                    <a:latin typeface="Times New Roman" pitchFamily="18" charset="0"/>
                  </a:rPr>
                  <a:t>	</a:t>
                </a:r>
                <a:r>
                  <a:rPr lang="zh-CN" altLang="en-US" sz="2800" dirty="0" smtClean="0">
                    <a:latin typeface="Times New Roman" pitchFamily="18" charset="0"/>
                  </a:rPr>
                  <a:t>故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US" altLang="zh-CN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8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28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en-US" altLang="zh-CN" sz="2800" dirty="0">
                    <a:latin typeface="Times New Roman" pitchFamily="18" charset="0"/>
                  </a:rPr>
                  <a:t>	</a:t>
                </a:r>
                <a:endParaRPr lang="en-US" altLang="zh-CN" sz="2800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9022" y="1315253"/>
                <a:ext cx="8435280" cy="5301208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668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0995" y="80682"/>
            <a:ext cx="8264769" cy="971741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/>
            <a:r>
              <a:rPr lang="en-US" altLang="zh-CN" sz="2800" dirty="0" smtClean="0"/>
              <a:t>6.27</a:t>
            </a:r>
            <a:r>
              <a:rPr lang="zh-CN" altLang="en-US" sz="2800" dirty="0"/>
              <a:t>假</a:t>
            </a:r>
            <a:r>
              <a:rPr lang="zh-CN" altLang="en-US" sz="2800" dirty="0" smtClean="0"/>
              <a:t>设阶码取</a:t>
            </a:r>
            <a:r>
              <a:rPr lang="en-US" altLang="zh-CN" sz="2800" dirty="0" smtClean="0"/>
              <a:t>3</a:t>
            </a:r>
            <a:r>
              <a:rPr lang="zh-CN" altLang="en-US" sz="2800" dirty="0" smtClean="0"/>
              <a:t>位，尾数取</a:t>
            </a:r>
            <a:r>
              <a:rPr lang="en-US" altLang="zh-CN" sz="2800" dirty="0" smtClean="0"/>
              <a:t>6</a:t>
            </a:r>
            <a:r>
              <a:rPr lang="zh-CN" altLang="en-US" sz="2800" dirty="0" smtClean="0"/>
              <a:t>位（均不包括符号位），计算下列各题：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49407" y="1065087"/>
                <a:ext cx="8435280" cy="5603132"/>
              </a:xfr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zh-CN" altLang="en-US" sz="2800" dirty="0" smtClean="0"/>
                  <a:t>（</a:t>
                </a:r>
                <a:r>
                  <a:rPr lang="en-US" altLang="zh-CN" sz="2800" dirty="0" smtClean="0"/>
                  <a:t>8</a:t>
                </a:r>
                <a:r>
                  <a:rPr lang="zh-CN" altLang="en-US" sz="2800" dirty="0" smtClean="0"/>
                  <a:t>）</a:t>
                </a:r>
                <a:r>
                  <a:rPr lang="en-US" altLang="zh-CN" sz="2800" dirty="0" smtClean="0"/>
                  <a:t>14.75-2.4375</a:t>
                </a:r>
              </a:p>
              <a:p>
                <a:pPr marL="0" indent="0">
                  <a:buNone/>
                </a:pPr>
                <a:r>
                  <a:rPr lang="zh-CN" altLang="en-US" sz="2800" dirty="0"/>
                  <a:t>解：设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altLang="zh-CN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800"/>
                      <m:t>14.75</m:t>
                    </m:r>
                  </m:oMath>
                </a14:m>
                <a:r>
                  <a:rPr lang="en-US" altLang="zh-CN" sz="2800" dirty="0" smtClean="0"/>
                  <a:t>=1110.11=2</a:t>
                </a:r>
                <a:r>
                  <a:rPr lang="en-US" altLang="zh-CN" sz="2800" baseline="30000" dirty="0"/>
                  <a:t>1</a:t>
                </a:r>
                <a:r>
                  <a:rPr lang="en-US" altLang="zh-CN" sz="2800" baseline="30000" dirty="0" smtClean="0"/>
                  <a:t>00 </a:t>
                </a:r>
                <a:r>
                  <a:rPr lang="en-US" altLang="zh-CN" sz="2800" dirty="0" smtClean="0"/>
                  <a:t>× 0.111011,</a:t>
                </a:r>
              </a:p>
              <a:p>
                <a:pPr marL="0" indent="0">
                  <a:buNone/>
                </a:pPr>
                <a:r>
                  <a:rPr lang="en-US" altLang="zh-CN" sz="2800" dirty="0"/>
                  <a:t>	</a:t>
                </a:r>
                <a:r>
                  <a:rPr lang="en-US" altLang="zh-CN" sz="2800" dirty="0" smtClean="0"/>
                  <a:t>y=2.4375=10.0111=2</a:t>
                </a:r>
                <a:r>
                  <a:rPr lang="en-US" altLang="zh-CN" sz="2800" baseline="30000" dirty="0" smtClean="0"/>
                  <a:t>010 </a:t>
                </a:r>
                <a:r>
                  <a:rPr lang="zh-CN" altLang="en-US" sz="2800" dirty="0">
                    <a:latin typeface="Times New Roman" pitchFamily="18" charset="0"/>
                  </a:rPr>
                  <a:t>× </a:t>
                </a:r>
                <a:r>
                  <a:rPr lang="en-US" altLang="zh-CN" sz="2800" dirty="0" smtClean="0"/>
                  <a:t>0.100111,</a:t>
                </a:r>
              </a:p>
              <a:p>
                <a:pPr marL="0" indent="0">
                  <a:buNone/>
                </a:pPr>
                <a:r>
                  <a:rPr lang="zh-CN" altLang="en-US" sz="2800" dirty="0" smtClean="0"/>
                  <a:t>        则</a:t>
                </a:r>
                <a:r>
                  <a:rPr lang="en-US" altLang="zh-CN" sz="2800" dirty="0" smtClean="0"/>
                  <a:t>[</a:t>
                </a:r>
                <a:r>
                  <a:rPr lang="en-US" altLang="zh-CN" sz="2800" dirty="0"/>
                  <a:t>x]</a:t>
                </a:r>
                <a:r>
                  <a:rPr lang="zh-CN" altLang="en-US" sz="2000" baseline="-25000" dirty="0">
                    <a:latin typeface="Times New Roman" pitchFamily="18" charset="0"/>
                  </a:rPr>
                  <a:t>补</a:t>
                </a:r>
                <a:r>
                  <a:rPr lang="en-US" altLang="zh-CN" sz="2800" dirty="0"/>
                  <a:t>=</a:t>
                </a:r>
                <a:r>
                  <a:rPr lang="en-US" altLang="zh-CN" sz="2800" dirty="0" smtClean="0"/>
                  <a:t>00,100;00</a:t>
                </a:r>
                <a:r>
                  <a:rPr lang="en-US" altLang="zh-CN" sz="2800" dirty="0"/>
                  <a:t>. </a:t>
                </a:r>
                <a:r>
                  <a:rPr lang="en-US" altLang="zh-CN" sz="2800" dirty="0" smtClean="0"/>
                  <a:t>111011</a:t>
                </a:r>
                <a:r>
                  <a:rPr lang="zh-CN" altLang="en-US" sz="2800" dirty="0" smtClean="0"/>
                  <a:t>，</a:t>
                </a:r>
                <a:r>
                  <a:rPr lang="en-US" altLang="zh-CN" sz="2800" dirty="0" smtClean="0"/>
                  <a:t> </a:t>
                </a:r>
                <a:r>
                  <a:rPr lang="en-US" altLang="zh-CN" sz="2800" dirty="0"/>
                  <a:t>[y]</a:t>
                </a:r>
                <a:r>
                  <a:rPr lang="zh-CN" altLang="en-US" sz="2000" baseline="-25000" dirty="0">
                    <a:latin typeface="Times New Roman" pitchFamily="18" charset="0"/>
                  </a:rPr>
                  <a:t>补</a:t>
                </a:r>
                <a:r>
                  <a:rPr lang="en-US" altLang="zh-CN" sz="2800" dirty="0"/>
                  <a:t>=</a:t>
                </a:r>
                <a:r>
                  <a:rPr lang="en-US" altLang="zh-CN" sz="2800" dirty="0" smtClean="0"/>
                  <a:t>00,010;00.100111</a:t>
                </a:r>
                <a:endParaRPr lang="en-US" altLang="zh-CN" sz="2800" dirty="0"/>
              </a:p>
              <a:p>
                <a:pPr marL="0" indent="0">
                  <a:buNone/>
                </a:pPr>
                <a:r>
                  <a:rPr lang="zh-CN" altLang="en-US" sz="2800" dirty="0">
                    <a:latin typeface="Times New Roman" pitchFamily="18" charset="0"/>
                  </a:rPr>
                  <a:t>① 对阶</a:t>
                </a:r>
              </a:p>
              <a:p>
                <a:pPr marL="0" indent="0">
                  <a:buNone/>
                </a:pPr>
                <a:r>
                  <a:rPr lang="en-US" altLang="zh-CN" sz="2800" dirty="0">
                    <a:latin typeface="Times New Roman" pitchFamily="18" charset="0"/>
                  </a:rPr>
                  <a:t>	</a:t>
                </a:r>
                <a:r>
                  <a:rPr lang="zh-CN" altLang="en-US" sz="2800" dirty="0">
                    <a:latin typeface="Times New Roman" pitchFamily="18" charset="0"/>
                  </a:rPr>
                  <a:t>[</a:t>
                </a:r>
                <a:r>
                  <a:rPr lang="en-US" altLang="zh-CN" sz="2000" dirty="0" err="1">
                    <a:latin typeface="Times New Roman" pitchFamily="18" charset="0"/>
                  </a:rPr>
                  <a:t>Δ</a:t>
                </a:r>
                <a:r>
                  <a:rPr lang="en-US" altLang="zh-CN" sz="2800" i="1" dirty="0" err="1">
                    <a:latin typeface="Times New Roman" pitchFamily="18" charset="0"/>
                  </a:rPr>
                  <a:t>j</a:t>
                </a:r>
                <a:r>
                  <a:rPr lang="en-US" altLang="zh-CN" sz="2800" dirty="0">
                    <a:latin typeface="Times New Roman" pitchFamily="18" charset="0"/>
                  </a:rPr>
                  <a:t>]</a:t>
                </a:r>
                <a:r>
                  <a:rPr lang="zh-CN" altLang="en-US" sz="2000" baseline="-25000" dirty="0">
                    <a:latin typeface="Times New Roman" pitchFamily="18" charset="0"/>
                  </a:rPr>
                  <a:t>补</a:t>
                </a:r>
                <a:r>
                  <a:rPr lang="zh-CN" altLang="en-US" sz="2800" dirty="0">
                    <a:latin typeface="Times New Roman" pitchFamily="18" charset="0"/>
                  </a:rPr>
                  <a:t> = [</a:t>
                </a:r>
                <a:r>
                  <a:rPr lang="en-US" altLang="zh-CN" sz="2800" i="1" dirty="0" err="1">
                    <a:latin typeface="Times New Roman" pitchFamily="18" charset="0"/>
                  </a:rPr>
                  <a:t>j</a:t>
                </a:r>
                <a:r>
                  <a:rPr lang="en-US" altLang="zh-CN" sz="2800" i="1" baseline="-25000" dirty="0" err="1">
                    <a:latin typeface="Times New Roman" pitchFamily="18" charset="0"/>
                  </a:rPr>
                  <a:t>x</a:t>
                </a:r>
                <a:r>
                  <a:rPr lang="en-US" altLang="zh-CN" sz="2800" dirty="0">
                    <a:latin typeface="Times New Roman" pitchFamily="18" charset="0"/>
                  </a:rPr>
                  <a:t>]</a:t>
                </a:r>
                <a:r>
                  <a:rPr lang="zh-CN" altLang="en-US" sz="2000" baseline="-25000" dirty="0">
                    <a:latin typeface="Times New Roman" pitchFamily="18" charset="0"/>
                  </a:rPr>
                  <a:t>补</a:t>
                </a:r>
                <a:r>
                  <a:rPr lang="zh-CN" altLang="en-US" sz="2800" dirty="0">
                    <a:latin typeface="Times New Roman" pitchFamily="18" charset="0"/>
                  </a:rPr>
                  <a:t> </a:t>
                </a:r>
                <a:r>
                  <a:rPr lang="zh-CN" altLang="en-US" sz="2800" dirty="0">
                    <a:latin typeface="Times New Roman" pitchFamily="18" charset="0"/>
                    <a:cs typeface="Times New Roman" pitchFamily="18" charset="0"/>
                  </a:rPr>
                  <a:t>– [</a:t>
                </a:r>
                <a:r>
                  <a:rPr lang="en-US" altLang="zh-CN" sz="2800" i="1" dirty="0" err="1">
                    <a:latin typeface="Times New Roman" pitchFamily="18" charset="0"/>
                    <a:cs typeface="Times New Roman" pitchFamily="18" charset="0"/>
                  </a:rPr>
                  <a:t>j</a:t>
                </a:r>
                <a:r>
                  <a:rPr lang="en-US" altLang="zh-CN" sz="2800" i="1" baseline="-25000" dirty="0" err="1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altLang="zh-CN" sz="2800" dirty="0">
                    <a:latin typeface="Times New Roman" pitchFamily="18" charset="0"/>
                    <a:cs typeface="Times New Roman" pitchFamily="18" charset="0"/>
                  </a:rPr>
                  <a:t>]</a:t>
                </a:r>
                <a:r>
                  <a:rPr lang="zh-CN" altLang="en-US" sz="2000" baseline="-25000" dirty="0">
                    <a:latin typeface="Times New Roman" pitchFamily="18" charset="0"/>
                  </a:rPr>
                  <a:t>补</a:t>
                </a:r>
                <a:r>
                  <a:rPr lang="zh-CN" altLang="en-US" sz="2800" dirty="0">
                    <a:latin typeface="Times New Roman" pitchFamily="18" charset="0"/>
                  </a:rPr>
                  <a:t> </a:t>
                </a:r>
                <a:r>
                  <a:rPr lang="en-US" altLang="zh-CN" sz="2800" dirty="0">
                    <a:latin typeface="Times New Roman" pitchFamily="18" charset="0"/>
                  </a:rPr>
                  <a:t>=</a:t>
                </a:r>
                <a:r>
                  <a:rPr lang="en-US" altLang="zh-CN" sz="2800" dirty="0" smtClean="0">
                    <a:latin typeface="Times New Roman" pitchFamily="18" charset="0"/>
                  </a:rPr>
                  <a:t>00,100-00,010=00,010</a:t>
                </a:r>
                <a:r>
                  <a:rPr lang="zh-CN" altLang="en-US" sz="2800" dirty="0" smtClean="0">
                    <a:latin typeface="Times New Roman" pitchFamily="18" charset="0"/>
                  </a:rPr>
                  <a:t>，</a:t>
                </a:r>
                <a:endParaRPr lang="en-US" altLang="zh-CN" sz="2800" dirty="0" smtClean="0">
                  <a:latin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800" dirty="0">
                    <a:latin typeface="Times New Roman" pitchFamily="18" charset="0"/>
                  </a:rPr>
                  <a:t> </a:t>
                </a:r>
                <a:r>
                  <a:rPr lang="en-US" altLang="zh-CN" sz="2800" dirty="0" smtClean="0">
                    <a:latin typeface="Times New Roman" pitchFamily="18" charset="0"/>
                  </a:rPr>
                  <a:t>         </a:t>
                </a:r>
                <a:r>
                  <a:rPr lang="zh-CN" altLang="en-US" sz="2800" dirty="0" smtClean="0">
                    <a:latin typeface="Times New Roman" pitchFamily="18" charset="0"/>
                  </a:rPr>
                  <a:t>阶</a:t>
                </a:r>
                <a:r>
                  <a:rPr lang="zh-CN" altLang="en-US" sz="2800" dirty="0">
                    <a:latin typeface="Times New Roman" pitchFamily="18" charset="0"/>
                  </a:rPr>
                  <a:t>差为</a:t>
                </a:r>
                <a:r>
                  <a:rPr lang="en-US" altLang="zh-CN" sz="2800" dirty="0" smtClean="0">
                    <a:latin typeface="Times New Roman" pitchFamily="18" charset="0"/>
                  </a:rPr>
                  <a:t>+2 </a:t>
                </a:r>
                <a:r>
                  <a:rPr lang="en-US" altLang="zh-CN" sz="2800" dirty="0">
                    <a:latin typeface="Times New Roman" pitchFamily="18" charset="0"/>
                  </a:rPr>
                  <a:t>	</a:t>
                </a:r>
                <a:r>
                  <a:rPr lang="zh-CN" altLang="en-US" sz="2800" dirty="0">
                    <a:latin typeface="Times New Roman" pitchFamily="18" charset="0"/>
                  </a:rPr>
                  <a:t>∴ </a:t>
                </a:r>
                <a:r>
                  <a:rPr lang="en-US" altLang="zh-CN" sz="2800" i="1" dirty="0" err="1">
                    <a:latin typeface="Times New Roman" pitchFamily="18" charset="0"/>
                  </a:rPr>
                  <a:t>S</a:t>
                </a:r>
                <a:r>
                  <a:rPr lang="en-US" altLang="zh-CN" sz="2800" i="1" baseline="-25000" dirty="0" err="1">
                    <a:latin typeface="Times New Roman" pitchFamily="18" charset="0"/>
                  </a:rPr>
                  <a:t>y</a:t>
                </a:r>
                <a:r>
                  <a:rPr lang="en-US" altLang="zh-CN" sz="2800" dirty="0">
                    <a:latin typeface="Times New Roman" pitchFamily="18" charset="0"/>
                  </a:rPr>
                  <a:t> </a:t>
                </a:r>
                <a:r>
                  <a:rPr lang="zh-CN" altLang="en-US" sz="2800" dirty="0" smtClean="0">
                    <a:latin typeface="Times New Roman" pitchFamily="18" charset="0"/>
                  </a:rPr>
                  <a:t>→</a:t>
                </a:r>
                <a:r>
                  <a:rPr lang="en-US" altLang="zh-CN" sz="2800" dirty="0" smtClean="0">
                    <a:latin typeface="Times New Roman" pitchFamily="18" charset="0"/>
                  </a:rPr>
                  <a:t>2,   </a:t>
                </a:r>
                <a:r>
                  <a:rPr lang="en-US" altLang="zh-CN" sz="2800" i="1" dirty="0" smtClean="0">
                    <a:latin typeface="Times New Roman" pitchFamily="18" charset="0"/>
                  </a:rPr>
                  <a:t>j</a:t>
                </a:r>
                <a:r>
                  <a:rPr lang="en-US" altLang="zh-CN" sz="2800" i="1" baseline="-25000" dirty="0" smtClean="0">
                    <a:latin typeface="Times New Roman" pitchFamily="18" charset="0"/>
                  </a:rPr>
                  <a:t>y</a:t>
                </a:r>
                <a:r>
                  <a:rPr lang="en-US" altLang="zh-CN" sz="2800" dirty="0" smtClean="0">
                    <a:latin typeface="Times New Roman" pitchFamily="18" charset="0"/>
                  </a:rPr>
                  <a:t>+2</a:t>
                </a:r>
                <a:endParaRPr lang="en-US" altLang="zh-CN" sz="2800" dirty="0">
                  <a:latin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800" dirty="0">
                    <a:latin typeface="Times New Roman" pitchFamily="18" charset="0"/>
                  </a:rPr>
                  <a:t>	∴ [y</a:t>
                </a:r>
                <a:r>
                  <a:rPr lang="en-US" altLang="zh-CN" sz="2800" dirty="0" smtClean="0">
                    <a:latin typeface="Times New Roman" pitchFamily="18" charset="0"/>
                  </a:rPr>
                  <a:t>]</a:t>
                </a:r>
                <a:r>
                  <a:rPr lang="en-US" altLang="zh-CN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’</a:t>
                </a:r>
                <a:r>
                  <a:rPr lang="zh-CN" altLang="en-US" sz="2800" baseline="-25000" dirty="0" smtClean="0">
                    <a:latin typeface="Times New Roman" pitchFamily="18" charset="0"/>
                  </a:rPr>
                  <a:t>补</a:t>
                </a:r>
                <a:r>
                  <a:rPr lang="en-US" altLang="zh-CN" sz="2800" dirty="0" smtClean="0">
                    <a:latin typeface="Times New Roman" pitchFamily="18" charset="0"/>
                  </a:rPr>
                  <a:t> </a:t>
                </a:r>
                <a:r>
                  <a:rPr lang="en-US" altLang="zh-CN" sz="2800" dirty="0">
                    <a:latin typeface="Times New Roman" pitchFamily="18" charset="0"/>
                  </a:rPr>
                  <a:t>= </a:t>
                </a:r>
                <a:r>
                  <a:rPr lang="en-US" altLang="zh-CN" sz="2800" dirty="0" smtClean="0">
                    <a:latin typeface="Times New Roman" pitchFamily="18" charset="0"/>
                  </a:rPr>
                  <a:t>00,100; 00.001010 </a:t>
                </a:r>
              </a:p>
              <a:p>
                <a:pPr marL="0" indent="0">
                  <a:buNone/>
                </a:pPr>
                <a:r>
                  <a:rPr lang="en-US" altLang="zh-CN" sz="2800" dirty="0">
                    <a:latin typeface="Times New Roman" pitchFamily="18" charset="0"/>
                  </a:rPr>
                  <a:t> </a:t>
                </a:r>
                <a:r>
                  <a:rPr lang="en-US" altLang="zh-CN" sz="2800" dirty="0" smtClean="0">
                    <a:latin typeface="Times New Roman" pitchFamily="18" charset="0"/>
                  </a:rPr>
                  <a:t>                      (</a:t>
                </a:r>
                <a:r>
                  <a:rPr lang="zh-CN" altLang="en-US" sz="2800" dirty="0">
                    <a:latin typeface="Times New Roman" pitchFamily="18" charset="0"/>
                  </a:rPr>
                  <a:t>尾数</a:t>
                </a:r>
                <a:r>
                  <a:rPr lang="zh-CN" altLang="en-US" sz="2800" dirty="0" smtClean="0">
                    <a:latin typeface="Times New Roman" pitchFamily="18" charset="0"/>
                  </a:rPr>
                  <a:t>右移时</a:t>
                </a:r>
                <a:r>
                  <a:rPr lang="en-US" altLang="zh-CN" sz="2800" dirty="0">
                    <a:latin typeface="Times New Roman" pitchFamily="18" charset="0"/>
                  </a:rPr>
                  <a:t>0</a:t>
                </a:r>
                <a:r>
                  <a:rPr lang="zh-CN" altLang="en-US" sz="2800" dirty="0">
                    <a:latin typeface="Times New Roman" pitchFamily="18" charset="0"/>
                  </a:rPr>
                  <a:t>舍</a:t>
                </a:r>
                <a:r>
                  <a:rPr lang="en-US" altLang="zh-CN" sz="2800" dirty="0">
                    <a:latin typeface="Times New Roman" pitchFamily="18" charset="0"/>
                  </a:rPr>
                  <a:t>1</a:t>
                </a:r>
                <a:r>
                  <a:rPr lang="zh-CN" altLang="en-US" sz="2800" dirty="0">
                    <a:latin typeface="Times New Roman" pitchFamily="18" charset="0"/>
                  </a:rPr>
                  <a:t>入</a:t>
                </a:r>
                <a:r>
                  <a:rPr lang="zh-CN" altLang="en-US" sz="2800" dirty="0" smtClean="0">
                    <a:latin typeface="Times New Roman" pitchFamily="18" charset="0"/>
                  </a:rPr>
                  <a:t>）</a:t>
                </a:r>
                <a:endParaRPr lang="en-US" altLang="zh-CN" sz="2800" dirty="0" smtClean="0">
                  <a:latin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800" dirty="0" smtClean="0">
                    <a:latin typeface="Times New Roman" pitchFamily="18" charset="0"/>
                  </a:rPr>
                  <a:t>② </a:t>
                </a:r>
                <a:r>
                  <a:rPr lang="zh-CN" altLang="en-US" sz="2800" dirty="0">
                    <a:latin typeface="Times New Roman" pitchFamily="18" charset="0"/>
                  </a:rPr>
                  <a:t>尾数</a:t>
                </a:r>
                <a:r>
                  <a:rPr lang="zh-CN" altLang="en-US" sz="2800" dirty="0" smtClean="0">
                    <a:latin typeface="Times New Roman" pitchFamily="18" charset="0"/>
                  </a:rPr>
                  <a:t>求</a:t>
                </a:r>
                <a:r>
                  <a:rPr lang="zh-CN" altLang="en-US" sz="2800" dirty="0">
                    <a:latin typeface="Times New Roman" pitchFamily="18" charset="0"/>
                  </a:rPr>
                  <a:t>差</a:t>
                </a:r>
                <a:endParaRPr lang="en-US" altLang="zh-CN" sz="2800" dirty="0">
                  <a:latin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800" dirty="0">
                    <a:latin typeface="Times New Roman" pitchFamily="18" charset="0"/>
                  </a:rPr>
                  <a:t>	</a:t>
                </a:r>
                <a:r>
                  <a:rPr lang="zh-CN" altLang="en-US" sz="2800" dirty="0">
                    <a:latin typeface="Times New Roman" pitchFamily="18" charset="0"/>
                  </a:rPr>
                  <a:t> [</a:t>
                </a:r>
                <a:r>
                  <a:rPr lang="en-US" altLang="zh-CN" sz="2800" i="1" dirty="0" err="1">
                    <a:latin typeface="Times New Roman" pitchFamily="18" charset="0"/>
                  </a:rPr>
                  <a:t>S</a:t>
                </a:r>
                <a:r>
                  <a:rPr lang="en-US" altLang="zh-CN" sz="2800" i="1" baseline="-25000" dirty="0" err="1">
                    <a:latin typeface="Times New Roman" pitchFamily="18" charset="0"/>
                  </a:rPr>
                  <a:t>x</a:t>
                </a:r>
                <a:r>
                  <a:rPr lang="en-US" altLang="zh-CN" sz="2800" dirty="0">
                    <a:latin typeface="Times New Roman" pitchFamily="18" charset="0"/>
                  </a:rPr>
                  <a:t>]</a:t>
                </a:r>
                <a:r>
                  <a:rPr lang="zh-CN" altLang="en-US" sz="2000" baseline="-25000" dirty="0">
                    <a:latin typeface="Times New Roman" pitchFamily="18" charset="0"/>
                  </a:rPr>
                  <a:t>补</a:t>
                </a:r>
                <a:r>
                  <a:rPr lang="zh-CN" altLang="en-US" sz="2800" dirty="0">
                    <a:latin typeface="Times New Roman" pitchFamily="18" charset="0"/>
                  </a:rPr>
                  <a:t> </a:t>
                </a:r>
                <a:r>
                  <a:rPr lang="en-US" altLang="zh-CN" sz="2800" dirty="0" smtClean="0">
                    <a:latin typeface="Times New Roman" pitchFamily="18" charset="0"/>
                  </a:rPr>
                  <a:t>-</a:t>
                </a:r>
                <a:r>
                  <a:rPr lang="zh-CN" altLang="en-US" sz="2800" dirty="0" smtClean="0">
                    <a:latin typeface="Times New Roman" pitchFamily="18" charset="0"/>
                  </a:rPr>
                  <a:t> </a:t>
                </a:r>
                <a:r>
                  <a:rPr lang="zh-CN" altLang="en-US" sz="2800" dirty="0">
                    <a:latin typeface="Times New Roman" pitchFamily="18" charset="0"/>
                  </a:rPr>
                  <a:t>[</a:t>
                </a:r>
                <a:r>
                  <a:rPr lang="en-US" altLang="zh-CN" sz="2800" i="1" dirty="0" err="1">
                    <a:latin typeface="Times New Roman" pitchFamily="18" charset="0"/>
                  </a:rPr>
                  <a:t>S</a:t>
                </a:r>
                <a:r>
                  <a:rPr lang="en-US" altLang="zh-CN" sz="2800" i="1" baseline="-25000" dirty="0" err="1">
                    <a:latin typeface="Times New Roman" pitchFamily="18" charset="0"/>
                  </a:rPr>
                  <a:t>y</a:t>
                </a:r>
                <a:r>
                  <a:rPr lang="en-US" altLang="zh-CN" sz="2800" dirty="0">
                    <a:latin typeface="Times New Roman" pitchFamily="18" charset="0"/>
                  </a:rPr>
                  <a:t>]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'</a:t>
                </a:r>
                <a:r>
                  <a:rPr lang="zh-CN" altLang="en-US" sz="2000" baseline="-25000" dirty="0">
                    <a:latin typeface="Times New Roman" pitchFamily="18" charset="0"/>
                  </a:rPr>
                  <a:t>补</a:t>
                </a:r>
                <a:r>
                  <a:rPr lang="zh-CN" altLang="en-US" sz="2800" dirty="0">
                    <a:latin typeface="Times New Roman" pitchFamily="18" charset="0"/>
                  </a:rPr>
                  <a:t> </a:t>
                </a:r>
                <a:r>
                  <a:rPr lang="en-US" altLang="zh-CN" sz="2800" dirty="0" smtClean="0">
                    <a:latin typeface="Times New Roman" pitchFamily="18" charset="0"/>
                  </a:rPr>
                  <a:t>=00.111011-00.001010 </a:t>
                </a:r>
                <a:r>
                  <a:rPr lang="en-US" altLang="zh-CN" sz="2800" dirty="0">
                    <a:latin typeface="Times New Roman" pitchFamily="18" charset="0"/>
                  </a:rPr>
                  <a:t>=</a:t>
                </a:r>
                <a:r>
                  <a:rPr lang="en-US" altLang="zh-CN" sz="2800" dirty="0" smtClean="0">
                    <a:latin typeface="Times New Roman" pitchFamily="18" charset="0"/>
                  </a:rPr>
                  <a:t>00.110001</a:t>
                </a:r>
                <a:endParaRPr lang="zh-CN" altLang="en-US" sz="2800" dirty="0">
                  <a:latin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zh-CN" sz="2800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9407" y="1065087"/>
                <a:ext cx="8435280" cy="5603132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标注 3"/>
          <p:cNvSpPr/>
          <p:nvPr/>
        </p:nvSpPr>
        <p:spPr>
          <a:xfrm>
            <a:off x="5074602" y="5481872"/>
            <a:ext cx="3744416" cy="720080"/>
          </a:xfrm>
          <a:prstGeom prst="wedgeRectCallout">
            <a:avLst>
              <a:gd name="adj1" fmla="val -36358"/>
              <a:gd name="adj2" fmla="val -117003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/>
              <a:t>00.001001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11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453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031" y="125506"/>
            <a:ext cx="8264769" cy="1057835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/>
            <a:r>
              <a:rPr lang="en-US" altLang="zh-CN" sz="2800" dirty="0" smtClean="0"/>
              <a:t>6.27</a:t>
            </a:r>
            <a:r>
              <a:rPr lang="zh-CN" altLang="en-US" sz="2800" dirty="0"/>
              <a:t>假</a:t>
            </a:r>
            <a:r>
              <a:rPr lang="zh-CN" altLang="en-US" sz="2800" dirty="0" smtClean="0"/>
              <a:t>设阶码取</a:t>
            </a:r>
            <a:r>
              <a:rPr lang="en-US" altLang="zh-CN" sz="2800" dirty="0" smtClean="0"/>
              <a:t>3</a:t>
            </a:r>
            <a:r>
              <a:rPr lang="zh-CN" altLang="en-US" sz="2800" dirty="0" smtClean="0"/>
              <a:t>位，尾数取</a:t>
            </a:r>
            <a:r>
              <a:rPr lang="en-US" altLang="zh-CN" sz="2800" dirty="0" smtClean="0"/>
              <a:t>6</a:t>
            </a:r>
            <a:r>
              <a:rPr lang="zh-CN" altLang="en-US" sz="2800" dirty="0" smtClean="0"/>
              <a:t>位（均不包括符号位），计算下列各题：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1272120"/>
                <a:ext cx="8435280" cy="5301208"/>
              </a:xfr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CN" dirty="0" smtClean="0">
                    <a:latin typeface="Times New Roman" pitchFamily="18" charset="0"/>
                  </a:rPr>
                  <a:t>	</a:t>
                </a:r>
                <a:r>
                  <a:rPr lang="zh-CN" altLang="en-US" dirty="0" smtClean="0">
                    <a:latin typeface="Times New Roman" pitchFamily="18" charset="0"/>
                  </a:rPr>
                  <a:t>即 </a:t>
                </a:r>
                <a:r>
                  <a:rPr lang="en-US" altLang="zh-CN" dirty="0" smtClean="0">
                    <a:latin typeface="Times New Roman" pitchFamily="18" charset="0"/>
                  </a:rPr>
                  <a:t>[x-y</a:t>
                </a:r>
                <a:r>
                  <a:rPr lang="en-US" altLang="zh-CN" dirty="0">
                    <a:latin typeface="Times New Roman" pitchFamily="18" charset="0"/>
                  </a:rPr>
                  <a:t>]</a:t>
                </a:r>
                <a:r>
                  <a:rPr lang="zh-CN" altLang="en-US" baseline="-25000" dirty="0">
                    <a:latin typeface="Times New Roman" pitchFamily="18" charset="0"/>
                  </a:rPr>
                  <a:t>补</a:t>
                </a:r>
                <a:r>
                  <a:rPr lang="en-US" altLang="zh-CN" dirty="0">
                    <a:latin typeface="Times New Roman" pitchFamily="18" charset="0"/>
                  </a:rPr>
                  <a:t>=00,100; 00.110001 </a:t>
                </a:r>
                <a:endParaRPr lang="en-US" altLang="zh-CN" dirty="0" smtClean="0">
                  <a:latin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dirty="0" smtClean="0">
                    <a:latin typeface="Times New Roman" pitchFamily="18" charset="0"/>
                  </a:rPr>
                  <a:t>③尾数规格化 </a:t>
                </a:r>
                <a:endParaRPr lang="en-US" altLang="zh-CN" dirty="0">
                  <a:latin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dirty="0" smtClean="0">
                    <a:latin typeface="Times New Roman" pitchFamily="18" charset="0"/>
                  </a:rPr>
                  <a:t>结果中尾</a:t>
                </a:r>
                <a:r>
                  <a:rPr lang="zh-CN" altLang="en-US" dirty="0">
                    <a:latin typeface="Times New Roman" pitchFamily="18" charset="0"/>
                  </a:rPr>
                  <a:t>数符号位与数值最高位</a:t>
                </a:r>
                <a:r>
                  <a:rPr lang="zh-CN" altLang="en-US" dirty="0" smtClean="0">
                    <a:latin typeface="Times New Roman" pitchFamily="18" charset="0"/>
                  </a:rPr>
                  <a:t>相反，</a:t>
                </a:r>
                <a:r>
                  <a:rPr lang="zh-CN" altLang="en-US" dirty="0">
                    <a:latin typeface="Times New Roman" pitchFamily="18" charset="0"/>
                  </a:rPr>
                  <a:t>结果已为规格化数</a:t>
                </a:r>
                <a:r>
                  <a:rPr lang="zh-CN" altLang="en-US" dirty="0" smtClean="0">
                    <a:latin typeface="Times New Roman" pitchFamily="18" charset="0"/>
                  </a:rPr>
                  <a:t>。</a:t>
                </a:r>
                <a:endParaRPr lang="en-US" altLang="zh-CN" dirty="0" smtClean="0">
                  <a:latin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itchFamily="18" charset="0"/>
                  </a:rPr>
                  <a:t>④舍入处理：规格化时</a:t>
                </a:r>
                <a:r>
                  <a:rPr lang="zh-CN" altLang="en-US" dirty="0" smtClean="0">
                    <a:latin typeface="Times New Roman" pitchFamily="18" charset="0"/>
                  </a:rPr>
                  <a:t>尾数未右规</a:t>
                </a:r>
                <a:r>
                  <a:rPr lang="zh-CN" altLang="en-US" dirty="0">
                    <a:latin typeface="Times New Roman" pitchFamily="18" charset="0"/>
                  </a:rPr>
                  <a:t>，无需舍入处理。</a:t>
                </a:r>
                <a:endParaRPr lang="en-US" altLang="zh-CN" dirty="0">
                  <a:latin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dirty="0" smtClean="0">
                    <a:latin typeface="Times New Roman" pitchFamily="18" charset="0"/>
                    <a:sym typeface="Wingdings 2"/>
                  </a:rPr>
                  <a:t>⑤</a:t>
                </a:r>
                <a:r>
                  <a:rPr lang="zh-CN" altLang="en-US" dirty="0" smtClean="0">
                    <a:latin typeface="Times New Roman" pitchFamily="18" charset="0"/>
                  </a:rPr>
                  <a:t>溢出</a:t>
                </a:r>
                <a:r>
                  <a:rPr lang="zh-CN" altLang="en-US" dirty="0">
                    <a:latin typeface="Times New Roman" pitchFamily="18" charset="0"/>
                  </a:rPr>
                  <a:t>判断：</a:t>
                </a:r>
                <a:r>
                  <a:rPr lang="en-US" altLang="zh-CN" dirty="0">
                    <a:latin typeface="Times New Roman" pitchFamily="18" charset="0"/>
                  </a:rPr>
                  <a:t> [</a:t>
                </a:r>
                <a:r>
                  <a:rPr lang="en-US" altLang="zh-CN" dirty="0" smtClean="0">
                    <a:latin typeface="Times New Roman" pitchFamily="18" charset="0"/>
                  </a:rPr>
                  <a:t>x-y</a:t>
                </a:r>
                <a:r>
                  <a:rPr lang="en-US" altLang="zh-CN" dirty="0">
                    <a:latin typeface="Times New Roman" pitchFamily="18" charset="0"/>
                  </a:rPr>
                  <a:t>]</a:t>
                </a:r>
                <a:r>
                  <a:rPr lang="zh-CN" altLang="en-US" baseline="-25000" dirty="0">
                    <a:latin typeface="Times New Roman" pitchFamily="18" charset="0"/>
                  </a:rPr>
                  <a:t>补</a:t>
                </a:r>
                <a:r>
                  <a:rPr lang="zh-CN" altLang="en-US" dirty="0">
                    <a:latin typeface="Times New Roman" pitchFamily="18" charset="0"/>
                  </a:rPr>
                  <a:t>的阶码符号位为“</a:t>
                </a:r>
                <a:r>
                  <a:rPr lang="en-US" altLang="zh-CN" dirty="0">
                    <a:latin typeface="Times New Roman" pitchFamily="18" charset="0"/>
                  </a:rPr>
                  <a:t>00</a:t>
                </a:r>
                <a:r>
                  <a:rPr lang="zh-CN" altLang="en-US" dirty="0">
                    <a:latin typeface="Times New Roman" pitchFamily="18" charset="0"/>
                  </a:rPr>
                  <a:t>”，结果不溢出。</a:t>
                </a:r>
                <a:endParaRPr lang="en-US" altLang="zh-CN" dirty="0">
                  <a:latin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 smtClean="0">
                    <a:latin typeface="Times New Roman" pitchFamily="18" charset="0"/>
                  </a:rPr>
                  <a:t>	</a:t>
                </a:r>
                <a:r>
                  <a:rPr lang="zh-CN" altLang="en-US" dirty="0" smtClean="0">
                    <a:latin typeface="Times New Roman" pitchFamily="18" charset="0"/>
                  </a:rPr>
                  <a:t>则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lang="en-US" altLang="zh-CN" dirty="0" smtClean="0">
                    <a:latin typeface="Times New Roman" pitchFamily="18" charset="0"/>
                  </a:rPr>
                  <a:t>=12.25</a:t>
                </a:r>
                <a:r>
                  <a:rPr lang="en-US" altLang="zh-CN" dirty="0">
                    <a:latin typeface="Times New Roman" pitchFamily="18" charset="0"/>
                  </a:rPr>
                  <a:t>	</a:t>
                </a: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1272120"/>
                <a:ext cx="8435280" cy="5301208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标注 3"/>
          <p:cNvSpPr/>
          <p:nvPr/>
        </p:nvSpPr>
        <p:spPr>
          <a:xfrm>
            <a:off x="4827142" y="5564047"/>
            <a:ext cx="3744416" cy="720080"/>
          </a:xfrm>
          <a:prstGeom prst="wedgeRectCallout">
            <a:avLst>
              <a:gd name="adj1" fmla="val -50538"/>
              <a:gd name="adj2" fmla="val -90531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smtClean="0"/>
              <a:t>为什么不是</a:t>
            </a:r>
            <a:r>
              <a:rPr lang="en-US" altLang="zh-CN" sz="2800" smtClean="0"/>
              <a:t>12.3125</a:t>
            </a:r>
            <a:r>
              <a:rPr lang="zh-CN" altLang="en-US" sz="2800" smtClean="0"/>
              <a:t>？</a:t>
            </a:r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304612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2571</Words>
  <Application>Microsoft Office PowerPoint</Application>
  <PresentationFormat>全屏显示(4:3)</PresentationFormat>
  <Paragraphs>587</Paragraphs>
  <Slides>28</Slides>
  <Notes>12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29" baseType="lpstr">
      <vt:lpstr>Office 主题​​</vt:lpstr>
      <vt:lpstr>★四、计算机的工作原理</vt:lpstr>
      <vt:lpstr>★四、计算机的工作原理</vt:lpstr>
      <vt:lpstr>★四、计算机的工作原理</vt:lpstr>
      <vt:lpstr>★四、计算机的工作原理</vt:lpstr>
      <vt:lpstr>★四、计算机的工作原理</vt:lpstr>
      <vt:lpstr>★四、计算机的工作原理</vt:lpstr>
      <vt:lpstr>PowerPoint 演示文稿</vt:lpstr>
      <vt:lpstr>★四、计算机的工作原理</vt:lpstr>
      <vt:lpstr>★六、存储器容量的扩展</vt:lpstr>
      <vt:lpstr>★六、存储器容量的扩展</vt:lpstr>
      <vt:lpstr>★六、存储器容量的扩展</vt:lpstr>
      <vt:lpstr>★七、存储器与 CPU 的连接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6.27假设阶码取3位，尾数取6位（均不包括符号位），计算下列各题：</vt:lpstr>
      <vt:lpstr>6.27假设阶码取3位，尾数取6位（均不包括符号位），计算下列各题：</vt:lpstr>
      <vt:lpstr>6.27假设阶码取3位，尾数取6位（均不包括符号位），计算下列各题：</vt:lpstr>
      <vt:lpstr>6.27假设阶码取3位，尾数取6位（均不包括符号位），计算下列各题：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User</cp:lastModifiedBy>
  <cp:revision>8</cp:revision>
  <dcterms:created xsi:type="dcterms:W3CDTF">2025-06-14T07:03:20Z</dcterms:created>
  <dcterms:modified xsi:type="dcterms:W3CDTF">2025-06-18T13:21:14Z</dcterms:modified>
</cp:coreProperties>
</file>