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9" r:id="rId3"/>
    <p:sldId id="258" r:id="rId4"/>
  </p:sldIdLst>
  <p:sldSz cx="9144000" cy="51435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2" autoAdjust="0"/>
    <p:restoredTop sz="94601" autoAdjust="0"/>
  </p:normalViewPr>
  <p:slideViewPr>
    <p:cSldViewPr>
      <p:cViewPr varScale="1">
        <p:scale>
          <a:sx n="110" d="100"/>
          <a:sy n="110" d="100"/>
        </p:scale>
        <p:origin x="-658" y="-67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hyperlink" Target="0-0-&#24635;&#30446;&#24405;.pptx" TargetMode="Externa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0-0-&#24635;&#30446;&#24405;.pptx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0-0-&#24635;&#30446;&#24405;.pptx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7"/>
          <p:cNvSpPr txBox="1">
            <a:spLocks noChangeArrowheads="1"/>
          </p:cNvSpPr>
          <p:nvPr userDrawn="1"/>
        </p:nvSpPr>
        <p:spPr bwMode="auto">
          <a:xfrm>
            <a:off x="5076056" y="267494"/>
            <a:ext cx="397416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zh-CN" altLang="en-US" sz="2400" b="1" dirty="0" smtClean="0">
                <a:solidFill>
                  <a:prstClr val="white"/>
                </a:solidFill>
              </a:rPr>
              <a:t>一、热学的研究对象及内容 </a:t>
            </a:r>
            <a:endParaRPr lang="zh-CN" altLang="en-US" sz="2400" b="1" dirty="0">
              <a:solidFill>
                <a:prstClr val="white"/>
              </a:solidFill>
            </a:endParaRPr>
          </a:p>
        </p:txBody>
      </p:sp>
      <p:sp>
        <p:nvSpPr>
          <p:cNvPr id="3" name="矩形 2">
            <a:hlinkClick r:id="rId2" action="ppaction://hlinkpres?slideindex=1&amp;slidetitle="/>
          </p:cNvPr>
          <p:cNvSpPr/>
          <p:nvPr/>
        </p:nvSpPr>
        <p:spPr>
          <a:xfrm>
            <a:off x="5795967" y="4730752"/>
            <a:ext cx="720725" cy="288925"/>
          </a:xfrm>
          <a:prstGeom prst="rect">
            <a:avLst/>
          </a:prstGeom>
          <a:solidFill>
            <a:srgbClr val="58A2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300" dirty="0">
                <a:solidFill>
                  <a:prstClr val="white"/>
                </a:solidFill>
                <a:latin typeface="方正舒体" panose="02010601030101010101" pitchFamily="2" charset="-122"/>
                <a:ea typeface="方正舒体" panose="02010601030101010101" pitchFamily="2" charset="-122"/>
              </a:rPr>
              <a:t>章目录</a:t>
            </a:r>
          </a:p>
        </p:txBody>
      </p:sp>
      <p:sp>
        <p:nvSpPr>
          <p:cNvPr id="4" name="矩形 3">
            <a:hlinkClick r:id="" action="ppaction://hlinkshowjump?jump=previousslide"/>
          </p:cNvPr>
          <p:cNvSpPr/>
          <p:nvPr/>
        </p:nvSpPr>
        <p:spPr>
          <a:xfrm>
            <a:off x="7380292" y="4730752"/>
            <a:ext cx="720725" cy="288925"/>
          </a:xfrm>
          <a:prstGeom prst="rect">
            <a:avLst/>
          </a:prstGeom>
          <a:solidFill>
            <a:srgbClr val="58A2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300" dirty="0">
                <a:solidFill>
                  <a:prstClr val="white"/>
                </a:solidFill>
                <a:latin typeface="方正舒体" panose="02010601030101010101" pitchFamily="2" charset="-122"/>
                <a:ea typeface="方正舒体" panose="02010601030101010101" pitchFamily="2" charset="-122"/>
              </a:rPr>
              <a:t>上一页</a:t>
            </a:r>
          </a:p>
        </p:txBody>
      </p:sp>
      <p:sp>
        <p:nvSpPr>
          <p:cNvPr id="5" name="矩形 4">
            <a:hlinkClick r:id="" action="ppaction://hlinkshowjump?jump=nextslide"/>
          </p:cNvPr>
          <p:cNvSpPr/>
          <p:nvPr/>
        </p:nvSpPr>
        <p:spPr>
          <a:xfrm>
            <a:off x="8172454" y="4730752"/>
            <a:ext cx="720725" cy="288925"/>
          </a:xfrm>
          <a:prstGeom prst="rect">
            <a:avLst/>
          </a:prstGeom>
          <a:solidFill>
            <a:srgbClr val="58A2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300" dirty="0">
                <a:solidFill>
                  <a:prstClr val="white"/>
                </a:solidFill>
                <a:latin typeface="方正舒体" panose="02010601030101010101" pitchFamily="2" charset="-122"/>
                <a:ea typeface="方正舒体" panose="02010601030101010101" pitchFamily="2" charset="-122"/>
              </a:rPr>
              <a:t>下一页</a:t>
            </a:r>
          </a:p>
        </p:txBody>
      </p:sp>
      <p:sp>
        <p:nvSpPr>
          <p:cNvPr id="6" name="矩形 5"/>
          <p:cNvSpPr/>
          <p:nvPr/>
        </p:nvSpPr>
        <p:spPr>
          <a:xfrm>
            <a:off x="6588129" y="4730752"/>
            <a:ext cx="720725" cy="288925"/>
          </a:xfrm>
          <a:prstGeom prst="rect">
            <a:avLst/>
          </a:prstGeom>
          <a:solidFill>
            <a:srgbClr val="58A2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300" dirty="0">
                <a:solidFill>
                  <a:prstClr val="white"/>
                </a:solidFill>
                <a:latin typeface="方正舒体" panose="02010601030101010101" pitchFamily="2" charset="-122"/>
                <a:ea typeface="方正舒体" panose="02010601030101010101" pitchFamily="2" charset="-122"/>
              </a:rPr>
              <a:t>节目录</a:t>
            </a:r>
          </a:p>
        </p:txBody>
      </p:sp>
    </p:spTree>
    <p:extLst>
      <p:ext uri="{BB962C8B-B14F-4D97-AF65-F5344CB8AC3E}">
        <p14:creationId xmlns:p14="http://schemas.microsoft.com/office/powerpoint/2010/main" val="53381407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7"/>
          <p:cNvSpPr txBox="1">
            <a:spLocks noChangeArrowheads="1"/>
          </p:cNvSpPr>
          <p:nvPr userDrawn="1"/>
        </p:nvSpPr>
        <p:spPr bwMode="auto">
          <a:xfrm>
            <a:off x="6012160" y="260668"/>
            <a:ext cx="296908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zh-CN" altLang="en-US" sz="2400" b="1" dirty="0" smtClean="0">
                <a:solidFill>
                  <a:prstClr val="white"/>
                </a:solidFill>
              </a:rPr>
              <a:t>二、热学的研究方法</a:t>
            </a:r>
          </a:p>
        </p:txBody>
      </p:sp>
      <p:sp>
        <p:nvSpPr>
          <p:cNvPr id="3" name="矩形 2">
            <a:hlinkClick r:id="rId2" action="ppaction://hlinkpres?slideindex=1&amp;slidetitle="/>
          </p:cNvPr>
          <p:cNvSpPr/>
          <p:nvPr/>
        </p:nvSpPr>
        <p:spPr>
          <a:xfrm>
            <a:off x="5802317" y="4730752"/>
            <a:ext cx="720725" cy="288925"/>
          </a:xfrm>
          <a:prstGeom prst="rect">
            <a:avLst/>
          </a:prstGeom>
          <a:solidFill>
            <a:srgbClr val="58A2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300" dirty="0">
                <a:solidFill>
                  <a:prstClr val="white"/>
                </a:solidFill>
                <a:latin typeface="方正舒体" panose="02010601030101010101" pitchFamily="2" charset="-122"/>
                <a:ea typeface="方正舒体" panose="02010601030101010101" pitchFamily="2" charset="-122"/>
              </a:rPr>
              <a:t>章目录</a:t>
            </a:r>
          </a:p>
        </p:txBody>
      </p:sp>
      <p:sp>
        <p:nvSpPr>
          <p:cNvPr id="4" name="矩形 3">
            <a:hlinkClick r:id="" action="ppaction://hlinkshowjump?jump=previousslide"/>
          </p:cNvPr>
          <p:cNvSpPr/>
          <p:nvPr/>
        </p:nvSpPr>
        <p:spPr>
          <a:xfrm>
            <a:off x="7386642" y="4730752"/>
            <a:ext cx="720725" cy="288925"/>
          </a:xfrm>
          <a:prstGeom prst="rect">
            <a:avLst/>
          </a:prstGeom>
          <a:solidFill>
            <a:srgbClr val="58A2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300" dirty="0">
                <a:solidFill>
                  <a:prstClr val="white"/>
                </a:solidFill>
                <a:latin typeface="方正舒体" panose="02010601030101010101" pitchFamily="2" charset="-122"/>
                <a:ea typeface="方正舒体" panose="02010601030101010101" pitchFamily="2" charset="-122"/>
              </a:rPr>
              <a:t>上一页</a:t>
            </a:r>
          </a:p>
        </p:txBody>
      </p:sp>
      <p:sp>
        <p:nvSpPr>
          <p:cNvPr id="5" name="矩形 4">
            <a:hlinkClick r:id="" action="ppaction://hlinkshowjump?jump=nextslide"/>
          </p:cNvPr>
          <p:cNvSpPr/>
          <p:nvPr/>
        </p:nvSpPr>
        <p:spPr>
          <a:xfrm>
            <a:off x="8178804" y="4730752"/>
            <a:ext cx="720725" cy="288925"/>
          </a:xfrm>
          <a:prstGeom prst="rect">
            <a:avLst/>
          </a:prstGeom>
          <a:solidFill>
            <a:srgbClr val="58A2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300" dirty="0">
                <a:solidFill>
                  <a:prstClr val="white"/>
                </a:solidFill>
                <a:latin typeface="方正舒体" panose="02010601030101010101" pitchFamily="2" charset="-122"/>
                <a:ea typeface="方正舒体" panose="02010601030101010101" pitchFamily="2" charset="-122"/>
              </a:rPr>
              <a:t>下一页</a:t>
            </a:r>
          </a:p>
        </p:txBody>
      </p:sp>
      <p:sp>
        <p:nvSpPr>
          <p:cNvPr id="6" name="矩形 5"/>
          <p:cNvSpPr/>
          <p:nvPr/>
        </p:nvSpPr>
        <p:spPr>
          <a:xfrm>
            <a:off x="6594479" y="4730752"/>
            <a:ext cx="720725" cy="288925"/>
          </a:xfrm>
          <a:prstGeom prst="rect">
            <a:avLst/>
          </a:prstGeom>
          <a:solidFill>
            <a:srgbClr val="58A2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300" dirty="0">
                <a:solidFill>
                  <a:prstClr val="white"/>
                </a:solidFill>
                <a:latin typeface="方正舒体" panose="02010601030101010101" pitchFamily="2" charset="-122"/>
                <a:ea typeface="方正舒体" panose="02010601030101010101" pitchFamily="2" charset="-122"/>
              </a:rPr>
              <a:t>节目录</a:t>
            </a:r>
          </a:p>
        </p:txBody>
      </p:sp>
    </p:spTree>
    <p:extLst>
      <p:ext uri="{BB962C8B-B14F-4D97-AF65-F5344CB8AC3E}">
        <p14:creationId xmlns:p14="http://schemas.microsoft.com/office/powerpoint/2010/main" val="99719206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hlinkClick r:id="rId2" action="ppaction://hlinkpres?slideindex=1&amp;slidetitle="/>
          </p:cNvPr>
          <p:cNvSpPr/>
          <p:nvPr userDrawn="1"/>
        </p:nvSpPr>
        <p:spPr>
          <a:xfrm>
            <a:off x="5802317" y="4730752"/>
            <a:ext cx="720725" cy="288925"/>
          </a:xfrm>
          <a:prstGeom prst="rect">
            <a:avLst/>
          </a:prstGeom>
          <a:solidFill>
            <a:srgbClr val="58A2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300" dirty="0">
                <a:solidFill>
                  <a:prstClr val="white"/>
                </a:solidFill>
                <a:latin typeface="方正舒体" panose="02010601030101010101" pitchFamily="2" charset="-122"/>
                <a:ea typeface="方正舒体" panose="02010601030101010101" pitchFamily="2" charset="-122"/>
              </a:rPr>
              <a:t>章目录</a:t>
            </a:r>
          </a:p>
        </p:txBody>
      </p:sp>
      <p:sp>
        <p:nvSpPr>
          <p:cNvPr id="8" name="矩形 7">
            <a:hlinkClick r:id="" action="ppaction://hlinkshowjump?jump=previousslide"/>
          </p:cNvPr>
          <p:cNvSpPr/>
          <p:nvPr userDrawn="1"/>
        </p:nvSpPr>
        <p:spPr>
          <a:xfrm>
            <a:off x="7386642" y="4730752"/>
            <a:ext cx="720725" cy="288925"/>
          </a:xfrm>
          <a:prstGeom prst="rect">
            <a:avLst/>
          </a:prstGeom>
          <a:solidFill>
            <a:srgbClr val="58A2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300" dirty="0">
                <a:solidFill>
                  <a:prstClr val="white"/>
                </a:solidFill>
                <a:latin typeface="方正舒体" panose="02010601030101010101" pitchFamily="2" charset="-122"/>
                <a:ea typeface="方正舒体" panose="02010601030101010101" pitchFamily="2" charset="-122"/>
              </a:rPr>
              <a:t>上一页</a:t>
            </a:r>
          </a:p>
        </p:txBody>
      </p:sp>
      <p:sp>
        <p:nvSpPr>
          <p:cNvPr id="9" name="矩形 8">
            <a:hlinkClick r:id="" action="ppaction://hlinkshowjump?jump=nextslide"/>
          </p:cNvPr>
          <p:cNvSpPr/>
          <p:nvPr userDrawn="1"/>
        </p:nvSpPr>
        <p:spPr>
          <a:xfrm>
            <a:off x="8169464" y="4730751"/>
            <a:ext cx="720725" cy="288925"/>
          </a:xfrm>
          <a:prstGeom prst="rect">
            <a:avLst/>
          </a:prstGeom>
          <a:solidFill>
            <a:srgbClr val="58A2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300" dirty="0">
                <a:solidFill>
                  <a:prstClr val="white"/>
                </a:solidFill>
                <a:latin typeface="方正舒体" panose="02010601030101010101" pitchFamily="2" charset="-122"/>
                <a:ea typeface="方正舒体" panose="02010601030101010101" pitchFamily="2" charset="-122"/>
              </a:rPr>
              <a:t>下一页</a:t>
            </a:r>
          </a:p>
        </p:txBody>
      </p:sp>
      <p:sp>
        <p:nvSpPr>
          <p:cNvPr id="10" name="矩形 9"/>
          <p:cNvSpPr/>
          <p:nvPr userDrawn="1"/>
        </p:nvSpPr>
        <p:spPr>
          <a:xfrm>
            <a:off x="6594479" y="4730752"/>
            <a:ext cx="720725" cy="288925"/>
          </a:xfrm>
          <a:prstGeom prst="rect">
            <a:avLst/>
          </a:prstGeom>
          <a:solidFill>
            <a:srgbClr val="58A2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300" dirty="0">
                <a:solidFill>
                  <a:prstClr val="white"/>
                </a:solidFill>
                <a:latin typeface="方正舒体" panose="02010601030101010101" pitchFamily="2" charset="-122"/>
                <a:ea typeface="方正舒体" panose="02010601030101010101" pitchFamily="2" charset="-122"/>
              </a:rPr>
              <a:t>节目录</a:t>
            </a:r>
          </a:p>
        </p:txBody>
      </p:sp>
    </p:spTree>
    <p:extLst>
      <p:ext uri="{BB962C8B-B14F-4D97-AF65-F5344CB8AC3E}">
        <p14:creationId xmlns:p14="http://schemas.microsoft.com/office/powerpoint/2010/main" val="109399972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bg bwMode="auto">
      <p:bgPr>
        <a:gradFill rotWithShape="0">
          <a:gsLst>
            <a:gs pos="0">
              <a:srgbClr val="DDEBCF"/>
            </a:gs>
            <a:gs pos="100000">
              <a:srgbClr val="9CB86E"/>
            </a:gs>
          </a:gsLst>
          <a:lin ang="168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896795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bg bwMode="auto">
      <p:bgPr>
        <a:gradFill rotWithShape="0">
          <a:gsLst>
            <a:gs pos="0">
              <a:srgbClr val="DDEBCF"/>
            </a:gs>
            <a:gs pos="100000">
              <a:srgbClr val="9CB86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65271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bg bwMode="auto">
      <p:bgPr>
        <a:gradFill rotWithShape="0">
          <a:gsLst>
            <a:gs pos="0">
              <a:srgbClr val="DDEBCF"/>
            </a:gs>
            <a:gs pos="100000">
              <a:srgbClr val="9CB86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53462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 bwMode="auto">
      <p:bgPr>
        <a:gradFill rotWithShape="0">
          <a:gsLst>
            <a:gs pos="0">
              <a:srgbClr val="DDEBCF"/>
            </a:gs>
            <a:gs pos="100000">
              <a:srgbClr val="9CB86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457200" y="4767265"/>
            <a:ext cx="2133600" cy="274637"/>
          </a:xfrm>
          <a:prstGeom prst="rect">
            <a:avLst/>
          </a:prstGeom>
        </p:spPr>
        <p:txBody>
          <a:bodyPr/>
          <a:lstStyle>
            <a:lvl1pPr>
              <a:buFontTx/>
              <a:buNone/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2800">
              <a:solidFill>
                <a:prstClr val="black"/>
              </a:solidFill>
              <a:latin typeface="Times New Roman" pitchFamily="18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124200" y="4767265"/>
            <a:ext cx="2895600" cy="274637"/>
          </a:xfrm>
          <a:prstGeom prst="rect">
            <a:avLst/>
          </a:prstGeom>
        </p:spPr>
        <p:txBody>
          <a:bodyPr/>
          <a:lstStyle>
            <a:lvl1pPr>
              <a:buFontTx/>
              <a:buNone/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2800">
              <a:solidFill>
                <a:prstClr val="black"/>
              </a:solidFill>
              <a:latin typeface="Times New Roman" pitchFamily="18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553200" y="4767265"/>
            <a:ext cx="2133600" cy="27463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fld id="{61E4A74E-ADEC-4D29-B01A-F7A347EB7F04}" type="slidenum">
              <a:rPr lang="zh-CN" altLang="en-US" sz="2800">
                <a:solidFill>
                  <a:prstClr val="black"/>
                </a:solidFill>
                <a:latin typeface="Times New Roman" pitchFamily="18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</a:pPr>
              <a:t>‹#›</a:t>
            </a:fld>
            <a:endParaRPr lang="zh-CN" altLang="en-US" sz="2800">
              <a:solidFill>
                <a:prstClr val="black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077617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 bwMode="auto">
      <p:bgPr>
        <a:gradFill rotWithShape="0">
          <a:gsLst>
            <a:gs pos="0">
              <a:srgbClr val="DDEBCF"/>
            </a:gs>
            <a:gs pos="100000">
              <a:srgbClr val="9CB86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457200" y="4767265"/>
            <a:ext cx="2133600" cy="274637"/>
          </a:xfrm>
          <a:prstGeom prst="rect">
            <a:avLst/>
          </a:prstGeom>
        </p:spPr>
        <p:txBody>
          <a:bodyPr/>
          <a:lstStyle>
            <a:lvl1pPr>
              <a:buFontTx/>
              <a:buNone/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2800">
              <a:solidFill>
                <a:prstClr val="black"/>
              </a:solidFill>
              <a:latin typeface="Times New Roman" pitchFamily="18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124200" y="4767265"/>
            <a:ext cx="2895600" cy="274637"/>
          </a:xfrm>
          <a:prstGeom prst="rect">
            <a:avLst/>
          </a:prstGeom>
        </p:spPr>
        <p:txBody>
          <a:bodyPr/>
          <a:lstStyle>
            <a:lvl1pPr>
              <a:buFontTx/>
              <a:buNone/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2800">
              <a:solidFill>
                <a:prstClr val="black"/>
              </a:solidFill>
              <a:latin typeface="Times New Roman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4767265"/>
            <a:ext cx="2133600" cy="27463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fld id="{0E7DECD5-13B6-453C-8293-D1CEA3B360B2}" type="slidenum">
              <a:rPr lang="zh-CN" altLang="en-US" sz="2800">
                <a:solidFill>
                  <a:prstClr val="black"/>
                </a:solidFill>
                <a:latin typeface="Times New Roman" pitchFamily="18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</a:pPr>
              <a:t>‹#›</a:t>
            </a:fld>
            <a:endParaRPr lang="zh-CN" altLang="en-US" sz="2800">
              <a:solidFill>
                <a:prstClr val="black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53310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bg bwMode="auto">
      <p:bgPr>
        <a:gradFill rotWithShape="0">
          <a:gsLst>
            <a:gs pos="0">
              <a:srgbClr val="DDEBCF"/>
            </a:gs>
            <a:gs pos="100000">
              <a:srgbClr val="9CB86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90637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 bwMode="auto">
      <p:bgPr>
        <a:gradFill rotWithShape="0">
          <a:gsLst>
            <a:gs pos="0">
              <a:srgbClr val="DDEBCF"/>
            </a:gs>
            <a:gs pos="100000">
              <a:srgbClr val="9CB86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34554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竖排文字">
    <p:bg bwMode="auto">
      <p:bgPr>
        <a:gradFill rotWithShape="0">
          <a:gsLst>
            <a:gs pos="0">
              <a:srgbClr val="DDEBCF"/>
            </a:gs>
            <a:gs pos="100000">
              <a:srgbClr val="9CB86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282298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垂直排列标题与文本">
    <p:bg bwMode="auto">
      <p:bgPr>
        <a:gradFill rotWithShape="0">
          <a:gsLst>
            <a:gs pos="0">
              <a:srgbClr val="DDEBCF"/>
            </a:gs>
            <a:gs pos="100000">
              <a:srgbClr val="9CB86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775717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498331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8614"/>
            <a:ext cx="7772400" cy="1101725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4637"/>
          </a:xfrm>
          <a:prstGeom prst="rect">
            <a:avLst/>
          </a:prstGeom>
        </p:spPr>
        <p:txBody>
          <a:bodyPr/>
          <a:lstStyle>
            <a:lvl1pPr>
              <a:defRPr>
                <a:ea typeface="宋体" pitchFamily="2" charset="-122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A4F233B-B824-43FF-B554-A0FBFB8D2300}" type="datetimeFigureOut">
              <a:rPr lang="zh-CN" altLang="en-US" sz="2800">
                <a:solidFill>
                  <a:prstClr val="black"/>
                </a:solidFill>
                <a:latin typeface="Times New Roman" pitchFamily="18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2018/2/23</a:t>
            </a:fld>
            <a:endParaRPr lang="zh-CN" altLang="en-US" sz="2800">
              <a:solidFill>
                <a:prstClr val="black"/>
              </a:solidFill>
              <a:latin typeface="Times New Roman" pitchFamily="18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4767264"/>
            <a:ext cx="2895600" cy="274637"/>
          </a:xfrm>
          <a:prstGeom prst="rect">
            <a:avLst/>
          </a:prstGeom>
        </p:spPr>
        <p:txBody>
          <a:bodyPr/>
          <a:lstStyle>
            <a:lvl1pPr>
              <a:defRPr>
                <a:ea typeface="宋体" pitchFamily="2" charset="-122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2800">
              <a:solidFill>
                <a:prstClr val="black"/>
              </a:solidFill>
              <a:latin typeface="Times New Roman" pitchFamily="18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4637"/>
          </a:xfrm>
          <a:prstGeom prst="rect">
            <a:avLst/>
          </a:prstGeom>
        </p:spPr>
        <p:txBody>
          <a:bodyPr/>
          <a:lstStyle>
            <a:lvl1pPr>
              <a:defRPr>
                <a:ea typeface="宋体" pitchFamily="2" charset="-122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246EFE1B-CA1F-49E9-87FE-A85040398B4B}" type="slidenum">
              <a:rPr lang="zh-CN" altLang="en-US" sz="2800">
                <a:solidFill>
                  <a:prstClr val="black"/>
                </a:solidFill>
                <a:latin typeface="Times New Roman" pitchFamily="18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zh-CN" altLang="en-US" sz="2800">
              <a:solidFill>
                <a:prstClr val="black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46048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rgbClr val="58A289">
            <a:alpha val="2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-11113" y="-30161"/>
            <a:ext cx="9164638" cy="881063"/>
          </a:xfrm>
          <a:prstGeom prst="rect">
            <a:avLst/>
          </a:prstGeom>
          <a:solidFill>
            <a:srgbClr val="58A2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endParaRPr lang="zh-CN" altLang="en-US" sz="2800" noProof="1">
              <a:solidFill>
                <a:prstClr val="white"/>
              </a:solidFill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142875" y="771550"/>
            <a:ext cx="8856663" cy="0"/>
          </a:xfrm>
          <a:prstGeom prst="line">
            <a:avLst/>
          </a:prstGeom>
          <a:ln w="31750">
            <a:solidFill>
              <a:schemeClr val="bg1">
                <a:alpha val="2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8" name="图片 10"/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626" y="85727"/>
            <a:ext cx="525462" cy="612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9" name="TextBox 11"/>
          <p:cNvSpPr txBox="1">
            <a:spLocks noChangeArrowheads="1"/>
          </p:cNvSpPr>
          <p:nvPr userDrawn="1"/>
        </p:nvSpPr>
        <p:spPr bwMode="auto">
          <a:xfrm>
            <a:off x="1245832" y="411164"/>
            <a:ext cx="237917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zh-CN" altLang="en-US" sz="1800" dirty="0" smtClean="0">
                <a:solidFill>
                  <a:prstClr val="white"/>
                </a:solidFill>
                <a:latin typeface="Calibri" pitchFamily="34" charset="0"/>
              </a:rPr>
              <a:t>大学物理学（第</a:t>
            </a:r>
            <a:r>
              <a:rPr lang="en-US" altLang="zh-CN" sz="1800" dirty="0" smtClean="0">
                <a:solidFill>
                  <a:prstClr val="white"/>
                </a:solidFill>
                <a:latin typeface="Calibri" pitchFamily="34" charset="0"/>
              </a:rPr>
              <a:t>5</a:t>
            </a:r>
            <a:r>
              <a:rPr lang="zh-CN" altLang="en-US" sz="1800" dirty="0" smtClean="0">
                <a:solidFill>
                  <a:prstClr val="white"/>
                </a:solidFill>
                <a:latin typeface="Calibri" pitchFamily="34" charset="0"/>
              </a:rPr>
              <a:t>版）</a:t>
            </a:r>
            <a:endParaRPr lang="zh-CN" altLang="en-US" sz="1800" dirty="0">
              <a:solidFill>
                <a:prstClr val="white"/>
              </a:solidFill>
              <a:latin typeface="Calibri" pitchFamily="34" charset="0"/>
            </a:endParaRPr>
          </a:p>
        </p:txBody>
      </p:sp>
      <p:sp>
        <p:nvSpPr>
          <p:cNvPr id="1030" name="TextBox 12"/>
          <p:cNvSpPr txBox="1">
            <a:spLocks noChangeArrowheads="1"/>
          </p:cNvSpPr>
          <p:nvPr userDrawn="1"/>
        </p:nvSpPr>
        <p:spPr bwMode="auto">
          <a:xfrm>
            <a:off x="827088" y="134940"/>
            <a:ext cx="377539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zh-CN" altLang="en-US" sz="1400" dirty="0">
                <a:solidFill>
                  <a:prstClr val="white"/>
                </a:solidFill>
                <a:latin typeface="华文楷体" pitchFamily="2" charset="-122"/>
                <a:ea typeface="华文楷体" pitchFamily="2" charset="-122"/>
              </a:rPr>
              <a:t>“十二五”普通高等教育本科国家级规划教材</a:t>
            </a:r>
          </a:p>
        </p:txBody>
      </p:sp>
      <p:sp>
        <p:nvSpPr>
          <p:cNvPr id="2" name="矩形 1"/>
          <p:cNvSpPr/>
          <p:nvPr userDrawn="1"/>
        </p:nvSpPr>
        <p:spPr>
          <a:xfrm>
            <a:off x="9525" y="850901"/>
            <a:ext cx="9123363" cy="37433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endParaRPr lang="zh-CN" altLang="en-US" sz="2800" noProof="1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60398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timing>
    <p:tnLst>
      <p:par>
        <p:cTn id="1" dur="indefinite" restart="never" nodeType="tmRoot"/>
      </p:par>
    </p:tnLst>
  </p:timing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1979712" y="2194051"/>
            <a:ext cx="4392488" cy="593725"/>
          </a:xfrm>
          <a:prstGeom prst="rect">
            <a:avLst/>
          </a:prstGeom>
          <a:solidFill>
            <a:srgbClr val="FFFFFF"/>
          </a:solidFill>
          <a:ln>
            <a:solidFill>
              <a:schemeClr val="bg1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r>
              <a:rPr lang="zh-CN" altLang="en-US" sz="3600" b="1" dirty="0">
                <a:solidFill>
                  <a:srgbClr val="800000"/>
                </a:solidFill>
                <a:ea typeface="华文中宋" pitchFamily="2" charset="-122"/>
              </a:rPr>
              <a:t>第二</a:t>
            </a:r>
            <a:r>
              <a:rPr lang="zh-CN" altLang="en-US" sz="3600" b="1" dirty="0" smtClean="0">
                <a:solidFill>
                  <a:srgbClr val="800000"/>
                </a:solidFill>
                <a:ea typeface="华文中宋" pitchFamily="2" charset="-122"/>
              </a:rPr>
              <a:t>篇   热力学</a:t>
            </a:r>
            <a:r>
              <a:rPr lang="zh-CN" altLang="en-US" sz="3600" b="1" dirty="0">
                <a:solidFill>
                  <a:srgbClr val="800000"/>
                </a:solidFill>
                <a:ea typeface="华文中宋" pitchFamily="2" charset="-122"/>
              </a:rPr>
              <a:t>篇</a:t>
            </a:r>
            <a:endParaRPr lang="zh-CN" altLang="en-US" sz="3600" b="1" dirty="0" smtClean="0">
              <a:solidFill>
                <a:srgbClr val="800000"/>
              </a:solidFill>
              <a:ea typeface="华文中宋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549785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8" name="Text Box 10"/>
          <p:cNvSpPr txBox="1">
            <a:spLocks noChangeArrowheads="1"/>
          </p:cNvSpPr>
          <p:nvPr/>
        </p:nvSpPr>
        <p:spPr bwMode="auto">
          <a:xfrm>
            <a:off x="381001" y="844153"/>
            <a:ext cx="824547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eaLnBrk="1" hangingPunct="1"/>
            <a:r>
              <a:rPr lang="en-US" altLang="zh-CN" sz="1800" b="1" dirty="0">
                <a:latin typeface="华文中宋" pitchFamily="2" charset="-122"/>
                <a:ea typeface="华文中宋" pitchFamily="2" charset="-122"/>
              </a:rPr>
              <a:t>      </a:t>
            </a:r>
            <a:r>
              <a:rPr lang="zh-CN" altLang="en-US" sz="1800" b="1" dirty="0">
                <a:latin typeface="华文中宋" pitchFamily="2" charset="-122"/>
                <a:ea typeface="华文中宋" pitchFamily="2" charset="-122"/>
              </a:rPr>
              <a:t>热学是研究</a:t>
            </a:r>
            <a:r>
              <a:rPr lang="zh-CN" altLang="en-US" sz="1800" b="1" dirty="0">
                <a:solidFill>
                  <a:srgbClr val="FF0000"/>
                </a:solidFill>
                <a:latin typeface="华文中宋" pitchFamily="2" charset="-122"/>
                <a:ea typeface="华文中宋" pitchFamily="2" charset="-122"/>
              </a:rPr>
              <a:t>物质</a:t>
            </a:r>
            <a:r>
              <a:rPr lang="zh-CN" altLang="en-US" sz="1800" b="1" dirty="0">
                <a:latin typeface="华文中宋" pitchFamily="2" charset="-122"/>
                <a:ea typeface="华文中宋" pitchFamily="2" charset="-122"/>
              </a:rPr>
              <a:t>的各种</a:t>
            </a:r>
            <a:r>
              <a:rPr lang="zh-CN" altLang="en-US" sz="1800" b="1" dirty="0">
                <a:solidFill>
                  <a:srgbClr val="FF0000"/>
                </a:solidFill>
                <a:latin typeface="华文中宋" pitchFamily="2" charset="-122"/>
                <a:ea typeface="华文中宋" pitchFamily="2" charset="-122"/>
              </a:rPr>
              <a:t>热现象</a:t>
            </a:r>
            <a:r>
              <a:rPr lang="zh-CN" altLang="en-US" sz="1800" b="1" dirty="0">
                <a:latin typeface="华文中宋" pitchFamily="2" charset="-122"/>
                <a:ea typeface="华文中宋" pitchFamily="2" charset="-122"/>
              </a:rPr>
              <a:t>的性质和变化规律的一门学科。</a:t>
            </a:r>
          </a:p>
        </p:txBody>
      </p:sp>
      <p:sp>
        <p:nvSpPr>
          <p:cNvPr id="11282" name="Text Box 18"/>
          <p:cNvSpPr txBox="1">
            <a:spLocks noChangeArrowheads="1"/>
          </p:cNvSpPr>
          <p:nvPr/>
        </p:nvSpPr>
        <p:spPr bwMode="auto">
          <a:xfrm>
            <a:off x="539750" y="1653779"/>
            <a:ext cx="51308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algn="just" eaLnBrk="1" hangingPunct="1"/>
            <a:r>
              <a:rPr lang="zh-CN" altLang="en-US" sz="2000" b="1" dirty="0">
                <a:solidFill>
                  <a:srgbClr val="A50021"/>
                </a:solidFill>
                <a:latin typeface="华文中宋" pitchFamily="2" charset="-122"/>
                <a:ea typeface="华文中宋" pitchFamily="2" charset="-122"/>
              </a:rPr>
              <a:t>一、热学的研究对象及内容        </a:t>
            </a:r>
          </a:p>
        </p:txBody>
      </p:sp>
      <p:sp>
        <p:nvSpPr>
          <p:cNvPr id="11285" name="Text Box 21"/>
          <p:cNvSpPr txBox="1">
            <a:spLocks noChangeArrowheads="1"/>
          </p:cNvSpPr>
          <p:nvPr/>
        </p:nvSpPr>
        <p:spPr bwMode="auto">
          <a:xfrm>
            <a:off x="1116014" y="2193131"/>
            <a:ext cx="6911975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algn="just" eaLnBrk="1" hangingPunct="1"/>
            <a:r>
              <a:rPr lang="zh-CN" altLang="en-US" sz="1800" b="1" dirty="0">
                <a:solidFill>
                  <a:srgbClr val="CC0000"/>
                </a:solidFill>
                <a:latin typeface="华文中宋" pitchFamily="2" charset="-122"/>
                <a:ea typeface="华文中宋" pitchFamily="2" charset="-122"/>
              </a:rPr>
              <a:t>对  象：</a:t>
            </a:r>
            <a:r>
              <a:rPr lang="zh-CN" altLang="en-US" sz="1800" b="1" dirty="0">
                <a:latin typeface="华文中宋" pitchFamily="2" charset="-122"/>
                <a:ea typeface="华文中宋" pitchFamily="2" charset="-122"/>
              </a:rPr>
              <a:t>宏观物体（大量分子原子系统）</a:t>
            </a:r>
          </a:p>
          <a:p>
            <a:pPr algn="just" eaLnBrk="1" hangingPunct="1"/>
            <a:r>
              <a:rPr lang="zh-CN" altLang="en-US" sz="1800" b="1" dirty="0">
                <a:latin typeface="华文中宋" pitchFamily="2" charset="-122"/>
                <a:ea typeface="华文中宋" pitchFamily="2" charset="-122"/>
              </a:rPr>
              <a:t>           或物体系 </a:t>
            </a:r>
            <a:r>
              <a:rPr lang="en-US" altLang="zh-CN" sz="1800" b="1" dirty="0">
                <a:latin typeface="华文中宋" pitchFamily="2" charset="-122"/>
                <a:ea typeface="华文中宋" pitchFamily="2" charset="-122"/>
              </a:rPr>
              <a:t>— </a:t>
            </a:r>
            <a:r>
              <a:rPr lang="zh-CN" altLang="en-US" sz="1800" b="1" dirty="0">
                <a:latin typeface="华文中宋" pitchFamily="2" charset="-122"/>
                <a:ea typeface="华文中宋" pitchFamily="2" charset="-122"/>
              </a:rPr>
              <a:t>热力学系统 。</a:t>
            </a:r>
          </a:p>
        </p:txBody>
      </p:sp>
      <p:sp>
        <p:nvSpPr>
          <p:cNvPr id="99341" name="Rectangle 13"/>
          <p:cNvSpPr>
            <a:spLocks noChangeArrowheads="1"/>
          </p:cNvSpPr>
          <p:nvPr/>
        </p:nvSpPr>
        <p:spPr bwMode="auto">
          <a:xfrm>
            <a:off x="1116014" y="3020616"/>
            <a:ext cx="691197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b="1" dirty="0">
                <a:solidFill>
                  <a:srgbClr val="CC0000"/>
                </a:solidFill>
                <a:latin typeface="华文中宋" pitchFamily="2" charset="-122"/>
                <a:ea typeface="华文中宋" pitchFamily="2" charset="-122"/>
              </a:rPr>
              <a:t>内  容：</a:t>
            </a:r>
            <a:r>
              <a:rPr lang="zh-CN" altLang="en-US" b="1" dirty="0">
                <a:latin typeface="华文中宋" pitchFamily="2" charset="-122"/>
                <a:ea typeface="华文中宋" pitchFamily="2" charset="-122"/>
              </a:rPr>
              <a:t>各种</a:t>
            </a:r>
            <a:r>
              <a:rPr lang="zh-CN" altLang="en-US" b="1" dirty="0">
                <a:solidFill>
                  <a:srgbClr val="FF0000"/>
                </a:solidFill>
                <a:latin typeface="华文中宋" pitchFamily="2" charset="-122"/>
                <a:ea typeface="华文中宋" pitchFamily="2" charset="-122"/>
              </a:rPr>
              <a:t>热现象</a:t>
            </a:r>
            <a:r>
              <a:rPr lang="zh-CN" altLang="en-US" b="1" dirty="0">
                <a:latin typeface="华文中宋" pitchFamily="2" charset="-122"/>
                <a:ea typeface="华文中宋" pitchFamily="2" charset="-122"/>
              </a:rPr>
              <a:t>的性质与变化规律。</a:t>
            </a:r>
          </a:p>
        </p:txBody>
      </p:sp>
      <p:sp>
        <p:nvSpPr>
          <p:cNvPr id="11283" name="Text Box 19"/>
          <p:cNvSpPr txBox="1">
            <a:spLocks noChangeArrowheads="1"/>
          </p:cNvSpPr>
          <p:nvPr/>
        </p:nvSpPr>
        <p:spPr bwMode="auto">
          <a:xfrm>
            <a:off x="611188" y="3543300"/>
            <a:ext cx="82296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eaLnBrk="1" hangingPunct="1"/>
            <a:r>
              <a:rPr kumimoji="0" lang="zh-CN" altLang="en-US" sz="1800" b="1" dirty="0">
                <a:solidFill>
                  <a:srgbClr val="FF00FF"/>
                </a:solidFill>
                <a:latin typeface="华文中宋" pitchFamily="2" charset="-122"/>
                <a:ea typeface="华文中宋" pitchFamily="2" charset="-122"/>
              </a:rPr>
              <a:t>热现象</a:t>
            </a:r>
            <a:r>
              <a:rPr kumimoji="0" lang="zh-CN" altLang="en-US" sz="1800" b="1" dirty="0">
                <a:latin typeface="华文中宋" pitchFamily="2" charset="-122"/>
                <a:ea typeface="华文中宋" pitchFamily="2" charset="-122"/>
              </a:rPr>
              <a:t>：宏观上，与温度有关的现象。</a:t>
            </a:r>
          </a:p>
          <a:p>
            <a:pPr eaLnBrk="1" hangingPunct="1"/>
            <a:r>
              <a:rPr kumimoji="0" lang="zh-CN" altLang="en-US" sz="1800" b="1" dirty="0">
                <a:latin typeface="华文中宋" pitchFamily="2" charset="-122"/>
                <a:ea typeface="华文中宋" pitchFamily="2" charset="-122"/>
              </a:rPr>
              <a:t>      </a:t>
            </a:r>
            <a:r>
              <a:rPr kumimoji="0" lang="zh-CN" altLang="en-US" sz="1800" b="1" dirty="0" smtClean="0">
                <a:latin typeface="华文中宋" pitchFamily="2" charset="-122"/>
                <a:ea typeface="华文中宋" pitchFamily="2" charset="-122"/>
              </a:rPr>
              <a:t>       微观</a:t>
            </a:r>
            <a:r>
              <a:rPr kumimoji="0" lang="zh-CN" altLang="en-US" sz="1800" b="1" dirty="0">
                <a:latin typeface="华文中宋" pitchFamily="2" charset="-122"/>
                <a:ea typeface="华文中宋" pitchFamily="2" charset="-122"/>
              </a:rPr>
              <a:t>上，大量微观粒子热运动（永不停息的无规则运动）的宏观表现。</a:t>
            </a:r>
          </a:p>
        </p:txBody>
      </p:sp>
    </p:spTree>
    <p:extLst>
      <p:ext uri="{BB962C8B-B14F-4D97-AF65-F5344CB8AC3E}">
        <p14:creationId xmlns:p14="http://schemas.microsoft.com/office/powerpoint/2010/main" val="21601535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99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2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2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99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2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2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338" grpId="0" autoUpdateAnimBg="0"/>
      <p:bldP spid="11282" grpId="0" autoUpdateAnimBg="0"/>
      <p:bldP spid="11285" grpId="0" build="p" autoUpdateAnimBg="0"/>
      <p:bldP spid="99341" grpId="0"/>
      <p:bldP spid="1128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441325" y="796435"/>
            <a:ext cx="4346575" cy="407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lnSpc>
                <a:spcPct val="110000"/>
              </a:lnSpc>
            </a:pPr>
            <a:r>
              <a:rPr kumimoji="0" lang="zh-CN" altLang="en-US" sz="2000" b="1" dirty="0">
                <a:solidFill>
                  <a:srgbClr val="CC0000"/>
                </a:solidFill>
                <a:latin typeface="华文中宋" pitchFamily="2" charset="-122"/>
                <a:ea typeface="华文中宋" pitchFamily="2" charset="-122"/>
              </a:rPr>
              <a:t>二、热学的研究方法</a:t>
            </a:r>
          </a:p>
        </p:txBody>
      </p:sp>
      <p:sp>
        <p:nvSpPr>
          <p:cNvPr id="3" name="Text Box 3"/>
          <p:cNvSpPr txBox="1">
            <a:spLocks noChangeArrowheads="1"/>
          </p:cNvSpPr>
          <p:nvPr/>
        </p:nvSpPr>
        <p:spPr bwMode="auto">
          <a:xfrm>
            <a:off x="658813" y="1250082"/>
            <a:ext cx="2328862" cy="3756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黑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黑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黑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黑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黑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黑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黑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黑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黑体" pitchFamily="2" charset="-122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CN" sz="1800" b="1" dirty="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 1</a:t>
            </a:r>
            <a:r>
              <a:rPr lang="zh-CN" altLang="en-US" sz="1800" b="1" dirty="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、热力学</a:t>
            </a:r>
          </a:p>
        </p:txBody>
      </p: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1998166" y="1428087"/>
            <a:ext cx="1349698" cy="701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黑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黑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黑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黑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黑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黑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黑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黑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黑体" pitchFamily="2" charset="-122"/>
              </a:defRPr>
            </a:lvl9pPr>
          </a:lstStyle>
          <a:p>
            <a:pPr algn="ctr" eaLnBrk="1" hangingPunct="1">
              <a:lnSpc>
                <a:spcPct val="110000"/>
              </a:lnSpc>
            </a:pPr>
            <a:r>
              <a:rPr lang="zh-CN" altLang="en-US" sz="1800" b="1" dirty="0">
                <a:latin typeface="华文中宋" pitchFamily="2" charset="-122"/>
                <a:ea typeface="华文中宋" pitchFamily="2" charset="-122"/>
              </a:rPr>
              <a:t>宏观基本</a:t>
            </a:r>
          </a:p>
          <a:p>
            <a:pPr algn="ctr" eaLnBrk="1" hangingPunct="1">
              <a:lnSpc>
                <a:spcPct val="110000"/>
              </a:lnSpc>
            </a:pPr>
            <a:r>
              <a:rPr lang="zh-CN" altLang="en-US" sz="1800" b="1" dirty="0">
                <a:latin typeface="华文中宋" pitchFamily="2" charset="-122"/>
                <a:ea typeface="华文中宋" pitchFamily="2" charset="-122"/>
              </a:rPr>
              <a:t>实验规律</a:t>
            </a:r>
          </a:p>
        </p:txBody>
      </p:sp>
      <p:grpSp>
        <p:nvGrpSpPr>
          <p:cNvPr id="5" name="Group 5"/>
          <p:cNvGrpSpPr>
            <a:grpSpLocks/>
          </p:cNvGrpSpPr>
          <p:nvPr/>
        </p:nvGrpSpPr>
        <p:grpSpPr bwMode="auto">
          <a:xfrm>
            <a:off x="3333750" y="1366330"/>
            <a:ext cx="1944688" cy="511969"/>
            <a:chOff x="2336" y="2728"/>
            <a:chExt cx="1225" cy="430"/>
          </a:xfrm>
        </p:grpSpPr>
        <p:sp>
          <p:nvSpPr>
            <p:cNvPr id="54288" name="Text Box 6"/>
            <p:cNvSpPr txBox="1">
              <a:spLocks noChangeArrowheads="1"/>
            </p:cNvSpPr>
            <p:nvPr/>
          </p:nvSpPr>
          <p:spPr bwMode="auto">
            <a:xfrm>
              <a:off x="2509" y="2728"/>
              <a:ext cx="698" cy="3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黑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黑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黑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黑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黑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黑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黑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黑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黑体" pitchFamily="2" charset="-122"/>
                </a:defRPr>
              </a:lvl9pPr>
            </a:lstStyle>
            <a:p>
              <a:pPr eaLnBrk="1" hangingPunct="1">
                <a:lnSpc>
                  <a:spcPct val="110000"/>
                </a:lnSpc>
              </a:pPr>
              <a:r>
                <a:rPr kumimoji="0" lang="zh-CN" altLang="en-US" sz="1800" b="1" dirty="0">
                  <a:solidFill>
                    <a:srgbClr val="FF0000"/>
                  </a:solidFill>
                  <a:latin typeface="华文中宋" pitchFamily="2" charset="-122"/>
                  <a:ea typeface="华文中宋" pitchFamily="2" charset="-122"/>
                </a:rPr>
                <a:t>逻辑推理</a:t>
              </a:r>
            </a:p>
          </p:txBody>
        </p:sp>
        <p:sp>
          <p:nvSpPr>
            <p:cNvPr id="54289" name="AutoShape 7"/>
            <p:cNvSpPr>
              <a:spLocks noChangeArrowheads="1"/>
            </p:cNvSpPr>
            <p:nvPr/>
          </p:nvSpPr>
          <p:spPr bwMode="auto">
            <a:xfrm>
              <a:off x="2336" y="3022"/>
              <a:ext cx="1225" cy="136"/>
            </a:xfrm>
            <a:prstGeom prst="rightArrow">
              <a:avLst>
                <a:gd name="adj1" fmla="val 50000"/>
                <a:gd name="adj2" fmla="val 225184"/>
              </a:avLst>
            </a:prstGeom>
            <a:noFill/>
            <a:ln w="9525">
              <a:solidFill>
                <a:srgbClr val="CC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kumimoji="0" lang="zh-CN" altLang="zh-CN" sz="2800" b="1">
                <a:latin typeface="华文中宋" pitchFamily="2" charset="-122"/>
                <a:ea typeface="华文中宋" pitchFamily="2" charset="-122"/>
              </a:endParaRPr>
            </a:p>
          </p:txBody>
        </p:sp>
      </p:grpSp>
      <p:sp>
        <p:nvSpPr>
          <p:cNvPr id="8" name="Text Box 8"/>
          <p:cNvSpPr txBox="1">
            <a:spLocks noChangeArrowheads="1"/>
          </p:cNvSpPr>
          <p:nvPr/>
        </p:nvSpPr>
        <p:spPr bwMode="auto">
          <a:xfrm>
            <a:off x="5292080" y="1588770"/>
            <a:ext cx="1815007" cy="3970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黑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黑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黑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黑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黑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黑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黑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黑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黑体" pitchFamily="2" charset="-122"/>
              </a:defRPr>
            </a:lvl9pPr>
          </a:lstStyle>
          <a:p>
            <a:pPr algn="ctr" eaLnBrk="1" hangingPunct="1">
              <a:lnSpc>
                <a:spcPct val="110000"/>
              </a:lnSpc>
            </a:pPr>
            <a:r>
              <a:rPr lang="zh-CN" altLang="en-US" sz="1800" b="1" dirty="0">
                <a:latin typeface="华文中宋" pitchFamily="2" charset="-122"/>
                <a:ea typeface="华文中宋" pitchFamily="2" charset="-122"/>
              </a:rPr>
              <a:t>热现象规律</a:t>
            </a:r>
          </a:p>
        </p:txBody>
      </p:sp>
      <p:sp>
        <p:nvSpPr>
          <p:cNvPr id="9" name="Text Box 9"/>
          <p:cNvSpPr txBox="1">
            <a:spLocks noChangeArrowheads="1"/>
          </p:cNvSpPr>
          <p:nvPr/>
        </p:nvSpPr>
        <p:spPr bwMode="auto">
          <a:xfrm>
            <a:off x="2123728" y="2149457"/>
            <a:ext cx="5739160" cy="5663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黑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黑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黑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黑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黑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黑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黑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黑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黑体" pitchFamily="2" charset="-122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zh-CN" altLang="en-US" sz="1800" b="1" dirty="0">
                <a:latin typeface="华文中宋" pitchFamily="2" charset="-122"/>
                <a:ea typeface="华文中宋" pitchFamily="2" charset="-122"/>
              </a:rPr>
              <a:t>优点</a:t>
            </a:r>
            <a:r>
              <a:rPr lang="en-US" altLang="zh-CN" sz="1800" b="1" dirty="0">
                <a:latin typeface="华文中宋" pitchFamily="2" charset="-122"/>
                <a:ea typeface="华文中宋" pitchFamily="2" charset="-122"/>
              </a:rPr>
              <a:t>:</a:t>
            </a:r>
            <a:r>
              <a:rPr lang="zh-CN" altLang="en-US" sz="1800" b="1" dirty="0">
                <a:latin typeface="华文中宋" pitchFamily="2" charset="-122"/>
                <a:ea typeface="华文中宋" pitchFamily="2" charset="-122"/>
              </a:rPr>
              <a:t>可靠</a:t>
            </a:r>
            <a:r>
              <a:rPr lang="en-US" altLang="zh-CN" sz="1800" b="1" dirty="0">
                <a:latin typeface="华文中宋" pitchFamily="2" charset="-122"/>
                <a:ea typeface="华文中宋" pitchFamily="2" charset="-122"/>
              </a:rPr>
              <a:t>,</a:t>
            </a:r>
            <a:r>
              <a:rPr lang="zh-CN" altLang="en-US" sz="1800" b="1" dirty="0" smtClean="0">
                <a:latin typeface="华文中宋" pitchFamily="2" charset="-122"/>
                <a:ea typeface="华文中宋" pitchFamily="2" charset="-122"/>
              </a:rPr>
              <a:t>普遍。                 缺点</a:t>
            </a:r>
            <a:r>
              <a:rPr lang="en-US" altLang="zh-CN" sz="1800" b="1" dirty="0" smtClean="0">
                <a:latin typeface="华文中宋" pitchFamily="2" charset="-122"/>
                <a:ea typeface="华文中宋" pitchFamily="2" charset="-122"/>
              </a:rPr>
              <a:t>:</a:t>
            </a:r>
            <a:r>
              <a:rPr lang="zh-CN" altLang="en-US" sz="1800" b="1" dirty="0" smtClean="0">
                <a:latin typeface="华文中宋" pitchFamily="2" charset="-122"/>
                <a:ea typeface="华文中宋" pitchFamily="2" charset="-122"/>
              </a:rPr>
              <a:t>未揭示微观本质。</a:t>
            </a:r>
            <a:r>
              <a:rPr lang="zh-CN" altLang="en-US" sz="2800" b="1" dirty="0" smtClean="0">
                <a:solidFill>
                  <a:srgbClr val="FF0000"/>
                </a:solidFill>
                <a:latin typeface="华文中宋" pitchFamily="2" charset="-122"/>
                <a:ea typeface="华文中宋" pitchFamily="2" charset="-122"/>
              </a:rPr>
              <a:t>                           </a:t>
            </a:r>
            <a:endParaRPr lang="zh-CN" altLang="en-US" sz="2800" b="1" dirty="0">
              <a:solidFill>
                <a:srgbClr val="FF0000"/>
              </a:solidFill>
              <a:latin typeface="华文中宋" pitchFamily="2" charset="-122"/>
              <a:ea typeface="华文中宋" pitchFamily="2" charset="-122"/>
            </a:endParaRPr>
          </a:p>
        </p:txBody>
      </p:sp>
      <p:sp>
        <p:nvSpPr>
          <p:cNvPr id="10" name="Text Box 10"/>
          <p:cNvSpPr txBox="1">
            <a:spLocks noChangeArrowheads="1"/>
          </p:cNvSpPr>
          <p:nvPr/>
        </p:nvSpPr>
        <p:spPr bwMode="auto">
          <a:xfrm>
            <a:off x="711201" y="2700126"/>
            <a:ext cx="5876925" cy="3756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黑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黑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黑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黑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黑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黑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黑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黑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黑体" pitchFamily="2" charset="-122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CN" sz="1800" b="1" dirty="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 2</a:t>
            </a:r>
            <a:r>
              <a:rPr lang="zh-CN" altLang="en-US" sz="1800" b="1" dirty="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、气体动理论（统计物理学）</a:t>
            </a:r>
          </a:p>
        </p:txBody>
      </p:sp>
      <p:sp>
        <p:nvSpPr>
          <p:cNvPr id="11" name="Text Box 11"/>
          <p:cNvSpPr txBox="1">
            <a:spLocks noChangeArrowheads="1"/>
          </p:cNvSpPr>
          <p:nvPr/>
        </p:nvSpPr>
        <p:spPr bwMode="auto">
          <a:xfrm>
            <a:off x="1763688" y="3147814"/>
            <a:ext cx="2543200" cy="701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黑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黑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黑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黑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黑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黑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黑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黑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黑体" pitchFamily="2" charset="-122"/>
              </a:defRPr>
            </a:lvl9pPr>
          </a:lstStyle>
          <a:p>
            <a:pPr algn="ctr" eaLnBrk="1" hangingPunct="1">
              <a:lnSpc>
                <a:spcPct val="110000"/>
              </a:lnSpc>
            </a:pPr>
            <a:r>
              <a:rPr lang="zh-CN" altLang="en-US" sz="1800" b="1" dirty="0" smtClean="0">
                <a:latin typeface="华文中宋" pitchFamily="2" charset="-122"/>
                <a:ea typeface="华文中宋" pitchFamily="2" charset="-122"/>
              </a:rPr>
              <a:t>对物质微观结构     </a:t>
            </a:r>
            <a:endParaRPr lang="en-US" altLang="zh-CN" sz="1800" b="1" dirty="0" smtClean="0">
              <a:latin typeface="华文中宋" pitchFamily="2" charset="-122"/>
              <a:ea typeface="华文中宋" pitchFamily="2" charset="-122"/>
            </a:endParaRPr>
          </a:p>
          <a:p>
            <a:pPr algn="ctr" eaLnBrk="1" hangingPunct="1">
              <a:lnSpc>
                <a:spcPct val="110000"/>
              </a:lnSpc>
            </a:pPr>
            <a:r>
              <a:rPr lang="zh-CN" altLang="en-US" sz="1800" b="1" dirty="0" smtClean="0">
                <a:latin typeface="华文中宋" pitchFamily="2" charset="-122"/>
                <a:ea typeface="华文中宋" pitchFamily="2" charset="-122"/>
              </a:rPr>
              <a:t>提出模型、假设</a:t>
            </a:r>
            <a:endParaRPr lang="zh-CN" altLang="en-US" sz="1800" b="1" dirty="0">
              <a:solidFill>
                <a:srgbClr val="FF0000"/>
              </a:solidFill>
              <a:latin typeface="华文中宋" pitchFamily="2" charset="-122"/>
              <a:ea typeface="华文中宋" pitchFamily="2" charset="-122"/>
            </a:endParaRPr>
          </a:p>
        </p:txBody>
      </p:sp>
      <p:sp>
        <p:nvSpPr>
          <p:cNvPr id="12" name="Text Box 12"/>
          <p:cNvSpPr txBox="1">
            <a:spLocks noChangeArrowheads="1"/>
          </p:cNvSpPr>
          <p:nvPr/>
        </p:nvSpPr>
        <p:spPr bwMode="auto">
          <a:xfrm>
            <a:off x="5697539" y="3276190"/>
            <a:ext cx="2625725" cy="3756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黑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黑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黑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黑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黑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黑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黑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黑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黑体" pitchFamily="2" charset="-122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CN" sz="1800" b="1" dirty="0">
                <a:solidFill>
                  <a:schemeClr val="bg1"/>
                </a:solidFill>
                <a:latin typeface="华文中宋" pitchFamily="2" charset="-122"/>
                <a:ea typeface="华文中宋" pitchFamily="2" charset="-122"/>
              </a:rPr>
              <a:t>  </a:t>
            </a:r>
            <a:r>
              <a:rPr lang="zh-CN" altLang="en-US" sz="1800" b="1" dirty="0">
                <a:latin typeface="华文中宋" pitchFamily="2" charset="-122"/>
                <a:ea typeface="华文中宋" pitchFamily="2" charset="-122"/>
              </a:rPr>
              <a:t>热现象规律</a:t>
            </a:r>
          </a:p>
        </p:txBody>
      </p:sp>
      <p:grpSp>
        <p:nvGrpSpPr>
          <p:cNvPr id="6" name="Group 13"/>
          <p:cNvGrpSpPr>
            <a:grpSpLocks/>
          </p:cNvGrpSpPr>
          <p:nvPr/>
        </p:nvGrpSpPr>
        <p:grpSpPr bwMode="auto">
          <a:xfrm>
            <a:off x="3881438" y="3064669"/>
            <a:ext cx="2032000" cy="500063"/>
            <a:chOff x="2462" y="651"/>
            <a:chExt cx="1280" cy="420"/>
          </a:xfrm>
        </p:grpSpPr>
        <p:sp>
          <p:nvSpPr>
            <p:cNvPr id="54286" name="Rectangle 14"/>
            <p:cNvSpPr>
              <a:spLocks noChangeArrowheads="1"/>
            </p:cNvSpPr>
            <p:nvPr/>
          </p:nvSpPr>
          <p:spPr bwMode="auto">
            <a:xfrm>
              <a:off x="2652" y="651"/>
              <a:ext cx="744" cy="3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lang="zh-CN" altLang="en-US" b="1" dirty="0">
                  <a:solidFill>
                    <a:srgbClr val="FF0000"/>
                  </a:solidFill>
                  <a:latin typeface="华文中宋" pitchFamily="2" charset="-122"/>
                  <a:ea typeface="华文中宋" pitchFamily="2" charset="-122"/>
                </a:rPr>
                <a:t>统计方法 </a:t>
              </a:r>
            </a:p>
          </p:txBody>
        </p:sp>
        <p:sp>
          <p:nvSpPr>
            <p:cNvPr id="54287" name="AutoShape 15"/>
            <p:cNvSpPr>
              <a:spLocks noChangeArrowheads="1"/>
            </p:cNvSpPr>
            <p:nvPr/>
          </p:nvSpPr>
          <p:spPr bwMode="auto">
            <a:xfrm>
              <a:off x="2462" y="935"/>
              <a:ext cx="1280" cy="136"/>
            </a:xfrm>
            <a:prstGeom prst="rightArrow">
              <a:avLst>
                <a:gd name="adj1" fmla="val 50000"/>
                <a:gd name="adj2" fmla="val 235294"/>
              </a:avLst>
            </a:prstGeom>
            <a:noFill/>
            <a:ln w="9525">
              <a:solidFill>
                <a:srgbClr val="CC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kumimoji="0" lang="zh-CN" altLang="zh-CN" sz="2800" b="1">
                <a:latin typeface="华文中宋" pitchFamily="2" charset="-122"/>
                <a:ea typeface="华文中宋" pitchFamily="2" charset="-122"/>
              </a:endParaRPr>
            </a:p>
          </p:txBody>
        </p:sp>
      </p:grpSp>
      <p:sp>
        <p:nvSpPr>
          <p:cNvPr id="16" name="Text Box 16"/>
          <p:cNvSpPr txBox="1">
            <a:spLocks noChangeArrowheads="1"/>
          </p:cNvSpPr>
          <p:nvPr/>
        </p:nvSpPr>
        <p:spPr bwMode="auto">
          <a:xfrm>
            <a:off x="2057400" y="3807619"/>
            <a:ext cx="6907088" cy="3970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黑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黑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黑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黑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黑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黑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黑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黑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黑体" pitchFamily="2" charset="-122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zh-CN" altLang="en-US" sz="1800" b="1" dirty="0" smtClean="0">
                <a:latin typeface="华文中宋" pitchFamily="2" charset="-122"/>
                <a:ea typeface="华文中宋" pitchFamily="2" charset="-122"/>
              </a:rPr>
              <a:t>优点</a:t>
            </a:r>
            <a:r>
              <a:rPr lang="en-US" altLang="zh-CN" sz="1800" b="1" dirty="0">
                <a:latin typeface="华文中宋" pitchFamily="2" charset="-122"/>
                <a:ea typeface="华文中宋" pitchFamily="2" charset="-122"/>
              </a:rPr>
              <a:t>:</a:t>
            </a:r>
            <a:r>
              <a:rPr lang="zh-CN" altLang="en-US" sz="1800" b="1" dirty="0">
                <a:latin typeface="华文中宋" pitchFamily="2" charset="-122"/>
                <a:ea typeface="华文中宋" pitchFamily="2" charset="-122"/>
              </a:rPr>
              <a:t>揭示了热现象的微观本质</a:t>
            </a:r>
            <a:r>
              <a:rPr lang="zh-CN" altLang="en-US" sz="1800" b="1" dirty="0" smtClean="0">
                <a:latin typeface="华文中宋" pitchFamily="2" charset="-122"/>
                <a:ea typeface="华文中宋" pitchFamily="2" charset="-122"/>
              </a:rPr>
              <a:t>。缺点</a:t>
            </a:r>
            <a:r>
              <a:rPr lang="en-US" altLang="zh-CN" sz="1800" b="1" dirty="0">
                <a:latin typeface="华文中宋" pitchFamily="2" charset="-122"/>
                <a:ea typeface="华文中宋" pitchFamily="2" charset="-122"/>
              </a:rPr>
              <a:t>:</a:t>
            </a:r>
            <a:r>
              <a:rPr lang="zh-CN" altLang="en-US" sz="1800" b="1" dirty="0">
                <a:latin typeface="华文中宋" pitchFamily="2" charset="-122"/>
                <a:ea typeface="华文中宋" pitchFamily="2" charset="-122"/>
              </a:rPr>
              <a:t>受模型局限，普遍性较差。</a:t>
            </a:r>
            <a:endParaRPr lang="zh-CN" altLang="en-US" sz="1800" b="1" dirty="0">
              <a:solidFill>
                <a:srgbClr val="FF0000"/>
              </a:solidFill>
              <a:latin typeface="华文中宋" pitchFamily="2" charset="-122"/>
              <a:ea typeface="华文中宋" pitchFamily="2" charset="-122"/>
            </a:endParaRPr>
          </a:p>
        </p:txBody>
      </p:sp>
      <p:sp>
        <p:nvSpPr>
          <p:cNvPr id="17" name="Text Box 17"/>
          <p:cNvSpPr txBox="1">
            <a:spLocks noChangeArrowheads="1"/>
          </p:cNvSpPr>
          <p:nvPr/>
        </p:nvSpPr>
        <p:spPr bwMode="auto">
          <a:xfrm>
            <a:off x="3887689" y="4190942"/>
            <a:ext cx="2484511" cy="3970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8" dist="17961" dir="13500000">
              <a:schemeClr val="hlink">
                <a:gamma/>
                <a:shade val="60000"/>
                <a:invGamma/>
              </a:schemeClr>
            </a:prstShdw>
          </a:effectLst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defRPr/>
            </a:pPr>
            <a:r>
              <a:rPr lang="en-US" altLang="zh-CN" b="1" dirty="0">
                <a:solidFill>
                  <a:srgbClr val="3333FF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zh-CN" altLang="en-US" b="1" dirty="0">
                <a:solidFill>
                  <a:srgbClr val="3333FF"/>
                </a:solidFill>
                <a:latin typeface="华文中宋" pitchFamily="2" charset="-122"/>
                <a:ea typeface="华文中宋" pitchFamily="2" charset="-122"/>
              </a:rPr>
              <a:t>两种方法相辅相成</a:t>
            </a:r>
          </a:p>
        </p:txBody>
      </p:sp>
    </p:spTree>
    <p:extLst>
      <p:ext uri="{BB962C8B-B14F-4D97-AF65-F5344CB8AC3E}">
        <p14:creationId xmlns:p14="http://schemas.microsoft.com/office/powerpoint/2010/main" val="23503042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8" grpId="0"/>
      <p:bldP spid="9" grpId="0" build="p"/>
      <p:bldP spid="10" grpId="0" autoUpdateAnimBg="0"/>
      <p:bldP spid="11" grpId="0"/>
      <p:bldP spid="12" grpId="0"/>
      <p:bldP spid="16" grpId="0" build="p" autoUpdateAnimBg="0"/>
      <p:bldP spid="17" grpId="0"/>
    </p:bldLst>
  </p:timing>
</p:sld>
</file>

<file path=ppt/theme/theme1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167</Words>
  <Application>Microsoft Office PowerPoint</Application>
  <PresentationFormat>全屏显示(16:9)</PresentationFormat>
  <Paragraphs>22</Paragraphs>
  <Slides>3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4" baseType="lpstr">
      <vt:lpstr>自定义设计方案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Alex</dc:creator>
  <cp:lastModifiedBy>Alex</cp:lastModifiedBy>
  <cp:revision>5</cp:revision>
  <dcterms:created xsi:type="dcterms:W3CDTF">2018-01-08T04:06:00Z</dcterms:created>
  <dcterms:modified xsi:type="dcterms:W3CDTF">2018-02-23T02:56:17Z</dcterms:modified>
</cp:coreProperties>
</file>