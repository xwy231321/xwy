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sldIdLst>
    <p:sldId id="367" r:id="rId2"/>
    <p:sldId id="387" r:id="rId3"/>
    <p:sldId id="388" r:id="rId4"/>
    <p:sldId id="389" r:id="rId5"/>
    <p:sldId id="406" r:id="rId6"/>
    <p:sldId id="407" r:id="rId7"/>
    <p:sldId id="369" r:id="rId8"/>
    <p:sldId id="372" r:id="rId9"/>
    <p:sldId id="373" r:id="rId10"/>
    <p:sldId id="374" r:id="rId11"/>
    <p:sldId id="344" r:id="rId12"/>
    <p:sldId id="342" r:id="rId13"/>
    <p:sldId id="343" r:id="rId14"/>
    <p:sldId id="390" r:id="rId15"/>
    <p:sldId id="391" r:id="rId16"/>
    <p:sldId id="392" r:id="rId17"/>
    <p:sldId id="393" r:id="rId18"/>
    <p:sldId id="350" r:id="rId19"/>
    <p:sldId id="352" r:id="rId20"/>
    <p:sldId id="272" r:id="rId21"/>
    <p:sldId id="273" r:id="rId22"/>
    <p:sldId id="396" r:id="rId23"/>
    <p:sldId id="397" r:id="rId24"/>
    <p:sldId id="398" r:id="rId25"/>
    <p:sldId id="400" r:id="rId26"/>
    <p:sldId id="401" r:id="rId27"/>
    <p:sldId id="402" r:id="rId28"/>
    <p:sldId id="289" r:id="rId29"/>
    <p:sldId id="290" r:id="rId30"/>
    <p:sldId id="403" r:id="rId31"/>
    <p:sldId id="404" r:id="rId32"/>
    <p:sldId id="291" r:id="rId33"/>
    <p:sldId id="355" r:id="rId34"/>
    <p:sldId id="408" r:id="rId35"/>
    <p:sldId id="295" r:id="rId36"/>
    <p:sldId id="298" r:id="rId37"/>
    <p:sldId id="299" r:id="rId38"/>
    <p:sldId id="300" r:id="rId39"/>
    <p:sldId id="302" r:id="rId40"/>
    <p:sldId id="409" r:id="rId41"/>
    <p:sldId id="411" r:id="rId42"/>
    <p:sldId id="412" r:id="rId43"/>
    <p:sldId id="413" r:id="rId44"/>
    <p:sldId id="414" r:id="rId45"/>
    <p:sldId id="416" r:id="rId46"/>
    <p:sldId id="420" r:id="rId47"/>
    <p:sldId id="421" r:id="rId48"/>
    <p:sldId id="422" r:id="rId49"/>
    <p:sldId id="423" r:id="rId50"/>
    <p:sldId id="424" r:id="rId51"/>
    <p:sldId id="310" r:id="rId52"/>
    <p:sldId id="311" r:id="rId53"/>
    <p:sldId id="312" r:id="rId54"/>
    <p:sldId id="315" r:id="rId55"/>
    <p:sldId id="314" r:id="rId56"/>
    <p:sldId id="316" r:id="rId57"/>
    <p:sldId id="431" r:id="rId58"/>
    <p:sldId id="319" r:id="rId59"/>
    <p:sldId id="320" r:id="rId60"/>
    <p:sldId id="432" r:id="rId61"/>
    <p:sldId id="376" r:id="rId62"/>
    <p:sldId id="377" r:id="rId63"/>
    <p:sldId id="378" r:id="rId64"/>
    <p:sldId id="380" r:id="rId65"/>
    <p:sldId id="433" r:id="rId66"/>
    <p:sldId id="436" r:id="rId67"/>
    <p:sldId id="434" r:id="rId68"/>
    <p:sldId id="437" r:id="rId69"/>
    <p:sldId id="435" r:id="rId70"/>
  </p:sldIdLst>
  <p:sldSz cx="9144000" cy="5143500" type="screen16x9"/>
  <p:notesSz cx="6761163" cy="9942513"/>
  <p:defaultTextStyle>
    <a:defPPr>
      <a:defRPr lang="zh-CN"/>
    </a:defPPr>
    <a:lvl1pPr algn="l" rtl="0" fontAlgn="base">
      <a:spcBef>
        <a:spcPct val="0"/>
      </a:spcBef>
      <a:spcAft>
        <a:spcPct val="0"/>
      </a:spcAft>
      <a:defRPr kumimoji="1" sz="2800" b="1" kern="1200">
        <a:solidFill>
          <a:schemeClr val="tx1"/>
        </a:solidFill>
        <a:latin typeface="Times New Roman" pitchFamily="18" charset="0"/>
        <a:ea typeface="楷体_GB2312" pitchFamily="49" charset="-122"/>
        <a:cs typeface="+mn-cs"/>
      </a:defRPr>
    </a:lvl1pPr>
    <a:lvl2pPr marL="457200" algn="l" rtl="0" fontAlgn="base">
      <a:spcBef>
        <a:spcPct val="0"/>
      </a:spcBef>
      <a:spcAft>
        <a:spcPct val="0"/>
      </a:spcAft>
      <a:defRPr kumimoji="1" sz="2800" b="1" kern="1200">
        <a:solidFill>
          <a:schemeClr val="tx1"/>
        </a:solidFill>
        <a:latin typeface="Times New Roman" pitchFamily="18" charset="0"/>
        <a:ea typeface="楷体_GB2312" pitchFamily="49" charset="-122"/>
        <a:cs typeface="+mn-cs"/>
      </a:defRPr>
    </a:lvl2pPr>
    <a:lvl3pPr marL="914400" algn="l" rtl="0" fontAlgn="base">
      <a:spcBef>
        <a:spcPct val="0"/>
      </a:spcBef>
      <a:spcAft>
        <a:spcPct val="0"/>
      </a:spcAft>
      <a:defRPr kumimoji="1" sz="2800" b="1" kern="1200">
        <a:solidFill>
          <a:schemeClr val="tx1"/>
        </a:solidFill>
        <a:latin typeface="Times New Roman" pitchFamily="18" charset="0"/>
        <a:ea typeface="楷体_GB2312" pitchFamily="49" charset="-122"/>
        <a:cs typeface="+mn-cs"/>
      </a:defRPr>
    </a:lvl3pPr>
    <a:lvl4pPr marL="1371600" algn="l" rtl="0" fontAlgn="base">
      <a:spcBef>
        <a:spcPct val="0"/>
      </a:spcBef>
      <a:spcAft>
        <a:spcPct val="0"/>
      </a:spcAft>
      <a:defRPr kumimoji="1" sz="2800" b="1" kern="1200">
        <a:solidFill>
          <a:schemeClr val="tx1"/>
        </a:solidFill>
        <a:latin typeface="Times New Roman" pitchFamily="18" charset="0"/>
        <a:ea typeface="楷体_GB2312" pitchFamily="49" charset="-122"/>
        <a:cs typeface="+mn-cs"/>
      </a:defRPr>
    </a:lvl4pPr>
    <a:lvl5pPr marL="1828800" algn="l" rtl="0" fontAlgn="base">
      <a:spcBef>
        <a:spcPct val="0"/>
      </a:spcBef>
      <a:spcAft>
        <a:spcPct val="0"/>
      </a:spcAft>
      <a:defRPr kumimoji="1" sz="2800" b="1" kern="1200">
        <a:solidFill>
          <a:schemeClr val="tx1"/>
        </a:solidFill>
        <a:latin typeface="Times New Roman" pitchFamily="18" charset="0"/>
        <a:ea typeface="楷体_GB2312" pitchFamily="49" charset="-122"/>
        <a:cs typeface="+mn-cs"/>
      </a:defRPr>
    </a:lvl5pPr>
    <a:lvl6pPr marL="2286000" algn="l" defTabSz="914400" rtl="0" eaLnBrk="1" latinLnBrk="0" hangingPunct="1">
      <a:defRPr kumimoji="1" sz="2800" b="1" kern="1200">
        <a:solidFill>
          <a:schemeClr val="tx1"/>
        </a:solidFill>
        <a:latin typeface="Times New Roman" pitchFamily="18" charset="0"/>
        <a:ea typeface="楷体_GB2312" pitchFamily="49" charset="-122"/>
        <a:cs typeface="+mn-cs"/>
      </a:defRPr>
    </a:lvl6pPr>
    <a:lvl7pPr marL="2743200" algn="l" defTabSz="914400" rtl="0" eaLnBrk="1" latinLnBrk="0" hangingPunct="1">
      <a:defRPr kumimoji="1" sz="2800" b="1" kern="1200">
        <a:solidFill>
          <a:schemeClr val="tx1"/>
        </a:solidFill>
        <a:latin typeface="Times New Roman" pitchFamily="18" charset="0"/>
        <a:ea typeface="楷体_GB2312" pitchFamily="49" charset="-122"/>
        <a:cs typeface="+mn-cs"/>
      </a:defRPr>
    </a:lvl7pPr>
    <a:lvl8pPr marL="3200400" algn="l" defTabSz="914400" rtl="0" eaLnBrk="1" latinLnBrk="0" hangingPunct="1">
      <a:defRPr kumimoji="1" sz="2800" b="1" kern="1200">
        <a:solidFill>
          <a:schemeClr val="tx1"/>
        </a:solidFill>
        <a:latin typeface="Times New Roman" pitchFamily="18" charset="0"/>
        <a:ea typeface="楷体_GB2312" pitchFamily="49" charset="-122"/>
        <a:cs typeface="+mn-cs"/>
      </a:defRPr>
    </a:lvl8pPr>
    <a:lvl9pPr marL="3657600" algn="l" defTabSz="914400" rtl="0" eaLnBrk="1" latinLnBrk="0" hangingPunct="1">
      <a:defRPr kumimoji="1" sz="2800" b="1" kern="1200">
        <a:solidFill>
          <a:schemeClr val="tx1"/>
        </a:solidFill>
        <a:latin typeface="Times New Roman"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0000"/>
    <a:srgbClr val="FFFF00"/>
    <a:srgbClr val="6600FF"/>
    <a:srgbClr val="CC6600"/>
    <a:srgbClr val="FFCC00"/>
    <a:srgbClr val="008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116" d="100"/>
          <a:sy n="116" d="100"/>
        </p:scale>
        <p:origin x="-490" y="-77"/>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071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8.wmf"/><Relationship Id="rId7" Type="http://schemas.openxmlformats.org/officeDocument/2006/relationships/image" Target="../media/image42.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5" Type="http://schemas.openxmlformats.org/officeDocument/2006/relationships/image" Target="../media/image40.wmf"/><Relationship Id="rId4" Type="http://schemas.openxmlformats.org/officeDocument/2006/relationships/image" Target="../media/image39.wmf"/><Relationship Id="rId9" Type="http://schemas.openxmlformats.org/officeDocument/2006/relationships/image" Target="../media/image4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5" Type="http://schemas.openxmlformats.org/officeDocument/2006/relationships/image" Target="../media/image51.wmf"/><Relationship Id="rId4" Type="http://schemas.openxmlformats.org/officeDocument/2006/relationships/image" Target="../media/image5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4"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image" Target="../media/image61.wmf"/><Relationship Id="rId7" Type="http://schemas.openxmlformats.org/officeDocument/2006/relationships/image" Target="../media/image65.wmf"/><Relationship Id="rId2" Type="http://schemas.openxmlformats.org/officeDocument/2006/relationships/image" Target="../media/image60.wmf"/><Relationship Id="rId1" Type="http://schemas.openxmlformats.org/officeDocument/2006/relationships/image" Target="../media/image59.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5" Type="http://schemas.openxmlformats.org/officeDocument/2006/relationships/image" Target="../media/image71.wmf"/><Relationship Id="rId4" Type="http://schemas.openxmlformats.org/officeDocument/2006/relationships/image" Target="../media/image7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4" Type="http://schemas.openxmlformats.org/officeDocument/2006/relationships/image" Target="../media/image8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 Id="rId4" Type="http://schemas.openxmlformats.org/officeDocument/2006/relationships/image" Target="../media/image9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97.wmf"/><Relationship Id="rId5" Type="http://schemas.openxmlformats.org/officeDocument/2006/relationships/image" Target="../media/image96.wmf"/><Relationship Id="rId4" Type="http://schemas.openxmlformats.org/officeDocument/2006/relationships/image" Target="../media/image9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image" Target="../media/image106.wmf"/><Relationship Id="rId7" Type="http://schemas.openxmlformats.org/officeDocument/2006/relationships/image" Target="../media/image110.wmf"/><Relationship Id="rId2" Type="http://schemas.openxmlformats.org/officeDocument/2006/relationships/image" Target="../media/image105.wmf"/><Relationship Id="rId1" Type="http://schemas.openxmlformats.org/officeDocument/2006/relationships/image" Target="../media/image104.wmf"/><Relationship Id="rId6" Type="http://schemas.openxmlformats.org/officeDocument/2006/relationships/image" Target="../media/image109.wmf"/><Relationship Id="rId5" Type="http://schemas.openxmlformats.org/officeDocument/2006/relationships/image" Target="../media/image108.wmf"/><Relationship Id="rId4" Type="http://schemas.openxmlformats.org/officeDocument/2006/relationships/image" Target="../media/image107.wmf"/><Relationship Id="rId9" Type="http://schemas.openxmlformats.org/officeDocument/2006/relationships/image" Target="../media/image11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image" Target="../media/image116.emf"/><Relationship Id="rId6" Type="http://schemas.openxmlformats.org/officeDocument/2006/relationships/image" Target="../media/image121.wmf"/><Relationship Id="rId5" Type="http://schemas.openxmlformats.org/officeDocument/2006/relationships/image" Target="../media/image120.wmf"/><Relationship Id="rId4" Type="http://schemas.openxmlformats.org/officeDocument/2006/relationships/image" Target="../media/image119.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25.wmf"/><Relationship Id="rId1" Type="http://schemas.openxmlformats.org/officeDocument/2006/relationships/image" Target="../media/image124.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33.wmf"/><Relationship Id="rId13" Type="http://schemas.openxmlformats.org/officeDocument/2006/relationships/image" Target="../media/image138.wmf"/><Relationship Id="rId3" Type="http://schemas.openxmlformats.org/officeDocument/2006/relationships/image" Target="../media/image128.wmf"/><Relationship Id="rId7" Type="http://schemas.openxmlformats.org/officeDocument/2006/relationships/image" Target="../media/image132.wmf"/><Relationship Id="rId12" Type="http://schemas.openxmlformats.org/officeDocument/2006/relationships/image" Target="../media/image137.wmf"/><Relationship Id="rId2" Type="http://schemas.openxmlformats.org/officeDocument/2006/relationships/image" Target="../media/image127.wmf"/><Relationship Id="rId1" Type="http://schemas.openxmlformats.org/officeDocument/2006/relationships/image" Target="../media/image126.wmf"/><Relationship Id="rId6" Type="http://schemas.openxmlformats.org/officeDocument/2006/relationships/image" Target="../media/image131.wmf"/><Relationship Id="rId11" Type="http://schemas.openxmlformats.org/officeDocument/2006/relationships/image" Target="../media/image136.wmf"/><Relationship Id="rId5" Type="http://schemas.openxmlformats.org/officeDocument/2006/relationships/image" Target="../media/image130.wmf"/><Relationship Id="rId10" Type="http://schemas.openxmlformats.org/officeDocument/2006/relationships/image" Target="../media/image135.wmf"/><Relationship Id="rId4" Type="http://schemas.openxmlformats.org/officeDocument/2006/relationships/image" Target="../media/image129.wmf"/><Relationship Id="rId9" Type="http://schemas.openxmlformats.org/officeDocument/2006/relationships/image" Target="../media/image134.wmf"/><Relationship Id="rId14" Type="http://schemas.openxmlformats.org/officeDocument/2006/relationships/image" Target="../media/image13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42.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 Id="rId4" Type="http://schemas.openxmlformats.org/officeDocument/2006/relationships/image" Target="../media/image147.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image" Target="../media/image150.wmf"/><Relationship Id="rId7" Type="http://schemas.openxmlformats.org/officeDocument/2006/relationships/image" Target="../media/image154.wmf"/><Relationship Id="rId2" Type="http://schemas.openxmlformats.org/officeDocument/2006/relationships/image" Target="../media/image149.wmf"/><Relationship Id="rId1" Type="http://schemas.openxmlformats.org/officeDocument/2006/relationships/image" Target="../media/image148.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58.wmf"/><Relationship Id="rId7" Type="http://schemas.openxmlformats.org/officeDocument/2006/relationships/image" Target="../media/image162.wmf"/><Relationship Id="rId2" Type="http://schemas.openxmlformats.org/officeDocument/2006/relationships/image" Target="../media/image157.wmf"/><Relationship Id="rId1" Type="http://schemas.openxmlformats.org/officeDocument/2006/relationships/image" Target="../media/image156.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69.png"/></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 Id="rId4" Type="http://schemas.openxmlformats.org/officeDocument/2006/relationships/image" Target="../media/image173.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75.wmf"/><Relationship Id="rId1" Type="http://schemas.openxmlformats.org/officeDocument/2006/relationships/image" Target="../media/image174.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80.wmf"/><Relationship Id="rId1" Type="http://schemas.openxmlformats.org/officeDocument/2006/relationships/image" Target="../media/image179.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1.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83.wmf"/><Relationship Id="rId1" Type="http://schemas.openxmlformats.org/officeDocument/2006/relationships/image" Target="../media/image182.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image" Target="../media/image186.wmf"/><Relationship Id="rId7" Type="http://schemas.openxmlformats.org/officeDocument/2006/relationships/image" Target="../media/image190.wmf"/><Relationship Id="rId2" Type="http://schemas.openxmlformats.org/officeDocument/2006/relationships/image" Target="../media/image185.wmf"/><Relationship Id="rId1" Type="http://schemas.openxmlformats.org/officeDocument/2006/relationships/image" Target="../media/image184.wmf"/><Relationship Id="rId6" Type="http://schemas.openxmlformats.org/officeDocument/2006/relationships/image" Target="../media/image189.wmf"/><Relationship Id="rId5" Type="http://schemas.openxmlformats.org/officeDocument/2006/relationships/image" Target="../media/image188.wmf"/><Relationship Id="rId4" Type="http://schemas.openxmlformats.org/officeDocument/2006/relationships/image" Target="../media/image187.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199.wmf"/><Relationship Id="rId3" Type="http://schemas.openxmlformats.org/officeDocument/2006/relationships/image" Target="../media/image194.wmf"/><Relationship Id="rId7" Type="http://schemas.openxmlformats.org/officeDocument/2006/relationships/image" Target="../media/image198.wmf"/><Relationship Id="rId2" Type="http://schemas.openxmlformats.org/officeDocument/2006/relationships/image" Target="../media/image193.wmf"/><Relationship Id="rId1" Type="http://schemas.openxmlformats.org/officeDocument/2006/relationships/image" Target="../media/image192.wmf"/><Relationship Id="rId6" Type="http://schemas.openxmlformats.org/officeDocument/2006/relationships/image" Target="../media/image197.wmf"/><Relationship Id="rId5" Type="http://schemas.openxmlformats.org/officeDocument/2006/relationships/image" Target="../media/image196.wmf"/><Relationship Id="rId4" Type="http://schemas.openxmlformats.org/officeDocument/2006/relationships/image" Target="../media/image195.wmf"/><Relationship Id="rId9" Type="http://schemas.openxmlformats.org/officeDocument/2006/relationships/image" Target="../media/image200.e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03.emf"/><Relationship Id="rId2" Type="http://schemas.openxmlformats.org/officeDocument/2006/relationships/image" Target="../media/image202.wmf"/><Relationship Id="rId1" Type="http://schemas.openxmlformats.org/officeDocument/2006/relationships/image" Target="../media/image201.wmf"/><Relationship Id="rId6" Type="http://schemas.openxmlformats.org/officeDocument/2006/relationships/image" Target="../media/image206.wmf"/><Relationship Id="rId5" Type="http://schemas.openxmlformats.org/officeDocument/2006/relationships/image" Target="../media/image205.wmf"/><Relationship Id="rId4" Type="http://schemas.openxmlformats.org/officeDocument/2006/relationships/image" Target="../media/image204.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 Id="rId5" Type="http://schemas.openxmlformats.org/officeDocument/2006/relationships/image" Target="../media/image206.wmf"/><Relationship Id="rId4" Type="http://schemas.openxmlformats.org/officeDocument/2006/relationships/image" Target="../media/image210.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11.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15.wmf"/><Relationship Id="rId2" Type="http://schemas.openxmlformats.org/officeDocument/2006/relationships/image" Target="../media/image214.wmf"/><Relationship Id="rId1" Type="http://schemas.openxmlformats.org/officeDocument/2006/relationships/image" Target="../media/image213.wmf"/><Relationship Id="rId5" Type="http://schemas.openxmlformats.org/officeDocument/2006/relationships/image" Target="../media/image217.wmf"/><Relationship Id="rId4" Type="http://schemas.openxmlformats.org/officeDocument/2006/relationships/image" Target="../media/image216.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220.wmf"/><Relationship Id="rId7" Type="http://schemas.openxmlformats.org/officeDocument/2006/relationships/image" Target="../media/image224.wmf"/><Relationship Id="rId2" Type="http://schemas.openxmlformats.org/officeDocument/2006/relationships/image" Target="../media/image219.wmf"/><Relationship Id="rId1" Type="http://schemas.openxmlformats.org/officeDocument/2006/relationships/image" Target="../media/image218.wmf"/><Relationship Id="rId6" Type="http://schemas.openxmlformats.org/officeDocument/2006/relationships/image" Target="../media/image223.wmf"/><Relationship Id="rId5" Type="http://schemas.openxmlformats.org/officeDocument/2006/relationships/image" Target="../media/image222.wmf"/><Relationship Id="rId4" Type="http://schemas.openxmlformats.org/officeDocument/2006/relationships/image" Target="../media/image221.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27.wmf"/><Relationship Id="rId2" Type="http://schemas.openxmlformats.org/officeDocument/2006/relationships/image" Target="../media/image226.wmf"/><Relationship Id="rId1" Type="http://schemas.openxmlformats.org/officeDocument/2006/relationships/image" Target="../media/image225.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30.wmf"/><Relationship Id="rId2" Type="http://schemas.openxmlformats.org/officeDocument/2006/relationships/image" Target="../media/image229.wmf"/><Relationship Id="rId1" Type="http://schemas.openxmlformats.org/officeDocument/2006/relationships/image" Target="../media/image228.wmf"/><Relationship Id="rId5" Type="http://schemas.openxmlformats.org/officeDocument/2006/relationships/image" Target="../media/image232.wmf"/><Relationship Id="rId4" Type="http://schemas.openxmlformats.org/officeDocument/2006/relationships/image" Target="../media/image231.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 Id="rId5" Type="http://schemas.openxmlformats.org/officeDocument/2006/relationships/image" Target="../media/image238.wmf"/><Relationship Id="rId4" Type="http://schemas.openxmlformats.org/officeDocument/2006/relationships/image" Target="../media/image237.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42.wmf"/><Relationship Id="rId2" Type="http://schemas.openxmlformats.org/officeDocument/2006/relationships/image" Target="../media/image241.emf"/><Relationship Id="rId1" Type="http://schemas.openxmlformats.org/officeDocument/2006/relationships/image" Target="../media/image240.emf"/><Relationship Id="rId6" Type="http://schemas.openxmlformats.org/officeDocument/2006/relationships/image" Target="../media/image245.wmf"/><Relationship Id="rId5" Type="http://schemas.openxmlformats.org/officeDocument/2006/relationships/image" Target="../media/image244.wmf"/><Relationship Id="rId4" Type="http://schemas.openxmlformats.org/officeDocument/2006/relationships/image" Target="../media/image243.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48.wmf"/><Relationship Id="rId2" Type="http://schemas.openxmlformats.org/officeDocument/2006/relationships/image" Target="../media/image247.wmf"/><Relationship Id="rId1" Type="http://schemas.openxmlformats.org/officeDocument/2006/relationships/image" Target="../media/image246.wmf"/><Relationship Id="rId6" Type="http://schemas.openxmlformats.org/officeDocument/2006/relationships/image" Target="../media/image251.wmf"/><Relationship Id="rId5" Type="http://schemas.openxmlformats.org/officeDocument/2006/relationships/image" Target="../media/image250.wmf"/><Relationship Id="rId4" Type="http://schemas.openxmlformats.org/officeDocument/2006/relationships/image" Target="../media/image24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54.wmf"/><Relationship Id="rId2" Type="http://schemas.openxmlformats.org/officeDocument/2006/relationships/image" Target="../media/image253.wmf"/><Relationship Id="rId1" Type="http://schemas.openxmlformats.org/officeDocument/2006/relationships/image" Target="../media/image252.wmf"/><Relationship Id="rId4" Type="http://schemas.openxmlformats.org/officeDocument/2006/relationships/image" Target="../media/image255.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258.wmf"/><Relationship Id="rId2" Type="http://schemas.openxmlformats.org/officeDocument/2006/relationships/image" Target="../media/image257.wmf"/><Relationship Id="rId1" Type="http://schemas.openxmlformats.org/officeDocument/2006/relationships/image" Target="../media/image256.wmf"/><Relationship Id="rId5" Type="http://schemas.openxmlformats.org/officeDocument/2006/relationships/image" Target="../media/image260.wmf"/><Relationship Id="rId4" Type="http://schemas.openxmlformats.org/officeDocument/2006/relationships/image" Target="../media/image259.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63.wmf"/><Relationship Id="rId2" Type="http://schemas.openxmlformats.org/officeDocument/2006/relationships/image" Target="../media/image262.wmf"/><Relationship Id="rId1" Type="http://schemas.openxmlformats.org/officeDocument/2006/relationships/image" Target="../media/image261.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1.w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265.wmf"/><Relationship Id="rId1" Type="http://schemas.openxmlformats.org/officeDocument/2006/relationships/image" Target="../media/image264.w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267.wmf"/><Relationship Id="rId1" Type="http://schemas.openxmlformats.org/officeDocument/2006/relationships/image" Target="../media/image266.e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wmf"/><Relationship Id="rId4" Type="http://schemas.openxmlformats.org/officeDocument/2006/relationships/image" Target="../media/image27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ea typeface="宋体" pitchFamily="2" charset="-122"/>
              </a:defRPr>
            </a:lvl1pPr>
          </a:lstStyle>
          <a:p>
            <a:pPr>
              <a:defRPr/>
            </a:pPr>
            <a:endParaRPr lang="en-US" altLang="zh-CN"/>
          </a:p>
        </p:txBody>
      </p:sp>
      <p:sp>
        <p:nvSpPr>
          <p:cNvPr id="54275" name="Rectangle 3"/>
          <p:cNvSpPr>
            <a:spLocks noGrp="1" noChangeArrowheads="1"/>
          </p:cNvSpPr>
          <p:nvPr>
            <p:ph type="dt" idx="1"/>
          </p:nvPr>
        </p:nvSpPr>
        <p:spPr bwMode="auto">
          <a:xfrm>
            <a:off x="3830638"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ea typeface="宋体" pitchFamily="2" charset="-122"/>
              </a:defRPr>
            </a:lvl1pPr>
          </a:lstStyle>
          <a:p>
            <a:pPr>
              <a:defRPr/>
            </a:pPr>
            <a:endParaRPr lang="en-US" altLang="zh-CN"/>
          </a:p>
        </p:txBody>
      </p:sp>
      <p:sp>
        <p:nvSpPr>
          <p:cNvPr id="80900" name="Rectangle 4"/>
          <p:cNvSpPr>
            <a:spLocks noGrp="1" noRot="1" noChangeAspect="1" noChangeArrowheads="1" noTextEdit="1"/>
          </p:cNvSpPr>
          <p:nvPr>
            <p:ph type="sldImg" idx="2"/>
          </p:nvPr>
        </p:nvSpPr>
        <p:spPr bwMode="auto">
          <a:xfrm>
            <a:off x="68263" y="746125"/>
            <a:ext cx="6624637"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7" name="Rectangle 5"/>
          <p:cNvSpPr>
            <a:spLocks noGrp="1" noChangeArrowheads="1"/>
          </p:cNvSpPr>
          <p:nvPr>
            <p:ph type="body" sz="quarter" idx="3"/>
          </p:nvPr>
        </p:nvSpPr>
        <p:spPr bwMode="auto">
          <a:xfrm>
            <a:off x="901700" y="4722813"/>
            <a:ext cx="4957763" cy="4473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4278" name="Rectangle 6"/>
          <p:cNvSpPr>
            <a:spLocks noGrp="1" noChangeArrowheads="1"/>
          </p:cNvSpPr>
          <p:nvPr>
            <p:ph type="ftr" sz="quarter" idx="4"/>
          </p:nvPr>
        </p:nvSpPr>
        <p:spPr bwMode="auto">
          <a:xfrm>
            <a:off x="0"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ea typeface="宋体" pitchFamily="2" charset="-122"/>
              </a:defRPr>
            </a:lvl1pPr>
          </a:lstStyle>
          <a:p>
            <a:pPr>
              <a:defRPr/>
            </a:pPr>
            <a:endParaRPr lang="en-US" altLang="zh-CN"/>
          </a:p>
        </p:txBody>
      </p:sp>
      <p:sp>
        <p:nvSpPr>
          <p:cNvPr id="54279" name="Rectangle 7"/>
          <p:cNvSpPr>
            <a:spLocks noGrp="1" noChangeArrowheads="1"/>
          </p:cNvSpPr>
          <p:nvPr>
            <p:ph type="sldNum" sz="quarter" idx="5"/>
          </p:nvPr>
        </p:nvSpPr>
        <p:spPr bwMode="auto">
          <a:xfrm>
            <a:off x="3830638"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ea typeface="宋体" pitchFamily="2" charset="-122"/>
              </a:defRPr>
            </a:lvl1pPr>
          </a:lstStyle>
          <a:p>
            <a:pPr>
              <a:defRPr/>
            </a:pPr>
            <a:fld id="{D4354AE1-3539-4063-B67E-0FC410452F86}" type="slidenum">
              <a:rPr lang="en-US" altLang="zh-CN"/>
              <a:pPr>
                <a:defRPr/>
              </a:pPr>
              <a:t>‹#›</a:t>
            </a:fld>
            <a:endParaRPr lang="en-US" altLang="zh-CN"/>
          </a:p>
        </p:txBody>
      </p:sp>
    </p:spTree>
    <p:extLst>
      <p:ext uri="{BB962C8B-B14F-4D97-AF65-F5344CB8AC3E}">
        <p14:creationId xmlns:p14="http://schemas.microsoft.com/office/powerpoint/2010/main" val="14862864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00108BAE-1A78-42DF-B1C6-329C1DA9B898}" type="slidenum">
              <a:rPr lang="en-US" altLang="zh-CN" sz="1200" b="0" smtClean="0">
                <a:ea typeface="宋体" pitchFamily="2" charset="-122"/>
              </a:rPr>
              <a:pPr eaLnBrk="1" hangingPunct="1"/>
              <a:t>1</a:t>
            </a:fld>
            <a:endParaRPr lang="en-US" altLang="zh-CN" sz="1200" b="0" smtClean="0">
              <a:ea typeface="宋体" pitchFamily="2" charset="-122"/>
            </a:endParaRPr>
          </a:p>
        </p:txBody>
      </p:sp>
      <p:sp>
        <p:nvSpPr>
          <p:cNvPr id="81923" name="Rectangle 1026"/>
          <p:cNvSpPr>
            <a:spLocks noGrp="1" noRot="1" noChangeAspect="1" noChangeArrowheads="1" noTextEdit="1"/>
          </p:cNvSpPr>
          <p:nvPr>
            <p:ph type="sldImg"/>
          </p:nvPr>
        </p:nvSpPr>
        <p:spPr>
          <a:ln/>
        </p:spPr>
      </p:sp>
      <p:sp>
        <p:nvSpPr>
          <p:cNvPr id="8192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B1821219-0D5E-4836-BD85-71C4D8BE0683}" type="slidenum">
              <a:rPr lang="en-US" altLang="zh-CN" sz="1200" b="0" smtClean="0">
                <a:ea typeface="宋体" pitchFamily="2" charset="-122"/>
              </a:rPr>
              <a:pPr eaLnBrk="1" hangingPunct="1"/>
              <a:t>5</a:t>
            </a:fld>
            <a:endParaRPr lang="en-US" altLang="zh-CN" sz="1200" b="0" smtClean="0">
              <a:ea typeface="宋体" pitchFamily="2" charset="-122"/>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01EB92DA-6421-4673-97B6-4F121E3A6990}" type="slidenum">
              <a:rPr lang="en-US" altLang="zh-CN" sz="1200" b="0" smtClean="0">
                <a:ea typeface="宋体" pitchFamily="2" charset="-122"/>
              </a:rPr>
              <a:pPr eaLnBrk="1" hangingPunct="1"/>
              <a:t>6</a:t>
            </a:fld>
            <a:endParaRPr lang="en-US" altLang="zh-CN" sz="1200" b="0" smtClean="0">
              <a:ea typeface="宋体" pitchFamily="2" charset="-122"/>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CC6C98BB-45A7-46A0-B735-6C4C5F6341A1}" type="slidenum">
              <a:rPr lang="en-US" altLang="zh-CN" sz="1200" b="0" smtClean="0">
                <a:ea typeface="宋体" pitchFamily="2" charset="-122"/>
              </a:rPr>
              <a:pPr eaLnBrk="1" hangingPunct="1"/>
              <a:t>11</a:t>
            </a:fld>
            <a:endParaRPr lang="en-US" altLang="zh-CN" sz="1200" b="0" smtClean="0">
              <a:ea typeface="宋体" pitchFamily="2" charset="-122"/>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4DCE698A-F35D-4EB4-AA06-A5FD7F540C14}" type="slidenum">
              <a:rPr lang="en-US" altLang="zh-CN" sz="1200" b="0" smtClean="0">
                <a:ea typeface="宋体" pitchFamily="2" charset="-122"/>
              </a:rPr>
              <a:pPr eaLnBrk="1" hangingPunct="1"/>
              <a:t>12</a:t>
            </a:fld>
            <a:endParaRPr lang="en-US" altLang="zh-CN" sz="1200" b="0" smtClean="0">
              <a:ea typeface="宋体" pitchFamily="2" charset="-122"/>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6C2EA030-7CFA-4009-94F4-CDA08EF707F7}" type="slidenum">
              <a:rPr lang="en-US" altLang="zh-CN" sz="1200" b="0" smtClean="0">
                <a:ea typeface="宋体" pitchFamily="2" charset="-122"/>
              </a:rPr>
              <a:pPr eaLnBrk="1" hangingPunct="1"/>
              <a:t>13</a:t>
            </a:fld>
            <a:endParaRPr lang="en-US" altLang="zh-CN" sz="1200" b="0" smtClean="0">
              <a:ea typeface="宋体" pitchFamily="2" charset="-122"/>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67149F85-C51C-4F29-AE7B-BC1E852AD3DC}" type="slidenum">
              <a:rPr lang="en-US" altLang="zh-CN" sz="1200" b="0" smtClean="0">
                <a:ea typeface="宋体" pitchFamily="2" charset="-122"/>
              </a:rPr>
              <a:pPr eaLnBrk="1" hangingPunct="1"/>
              <a:t>18</a:t>
            </a:fld>
            <a:endParaRPr lang="en-US" altLang="zh-CN" sz="1200" b="0" smtClean="0">
              <a:ea typeface="宋体" pitchFamily="2" charset="-122"/>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68F6BF24-3351-449A-94D5-A5D3496E3400}" type="slidenum">
              <a:rPr lang="en-US" altLang="zh-CN" sz="1200" b="0" smtClean="0">
                <a:ea typeface="宋体" pitchFamily="2" charset="-122"/>
              </a:rPr>
              <a:pPr eaLnBrk="1" hangingPunct="1"/>
              <a:t>19</a:t>
            </a:fld>
            <a:endParaRPr lang="en-US" altLang="zh-CN" sz="1200" b="0" smtClean="0">
              <a:ea typeface="宋体" pitchFamily="2" charset="-122"/>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4E3D8C85-7329-4142-B182-61E195D8C4D5}" type="slidenum">
              <a:rPr lang="en-US" altLang="zh-CN" sz="1200" b="0" smtClean="0">
                <a:ea typeface="宋体" pitchFamily="2" charset="-122"/>
              </a:rPr>
              <a:pPr eaLnBrk="1" hangingPunct="1"/>
              <a:t>20</a:t>
            </a:fld>
            <a:endParaRPr lang="en-US" altLang="zh-CN" sz="1200" b="0" smtClean="0">
              <a:ea typeface="宋体" pitchFamily="2" charset="-122"/>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59ABDF64-17F3-4AE2-9567-D2DB3A5229BF}" type="slidenum">
              <a:rPr lang="en-US" altLang="zh-CN" sz="1200" b="0" smtClean="0">
                <a:ea typeface="宋体" pitchFamily="2" charset="-122"/>
              </a:rPr>
              <a:pPr eaLnBrk="1" hangingPunct="1"/>
              <a:t>21</a:t>
            </a:fld>
            <a:endParaRPr lang="en-US" altLang="zh-CN" sz="1200" b="0" smtClean="0">
              <a:ea typeface="宋体" pitchFamily="2" charset="-122"/>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DC0FFC09-2A8E-409C-A9B0-52E1AAABF39D}" type="slidenum">
              <a:rPr lang="en-US" altLang="zh-CN" sz="1200" b="0" smtClean="0">
                <a:ea typeface="宋体" pitchFamily="2" charset="-122"/>
              </a:rPr>
              <a:pPr eaLnBrk="1" hangingPunct="1"/>
              <a:t>28</a:t>
            </a:fld>
            <a:endParaRPr lang="en-US" altLang="zh-CN" sz="1200" b="0" smtClean="0">
              <a:ea typeface="宋体" pitchFamily="2" charset="-122"/>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C9BDB3CE-29A5-40B0-A6BD-2CB581792517}" type="slidenum">
              <a:rPr lang="en-US" altLang="zh-CN" sz="1200" b="0" smtClean="0">
                <a:ea typeface="宋体" pitchFamily="2" charset="-122"/>
              </a:rPr>
              <a:pPr eaLnBrk="1" hangingPunct="1"/>
              <a:t>29</a:t>
            </a:fld>
            <a:endParaRPr lang="en-US" altLang="zh-CN" sz="1200" b="0" smtClean="0">
              <a:ea typeface="宋体" pitchFamily="2" charset="-122"/>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6B2414F9-D9C5-4910-9D4F-6126835C377F}" type="slidenum">
              <a:rPr lang="en-US" altLang="zh-CN" sz="1200" b="0" smtClean="0">
                <a:ea typeface="宋体" pitchFamily="2" charset="-122"/>
              </a:rPr>
              <a:pPr eaLnBrk="1" hangingPunct="1"/>
              <a:t>30</a:t>
            </a:fld>
            <a:endParaRPr lang="en-US" altLang="zh-CN" sz="1200" b="0" smtClean="0">
              <a:ea typeface="宋体" pitchFamily="2" charset="-122"/>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CCC92FCC-D84C-470C-B026-1A551FBA1B3B}" type="slidenum">
              <a:rPr lang="en-US" altLang="zh-CN" sz="1200" b="0" smtClean="0">
                <a:ea typeface="宋体" pitchFamily="2" charset="-122"/>
              </a:rPr>
              <a:pPr eaLnBrk="1" hangingPunct="1"/>
              <a:t>31</a:t>
            </a:fld>
            <a:endParaRPr lang="en-US" altLang="zh-CN" sz="1200" b="0" smtClean="0">
              <a:ea typeface="宋体" pitchFamily="2" charset="-122"/>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B6F6EDB4-935A-4447-A11D-B460FA7F1209}" type="slidenum">
              <a:rPr lang="en-US" altLang="zh-CN" sz="1200" b="0" smtClean="0">
                <a:ea typeface="宋体" pitchFamily="2" charset="-122"/>
              </a:rPr>
              <a:pPr eaLnBrk="1" hangingPunct="1"/>
              <a:t>32</a:t>
            </a:fld>
            <a:endParaRPr lang="en-US" altLang="zh-CN" sz="1200" b="0" smtClean="0">
              <a:ea typeface="宋体" pitchFamily="2" charset="-122"/>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A03321E3-E66D-42BF-8984-9F1CBE83A3EA}" type="slidenum">
              <a:rPr lang="en-US" altLang="zh-CN" sz="1200" b="0" smtClean="0">
                <a:ea typeface="宋体" pitchFamily="2" charset="-122"/>
              </a:rPr>
              <a:pPr eaLnBrk="1" hangingPunct="1"/>
              <a:t>33</a:t>
            </a:fld>
            <a:endParaRPr lang="en-US" altLang="zh-CN" sz="1200" b="0" smtClean="0">
              <a:ea typeface="宋体" pitchFamily="2" charset="-122"/>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DCD149D7-98B7-4DCA-AA61-D48633E9A051}" type="slidenum">
              <a:rPr lang="en-US" altLang="zh-CN" sz="1200" b="0" smtClean="0">
                <a:ea typeface="宋体" pitchFamily="2" charset="-122"/>
              </a:rPr>
              <a:pPr eaLnBrk="1" hangingPunct="1"/>
              <a:t>35</a:t>
            </a:fld>
            <a:endParaRPr lang="en-US" altLang="zh-CN" sz="1200" b="0" smtClean="0">
              <a:ea typeface="宋体" pitchFamily="2" charset="-122"/>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B09DF6E1-AA6A-4CF8-8827-174B2EE2D0DC}" type="slidenum">
              <a:rPr lang="en-US" altLang="zh-CN" sz="1200" b="0" smtClean="0">
                <a:ea typeface="宋体" pitchFamily="2" charset="-122"/>
              </a:rPr>
              <a:pPr eaLnBrk="1" hangingPunct="1"/>
              <a:t>36</a:t>
            </a:fld>
            <a:endParaRPr lang="en-US" altLang="zh-CN" sz="1200" b="0" smtClean="0">
              <a:ea typeface="宋体" pitchFamily="2" charset="-122"/>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E092A1C2-E5E2-4F14-B829-AE93C600761F}" type="slidenum">
              <a:rPr lang="en-US" altLang="zh-CN" sz="1200" b="0" smtClean="0">
                <a:ea typeface="宋体" pitchFamily="2" charset="-122"/>
              </a:rPr>
              <a:pPr eaLnBrk="1" hangingPunct="1"/>
              <a:t>37</a:t>
            </a:fld>
            <a:endParaRPr lang="en-US" altLang="zh-CN" sz="1200" b="0" smtClean="0">
              <a:ea typeface="宋体" pitchFamily="2" charset="-122"/>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5C919E57-E2A0-4C7C-B1AE-74C7AE0B47A4}" type="slidenum">
              <a:rPr lang="en-US" altLang="zh-CN" sz="1200" b="0" smtClean="0">
                <a:ea typeface="宋体" pitchFamily="2" charset="-122"/>
              </a:rPr>
              <a:pPr eaLnBrk="1" hangingPunct="1"/>
              <a:t>38</a:t>
            </a:fld>
            <a:endParaRPr lang="en-US" altLang="zh-CN" sz="1200" b="0" smtClean="0">
              <a:ea typeface="宋体" pitchFamily="2" charset="-122"/>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C40D75D4-4A33-495A-BE86-9CBD697D285A}" type="slidenum">
              <a:rPr lang="en-US" altLang="zh-CN" sz="1200" b="0" smtClean="0">
                <a:ea typeface="宋体" pitchFamily="2" charset="-122"/>
              </a:rPr>
              <a:pPr eaLnBrk="1" hangingPunct="1"/>
              <a:t>39</a:t>
            </a:fld>
            <a:endParaRPr lang="en-US" altLang="zh-CN" sz="1200" b="0" smtClean="0">
              <a:ea typeface="宋体" pitchFamily="2" charset="-122"/>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D0954447-2D15-4D80-9E6C-6E6E5BDEC7FC}" type="slidenum">
              <a:rPr lang="en-US" altLang="zh-CN" sz="1200" b="0" smtClean="0">
                <a:ea typeface="宋体" pitchFamily="2" charset="-122"/>
              </a:rPr>
              <a:pPr eaLnBrk="1" hangingPunct="1"/>
              <a:t>51</a:t>
            </a:fld>
            <a:endParaRPr lang="en-US" altLang="zh-CN" sz="1200" b="0" smtClean="0">
              <a:ea typeface="宋体" pitchFamily="2" charset="-122"/>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84F04177-79BB-4A16-A414-FD2415C33888}" type="slidenum">
              <a:rPr lang="en-US" altLang="zh-CN" sz="1200" b="0" smtClean="0">
                <a:ea typeface="宋体" pitchFamily="2" charset="-122"/>
              </a:rPr>
              <a:pPr eaLnBrk="1" hangingPunct="1"/>
              <a:t>52</a:t>
            </a:fld>
            <a:endParaRPr lang="en-US" altLang="zh-CN" sz="1200" b="0" smtClean="0">
              <a:ea typeface="宋体" pitchFamily="2" charset="-122"/>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47E2343D-6B70-44DB-BC4A-5E40C624E8F4}" type="slidenum">
              <a:rPr lang="en-US" altLang="zh-CN" sz="1200" b="0" smtClean="0">
                <a:ea typeface="宋体" pitchFamily="2" charset="-122"/>
              </a:rPr>
              <a:pPr eaLnBrk="1" hangingPunct="1"/>
              <a:t>53</a:t>
            </a:fld>
            <a:endParaRPr lang="en-US" altLang="zh-CN" sz="1200" b="0" smtClean="0">
              <a:ea typeface="宋体" pitchFamily="2" charset="-122"/>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5B0714B5-67BE-45E0-A84A-8D585B7D9B3F}" type="slidenum">
              <a:rPr lang="en-US" altLang="zh-CN" sz="1200" b="0" smtClean="0">
                <a:ea typeface="宋体" pitchFamily="2" charset="-122"/>
              </a:rPr>
              <a:pPr eaLnBrk="1" hangingPunct="1"/>
              <a:t>54</a:t>
            </a:fld>
            <a:endParaRPr lang="en-US" altLang="zh-CN" sz="1200" b="0" smtClean="0">
              <a:ea typeface="宋体" pitchFamily="2" charset="-122"/>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7DD6A437-4780-4DBF-B087-8272C10A4D57}" type="slidenum">
              <a:rPr lang="en-US" altLang="zh-CN" sz="1200" b="0" smtClean="0">
                <a:ea typeface="宋体" pitchFamily="2" charset="-122"/>
              </a:rPr>
              <a:pPr eaLnBrk="1" hangingPunct="1"/>
              <a:t>55</a:t>
            </a:fld>
            <a:endParaRPr lang="en-US" altLang="zh-CN" sz="1200" b="0" smtClean="0">
              <a:ea typeface="宋体" pitchFamily="2" charset="-122"/>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9642F219-BF03-4FE6-8D6D-616D12F1A858}" type="slidenum">
              <a:rPr lang="en-US" altLang="zh-CN" sz="1200" b="0" smtClean="0">
                <a:ea typeface="宋体" pitchFamily="2" charset="-122"/>
              </a:rPr>
              <a:pPr eaLnBrk="1" hangingPunct="1"/>
              <a:t>56</a:t>
            </a:fld>
            <a:endParaRPr lang="en-US" altLang="zh-CN" sz="1200" b="0" smtClean="0">
              <a:ea typeface="宋体" pitchFamily="2" charset="-122"/>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4D4DB37C-E8FF-4F25-B768-5A6E3A407677}" type="slidenum">
              <a:rPr lang="en-US" altLang="zh-CN" sz="1200" b="0" smtClean="0">
                <a:ea typeface="宋体" pitchFamily="2" charset="-122"/>
              </a:rPr>
              <a:pPr eaLnBrk="1" hangingPunct="1"/>
              <a:t>58</a:t>
            </a:fld>
            <a:endParaRPr lang="en-US" altLang="zh-CN" sz="1200" b="0" smtClean="0">
              <a:ea typeface="宋体" pitchFamily="2" charset="-122"/>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287889A6-FC34-4196-A41D-CDDD6C304481}" type="slidenum">
              <a:rPr lang="en-US" altLang="zh-CN" sz="1200" b="0" smtClean="0">
                <a:ea typeface="宋体" pitchFamily="2" charset="-122"/>
              </a:rPr>
              <a:pPr eaLnBrk="1" hangingPunct="1"/>
              <a:t>59</a:t>
            </a:fld>
            <a:endParaRPr lang="en-US" altLang="zh-CN" sz="1200" b="0" smtClean="0">
              <a:ea typeface="宋体" pitchFamily="2" charset="-122"/>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44EDC146-40E7-4C77-83C9-CD02404CCE0F}" type="slidenum">
              <a:rPr lang="en-US" altLang="zh-CN" sz="1200" b="0" smtClean="0">
                <a:ea typeface="宋体" pitchFamily="2" charset="-122"/>
              </a:rPr>
              <a:pPr eaLnBrk="1" hangingPunct="1"/>
              <a:t>61</a:t>
            </a:fld>
            <a:endParaRPr lang="en-US" altLang="zh-CN" sz="1200" b="0" smtClean="0">
              <a:ea typeface="宋体" pitchFamily="2" charset="-122"/>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FEC3308D-1061-4A17-A575-3AF9827771AA}" type="slidenum">
              <a:rPr lang="en-US" altLang="zh-CN" sz="1200" b="0" smtClean="0">
                <a:ea typeface="宋体" pitchFamily="2" charset="-122"/>
              </a:rPr>
              <a:pPr eaLnBrk="1" hangingPunct="1"/>
              <a:t>62</a:t>
            </a:fld>
            <a:endParaRPr lang="en-US" altLang="zh-CN" sz="1200" b="0" smtClean="0">
              <a:ea typeface="宋体" pitchFamily="2" charset="-122"/>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A57C045F-4A86-4065-B4E7-5216B5F7AEB4}" type="slidenum">
              <a:rPr lang="en-US" altLang="zh-CN" sz="1200" b="0" smtClean="0">
                <a:ea typeface="宋体" pitchFamily="2" charset="-122"/>
              </a:rPr>
              <a:pPr eaLnBrk="1" hangingPunct="1"/>
              <a:t>63</a:t>
            </a:fld>
            <a:endParaRPr lang="en-US" altLang="zh-CN" sz="1200" b="0" smtClean="0">
              <a:ea typeface="宋体" pitchFamily="2" charset="-122"/>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fld id="{5A26F84B-D4BA-4835-8763-618D2F2D1B2E}" type="slidenum">
              <a:rPr lang="en-US" altLang="zh-CN" sz="1200" b="0" smtClean="0">
                <a:ea typeface="宋体" pitchFamily="2" charset="-122"/>
              </a:rPr>
              <a:pPr eaLnBrk="1" hangingPunct="1"/>
              <a:t>64</a:t>
            </a:fld>
            <a:endParaRPr lang="en-US" altLang="zh-CN" sz="1200" b="0" smtClean="0">
              <a:ea typeface="宋体" pitchFamily="2" charset="-122"/>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5795963" y="261938"/>
            <a:ext cx="3200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2400" dirty="0" smtClean="0">
                <a:solidFill>
                  <a:prstClr val="white"/>
                </a:solidFill>
              </a:rPr>
              <a:t>第</a:t>
            </a:r>
            <a:r>
              <a:rPr lang="en-US" altLang="zh-CN" sz="2400" dirty="0" smtClean="0">
                <a:solidFill>
                  <a:prstClr val="white"/>
                </a:solidFill>
              </a:rPr>
              <a:t>4</a:t>
            </a:r>
            <a:r>
              <a:rPr lang="zh-CN" altLang="en-US" sz="2400" dirty="0" smtClean="0">
                <a:solidFill>
                  <a:prstClr val="white"/>
                </a:solidFill>
              </a:rPr>
              <a:t>章 狭义相对论基础</a:t>
            </a:r>
            <a:endParaRPr lang="zh-CN" altLang="en-US" sz="2400" dirty="0">
              <a:solidFill>
                <a:prstClr val="white"/>
              </a:solidFill>
            </a:endParaRPr>
          </a:p>
        </p:txBody>
      </p:sp>
    </p:spTree>
    <p:extLst>
      <p:ext uri="{BB962C8B-B14F-4D97-AF65-F5344CB8AC3E}">
        <p14:creationId xmlns:p14="http://schemas.microsoft.com/office/powerpoint/2010/main" val="2612103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787900" y="268288"/>
            <a:ext cx="421163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a:solidFill>
                  <a:srgbClr val="FFFFFF"/>
                </a:solidFill>
                <a:ea typeface="华文中宋" pitchFamily="2" charset="-122"/>
                <a:cs typeface="Times New Roman" pitchFamily="18" charset="0"/>
              </a:rPr>
              <a:t>§4-1 </a:t>
            </a:r>
            <a:r>
              <a:rPr lang="zh-CN" altLang="en-US" sz="2000">
                <a:solidFill>
                  <a:srgbClr val="FFFFFF"/>
                </a:solidFill>
                <a:ea typeface="华文中宋" pitchFamily="2" charset="-122"/>
                <a:cs typeface="Times New Roman" pitchFamily="18" charset="0"/>
              </a:rPr>
              <a:t>伽利略变换和经典力学时空观</a:t>
            </a:r>
          </a:p>
        </p:txBody>
      </p:sp>
    </p:spTree>
    <p:extLst>
      <p:ext uri="{BB962C8B-B14F-4D97-AF65-F5344CB8AC3E}">
        <p14:creationId xmlns:p14="http://schemas.microsoft.com/office/powerpoint/2010/main" val="586691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356100" y="320675"/>
            <a:ext cx="467995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1800">
                <a:solidFill>
                  <a:srgbClr val="FFFFFF"/>
                </a:solidFill>
                <a:ea typeface="华文中宋" pitchFamily="2" charset="-122"/>
                <a:cs typeface="Times New Roman" pitchFamily="18" charset="0"/>
              </a:rPr>
              <a:t>§4-2 </a:t>
            </a:r>
            <a:r>
              <a:rPr lang="zh-CN" altLang="en-US" sz="1800">
                <a:solidFill>
                  <a:srgbClr val="FFFFFF"/>
                </a:solidFill>
                <a:ea typeface="华文中宋" pitchFamily="2" charset="-122"/>
                <a:cs typeface="Times New Roman" pitchFamily="18" charset="0"/>
              </a:rPr>
              <a:t>狭义相对论产生的实验基础和历史条件</a:t>
            </a:r>
          </a:p>
        </p:txBody>
      </p:sp>
    </p:spTree>
    <p:extLst>
      <p:ext uri="{BB962C8B-B14F-4D97-AF65-F5344CB8AC3E}">
        <p14:creationId xmlns:p14="http://schemas.microsoft.com/office/powerpoint/2010/main" val="1900647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4787900" y="339725"/>
            <a:ext cx="4176713"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a:solidFill>
                  <a:srgbClr val="FFFFFF"/>
                </a:solidFill>
                <a:ea typeface="华文中宋" pitchFamily="2" charset="-122"/>
                <a:cs typeface="Times New Roman" pitchFamily="18" charset="0"/>
              </a:rPr>
              <a:t>§4-3 </a:t>
            </a:r>
            <a:r>
              <a:rPr lang="zh-CN" altLang="en-US" sz="2000">
                <a:solidFill>
                  <a:srgbClr val="FFFFFF"/>
                </a:solidFill>
                <a:ea typeface="华文中宋" pitchFamily="2" charset="-122"/>
                <a:cs typeface="Times New Roman" pitchFamily="18" charset="0"/>
              </a:rPr>
              <a:t>相对论基本原理、洛仑兹变换</a:t>
            </a:r>
          </a:p>
        </p:txBody>
      </p:sp>
    </p:spTree>
    <p:extLst>
      <p:ext uri="{BB962C8B-B14F-4D97-AF65-F5344CB8AC3E}">
        <p14:creationId xmlns:p14="http://schemas.microsoft.com/office/powerpoint/2010/main" val="227074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25438"/>
            <a:ext cx="273685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a:solidFill>
                  <a:srgbClr val="FFFFFF"/>
                </a:solidFill>
                <a:ea typeface="华文中宋" pitchFamily="2" charset="-122"/>
                <a:cs typeface="Times New Roman" pitchFamily="18" charset="0"/>
              </a:rPr>
              <a:t>§4-4 </a:t>
            </a:r>
            <a:r>
              <a:rPr lang="zh-CN" altLang="en-US" sz="2000">
                <a:solidFill>
                  <a:srgbClr val="FFFFFF"/>
                </a:solidFill>
                <a:ea typeface="华文中宋" pitchFamily="2" charset="-122"/>
                <a:cs typeface="Times New Roman" pitchFamily="18" charset="0"/>
              </a:rPr>
              <a:t>相对论的时空观</a:t>
            </a:r>
          </a:p>
        </p:txBody>
      </p:sp>
    </p:spTree>
    <p:extLst>
      <p:ext uri="{BB962C8B-B14F-4D97-AF65-F5344CB8AC3E}">
        <p14:creationId xmlns:p14="http://schemas.microsoft.com/office/powerpoint/2010/main" val="285693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516688" y="325438"/>
            <a:ext cx="237648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en-US" altLang="zh-CN" sz="2000">
                <a:solidFill>
                  <a:srgbClr val="FFFFFF"/>
                </a:solidFill>
                <a:ea typeface="华文中宋" pitchFamily="2" charset="-122"/>
                <a:cs typeface="Times New Roman" pitchFamily="18" charset="0"/>
              </a:rPr>
              <a:t>§4-5 </a:t>
            </a:r>
            <a:r>
              <a:rPr lang="zh-CN" altLang="en-US" sz="2000">
                <a:solidFill>
                  <a:srgbClr val="FFFFFF"/>
                </a:solidFill>
                <a:ea typeface="华文中宋" pitchFamily="2" charset="-122"/>
                <a:cs typeface="Times New Roman" pitchFamily="18" charset="0"/>
              </a:rPr>
              <a:t>相对论动力学</a:t>
            </a:r>
          </a:p>
        </p:txBody>
      </p:sp>
    </p:spTree>
    <p:extLst>
      <p:ext uri="{BB962C8B-B14F-4D97-AF65-F5344CB8AC3E}">
        <p14:creationId xmlns:p14="http://schemas.microsoft.com/office/powerpoint/2010/main" val="765245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15000"/>
              </a:lnSpc>
            </a:pPr>
            <a:r>
              <a:rPr lang="zh-CN" altLang="en-US" sz="2000">
                <a:solidFill>
                  <a:srgbClr val="FFFFFF"/>
                </a:solidFill>
                <a:ea typeface="华文中宋" pitchFamily="2" charset="-122"/>
                <a:cs typeface="Times New Roman" pitchFamily="18" charset="0"/>
              </a:rPr>
              <a:t>本章小结</a:t>
            </a:r>
          </a:p>
        </p:txBody>
      </p:sp>
    </p:spTree>
    <p:extLst>
      <p:ext uri="{BB962C8B-B14F-4D97-AF65-F5344CB8AC3E}">
        <p14:creationId xmlns:p14="http://schemas.microsoft.com/office/powerpoint/2010/main" val="547615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8727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8989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0-0-&#24635;&#30446;&#24405;.pptx"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userDrawn="1"/>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b="0"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1028" name="图片 10"/>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301625" y="85725"/>
            <a:ext cx="52546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TextBox 11"/>
          <p:cNvSpPr txBox="1">
            <a:spLocks noChangeArrowheads="1"/>
          </p:cNvSpPr>
          <p:nvPr userDrawn="1"/>
        </p:nvSpPr>
        <p:spPr bwMode="auto">
          <a:xfrm>
            <a:off x="1246188" y="411163"/>
            <a:ext cx="2379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800" b="0" dirty="0" smtClean="0">
                <a:solidFill>
                  <a:prstClr val="white"/>
                </a:solidFill>
                <a:latin typeface="Calibri" pitchFamily="34" charset="0"/>
              </a:rPr>
              <a:t>大学物理学（第</a:t>
            </a:r>
            <a:r>
              <a:rPr lang="en-US" altLang="zh-CN" sz="1800" b="0" dirty="0" smtClean="0">
                <a:solidFill>
                  <a:prstClr val="white"/>
                </a:solidFill>
                <a:latin typeface="Calibri" pitchFamily="34" charset="0"/>
              </a:rPr>
              <a:t>5</a:t>
            </a:r>
            <a:r>
              <a:rPr lang="zh-CN" altLang="en-US" sz="1800" b="0" dirty="0" smtClean="0">
                <a:solidFill>
                  <a:prstClr val="white"/>
                </a:solidFill>
                <a:latin typeface="Calibri" pitchFamily="34" charset="0"/>
              </a:rPr>
              <a:t>版）</a:t>
            </a:r>
            <a:endParaRPr lang="zh-CN" altLang="en-US" sz="1800" b="0" dirty="0">
              <a:solidFill>
                <a:prstClr val="white"/>
              </a:solidFill>
              <a:latin typeface="Calibri" pitchFamily="34" charset="0"/>
            </a:endParaRPr>
          </a:p>
        </p:txBody>
      </p:sp>
      <p:sp>
        <p:nvSpPr>
          <p:cNvPr id="1030" name="TextBox 12"/>
          <p:cNvSpPr txBox="1">
            <a:spLocks noChangeArrowheads="1"/>
          </p:cNvSpPr>
          <p:nvPr userDrawn="1"/>
        </p:nvSpPr>
        <p:spPr bwMode="auto">
          <a:xfrm>
            <a:off x="827088" y="134938"/>
            <a:ext cx="3775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400" b="0"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userDrawn="1"/>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b="0" noProof="1">
              <a:solidFill>
                <a:prstClr val="white"/>
              </a:solidFill>
            </a:endParaRPr>
          </a:p>
        </p:txBody>
      </p:sp>
      <p:sp>
        <p:nvSpPr>
          <p:cNvPr id="28" name="矩形 27">
            <a:hlinkClick r:id="" action="ppaction://hlinkshowjump?jump=previousslide"/>
          </p:cNvPr>
          <p:cNvSpPr/>
          <p:nvPr userDrawn="1"/>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userDrawn="1"/>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userDrawn="1"/>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1035" name="矩形 16">
            <a:hlinkClick r:id="" action="ppaction://hlinkshowjump?jump=nextslide"/>
          </p:cNvPr>
          <p:cNvSpPr>
            <a:spLocks noChangeArrowheads="1"/>
          </p:cNvSpPr>
          <p:nvPr userDrawn="1"/>
        </p:nvSpPr>
        <p:spPr bwMode="auto">
          <a:xfrm>
            <a:off x="8361363" y="4732338"/>
            <a:ext cx="6842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b="0">
                <a:solidFill>
                  <a:srgbClr val="FFFFFF"/>
                </a:solidFill>
                <a:latin typeface="方正舒体" pitchFamily="2" charset="-122"/>
                <a:ea typeface="方正舒体" pitchFamily="2" charset="-122"/>
              </a:rPr>
              <a:t>下一页</a:t>
            </a:r>
          </a:p>
        </p:txBody>
      </p:sp>
      <p:sp>
        <p:nvSpPr>
          <p:cNvPr id="1036" name="矩形 30">
            <a:hlinkClick r:id="" action="ppaction://hlinkshowjump?jump=previousslide"/>
          </p:cNvPr>
          <p:cNvSpPr>
            <a:spLocks noChangeArrowheads="1"/>
          </p:cNvSpPr>
          <p:nvPr userDrawn="1"/>
        </p:nvSpPr>
        <p:spPr bwMode="auto">
          <a:xfrm>
            <a:off x="7539038" y="4732338"/>
            <a:ext cx="6842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b="0">
                <a:solidFill>
                  <a:srgbClr val="FFFFFF"/>
                </a:solidFill>
                <a:latin typeface="方正舒体" pitchFamily="2" charset="-122"/>
                <a:ea typeface="方正舒体" pitchFamily="2" charset="-122"/>
              </a:rPr>
              <a:t>上一页</a:t>
            </a:r>
          </a:p>
        </p:txBody>
      </p:sp>
      <p:sp>
        <p:nvSpPr>
          <p:cNvPr id="1037" name="矩形 1024">
            <a:hlinkClick r:id="" action="ppaction://hlinkshowjump?jump=firstslide"/>
          </p:cNvPr>
          <p:cNvSpPr>
            <a:spLocks noChangeArrowheads="1"/>
          </p:cNvSpPr>
          <p:nvPr userDrawn="1"/>
        </p:nvSpPr>
        <p:spPr bwMode="auto">
          <a:xfrm>
            <a:off x="6767513" y="4727575"/>
            <a:ext cx="6842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b="0">
                <a:solidFill>
                  <a:srgbClr val="FFFFFF"/>
                </a:solidFill>
                <a:latin typeface="方正舒体" pitchFamily="2" charset="-122"/>
                <a:ea typeface="方正舒体" pitchFamily="2" charset="-122"/>
              </a:rPr>
              <a:t>节目录</a:t>
            </a:r>
          </a:p>
        </p:txBody>
      </p:sp>
      <p:sp>
        <p:nvSpPr>
          <p:cNvPr id="38" name="矩形 37">
            <a:hlinkClick r:id="rId12" action="ppaction://hlinkpres?slideindex=1&amp;slidetitle="/>
          </p:cNvPr>
          <p:cNvSpPr/>
          <p:nvPr userDrawn="1"/>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b="0" dirty="0">
              <a:solidFill>
                <a:prstClr val="white"/>
              </a:solidFill>
              <a:latin typeface="方正舒体" panose="02010601030101010101" pitchFamily="2" charset="-122"/>
              <a:ea typeface="方正舒体" panose="02010601030101010101" pitchFamily="2" charset="-122"/>
            </a:endParaRPr>
          </a:p>
        </p:txBody>
      </p:sp>
      <p:sp>
        <p:nvSpPr>
          <p:cNvPr id="1039" name="矩形 36">
            <a:hlinkClick r:id="rId12" action="ppaction://hlinkpres?slideindex=1&amp;slidetitle="/>
          </p:cNvPr>
          <p:cNvSpPr>
            <a:spLocks noChangeArrowheads="1"/>
          </p:cNvSpPr>
          <p:nvPr userDrawn="1"/>
        </p:nvSpPr>
        <p:spPr bwMode="auto">
          <a:xfrm>
            <a:off x="5938838" y="4732338"/>
            <a:ext cx="685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300" b="0" dirty="0">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19" r:id="rId9"/>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 Target="slide5.xml"/><Relationship Id="rId7" Type="http://schemas.openxmlformats.org/officeDocument/2006/relationships/slide" Target="slide5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32.xml"/><Relationship Id="rId5" Type="http://schemas.openxmlformats.org/officeDocument/2006/relationships/slide" Target="slide20.xml"/><Relationship Id="rId4" Type="http://schemas.openxmlformats.org/officeDocument/2006/relationships/audio" Target="../media/audio1.wav"/></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9.w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0.bin"/><Relationship Id="rId18" Type="http://schemas.openxmlformats.org/officeDocument/2006/relationships/image" Target="../media/image18.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5.wmf"/><Relationship Id="rId17" Type="http://schemas.openxmlformats.org/officeDocument/2006/relationships/oleObject" Target="../embeddings/oleObject12.bin"/><Relationship Id="rId2" Type="http://schemas.openxmlformats.org/officeDocument/2006/relationships/slideLayout" Target="../slideLayouts/slideLayout2.xml"/><Relationship Id="rId16" Type="http://schemas.openxmlformats.org/officeDocument/2006/relationships/image" Target="../media/image17.wmf"/><Relationship Id="rId1" Type="http://schemas.openxmlformats.org/officeDocument/2006/relationships/vmlDrawing" Target="../drawings/vmlDrawing3.vml"/><Relationship Id="rId6" Type="http://schemas.openxmlformats.org/officeDocument/2006/relationships/image" Target="../media/image12.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8.bin"/><Relationship Id="rId14" Type="http://schemas.openxmlformats.org/officeDocument/2006/relationships/image" Target="../media/image16.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notesSlide" Target="../notesSlides/notesSlide5.xml"/><Relationship Id="rId7" Type="http://schemas.openxmlformats.org/officeDocument/2006/relationships/image" Target="../media/image21.wmf"/><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oleObject" Target="../embeddings/oleObject14.bin"/><Relationship Id="rId5" Type="http://schemas.openxmlformats.org/officeDocument/2006/relationships/image" Target="../media/image20.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22.wmf"/></Relationships>
</file>

<file path=ppt/slides/_rels/slide13.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5.wmf"/><Relationship Id="rId18" Type="http://schemas.openxmlformats.org/officeDocument/2006/relationships/image" Target="../media/image35.png"/><Relationship Id="rId3" Type="http://schemas.openxmlformats.org/officeDocument/2006/relationships/notesSlide" Target="../notesSlides/notesSlide6.xml"/><Relationship Id="rId21" Type="http://schemas.openxmlformats.org/officeDocument/2006/relationships/oleObject" Target="../embeddings/oleObject23.bin"/><Relationship Id="rId7" Type="http://schemas.openxmlformats.org/officeDocument/2006/relationships/oleObject" Target="../embeddings/oleObject17.bin"/><Relationship Id="rId12" Type="http://schemas.openxmlformats.org/officeDocument/2006/relationships/oleObject" Target="../embeddings/oleObject19.bin"/><Relationship Id="rId17" Type="http://schemas.openxmlformats.org/officeDocument/2006/relationships/image" Target="../media/image27.wmf"/><Relationship Id="rId25" Type="http://schemas.openxmlformats.org/officeDocument/2006/relationships/image" Target="../media/image30.wmf"/><Relationship Id="rId2" Type="http://schemas.openxmlformats.org/officeDocument/2006/relationships/slideLayout" Target="../slideLayouts/slideLayout3.xml"/><Relationship Id="rId16" Type="http://schemas.openxmlformats.org/officeDocument/2006/relationships/oleObject" Target="../embeddings/oleObject21.bin"/><Relationship Id="rId20" Type="http://schemas.openxmlformats.org/officeDocument/2006/relationships/image" Target="../media/image28.wmf"/><Relationship Id="rId1" Type="http://schemas.openxmlformats.org/officeDocument/2006/relationships/vmlDrawing" Target="../drawings/vmlDrawing5.vml"/><Relationship Id="rId6" Type="http://schemas.openxmlformats.org/officeDocument/2006/relationships/image" Target="../media/image33.wmf"/><Relationship Id="rId11" Type="http://schemas.openxmlformats.org/officeDocument/2006/relationships/image" Target="../media/image34.png"/><Relationship Id="rId24" Type="http://schemas.openxmlformats.org/officeDocument/2006/relationships/oleObject" Target="../embeddings/oleObject25.bin"/><Relationship Id="rId5" Type="http://schemas.openxmlformats.org/officeDocument/2006/relationships/image" Target="../media/image32.jpeg"/><Relationship Id="rId15" Type="http://schemas.openxmlformats.org/officeDocument/2006/relationships/image" Target="../media/image26.wmf"/><Relationship Id="rId23" Type="http://schemas.openxmlformats.org/officeDocument/2006/relationships/oleObject" Target="../embeddings/oleObject24.bin"/><Relationship Id="rId10" Type="http://schemas.openxmlformats.org/officeDocument/2006/relationships/image" Target="../media/image24.wmf"/><Relationship Id="rId19" Type="http://schemas.openxmlformats.org/officeDocument/2006/relationships/oleObject" Target="../embeddings/oleObject22.bin"/><Relationship Id="rId4" Type="http://schemas.openxmlformats.org/officeDocument/2006/relationships/image" Target="../media/image31.wmf"/><Relationship Id="rId9" Type="http://schemas.openxmlformats.org/officeDocument/2006/relationships/oleObject" Target="../embeddings/oleObject18.bin"/><Relationship Id="rId14" Type="http://schemas.openxmlformats.org/officeDocument/2006/relationships/oleObject" Target="../embeddings/oleObject20.bin"/><Relationship Id="rId22" Type="http://schemas.openxmlformats.org/officeDocument/2006/relationships/image" Target="../media/image29.wmf"/></Relationships>
</file>

<file path=ppt/slides/_rels/slide14.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31.bin"/><Relationship Id="rId18" Type="http://schemas.openxmlformats.org/officeDocument/2006/relationships/image" Target="../media/image43.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40.wmf"/><Relationship Id="rId17" Type="http://schemas.openxmlformats.org/officeDocument/2006/relationships/oleObject" Target="../embeddings/oleObject33.bin"/><Relationship Id="rId2" Type="http://schemas.openxmlformats.org/officeDocument/2006/relationships/slideLayout" Target="../slideLayouts/slideLayout3.xml"/><Relationship Id="rId16" Type="http://schemas.openxmlformats.org/officeDocument/2006/relationships/image" Target="../media/image42.wmf"/><Relationship Id="rId20" Type="http://schemas.openxmlformats.org/officeDocument/2006/relationships/image" Target="../media/image44.wmf"/><Relationship Id="rId1" Type="http://schemas.openxmlformats.org/officeDocument/2006/relationships/vmlDrawing" Target="../drawings/vmlDrawing6.vml"/><Relationship Id="rId6" Type="http://schemas.openxmlformats.org/officeDocument/2006/relationships/image" Target="../media/image37.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10" Type="http://schemas.openxmlformats.org/officeDocument/2006/relationships/image" Target="../media/image39.wmf"/><Relationship Id="rId19" Type="http://schemas.openxmlformats.org/officeDocument/2006/relationships/oleObject" Target="../embeddings/oleObject34.bin"/><Relationship Id="rId4" Type="http://schemas.openxmlformats.org/officeDocument/2006/relationships/image" Target="../media/image36.wmf"/><Relationship Id="rId9" Type="http://schemas.openxmlformats.org/officeDocument/2006/relationships/oleObject" Target="../embeddings/oleObject29.bin"/><Relationship Id="rId14" Type="http://schemas.openxmlformats.org/officeDocument/2006/relationships/image" Target="../media/image41.wmf"/></Relationships>
</file>

<file path=ppt/slides/_rels/slide1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audio" Target="../media/audio2.wav"/><Relationship Id="rId1" Type="http://schemas.openxmlformats.org/officeDocument/2006/relationships/slideLayout" Target="../slideLayouts/slideLayout3.xml"/><Relationship Id="rId4" Type="http://schemas.openxmlformats.org/officeDocument/2006/relationships/image" Target="../media/image46.gi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oleObject" Target="../embeddings/oleObject40.bin"/><Relationship Id="rId3" Type="http://schemas.openxmlformats.org/officeDocument/2006/relationships/image" Target="../media/image52.jpeg"/><Relationship Id="rId7" Type="http://schemas.openxmlformats.org/officeDocument/2006/relationships/image" Target="../media/image48.wmf"/><Relationship Id="rId12" Type="http://schemas.openxmlformats.org/officeDocument/2006/relationships/image" Target="../media/image50.wmf"/><Relationship Id="rId2" Type="http://schemas.openxmlformats.org/officeDocument/2006/relationships/slideLayout" Target="../slideLayouts/slideLayout3.xml"/><Relationship Id="rId1" Type="http://schemas.openxmlformats.org/officeDocument/2006/relationships/vmlDrawing" Target="../drawings/vmlDrawing7.vml"/><Relationship Id="rId6" Type="http://schemas.openxmlformats.org/officeDocument/2006/relationships/oleObject" Target="../embeddings/oleObject36.bin"/><Relationship Id="rId11" Type="http://schemas.openxmlformats.org/officeDocument/2006/relationships/oleObject" Target="../embeddings/oleObject39.bin"/><Relationship Id="rId5" Type="http://schemas.openxmlformats.org/officeDocument/2006/relationships/image" Target="../media/image47.wmf"/><Relationship Id="rId10" Type="http://schemas.openxmlformats.org/officeDocument/2006/relationships/image" Target="../media/image49.wmf"/><Relationship Id="rId4" Type="http://schemas.openxmlformats.org/officeDocument/2006/relationships/oleObject" Target="../embeddings/oleObject35.bin"/><Relationship Id="rId9" Type="http://schemas.openxmlformats.org/officeDocument/2006/relationships/oleObject" Target="../embeddings/oleObject38.bin"/><Relationship Id="rId14" Type="http://schemas.openxmlformats.org/officeDocument/2006/relationships/image" Target="../media/image51.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audio" Target="../media/audio2.wav"/><Relationship Id="rId7" Type="http://schemas.openxmlformats.org/officeDocument/2006/relationships/image" Target="../media/image54.wmf"/><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oleObject" Target="../embeddings/oleObject42.bin"/><Relationship Id="rId11" Type="http://schemas.openxmlformats.org/officeDocument/2006/relationships/image" Target="../media/image56.wmf"/><Relationship Id="rId5" Type="http://schemas.openxmlformats.org/officeDocument/2006/relationships/image" Target="../media/image53.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55.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58.wmf"/><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46.bin"/><Relationship Id="rId5" Type="http://schemas.openxmlformats.org/officeDocument/2006/relationships/image" Target="../media/image57.wmf"/><Relationship Id="rId4" Type="http://schemas.openxmlformats.org/officeDocument/2006/relationships/oleObject" Target="../embeddings/oleObject45.bin"/></Relationships>
</file>

<file path=ppt/slides/_rels/slide22.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52.bin"/><Relationship Id="rId18" Type="http://schemas.openxmlformats.org/officeDocument/2006/relationships/image" Target="../media/image66.wmf"/><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63.wmf"/><Relationship Id="rId17" Type="http://schemas.openxmlformats.org/officeDocument/2006/relationships/oleObject" Target="../embeddings/oleObject54.bin"/><Relationship Id="rId2" Type="http://schemas.openxmlformats.org/officeDocument/2006/relationships/slideLayout" Target="../slideLayouts/slideLayout4.xml"/><Relationship Id="rId16" Type="http://schemas.openxmlformats.org/officeDocument/2006/relationships/image" Target="../media/image65.wmf"/><Relationship Id="rId1" Type="http://schemas.openxmlformats.org/officeDocument/2006/relationships/vmlDrawing" Target="../drawings/vmlDrawing10.vml"/><Relationship Id="rId6" Type="http://schemas.openxmlformats.org/officeDocument/2006/relationships/image" Target="../media/image60.wmf"/><Relationship Id="rId11" Type="http://schemas.openxmlformats.org/officeDocument/2006/relationships/oleObject" Target="../embeddings/oleObject51.bin"/><Relationship Id="rId5" Type="http://schemas.openxmlformats.org/officeDocument/2006/relationships/oleObject" Target="../embeddings/oleObject48.bin"/><Relationship Id="rId15" Type="http://schemas.openxmlformats.org/officeDocument/2006/relationships/oleObject" Target="../embeddings/oleObject53.bin"/><Relationship Id="rId10" Type="http://schemas.openxmlformats.org/officeDocument/2006/relationships/image" Target="../media/image62.wmf"/><Relationship Id="rId4" Type="http://schemas.openxmlformats.org/officeDocument/2006/relationships/image" Target="../media/image59.wmf"/><Relationship Id="rId9" Type="http://schemas.openxmlformats.org/officeDocument/2006/relationships/oleObject" Target="../embeddings/oleObject50.bin"/><Relationship Id="rId14" Type="http://schemas.openxmlformats.org/officeDocument/2006/relationships/image" Target="../media/image64.wmf"/></Relationships>
</file>

<file path=ppt/slides/_rels/slide23.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71.wmf"/><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68.wmf"/><Relationship Id="rId11" Type="http://schemas.openxmlformats.org/officeDocument/2006/relationships/oleObject" Target="../embeddings/oleObject59.bin"/><Relationship Id="rId5" Type="http://schemas.openxmlformats.org/officeDocument/2006/relationships/oleObject" Target="../embeddings/oleObject56.bin"/><Relationship Id="rId10" Type="http://schemas.openxmlformats.org/officeDocument/2006/relationships/image" Target="../media/image70.wmf"/><Relationship Id="rId4" Type="http://schemas.openxmlformats.org/officeDocument/2006/relationships/image" Target="../media/image67.wmf"/><Relationship Id="rId9" Type="http://schemas.openxmlformats.org/officeDocument/2006/relationships/oleObject" Target="../embeddings/oleObject58.bin"/></Relationships>
</file>

<file path=ppt/slides/_rels/slide24.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60.bin"/><Relationship Id="rId7" Type="http://schemas.openxmlformats.org/officeDocument/2006/relationships/oleObject" Target="../embeddings/oleObject62.bin"/><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73.wmf"/><Relationship Id="rId5" Type="http://schemas.openxmlformats.org/officeDocument/2006/relationships/oleObject" Target="../embeddings/oleObject61.bin"/><Relationship Id="rId4" Type="http://schemas.openxmlformats.org/officeDocument/2006/relationships/image" Target="../media/image72.wmf"/></Relationships>
</file>

<file path=ppt/slides/_rels/slide25.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image" Target="../media/image75.wmf"/><Relationship Id="rId5" Type="http://schemas.openxmlformats.org/officeDocument/2006/relationships/oleObject" Target="../embeddings/oleObject64.bin"/><Relationship Id="rId4" Type="http://schemas.openxmlformats.org/officeDocument/2006/relationships/image" Target="../media/image72.wmf"/></Relationships>
</file>

<file path=ppt/slides/_rels/slide26.xml.rels><?xml version="1.0" encoding="UTF-8" standalone="yes"?>
<Relationships xmlns="http://schemas.openxmlformats.org/package/2006/relationships"><Relationship Id="rId8" Type="http://schemas.openxmlformats.org/officeDocument/2006/relationships/image" Target="../media/image79.wmf"/><Relationship Id="rId13" Type="http://schemas.openxmlformats.org/officeDocument/2006/relationships/oleObject" Target="../embeddings/oleObject71.bin"/><Relationship Id="rId3" Type="http://schemas.openxmlformats.org/officeDocument/2006/relationships/oleObject" Target="../embeddings/oleObject66.bin"/><Relationship Id="rId7" Type="http://schemas.openxmlformats.org/officeDocument/2006/relationships/oleObject" Target="../embeddings/oleObject68.bin"/><Relationship Id="rId12" Type="http://schemas.openxmlformats.org/officeDocument/2006/relationships/image" Target="../media/image81.wmf"/><Relationship Id="rId2" Type="http://schemas.openxmlformats.org/officeDocument/2006/relationships/slideLayout" Target="../slideLayouts/slideLayout4.xml"/><Relationship Id="rId16" Type="http://schemas.openxmlformats.org/officeDocument/2006/relationships/image" Target="../media/image83.wmf"/><Relationship Id="rId1" Type="http://schemas.openxmlformats.org/officeDocument/2006/relationships/vmlDrawing" Target="../drawings/vmlDrawing14.vml"/><Relationship Id="rId6" Type="http://schemas.openxmlformats.org/officeDocument/2006/relationships/image" Target="../media/image78.wmf"/><Relationship Id="rId11" Type="http://schemas.openxmlformats.org/officeDocument/2006/relationships/oleObject" Target="../embeddings/oleObject70.bin"/><Relationship Id="rId5" Type="http://schemas.openxmlformats.org/officeDocument/2006/relationships/oleObject" Target="../embeddings/oleObject67.bin"/><Relationship Id="rId15" Type="http://schemas.openxmlformats.org/officeDocument/2006/relationships/oleObject" Target="../embeddings/oleObject72.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69.bin"/><Relationship Id="rId14" Type="http://schemas.openxmlformats.org/officeDocument/2006/relationships/image" Target="../media/image82.wmf"/></Relationships>
</file>

<file path=ppt/slides/_rels/slide27.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image" Target="../media/image85.wmf"/><Relationship Id="rId5" Type="http://schemas.openxmlformats.org/officeDocument/2006/relationships/oleObject" Target="../embeddings/oleObject74.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76.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79.bin"/><Relationship Id="rId3" Type="http://schemas.openxmlformats.org/officeDocument/2006/relationships/notesSlide" Target="../notesSlides/notesSlide11.xml"/><Relationship Id="rId7" Type="http://schemas.openxmlformats.org/officeDocument/2006/relationships/image" Target="../media/image89.wmf"/><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oleObject" Target="../embeddings/oleObject78.bin"/><Relationship Id="rId11" Type="http://schemas.openxmlformats.org/officeDocument/2006/relationships/image" Target="../media/image91.wmf"/><Relationship Id="rId5" Type="http://schemas.openxmlformats.org/officeDocument/2006/relationships/image" Target="../media/image88.wmf"/><Relationship Id="rId10" Type="http://schemas.openxmlformats.org/officeDocument/2006/relationships/oleObject" Target="../embeddings/oleObject80.bin"/><Relationship Id="rId4" Type="http://schemas.openxmlformats.org/officeDocument/2006/relationships/oleObject" Target="../embeddings/oleObject77.bin"/><Relationship Id="rId9" Type="http://schemas.openxmlformats.org/officeDocument/2006/relationships/image" Target="../media/image90.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96.wmf"/><Relationship Id="rId3" Type="http://schemas.openxmlformats.org/officeDocument/2006/relationships/notesSlide" Target="../notesSlides/notesSlide12.xml"/><Relationship Id="rId7" Type="http://schemas.openxmlformats.org/officeDocument/2006/relationships/image" Target="../media/image93.wmf"/><Relationship Id="rId12" Type="http://schemas.openxmlformats.org/officeDocument/2006/relationships/oleObject" Target="../embeddings/oleObject85.bin"/><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82.bin"/><Relationship Id="rId11" Type="http://schemas.openxmlformats.org/officeDocument/2006/relationships/image" Target="../media/image95.wmf"/><Relationship Id="rId5" Type="http://schemas.openxmlformats.org/officeDocument/2006/relationships/image" Target="../media/image92.wmf"/><Relationship Id="rId15" Type="http://schemas.openxmlformats.org/officeDocument/2006/relationships/image" Target="../media/image97.wmf"/><Relationship Id="rId10" Type="http://schemas.openxmlformats.org/officeDocument/2006/relationships/oleObject" Target="../embeddings/oleObject84.bin"/><Relationship Id="rId4" Type="http://schemas.openxmlformats.org/officeDocument/2006/relationships/oleObject" Target="../embeddings/oleObject81.bin"/><Relationship Id="rId9" Type="http://schemas.openxmlformats.org/officeDocument/2006/relationships/image" Target="../media/image94.wmf"/><Relationship Id="rId14" Type="http://schemas.openxmlformats.org/officeDocument/2006/relationships/oleObject" Target="../embeddings/oleObject86.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89.bin"/><Relationship Id="rId13" Type="http://schemas.openxmlformats.org/officeDocument/2006/relationships/image" Target="../media/image102.wmf"/><Relationship Id="rId3" Type="http://schemas.openxmlformats.org/officeDocument/2006/relationships/notesSlide" Target="../notesSlides/notesSlide13.xml"/><Relationship Id="rId7" Type="http://schemas.openxmlformats.org/officeDocument/2006/relationships/image" Target="../media/image99.wmf"/><Relationship Id="rId12" Type="http://schemas.openxmlformats.org/officeDocument/2006/relationships/oleObject" Target="../embeddings/oleObject91.bin"/><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88.bin"/><Relationship Id="rId11" Type="http://schemas.openxmlformats.org/officeDocument/2006/relationships/image" Target="../media/image101.wmf"/><Relationship Id="rId5" Type="http://schemas.openxmlformats.org/officeDocument/2006/relationships/image" Target="../media/image98.wmf"/><Relationship Id="rId15" Type="http://schemas.openxmlformats.org/officeDocument/2006/relationships/image" Target="../media/image103.wmf"/><Relationship Id="rId10" Type="http://schemas.openxmlformats.org/officeDocument/2006/relationships/oleObject" Target="../embeddings/oleObject90.bin"/><Relationship Id="rId4" Type="http://schemas.openxmlformats.org/officeDocument/2006/relationships/oleObject" Target="../embeddings/oleObject87.bin"/><Relationship Id="rId9" Type="http://schemas.openxmlformats.org/officeDocument/2006/relationships/image" Target="../media/image100.wmf"/><Relationship Id="rId14" Type="http://schemas.openxmlformats.org/officeDocument/2006/relationships/oleObject" Target="../embeddings/oleObject92.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image" Target="../media/image108.wmf"/><Relationship Id="rId18" Type="http://schemas.openxmlformats.org/officeDocument/2006/relationships/oleObject" Target="../embeddings/oleObject100.bin"/><Relationship Id="rId3" Type="http://schemas.openxmlformats.org/officeDocument/2006/relationships/notesSlide" Target="../notesSlides/notesSlide14.xml"/><Relationship Id="rId21" Type="http://schemas.openxmlformats.org/officeDocument/2006/relationships/image" Target="../media/image112.wmf"/><Relationship Id="rId7" Type="http://schemas.openxmlformats.org/officeDocument/2006/relationships/image" Target="../media/image105.wmf"/><Relationship Id="rId12" Type="http://schemas.openxmlformats.org/officeDocument/2006/relationships/oleObject" Target="../embeddings/oleObject97.bin"/><Relationship Id="rId17" Type="http://schemas.openxmlformats.org/officeDocument/2006/relationships/image" Target="../media/image110.wmf"/><Relationship Id="rId2" Type="http://schemas.openxmlformats.org/officeDocument/2006/relationships/slideLayout" Target="../slideLayouts/slideLayout4.xml"/><Relationship Id="rId16" Type="http://schemas.openxmlformats.org/officeDocument/2006/relationships/oleObject" Target="../embeddings/oleObject99.bin"/><Relationship Id="rId20" Type="http://schemas.openxmlformats.org/officeDocument/2006/relationships/oleObject" Target="../embeddings/oleObject101.bin"/><Relationship Id="rId1" Type="http://schemas.openxmlformats.org/officeDocument/2006/relationships/vmlDrawing" Target="../drawings/vmlDrawing19.vml"/><Relationship Id="rId6" Type="http://schemas.openxmlformats.org/officeDocument/2006/relationships/oleObject" Target="../embeddings/oleObject94.bin"/><Relationship Id="rId11" Type="http://schemas.openxmlformats.org/officeDocument/2006/relationships/image" Target="../media/image107.wmf"/><Relationship Id="rId5" Type="http://schemas.openxmlformats.org/officeDocument/2006/relationships/image" Target="../media/image104.wmf"/><Relationship Id="rId15" Type="http://schemas.openxmlformats.org/officeDocument/2006/relationships/image" Target="../media/image109.wmf"/><Relationship Id="rId10" Type="http://schemas.openxmlformats.org/officeDocument/2006/relationships/oleObject" Target="../embeddings/oleObject96.bin"/><Relationship Id="rId19" Type="http://schemas.openxmlformats.org/officeDocument/2006/relationships/image" Target="../media/image111.wmf"/><Relationship Id="rId4" Type="http://schemas.openxmlformats.org/officeDocument/2006/relationships/oleObject" Target="../embeddings/oleObject93.bin"/><Relationship Id="rId9" Type="http://schemas.openxmlformats.org/officeDocument/2006/relationships/image" Target="../media/image106.wmf"/><Relationship Id="rId14" Type="http://schemas.openxmlformats.org/officeDocument/2006/relationships/oleObject" Target="../embeddings/oleObject98.bin"/></Relationships>
</file>

<file path=ppt/slides/_rels/slide32.x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notesSlide" Target="../notesSlides/notesSlide15.xml"/><Relationship Id="rId7" Type="http://schemas.openxmlformats.org/officeDocument/2006/relationships/oleObject" Target="../embeddings/oleObject103.bin"/><Relationship Id="rId2" Type="http://schemas.openxmlformats.org/officeDocument/2006/relationships/slideLayout" Target="../slideLayouts/slideLayout5.xml"/><Relationship Id="rId1" Type="http://schemas.openxmlformats.org/officeDocument/2006/relationships/vmlDrawing" Target="../drawings/vmlDrawing20.vml"/><Relationship Id="rId6" Type="http://schemas.openxmlformats.org/officeDocument/2006/relationships/image" Target="../media/image113.wmf"/><Relationship Id="rId5" Type="http://schemas.openxmlformats.org/officeDocument/2006/relationships/oleObject" Target="../embeddings/oleObject102.bin"/><Relationship Id="rId10" Type="http://schemas.openxmlformats.org/officeDocument/2006/relationships/image" Target="../media/image115.wmf"/><Relationship Id="rId4" Type="http://schemas.openxmlformats.org/officeDocument/2006/relationships/audio" Target="../media/audio3.wav"/><Relationship Id="rId9" Type="http://schemas.openxmlformats.org/officeDocument/2006/relationships/oleObject" Target="../embeddings/oleObject104.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19.emf"/><Relationship Id="rId3" Type="http://schemas.openxmlformats.org/officeDocument/2006/relationships/notesSlide" Target="../notesSlides/notesSlide16.xml"/><Relationship Id="rId7" Type="http://schemas.openxmlformats.org/officeDocument/2006/relationships/image" Target="../media/image116.emf"/><Relationship Id="rId12" Type="http://schemas.openxmlformats.org/officeDocument/2006/relationships/oleObject" Target="../embeddings/oleObject108.bin"/><Relationship Id="rId17" Type="http://schemas.openxmlformats.org/officeDocument/2006/relationships/image" Target="../media/image121.wmf"/><Relationship Id="rId2" Type="http://schemas.openxmlformats.org/officeDocument/2006/relationships/slideLayout" Target="../slideLayouts/slideLayout5.xml"/><Relationship Id="rId16" Type="http://schemas.openxmlformats.org/officeDocument/2006/relationships/oleObject" Target="../embeddings/oleObject110.bin"/><Relationship Id="rId1" Type="http://schemas.openxmlformats.org/officeDocument/2006/relationships/vmlDrawing" Target="../drawings/vmlDrawing21.vml"/><Relationship Id="rId6" Type="http://schemas.openxmlformats.org/officeDocument/2006/relationships/oleObject" Target="../embeddings/oleObject105.bin"/><Relationship Id="rId11" Type="http://schemas.openxmlformats.org/officeDocument/2006/relationships/image" Target="../media/image118.emf"/><Relationship Id="rId5" Type="http://schemas.openxmlformats.org/officeDocument/2006/relationships/image" Target="../media/image123.png"/><Relationship Id="rId15" Type="http://schemas.openxmlformats.org/officeDocument/2006/relationships/image" Target="../media/image120.wmf"/><Relationship Id="rId10" Type="http://schemas.openxmlformats.org/officeDocument/2006/relationships/oleObject" Target="../embeddings/oleObject107.bin"/><Relationship Id="rId4" Type="http://schemas.openxmlformats.org/officeDocument/2006/relationships/image" Target="../media/image122.png"/><Relationship Id="rId9" Type="http://schemas.openxmlformats.org/officeDocument/2006/relationships/image" Target="../media/image117.emf"/><Relationship Id="rId14" Type="http://schemas.openxmlformats.org/officeDocument/2006/relationships/oleObject" Target="../embeddings/oleObject109.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5.xml"/><Relationship Id="rId1" Type="http://schemas.openxmlformats.org/officeDocument/2006/relationships/vmlDrawing" Target="../drawings/vmlDrawing22.vml"/><Relationship Id="rId6" Type="http://schemas.openxmlformats.org/officeDocument/2006/relationships/image" Target="../media/image125.wmf"/><Relationship Id="rId5" Type="http://schemas.openxmlformats.org/officeDocument/2006/relationships/oleObject" Target="../embeddings/oleObject112.bin"/><Relationship Id="rId4" Type="http://schemas.openxmlformats.org/officeDocument/2006/relationships/image" Target="../media/image124.wmf"/></Relationships>
</file>

<file path=ppt/slides/_rels/slide3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117.bin"/><Relationship Id="rId18" Type="http://schemas.openxmlformats.org/officeDocument/2006/relationships/image" Target="../media/image132.wmf"/><Relationship Id="rId26" Type="http://schemas.openxmlformats.org/officeDocument/2006/relationships/image" Target="../media/image136.wmf"/><Relationship Id="rId3" Type="http://schemas.openxmlformats.org/officeDocument/2006/relationships/notesSlide" Target="../notesSlides/notesSlide18.xml"/><Relationship Id="rId21" Type="http://schemas.openxmlformats.org/officeDocument/2006/relationships/oleObject" Target="../embeddings/oleObject121.bin"/><Relationship Id="rId34" Type="http://schemas.openxmlformats.org/officeDocument/2006/relationships/image" Target="../media/image141.jpeg"/><Relationship Id="rId7" Type="http://schemas.openxmlformats.org/officeDocument/2006/relationships/oleObject" Target="../embeddings/oleObject114.bin"/><Relationship Id="rId12" Type="http://schemas.openxmlformats.org/officeDocument/2006/relationships/image" Target="../media/image129.wmf"/><Relationship Id="rId17" Type="http://schemas.openxmlformats.org/officeDocument/2006/relationships/oleObject" Target="../embeddings/oleObject119.bin"/><Relationship Id="rId25" Type="http://schemas.openxmlformats.org/officeDocument/2006/relationships/oleObject" Target="../embeddings/oleObject123.bin"/><Relationship Id="rId33" Type="http://schemas.openxmlformats.org/officeDocument/2006/relationships/image" Target="../media/image140.jpeg"/><Relationship Id="rId2" Type="http://schemas.openxmlformats.org/officeDocument/2006/relationships/slideLayout" Target="../slideLayouts/slideLayout5.xml"/><Relationship Id="rId16" Type="http://schemas.openxmlformats.org/officeDocument/2006/relationships/image" Target="../media/image131.wmf"/><Relationship Id="rId20" Type="http://schemas.openxmlformats.org/officeDocument/2006/relationships/image" Target="../media/image133.wmf"/><Relationship Id="rId29" Type="http://schemas.openxmlformats.org/officeDocument/2006/relationships/oleObject" Target="../embeddings/oleObject125.bin"/><Relationship Id="rId1" Type="http://schemas.openxmlformats.org/officeDocument/2006/relationships/vmlDrawing" Target="../drawings/vmlDrawing23.vml"/><Relationship Id="rId6" Type="http://schemas.openxmlformats.org/officeDocument/2006/relationships/image" Target="../media/image126.wmf"/><Relationship Id="rId11" Type="http://schemas.openxmlformats.org/officeDocument/2006/relationships/oleObject" Target="../embeddings/oleObject116.bin"/><Relationship Id="rId24" Type="http://schemas.openxmlformats.org/officeDocument/2006/relationships/image" Target="../media/image135.wmf"/><Relationship Id="rId32" Type="http://schemas.openxmlformats.org/officeDocument/2006/relationships/image" Target="../media/image139.wmf"/><Relationship Id="rId5" Type="http://schemas.openxmlformats.org/officeDocument/2006/relationships/oleObject" Target="../embeddings/oleObject113.bin"/><Relationship Id="rId15" Type="http://schemas.openxmlformats.org/officeDocument/2006/relationships/oleObject" Target="../embeddings/oleObject118.bin"/><Relationship Id="rId23" Type="http://schemas.openxmlformats.org/officeDocument/2006/relationships/oleObject" Target="../embeddings/oleObject122.bin"/><Relationship Id="rId28" Type="http://schemas.openxmlformats.org/officeDocument/2006/relationships/image" Target="../media/image137.wmf"/><Relationship Id="rId10" Type="http://schemas.openxmlformats.org/officeDocument/2006/relationships/image" Target="../media/image128.wmf"/><Relationship Id="rId19" Type="http://schemas.openxmlformats.org/officeDocument/2006/relationships/oleObject" Target="../embeddings/oleObject120.bin"/><Relationship Id="rId31" Type="http://schemas.openxmlformats.org/officeDocument/2006/relationships/oleObject" Target="../embeddings/oleObject126.bin"/><Relationship Id="rId4" Type="http://schemas.openxmlformats.org/officeDocument/2006/relationships/audio" Target="../media/audio1.wav"/><Relationship Id="rId9" Type="http://schemas.openxmlformats.org/officeDocument/2006/relationships/oleObject" Target="../embeddings/oleObject115.bin"/><Relationship Id="rId14" Type="http://schemas.openxmlformats.org/officeDocument/2006/relationships/image" Target="../media/image130.wmf"/><Relationship Id="rId22" Type="http://schemas.openxmlformats.org/officeDocument/2006/relationships/image" Target="../media/image134.wmf"/><Relationship Id="rId27" Type="http://schemas.openxmlformats.org/officeDocument/2006/relationships/oleObject" Target="../embeddings/oleObject124.bin"/><Relationship Id="rId30" Type="http://schemas.openxmlformats.org/officeDocument/2006/relationships/image" Target="../media/image138.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43.jpeg"/><Relationship Id="rId2" Type="http://schemas.openxmlformats.org/officeDocument/2006/relationships/slideLayout" Target="../slideLayouts/slideLayout5.xml"/><Relationship Id="rId1" Type="http://schemas.openxmlformats.org/officeDocument/2006/relationships/vmlDrawing" Target="../drawings/vmlDrawing24.vml"/><Relationship Id="rId6" Type="http://schemas.openxmlformats.org/officeDocument/2006/relationships/image" Target="../media/image142.wmf"/><Relationship Id="rId5" Type="http://schemas.openxmlformats.org/officeDocument/2006/relationships/oleObject" Target="../embeddings/oleObject127.bin"/><Relationship Id="rId4" Type="http://schemas.openxmlformats.org/officeDocument/2006/relationships/audio" Target="../media/audio1.wav"/></Relationships>
</file>

<file path=ppt/slides/_rels/slide38.x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notesSlide" Target="../notesSlides/notesSlide20.xml"/><Relationship Id="rId7" Type="http://schemas.openxmlformats.org/officeDocument/2006/relationships/oleObject" Target="../embeddings/oleObject129.bin"/><Relationship Id="rId12" Type="http://schemas.openxmlformats.org/officeDocument/2006/relationships/image" Target="../media/image147.wmf"/><Relationship Id="rId2" Type="http://schemas.openxmlformats.org/officeDocument/2006/relationships/slideLayout" Target="../slideLayouts/slideLayout5.xml"/><Relationship Id="rId1" Type="http://schemas.openxmlformats.org/officeDocument/2006/relationships/vmlDrawing" Target="../drawings/vmlDrawing25.vml"/><Relationship Id="rId6" Type="http://schemas.openxmlformats.org/officeDocument/2006/relationships/image" Target="../media/image144.wmf"/><Relationship Id="rId11" Type="http://schemas.openxmlformats.org/officeDocument/2006/relationships/oleObject" Target="../embeddings/oleObject131.bin"/><Relationship Id="rId5" Type="http://schemas.openxmlformats.org/officeDocument/2006/relationships/oleObject" Target="../embeddings/oleObject128.bin"/><Relationship Id="rId10" Type="http://schemas.openxmlformats.org/officeDocument/2006/relationships/image" Target="../media/image146.wmf"/><Relationship Id="rId4" Type="http://schemas.openxmlformats.org/officeDocument/2006/relationships/audio" Target="../media/audio1.wav"/><Relationship Id="rId9" Type="http://schemas.openxmlformats.org/officeDocument/2006/relationships/oleObject" Target="../embeddings/oleObject130.bin"/></Relationships>
</file>

<file path=ppt/slides/_rels/slide39.x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oleObject" Target="../embeddings/oleObject136.bin"/><Relationship Id="rId18" Type="http://schemas.openxmlformats.org/officeDocument/2006/relationships/image" Target="../media/image154.wmf"/><Relationship Id="rId3" Type="http://schemas.openxmlformats.org/officeDocument/2006/relationships/notesSlide" Target="../notesSlides/notesSlide21.xml"/><Relationship Id="rId7" Type="http://schemas.openxmlformats.org/officeDocument/2006/relationships/oleObject" Target="../embeddings/oleObject133.bin"/><Relationship Id="rId12" Type="http://schemas.openxmlformats.org/officeDocument/2006/relationships/image" Target="../media/image151.wmf"/><Relationship Id="rId17" Type="http://schemas.openxmlformats.org/officeDocument/2006/relationships/oleObject" Target="../embeddings/oleObject138.bin"/><Relationship Id="rId2" Type="http://schemas.openxmlformats.org/officeDocument/2006/relationships/slideLayout" Target="../slideLayouts/slideLayout5.xml"/><Relationship Id="rId16" Type="http://schemas.openxmlformats.org/officeDocument/2006/relationships/image" Target="../media/image153.wmf"/><Relationship Id="rId20" Type="http://schemas.openxmlformats.org/officeDocument/2006/relationships/image" Target="../media/image155.wmf"/><Relationship Id="rId1" Type="http://schemas.openxmlformats.org/officeDocument/2006/relationships/vmlDrawing" Target="../drawings/vmlDrawing26.vml"/><Relationship Id="rId6" Type="http://schemas.openxmlformats.org/officeDocument/2006/relationships/image" Target="../media/image148.wmf"/><Relationship Id="rId11" Type="http://schemas.openxmlformats.org/officeDocument/2006/relationships/oleObject" Target="../embeddings/oleObject135.bin"/><Relationship Id="rId5" Type="http://schemas.openxmlformats.org/officeDocument/2006/relationships/oleObject" Target="../embeddings/oleObject132.bin"/><Relationship Id="rId15" Type="http://schemas.openxmlformats.org/officeDocument/2006/relationships/oleObject" Target="../embeddings/oleObject137.bin"/><Relationship Id="rId10" Type="http://schemas.openxmlformats.org/officeDocument/2006/relationships/image" Target="../media/image150.wmf"/><Relationship Id="rId19" Type="http://schemas.openxmlformats.org/officeDocument/2006/relationships/oleObject" Target="../embeddings/oleObject139.bin"/><Relationship Id="rId4" Type="http://schemas.openxmlformats.org/officeDocument/2006/relationships/audio" Target="../media/audio4.wav"/><Relationship Id="rId9" Type="http://schemas.openxmlformats.org/officeDocument/2006/relationships/oleObject" Target="../embeddings/oleObject134.bin"/><Relationship Id="rId14" Type="http://schemas.openxmlformats.org/officeDocument/2006/relationships/image" Target="../media/image152.wmf"/></Relationships>
</file>

<file path=ppt/slides/_rels/slide40.xml.rels><?xml version="1.0" encoding="UTF-8" standalone="yes"?>
<Relationships xmlns="http://schemas.openxmlformats.org/package/2006/relationships"><Relationship Id="rId8" Type="http://schemas.openxmlformats.org/officeDocument/2006/relationships/image" Target="../media/image158.wmf"/><Relationship Id="rId13" Type="http://schemas.openxmlformats.org/officeDocument/2006/relationships/oleObject" Target="../embeddings/oleObject145.bin"/><Relationship Id="rId3" Type="http://schemas.openxmlformats.org/officeDocument/2006/relationships/oleObject" Target="../embeddings/oleObject140.bin"/><Relationship Id="rId7" Type="http://schemas.openxmlformats.org/officeDocument/2006/relationships/oleObject" Target="../embeddings/oleObject142.bin"/><Relationship Id="rId12" Type="http://schemas.openxmlformats.org/officeDocument/2006/relationships/image" Target="../media/image160.wmf"/><Relationship Id="rId2" Type="http://schemas.openxmlformats.org/officeDocument/2006/relationships/slideLayout" Target="../slideLayouts/slideLayout5.xml"/><Relationship Id="rId16" Type="http://schemas.openxmlformats.org/officeDocument/2006/relationships/image" Target="../media/image162.wmf"/><Relationship Id="rId1" Type="http://schemas.openxmlformats.org/officeDocument/2006/relationships/vmlDrawing" Target="../drawings/vmlDrawing27.vml"/><Relationship Id="rId6" Type="http://schemas.openxmlformats.org/officeDocument/2006/relationships/image" Target="../media/image157.wmf"/><Relationship Id="rId11" Type="http://schemas.openxmlformats.org/officeDocument/2006/relationships/oleObject" Target="../embeddings/oleObject144.bin"/><Relationship Id="rId5" Type="http://schemas.openxmlformats.org/officeDocument/2006/relationships/oleObject" Target="../embeddings/oleObject141.bin"/><Relationship Id="rId15" Type="http://schemas.openxmlformats.org/officeDocument/2006/relationships/oleObject" Target="../embeddings/oleObject146.bin"/><Relationship Id="rId10" Type="http://schemas.openxmlformats.org/officeDocument/2006/relationships/image" Target="../media/image159.wmf"/><Relationship Id="rId4" Type="http://schemas.openxmlformats.org/officeDocument/2006/relationships/image" Target="../media/image156.wmf"/><Relationship Id="rId9" Type="http://schemas.openxmlformats.org/officeDocument/2006/relationships/oleObject" Target="../embeddings/oleObject143.bin"/><Relationship Id="rId14" Type="http://schemas.openxmlformats.org/officeDocument/2006/relationships/image" Target="../media/image161.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8" Type="http://schemas.openxmlformats.org/officeDocument/2006/relationships/image" Target="../media/image165.wmf"/><Relationship Id="rId13" Type="http://schemas.openxmlformats.org/officeDocument/2006/relationships/oleObject" Target="../embeddings/oleObject152.bin"/><Relationship Id="rId3" Type="http://schemas.openxmlformats.org/officeDocument/2006/relationships/oleObject" Target="../embeddings/oleObject147.bin"/><Relationship Id="rId7" Type="http://schemas.openxmlformats.org/officeDocument/2006/relationships/oleObject" Target="../embeddings/oleObject149.bin"/><Relationship Id="rId12" Type="http://schemas.openxmlformats.org/officeDocument/2006/relationships/image" Target="../media/image167.wmf"/><Relationship Id="rId2" Type="http://schemas.openxmlformats.org/officeDocument/2006/relationships/slideLayout" Target="../slideLayouts/slideLayout5.xml"/><Relationship Id="rId1" Type="http://schemas.openxmlformats.org/officeDocument/2006/relationships/vmlDrawing" Target="../drawings/vmlDrawing28.vml"/><Relationship Id="rId6" Type="http://schemas.openxmlformats.org/officeDocument/2006/relationships/image" Target="../media/image164.wmf"/><Relationship Id="rId11" Type="http://schemas.openxmlformats.org/officeDocument/2006/relationships/oleObject" Target="../embeddings/oleObject151.bin"/><Relationship Id="rId5" Type="http://schemas.openxmlformats.org/officeDocument/2006/relationships/oleObject" Target="../embeddings/oleObject148.bin"/><Relationship Id="rId10" Type="http://schemas.openxmlformats.org/officeDocument/2006/relationships/image" Target="../media/image166.wmf"/><Relationship Id="rId4" Type="http://schemas.openxmlformats.org/officeDocument/2006/relationships/image" Target="../media/image163.wmf"/><Relationship Id="rId9" Type="http://schemas.openxmlformats.org/officeDocument/2006/relationships/oleObject" Target="../embeddings/oleObject150.bin"/><Relationship Id="rId14" Type="http://schemas.openxmlformats.org/officeDocument/2006/relationships/image" Target="../media/image168.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53.bin"/><Relationship Id="rId2" Type="http://schemas.openxmlformats.org/officeDocument/2006/relationships/slideLayout" Target="../slideLayouts/slideLayout5.xml"/><Relationship Id="rId1" Type="http://schemas.openxmlformats.org/officeDocument/2006/relationships/vmlDrawing" Target="../drawings/vmlDrawing29.vml"/><Relationship Id="rId4" Type="http://schemas.openxmlformats.org/officeDocument/2006/relationships/image" Target="../media/image169.png"/></Relationships>
</file>

<file path=ppt/slides/_rels/slide44.x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oleObject" Target="../embeddings/oleObject154.bin"/><Relationship Id="rId7" Type="http://schemas.openxmlformats.org/officeDocument/2006/relationships/oleObject" Target="../embeddings/oleObject156.bin"/><Relationship Id="rId2" Type="http://schemas.openxmlformats.org/officeDocument/2006/relationships/slideLayout" Target="../slideLayouts/slideLayout5.xml"/><Relationship Id="rId1" Type="http://schemas.openxmlformats.org/officeDocument/2006/relationships/vmlDrawing" Target="../drawings/vmlDrawing30.vml"/><Relationship Id="rId6" Type="http://schemas.openxmlformats.org/officeDocument/2006/relationships/image" Target="../media/image171.wmf"/><Relationship Id="rId5" Type="http://schemas.openxmlformats.org/officeDocument/2006/relationships/oleObject" Target="../embeddings/oleObject155.bin"/><Relationship Id="rId10" Type="http://schemas.openxmlformats.org/officeDocument/2006/relationships/image" Target="../media/image173.wmf"/><Relationship Id="rId4" Type="http://schemas.openxmlformats.org/officeDocument/2006/relationships/image" Target="../media/image170.wmf"/><Relationship Id="rId9" Type="http://schemas.openxmlformats.org/officeDocument/2006/relationships/oleObject" Target="../embeddings/oleObject157.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slideLayout" Target="../slideLayouts/slideLayout5.xml"/><Relationship Id="rId1" Type="http://schemas.openxmlformats.org/officeDocument/2006/relationships/vmlDrawing" Target="../drawings/vmlDrawing31.vml"/><Relationship Id="rId6" Type="http://schemas.openxmlformats.org/officeDocument/2006/relationships/image" Target="../media/image175.wmf"/><Relationship Id="rId5" Type="http://schemas.openxmlformats.org/officeDocument/2006/relationships/oleObject" Target="../embeddings/oleObject159.bin"/><Relationship Id="rId4" Type="http://schemas.openxmlformats.org/officeDocument/2006/relationships/image" Target="../media/image174.wmf"/></Relationships>
</file>

<file path=ppt/slides/_rels/slide46.x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oleObject" Target="../embeddings/oleObject160.bin"/><Relationship Id="rId7" Type="http://schemas.openxmlformats.org/officeDocument/2006/relationships/oleObject" Target="../embeddings/oleObject162.bin"/><Relationship Id="rId2" Type="http://schemas.openxmlformats.org/officeDocument/2006/relationships/slideLayout" Target="../slideLayouts/slideLayout5.xml"/><Relationship Id="rId1" Type="http://schemas.openxmlformats.org/officeDocument/2006/relationships/vmlDrawing" Target="../drawings/vmlDrawing32.vml"/><Relationship Id="rId6" Type="http://schemas.openxmlformats.org/officeDocument/2006/relationships/image" Target="../media/image177.wmf"/><Relationship Id="rId5" Type="http://schemas.openxmlformats.org/officeDocument/2006/relationships/oleObject" Target="../embeddings/oleObject161.bin"/><Relationship Id="rId4" Type="http://schemas.openxmlformats.org/officeDocument/2006/relationships/image" Target="../media/image176.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63.bin"/><Relationship Id="rId2" Type="http://schemas.openxmlformats.org/officeDocument/2006/relationships/slideLayout" Target="../slideLayouts/slideLayout5.xml"/><Relationship Id="rId1" Type="http://schemas.openxmlformats.org/officeDocument/2006/relationships/vmlDrawing" Target="../drawings/vmlDrawing33.vml"/><Relationship Id="rId6" Type="http://schemas.openxmlformats.org/officeDocument/2006/relationships/image" Target="../media/image180.wmf"/><Relationship Id="rId5" Type="http://schemas.openxmlformats.org/officeDocument/2006/relationships/oleObject" Target="../embeddings/oleObject164.bin"/><Relationship Id="rId4" Type="http://schemas.openxmlformats.org/officeDocument/2006/relationships/image" Target="../media/image179.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65.bin"/><Relationship Id="rId2" Type="http://schemas.openxmlformats.org/officeDocument/2006/relationships/slideLayout" Target="../slideLayouts/slideLayout5.xml"/><Relationship Id="rId1" Type="http://schemas.openxmlformats.org/officeDocument/2006/relationships/vmlDrawing" Target="../drawings/vmlDrawing34.vml"/><Relationship Id="rId4" Type="http://schemas.openxmlformats.org/officeDocument/2006/relationships/image" Target="../media/image181.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slideLayout" Target="../slideLayouts/slideLayout5.xml"/><Relationship Id="rId1" Type="http://schemas.openxmlformats.org/officeDocument/2006/relationships/vmlDrawing" Target="../drawings/vmlDrawing35.vml"/><Relationship Id="rId4" Type="http://schemas.openxmlformats.org/officeDocument/2006/relationships/image" Target="../media/image182.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67.bin"/><Relationship Id="rId2" Type="http://schemas.openxmlformats.org/officeDocument/2006/relationships/slideLayout" Target="../slideLayouts/slideLayout5.xml"/><Relationship Id="rId1" Type="http://schemas.openxmlformats.org/officeDocument/2006/relationships/vmlDrawing" Target="../drawings/vmlDrawing36.vml"/><Relationship Id="rId6" Type="http://schemas.openxmlformats.org/officeDocument/2006/relationships/image" Target="../media/image183.wmf"/><Relationship Id="rId5" Type="http://schemas.openxmlformats.org/officeDocument/2006/relationships/oleObject" Target="../embeddings/oleObject168.bin"/><Relationship Id="rId4" Type="http://schemas.openxmlformats.org/officeDocument/2006/relationships/image" Target="../media/image182.wmf"/></Relationships>
</file>

<file path=ppt/slides/_rels/slide51.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oleObject" Target="../embeddings/oleObject173.bin"/><Relationship Id="rId18" Type="http://schemas.openxmlformats.org/officeDocument/2006/relationships/image" Target="../media/image190.wmf"/><Relationship Id="rId3" Type="http://schemas.openxmlformats.org/officeDocument/2006/relationships/notesSlide" Target="../notesSlides/notesSlide22.xml"/><Relationship Id="rId7" Type="http://schemas.openxmlformats.org/officeDocument/2006/relationships/oleObject" Target="../embeddings/oleObject170.bin"/><Relationship Id="rId12" Type="http://schemas.openxmlformats.org/officeDocument/2006/relationships/image" Target="../media/image187.wmf"/><Relationship Id="rId17" Type="http://schemas.openxmlformats.org/officeDocument/2006/relationships/oleObject" Target="../embeddings/oleObject175.bin"/><Relationship Id="rId2" Type="http://schemas.openxmlformats.org/officeDocument/2006/relationships/slideLayout" Target="../slideLayouts/slideLayout6.xml"/><Relationship Id="rId16" Type="http://schemas.openxmlformats.org/officeDocument/2006/relationships/image" Target="../media/image189.wmf"/><Relationship Id="rId20" Type="http://schemas.openxmlformats.org/officeDocument/2006/relationships/image" Target="../media/image191.wmf"/><Relationship Id="rId1" Type="http://schemas.openxmlformats.org/officeDocument/2006/relationships/vmlDrawing" Target="../drawings/vmlDrawing37.vml"/><Relationship Id="rId6" Type="http://schemas.openxmlformats.org/officeDocument/2006/relationships/image" Target="../media/image184.wmf"/><Relationship Id="rId11" Type="http://schemas.openxmlformats.org/officeDocument/2006/relationships/oleObject" Target="../embeddings/oleObject172.bin"/><Relationship Id="rId5" Type="http://schemas.openxmlformats.org/officeDocument/2006/relationships/oleObject" Target="../embeddings/oleObject169.bin"/><Relationship Id="rId15" Type="http://schemas.openxmlformats.org/officeDocument/2006/relationships/oleObject" Target="../embeddings/oleObject174.bin"/><Relationship Id="rId10" Type="http://schemas.openxmlformats.org/officeDocument/2006/relationships/image" Target="../media/image186.wmf"/><Relationship Id="rId19" Type="http://schemas.openxmlformats.org/officeDocument/2006/relationships/oleObject" Target="../embeddings/oleObject176.bin"/><Relationship Id="rId4" Type="http://schemas.openxmlformats.org/officeDocument/2006/relationships/audio" Target="../media/audio1.wav"/><Relationship Id="rId9" Type="http://schemas.openxmlformats.org/officeDocument/2006/relationships/oleObject" Target="../embeddings/oleObject171.bin"/><Relationship Id="rId14" Type="http://schemas.openxmlformats.org/officeDocument/2006/relationships/image" Target="../media/image188.wmf"/></Relationships>
</file>

<file path=ppt/slides/_rels/slide52.xml.rels><?xml version="1.0" encoding="UTF-8" standalone="yes"?>
<Relationships xmlns="http://schemas.openxmlformats.org/package/2006/relationships"><Relationship Id="rId8" Type="http://schemas.openxmlformats.org/officeDocument/2006/relationships/image" Target="../media/image193.wmf"/><Relationship Id="rId13" Type="http://schemas.openxmlformats.org/officeDocument/2006/relationships/oleObject" Target="../embeddings/oleObject181.bin"/><Relationship Id="rId18" Type="http://schemas.openxmlformats.org/officeDocument/2006/relationships/image" Target="../media/image198.wmf"/><Relationship Id="rId3" Type="http://schemas.openxmlformats.org/officeDocument/2006/relationships/notesSlide" Target="../notesSlides/notesSlide23.xml"/><Relationship Id="rId21" Type="http://schemas.openxmlformats.org/officeDocument/2006/relationships/oleObject" Target="../embeddings/oleObject185.bin"/><Relationship Id="rId7" Type="http://schemas.openxmlformats.org/officeDocument/2006/relationships/oleObject" Target="../embeddings/oleObject178.bin"/><Relationship Id="rId12" Type="http://schemas.openxmlformats.org/officeDocument/2006/relationships/image" Target="../media/image195.wmf"/><Relationship Id="rId17" Type="http://schemas.openxmlformats.org/officeDocument/2006/relationships/oleObject" Target="../embeddings/oleObject183.bin"/><Relationship Id="rId2" Type="http://schemas.openxmlformats.org/officeDocument/2006/relationships/slideLayout" Target="../slideLayouts/slideLayout6.xml"/><Relationship Id="rId16" Type="http://schemas.openxmlformats.org/officeDocument/2006/relationships/image" Target="../media/image197.wmf"/><Relationship Id="rId20" Type="http://schemas.openxmlformats.org/officeDocument/2006/relationships/image" Target="../media/image199.wmf"/><Relationship Id="rId1" Type="http://schemas.openxmlformats.org/officeDocument/2006/relationships/vmlDrawing" Target="../drawings/vmlDrawing38.vml"/><Relationship Id="rId6" Type="http://schemas.openxmlformats.org/officeDocument/2006/relationships/image" Target="../media/image192.wmf"/><Relationship Id="rId11" Type="http://schemas.openxmlformats.org/officeDocument/2006/relationships/oleObject" Target="../embeddings/oleObject180.bin"/><Relationship Id="rId5" Type="http://schemas.openxmlformats.org/officeDocument/2006/relationships/oleObject" Target="../embeddings/oleObject177.bin"/><Relationship Id="rId15" Type="http://schemas.openxmlformats.org/officeDocument/2006/relationships/oleObject" Target="../embeddings/oleObject182.bin"/><Relationship Id="rId10" Type="http://schemas.openxmlformats.org/officeDocument/2006/relationships/image" Target="../media/image194.wmf"/><Relationship Id="rId19" Type="http://schemas.openxmlformats.org/officeDocument/2006/relationships/oleObject" Target="../embeddings/oleObject184.bin"/><Relationship Id="rId4" Type="http://schemas.openxmlformats.org/officeDocument/2006/relationships/audio" Target="../media/audio1.wav"/><Relationship Id="rId9" Type="http://schemas.openxmlformats.org/officeDocument/2006/relationships/oleObject" Target="../embeddings/oleObject179.bin"/><Relationship Id="rId14" Type="http://schemas.openxmlformats.org/officeDocument/2006/relationships/image" Target="../media/image196.wmf"/><Relationship Id="rId22" Type="http://schemas.openxmlformats.org/officeDocument/2006/relationships/image" Target="../media/image200.emf"/></Relationships>
</file>

<file path=ppt/slides/_rels/slide53.xml.rels><?xml version="1.0" encoding="UTF-8" standalone="yes"?>
<Relationships xmlns="http://schemas.openxmlformats.org/package/2006/relationships"><Relationship Id="rId8" Type="http://schemas.openxmlformats.org/officeDocument/2006/relationships/image" Target="../media/image202.wmf"/><Relationship Id="rId13" Type="http://schemas.openxmlformats.org/officeDocument/2006/relationships/oleObject" Target="../embeddings/oleObject190.bin"/><Relationship Id="rId3" Type="http://schemas.openxmlformats.org/officeDocument/2006/relationships/notesSlide" Target="../notesSlides/notesSlide24.xml"/><Relationship Id="rId7" Type="http://schemas.openxmlformats.org/officeDocument/2006/relationships/oleObject" Target="../embeddings/oleObject187.bin"/><Relationship Id="rId12" Type="http://schemas.openxmlformats.org/officeDocument/2006/relationships/image" Target="../media/image204.wmf"/><Relationship Id="rId2" Type="http://schemas.openxmlformats.org/officeDocument/2006/relationships/slideLayout" Target="../slideLayouts/slideLayout6.xml"/><Relationship Id="rId16" Type="http://schemas.openxmlformats.org/officeDocument/2006/relationships/image" Target="../media/image206.wmf"/><Relationship Id="rId1" Type="http://schemas.openxmlformats.org/officeDocument/2006/relationships/vmlDrawing" Target="../drawings/vmlDrawing39.vml"/><Relationship Id="rId6" Type="http://schemas.openxmlformats.org/officeDocument/2006/relationships/image" Target="../media/image201.wmf"/><Relationship Id="rId11" Type="http://schemas.openxmlformats.org/officeDocument/2006/relationships/oleObject" Target="../embeddings/oleObject189.bin"/><Relationship Id="rId5" Type="http://schemas.openxmlformats.org/officeDocument/2006/relationships/oleObject" Target="../embeddings/oleObject186.bin"/><Relationship Id="rId15" Type="http://schemas.openxmlformats.org/officeDocument/2006/relationships/oleObject" Target="../embeddings/oleObject191.bin"/><Relationship Id="rId10" Type="http://schemas.openxmlformats.org/officeDocument/2006/relationships/image" Target="../media/image203.emf"/><Relationship Id="rId4" Type="http://schemas.openxmlformats.org/officeDocument/2006/relationships/audio" Target="../media/audio1.wav"/><Relationship Id="rId9" Type="http://schemas.openxmlformats.org/officeDocument/2006/relationships/oleObject" Target="../embeddings/oleObject188.bin"/><Relationship Id="rId14" Type="http://schemas.openxmlformats.org/officeDocument/2006/relationships/image" Target="../media/image205.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93.bin"/><Relationship Id="rId13" Type="http://schemas.openxmlformats.org/officeDocument/2006/relationships/image" Target="../media/image210.wmf"/><Relationship Id="rId3" Type="http://schemas.openxmlformats.org/officeDocument/2006/relationships/notesSlide" Target="../notesSlides/notesSlide25.xml"/><Relationship Id="rId7" Type="http://schemas.openxmlformats.org/officeDocument/2006/relationships/image" Target="../media/image207.wmf"/><Relationship Id="rId12" Type="http://schemas.openxmlformats.org/officeDocument/2006/relationships/oleObject" Target="../embeddings/oleObject195.bin"/><Relationship Id="rId2" Type="http://schemas.openxmlformats.org/officeDocument/2006/relationships/slideLayout" Target="../slideLayouts/slideLayout6.xml"/><Relationship Id="rId1" Type="http://schemas.openxmlformats.org/officeDocument/2006/relationships/vmlDrawing" Target="../drawings/vmlDrawing40.vml"/><Relationship Id="rId6" Type="http://schemas.openxmlformats.org/officeDocument/2006/relationships/oleObject" Target="../embeddings/oleObject192.bin"/><Relationship Id="rId11" Type="http://schemas.openxmlformats.org/officeDocument/2006/relationships/image" Target="../media/image209.wmf"/><Relationship Id="rId5" Type="http://schemas.openxmlformats.org/officeDocument/2006/relationships/audio" Target="../media/audio1.wav"/><Relationship Id="rId15" Type="http://schemas.openxmlformats.org/officeDocument/2006/relationships/image" Target="../media/image206.wmf"/><Relationship Id="rId10" Type="http://schemas.openxmlformats.org/officeDocument/2006/relationships/oleObject" Target="../embeddings/oleObject194.bin"/><Relationship Id="rId4" Type="http://schemas.openxmlformats.org/officeDocument/2006/relationships/audio" Target="../media/audio2.wav"/><Relationship Id="rId9" Type="http://schemas.openxmlformats.org/officeDocument/2006/relationships/image" Target="../media/image208.wmf"/><Relationship Id="rId14" Type="http://schemas.openxmlformats.org/officeDocument/2006/relationships/oleObject" Target="../embeddings/oleObject196.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211.wmf"/><Relationship Id="rId2" Type="http://schemas.openxmlformats.org/officeDocument/2006/relationships/slideLayout" Target="../slideLayouts/slideLayout6.xml"/><Relationship Id="rId1" Type="http://schemas.openxmlformats.org/officeDocument/2006/relationships/vmlDrawing" Target="../drawings/vmlDrawing41.vml"/><Relationship Id="rId6" Type="http://schemas.openxmlformats.org/officeDocument/2006/relationships/oleObject" Target="../embeddings/oleObject197.bin"/><Relationship Id="rId5" Type="http://schemas.openxmlformats.org/officeDocument/2006/relationships/image" Target="../media/image212.jpeg"/><Relationship Id="rId4" Type="http://schemas.openxmlformats.org/officeDocument/2006/relationships/audio" Target="../media/audio2.wav"/></Relationships>
</file>

<file path=ppt/slides/_rels/slide56.xml.rels><?xml version="1.0" encoding="UTF-8" standalone="yes"?>
<Relationships xmlns="http://schemas.openxmlformats.org/package/2006/relationships"><Relationship Id="rId8" Type="http://schemas.openxmlformats.org/officeDocument/2006/relationships/image" Target="../media/image214.wmf"/><Relationship Id="rId13" Type="http://schemas.openxmlformats.org/officeDocument/2006/relationships/oleObject" Target="../embeddings/oleObject202.bin"/><Relationship Id="rId3" Type="http://schemas.openxmlformats.org/officeDocument/2006/relationships/notesSlide" Target="../notesSlides/notesSlide27.xml"/><Relationship Id="rId7" Type="http://schemas.openxmlformats.org/officeDocument/2006/relationships/oleObject" Target="../embeddings/oleObject199.bin"/><Relationship Id="rId12" Type="http://schemas.openxmlformats.org/officeDocument/2006/relationships/image" Target="../media/image216.wmf"/><Relationship Id="rId2" Type="http://schemas.openxmlformats.org/officeDocument/2006/relationships/slideLayout" Target="../slideLayouts/slideLayout6.xml"/><Relationship Id="rId1" Type="http://schemas.openxmlformats.org/officeDocument/2006/relationships/vmlDrawing" Target="../drawings/vmlDrawing42.vml"/><Relationship Id="rId6" Type="http://schemas.openxmlformats.org/officeDocument/2006/relationships/image" Target="../media/image213.wmf"/><Relationship Id="rId11" Type="http://schemas.openxmlformats.org/officeDocument/2006/relationships/oleObject" Target="../embeddings/oleObject201.bin"/><Relationship Id="rId5" Type="http://schemas.openxmlformats.org/officeDocument/2006/relationships/oleObject" Target="../embeddings/oleObject198.bin"/><Relationship Id="rId10" Type="http://schemas.openxmlformats.org/officeDocument/2006/relationships/image" Target="../media/image215.wmf"/><Relationship Id="rId4" Type="http://schemas.openxmlformats.org/officeDocument/2006/relationships/audio" Target="../media/audio1.wav"/><Relationship Id="rId9" Type="http://schemas.openxmlformats.org/officeDocument/2006/relationships/oleObject" Target="../embeddings/oleObject200.bin"/><Relationship Id="rId14" Type="http://schemas.openxmlformats.org/officeDocument/2006/relationships/image" Target="../media/image217.wmf"/></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05.bin"/><Relationship Id="rId13" Type="http://schemas.openxmlformats.org/officeDocument/2006/relationships/image" Target="../media/image222.wmf"/><Relationship Id="rId3" Type="http://schemas.openxmlformats.org/officeDocument/2006/relationships/audio" Target="../media/audio1.wav"/><Relationship Id="rId7" Type="http://schemas.openxmlformats.org/officeDocument/2006/relationships/image" Target="../media/image219.wmf"/><Relationship Id="rId12" Type="http://schemas.openxmlformats.org/officeDocument/2006/relationships/oleObject" Target="../embeddings/oleObject207.bin"/><Relationship Id="rId17" Type="http://schemas.openxmlformats.org/officeDocument/2006/relationships/image" Target="../media/image224.wmf"/><Relationship Id="rId2" Type="http://schemas.openxmlformats.org/officeDocument/2006/relationships/slideLayout" Target="../slideLayouts/slideLayout6.xml"/><Relationship Id="rId16" Type="http://schemas.openxmlformats.org/officeDocument/2006/relationships/oleObject" Target="../embeddings/oleObject209.bin"/><Relationship Id="rId1" Type="http://schemas.openxmlformats.org/officeDocument/2006/relationships/vmlDrawing" Target="../drawings/vmlDrawing43.vml"/><Relationship Id="rId6" Type="http://schemas.openxmlformats.org/officeDocument/2006/relationships/oleObject" Target="../embeddings/oleObject204.bin"/><Relationship Id="rId11" Type="http://schemas.openxmlformats.org/officeDocument/2006/relationships/image" Target="../media/image221.wmf"/><Relationship Id="rId5" Type="http://schemas.openxmlformats.org/officeDocument/2006/relationships/image" Target="../media/image218.wmf"/><Relationship Id="rId15" Type="http://schemas.openxmlformats.org/officeDocument/2006/relationships/image" Target="../media/image223.wmf"/><Relationship Id="rId10" Type="http://schemas.openxmlformats.org/officeDocument/2006/relationships/oleObject" Target="../embeddings/oleObject206.bin"/><Relationship Id="rId4" Type="http://schemas.openxmlformats.org/officeDocument/2006/relationships/oleObject" Target="../embeddings/oleObject203.bin"/><Relationship Id="rId9" Type="http://schemas.openxmlformats.org/officeDocument/2006/relationships/image" Target="../media/image220.wmf"/><Relationship Id="rId14" Type="http://schemas.openxmlformats.org/officeDocument/2006/relationships/oleObject" Target="../embeddings/oleObject208.bin"/></Relationships>
</file>

<file path=ppt/slides/_rels/slide58.xml.rels><?xml version="1.0" encoding="UTF-8" standalone="yes"?>
<Relationships xmlns="http://schemas.openxmlformats.org/package/2006/relationships"><Relationship Id="rId8" Type="http://schemas.openxmlformats.org/officeDocument/2006/relationships/image" Target="../media/image226.wmf"/><Relationship Id="rId3" Type="http://schemas.openxmlformats.org/officeDocument/2006/relationships/notesSlide" Target="../notesSlides/notesSlide28.xml"/><Relationship Id="rId7" Type="http://schemas.openxmlformats.org/officeDocument/2006/relationships/oleObject" Target="../embeddings/oleObject211.bin"/><Relationship Id="rId2" Type="http://schemas.openxmlformats.org/officeDocument/2006/relationships/slideLayout" Target="../slideLayouts/slideLayout6.xml"/><Relationship Id="rId1" Type="http://schemas.openxmlformats.org/officeDocument/2006/relationships/vmlDrawing" Target="../drawings/vmlDrawing44.vml"/><Relationship Id="rId6" Type="http://schemas.openxmlformats.org/officeDocument/2006/relationships/image" Target="../media/image225.wmf"/><Relationship Id="rId11" Type="http://schemas.openxmlformats.org/officeDocument/2006/relationships/image" Target="../media/image227.wmf"/><Relationship Id="rId5" Type="http://schemas.openxmlformats.org/officeDocument/2006/relationships/oleObject" Target="../embeddings/oleObject210.bin"/><Relationship Id="rId10" Type="http://schemas.openxmlformats.org/officeDocument/2006/relationships/oleObject" Target="../embeddings/oleObject212.bin"/><Relationship Id="rId4" Type="http://schemas.openxmlformats.org/officeDocument/2006/relationships/audio" Target="../media/audio1.wav"/><Relationship Id="rId9" Type="http://schemas.openxmlformats.org/officeDocument/2006/relationships/image" Target="../media/image2.jpeg"/></Relationships>
</file>

<file path=ppt/slides/_rels/slide59.xml.rels><?xml version="1.0" encoding="UTF-8" standalone="yes"?>
<Relationships xmlns="http://schemas.openxmlformats.org/package/2006/relationships"><Relationship Id="rId8" Type="http://schemas.openxmlformats.org/officeDocument/2006/relationships/image" Target="../media/image229.wmf"/><Relationship Id="rId13" Type="http://schemas.openxmlformats.org/officeDocument/2006/relationships/oleObject" Target="../embeddings/oleObject217.bin"/><Relationship Id="rId3" Type="http://schemas.openxmlformats.org/officeDocument/2006/relationships/slideLayout" Target="../slideLayouts/slideLayout6.xml"/><Relationship Id="rId7" Type="http://schemas.openxmlformats.org/officeDocument/2006/relationships/oleObject" Target="../embeddings/oleObject214.bin"/><Relationship Id="rId12" Type="http://schemas.openxmlformats.org/officeDocument/2006/relationships/image" Target="../media/image231.wmf"/><Relationship Id="rId2" Type="http://schemas.openxmlformats.org/officeDocument/2006/relationships/video" Target="file:///F:\Alex&#24037;&#20316;\2017\&#36164;&#28304;&#21046;&#20316;\&#21776;&#21688;&#33635;\&#22823;&#23398;&#29289;&#29702;&#23398;&#65288;&#19978;&#20876;&#65289;&#65288;&#31532;5&#29256;&#65289;-&#36213;&#36817;&#33459;\&#22823;&#23398;&#29289;&#29702;&#31532;&#20116;&#29256;&#20840;&#37096;&#35838;&#20214;&#65288;&#32993;&#26607;&#65289;\&#19978;&#20876;PPT-&#33406;&#20908;&#20908;\&#32032;&#26448;\&#21407;&#23376;&#24377;.wmv" TargetMode="External"/><Relationship Id="rId1" Type="http://schemas.openxmlformats.org/officeDocument/2006/relationships/vmlDrawing" Target="../drawings/vmlDrawing45.vml"/><Relationship Id="rId6" Type="http://schemas.openxmlformats.org/officeDocument/2006/relationships/image" Target="../media/image228.wmf"/><Relationship Id="rId11" Type="http://schemas.openxmlformats.org/officeDocument/2006/relationships/oleObject" Target="../embeddings/oleObject216.bin"/><Relationship Id="rId5" Type="http://schemas.openxmlformats.org/officeDocument/2006/relationships/oleObject" Target="../embeddings/oleObject213.bin"/><Relationship Id="rId15" Type="http://schemas.openxmlformats.org/officeDocument/2006/relationships/image" Target="../media/image233.png"/><Relationship Id="rId10" Type="http://schemas.openxmlformats.org/officeDocument/2006/relationships/image" Target="../media/image230.wmf"/><Relationship Id="rId4" Type="http://schemas.openxmlformats.org/officeDocument/2006/relationships/notesSlide" Target="../notesSlides/notesSlide29.xml"/><Relationship Id="rId9" Type="http://schemas.openxmlformats.org/officeDocument/2006/relationships/oleObject" Target="../embeddings/oleObject215.bin"/><Relationship Id="rId14" Type="http://schemas.openxmlformats.org/officeDocument/2006/relationships/image" Target="../media/image232.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image" Target="../media/image238.wmf"/><Relationship Id="rId3" Type="http://schemas.openxmlformats.org/officeDocument/2006/relationships/slideLayout" Target="../slideLayouts/slideLayout6.xml"/><Relationship Id="rId7" Type="http://schemas.openxmlformats.org/officeDocument/2006/relationships/image" Target="../media/image235.wmf"/><Relationship Id="rId12" Type="http://schemas.openxmlformats.org/officeDocument/2006/relationships/oleObject" Target="../embeddings/oleObject222.bin"/><Relationship Id="rId2" Type="http://schemas.openxmlformats.org/officeDocument/2006/relationships/video" Target="file:///F:\Alex&#24037;&#20316;\2017\&#36164;&#28304;&#21046;&#20316;\&#21776;&#21688;&#33635;\&#22823;&#23398;&#29289;&#29702;&#23398;&#65288;&#19978;&#20876;&#65289;&#65288;&#31532;5&#29256;&#65289;-&#36213;&#36817;&#33459;\&#22823;&#23398;&#29289;&#29702;&#31532;&#20116;&#29256;&#20840;&#37096;&#35838;&#20214;&#65288;&#32993;&#26607;&#65289;\&#19978;&#20876;PPT-&#33406;&#20908;&#20908;\&#32032;&#26448;\&#27682;&#24377;.wmv" TargetMode="External"/><Relationship Id="rId1" Type="http://schemas.openxmlformats.org/officeDocument/2006/relationships/vmlDrawing" Target="../drawings/vmlDrawing46.vml"/><Relationship Id="rId6" Type="http://schemas.openxmlformats.org/officeDocument/2006/relationships/oleObject" Target="../embeddings/oleObject219.bin"/><Relationship Id="rId11" Type="http://schemas.openxmlformats.org/officeDocument/2006/relationships/image" Target="../media/image237.wmf"/><Relationship Id="rId5" Type="http://schemas.openxmlformats.org/officeDocument/2006/relationships/image" Target="../media/image234.wmf"/><Relationship Id="rId10" Type="http://schemas.openxmlformats.org/officeDocument/2006/relationships/oleObject" Target="../embeddings/oleObject221.bin"/><Relationship Id="rId4" Type="http://schemas.openxmlformats.org/officeDocument/2006/relationships/oleObject" Target="../embeddings/oleObject218.bin"/><Relationship Id="rId9" Type="http://schemas.openxmlformats.org/officeDocument/2006/relationships/image" Target="../media/image236.wmf"/><Relationship Id="rId14" Type="http://schemas.openxmlformats.org/officeDocument/2006/relationships/image" Target="../media/image239.png"/></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25.bin"/><Relationship Id="rId13" Type="http://schemas.openxmlformats.org/officeDocument/2006/relationships/image" Target="../media/image244.wmf"/><Relationship Id="rId3" Type="http://schemas.openxmlformats.org/officeDocument/2006/relationships/notesSlide" Target="../notesSlides/notesSlide30.xml"/><Relationship Id="rId7" Type="http://schemas.openxmlformats.org/officeDocument/2006/relationships/image" Target="../media/image241.emf"/><Relationship Id="rId12" Type="http://schemas.openxmlformats.org/officeDocument/2006/relationships/oleObject" Target="../embeddings/oleObject227.bin"/><Relationship Id="rId2" Type="http://schemas.openxmlformats.org/officeDocument/2006/relationships/slideLayout" Target="../slideLayouts/slideLayout6.xml"/><Relationship Id="rId1" Type="http://schemas.openxmlformats.org/officeDocument/2006/relationships/vmlDrawing" Target="../drawings/vmlDrawing47.vml"/><Relationship Id="rId6" Type="http://schemas.openxmlformats.org/officeDocument/2006/relationships/oleObject" Target="../embeddings/oleObject224.bin"/><Relationship Id="rId11" Type="http://schemas.openxmlformats.org/officeDocument/2006/relationships/image" Target="../media/image243.wmf"/><Relationship Id="rId5" Type="http://schemas.openxmlformats.org/officeDocument/2006/relationships/image" Target="../media/image240.emf"/><Relationship Id="rId15" Type="http://schemas.openxmlformats.org/officeDocument/2006/relationships/image" Target="../media/image245.wmf"/><Relationship Id="rId10" Type="http://schemas.openxmlformats.org/officeDocument/2006/relationships/oleObject" Target="../embeddings/oleObject226.bin"/><Relationship Id="rId4" Type="http://schemas.openxmlformats.org/officeDocument/2006/relationships/oleObject" Target="../embeddings/oleObject223.bin"/><Relationship Id="rId9" Type="http://schemas.openxmlformats.org/officeDocument/2006/relationships/image" Target="../media/image242.wmf"/><Relationship Id="rId14" Type="http://schemas.openxmlformats.org/officeDocument/2006/relationships/oleObject" Target="../embeddings/oleObject228.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31.bin"/><Relationship Id="rId13" Type="http://schemas.openxmlformats.org/officeDocument/2006/relationships/image" Target="../media/image250.wmf"/><Relationship Id="rId3" Type="http://schemas.openxmlformats.org/officeDocument/2006/relationships/notesSlide" Target="../notesSlides/notesSlide31.xml"/><Relationship Id="rId7" Type="http://schemas.openxmlformats.org/officeDocument/2006/relationships/image" Target="../media/image247.wmf"/><Relationship Id="rId12" Type="http://schemas.openxmlformats.org/officeDocument/2006/relationships/oleObject" Target="../embeddings/oleObject233.bin"/><Relationship Id="rId2" Type="http://schemas.openxmlformats.org/officeDocument/2006/relationships/slideLayout" Target="../slideLayouts/slideLayout6.xml"/><Relationship Id="rId1" Type="http://schemas.openxmlformats.org/officeDocument/2006/relationships/vmlDrawing" Target="../drawings/vmlDrawing48.vml"/><Relationship Id="rId6" Type="http://schemas.openxmlformats.org/officeDocument/2006/relationships/oleObject" Target="../embeddings/oleObject230.bin"/><Relationship Id="rId11" Type="http://schemas.openxmlformats.org/officeDocument/2006/relationships/image" Target="../media/image249.wmf"/><Relationship Id="rId5" Type="http://schemas.openxmlformats.org/officeDocument/2006/relationships/image" Target="../media/image246.wmf"/><Relationship Id="rId15" Type="http://schemas.openxmlformats.org/officeDocument/2006/relationships/image" Target="../media/image251.wmf"/><Relationship Id="rId10" Type="http://schemas.openxmlformats.org/officeDocument/2006/relationships/oleObject" Target="../embeddings/oleObject232.bin"/><Relationship Id="rId4" Type="http://schemas.openxmlformats.org/officeDocument/2006/relationships/oleObject" Target="../embeddings/oleObject229.bin"/><Relationship Id="rId9" Type="http://schemas.openxmlformats.org/officeDocument/2006/relationships/image" Target="../media/image248.wmf"/><Relationship Id="rId14" Type="http://schemas.openxmlformats.org/officeDocument/2006/relationships/oleObject" Target="../embeddings/oleObject234.bin"/></Relationships>
</file>

<file path=ppt/slides/_rels/slide63.xml.rels><?xml version="1.0" encoding="UTF-8" standalone="yes"?>
<Relationships xmlns="http://schemas.openxmlformats.org/package/2006/relationships"><Relationship Id="rId8" Type="http://schemas.openxmlformats.org/officeDocument/2006/relationships/image" Target="../media/image253.wmf"/><Relationship Id="rId3" Type="http://schemas.openxmlformats.org/officeDocument/2006/relationships/notesSlide" Target="../notesSlides/notesSlide32.xml"/><Relationship Id="rId7" Type="http://schemas.openxmlformats.org/officeDocument/2006/relationships/oleObject" Target="../embeddings/oleObject236.bin"/><Relationship Id="rId12" Type="http://schemas.openxmlformats.org/officeDocument/2006/relationships/image" Target="../media/image255.wmf"/><Relationship Id="rId2" Type="http://schemas.openxmlformats.org/officeDocument/2006/relationships/slideLayout" Target="../slideLayouts/slideLayout6.xml"/><Relationship Id="rId1" Type="http://schemas.openxmlformats.org/officeDocument/2006/relationships/vmlDrawing" Target="../drawings/vmlDrawing49.vml"/><Relationship Id="rId6" Type="http://schemas.openxmlformats.org/officeDocument/2006/relationships/image" Target="../media/image252.wmf"/><Relationship Id="rId11" Type="http://schemas.openxmlformats.org/officeDocument/2006/relationships/oleObject" Target="../embeddings/oleObject238.bin"/><Relationship Id="rId5" Type="http://schemas.openxmlformats.org/officeDocument/2006/relationships/oleObject" Target="../embeddings/oleObject235.bin"/><Relationship Id="rId10" Type="http://schemas.openxmlformats.org/officeDocument/2006/relationships/image" Target="../media/image254.wmf"/><Relationship Id="rId4" Type="http://schemas.openxmlformats.org/officeDocument/2006/relationships/audio" Target="../media/audio5.wav"/><Relationship Id="rId9" Type="http://schemas.openxmlformats.org/officeDocument/2006/relationships/oleObject" Target="../embeddings/oleObject237.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241.bin"/><Relationship Id="rId13" Type="http://schemas.openxmlformats.org/officeDocument/2006/relationships/image" Target="../media/image260.wmf"/><Relationship Id="rId3" Type="http://schemas.openxmlformats.org/officeDocument/2006/relationships/notesSlide" Target="../notesSlides/notesSlide33.xml"/><Relationship Id="rId7" Type="http://schemas.openxmlformats.org/officeDocument/2006/relationships/image" Target="../media/image257.wmf"/><Relationship Id="rId12" Type="http://schemas.openxmlformats.org/officeDocument/2006/relationships/oleObject" Target="../embeddings/oleObject243.bin"/><Relationship Id="rId2" Type="http://schemas.openxmlformats.org/officeDocument/2006/relationships/slideLayout" Target="../slideLayouts/slideLayout6.xml"/><Relationship Id="rId1" Type="http://schemas.openxmlformats.org/officeDocument/2006/relationships/vmlDrawing" Target="../drawings/vmlDrawing50.vml"/><Relationship Id="rId6" Type="http://schemas.openxmlformats.org/officeDocument/2006/relationships/oleObject" Target="../embeddings/oleObject240.bin"/><Relationship Id="rId11" Type="http://schemas.openxmlformats.org/officeDocument/2006/relationships/image" Target="../media/image259.wmf"/><Relationship Id="rId5" Type="http://schemas.openxmlformats.org/officeDocument/2006/relationships/image" Target="../media/image256.wmf"/><Relationship Id="rId10" Type="http://schemas.openxmlformats.org/officeDocument/2006/relationships/oleObject" Target="../embeddings/oleObject242.bin"/><Relationship Id="rId4" Type="http://schemas.openxmlformats.org/officeDocument/2006/relationships/oleObject" Target="../embeddings/oleObject239.bin"/><Relationship Id="rId9" Type="http://schemas.openxmlformats.org/officeDocument/2006/relationships/image" Target="../media/image258.wmf"/></Relationships>
</file>

<file path=ppt/slides/_rels/slide65.xml.rels><?xml version="1.0" encoding="UTF-8" standalone="yes"?>
<Relationships xmlns="http://schemas.openxmlformats.org/package/2006/relationships"><Relationship Id="rId8" Type="http://schemas.openxmlformats.org/officeDocument/2006/relationships/image" Target="../media/image263.wmf"/><Relationship Id="rId3" Type="http://schemas.openxmlformats.org/officeDocument/2006/relationships/oleObject" Target="../embeddings/oleObject244.bin"/><Relationship Id="rId7" Type="http://schemas.openxmlformats.org/officeDocument/2006/relationships/oleObject" Target="../embeddings/oleObject246.bin"/><Relationship Id="rId2" Type="http://schemas.openxmlformats.org/officeDocument/2006/relationships/slideLayout" Target="../slideLayouts/slideLayout6.xml"/><Relationship Id="rId1" Type="http://schemas.openxmlformats.org/officeDocument/2006/relationships/vmlDrawing" Target="../drawings/vmlDrawing51.vml"/><Relationship Id="rId6" Type="http://schemas.openxmlformats.org/officeDocument/2006/relationships/image" Target="../media/image262.wmf"/><Relationship Id="rId5" Type="http://schemas.openxmlformats.org/officeDocument/2006/relationships/oleObject" Target="../embeddings/oleObject245.bin"/><Relationship Id="rId4" Type="http://schemas.openxmlformats.org/officeDocument/2006/relationships/image" Target="../media/image261.wmf"/></Relationships>
</file>

<file path=ppt/slides/_rels/slide66.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247.bin"/><Relationship Id="rId7" Type="http://schemas.openxmlformats.org/officeDocument/2006/relationships/oleObject" Target="../embeddings/oleObject249.bin"/><Relationship Id="rId2" Type="http://schemas.openxmlformats.org/officeDocument/2006/relationships/slideLayout" Target="../slideLayouts/slideLayout7.xml"/><Relationship Id="rId1" Type="http://schemas.openxmlformats.org/officeDocument/2006/relationships/vmlDrawing" Target="../drawings/vmlDrawing52.vml"/><Relationship Id="rId6" Type="http://schemas.openxmlformats.org/officeDocument/2006/relationships/image" Target="../media/image13.wmf"/><Relationship Id="rId5" Type="http://schemas.openxmlformats.org/officeDocument/2006/relationships/oleObject" Target="../embeddings/oleObject248.bin"/><Relationship Id="rId4" Type="http://schemas.openxmlformats.org/officeDocument/2006/relationships/image" Target="../media/image11.w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250.bin"/><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image" Target="../media/image265.wmf"/><Relationship Id="rId5" Type="http://schemas.openxmlformats.org/officeDocument/2006/relationships/oleObject" Target="../embeddings/oleObject251.bin"/><Relationship Id="rId4" Type="http://schemas.openxmlformats.org/officeDocument/2006/relationships/image" Target="../media/image264.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252.bin"/><Relationship Id="rId2" Type="http://schemas.openxmlformats.org/officeDocument/2006/relationships/slideLayout" Target="../slideLayouts/slideLayout7.xml"/><Relationship Id="rId1" Type="http://schemas.openxmlformats.org/officeDocument/2006/relationships/vmlDrawing" Target="../drawings/vmlDrawing54.vml"/><Relationship Id="rId6" Type="http://schemas.openxmlformats.org/officeDocument/2006/relationships/image" Target="../media/image267.wmf"/><Relationship Id="rId5" Type="http://schemas.openxmlformats.org/officeDocument/2006/relationships/oleObject" Target="../embeddings/oleObject253.bin"/><Relationship Id="rId4" Type="http://schemas.openxmlformats.org/officeDocument/2006/relationships/image" Target="../media/image266.emf"/></Relationships>
</file>

<file path=ppt/slides/_rels/slide69.xml.rels><?xml version="1.0" encoding="UTF-8" standalone="yes"?>
<Relationships xmlns="http://schemas.openxmlformats.org/package/2006/relationships"><Relationship Id="rId8" Type="http://schemas.openxmlformats.org/officeDocument/2006/relationships/image" Target="../media/image270.wmf"/><Relationship Id="rId3" Type="http://schemas.openxmlformats.org/officeDocument/2006/relationships/oleObject" Target="../embeddings/oleObject254.bin"/><Relationship Id="rId7" Type="http://schemas.openxmlformats.org/officeDocument/2006/relationships/oleObject" Target="../embeddings/oleObject256.bin"/><Relationship Id="rId2" Type="http://schemas.openxmlformats.org/officeDocument/2006/relationships/slideLayout" Target="../slideLayouts/slideLayout7.xml"/><Relationship Id="rId1" Type="http://schemas.openxmlformats.org/officeDocument/2006/relationships/vmlDrawing" Target="../drawings/vmlDrawing55.vml"/><Relationship Id="rId6" Type="http://schemas.openxmlformats.org/officeDocument/2006/relationships/image" Target="../media/image269.wmf"/><Relationship Id="rId5" Type="http://schemas.openxmlformats.org/officeDocument/2006/relationships/oleObject" Target="../embeddings/oleObject255.bin"/><Relationship Id="rId10" Type="http://schemas.openxmlformats.org/officeDocument/2006/relationships/image" Target="../media/image271.wmf"/><Relationship Id="rId4" Type="http://schemas.openxmlformats.org/officeDocument/2006/relationships/image" Target="../media/image268.wmf"/><Relationship Id="rId9" Type="http://schemas.openxmlformats.org/officeDocument/2006/relationships/oleObject" Target="../embeddings/oleObject25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AutoShape 4">
            <a:hlinkClick r:id="rId3" action="ppaction://hlinksldjump" highlightClick="1">
              <a:snd r:embed="rId4" name="TYPE.WAV"/>
            </a:hlinkClick>
          </p:cNvPr>
          <p:cNvSpPr>
            <a:spLocks noChangeArrowheads="1"/>
          </p:cNvSpPr>
          <p:nvPr/>
        </p:nvSpPr>
        <p:spPr bwMode="auto">
          <a:xfrm>
            <a:off x="700088" y="1628775"/>
            <a:ext cx="5527675" cy="461963"/>
          </a:xfrm>
          <a:prstGeom prst="actionButtonBlank">
            <a:avLst/>
          </a:prstGeom>
          <a:noFill/>
          <a:ln w="9525">
            <a:noFill/>
            <a:miter lim="800000"/>
            <a:headEnd/>
            <a:tailEnd/>
          </a:ln>
          <a:effectLst/>
        </p:spPr>
        <p:txBody>
          <a:bodyPr anchor="ctr">
            <a:spAutoFit/>
          </a:bodyPr>
          <a:lstStyle/>
          <a:p>
            <a:pPr>
              <a:lnSpc>
                <a:spcPct val="120000"/>
              </a:lnSpc>
              <a:defRPr/>
            </a:pPr>
            <a:r>
              <a:rPr lang="en-US" altLang="zh-CN" sz="2000" dirty="0">
                <a:effectLst>
                  <a:outerShdw blurRad="38100" dist="38100" dir="2700000" algn="tl">
                    <a:srgbClr val="C0C0C0"/>
                  </a:outerShdw>
                </a:effectLst>
                <a:latin typeface="华文中宋" pitchFamily="2" charset="-122"/>
                <a:ea typeface="华文中宋" pitchFamily="2" charset="-122"/>
              </a:rPr>
              <a:t>§4-2 </a:t>
            </a:r>
            <a:r>
              <a:rPr lang="zh-CN" altLang="en-US" sz="2000" dirty="0">
                <a:effectLst>
                  <a:outerShdw blurRad="38100" dist="38100" dir="2700000" algn="tl">
                    <a:srgbClr val="C0C0C0"/>
                  </a:outerShdw>
                </a:effectLst>
                <a:latin typeface="华文中宋" pitchFamily="2" charset="-122"/>
                <a:ea typeface="华文中宋" pitchFamily="2" charset="-122"/>
              </a:rPr>
              <a:t>狭义相对论产生的实验基础和历史条件</a:t>
            </a:r>
          </a:p>
        </p:txBody>
      </p:sp>
      <p:sp>
        <p:nvSpPr>
          <p:cNvPr id="122885" name="AutoShape 5">
            <a:hlinkClick r:id="rId5" action="ppaction://hlinksldjump" highlightClick="1">
              <a:snd r:embed="rId4" name="TYPE.WAV"/>
            </a:hlinkClick>
          </p:cNvPr>
          <p:cNvSpPr>
            <a:spLocks noChangeArrowheads="1"/>
          </p:cNvSpPr>
          <p:nvPr/>
        </p:nvSpPr>
        <p:spPr bwMode="auto">
          <a:xfrm>
            <a:off x="704850" y="2114550"/>
            <a:ext cx="4371975" cy="461963"/>
          </a:xfrm>
          <a:prstGeom prst="actionButtonBlank">
            <a:avLst/>
          </a:prstGeom>
          <a:noFill/>
          <a:ln w="9525">
            <a:noFill/>
            <a:miter lim="800000"/>
            <a:headEnd/>
            <a:tailEnd/>
          </a:ln>
          <a:effectLst/>
        </p:spPr>
        <p:txBody>
          <a:bodyPr anchor="ctr">
            <a:spAutoFit/>
          </a:bodyPr>
          <a:lstStyle/>
          <a:p>
            <a:pPr>
              <a:lnSpc>
                <a:spcPct val="120000"/>
              </a:lnSpc>
              <a:defRPr/>
            </a:pPr>
            <a:r>
              <a:rPr lang="en-US" altLang="zh-CN" sz="2000" dirty="0">
                <a:effectLst>
                  <a:outerShdw blurRad="38100" dist="38100" dir="2700000" algn="tl">
                    <a:srgbClr val="C0C0C0"/>
                  </a:outerShdw>
                </a:effectLst>
                <a:latin typeface="华文中宋" pitchFamily="2" charset="-122"/>
                <a:ea typeface="华文中宋" pitchFamily="2" charset="-122"/>
              </a:rPr>
              <a:t>§4-3 </a:t>
            </a:r>
            <a:r>
              <a:rPr lang="zh-CN" altLang="en-US" sz="2000" dirty="0">
                <a:effectLst>
                  <a:outerShdw blurRad="38100" dist="38100" dir="2700000" algn="tl">
                    <a:srgbClr val="C0C0C0"/>
                  </a:outerShdw>
                </a:effectLst>
                <a:latin typeface="华文中宋" pitchFamily="2" charset="-122"/>
                <a:ea typeface="华文中宋" pitchFamily="2" charset="-122"/>
              </a:rPr>
              <a:t>相对论基本原理、洛仑兹变换</a:t>
            </a:r>
          </a:p>
        </p:txBody>
      </p:sp>
      <p:sp>
        <p:nvSpPr>
          <p:cNvPr id="122886" name="AutoShape 6">
            <a:hlinkClick r:id="rId6" action="ppaction://hlinksldjump" highlightClick="1">
              <a:snd r:embed="rId4" name="TYPE.WAV"/>
            </a:hlinkClick>
          </p:cNvPr>
          <p:cNvSpPr>
            <a:spLocks noChangeArrowheads="1"/>
          </p:cNvSpPr>
          <p:nvPr/>
        </p:nvSpPr>
        <p:spPr bwMode="auto">
          <a:xfrm>
            <a:off x="700088" y="2600325"/>
            <a:ext cx="2719387" cy="461963"/>
          </a:xfrm>
          <a:prstGeom prst="actionButtonBlank">
            <a:avLst/>
          </a:prstGeom>
          <a:noFill/>
          <a:ln w="9525">
            <a:noFill/>
            <a:miter lim="800000"/>
            <a:headEnd/>
            <a:tailEnd/>
          </a:ln>
          <a:effectLst/>
        </p:spPr>
        <p:txBody>
          <a:bodyPr anchor="ctr">
            <a:spAutoFit/>
          </a:bodyPr>
          <a:lstStyle/>
          <a:p>
            <a:pPr>
              <a:lnSpc>
                <a:spcPct val="120000"/>
              </a:lnSpc>
              <a:defRPr/>
            </a:pPr>
            <a:r>
              <a:rPr lang="en-US" altLang="zh-CN" sz="2000" dirty="0">
                <a:effectLst>
                  <a:outerShdw blurRad="38100" dist="38100" dir="2700000" algn="tl">
                    <a:srgbClr val="C0C0C0"/>
                  </a:outerShdw>
                </a:effectLst>
                <a:latin typeface="华文中宋" pitchFamily="2" charset="-122"/>
                <a:ea typeface="华文中宋" pitchFamily="2" charset="-122"/>
              </a:rPr>
              <a:t>§4-4 </a:t>
            </a:r>
            <a:r>
              <a:rPr lang="zh-CN" altLang="en-US" sz="2000" dirty="0">
                <a:effectLst>
                  <a:outerShdw blurRad="38100" dist="38100" dir="2700000" algn="tl">
                    <a:srgbClr val="C0C0C0"/>
                  </a:outerShdw>
                </a:effectLst>
                <a:latin typeface="华文中宋" pitchFamily="2" charset="-122"/>
                <a:ea typeface="华文中宋" pitchFamily="2" charset="-122"/>
              </a:rPr>
              <a:t>相对论的时空观</a:t>
            </a:r>
          </a:p>
        </p:txBody>
      </p:sp>
      <p:sp>
        <p:nvSpPr>
          <p:cNvPr id="122887" name="AutoShape 7">
            <a:hlinkClick r:id="rId7" action="ppaction://hlinksldjump" highlightClick="1">
              <a:snd r:embed="rId4" name="TYPE.WAV"/>
            </a:hlinkClick>
          </p:cNvPr>
          <p:cNvSpPr>
            <a:spLocks noChangeArrowheads="1"/>
          </p:cNvSpPr>
          <p:nvPr/>
        </p:nvSpPr>
        <p:spPr bwMode="auto">
          <a:xfrm>
            <a:off x="700088" y="3057525"/>
            <a:ext cx="2647950" cy="461963"/>
          </a:xfrm>
          <a:prstGeom prst="actionButtonBlank">
            <a:avLst/>
          </a:prstGeom>
          <a:noFill/>
          <a:ln w="9525">
            <a:noFill/>
            <a:miter lim="800000"/>
            <a:headEnd/>
            <a:tailEnd/>
          </a:ln>
          <a:effectLst/>
        </p:spPr>
        <p:txBody>
          <a:bodyPr anchor="ctr">
            <a:spAutoFit/>
          </a:bodyPr>
          <a:lstStyle/>
          <a:p>
            <a:pPr>
              <a:lnSpc>
                <a:spcPct val="120000"/>
              </a:lnSpc>
              <a:defRPr/>
            </a:pPr>
            <a:r>
              <a:rPr lang="en-US" altLang="zh-CN" sz="2000" dirty="0">
                <a:effectLst>
                  <a:outerShdw blurRad="38100" dist="38100" dir="2700000" algn="tl">
                    <a:srgbClr val="C0C0C0"/>
                  </a:outerShdw>
                </a:effectLst>
                <a:latin typeface="华文中宋" pitchFamily="2" charset="-122"/>
                <a:ea typeface="华文中宋" pitchFamily="2" charset="-122"/>
              </a:rPr>
              <a:t>§4-5 </a:t>
            </a:r>
            <a:r>
              <a:rPr lang="zh-CN" altLang="en-US" sz="2000" dirty="0">
                <a:effectLst>
                  <a:outerShdw blurRad="38100" dist="38100" dir="2700000" algn="tl">
                    <a:srgbClr val="C0C0C0"/>
                  </a:outerShdw>
                </a:effectLst>
                <a:latin typeface="华文中宋" pitchFamily="2" charset="-122"/>
                <a:ea typeface="华文中宋" pitchFamily="2" charset="-122"/>
              </a:rPr>
              <a:t>相对论动力学</a:t>
            </a:r>
          </a:p>
        </p:txBody>
      </p:sp>
      <p:sp>
        <p:nvSpPr>
          <p:cNvPr id="122892" name="AutoShape 12">
            <a:hlinkClick r:id="rId3" action="ppaction://hlinksldjump" highlightClick="1">
              <a:snd r:embed="rId4" name="TYPE.WAV"/>
            </a:hlinkClick>
          </p:cNvPr>
          <p:cNvSpPr>
            <a:spLocks noChangeArrowheads="1"/>
          </p:cNvSpPr>
          <p:nvPr/>
        </p:nvSpPr>
        <p:spPr bwMode="auto">
          <a:xfrm>
            <a:off x="695325" y="1190625"/>
            <a:ext cx="4452938" cy="461963"/>
          </a:xfrm>
          <a:prstGeom prst="actionButtonBlank">
            <a:avLst/>
          </a:prstGeom>
          <a:noFill/>
          <a:ln w="9525">
            <a:noFill/>
            <a:miter lim="800000"/>
            <a:headEnd/>
            <a:tailEnd/>
          </a:ln>
          <a:effectLst/>
        </p:spPr>
        <p:txBody>
          <a:bodyPr anchor="ctr">
            <a:spAutoFit/>
          </a:bodyPr>
          <a:lstStyle/>
          <a:p>
            <a:pPr>
              <a:lnSpc>
                <a:spcPct val="120000"/>
              </a:lnSpc>
              <a:defRPr/>
            </a:pPr>
            <a:r>
              <a:rPr lang="en-US" altLang="zh-CN" sz="2000" dirty="0">
                <a:effectLst>
                  <a:outerShdw blurRad="38100" dist="38100" dir="2700000" algn="tl">
                    <a:srgbClr val="C0C0C0"/>
                  </a:outerShdw>
                </a:effectLst>
                <a:latin typeface="华文中宋" pitchFamily="2" charset="-122"/>
                <a:ea typeface="华文中宋" pitchFamily="2" charset="-122"/>
              </a:rPr>
              <a:t>§4-1 </a:t>
            </a:r>
            <a:r>
              <a:rPr lang="zh-CN" altLang="en-US" sz="2000" dirty="0">
                <a:effectLst>
                  <a:outerShdw blurRad="38100" dist="38100" dir="2700000" algn="tl">
                    <a:srgbClr val="C0C0C0"/>
                  </a:outerShdw>
                </a:effectLst>
                <a:latin typeface="华文中宋" pitchFamily="2" charset="-122"/>
                <a:ea typeface="华文中宋" pitchFamily="2" charset="-122"/>
              </a:rPr>
              <a:t>伽利略变换和经典力学时空观</a:t>
            </a:r>
          </a:p>
        </p:txBody>
      </p:sp>
      <p:pic>
        <p:nvPicPr>
          <p:cNvPr id="122893" name="Picture 7" descr="http://www.newsdaily.com/photos/2012-03-20T155119Z_2_CBRE82I1GAB00_RTROPTP_3_SCIENCE-US-EINSTEIN-ARCHIVE.JPG"/>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l="3415" t="4878" r="4024" b="6503"/>
          <a:stretch>
            <a:fillRect/>
          </a:stretch>
        </p:blipFill>
        <p:spPr bwMode="auto">
          <a:xfrm>
            <a:off x="5651500" y="2716213"/>
            <a:ext cx="3240088"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7">
            <a:hlinkClick r:id="rId7" action="ppaction://hlinksldjump" highlightClick="1">
              <a:snd r:embed="rId4" name="TYPE.WAV"/>
            </a:hlinkClick>
          </p:cNvPr>
          <p:cNvSpPr>
            <a:spLocks noChangeArrowheads="1"/>
          </p:cNvSpPr>
          <p:nvPr/>
        </p:nvSpPr>
        <p:spPr bwMode="auto">
          <a:xfrm>
            <a:off x="1438275" y="3494088"/>
            <a:ext cx="1981200" cy="461962"/>
          </a:xfrm>
          <a:prstGeom prst="actionButtonBlank">
            <a:avLst/>
          </a:prstGeom>
          <a:noFill/>
          <a:ln w="9525">
            <a:noFill/>
            <a:miter lim="800000"/>
            <a:headEnd/>
            <a:tailEnd/>
          </a:ln>
          <a:effectLst/>
        </p:spPr>
        <p:txBody>
          <a:bodyPr anchor="ctr">
            <a:spAutoFit/>
          </a:bodyPr>
          <a:lstStyle/>
          <a:p>
            <a:pPr>
              <a:lnSpc>
                <a:spcPct val="120000"/>
              </a:lnSpc>
              <a:defRPr/>
            </a:pPr>
            <a:r>
              <a:rPr lang="zh-CN" altLang="en-US" sz="2000" dirty="0">
                <a:effectLst>
                  <a:outerShdw blurRad="38100" dist="38100" dir="2700000" algn="tl">
                    <a:srgbClr val="C0C0C0"/>
                  </a:outerShdw>
                </a:effectLst>
                <a:latin typeface="华文中宋" pitchFamily="2" charset="-122"/>
                <a:ea typeface="华文中宋" pitchFamily="2" charset="-122"/>
              </a:rPr>
              <a:t>本章小结</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892"/>
                                        </p:tgtEl>
                                        <p:attrNameLst>
                                          <p:attrName>style.visibility</p:attrName>
                                        </p:attrNameLst>
                                      </p:cBhvr>
                                      <p:to>
                                        <p:strVal val="visible"/>
                                      </p:to>
                                    </p:set>
                                    <p:animEffect transition="in" filter="blinds(horizontal)">
                                      <p:cBhvr>
                                        <p:cTn id="7" dur="500"/>
                                        <p:tgtEl>
                                          <p:spTgt spid="12289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2884"/>
                                        </p:tgtEl>
                                        <p:attrNameLst>
                                          <p:attrName>style.visibility</p:attrName>
                                        </p:attrNameLst>
                                      </p:cBhvr>
                                      <p:to>
                                        <p:strVal val="visible"/>
                                      </p:to>
                                    </p:set>
                                    <p:animEffect transition="in" filter="blinds(horizontal)">
                                      <p:cBhvr>
                                        <p:cTn id="10" dur="500"/>
                                        <p:tgtEl>
                                          <p:spTgt spid="12288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2885"/>
                                        </p:tgtEl>
                                        <p:attrNameLst>
                                          <p:attrName>style.visibility</p:attrName>
                                        </p:attrNameLst>
                                      </p:cBhvr>
                                      <p:to>
                                        <p:strVal val="visible"/>
                                      </p:to>
                                    </p:set>
                                    <p:animEffect transition="in" filter="blinds(horizontal)">
                                      <p:cBhvr>
                                        <p:cTn id="13" dur="500"/>
                                        <p:tgtEl>
                                          <p:spTgt spid="12288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2886"/>
                                        </p:tgtEl>
                                        <p:attrNameLst>
                                          <p:attrName>style.visibility</p:attrName>
                                        </p:attrNameLst>
                                      </p:cBhvr>
                                      <p:to>
                                        <p:strVal val="visible"/>
                                      </p:to>
                                    </p:set>
                                    <p:animEffect transition="in" filter="blinds(horizontal)">
                                      <p:cBhvr>
                                        <p:cTn id="16" dur="500"/>
                                        <p:tgtEl>
                                          <p:spTgt spid="12288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2887"/>
                                        </p:tgtEl>
                                        <p:attrNameLst>
                                          <p:attrName>style.visibility</p:attrName>
                                        </p:attrNameLst>
                                      </p:cBhvr>
                                      <p:to>
                                        <p:strVal val="visible"/>
                                      </p:to>
                                    </p:set>
                                    <p:animEffect transition="in" filter="blinds(horizontal)">
                                      <p:cBhvr>
                                        <p:cTn id="19" dur="500"/>
                                        <p:tgtEl>
                                          <p:spTgt spid="122887"/>
                                        </p:tgtEl>
                                      </p:cBhvr>
                                    </p:animEffect>
                                  </p:childTnLst>
                                </p:cTn>
                              </p:par>
                              <p:par>
                                <p:cTn id="20" presetID="3" presetClass="entr" presetSubtype="10" fill="hold" nodeType="withEffect">
                                  <p:stCondLst>
                                    <p:cond delay="0"/>
                                  </p:stCondLst>
                                  <p:childTnLst>
                                    <p:set>
                                      <p:cBhvr>
                                        <p:cTn id="21" dur="1" fill="hold">
                                          <p:stCondLst>
                                            <p:cond delay="0"/>
                                          </p:stCondLst>
                                        </p:cTn>
                                        <p:tgtEl>
                                          <p:spTgt spid="122893"/>
                                        </p:tgtEl>
                                        <p:attrNameLst>
                                          <p:attrName>style.visibility</p:attrName>
                                        </p:attrNameLst>
                                      </p:cBhvr>
                                      <p:to>
                                        <p:strVal val="visible"/>
                                      </p:to>
                                    </p:set>
                                    <p:animEffect transition="in" filter="blinds(horizontal)">
                                      <p:cBhvr>
                                        <p:cTn id="22" dur="500"/>
                                        <p:tgtEl>
                                          <p:spTgt spid="12289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4" grpId="0"/>
      <p:bldP spid="122885" grpId="0"/>
      <p:bldP spid="122886" grpId="0"/>
      <p:bldP spid="122887" grpId="0"/>
      <p:bldP spid="122892"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2" name="TextBox 2"/>
          <p:cNvSpPr txBox="1">
            <a:spLocks noChangeArrowheads="1"/>
          </p:cNvSpPr>
          <p:nvPr/>
        </p:nvSpPr>
        <p:spPr bwMode="auto">
          <a:xfrm>
            <a:off x="1573213" y="1001713"/>
            <a:ext cx="7570787"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2000">
                <a:solidFill>
                  <a:srgbClr val="0000FF"/>
                </a:solidFill>
                <a:latin typeface="华文中宋" pitchFamily="2" charset="-122"/>
                <a:ea typeface="华文中宋" pitchFamily="2" charset="-122"/>
              </a:rPr>
              <a:t>大自然及其法则在黑夜中隐藏；</a:t>
            </a:r>
          </a:p>
          <a:p>
            <a:pPr eaLnBrk="1" hangingPunct="1"/>
            <a:r>
              <a:rPr kumimoji="0" lang="zh-CN" altLang="en-US" sz="2000">
                <a:solidFill>
                  <a:srgbClr val="0000FF"/>
                </a:solidFill>
                <a:latin typeface="华文中宋" pitchFamily="2" charset="-122"/>
                <a:ea typeface="华文中宋" pitchFamily="2" charset="-122"/>
              </a:rPr>
              <a:t>上帝说：</a:t>
            </a:r>
            <a:r>
              <a:rPr kumimoji="0" lang="en-US" sz="2000">
                <a:solidFill>
                  <a:srgbClr val="0000FF"/>
                </a:solidFill>
                <a:latin typeface="华文中宋" pitchFamily="2" charset="-122"/>
                <a:ea typeface="华文中宋" pitchFamily="2" charset="-122"/>
              </a:rPr>
              <a:t>“</a:t>
            </a:r>
            <a:r>
              <a:rPr kumimoji="0" lang="zh-CN" altLang="en-US" sz="2000">
                <a:solidFill>
                  <a:srgbClr val="0000FF"/>
                </a:solidFill>
                <a:latin typeface="华文中宋" pitchFamily="2" charset="-122"/>
                <a:ea typeface="华文中宋" pitchFamily="2" charset="-122"/>
              </a:rPr>
              <a:t>让牛顿去吧！</a:t>
            </a:r>
            <a:r>
              <a:rPr kumimoji="0" lang="en-US" sz="2000">
                <a:solidFill>
                  <a:srgbClr val="0000FF"/>
                </a:solidFill>
                <a:latin typeface="华文中宋" pitchFamily="2" charset="-122"/>
                <a:ea typeface="华文中宋" pitchFamily="2" charset="-122"/>
              </a:rPr>
              <a:t>”</a:t>
            </a:r>
            <a:endParaRPr kumimoji="0" lang="zh-CN" altLang="en-US" sz="2000">
              <a:solidFill>
                <a:srgbClr val="0000FF"/>
              </a:solidFill>
              <a:latin typeface="华文中宋" pitchFamily="2" charset="-122"/>
              <a:ea typeface="华文中宋" pitchFamily="2" charset="-122"/>
            </a:endParaRPr>
          </a:p>
          <a:p>
            <a:pPr eaLnBrk="1" hangingPunct="1"/>
            <a:r>
              <a:rPr kumimoji="0" lang="zh-CN" altLang="en-US" sz="2000">
                <a:solidFill>
                  <a:srgbClr val="0000FF"/>
                </a:solidFill>
                <a:latin typeface="华文中宋" pitchFamily="2" charset="-122"/>
                <a:ea typeface="华文中宋" pitchFamily="2" charset="-122"/>
              </a:rPr>
              <a:t>于是，一切豁然开朗。</a:t>
            </a:r>
          </a:p>
          <a:p>
            <a:pPr eaLnBrk="1" hangingPunct="1"/>
            <a:r>
              <a:rPr kumimoji="0" lang="zh-CN" altLang="en-US" sz="1800">
                <a:latin typeface="华文中宋" pitchFamily="2" charset="-122"/>
                <a:ea typeface="华文中宋" pitchFamily="2" charset="-122"/>
              </a:rPr>
              <a:t>                       </a:t>
            </a:r>
            <a:r>
              <a:rPr kumimoji="0" lang="en-US" altLang="zh-CN" sz="1800">
                <a:latin typeface="华文中宋" pitchFamily="2" charset="-122"/>
                <a:ea typeface="华文中宋" pitchFamily="2" charset="-122"/>
              </a:rPr>
              <a:t>——</a:t>
            </a:r>
            <a:r>
              <a:rPr kumimoji="0" lang="zh-CN" altLang="en-US" sz="1800">
                <a:latin typeface="华文中宋" pitchFamily="2" charset="-122"/>
                <a:ea typeface="华文中宋" pitchFamily="2" charset="-122"/>
              </a:rPr>
              <a:t>蒲  柏，</a:t>
            </a:r>
            <a:r>
              <a:rPr kumimoji="0" lang="en-US" altLang="zh-CN" sz="1800">
                <a:latin typeface="华文中宋" pitchFamily="2" charset="-122"/>
                <a:ea typeface="华文中宋" pitchFamily="2" charset="-122"/>
              </a:rPr>
              <a:t>18</a:t>
            </a:r>
            <a:r>
              <a:rPr kumimoji="0" lang="zh-CN" altLang="en-US" sz="1800">
                <a:latin typeface="华文中宋" pitchFamily="2" charset="-122"/>
                <a:ea typeface="华文中宋" pitchFamily="2" charset="-122"/>
              </a:rPr>
              <a:t>世纪英国诗人</a:t>
            </a:r>
          </a:p>
        </p:txBody>
      </p:sp>
      <p:sp>
        <p:nvSpPr>
          <p:cNvPr id="273413" name="TextBox 3"/>
          <p:cNvSpPr txBox="1">
            <a:spLocks noChangeArrowheads="1"/>
          </p:cNvSpPr>
          <p:nvPr/>
        </p:nvSpPr>
        <p:spPr bwMode="auto">
          <a:xfrm>
            <a:off x="1554163" y="2719388"/>
            <a:ext cx="7589837"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2000">
                <a:solidFill>
                  <a:srgbClr val="0000FF"/>
                </a:solidFill>
                <a:latin typeface="华文中宋" pitchFamily="2" charset="-122"/>
                <a:ea typeface="华文中宋" pitchFamily="2" charset="-122"/>
              </a:rPr>
              <a:t>但这并不久长。</a:t>
            </a:r>
          </a:p>
          <a:p>
            <a:pPr eaLnBrk="1" hangingPunct="1"/>
            <a:r>
              <a:rPr kumimoji="0" lang="zh-CN" altLang="en-US" sz="2000">
                <a:solidFill>
                  <a:srgbClr val="0000FF"/>
                </a:solidFill>
                <a:latin typeface="华文中宋" pitchFamily="2" charset="-122"/>
                <a:ea typeface="华文中宋" pitchFamily="2" charset="-122"/>
              </a:rPr>
              <a:t>魔鬼大喝一声：“派爱因斯坦去！”</a:t>
            </a:r>
          </a:p>
          <a:p>
            <a:pPr eaLnBrk="1" hangingPunct="1"/>
            <a:r>
              <a:rPr kumimoji="0" lang="zh-CN" altLang="en-US" sz="2000">
                <a:solidFill>
                  <a:srgbClr val="0000FF"/>
                </a:solidFill>
                <a:latin typeface="华文中宋" pitchFamily="2" charset="-122"/>
                <a:ea typeface="华文中宋" pitchFamily="2" charset="-122"/>
              </a:rPr>
              <a:t>于是，一切恢复原样。</a:t>
            </a:r>
          </a:p>
          <a:p>
            <a:pPr eaLnBrk="1" hangingPunct="1"/>
            <a:r>
              <a:rPr kumimoji="0" lang="zh-CN" altLang="en-US" sz="1800">
                <a:latin typeface="华文中宋" pitchFamily="2" charset="-122"/>
                <a:ea typeface="华文中宋" pitchFamily="2" charset="-122"/>
              </a:rPr>
              <a:t>                       </a:t>
            </a:r>
            <a:r>
              <a:rPr kumimoji="0" lang="en-US" altLang="zh-CN" sz="1800">
                <a:latin typeface="华文中宋" pitchFamily="2" charset="-122"/>
                <a:ea typeface="华文中宋" pitchFamily="2" charset="-122"/>
              </a:rPr>
              <a:t>——</a:t>
            </a:r>
            <a:r>
              <a:rPr kumimoji="0" lang="zh-CN" altLang="en-US" sz="1800">
                <a:latin typeface="华文中宋" pitchFamily="2" charset="-122"/>
                <a:ea typeface="华文中宋" pitchFamily="2" charset="-122"/>
              </a:rPr>
              <a:t>斯夸尔，</a:t>
            </a:r>
            <a:r>
              <a:rPr kumimoji="0" lang="en-US" altLang="zh-CN" sz="1800">
                <a:latin typeface="华文中宋" pitchFamily="2" charset="-122"/>
                <a:ea typeface="华文中宋" pitchFamily="2" charset="-122"/>
              </a:rPr>
              <a:t>20</a:t>
            </a:r>
            <a:r>
              <a:rPr kumimoji="0" lang="zh-CN" altLang="en-US" sz="1800">
                <a:latin typeface="华文中宋" pitchFamily="2" charset="-122"/>
                <a:ea typeface="华文中宋" pitchFamily="2" charset="-122"/>
              </a:rPr>
              <a:t>世纪英国诗人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3412"/>
                                        </p:tgtEl>
                                        <p:attrNameLst>
                                          <p:attrName>style.visibility</p:attrName>
                                        </p:attrNameLst>
                                      </p:cBhvr>
                                      <p:to>
                                        <p:strVal val="visible"/>
                                      </p:to>
                                    </p:set>
                                    <p:animEffect transition="in" filter="blinds(horizontal)">
                                      <p:cBhvr>
                                        <p:cTn id="7" dur="500"/>
                                        <p:tgtEl>
                                          <p:spTgt spid="2734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3413"/>
                                        </p:tgtEl>
                                        <p:attrNameLst>
                                          <p:attrName>style.visibility</p:attrName>
                                        </p:attrNameLst>
                                      </p:cBhvr>
                                      <p:to>
                                        <p:strVal val="visible"/>
                                      </p:to>
                                    </p:set>
                                    <p:animEffect transition="in" filter="blinds(horizontal)">
                                      <p:cBhvr>
                                        <p:cTn id="12" dur="500"/>
                                        <p:tgtEl>
                                          <p:spTgt spid="273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2" grpId="0"/>
      <p:bldP spid="2734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p:cNvSpPr txBox="1">
            <a:spLocks noChangeArrowheads="1"/>
          </p:cNvSpPr>
          <p:nvPr/>
        </p:nvSpPr>
        <p:spPr bwMode="auto">
          <a:xfrm>
            <a:off x="3873500" y="979488"/>
            <a:ext cx="4586288"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a:latin typeface="华文中宋" pitchFamily="2" charset="-122"/>
                <a:ea typeface="华文中宋" pitchFamily="2" charset="-122"/>
              </a:rPr>
              <a:t>           </a:t>
            </a:r>
            <a:r>
              <a:rPr lang="zh-CN" altLang="en-US">
                <a:solidFill>
                  <a:srgbClr val="FF0000"/>
                </a:solidFill>
                <a:latin typeface="华文中宋" pitchFamily="2" charset="-122"/>
                <a:ea typeface="华文中宋" pitchFamily="2" charset="-122"/>
              </a:rPr>
              <a:t>爱因斯坦</a:t>
            </a:r>
          </a:p>
          <a:p>
            <a:pPr eaLnBrk="1" hangingPunct="1"/>
            <a:r>
              <a:rPr lang="zh-CN" altLang="en-US">
                <a:latin typeface="华文中宋" pitchFamily="2" charset="-122"/>
                <a:ea typeface="华文中宋" pitchFamily="2" charset="-122"/>
              </a:rPr>
              <a:t>      </a:t>
            </a:r>
            <a:r>
              <a:rPr lang="en-US" altLang="zh-CN">
                <a:solidFill>
                  <a:schemeClr val="accent2"/>
                </a:solidFill>
                <a:latin typeface="华文中宋" pitchFamily="2" charset="-122"/>
                <a:ea typeface="华文中宋" pitchFamily="2" charset="-122"/>
              </a:rPr>
              <a:t>Albert Einstein</a:t>
            </a:r>
            <a:r>
              <a:rPr lang="en-US" altLang="zh-CN">
                <a:latin typeface="华文中宋" pitchFamily="2" charset="-122"/>
                <a:ea typeface="华文中宋" pitchFamily="2" charset="-122"/>
              </a:rPr>
              <a:t>            </a:t>
            </a:r>
          </a:p>
          <a:p>
            <a:pPr eaLnBrk="1" hangingPunct="1"/>
            <a:r>
              <a:rPr lang="en-US" altLang="zh-CN">
                <a:latin typeface="华文中宋" pitchFamily="2" charset="-122"/>
                <a:ea typeface="华文中宋" pitchFamily="2" charset="-122"/>
              </a:rPr>
              <a:t>           1879-1955</a:t>
            </a:r>
          </a:p>
          <a:p>
            <a:pPr eaLnBrk="1" hangingPunct="1"/>
            <a:r>
              <a:rPr lang="en-US" altLang="zh-CN" sz="2400">
                <a:latin typeface="华文中宋" pitchFamily="2" charset="-122"/>
                <a:ea typeface="华文中宋" pitchFamily="2" charset="-122"/>
              </a:rPr>
              <a:t>      </a:t>
            </a:r>
            <a:r>
              <a:rPr lang="zh-CN" altLang="en-US" sz="2400">
                <a:latin typeface="华文中宋" pitchFamily="2" charset="-122"/>
                <a:ea typeface="华文中宋" pitchFamily="2" charset="-122"/>
              </a:rPr>
              <a:t>德裔瑞士人，美国苏黎世大学、普林斯顿高等研究院理论物理学家，相对论的创建者。</a:t>
            </a:r>
          </a:p>
          <a:p>
            <a:pPr eaLnBrk="1" hangingPunct="1"/>
            <a:r>
              <a:rPr lang="zh-CN" altLang="en-US" sz="2400">
                <a:latin typeface="华文中宋" pitchFamily="2" charset="-122"/>
                <a:ea typeface="华文中宋" pitchFamily="2" charset="-122"/>
              </a:rPr>
              <a:t>      因在理论物理学上的发现，特别是发现了光电效应的规律，于 </a:t>
            </a:r>
            <a:r>
              <a:rPr lang="en-US" altLang="zh-CN" sz="2400">
                <a:latin typeface="华文中宋" pitchFamily="2" charset="-122"/>
                <a:ea typeface="华文中宋" pitchFamily="2" charset="-122"/>
              </a:rPr>
              <a:t>1921</a:t>
            </a:r>
            <a:r>
              <a:rPr lang="zh-CN" altLang="en-US" sz="2400">
                <a:latin typeface="华文中宋" pitchFamily="2" charset="-122"/>
                <a:ea typeface="华文中宋" pitchFamily="2" charset="-122"/>
              </a:rPr>
              <a:t>年获诺贝尔物理学奖。</a:t>
            </a:r>
          </a:p>
        </p:txBody>
      </p:sp>
      <p:pic>
        <p:nvPicPr>
          <p:cNvPr id="12291" name="Picture 7" descr="http://www.pdjiaoyu.com/upload/AlbertEinstein.jpg"/>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1374775"/>
            <a:ext cx="2790825"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5" name="Text Box 5"/>
          <p:cNvSpPr txBox="1">
            <a:spLocks noChangeArrowheads="1"/>
          </p:cNvSpPr>
          <p:nvPr/>
        </p:nvSpPr>
        <p:spPr bwMode="auto">
          <a:xfrm>
            <a:off x="827088" y="1071563"/>
            <a:ext cx="782161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2000">
                <a:solidFill>
                  <a:srgbClr val="0000FF"/>
                </a:solidFill>
                <a:latin typeface="华文中宋" pitchFamily="2" charset="-122"/>
                <a:ea typeface="华文中宋" pitchFamily="2" charset="-122"/>
              </a:rPr>
              <a:t>相对论：</a:t>
            </a:r>
          </a:p>
          <a:p>
            <a:pPr eaLnBrk="1" hangingPunct="1"/>
            <a:r>
              <a:rPr kumimoji="0" lang="zh-CN" altLang="en-US" sz="1800">
                <a:latin typeface="华文中宋" pitchFamily="2" charset="-122"/>
                <a:ea typeface="华文中宋" pitchFamily="2" charset="-122"/>
              </a:rPr>
              <a:t>      是关于时空和引力的理论，主要由爱因斯坦创立，依其研究对象的不同可分为狭义相对论和广义相对论。</a:t>
            </a:r>
            <a:endParaRPr lang="zh-CN" altLang="en-US" sz="1800">
              <a:latin typeface="华文中宋" pitchFamily="2" charset="-122"/>
              <a:ea typeface="华文中宋" pitchFamily="2" charset="-122"/>
            </a:endParaRPr>
          </a:p>
        </p:txBody>
      </p:sp>
      <p:sp>
        <p:nvSpPr>
          <p:cNvPr id="5" name="Text Box 5"/>
          <p:cNvSpPr txBox="1">
            <a:spLocks noChangeArrowheads="1"/>
          </p:cNvSpPr>
          <p:nvPr/>
        </p:nvSpPr>
        <p:spPr bwMode="auto">
          <a:xfrm>
            <a:off x="1006475" y="2454275"/>
            <a:ext cx="756920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2000">
                <a:solidFill>
                  <a:srgbClr val="0000FF"/>
                </a:solidFill>
                <a:latin typeface="华文中宋" pitchFamily="2" charset="-122"/>
                <a:ea typeface="华文中宋" pitchFamily="2" charset="-122"/>
              </a:rPr>
              <a:t>狭义相对论 </a:t>
            </a:r>
            <a:r>
              <a:rPr lang="en-US" altLang="zh-CN" sz="2000">
                <a:solidFill>
                  <a:srgbClr val="0000FF"/>
                </a:solidFill>
                <a:latin typeface="华文中宋" pitchFamily="2" charset="-122"/>
                <a:ea typeface="华文中宋" pitchFamily="2" charset="-122"/>
              </a:rPr>
              <a:t>(Special Relativity)</a:t>
            </a:r>
          </a:p>
          <a:p>
            <a:pPr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研究惯性系中的物理规律及其变换，揭示时间、空间和运动的关系。</a:t>
            </a:r>
          </a:p>
        </p:txBody>
      </p:sp>
      <p:sp>
        <p:nvSpPr>
          <p:cNvPr id="6" name="Text Box 5"/>
          <p:cNvSpPr txBox="1">
            <a:spLocks noChangeArrowheads="1"/>
          </p:cNvSpPr>
          <p:nvPr/>
        </p:nvSpPr>
        <p:spPr bwMode="auto">
          <a:xfrm>
            <a:off x="1042988" y="3562350"/>
            <a:ext cx="75326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2000">
                <a:solidFill>
                  <a:srgbClr val="0000FF"/>
                </a:solidFill>
                <a:latin typeface="华文中宋" pitchFamily="2" charset="-122"/>
                <a:ea typeface="华文中宋" pitchFamily="2" charset="-122"/>
              </a:rPr>
              <a:t>广义相对论  </a:t>
            </a:r>
            <a:r>
              <a:rPr lang="en-US" altLang="zh-CN" sz="2000">
                <a:solidFill>
                  <a:srgbClr val="0000FF"/>
                </a:solidFill>
                <a:latin typeface="华文中宋" pitchFamily="2" charset="-122"/>
                <a:ea typeface="华文中宋" pitchFamily="2" charset="-122"/>
              </a:rPr>
              <a:t>(General Relativity)</a:t>
            </a:r>
          </a:p>
          <a:p>
            <a:pPr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研究非惯性系中的物理规律及其变换，揭示时间、空间、运动和引力的关系。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9685">
                                            <p:txEl>
                                              <p:pRg st="0" end="0"/>
                                            </p:txEl>
                                          </p:spTgt>
                                        </p:tgtEl>
                                        <p:attrNameLst>
                                          <p:attrName>style.visibility</p:attrName>
                                        </p:attrNameLst>
                                      </p:cBhvr>
                                      <p:to>
                                        <p:strVal val="visible"/>
                                      </p:to>
                                    </p:set>
                                    <p:animEffect transition="in" filter="wipe(left)">
                                      <p:cBhvr>
                                        <p:cTn id="7" dur="500"/>
                                        <p:tgtEl>
                                          <p:spTgt spid="19968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9685">
                                            <p:txEl>
                                              <p:pRg st="1" end="1"/>
                                            </p:txEl>
                                          </p:spTgt>
                                        </p:tgtEl>
                                        <p:attrNameLst>
                                          <p:attrName>style.visibility</p:attrName>
                                        </p:attrNameLst>
                                      </p:cBhvr>
                                      <p:to>
                                        <p:strVal val="visible"/>
                                      </p:to>
                                    </p:set>
                                    <p:animEffect transition="in" filter="wipe(left)">
                                      <p:cBhvr>
                                        <p:cTn id="12" dur="500"/>
                                        <p:tgtEl>
                                          <p:spTgt spid="19968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wipe(left)">
                                      <p:cBhvr>
                                        <p:cTn id="22" dur="500"/>
                                        <p:tgtEl>
                                          <p:spTgt spid="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wipe(left)">
                                      <p:cBhvr>
                                        <p:cTn id="27" dur="500"/>
                                        <p:tgtEl>
                                          <p:spTgt spid="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5" grpId="0" build="p" autoUpdateAnimBg="0"/>
      <p:bldP spid="5" grpId="0" build="p" autoUpdateAnimBg="0"/>
      <p:bldP spid="6"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1" name="Text Box 3"/>
          <p:cNvSpPr txBox="1">
            <a:spLocks noChangeArrowheads="1"/>
          </p:cNvSpPr>
          <p:nvPr/>
        </p:nvSpPr>
        <p:spPr bwMode="auto">
          <a:xfrm>
            <a:off x="395288" y="835025"/>
            <a:ext cx="8064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b="0">
                <a:latin typeface="华文中宋" pitchFamily="2" charset="-122"/>
                <a:ea typeface="华文中宋" pitchFamily="2" charset="-122"/>
              </a:rPr>
              <a:t> </a:t>
            </a:r>
            <a:r>
              <a:rPr lang="zh-CN" altLang="en-US" sz="1800">
                <a:latin typeface="华文中宋" pitchFamily="2" charset="-122"/>
                <a:ea typeface="华文中宋" pitchFamily="2" charset="-122"/>
              </a:rPr>
              <a:t>相对论涉及到两个似乎对立的概念：</a:t>
            </a:r>
            <a:r>
              <a:rPr lang="zh-CN" altLang="en-US" sz="1800">
                <a:solidFill>
                  <a:srgbClr val="0000FF"/>
                </a:solidFill>
                <a:latin typeface="华文中宋" pitchFamily="2" charset="-122"/>
                <a:ea typeface="华文中宋" pitchFamily="2" charset="-122"/>
              </a:rPr>
              <a:t>相对性和不变性</a:t>
            </a:r>
          </a:p>
        </p:txBody>
      </p:sp>
      <p:sp>
        <p:nvSpPr>
          <p:cNvPr id="309252" name="Rectangle 4"/>
          <p:cNvSpPr>
            <a:spLocks noChangeArrowheads="1"/>
          </p:cNvSpPr>
          <p:nvPr/>
        </p:nvSpPr>
        <p:spPr bwMode="auto">
          <a:xfrm>
            <a:off x="228600" y="1300163"/>
            <a:ext cx="8447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a:spcBef>
                <a:spcPct val="50000"/>
              </a:spcBef>
            </a:pPr>
            <a:r>
              <a:rPr lang="en-US" altLang="zh-CN" sz="1800">
                <a:solidFill>
                  <a:srgbClr val="993300"/>
                </a:solidFill>
                <a:latin typeface="华文中宋" pitchFamily="2" charset="-122"/>
                <a:ea typeface="华文中宋" pitchFamily="2" charset="-122"/>
              </a:rPr>
              <a:t>   </a:t>
            </a:r>
            <a:r>
              <a:rPr lang="zh-CN" altLang="en-US" sz="1800">
                <a:solidFill>
                  <a:srgbClr val="993300"/>
                </a:solidFill>
                <a:latin typeface="华文中宋" pitchFamily="2" charset="-122"/>
                <a:ea typeface="华文中宋" pitchFamily="2" charset="-122"/>
              </a:rPr>
              <a:t>相对性：</a:t>
            </a:r>
            <a:r>
              <a:rPr lang="zh-CN" altLang="en-US" sz="1800">
                <a:latin typeface="华文中宋" pitchFamily="2" charset="-122"/>
                <a:ea typeface="华文中宋" pitchFamily="2" charset="-122"/>
              </a:rPr>
              <a:t>是指观测的相对性，对于一个给定的现象，由于观测者不同而不同。</a:t>
            </a:r>
          </a:p>
        </p:txBody>
      </p:sp>
      <p:sp>
        <p:nvSpPr>
          <p:cNvPr id="309253" name="Rectangle 5"/>
          <p:cNvSpPr>
            <a:spLocks noChangeArrowheads="1"/>
          </p:cNvSpPr>
          <p:nvPr/>
        </p:nvSpPr>
        <p:spPr bwMode="auto">
          <a:xfrm>
            <a:off x="228600" y="1879600"/>
            <a:ext cx="83756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a:spcBef>
                <a:spcPct val="50000"/>
              </a:spcBef>
            </a:pPr>
            <a:r>
              <a:rPr lang="en-US" altLang="zh-CN" sz="1800">
                <a:solidFill>
                  <a:srgbClr val="993300"/>
                </a:solidFill>
                <a:latin typeface="华文中宋" pitchFamily="2" charset="-122"/>
                <a:ea typeface="华文中宋" pitchFamily="2" charset="-122"/>
              </a:rPr>
              <a:t>   </a:t>
            </a:r>
            <a:r>
              <a:rPr lang="zh-CN" altLang="en-US" sz="1800">
                <a:solidFill>
                  <a:srgbClr val="993300"/>
                </a:solidFill>
                <a:latin typeface="华文中宋" pitchFamily="2" charset="-122"/>
                <a:ea typeface="华文中宋" pitchFamily="2" charset="-122"/>
              </a:rPr>
              <a:t>不变性：</a:t>
            </a:r>
            <a:r>
              <a:rPr lang="zh-CN" altLang="en-US" sz="1800">
                <a:latin typeface="华文中宋" pitchFamily="2" charset="-122"/>
                <a:ea typeface="华文中宋" pitchFamily="2" charset="-122"/>
              </a:rPr>
              <a:t>是指一致的部分，对现象观测，有一些方面或一些规律对不同的观测   者都是一样的</a:t>
            </a:r>
            <a:r>
              <a:rPr lang="zh-CN" altLang="en-US" sz="1800" b="0">
                <a:latin typeface="华文中宋" pitchFamily="2" charset="-122"/>
                <a:ea typeface="华文中宋" pitchFamily="2" charset="-122"/>
              </a:rPr>
              <a:t>。</a:t>
            </a:r>
          </a:p>
        </p:txBody>
      </p:sp>
      <p:sp>
        <p:nvSpPr>
          <p:cNvPr id="309254" name="Text Box 6"/>
          <p:cNvSpPr txBox="1">
            <a:spLocks noChangeArrowheads="1"/>
          </p:cNvSpPr>
          <p:nvPr/>
        </p:nvSpPr>
        <p:spPr bwMode="auto">
          <a:xfrm>
            <a:off x="381000" y="2790825"/>
            <a:ext cx="8305800" cy="1293813"/>
          </a:xfrm>
          <a:prstGeom prst="rect">
            <a:avLst/>
          </a:prstGeom>
          <a:noFill/>
          <a:ln w="19050">
            <a:solidFill>
              <a:srgbClr val="6600FF"/>
            </a:solidFill>
            <a:prstDash val="sys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000" b="0">
                <a:latin typeface="华文中宋" pitchFamily="2" charset="-122"/>
                <a:ea typeface="华文中宋" pitchFamily="2" charset="-122"/>
              </a:rPr>
              <a:t>    </a:t>
            </a:r>
            <a:r>
              <a:rPr lang="zh-CN" altLang="en-US" sz="2000">
                <a:latin typeface="楷体" pitchFamily="49" charset="-122"/>
                <a:ea typeface="楷体" pitchFamily="49" charset="-122"/>
              </a:rPr>
              <a:t>我要说爱因斯坦最大的贡献，这一点没有得到充分强调，即指出了不变性。什么是不变性？最重要的不变性，爱因斯坦所认识的不变性，是容易描述的，即首要的是</a:t>
            </a:r>
            <a:r>
              <a:rPr lang="zh-CN" altLang="en-US" sz="2000">
                <a:solidFill>
                  <a:srgbClr val="FF0000"/>
                </a:solidFill>
                <a:latin typeface="楷体" pitchFamily="49" charset="-122"/>
                <a:ea typeface="楷体" pitchFamily="49" charset="-122"/>
              </a:rPr>
              <a:t>自然定律到处都一样。</a:t>
            </a:r>
            <a:endParaRPr lang="zh-CN" altLang="en-US" sz="2000" b="0">
              <a:latin typeface="楷体" pitchFamily="49" charset="-122"/>
              <a:ea typeface="楷体" pitchFamily="49" charset="-122"/>
            </a:endParaRPr>
          </a:p>
          <a:p>
            <a:pPr eaLnBrk="1" hangingPunct="1"/>
            <a:r>
              <a:rPr lang="zh-CN" altLang="en-US" sz="1800" b="0">
                <a:latin typeface="华文中宋" pitchFamily="2" charset="-122"/>
                <a:ea typeface="华文中宋" pitchFamily="2" charset="-122"/>
              </a:rPr>
              <a:t>                                                             </a:t>
            </a:r>
            <a:r>
              <a:rPr lang="en-US" altLang="zh-CN" sz="1800" b="0">
                <a:latin typeface="华文中宋" pitchFamily="2" charset="-122"/>
                <a:ea typeface="华文中宋" pitchFamily="2" charset="-122"/>
              </a:rPr>
              <a:t>----</a:t>
            </a:r>
            <a:r>
              <a:rPr lang="zh-CN" altLang="en-US" sz="1800">
                <a:latin typeface="华文中宋" pitchFamily="2" charset="-122"/>
                <a:ea typeface="华文中宋" pitchFamily="2" charset="-122"/>
              </a:rPr>
              <a:t>维格纳（诺贝尔物理学奖获得者）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09251"/>
                                        </p:tgtEl>
                                        <p:attrNameLst>
                                          <p:attrName>style.visibility</p:attrName>
                                        </p:attrNameLst>
                                      </p:cBhvr>
                                      <p:to>
                                        <p:strVal val="visible"/>
                                      </p:to>
                                    </p:set>
                                    <p:animEffect transition="in" filter="box(in)">
                                      <p:cBhvr>
                                        <p:cTn id="7" dur="500"/>
                                        <p:tgtEl>
                                          <p:spTgt spid="3092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9252"/>
                                        </p:tgtEl>
                                        <p:attrNameLst>
                                          <p:attrName>style.visibility</p:attrName>
                                        </p:attrNameLst>
                                      </p:cBhvr>
                                      <p:to>
                                        <p:strVal val="visible"/>
                                      </p:to>
                                    </p:set>
                                    <p:animEffect transition="in" filter="box(in)">
                                      <p:cBhvr>
                                        <p:cTn id="12" dur="500"/>
                                        <p:tgtEl>
                                          <p:spTgt spid="3092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09253"/>
                                        </p:tgtEl>
                                        <p:attrNameLst>
                                          <p:attrName>style.visibility</p:attrName>
                                        </p:attrNameLst>
                                      </p:cBhvr>
                                      <p:to>
                                        <p:strVal val="visible"/>
                                      </p:to>
                                    </p:set>
                                    <p:animEffect transition="in" filter="box(in)">
                                      <p:cBhvr>
                                        <p:cTn id="17" dur="500"/>
                                        <p:tgtEl>
                                          <p:spTgt spid="3092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09254"/>
                                        </p:tgtEl>
                                        <p:attrNameLst>
                                          <p:attrName>style.visibility</p:attrName>
                                        </p:attrNameLst>
                                      </p:cBhvr>
                                      <p:to>
                                        <p:strVal val="visible"/>
                                      </p:to>
                                    </p:set>
                                    <p:animEffect transition="in" filter="box(in)">
                                      <p:cBhvr>
                                        <p:cTn id="22" dur="500"/>
                                        <p:tgtEl>
                                          <p:spTgt spid="309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autoUpdateAnimBg="0"/>
      <p:bldP spid="309252" grpId="0" autoUpdateAnimBg="0"/>
      <p:bldP spid="309253" grpId="0" autoUpdateAnimBg="0"/>
      <p:bldP spid="309254"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Text Box 2"/>
          <p:cNvSpPr txBox="1">
            <a:spLocks noChangeArrowheads="1"/>
          </p:cNvSpPr>
          <p:nvPr/>
        </p:nvSpPr>
        <p:spPr bwMode="auto">
          <a:xfrm>
            <a:off x="782638" y="1333500"/>
            <a:ext cx="61658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600">
                <a:latin typeface="楷体" pitchFamily="49" charset="-122"/>
                <a:ea typeface="楷体" pitchFamily="49" charset="-122"/>
              </a:rPr>
              <a:t>“</a:t>
            </a:r>
            <a:r>
              <a:rPr lang="zh-CN" altLang="en-US" sz="1600">
                <a:latin typeface="楷体" pitchFamily="49" charset="-122"/>
                <a:ea typeface="楷体" pitchFamily="49" charset="-122"/>
              </a:rPr>
              <a:t>宇，弥异所也”，“久，弥异时也”。 </a:t>
            </a:r>
            <a:r>
              <a:rPr lang="en-US" altLang="zh-CN" sz="1600">
                <a:latin typeface="楷体" pitchFamily="49" charset="-122"/>
                <a:ea typeface="楷体" pitchFamily="49" charset="-122"/>
              </a:rPr>
              <a:t>---</a:t>
            </a:r>
            <a:r>
              <a:rPr lang="zh-CN" altLang="en-US" sz="1600">
                <a:latin typeface="楷体" pitchFamily="49" charset="-122"/>
                <a:ea typeface="楷体" pitchFamily="49" charset="-122"/>
              </a:rPr>
              <a:t>墨子</a:t>
            </a:r>
            <a:r>
              <a:rPr lang="en-US" altLang="zh-CN" sz="1600">
                <a:latin typeface="楷体" pitchFamily="49" charset="-122"/>
                <a:ea typeface="楷体" pitchFamily="49" charset="-122"/>
              </a:rPr>
              <a:t>《</a:t>
            </a:r>
            <a:r>
              <a:rPr lang="zh-CN" altLang="en-US" sz="1600">
                <a:latin typeface="楷体" pitchFamily="49" charset="-122"/>
                <a:ea typeface="楷体" pitchFamily="49" charset="-122"/>
              </a:rPr>
              <a:t>墨经</a:t>
            </a:r>
            <a:r>
              <a:rPr lang="en-US" altLang="zh-CN" sz="1600">
                <a:latin typeface="楷体" pitchFamily="49" charset="-122"/>
                <a:ea typeface="楷体" pitchFamily="49" charset="-122"/>
              </a:rPr>
              <a:t>》</a:t>
            </a:r>
          </a:p>
        </p:txBody>
      </p:sp>
      <p:sp>
        <p:nvSpPr>
          <p:cNvPr id="311305" name="Text Box 9"/>
          <p:cNvSpPr txBox="1">
            <a:spLocks noChangeArrowheads="1"/>
          </p:cNvSpPr>
          <p:nvPr/>
        </p:nvSpPr>
        <p:spPr bwMode="auto">
          <a:xfrm>
            <a:off x="2268538" y="803275"/>
            <a:ext cx="41036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0000"/>
                </a:solidFill>
                <a:latin typeface="华文中宋" pitchFamily="2" charset="-122"/>
                <a:ea typeface="华文中宋" pitchFamily="2" charset="-122"/>
              </a:rPr>
              <a:t>爱因斯坦之前关于时空问题的一般认识</a:t>
            </a:r>
          </a:p>
        </p:txBody>
      </p:sp>
      <p:sp>
        <p:nvSpPr>
          <p:cNvPr id="311306" name="Text Box 10"/>
          <p:cNvSpPr txBox="1">
            <a:spLocks noChangeArrowheads="1"/>
          </p:cNvSpPr>
          <p:nvPr/>
        </p:nvSpPr>
        <p:spPr bwMode="auto">
          <a:xfrm>
            <a:off x="381000" y="1050925"/>
            <a:ext cx="49117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solidFill>
                  <a:srgbClr val="0000FF"/>
                </a:solidFill>
                <a:latin typeface="华文中宋" pitchFamily="2" charset="-122"/>
                <a:ea typeface="华文中宋" pitchFamily="2" charset="-122"/>
                <a:sym typeface="Wingdings 2" pitchFamily="18" charset="2"/>
              </a:rPr>
              <a:t>（</a:t>
            </a:r>
            <a:r>
              <a:rPr lang="en-US" altLang="zh-CN" sz="1600">
                <a:solidFill>
                  <a:srgbClr val="0000FF"/>
                </a:solidFill>
                <a:latin typeface="华文中宋" pitchFamily="2" charset="-122"/>
                <a:ea typeface="华文中宋" pitchFamily="2" charset="-122"/>
                <a:sym typeface="Wingdings 2" pitchFamily="18" charset="2"/>
              </a:rPr>
              <a:t>1</a:t>
            </a:r>
            <a:r>
              <a:rPr lang="zh-CN" altLang="en-US" sz="1600">
                <a:solidFill>
                  <a:srgbClr val="0000FF"/>
                </a:solidFill>
                <a:latin typeface="华文中宋" pitchFamily="2" charset="-122"/>
                <a:ea typeface="华文中宋" pitchFamily="2" charset="-122"/>
                <a:sym typeface="Wingdings 2" pitchFamily="18" charset="2"/>
              </a:rPr>
              <a:t>）我国古代对于时空的认识</a:t>
            </a:r>
            <a:endParaRPr lang="zh-CN" altLang="en-US" sz="1600">
              <a:solidFill>
                <a:srgbClr val="0000FF"/>
              </a:solidFill>
              <a:latin typeface="华文中宋" pitchFamily="2" charset="-122"/>
              <a:ea typeface="华文中宋" pitchFamily="2" charset="-122"/>
            </a:endParaRPr>
          </a:p>
        </p:txBody>
      </p:sp>
      <p:sp>
        <p:nvSpPr>
          <p:cNvPr id="311307" name="Text Box 11"/>
          <p:cNvSpPr txBox="1">
            <a:spLocks noChangeArrowheads="1"/>
          </p:cNvSpPr>
          <p:nvPr/>
        </p:nvSpPr>
        <p:spPr bwMode="auto">
          <a:xfrm>
            <a:off x="395288" y="4300538"/>
            <a:ext cx="62642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solidFill>
                  <a:srgbClr val="0000FF"/>
                </a:solidFill>
                <a:latin typeface="华文中宋" pitchFamily="2" charset="-122"/>
                <a:ea typeface="华文中宋" pitchFamily="2" charset="-122"/>
                <a:sym typeface="Wingdings 2" pitchFamily="18" charset="2"/>
              </a:rPr>
              <a:t>（</a:t>
            </a:r>
            <a:r>
              <a:rPr lang="en-US" altLang="zh-CN" sz="1600">
                <a:solidFill>
                  <a:srgbClr val="0000FF"/>
                </a:solidFill>
                <a:latin typeface="华文中宋" pitchFamily="2" charset="-122"/>
                <a:ea typeface="华文中宋" pitchFamily="2" charset="-122"/>
                <a:sym typeface="Wingdings 2" pitchFamily="18" charset="2"/>
              </a:rPr>
              <a:t>3</a:t>
            </a:r>
            <a:r>
              <a:rPr lang="zh-CN" altLang="en-US" sz="1600">
                <a:solidFill>
                  <a:srgbClr val="0000FF"/>
                </a:solidFill>
                <a:latin typeface="华文中宋" pitchFamily="2" charset="-122"/>
                <a:ea typeface="华文中宋" pitchFamily="2" charset="-122"/>
                <a:sym typeface="Wingdings 2" pitchFamily="18" charset="2"/>
              </a:rPr>
              <a:t>）牛顿的时空观：</a:t>
            </a:r>
            <a:r>
              <a:rPr lang="zh-CN" altLang="en-US" sz="1600">
                <a:latin typeface="华文中宋" pitchFamily="2" charset="-122"/>
                <a:ea typeface="华文中宋" pitchFamily="2" charset="-122"/>
              </a:rPr>
              <a:t>时间与空间相互独立与物质的存在和运动无关</a:t>
            </a:r>
          </a:p>
        </p:txBody>
      </p:sp>
      <p:sp>
        <p:nvSpPr>
          <p:cNvPr id="311308" name="Rectangle 12"/>
          <p:cNvSpPr>
            <a:spLocks noChangeArrowheads="1"/>
          </p:cNvSpPr>
          <p:nvPr/>
        </p:nvSpPr>
        <p:spPr bwMode="auto">
          <a:xfrm>
            <a:off x="539750" y="3435350"/>
            <a:ext cx="8353425" cy="769938"/>
          </a:xfrm>
          <a:prstGeom prst="rect">
            <a:avLst/>
          </a:prstGeom>
          <a:noFill/>
          <a:ln w="19050" cap="rnd">
            <a:solidFill>
              <a:srgbClr val="CC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indent="214313"/>
            <a:r>
              <a:rPr lang="zh-CN" altLang="en-US" sz="1600">
                <a:latin typeface="华文中宋" pitchFamily="2" charset="-122"/>
                <a:ea typeface="华文中宋" pitchFamily="2" charset="-122"/>
              </a:rPr>
              <a:t>   </a:t>
            </a:r>
            <a:r>
              <a:rPr lang="zh-CN" altLang="en-US" sz="1400">
                <a:latin typeface="华文中宋" pitchFamily="2" charset="-122"/>
                <a:ea typeface="华文中宋" pitchFamily="2" charset="-122"/>
              </a:rPr>
              <a:t>亚里士多德对于“时间”有着自己的看法，他指出：“变化总是或快或慢，而时间没有快慢。因为快慢是用时间确定的：所谓快就是时间短而变化大，所谓慢就是时间长而变化小；而时间不能用时间确定，也不用运动变化中已达到的量或已达到的质来确定。 </a:t>
            </a:r>
          </a:p>
        </p:txBody>
      </p:sp>
      <p:sp>
        <p:nvSpPr>
          <p:cNvPr id="311309" name="Rectangle 13"/>
          <p:cNvSpPr>
            <a:spLocks noChangeArrowheads="1"/>
          </p:cNvSpPr>
          <p:nvPr/>
        </p:nvSpPr>
        <p:spPr bwMode="auto">
          <a:xfrm>
            <a:off x="762000" y="1585913"/>
            <a:ext cx="6689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a:latin typeface="楷体" pitchFamily="49" charset="-122"/>
                <a:ea typeface="楷体" pitchFamily="49" charset="-122"/>
                <a:sym typeface="Wingdings 2" pitchFamily="18" charset="2"/>
              </a:rPr>
              <a:t>“</a:t>
            </a:r>
            <a:r>
              <a:rPr lang="zh-CN" altLang="en-US" sz="1600">
                <a:latin typeface="楷体" pitchFamily="49" charset="-122"/>
                <a:ea typeface="楷体" pitchFamily="49" charset="-122"/>
                <a:sym typeface="Wingdings 2" pitchFamily="18" charset="2"/>
              </a:rPr>
              <a:t>天上一天，地上一年。”             </a:t>
            </a:r>
            <a:r>
              <a:rPr lang="en-US" altLang="zh-CN" sz="1600">
                <a:latin typeface="楷体" pitchFamily="49" charset="-122"/>
                <a:ea typeface="楷体" pitchFamily="49" charset="-122"/>
                <a:sym typeface="Wingdings 2" pitchFamily="18" charset="2"/>
              </a:rPr>
              <a:t>---</a:t>
            </a:r>
            <a:r>
              <a:rPr lang="zh-CN" altLang="en-US" sz="1600">
                <a:latin typeface="楷体" pitchFamily="49" charset="-122"/>
                <a:ea typeface="楷体" pitchFamily="49" charset="-122"/>
                <a:sym typeface="Wingdings 2" pitchFamily="18" charset="2"/>
              </a:rPr>
              <a:t>吴承恩</a:t>
            </a:r>
            <a:r>
              <a:rPr lang="en-US" altLang="zh-CN" sz="1600">
                <a:latin typeface="楷体" pitchFamily="49" charset="-122"/>
                <a:ea typeface="楷体" pitchFamily="49" charset="-122"/>
                <a:sym typeface="Wingdings 2" pitchFamily="18" charset="2"/>
              </a:rPr>
              <a:t>《</a:t>
            </a:r>
            <a:r>
              <a:rPr lang="zh-CN" altLang="en-US" sz="1600">
                <a:latin typeface="楷体" pitchFamily="49" charset="-122"/>
                <a:ea typeface="楷体" pitchFamily="49" charset="-122"/>
                <a:sym typeface="Wingdings 2" pitchFamily="18" charset="2"/>
              </a:rPr>
              <a:t>西游记</a:t>
            </a:r>
            <a:r>
              <a:rPr lang="en-US" altLang="zh-CN" sz="1600">
                <a:latin typeface="楷体" pitchFamily="49" charset="-122"/>
                <a:ea typeface="楷体" pitchFamily="49" charset="-122"/>
                <a:sym typeface="Wingdings 2" pitchFamily="18" charset="2"/>
              </a:rPr>
              <a:t>》</a:t>
            </a:r>
          </a:p>
        </p:txBody>
      </p:sp>
      <p:sp>
        <p:nvSpPr>
          <p:cNvPr id="311310" name="Text Box 14"/>
          <p:cNvSpPr txBox="1">
            <a:spLocks noChangeArrowheads="1"/>
          </p:cNvSpPr>
          <p:nvPr/>
        </p:nvSpPr>
        <p:spPr bwMode="auto">
          <a:xfrm>
            <a:off x="395288" y="1860550"/>
            <a:ext cx="44640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solidFill>
                  <a:srgbClr val="0000FF"/>
                </a:solidFill>
                <a:latin typeface="华文中宋" pitchFamily="2" charset="-122"/>
                <a:ea typeface="华文中宋" pitchFamily="2" charset="-122"/>
                <a:sym typeface="Wingdings 2" pitchFamily="18" charset="2"/>
              </a:rPr>
              <a:t>（</a:t>
            </a:r>
            <a:r>
              <a:rPr lang="en-US" altLang="zh-CN" sz="1600">
                <a:solidFill>
                  <a:srgbClr val="0000FF"/>
                </a:solidFill>
                <a:latin typeface="华文中宋" pitchFamily="2" charset="-122"/>
                <a:ea typeface="华文中宋" pitchFamily="2" charset="-122"/>
                <a:sym typeface="Wingdings 2" pitchFamily="18" charset="2"/>
              </a:rPr>
              <a:t>2</a:t>
            </a:r>
            <a:r>
              <a:rPr lang="zh-CN" altLang="en-US" sz="1600">
                <a:solidFill>
                  <a:srgbClr val="0000FF"/>
                </a:solidFill>
                <a:latin typeface="华文中宋" pitchFamily="2" charset="-122"/>
                <a:ea typeface="华文中宋" pitchFamily="2" charset="-122"/>
                <a:sym typeface="Wingdings 2" pitchFamily="18" charset="2"/>
              </a:rPr>
              <a:t>）古希腊对于时空的认识</a:t>
            </a:r>
            <a:endParaRPr lang="zh-CN" altLang="en-US" sz="1600">
              <a:solidFill>
                <a:srgbClr val="0000FF"/>
              </a:solidFill>
              <a:latin typeface="华文中宋" pitchFamily="2" charset="-122"/>
              <a:ea typeface="华文中宋" pitchFamily="2" charset="-122"/>
            </a:endParaRPr>
          </a:p>
        </p:txBody>
      </p:sp>
      <p:sp>
        <p:nvSpPr>
          <p:cNvPr id="311311" name="Rectangle 15"/>
          <p:cNvSpPr>
            <a:spLocks noChangeArrowheads="1"/>
          </p:cNvSpPr>
          <p:nvPr/>
        </p:nvSpPr>
        <p:spPr bwMode="auto">
          <a:xfrm>
            <a:off x="747713" y="2354263"/>
            <a:ext cx="4397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latin typeface="华文中宋" pitchFamily="2" charset="-122"/>
                <a:ea typeface="华文中宋" pitchFamily="2" charset="-122"/>
                <a:sym typeface="Wingdings 2" pitchFamily="18" charset="2"/>
              </a:rPr>
              <a:t>地</a:t>
            </a:r>
          </a:p>
          <a:p>
            <a:r>
              <a:rPr lang="zh-CN" altLang="en-US" sz="1600">
                <a:latin typeface="华文中宋" pitchFamily="2" charset="-122"/>
                <a:ea typeface="华文中宋" pitchFamily="2" charset="-122"/>
                <a:sym typeface="Wingdings 2" pitchFamily="18" charset="2"/>
              </a:rPr>
              <a:t>平</a:t>
            </a:r>
          </a:p>
          <a:p>
            <a:r>
              <a:rPr lang="zh-CN" altLang="en-US" sz="1600">
                <a:latin typeface="华文中宋" pitchFamily="2" charset="-122"/>
                <a:ea typeface="华文中宋" pitchFamily="2" charset="-122"/>
                <a:sym typeface="Wingdings 2" pitchFamily="18" charset="2"/>
              </a:rPr>
              <a:t>说</a:t>
            </a:r>
          </a:p>
        </p:txBody>
      </p:sp>
      <p:sp>
        <p:nvSpPr>
          <p:cNvPr id="311312" name="Rectangle 16"/>
          <p:cNvSpPr>
            <a:spLocks noChangeArrowheads="1"/>
          </p:cNvSpPr>
          <p:nvPr/>
        </p:nvSpPr>
        <p:spPr bwMode="auto">
          <a:xfrm>
            <a:off x="3411538" y="2370138"/>
            <a:ext cx="4397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latin typeface="华文中宋" pitchFamily="2" charset="-122"/>
                <a:ea typeface="华文中宋" pitchFamily="2" charset="-122"/>
                <a:sym typeface="Wingdings 2" pitchFamily="18" charset="2"/>
              </a:rPr>
              <a:t>地</a:t>
            </a:r>
          </a:p>
          <a:p>
            <a:r>
              <a:rPr lang="zh-CN" altLang="en-US" sz="1600">
                <a:latin typeface="华文中宋" pitchFamily="2" charset="-122"/>
                <a:ea typeface="华文中宋" pitchFamily="2" charset="-122"/>
                <a:sym typeface="Wingdings 2" pitchFamily="18" charset="2"/>
              </a:rPr>
              <a:t>心</a:t>
            </a:r>
          </a:p>
          <a:p>
            <a:r>
              <a:rPr lang="zh-CN" altLang="en-US" sz="1600">
                <a:latin typeface="华文中宋" pitchFamily="2" charset="-122"/>
                <a:ea typeface="华文中宋" pitchFamily="2" charset="-122"/>
                <a:sym typeface="Wingdings 2" pitchFamily="18" charset="2"/>
              </a:rPr>
              <a:t>说</a:t>
            </a:r>
          </a:p>
        </p:txBody>
      </p:sp>
      <p:sp>
        <p:nvSpPr>
          <p:cNvPr id="311313" name="Rectangle 17"/>
          <p:cNvSpPr>
            <a:spLocks noChangeArrowheads="1"/>
          </p:cNvSpPr>
          <p:nvPr/>
        </p:nvSpPr>
        <p:spPr bwMode="auto">
          <a:xfrm>
            <a:off x="5795963" y="2354263"/>
            <a:ext cx="4397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latin typeface="华文中宋" pitchFamily="2" charset="-122"/>
                <a:ea typeface="华文中宋" pitchFamily="2" charset="-122"/>
                <a:sym typeface="Wingdings 2" pitchFamily="18" charset="2"/>
              </a:rPr>
              <a:t>日</a:t>
            </a:r>
          </a:p>
          <a:p>
            <a:r>
              <a:rPr lang="zh-CN" altLang="en-US" sz="1600">
                <a:latin typeface="华文中宋" pitchFamily="2" charset="-122"/>
                <a:ea typeface="华文中宋" pitchFamily="2" charset="-122"/>
                <a:sym typeface="Wingdings 2" pitchFamily="18" charset="2"/>
              </a:rPr>
              <a:t>心</a:t>
            </a:r>
          </a:p>
          <a:p>
            <a:r>
              <a:rPr lang="zh-CN" altLang="en-US" sz="1600">
                <a:latin typeface="华文中宋" pitchFamily="2" charset="-122"/>
                <a:ea typeface="华文中宋" pitchFamily="2" charset="-122"/>
                <a:sym typeface="Wingdings 2" pitchFamily="18" charset="2"/>
              </a:rPr>
              <a:t>说</a:t>
            </a:r>
          </a:p>
        </p:txBody>
      </p:sp>
      <p:pic>
        <p:nvPicPr>
          <p:cNvPr id="311315" name="Picture 19" descr="CREATI~1"/>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2284413"/>
            <a:ext cx="1697037" cy="104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317" name="Picture 21" descr="9304C8~1"/>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9525" y="2284413"/>
            <a:ext cx="1601788"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1319" name="Picture 23" descr="201004~1"/>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7763" y="2284413"/>
            <a:ext cx="1509712"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1305"/>
                                        </p:tgtEl>
                                        <p:attrNameLst>
                                          <p:attrName>style.visibility</p:attrName>
                                        </p:attrNameLst>
                                      </p:cBhvr>
                                      <p:to>
                                        <p:strVal val="visible"/>
                                      </p:to>
                                    </p:set>
                                    <p:animEffect transition="in" filter="box(in)">
                                      <p:cBhvr>
                                        <p:cTn id="7" dur="500"/>
                                        <p:tgtEl>
                                          <p:spTgt spid="3113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11306"/>
                                        </p:tgtEl>
                                        <p:attrNameLst>
                                          <p:attrName>style.visibility</p:attrName>
                                        </p:attrNameLst>
                                      </p:cBhvr>
                                      <p:to>
                                        <p:strVal val="visible"/>
                                      </p:to>
                                    </p:set>
                                    <p:animEffect transition="in" filter="box(in)">
                                      <p:cBhvr>
                                        <p:cTn id="12" dur="500"/>
                                        <p:tgtEl>
                                          <p:spTgt spid="3113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11298"/>
                                        </p:tgtEl>
                                        <p:attrNameLst>
                                          <p:attrName>style.visibility</p:attrName>
                                        </p:attrNameLst>
                                      </p:cBhvr>
                                      <p:to>
                                        <p:strVal val="visible"/>
                                      </p:to>
                                    </p:set>
                                    <p:animEffect transition="in" filter="box(in)">
                                      <p:cBhvr>
                                        <p:cTn id="17" dur="500"/>
                                        <p:tgtEl>
                                          <p:spTgt spid="31129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11309"/>
                                        </p:tgtEl>
                                        <p:attrNameLst>
                                          <p:attrName>style.visibility</p:attrName>
                                        </p:attrNameLst>
                                      </p:cBhvr>
                                      <p:to>
                                        <p:strVal val="visible"/>
                                      </p:to>
                                    </p:set>
                                    <p:animEffect transition="in" filter="blinds(horizontal)">
                                      <p:cBhvr>
                                        <p:cTn id="22" dur="500"/>
                                        <p:tgtEl>
                                          <p:spTgt spid="3113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11310"/>
                                        </p:tgtEl>
                                        <p:attrNameLst>
                                          <p:attrName>style.visibility</p:attrName>
                                        </p:attrNameLst>
                                      </p:cBhvr>
                                      <p:to>
                                        <p:strVal val="visible"/>
                                      </p:to>
                                    </p:set>
                                    <p:animEffect transition="in" filter="box(in)">
                                      <p:cBhvr>
                                        <p:cTn id="27" dur="500"/>
                                        <p:tgtEl>
                                          <p:spTgt spid="3113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1311"/>
                                        </p:tgtEl>
                                        <p:attrNameLst>
                                          <p:attrName>style.visibility</p:attrName>
                                        </p:attrNameLst>
                                      </p:cBhvr>
                                      <p:to>
                                        <p:strVal val="visible"/>
                                      </p:to>
                                    </p:set>
                                    <p:animEffect transition="in" filter="blinds(horizontal)">
                                      <p:cBhvr>
                                        <p:cTn id="32" dur="500"/>
                                        <p:tgtEl>
                                          <p:spTgt spid="311311"/>
                                        </p:tgtEl>
                                      </p:cBhvr>
                                    </p:animEffect>
                                  </p:childTnLst>
                                </p:cTn>
                              </p:par>
                              <p:par>
                                <p:cTn id="33" presetID="3" presetClass="entr" presetSubtype="10" fill="hold" nodeType="withEffect">
                                  <p:stCondLst>
                                    <p:cond delay="0"/>
                                  </p:stCondLst>
                                  <p:childTnLst>
                                    <p:set>
                                      <p:cBhvr>
                                        <p:cTn id="34" dur="1" fill="hold">
                                          <p:stCondLst>
                                            <p:cond delay="0"/>
                                          </p:stCondLst>
                                        </p:cTn>
                                        <p:tgtEl>
                                          <p:spTgt spid="311315"/>
                                        </p:tgtEl>
                                        <p:attrNameLst>
                                          <p:attrName>style.visibility</p:attrName>
                                        </p:attrNameLst>
                                      </p:cBhvr>
                                      <p:to>
                                        <p:strVal val="visible"/>
                                      </p:to>
                                    </p:set>
                                    <p:animEffect transition="in" filter="blinds(horizontal)">
                                      <p:cBhvr>
                                        <p:cTn id="35" dur="500"/>
                                        <p:tgtEl>
                                          <p:spTgt spid="31131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11312"/>
                                        </p:tgtEl>
                                        <p:attrNameLst>
                                          <p:attrName>style.visibility</p:attrName>
                                        </p:attrNameLst>
                                      </p:cBhvr>
                                      <p:to>
                                        <p:strVal val="visible"/>
                                      </p:to>
                                    </p:set>
                                    <p:animEffect transition="in" filter="blinds(horizontal)">
                                      <p:cBhvr>
                                        <p:cTn id="40" dur="500"/>
                                        <p:tgtEl>
                                          <p:spTgt spid="311312"/>
                                        </p:tgtEl>
                                      </p:cBhvr>
                                    </p:animEffect>
                                  </p:childTnLst>
                                </p:cTn>
                              </p:par>
                              <p:par>
                                <p:cTn id="41" presetID="3" presetClass="entr" presetSubtype="10" fill="hold" nodeType="withEffect">
                                  <p:stCondLst>
                                    <p:cond delay="0"/>
                                  </p:stCondLst>
                                  <p:childTnLst>
                                    <p:set>
                                      <p:cBhvr>
                                        <p:cTn id="42" dur="1" fill="hold">
                                          <p:stCondLst>
                                            <p:cond delay="0"/>
                                          </p:stCondLst>
                                        </p:cTn>
                                        <p:tgtEl>
                                          <p:spTgt spid="311317"/>
                                        </p:tgtEl>
                                        <p:attrNameLst>
                                          <p:attrName>style.visibility</p:attrName>
                                        </p:attrNameLst>
                                      </p:cBhvr>
                                      <p:to>
                                        <p:strVal val="visible"/>
                                      </p:to>
                                    </p:set>
                                    <p:animEffect transition="in" filter="blinds(horizontal)">
                                      <p:cBhvr>
                                        <p:cTn id="43" dur="500"/>
                                        <p:tgtEl>
                                          <p:spTgt spid="3113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11313"/>
                                        </p:tgtEl>
                                        <p:attrNameLst>
                                          <p:attrName>style.visibility</p:attrName>
                                        </p:attrNameLst>
                                      </p:cBhvr>
                                      <p:to>
                                        <p:strVal val="visible"/>
                                      </p:to>
                                    </p:set>
                                    <p:animEffect transition="in" filter="blinds(horizontal)">
                                      <p:cBhvr>
                                        <p:cTn id="48" dur="500"/>
                                        <p:tgtEl>
                                          <p:spTgt spid="311313"/>
                                        </p:tgtEl>
                                      </p:cBhvr>
                                    </p:animEffect>
                                  </p:childTnLst>
                                </p:cTn>
                              </p:par>
                              <p:par>
                                <p:cTn id="49" presetID="3" presetClass="entr" presetSubtype="10" fill="hold" nodeType="withEffect">
                                  <p:stCondLst>
                                    <p:cond delay="0"/>
                                  </p:stCondLst>
                                  <p:childTnLst>
                                    <p:set>
                                      <p:cBhvr>
                                        <p:cTn id="50" dur="1" fill="hold">
                                          <p:stCondLst>
                                            <p:cond delay="0"/>
                                          </p:stCondLst>
                                        </p:cTn>
                                        <p:tgtEl>
                                          <p:spTgt spid="311319"/>
                                        </p:tgtEl>
                                        <p:attrNameLst>
                                          <p:attrName>style.visibility</p:attrName>
                                        </p:attrNameLst>
                                      </p:cBhvr>
                                      <p:to>
                                        <p:strVal val="visible"/>
                                      </p:to>
                                    </p:set>
                                    <p:animEffect transition="in" filter="blinds(horizontal)">
                                      <p:cBhvr>
                                        <p:cTn id="51" dur="500"/>
                                        <p:tgtEl>
                                          <p:spTgt spid="31131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11308"/>
                                        </p:tgtEl>
                                        <p:attrNameLst>
                                          <p:attrName>style.visibility</p:attrName>
                                        </p:attrNameLst>
                                      </p:cBhvr>
                                      <p:to>
                                        <p:strVal val="visible"/>
                                      </p:to>
                                    </p:set>
                                    <p:animEffect transition="in" filter="blinds(horizontal)">
                                      <p:cBhvr>
                                        <p:cTn id="56" dur="500"/>
                                        <p:tgtEl>
                                          <p:spTgt spid="31130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311307"/>
                                        </p:tgtEl>
                                        <p:attrNameLst>
                                          <p:attrName>style.visibility</p:attrName>
                                        </p:attrNameLst>
                                      </p:cBhvr>
                                      <p:to>
                                        <p:strVal val="visible"/>
                                      </p:to>
                                    </p:set>
                                    <p:animEffect transition="in" filter="box(in)">
                                      <p:cBhvr>
                                        <p:cTn id="61" dur="500"/>
                                        <p:tgtEl>
                                          <p:spTgt spid="311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8" grpId="0" autoUpdateAnimBg="0"/>
      <p:bldP spid="311305" grpId="0" autoUpdateAnimBg="0"/>
      <p:bldP spid="311306" grpId="0" autoUpdateAnimBg="0"/>
      <p:bldP spid="311307" grpId="0" autoUpdateAnimBg="0"/>
      <p:bldP spid="311308" grpId="0" animBg="1"/>
      <p:bldP spid="311309" grpId="0"/>
      <p:bldP spid="311310" grpId="0" autoUpdateAnimBg="0"/>
      <p:bldP spid="311311" grpId="0"/>
      <p:bldP spid="311312" grpId="0"/>
      <p:bldP spid="3113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9" name="Text Box 9"/>
          <p:cNvSpPr txBox="1">
            <a:spLocks noChangeArrowheads="1"/>
          </p:cNvSpPr>
          <p:nvPr/>
        </p:nvSpPr>
        <p:spPr bwMode="auto">
          <a:xfrm>
            <a:off x="684213" y="1266825"/>
            <a:ext cx="27352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latin typeface="华文中宋" pitchFamily="2" charset="-122"/>
                <a:ea typeface="华文中宋" pitchFamily="2" charset="-122"/>
              </a:rPr>
              <a:t>1</a:t>
            </a:r>
            <a:r>
              <a:rPr lang="zh-CN" altLang="en-US" sz="1800">
                <a:solidFill>
                  <a:srgbClr val="0000FF"/>
                </a:solidFill>
                <a:latin typeface="华文中宋" pitchFamily="2" charset="-122"/>
                <a:ea typeface="华文中宋" pitchFamily="2" charset="-122"/>
              </a:rPr>
              <a:t>、伽里略变换</a:t>
            </a:r>
            <a:r>
              <a:rPr lang="zh-CN" altLang="en-US" sz="1800" b="0">
                <a:solidFill>
                  <a:srgbClr val="0000FF"/>
                </a:solidFill>
                <a:latin typeface="华文中宋" pitchFamily="2" charset="-122"/>
                <a:ea typeface="华文中宋" pitchFamily="2" charset="-122"/>
              </a:rPr>
              <a:t>     </a:t>
            </a:r>
          </a:p>
        </p:txBody>
      </p:sp>
      <p:sp>
        <p:nvSpPr>
          <p:cNvPr id="225290" name="Text Box 10"/>
          <p:cNvSpPr txBox="1">
            <a:spLocks noChangeArrowheads="1"/>
          </p:cNvSpPr>
          <p:nvPr/>
        </p:nvSpPr>
        <p:spPr bwMode="auto">
          <a:xfrm>
            <a:off x="395288" y="1654175"/>
            <a:ext cx="84978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设有两坐标轴彼此平行的惯性系，</a:t>
            </a:r>
            <a:r>
              <a:rPr lang="en-US" altLang="zh-CN" sz="1800" i="1">
                <a:ea typeface="华文中宋" pitchFamily="2" charset="-122"/>
              </a:rPr>
              <a:t>S</a:t>
            </a:r>
            <a:r>
              <a:rPr lang="zh-CN" altLang="en-US" sz="1800">
                <a:ea typeface="华文中宋" pitchFamily="2" charset="-122"/>
              </a:rPr>
              <a:t>和</a:t>
            </a:r>
            <a:r>
              <a:rPr lang="en-US" altLang="zh-CN" sz="1800" i="1">
                <a:ea typeface="华文中宋" pitchFamily="2" charset="-122"/>
              </a:rPr>
              <a:t>S</a:t>
            </a:r>
            <a:r>
              <a:rPr lang="en-US" altLang="zh-CN" sz="1800" baseline="30000">
                <a:ea typeface="华文中宋" pitchFamily="2" charset="-122"/>
              </a:rPr>
              <a:t>/</a:t>
            </a:r>
            <a:r>
              <a:rPr lang="zh-CN" altLang="en-US" sz="1800">
                <a:ea typeface="华文中宋" pitchFamily="2" charset="-122"/>
              </a:rPr>
              <a:t>系，开始计时时、两坐标系原点重合，</a:t>
            </a:r>
            <a:r>
              <a:rPr lang="en-US" altLang="zh-CN" sz="1800" i="1">
                <a:ea typeface="华文中宋" pitchFamily="2" charset="-122"/>
              </a:rPr>
              <a:t>S</a:t>
            </a:r>
            <a:r>
              <a:rPr lang="en-US" altLang="zh-CN" sz="1800" baseline="30000">
                <a:ea typeface="华文中宋" pitchFamily="2" charset="-122"/>
              </a:rPr>
              <a:t>/</a:t>
            </a:r>
            <a:r>
              <a:rPr lang="zh-CN" altLang="en-US" sz="1800">
                <a:ea typeface="华文中宋" pitchFamily="2" charset="-122"/>
              </a:rPr>
              <a:t>系相对于</a:t>
            </a:r>
            <a:r>
              <a:rPr lang="en-US" altLang="zh-CN" sz="1800" i="1">
                <a:ea typeface="华文中宋" pitchFamily="2" charset="-122"/>
              </a:rPr>
              <a:t>S</a:t>
            </a:r>
            <a:r>
              <a:rPr lang="zh-CN" altLang="en-US" sz="1800">
                <a:ea typeface="华文中宋" pitchFamily="2" charset="-122"/>
              </a:rPr>
              <a:t>系沿</a:t>
            </a:r>
            <a:r>
              <a:rPr lang="en-US" altLang="zh-CN" sz="1800" i="1">
                <a:ea typeface="华文中宋" pitchFamily="2" charset="-122"/>
              </a:rPr>
              <a:t>x</a:t>
            </a:r>
            <a:r>
              <a:rPr lang="zh-CN" altLang="en-US" sz="1800">
                <a:ea typeface="华文中宋" pitchFamily="2" charset="-122"/>
              </a:rPr>
              <a:t>轴以速度</a:t>
            </a:r>
            <a:r>
              <a:rPr lang="en-US" altLang="zh-CN" sz="1800" i="1">
                <a:ea typeface="华文中宋" pitchFamily="2" charset="-122"/>
              </a:rPr>
              <a:t>u</a:t>
            </a:r>
            <a:r>
              <a:rPr lang="zh-CN" altLang="en-US" sz="1800">
                <a:ea typeface="华文中宋" pitchFamily="2" charset="-122"/>
              </a:rPr>
              <a:t>匀速运动。</a:t>
            </a:r>
          </a:p>
        </p:txBody>
      </p:sp>
      <p:grpSp>
        <p:nvGrpSpPr>
          <p:cNvPr id="2" name="Group 84"/>
          <p:cNvGrpSpPr>
            <a:grpSpLocks/>
          </p:cNvGrpSpPr>
          <p:nvPr/>
        </p:nvGrpSpPr>
        <p:grpSpPr bwMode="auto">
          <a:xfrm>
            <a:off x="827088" y="2444750"/>
            <a:ext cx="2663825" cy="2239963"/>
            <a:chOff x="2971" y="1253"/>
            <a:chExt cx="1678" cy="1882"/>
          </a:xfrm>
        </p:grpSpPr>
        <p:sp>
          <p:nvSpPr>
            <p:cNvPr id="16431" name="Text Box 22"/>
            <p:cNvSpPr txBox="1">
              <a:spLocks noChangeArrowheads="1"/>
            </p:cNvSpPr>
            <p:nvPr/>
          </p:nvSpPr>
          <p:spPr bwMode="auto">
            <a:xfrm>
              <a:off x="3075" y="1983"/>
              <a:ext cx="277"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O</a:t>
              </a:r>
            </a:p>
          </p:txBody>
        </p:sp>
        <p:grpSp>
          <p:nvGrpSpPr>
            <p:cNvPr id="16432" name="Group 83"/>
            <p:cNvGrpSpPr>
              <a:grpSpLocks/>
            </p:cNvGrpSpPr>
            <p:nvPr/>
          </p:nvGrpSpPr>
          <p:grpSpPr bwMode="auto">
            <a:xfrm>
              <a:off x="2971" y="1253"/>
              <a:ext cx="1678" cy="1882"/>
              <a:chOff x="2971" y="1253"/>
              <a:chExt cx="1678" cy="1882"/>
            </a:xfrm>
          </p:grpSpPr>
          <p:sp>
            <p:nvSpPr>
              <p:cNvPr id="16433" name="Line 16"/>
              <p:cNvSpPr>
                <a:spLocks noChangeShapeType="1"/>
              </p:cNvSpPr>
              <p:nvPr/>
            </p:nvSpPr>
            <p:spPr bwMode="auto">
              <a:xfrm>
                <a:off x="3335" y="2241"/>
                <a:ext cx="1314" cy="1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34" name="Line 17"/>
              <p:cNvSpPr>
                <a:spLocks noChangeShapeType="1"/>
              </p:cNvSpPr>
              <p:nvPr/>
            </p:nvSpPr>
            <p:spPr bwMode="auto">
              <a:xfrm flipV="1">
                <a:off x="3335" y="1386"/>
                <a:ext cx="0" cy="85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35" name="Line 18"/>
              <p:cNvSpPr>
                <a:spLocks noChangeShapeType="1"/>
              </p:cNvSpPr>
              <p:nvPr/>
            </p:nvSpPr>
            <p:spPr bwMode="auto">
              <a:xfrm flipH="1">
                <a:off x="2971" y="2241"/>
                <a:ext cx="364" cy="59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36" name="Text Box 19"/>
              <p:cNvSpPr txBox="1">
                <a:spLocks noChangeArrowheads="1"/>
              </p:cNvSpPr>
              <p:nvPr/>
            </p:nvSpPr>
            <p:spPr bwMode="auto">
              <a:xfrm>
                <a:off x="4377" y="1933"/>
                <a:ext cx="22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x</a:t>
                </a:r>
              </a:p>
            </p:txBody>
          </p:sp>
          <p:sp>
            <p:nvSpPr>
              <p:cNvPr id="16437" name="Text Box 20"/>
              <p:cNvSpPr txBox="1">
                <a:spLocks noChangeArrowheads="1"/>
              </p:cNvSpPr>
              <p:nvPr/>
            </p:nvSpPr>
            <p:spPr bwMode="auto">
              <a:xfrm>
                <a:off x="2995" y="2696"/>
                <a:ext cx="20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z</a:t>
                </a:r>
              </a:p>
            </p:txBody>
          </p:sp>
          <p:sp>
            <p:nvSpPr>
              <p:cNvPr id="16438" name="Text Box 21"/>
              <p:cNvSpPr txBox="1">
                <a:spLocks noChangeArrowheads="1"/>
              </p:cNvSpPr>
              <p:nvPr/>
            </p:nvSpPr>
            <p:spPr bwMode="auto">
              <a:xfrm>
                <a:off x="3068" y="1253"/>
                <a:ext cx="21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y</a:t>
                </a:r>
              </a:p>
            </p:txBody>
          </p:sp>
          <p:sp>
            <p:nvSpPr>
              <p:cNvPr id="16439" name="Text Box 23"/>
              <p:cNvSpPr txBox="1">
                <a:spLocks noChangeArrowheads="1"/>
              </p:cNvSpPr>
              <p:nvPr/>
            </p:nvSpPr>
            <p:spPr bwMode="auto">
              <a:xfrm>
                <a:off x="3334" y="1253"/>
                <a:ext cx="241"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S</a:t>
                </a:r>
              </a:p>
            </p:txBody>
          </p:sp>
        </p:grpSp>
      </p:grpSp>
      <p:grpSp>
        <p:nvGrpSpPr>
          <p:cNvPr id="4" name="Group 86"/>
          <p:cNvGrpSpPr>
            <a:grpSpLocks/>
          </p:cNvGrpSpPr>
          <p:nvPr/>
        </p:nvGrpSpPr>
        <p:grpSpPr bwMode="auto">
          <a:xfrm>
            <a:off x="2266950" y="2409825"/>
            <a:ext cx="2663825" cy="2220913"/>
            <a:chOff x="3847" y="1224"/>
            <a:chExt cx="1678" cy="1865"/>
          </a:xfrm>
        </p:grpSpPr>
        <p:grpSp>
          <p:nvGrpSpPr>
            <p:cNvPr id="16419" name="Group 85"/>
            <p:cNvGrpSpPr>
              <a:grpSpLocks/>
            </p:cNvGrpSpPr>
            <p:nvPr/>
          </p:nvGrpSpPr>
          <p:grpSpPr bwMode="auto">
            <a:xfrm>
              <a:off x="3847" y="1224"/>
              <a:ext cx="1618" cy="1865"/>
              <a:chOff x="3833" y="1258"/>
              <a:chExt cx="1618" cy="1865"/>
            </a:xfrm>
          </p:grpSpPr>
          <p:grpSp>
            <p:nvGrpSpPr>
              <p:cNvPr id="16422" name="Group 25"/>
              <p:cNvGrpSpPr>
                <a:grpSpLocks/>
              </p:cNvGrpSpPr>
              <p:nvPr/>
            </p:nvGrpSpPr>
            <p:grpSpPr bwMode="auto">
              <a:xfrm>
                <a:off x="3833" y="1434"/>
                <a:ext cx="1490" cy="1495"/>
                <a:chOff x="3552" y="528"/>
                <a:chExt cx="1344" cy="1008"/>
              </a:xfrm>
            </p:grpSpPr>
            <p:sp>
              <p:nvSpPr>
                <p:cNvPr id="16428" name="Line 26"/>
                <p:cNvSpPr>
                  <a:spLocks noChangeShapeType="1"/>
                </p:cNvSpPr>
                <p:nvPr/>
              </p:nvSpPr>
              <p:spPr bwMode="auto">
                <a:xfrm>
                  <a:off x="3840" y="1104"/>
                  <a:ext cx="1056"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29" name="Line 27"/>
                <p:cNvSpPr>
                  <a:spLocks noChangeShapeType="1"/>
                </p:cNvSpPr>
                <p:nvPr/>
              </p:nvSpPr>
              <p:spPr bwMode="auto">
                <a:xfrm flipV="1">
                  <a:off x="3840" y="528"/>
                  <a:ext cx="0" cy="576"/>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30" name="Line 28"/>
                <p:cNvSpPr>
                  <a:spLocks noChangeShapeType="1"/>
                </p:cNvSpPr>
                <p:nvPr/>
              </p:nvSpPr>
              <p:spPr bwMode="auto">
                <a:xfrm flipH="1">
                  <a:off x="3552" y="1104"/>
                  <a:ext cx="288" cy="43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16423" name="Text Box 29"/>
              <p:cNvSpPr txBox="1">
                <a:spLocks noChangeArrowheads="1"/>
              </p:cNvSpPr>
              <p:nvPr/>
            </p:nvSpPr>
            <p:spPr bwMode="auto">
              <a:xfrm>
                <a:off x="5148" y="1933"/>
                <a:ext cx="30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x’</a:t>
                </a:r>
              </a:p>
            </p:txBody>
          </p:sp>
          <p:sp>
            <p:nvSpPr>
              <p:cNvPr id="16424" name="Text Box 30"/>
              <p:cNvSpPr txBox="1">
                <a:spLocks noChangeArrowheads="1"/>
              </p:cNvSpPr>
              <p:nvPr/>
            </p:nvSpPr>
            <p:spPr bwMode="auto">
              <a:xfrm>
                <a:off x="3914" y="1258"/>
                <a:ext cx="266"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y</a:t>
                </a:r>
                <a:r>
                  <a:rPr lang="en-US" altLang="zh-CN" i="1" baseline="30000">
                    <a:solidFill>
                      <a:srgbClr val="0000FF"/>
                    </a:solidFill>
                    <a:ea typeface="宋体" pitchFamily="2" charset="-122"/>
                  </a:rPr>
                  <a:t>’</a:t>
                </a:r>
                <a:endParaRPr lang="en-US" altLang="zh-CN" i="1">
                  <a:solidFill>
                    <a:srgbClr val="0000FF"/>
                  </a:solidFill>
                  <a:ea typeface="宋体" pitchFamily="2" charset="-122"/>
                </a:endParaRPr>
              </a:p>
            </p:txBody>
          </p:sp>
          <p:sp>
            <p:nvSpPr>
              <p:cNvPr id="16425" name="Text Box 31"/>
              <p:cNvSpPr txBox="1">
                <a:spLocks noChangeArrowheads="1"/>
              </p:cNvSpPr>
              <p:nvPr/>
            </p:nvSpPr>
            <p:spPr bwMode="auto">
              <a:xfrm>
                <a:off x="4180" y="1258"/>
                <a:ext cx="292"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S</a:t>
                </a:r>
                <a:r>
                  <a:rPr lang="en-US" altLang="zh-CN" baseline="30000">
                    <a:solidFill>
                      <a:srgbClr val="0000FF"/>
                    </a:solidFill>
                    <a:ea typeface="宋体" pitchFamily="2" charset="-122"/>
                  </a:rPr>
                  <a:t>’</a:t>
                </a:r>
                <a:endParaRPr lang="en-US" altLang="zh-CN">
                  <a:solidFill>
                    <a:srgbClr val="0000FF"/>
                  </a:solidFill>
                  <a:ea typeface="宋体" pitchFamily="2" charset="-122"/>
                </a:endParaRPr>
              </a:p>
            </p:txBody>
          </p:sp>
          <p:sp>
            <p:nvSpPr>
              <p:cNvPr id="16426" name="Text Box 32"/>
              <p:cNvSpPr txBox="1">
                <a:spLocks noChangeArrowheads="1"/>
              </p:cNvSpPr>
              <p:nvPr/>
            </p:nvSpPr>
            <p:spPr bwMode="auto">
              <a:xfrm>
                <a:off x="3862" y="1944"/>
                <a:ext cx="32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O</a:t>
                </a:r>
                <a:r>
                  <a:rPr lang="en-US" altLang="zh-CN" i="1" baseline="30000">
                    <a:solidFill>
                      <a:srgbClr val="0000FF"/>
                    </a:solidFill>
                    <a:ea typeface="宋体" pitchFamily="2" charset="-122"/>
                  </a:rPr>
                  <a:t>’</a:t>
                </a:r>
                <a:endParaRPr lang="en-US" altLang="zh-CN" i="1">
                  <a:solidFill>
                    <a:srgbClr val="0000FF"/>
                  </a:solidFill>
                  <a:ea typeface="宋体" pitchFamily="2" charset="-122"/>
                </a:endParaRPr>
              </a:p>
            </p:txBody>
          </p:sp>
          <p:sp>
            <p:nvSpPr>
              <p:cNvPr id="16427" name="Text Box 33"/>
              <p:cNvSpPr txBox="1">
                <a:spLocks noChangeArrowheads="1"/>
              </p:cNvSpPr>
              <p:nvPr/>
            </p:nvSpPr>
            <p:spPr bwMode="auto">
              <a:xfrm>
                <a:off x="3891" y="2684"/>
                <a:ext cx="27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z’</a:t>
                </a:r>
              </a:p>
            </p:txBody>
          </p:sp>
        </p:grpSp>
        <p:sp>
          <p:nvSpPr>
            <p:cNvPr id="16420" name="Text Box 34"/>
            <p:cNvSpPr txBox="1">
              <a:spLocks noChangeArrowheads="1"/>
            </p:cNvSpPr>
            <p:nvPr/>
          </p:nvSpPr>
          <p:spPr bwMode="auto">
            <a:xfrm>
              <a:off x="5284" y="1706"/>
              <a:ext cx="241"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FF3300"/>
                  </a:solidFill>
                  <a:ea typeface="宋体" pitchFamily="2" charset="-122"/>
                  <a:cs typeface="Times New Roman" pitchFamily="18" charset="0"/>
                </a:rPr>
                <a:t>u</a:t>
              </a:r>
            </a:p>
          </p:txBody>
        </p:sp>
        <p:sp>
          <p:nvSpPr>
            <p:cNvPr id="16421" name="Line 35"/>
            <p:cNvSpPr>
              <a:spLocks noChangeShapeType="1"/>
            </p:cNvSpPr>
            <p:nvPr/>
          </p:nvSpPr>
          <p:spPr bwMode="auto">
            <a:xfrm>
              <a:off x="4925" y="1916"/>
              <a:ext cx="372"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7" name="Group 88"/>
          <p:cNvGrpSpPr>
            <a:grpSpLocks/>
          </p:cNvGrpSpPr>
          <p:nvPr/>
        </p:nvGrpSpPr>
        <p:grpSpPr bwMode="auto">
          <a:xfrm>
            <a:off x="1114425" y="3621088"/>
            <a:ext cx="2305050" cy="911225"/>
            <a:chOff x="3152" y="2241"/>
            <a:chExt cx="1452" cy="766"/>
          </a:xfrm>
        </p:grpSpPr>
        <p:sp>
          <p:nvSpPr>
            <p:cNvPr id="16414" name="Text Box 70"/>
            <p:cNvSpPr txBox="1">
              <a:spLocks noChangeArrowheads="1"/>
            </p:cNvSpPr>
            <p:nvPr/>
          </p:nvSpPr>
          <p:spPr bwMode="auto">
            <a:xfrm>
              <a:off x="3651" y="2568"/>
              <a:ext cx="22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x</a:t>
              </a:r>
            </a:p>
          </p:txBody>
        </p:sp>
        <p:sp>
          <p:nvSpPr>
            <p:cNvPr id="16415" name="Line 71"/>
            <p:cNvSpPr>
              <a:spLocks noChangeShapeType="1"/>
            </p:cNvSpPr>
            <p:nvPr/>
          </p:nvSpPr>
          <p:spPr bwMode="auto">
            <a:xfrm>
              <a:off x="4059" y="2523"/>
              <a:ext cx="545" cy="0"/>
            </a:xfrm>
            <a:prstGeom prst="line">
              <a:avLst/>
            </a:prstGeom>
            <a:noFill/>
            <a:ln w="25400">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16" name="Text Box 72"/>
            <p:cNvSpPr txBox="1">
              <a:spLocks noChangeArrowheads="1"/>
            </p:cNvSpPr>
            <p:nvPr/>
          </p:nvSpPr>
          <p:spPr bwMode="auto">
            <a:xfrm>
              <a:off x="4241" y="2241"/>
              <a:ext cx="30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x’</a:t>
              </a:r>
            </a:p>
          </p:txBody>
        </p:sp>
        <p:sp>
          <p:nvSpPr>
            <p:cNvPr id="16417" name="Line 73"/>
            <p:cNvSpPr>
              <a:spLocks noChangeShapeType="1"/>
            </p:cNvSpPr>
            <p:nvPr/>
          </p:nvSpPr>
          <p:spPr bwMode="auto">
            <a:xfrm>
              <a:off x="3152" y="2523"/>
              <a:ext cx="907" cy="0"/>
            </a:xfrm>
            <a:prstGeom prst="line">
              <a:avLst/>
            </a:prstGeom>
            <a:noFill/>
            <a:ln w="25400">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18" name="Text Box 74"/>
            <p:cNvSpPr txBox="1">
              <a:spLocks noChangeArrowheads="1"/>
            </p:cNvSpPr>
            <p:nvPr/>
          </p:nvSpPr>
          <p:spPr bwMode="auto">
            <a:xfrm>
              <a:off x="3470" y="2251"/>
              <a:ext cx="30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ut</a:t>
              </a:r>
            </a:p>
          </p:txBody>
        </p:sp>
      </p:grpSp>
      <p:grpSp>
        <p:nvGrpSpPr>
          <p:cNvPr id="8" name="Group 87"/>
          <p:cNvGrpSpPr>
            <a:grpSpLocks/>
          </p:cNvGrpSpPr>
          <p:nvPr/>
        </p:nvGrpSpPr>
        <p:grpSpPr bwMode="auto">
          <a:xfrm>
            <a:off x="969963" y="2768600"/>
            <a:ext cx="2665412" cy="1349375"/>
            <a:chOff x="3061" y="1525"/>
            <a:chExt cx="1679" cy="1134"/>
          </a:xfrm>
        </p:grpSpPr>
        <p:sp>
          <p:nvSpPr>
            <p:cNvPr id="16404" name="Line 63"/>
            <p:cNvSpPr>
              <a:spLocks noChangeShapeType="1"/>
            </p:cNvSpPr>
            <p:nvPr/>
          </p:nvSpPr>
          <p:spPr bwMode="auto">
            <a:xfrm>
              <a:off x="3061" y="2659"/>
              <a:ext cx="1497" cy="0"/>
            </a:xfrm>
            <a:prstGeom prst="line">
              <a:avLst/>
            </a:prstGeom>
            <a:noFill/>
            <a:ln w="25400">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05" name="Line 64"/>
            <p:cNvSpPr>
              <a:spLocks noChangeShapeType="1"/>
            </p:cNvSpPr>
            <p:nvPr/>
          </p:nvSpPr>
          <p:spPr bwMode="auto">
            <a:xfrm flipH="1">
              <a:off x="4558" y="2251"/>
              <a:ext cx="182" cy="408"/>
            </a:xfrm>
            <a:prstGeom prst="line">
              <a:avLst/>
            </a:prstGeom>
            <a:noFill/>
            <a:ln w="25400">
              <a:solidFill>
                <a:schemeClr val="tx1"/>
              </a:solidFill>
              <a:prstDash val="dash"/>
              <a:round/>
              <a:headEnd type="stealth"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06" name="AutoShape 65"/>
            <p:cNvSpPr>
              <a:spLocks noChangeArrowheads="1"/>
            </p:cNvSpPr>
            <p:nvPr/>
          </p:nvSpPr>
          <p:spPr bwMode="auto">
            <a:xfrm>
              <a:off x="4514" y="1625"/>
              <a:ext cx="90" cy="618"/>
            </a:xfrm>
            <a:prstGeom prst="flowChartConnector">
              <a:avLst/>
            </a:prstGeom>
            <a:solidFill>
              <a:schemeClr val="tx1"/>
            </a:solidFill>
            <a:ln w="9525">
              <a:solidFill>
                <a:schemeClr val="tx1"/>
              </a:solidFill>
              <a:round/>
              <a:headEnd/>
              <a:tailEnd/>
            </a:ln>
          </p:spPr>
          <p:txBody>
            <a:bodyPr anchor="ctr">
              <a:spAutoFit/>
            </a:bodyPr>
            <a:lstStyle/>
            <a:p>
              <a:endParaRPr lang="zh-CN" altLang="en-US"/>
            </a:p>
          </p:txBody>
        </p:sp>
        <p:sp>
          <p:nvSpPr>
            <p:cNvPr id="16407" name="Line 66"/>
            <p:cNvSpPr>
              <a:spLocks noChangeShapeType="1"/>
            </p:cNvSpPr>
            <p:nvPr/>
          </p:nvSpPr>
          <p:spPr bwMode="auto">
            <a:xfrm flipV="1">
              <a:off x="4558" y="1933"/>
              <a:ext cx="0" cy="726"/>
            </a:xfrm>
            <a:prstGeom prst="line">
              <a:avLst/>
            </a:prstGeom>
            <a:noFill/>
            <a:ln w="254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08" name="Line 67"/>
            <p:cNvSpPr>
              <a:spLocks noChangeShapeType="1"/>
            </p:cNvSpPr>
            <p:nvPr/>
          </p:nvSpPr>
          <p:spPr bwMode="auto">
            <a:xfrm flipH="1">
              <a:off x="4558" y="1525"/>
              <a:ext cx="182" cy="408"/>
            </a:xfrm>
            <a:prstGeom prst="line">
              <a:avLst/>
            </a:prstGeom>
            <a:noFill/>
            <a:ln w="25400">
              <a:solidFill>
                <a:schemeClr val="tx1"/>
              </a:solidFill>
              <a:prstDash val="dash"/>
              <a:round/>
              <a:headEnd type="stealth"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09" name="Line 68"/>
            <p:cNvSpPr>
              <a:spLocks noChangeShapeType="1"/>
            </p:cNvSpPr>
            <p:nvPr/>
          </p:nvSpPr>
          <p:spPr bwMode="auto">
            <a:xfrm>
              <a:off x="3334" y="1525"/>
              <a:ext cx="1406" cy="0"/>
            </a:xfrm>
            <a:prstGeom prst="line">
              <a:avLst/>
            </a:prstGeom>
            <a:noFill/>
            <a:ln w="25400">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10" name="Line 69"/>
            <p:cNvSpPr>
              <a:spLocks noChangeShapeType="1"/>
            </p:cNvSpPr>
            <p:nvPr/>
          </p:nvSpPr>
          <p:spPr bwMode="auto">
            <a:xfrm flipV="1">
              <a:off x="4740" y="1525"/>
              <a:ext cx="0" cy="726"/>
            </a:xfrm>
            <a:prstGeom prst="line">
              <a:avLst/>
            </a:prstGeom>
            <a:noFill/>
            <a:ln w="25400">
              <a:solidFill>
                <a:schemeClr val="tx1"/>
              </a:solidFill>
              <a:prstDash val="dash"/>
              <a:round/>
              <a:headEnd type="stealth"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11" name="Line 75"/>
            <p:cNvSpPr>
              <a:spLocks noChangeShapeType="1"/>
            </p:cNvSpPr>
            <p:nvPr/>
          </p:nvSpPr>
          <p:spPr bwMode="auto">
            <a:xfrm>
              <a:off x="3061" y="1933"/>
              <a:ext cx="1497" cy="0"/>
            </a:xfrm>
            <a:prstGeom prst="line">
              <a:avLst/>
            </a:prstGeom>
            <a:noFill/>
            <a:ln w="25400">
              <a:solidFill>
                <a:schemeClr val="tx1"/>
              </a:solidFill>
              <a:prstDash val="dash"/>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12" name="Line 76"/>
            <p:cNvSpPr>
              <a:spLocks noChangeShapeType="1"/>
            </p:cNvSpPr>
            <p:nvPr/>
          </p:nvSpPr>
          <p:spPr bwMode="auto">
            <a:xfrm flipH="1">
              <a:off x="3061" y="1525"/>
              <a:ext cx="273" cy="408"/>
            </a:xfrm>
            <a:prstGeom prst="line">
              <a:avLst/>
            </a:prstGeom>
            <a:noFill/>
            <a:ln w="25400">
              <a:solidFill>
                <a:schemeClr val="tx1"/>
              </a:solidFill>
              <a:prstDash val="dash"/>
              <a:round/>
              <a:headEnd type="stealth" w="med" len="me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413" name="Line 77"/>
            <p:cNvSpPr>
              <a:spLocks noChangeShapeType="1"/>
            </p:cNvSpPr>
            <p:nvPr/>
          </p:nvSpPr>
          <p:spPr bwMode="auto">
            <a:xfrm flipV="1">
              <a:off x="3061" y="1933"/>
              <a:ext cx="0" cy="726"/>
            </a:xfrm>
            <a:prstGeom prst="line">
              <a:avLst/>
            </a:prstGeom>
            <a:noFill/>
            <a:ln w="254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9" name="Group 89"/>
          <p:cNvGrpSpPr>
            <a:grpSpLocks/>
          </p:cNvGrpSpPr>
          <p:nvPr/>
        </p:nvGrpSpPr>
        <p:grpSpPr bwMode="auto">
          <a:xfrm>
            <a:off x="611188" y="3038475"/>
            <a:ext cx="3446462" cy="1008063"/>
            <a:chOff x="2835" y="1752"/>
            <a:chExt cx="2171" cy="847"/>
          </a:xfrm>
        </p:grpSpPr>
        <p:sp>
          <p:nvSpPr>
            <p:cNvPr id="16402" name="Text Box 78"/>
            <p:cNvSpPr txBox="1">
              <a:spLocks noChangeArrowheads="1"/>
            </p:cNvSpPr>
            <p:nvPr/>
          </p:nvSpPr>
          <p:spPr bwMode="auto">
            <a:xfrm>
              <a:off x="2835" y="2160"/>
              <a:ext cx="215"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y</a:t>
              </a:r>
            </a:p>
          </p:txBody>
        </p:sp>
        <p:sp>
          <p:nvSpPr>
            <p:cNvPr id="16403" name="Text Box 79"/>
            <p:cNvSpPr txBox="1">
              <a:spLocks noChangeArrowheads="1"/>
            </p:cNvSpPr>
            <p:nvPr/>
          </p:nvSpPr>
          <p:spPr bwMode="auto">
            <a:xfrm>
              <a:off x="4740" y="1752"/>
              <a:ext cx="266"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y</a:t>
              </a:r>
              <a:r>
                <a:rPr lang="en-US" altLang="zh-CN" i="1" baseline="30000">
                  <a:solidFill>
                    <a:srgbClr val="0000FF"/>
                  </a:solidFill>
                  <a:ea typeface="宋体" pitchFamily="2" charset="-122"/>
                </a:rPr>
                <a:t>’</a:t>
              </a:r>
              <a:endParaRPr lang="en-US" altLang="zh-CN" i="1">
                <a:solidFill>
                  <a:srgbClr val="0000FF"/>
                </a:solidFill>
                <a:ea typeface="宋体" pitchFamily="2" charset="-122"/>
              </a:endParaRPr>
            </a:p>
          </p:txBody>
        </p:sp>
      </p:grpSp>
      <p:grpSp>
        <p:nvGrpSpPr>
          <p:cNvPr id="10" name="Group 90"/>
          <p:cNvGrpSpPr>
            <a:grpSpLocks/>
          </p:cNvGrpSpPr>
          <p:nvPr/>
        </p:nvGrpSpPr>
        <p:grpSpPr bwMode="auto">
          <a:xfrm>
            <a:off x="827088" y="2768600"/>
            <a:ext cx="2744787" cy="522288"/>
            <a:chOff x="2971" y="1525"/>
            <a:chExt cx="1729" cy="439"/>
          </a:xfrm>
        </p:grpSpPr>
        <p:sp>
          <p:nvSpPr>
            <p:cNvPr id="16400" name="Text Box 81"/>
            <p:cNvSpPr txBox="1">
              <a:spLocks noChangeArrowheads="1"/>
            </p:cNvSpPr>
            <p:nvPr/>
          </p:nvSpPr>
          <p:spPr bwMode="auto">
            <a:xfrm>
              <a:off x="2971" y="1525"/>
              <a:ext cx="20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ea typeface="宋体" pitchFamily="2" charset="-122"/>
                </a:rPr>
                <a:t>z</a:t>
              </a:r>
            </a:p>
          </p:txBody>
        </p:sp>
        <p:sp>
          <p:nvSpPr>
            <p:cNvPr id="16401" name="Text Box 82"/>
            <p:cNvSpPr txBox="1">
              <a:spLocks noChangeArrowheads="1"/>
            </p:cNvSpPr>
            <p:nvPr/>
          </p:nvSpPr>
          <p:spPr bwMode="auto">
            <a:xfrm>
              <a:off x="4422" y="1525"/>
              <a:ext cx="278"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i="1">
                  <a:solidFill>
                    <a:srgbClr val="0000FF"/>
                  </a:solidFill>
                  <a:ea typeface="宋体" pitchFamily="2" charset="-122"/>
                </a:rPr>
                <a:t>z’</a:t>
              </a:r>
            </a:p>
          </p:txBody>
        </p:sp>
      </p:grpSp>
      <p:sp>
        <p:nvSpPr>
          <p:cNvPr id="49" name="Text Box 59"/>
          <p:cNvSpPr txBox="1">
            <a:spLocks noChangeArrowheads="1"/>
          </p:cNvSpPr>
          <p:nvPr/>
        </p:nvSpPr>
        <p:spPr bwMode="auto">
          <a:xfrm>
            <a:off x="5221288" y="2281238"/>
            <a:ext cx="3095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solidFill>
                  <a:srgbClr val="0000FF"/>
                </a:solidFill>
                <a:latin typeface="华文中宋" pitchFamily="2" charset="-122"/>
                <a:ea typeface="华文中宋" pitchFamily="2" charset="-122"/>
              </a:rPr>
              <a:t>伽利略坐标变换方程 </a:t>
            </a:r>
          </a:p>
        </p:txBody>
      </p:sp>
      <p:sp>
        <p:nvSpPr>
          <p:cNvPr id="41" name="Text Box 70"/>
          <p:cNvSpPr txBox="1">
            <a:spLocks noChangeArrowheads="1"/>
          </p:cNvSpPr>
          <p:nvPr/>
        </p:nvSpPr>
        <p:spPr bwMode="auto">
          <a:xfrm>
            <a:off x="5214938" y="2693988"/>
            <a:ext cx="1417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2400">
                <a:ea typeface="宋体" pitchFamily="2" charset="-122"/>
              </a:rPr>
              <a:t>S  →S</a:t>
            </a:r>
            <a:r>
              <a:rPr kumimoji="0" lang="zh-CN" altLang="en-US" sz="2400">
                <a:ea typeface="宋体" pitchFamily="2" charset="-122"/>
              </a:rPr>
              <a:t>＇</a:t>
            </a:r>
          </a:p>
        </p:txBody>
      </p:sp>
      <p:graphicFrame>
        <p:nvGraphicFramePr>
          <p:cNvPr id="42" name="对象 41"/>
          <p:cNvGraphicFramePr>
            <a:graphicFrameLocks noChangeAspect="1"/>
          </p:cNvGraphicFramePr>
          <p:nvPr/>
        </p:nvGraphicFramePr>
        <p:xfrm>
          <a:off x="5075238" y="3063875"/>
          <a:ext cx="1568450" cy="1452563"/>
        </p:xfrm>
        <a:graphic>
          <a:graphicData uri="http://schemas.openxmlformats.org/presentationml/2006/ole">
            <mc:AlternateContent xmlns:mc="http://schemas.openxmlformats.org/markup-compatibility/2006">
              <mc:Choice xmlns:v="urn:schemas-microsoft-com:vml" Requires="v">
                <p:oleObj spid="_x0000_s16442" name="Equation" r:id="rId4" imgW="812447" imgH="1002865" progId="Equation.3">
                  <p:embed/>
                </p:oleObj>
              </mc:Choice>
              <mc:Fallback>
                <p:oleObj name="Equation" r:id="rId4" imgW="812447" imgH="1002865" progId="Equation.3">
                  <p:embed/>
                  <p:pic>
                    <p:nvPicPr>
                      <p:cNvPr id="0" name="对象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5238" y="3063875"/>
                        <a:ext cx="1568450"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 name="Text Box 103"/>
          <p:cNvSpPr txBox="1">
            <a:spLocks noChangeArrowheads="1"/>
          </p:cNvSpPr>
          <p:nvPr/>
        </p:nvSpPr>
        <p:spPr bwMode="auto">
          <a:xfrm>
            <a:off x="7245350" y="2716213"/>
            <a:ext cx="1350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2400">
                <a:ea typeface="宋体" pitchFamily="2" charset="-122"/>
              </a:rPr>
              <a:t>S</a:t>
            </a:r>
            <a:r>
              <a:rPr kumimoji="0" lang="zh-CN" altLang="en-US" sz="2400">
                <a:ea typeface="宋体" pitchFamily="2" charset="-122"/>
              </a:rPr>
              <a:t>＇→</a:t>
            </a:r>
            <a:r>
              <a:rPr kumimoji="0" lang="en-US" altLang="zh-CN" sz="2400">
                <a:ea typeface="宋体" pitchFamily="2" charset="-122"/>
              </a:rPr>
              <a:t>S</a:t>
            </a:r>
          </a:p>
        </p:txBody>
      </p:sp>
      <p:graphicFrame>
        <p:nvGraphicFramePr>
          <p:cNvPr id="44" name="对象 43"/>
          <p:cNvGraphicFramePr>
            <a:graphicFrameLocks noChangeAspect="1"/>
          </p:cNvGraphicFramePr>
          <p:nvPr/>
        </p:nvGraphicFramePr>
        <p:xfrm>
          <a:off x="7067550" y="3051175"/>
          <a:ext cx="1681163" cy="1465263"/>
        </p:xfrm>
        <a:graphic>
          <a:graphicData uri="http://schemas.openxmlformats.org/presentationml/2006/ole">
            <mc:AlternateContent xmlns:mc="http://schemas.openxmlformats.org/markup-compatibility/2006">
              <mc:Choice xmlns:v="urn:schemas-microsoft-com:vml" Requires="v">
                <p:oleObj spid="_x0000_s16443" name="Equation" r:id="rId6" imgW="863225" imgH="1002865" progId="Equation.3">
                  <p:embed/>
                </p:oleObj>
              </mc:Choice>
              <mc:Fallback>
                <p:oleObj name="Equation" r:id="rId6" imgW="863225" imgH="1002865" progId="Equation.3">
                  <p:embed/>
                  <p:pic>
                    <p:nvPicPr>
                      <p:cNvPr id="0" name="对象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67550" y="3051175"/>
                        <a:ext cx="1681163"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9" name="Text Box 2"/>
          <p:cNvSpPr>
            <a:spLocks noChangeArrowheads="1"/>
          </p:cNvSpPr>
          <p:nvPr/>
        </p:nvSpPr>
        <p:spPr bwMode="auto">
          <a:xfrm>
            <a:off x="839788" y="874713"/>
            <a:ext cx="4092575" cy="401637"/>
          </a:xfrm>
          <a:prstGeom prst="homePlate">
            <a:avLst>
              <a:gd name="adj" fmla="val 49864"/>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一、伽里略变换  经典力学时空观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5289"/>
                                        </p:tgtEl>
                                        <p:attrNameLst>
                                          <p:attrName>style.visibility</p:attrName>
                                        </p:attrNameLst>
                                      </p:cBhvr>
                                      <p:to>
                                        <p:strVal val="visible"/>
                                      </p:to>
                                    </p:set>
                                    <p:animEffect transition="in" filter="checkerboard(across)">
                                      <p:cBhvr>
                                        <p:cTn id="7" dur="500"/>
                                        <p:tgtEl>
                                          <p:spTgt spid="225289"/>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5290"/>
                                        </p:tgtEl>
                                        <p:attrNameLst>
                                          <p:attrName>style.visibility</p:attrName>
                                        </p:attrNameLst>
                                      </p:cBhvr>
                                      <p:to>
                                        <p:strVal val="visible"/>
                                      </p:to>
                                    </p:set>
                                    <p:animEffect transition="in" filter="checkerboard(across)">
                                      <p:cBhvr>
                                        <p:cTn id="12" dur="500"/>
                                        <p:tgtEl>
                                          <p:spTgt spid="225290"/>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0-#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blinds(horizontal)">
                                      <p:cBhvr>
                                        <p:cTn id="43" dur="500"/>
                                        <p:tgtEl>
                                          <p:spTgt spid="10"/>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wipe(left)">
                                      <p:cBhvr>
                                        <p:cTn id="48" dur="500"/>
                                        <p:tgtEl>
                                          <p:spTgt spid="4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wipe(left)">
                                      <p:cBhvr>
                                        <p:cTn id="53" dur="500"/>
                                        <p:tgtEl>
                                          <p:spTgt spid="4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53" presetClass="entr" presetSubtype="16" fill="hold" nodeType="clickEffect">
                                  <p:stCondLst>
                                    <p:cond delay="0"/>
                                  </p:stCondLst>
                                  <p:childTnLst>
                                    <p:set>
                                      <p:cBhvr>
                                        <p:cTn id="57" dur="1" fill="hold">
                                          <p:stCondLst>
                                            <p:cond delay="0"/>
                                          </p:stCondLst>
                                        </p:cTn>
                                        <p:tgtEl>
                                          <p:spTgt spid="42"/>
                                        </p:tgtEl>
                                        <p:attrNameLst>
                                          <p:attrName>style.visibility</p:attrName>
                                        </p:attrNameLst>
                                      </p:cBhvr>
                                      <p:to>
                                        <p:strVal val="visible"/>
                                      </p:to>
                                    </p:set>
                                    <p:anim calcmode="lin" valueType="num">
                                      <p:cBhvr>
                                        <p:cTn id="58" dur="500" fill="hold"/>
                                        <p:tgtEl>
                                          <p:spTgt spid="42"/>
                                        </p:tgtEl>
                                        <p:attrNameLst>
                                          <p:attrName>ppt_w</p:attrName>
                                        </p:attrNameLst>
                                      </p:cBhvr>
                                      <p:tavLst>
                                        <p:tav tm="0">
                                          <p:val>
                                            <p:fltVal val="0"/>
                                          </p:val>
                                        </p:tav>
                                        <p:tav tm="100000">
                                          <p:val>
                                            <p:strVal val="#ppt_w"/>
                                          </p:val>
                                        </p:tav>
                                      </p:tavLst>
                                    </p:anim>
                                    <p:anim calcmode="lin" valueType="num">
                                      <p:cBhvr>
                                        <p:cTn id="59" dur="500" fill="hold"/>
                                        <p:tgtEl>
                                          <p:spTgt spid="42"/>
                                        </p:tgtEl>
                                        <p:attrNameLst>
                                          <p:attrName>ppt_h</p:attrName>
                                        </p:attrNameLst>
                                      </p:cBhvr>
                                      <p:tavLst>
                                        <p:tav tm="0">
                                          <p:val>
                                            <p:fltVal val="0"/>
                                          </p:val>
                                        </p:tav>
                                        <p:tav tm="100000">
                                          <p:val>
                                            <p:strVal val="#ppt_h"/>
                                          </p:val>
                                        </p:tav>
                                      </p:tavLst>
                                    </p:anim>
                                    <p:animEffect transition="in" filter="fade">
                                      <p:cBhvr>
                                        <p:cTn id="60" dur="500"/>
                                        <p:tgtEl>
                                          <p:spTgt spid="4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wipe(left)">
                                      <p:cBhvr>
                                        <p:cTn id="65" dur="500"/>
                                        <p:tgtEl>
                                          <p:spTgt spid="4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16" fill="hold" nodeType="clickEffect">
                                  <p:stCondLst>
                                    <p:cond delay="0"/>
                                  </p:stCondLst>
                                  <p:childTnLst>
                                    <p:set>
                                      <p:cBhvr>
                                        <p:cTn id="69" dur="1" fill="hold">
                                          <p:stCondLst>
                                            <p:cond delay="0"/>
                                          </p:stCondLst>
                                        </p:cTn>
                                        <p:tgtEl>
                                          <p:spTgt spid="44"/>
                                        </p:tgtEl>
                                        <p:attrNameLst>
                                          <p:attrName>style.visibility</p:attrName>
                                        </p:attrNameLst>
                                      </p:cBhvr>
                                      <p:to>
                                        <p:strVal val="visible"/>
                                      </p:to>
                                    </p:set>
                                    <p:anim calcmode="lin" valueType="num">
                                      <p:cBhvr>
                                        <p:cTn id="70" dur="500" fill="hold"/>
                                        <p:tgtEl>
                                          <p:spTgt spid="44"/>
                                        </p:tgtEl>
                                        <p:attrNameLst>
                                          <p:attrName>ppt_w</p:attrName>
                                        </p:attrNameLst>
                                      </p:cBhvr>
                                      <p:tavLst>
                                        <p:tav tm="0">
                                          <p:val>
                                            <p:fltVal val="0"/>
                                          </p:val>
                                        </p:tav>
                                        <p:tav tm="100000">
                                          <p:val>
                                            <p:strVal val="#ppt_w"/>
                                          </p:val>
                                        </p:tav>
                                      </p:tavLst>
                                    </p:anim>
                                    <p:anim calcmode="lin" valueType="num">
                                      <p:cBhvr>
                                        <p:cTn id="71" dur="500" fill="hold"/>
                                        <p:tgtEl>
                                          <p:spTgt spid="44"/>
                                        </p:tgtEl>
                                        <p:attrNameLst>
                                          <p:attrName>ppt_h</p:attrName>
                                        </p:attrNameLst>
                                      </p:cBhvr>
                                      <p:tavLst>
                                        <p:tav tm="0">
                                          <p:val>
                                            <p:fltVal val="0"/>
                                          </p:val>
                                        </p:tav>
                                        <p:tav tm="100000">
                                          <p:val>
                                            <p:strVal val="#ppt_h"/>
                                          </p:val>
                                        </p:tav>
                                      </p:tavLst>
                                    </p:anim>
                                    <p:animEffect transition="in" filter="fade">
                                      <p:cBhvr>
                                        <p:cTn id="7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9" grpId="0" autoUpdateAnimBg="0"/>
      <p:bldP spid="225290" grpId="0" autoUpdateAnimBg="0"/>
      <p:bldP spid="49" grpId="0"/>
      <p:bldP spid="41"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Text Box 3"/>
          <p:cNvSpPr txBox="1">
            <a:spLocks noChangeArrowheads="1"/>
          </p:cNvSpPr>
          <p:nvPr/>
        </p:nvSpPr>
        <p:spPr bwMode="auto">
          <a:xfrm>
            <a:off x="1182688" y="1250950"/>
            <a:ext cx="2327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latin typeface="华文中宋" pitchFamily="2" charset="-122"/>
                <a:ea typeface="华文中宋" pitchFamily="2" charset="-122"/>
              </a:rPr>
              <a:t>1</a:t>
            </a:r>
            <a:r>
              <a:rPr lang="zh-CN" altLang="en-US" sz="1800">
                <a:solidFill>
                  <a:srgbClr val="0000FF"/>
                </a:solidFill>
                <a:latin typeface="华文中宋" pitchFamily="2" charset="-122"/>
                <a:ea typeface="华文中宋" pitchFamily="2" charset="-122"/>
              </a:rPr>
              <a:t>、绝对时间</a:t>
            </a:r>
            <a:r>
              <a:rPr lang="zh-CN" altLang="en-US" sz="1800" b="0">
                <a:solidFill>
                  <a:srgbClr val="0000FF"/>
                </a:solidFill>
                <a:latin typeface="华文中宋" pitchFamily="2" charset="-122"/>
                <a:ea typeface="华文中宋" pitchFamily="2" charset="-122"/>
              </a:rPr>
              <a:t> </a:t>
            </a:r>
          </a:p>
        </p:txBody>
      </p:sp>
      <p:graphicFrame>
        <p:nvGraphicFramePr>
          <p:cNvPr id="228357" name="Object 5"/>
          <p:cNvGraphicFramePr>
            <a:graphicFrameLocks noChangeAspect="1"/>
          </p:cNvGraphicFramePr>
          <p:nvPr/>
        </p:nvGraphicFramePr>
        <p:xfrm>
          <a:off x="1041400" y="1731963"/>
          <a:ext cx="2671763" cy="365125"/>
        </p:xfrm>
        <a:graphic>
          <a:graphicData uri="http://schemas.openxmlformats.org/presentationml/2006/ole">
            <mc:AlternateContent xmlns:mc="http://schemas.openxmlformats.org/markup-compatibility/2006">
              <mc:Choice xmlns:v="urn:schemas-microsoft-com:vml" Requires="v">
                <p:oleObj spid="_x0000_s17421" name="Equation" r:id="rId4" imgW="977476" imgH="177723" progId="Equation.DSMT4">
                  <p:embed/>
                </p:oleObj>
              </mc:Choice>
              <mc:Fallback>
                <p:oleObj name="Equation" r:id="rId4" imgW="977476" imgH="177723"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400" y="1731963"/>
                        <a:ext cx="2671763" cy="36512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8358" name="Text Box 6"/>
          <p:cNvSpPr txBox="1">
            <a:spLocks noChangeArrowheads="1"/>
          </p:cNvSpPr>
          <p:nvPr/>
        </p:nvSpPr>
        <p:spPr bwMode="auto">
          <a:xfrm>
            <a:off x="323850" y="2286000"/>
            <a:ext cx="39608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时间间隔与参考系的运动无关，亦可得到</a:t>
            </a:r>
            <a:r>
              <a:rPr lang="zh-CN" altLang="en-US" sz="1800">
                <a:solidFill>
                  <a:srgbClr val="FF3300"/>
                </a:solidFill>
                <a:latin typeface="华文中宋" pitchFamily="2" charset="-122"/>
                <a:ea typeface="华文中宋" pitchFamily="2" charset="-122"/>
              </a:rPr>
              <a:t>同时的绝对性</a:t>
            </a:r>
            <a:r>
              <a:rPr lang="zh-CN" altLang="en-US" sz="1800">
                <a:latin typeface="华文中宋" pitchFamily="2" charset="-122"/>
                <a:ea typeface="华文中宋" pitchFamily="2" charset="-122"/>
              </a:rPr>
              <a:t>。</a:t>
            </a:r>
          </a:p>
        </p:txBody>
      </p:sp>
      <p:sp>
        <p:nvSpPr>
          <p:cNvPr id="228359" name="Text Box 7"/>
          <p:cNvSpPr txBox="1">
            <a:spLocks noChangeArrowheads="1"/>
          </p:cNvSpPr>
          <p:nvPr/>
        </p:nvSpPr>
        <p:spPr bwMode="auto">
          <a:xfrm>
            <a:off x="4500563" y="2286000"/>
            <a:ext cx="4032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chemeClr val="accent2"/>
                </a:solidFill>
                <a:latin typeface="华文中宋" pitchFamily="2" charset="-122"/>
                <a:ea typeface="华文中宋" pitchFamily="2" charset="-122"/>
              </a:rPr>
              <a:t>      </a:t>
            </a:r>
            <a:r>
              <a:rPr lang="zh-CN" altLang="en-US" sz="1800">
                <a:latin typeface="华文中宋" pitchFamily="2" charset="-122"/>
                <a:ea typeface="华文中宋" pitchFamily="2" charset="-122"/>
              </a:rPr>
              <a:t>空间间隔与参照系的运动无关，亦可得到</a:t>
            </a:r>
            <a:r>
              <a:rPr lang="zh-CN" altLang="en-US" sz="1800">
                <a:solidFill>
                  <a:srgbClr val="FF3300"/>
                </a:solidFill>
                <a:latin typeface="华文中宋" pitchFamily="2" charset="-122"/>
                <a:ea typeface="华文中宋" pitchFamily="2" charset="-122"/>
              </a:rPr>
              <a:t>长度的绝对性</a:t>
            </a:r>
            <a:r>
              <a:rPr lang="zh-CN" altLang="en-US" sz="1800">
                <a:solidFill>
                  <a:schemeClr val="accent2"/>
                </a:solidFill>
                <a:latin typeface="华文中宋" pitchFamily="2" charset="-122"/>
                <a:ea typeface="华文中宋" pitchFamily="2" charset="-122"/>
              </a:rPr>
              <a:t>。</a:t>
            </a:r>
          </a:p>
        </p:txBody>
      </p:sp>
      <p:graphicFrame>
        <p:nvGraphicFramePr>
          <p:cNvPr id="228360" name="Object 8"/>
          <p:cNvGraphicFramePr>
            <a:graphicFrameLocks noChangeAspect="1"/>
          </p:cNvGraphicFramePr>
          <p:nvPr/>
        </p:nvGraphicFramePr>
        <p:xfrm>
          <a:off x="4903788" y="1717675"/>
          <a:ext cx="3371850" cy="333375"/>
        </p:xfrm>
        <a:graphic>
          <a:graphicData uri="http://schemas.openxmlformats.org/presentationml/2006/ole">
            <mc:AlternateContent xmlns:mc="http://schemas.openxmlformats.org/markup-compatibility/2006">
              <mc:Choice xmlns:v="urn:schemas-microsoft-com:vml" Requires="v">
                <p:oleObj spid="_x0000_s17422" name="Equation" r:id="rId6" imgW="1332921" imgH="177723" progId="Equation.DSMT4">
                  <p:embed/>
                </p:oleObj>
              </mc:Choice>
              <mc:Fallback>
                <p:oleObj name="Equation" r:id="rId6" imgW="1332921" imgH="177723"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03788" y="1717675"/>
                        <a:ext cx="3371850" cy="3333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8365" name="Text Box 13"/>
          <p:cNvSpPr txBox="1">
            <a:spLocks noChangeArrowheads="1"/>
          </p:cNvSpPr>
          <p:nvPr/>
        </p:nvSpPr>
        <p:spPr bwMode="auto">
          <a:xfrm>
            <a:off x="5292725" y="1250950"/>
            <a:ext cx="23272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latin typeface="华文中宋" pitchFamily="2" charset="-122"/>
                <a:ea typeface="华文中宋" pitchFamily="2" charset="-122"/>
              </a:rPr>
              <a:t>2</a:t>
            </a:r>
            <a:r>
              <a:rPr lang="zh-CN" altLang="en-US" sz="1800">
                <a:solidFill>
                  <a:srgbClr val="0000FF"/>
                </a:solidFill>
                <a:latin typeface="华文中宋" pitchFamily="2" charset="-122"/>
                <a:ea typeface="华文中宋" pitchFamily="2" charset="-122"/>
              </a:rPr>
              <a:t>、绝对空间</a:t>
            </a:r>
            <a:r>
              <a:rPr lang="zh-CN" altLang="en-US" sz="1800" b="0">
                <a:solidFill>
                  <a:srgbClr val="0000FF"/>
                </a:solidFill>
                <a:latin typeface="华文中宋" pitchFamily="2" charset="-122"/>
                <a:ea typeface="华文中宋" pitchFamily="2" charset="-122"/>
              </a:rPr>
              <a:t> </a:t>
            </a:r>
          </a:p>
        </p:txBody>
      </p:sp>
      <p:sp>
        <p:nvSpPr>
          <p:cNvPr id="228366" name="Rectangle 14"/>
          <p:cNvSpPr>
            <a:spLocks noChangeArrowheads="1"/>
          </p:cNvSpPr>
          <p:nvPr/>
        </p:nvSpPr>
        <p:spPr bwMode="auto">
          <a:xfrm>
            <a:off x="827088" y="4227513"/>
            <a:ext cx="74898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00">
                <a:solidFill>
                  <a:srgbClr val="0000FF"/>
                </a:solidFill>
                <a:latin typeface="华文中宋" pitchFamily="2" charset="-122"/>
                <a:ea typeface="华文中宋" pitchFamily="2" charset="-122"/>
              </a:rPr>
              <a:t>时间与空间相互独立与物质的存在和运动无关</a:t>
            </a:r>
          </a:p>
        </p:txBody>
      </p:sp>
      <p:sp>
        <p:nvSpPr>
          <p:cNvPr id="228367" name="Rectangle 15"/>
          <p:cNvSpPr>
            <a:spLocks noChangeArrowheads="1"/>
          </p:cNvSpPr>
          <p:nvPr/>
        </p:nvSpPr>
        <p:spPr bwMode="auto">
          <a:xfrm>
            <a:off x="539750" y="2955925"/>
            <a:ext cx="8064500" cy="1200150"/>
          </a:xfrm>
          <a:prstGeom prst="rect">
            <a:avLst/>
          </a:prstGeom>
          <a:noFill/>
          <a:ln w="19050">
            <a:solidFill>
              <a:srgbClr val="FF33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en-US" altLang="zh-CN" sz="1800">
                <a:latin typeface="华文中宋" pitchFamily="2" charset="-122"/>
                <a:ea typeface="华文中宋" pitchFamily="2" charset="-122"/>
              </a:rPr>
              <a:t>    </a:t>
            </a:r>
            <a:r>
              <a:rPr lang="zh-CN" altLang="en-US" sz="1800">
                <a:solidFill>
                  <a:srgbClr val="0000FF"/>
                </a:solidFill>
                <a:latin typeface="华文中宋" pitchFamily="2" charset="-122"/>
                <a:ea typeface="华文中宋" pitchFamily="2" charset="-122"/>
              </a:rPr>
              <a:t>绝对的、真实的、纯数学的时间，就其自身和其本质而言，是永远均匀流动的，不依赖于任何外界事物。绝对的空间，就其本性而言，是与外界事物无关，而且永远是相同和不动的。</a:t>
            </a:r>
            <a:r>
              <a:rPr lang="zh-CN" altLang="en-US" sz="1800">
                <a:latin typeface="华文中宋" pitchFamily="2" charset="-122"/>
                <a:ea typeface="华文中宋" pitchFamily="2" charset="-122"/>
              </a:rPr>
              <a:t> </a:t>
            </a:r>
          </a:p>
          <a:p>
            <a:r>
              <a:rPr lang="zh-CN" altLang="en-US" sz="1800">
                <a:latin typeface="华文中宋" pitchFamily="2" charset="-122"/>
                <a:ea typeface="华文中宋" pitchFamily="2" charset="-122"/>
              </a:rPr>
              <a:t>                              </a:t>
            </a:r>
            <a:r>
              <a:rPr lang="en-US" altLang="zh-CN" sz="1800">
                <a:latin typeface="华文中宋" pitchFamily="2" charset="-122"/>
                <a:ea typeface="华文中宋" pitchFamily="2" charset="-122"/>
              </a:rPr>
              <a:t>----</a:t>
            </a:r>
            <a:r>
              <a:rPr lang="zh-CN" altLang="en-US" sz="1800">
                <a:latin typeface="华文中宋" pitchFamily="2" charset="-122"/>
                <a:ea typeface="华文中宋" pitchFamily="2" charset="-122"/>
              </a:rPr>
              <a:t>牛顿的</a:t>
            </a:r>
            <a:r>
              <a:rPr lang="en-US" altLang="zh-CN" sz="1800">
                <a:latin typeface="华文中宋" pitchFamily="2" charset="-122"/>
                <a:ea typeface="华文中宋" pitchFamily="2" charset="-122"/>
              </a:rPr>
              <a:t>《</a:t>
            </a:r>
            <a:r>
              <a:rPr lang="zh-CN" altLang="en-US" sz="1800">
                <a:latin typeface="华文中宋" pitchFamily="2" charset="-122"/>
                <a:ea typeface="华文中宋" pitchFamily="2" charset="-122"/>
              </a:rPr>
              <a:t>自然哲学的数学原理</a:t>
            </a:r>
            <a:r>
              <a:rPr lang="en-US" altLang="zh-CN" sz="1800">
                <a:latin typeface="华文中宋" pitchFamily="2" charset="-122"/>
                <a:ea typeface="华文中宋" pitchFamily="2" charset="-122"/>
              </a:rPr>
              <a:t>》</a:t>
            </a:r>
          </a:p>
        </p:txBody>
      </p:sp>
      <p:sp>
        <p:nvSpPr>
          <p:cNvPr id="17418" name="Text Box 2"/>
          <p:cNvSpPr>
            <a:spLocks noChangeArrowheads="1"/>
          </p:cNvSpPr>
          <p:nvPr/>
        </p:nvSpPr>
        <p:spPr bwMode="auto">
          <a:xfrm>
            <a:off x="839788" y="874713"/>
            <a:ext cx="5100637" cy="401637"/>
          </a:xfrm>
          <a:prstGeom prst="homePlate">
            <a:avLst>
              <a:gd name="adj" fmla="val 49858"/>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二、经典力学时空观</a:t>
            </a:r>
            <a:r>
              <a:rPr lang="en-US" altLang="zh-CN" sz="2000">
                <a:solidFill>
                  <a:srgbClr val="FFFFFF"/>
                </a:solidFill>
                <a:latin typeface="微软雅黑" pitchFamily="34" charset="-122"/>
                <a:ea typeface="微软雅黑" pitchFamily="34" charset="-122"/>
              </a:rPr>
              <a:t>--</a:t>
            </a:r>
            <a:r>
              <a:rPr lang="zh-CN" altLang="en-US" sz="2000">
                <a:solidFill>
                  <a:srgbClr val="FFFFFF"/>
                </a:solidFill>
                <a:latin typeface="微软雅黑" pitchFamily="34" charset="-122"/>
                <a:ea typeface="微软雅黑" pitchFamily="34" charset="-122"/>
              </a:rPr>
              <a:t>牛顿的绝对时空观</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8355"/>
                                        </p:tgtEl>
                                        <p:attrNameLst>
                                          <p:attrName>style.visibility</p:attrName>
                                        </p:attrNameLst>
                                      </p:cBhvr>
                                      <p:to>
                                        <p:strVal val="visible"/>
                                      </p:to>
                                    </p:set>
                                    <p:animEffect transition="in" filter="checkerboard(across)">
                                      <p:cBhvr>
                                        <p:cTn id="7" dur="500"/>
                                        <p:tgtEl>
                                          <p:spTgt spid="228355"/>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checkerboard(across)">
                                      <p:cBhvr>
                                        <p:cTn id="12" dur="500"/>
                                        <p:tgtEl>
                                          <p:spTgt spid="228357"/>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28358"/>
                                        </p:tgtEl>
                                        <p:attrNameLst>
                                          <p:attrName>style.visibility</p:attrName>
                                        </p:attrNameLst>
                                      </p:cBhvr>
                                      <p:to>
                                        <p:strVal val="visible"/>
                                      </p:to>
                                    </p:set>
                                    <p:animEffect transition="in" filter="checkerboard(across)">
                                      <p:cBhvr>
                                        <p:cTn id="17" dur="500"/>
                                        <p:tgtEl>
                                          <p:spTgt spid="228358"/>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28365"/>
                                        </p:tgtEl>
                                        <p:attrNameLst>
                                          <p:attrName>style.visibility</p:attrName>
                                        </p:attrNameLst>
                                      </p:cBhvr>
                                      <p:to>
                                        <p:strVal val="visible"/>
                                      </p:to>
                                    </p:set>
                                    <p:animEffect transition="in" filter="checkerboard(across)">
                                      <p:cBhvr>
                                        <p:cTn id="22" dur="500"/>
                                        <p:tgtEl>
                                          <p:spTgt spid="228365"/>
                                        </p:tgtEl>
                                      </p:cBhvr>
                                    </p:animEffect>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28360"/>
                                        </p:tgtEl>
                                        <p:attrNameLst>
                                          <p:attrName>style.visibility</p:attrName>
                                        </p:attrNameLst>
                                      </p:cBhvr>
                                      <p:to>
                                        <p:strVal val="visible"/>
                                      </p:to>
                                    </p:set>
                                    <p:animEffect transition="in" filter="checkerboard(across)">
                                      <p:cBhvr>
                                        <p:cTn id="27" dur="500"/>
                                        <p:tgtEl>
                                          <p:spTgt spid="228360"/>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28359"/>
                                        </p:tgtEl>
                                        <p:attrNameLst>
                                          <p:attrName>style.visibility</p:attrName>
                                        </p:attrNameLst>
                                      </p:cBhvr>
                                      <p:to>
                                        <p:strVal val="visible"/>
                                      </p:to>
                                    </p:set>
                                    <p:animEffect transition="in" filter="checkerboard(across)">
                                      <p:cBhvr>
                                        <p:cTn id="32" dur="500"/>
                                        <p:tgtEl>
                                          <p:spTgt spid="228359"/>
                                        </p:tgtEl>
                                      </p:cBhvr>
                                    </p:animEffect>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8367"/>
                                        </p:tgtEl>
                                        <p:attrNameLst>
                                          <p:attrName>style.visibility</p:attrName>
                                        </p:attrNameLst>
                                      </p:cBhvr>
                                      <p:to>
                                        <p:strVal val="visible"/>
                                      </p:to>
                                    </p:set>
                                    <p:animEffect transition="in" filter="blinds(horizontal)">
                                      <p:cBhvr>
                                        <p:cTn id="37" dur="500"/>
                                        <p:tgtEl>
                                          <p:spTgt spid="2283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8366"/>
                                        </p:tgtEl>
                                        <p:attrNameLst>
                                          <p:attrName>style.visibility</p:attrName>
                                        </p:attrNameLst>
                                      </p:cBhvr>
                                      <p:to>
                                        <p:strVal val="visible"/>
                                      </p:to>
                                    </p:set>
                                    <p:animEffect transition="in" filter="blinds(horizontal)">
                                      <p:cBhvr>
                                        <p:cTn id="42" dur="500"/>
                                        <p:tgtEl>
                                          <p:spTgt spid="228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autoUpdateAnimBg="0"/>
      <p:bldP spid="228358" grpId="0" autoUpdateAnimBg="0"/>
      <p:bldP spid="228359" grpId="0" autoUpdateAnimBg="0"/>
      <p:bldP spid="228365" grpId="0" autoUpdateAnimBg="0"/>
      <p:bldP spid="228366" grpId="0"/>
      <p:bldP spid="22836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9381" name="Object 5"/>
          <p:cNvGraphicFramePr>
            <a:graphicFrameLocks noChangeAspect="1"/>
          </p:cNvGraphicFramePr>
          <p:nvPr/>
        </p:nvGraphicFramePr>
        <p:xfrm>
          <a:off x="6486525" y="1223963"/>
          <a:ext cx="1039813" cy="1031875"/>
        </p:xfrm>
        <a:graphic>
          <a:graphicData uri="http://schemas.openxmlformats.org/presentationml/2006/ole">
            <mc:AlternateContent xmlns:mc="http://schemas.openxmlformats.org/markup-compatibility/2006">
              <mc:Choice xmlns:v="urn:schemas-microsoft-com:vml" Requires="v">
                <p:oleObj spid="_x0000_s18465" name="公式" r:id="rId3" imgW="583947" imgH="710891" progId="Equation.3">
                  <p:embed/>
                </p:oleObj>
              </mc:Choice>
              <mc:Fallback>
                <p:oleObj name="公式" r:id="rId3" imgW="583947" imgH="71089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6525" y="1223963"/>
                        <a:ext cx="1039813"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9"/>
          <p:cNvGrpSpPr>
            <a:grpSpLocks/>
          </p:cNvGrpSpPr>
          <p:nvPr/>
        </p:nvGrpSpPr>
        <p:grpSpPr bwMode="auto">
          <a:xfrm>
            <a:off x="684213" y="2400300"/>
            <a:ext cx="4032250" cy="369888"/>
            <a:chOff x="431" y="1933"/>
            <a:chExt cx="2540" cy="310"/>
          </a:xfrm>
        </p:grpSpPr>
        <p:sp>
          <p:nvSpPr>
            <p:cNvPr id="18455" name="Text Box 3"/>
            <p:cNvSpPr txBox="1">
              <a:spLocks noChangeArrowheads="1"/>
            </p:cNvSpPr>
            <p:nvPr/>
          </p:nvSpPr>
          <p:spPr bwMode="auto">
            <a:xfrm>
              <a:off x="431" y="1933"/>
              <a:ext cx="254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latin typeface="华文中宋" pitchFamily="2" charset="-122"/>
                  <a:ea typeface="华文中宋" pitchFamily="2" charset="-122"/>
                </a:rPr>
                <a:t>加速度对伽里略变换不变： </a:t>
              </a:r>
            </a:p>
          </p:txBody>
        </p:sp>
        <p:graphicFrame>
          <p:nvGraphicFramePr>
            <p:cNvPr id="18456" name="Object 6"/>
            <p:cNvGraphicFramePr>
              <a:graphicFrameLocks noChangeAspect="1"/>
            </p:cNvGraphicFramePr>
            <p:nvPr/>
          </p:nvGraphicFramePr>
          <p:xfrm>
            <a:off x="2200" y="1962"/>
            <a:ext cx="681" cy="243"/>
          </p:xfrm>
          <a:graphic>
            <a:graphicData uri="http://schemas.openxmlformats.org/presentationml/2006/ole">
              <mc:AlternateContent xmlns:mc="http://schemas.openxmlformats.org/markup-compatibility/2006">
                <mc:Choice xmlns:v="urn:schemas-microsoft-com:vml" Requires="v">
                  <p:oleObj spid="_x0000_s18466" name="公式" r:id="rId5" imgW="405872" imgH="177569" progId="Equation.3">
                    <p:embed/>
                  </p:oleObj>
                </mc:Choice>
                <mc:Fallback>
                  <p:oleObj name="公式" r:id="rId5" imgW="405872" imgH="177569"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0" y="1962"/>
                          <a:ext cx="681" cy="243"/>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29389" name="Object 13"/>
          <p:cNvGraphicFramePr>
            <a:graphicFrameLocks noChangeAspect="1"/>
          </p:cNvGraphicFramePr>
          <p:nvPr/>
        </p:nvGraphicFramePr>
        <p:xfrm>
          <a:off x="3781425" y="1203325"/>
          <a:ext cx="1790700" cy="1106488"/>
        </p:xfrm>
        <a:graphic>
          <a:graphicData uri="http://schemas.openxmlformats.org/presentationml/2006/ole">
            <mc:AlternateContent xmlns:mc="http://schemas.openxmlformats.org/markup-compatibility/2006">
              <mc:Choice xmlns:v="urn:schemas-microsoft-com:vml" Requires="v">
                <p:oleObj spid="_x0000_s18467" name="公式" r:id="rId7" imgW="799753" imgH="761669" progId="Equation.3">
                  <p:embed/>
                </p:oleObj>
              </mc:Choice>
              <mc:Fallback>
                <p:oleObj name="公式" r:id="rId7" imgW="799753" imgH="761669"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1425" y="1203325"/>
                        <a:ext cx="1790700"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9390" name="Object 14"/>
          <p:cNvGraphicFramePr>
            <a:graphicFrameLocks noChangeAspect="1"/>
          </p:cNvGraphicFramePr>
          <p:nvPr/>
        </p:nvGraphicFramePr>
        <p:xfrm>
          <a:off x="1476375" y="1279525"/>
          <a:ext cx="1320800" cy="1296988"/>
        </p:xfrm>
        <a:graphic>
          <a:graphicData uri="http://schemas.openxmlformats.org/presentationml/2006/ole">
            <mc:AlternateContent xmlns:mc="http://schemas.openxmlformats.org/markup-compatibility/2006">
              <mc:Choice xmlns:v="urn:schemas-microsoft-com:vml" Requires="v">
                <p:oleObj spid="_x0000_s18468" name="公式" r:id="rId9" imgW="838200" imgH="927100" progId="Equation.3">
                  <p:embed/>
                </p:oleObj>
              </mc:Choice>
              <mc:Fallback>
                <p:oleObj name="公式" r:id="rId9" imgW="838200" imgH="9271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1279525"/>
                        <a:ext cx="1320800"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9391" name="AutoShape 15"/>
          <p:cNvSpPr>
            <a:spLocks noChangeArrowheads="1"/>
          </p:cNvSpPr>
          <p:nvPr/>
        </p:nvSpPr>
        <p:spPr bwMode="auto">
          <a:xfrm>
            <a:off x="3132138" y="1292225"/>
            <a:ext cx="498475" cy="862013"/>
          </a:xfrm>
          <a:prstGeom prst="rightArrow">
            <a:avLst>
              <a:gd name="adj1" fmla="val 50000"/>
              <a:gd name="adj2" fmla="val 75000"/>
            </a:avLst>
          </a:prstGeom>
          <a:solidFill>
            <a:schemeClr val="accent1"/>
          </a:solidFill>
          <a:ln w="9525">
            <a:solidFill>
              <a:schemeClr val="tx1"/>
            </a:solidFill>
            <a:miter lim="800000"/>
            <a:headEnd/>
            <a:tailEnd/>
          </a:ln>
        </p:spPr>
        <p:txBody>
          <a:bodyPr anchor="ctr">
            <a:spAutoFit/>
          </a:bodyPr>
          <a:lstStyle/>
          <a:p>
            <a:endParaRPr lang="zh-CN" altLang="en-US"/>
          </a:p>
        </p:txBody>
      </p:sp>
      <p:sp>
        <p:nvSpPr>
          <p:cNvPr id="229392" name="AutoShape 16"/>
          <p:cNvSpPr>
            <a:spLocks noChangeArrowheads="1"/>
          </p:cNvSpPr>
          <p:nvPr/>
        </p:nvSpPr>
        <p:spPr bwMode="auto">
          <a:xfrm>
            <a:off x="5867400" y="1292225"/>
            <a:ext cx="498475" cy="862013"/>
          </a:xfrm>
          <a:prstGeom prst="rightArrow">
            <a:avLst>
              <a:gd name="adj1" fmla="val 50000"/>
              <a:gd name="adj2" fmla="val 75000"/>
            </a:avLst>
          </a:prstGeom>
          <a:solidFill>
            <a:schemeClr val="accent1"/>
          </a:solidFill>
          <a:ln w="9525">
            <a:solidFill>
              <a:schemeClr val="tx1"/>
            </a:solidFill>
            <a:miter lim="800000"/>
            <a:headEnd/>
            <a:tailEnd/>
          </a:ln>
        </p:spPr>
        <p:txBody>
          <a:bodyPr anchor="ctr">
            <a:spAutoFit/>
          </a:bodyPr>
          <a:lstStyle/>
          <a:p>
            <a:endParaRPr lang="zh-CN" altLang="en-US"/>
          </a:p>
        </p:txBody>
      </p:sp>
      <p:grpSp>
        <p:nvGrpSpPr>
          <p:cNvPr id="3" name="Group 21"/>
          <p:cNvGrpSpPr>
            <a:grpSpLocks/>
          </p:cNvGrpSpPr>
          <p:nvPr/>
        </p:nvGrpSpPr>
        <p:grpSpPr bwMode="auto">
          <a:xfrm>
            <a:off x="684213" y="2774950"/>
            <a:ext cx="4392612" cy="368300"/>
            <a:chOff x="431" y="2251"/>
            <a:chExt cx="2767" cy="310"/>
          </a:xfrm>
        </p:grpSpPr>
        <p:sp>
          <p:nvSpPr>
            <p:cNvPr id="18453" name="Text Box 8"/>
            <p:cNvSpPr txBox="1">
              <a:spLocks noChangeArrowheads="1"/>
            </p:cNvSpPr>
            <p:nvPr/>
          </p:nvSpPr>
          <p:spPr bwMode="auto">
            <a:xfrm>
              <a:off x="431" y="2251"/>
              <a:ext cx="276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latin typeface="华文中宋" pitchFamily="2" charset="-122"/>
                  <a:ea typeface="华文中宋" pitchFamily="2" charset="-122"/>
                </a:rPr>
                <a:t>物体质量与其运动状态无关：</a:t>
              </a:r>
              <a:endParaRPr lang="zh-CN" altLang="en-US" sz="1800" baseline="30000">
                <a:latin typeface="华文中宋" pitchFamily="2" charset="-122"/>
                <a:ea typeface="华文中宋" pitchFamily="2" charset="-122"/>
              </a:endParaRPr>
            </a:p>
          </p:txBody>
        </p:sp>
        <p:graphicFrame>
          <p:nvGraphicFramePr>
            <p:cNvPr id="18454" name="Object 17"/>
            <p:cNvGraphicFramePr>
              <a:graphicFrameLocks noChangeAspect="1"/>
            </p:cNvGraphicFramePr>
            <p:nvPr/>
          </p:nvGraphicFramePr>
          <p:xfrm>
            <a:off x="2327" y="2281"/>
            <a:ext cx="825" cy="242"/>
          </p:xfrm>
          <a:graphic>
            <a:graphicData uri="http://schemas.openxmlformats.org/presentationml/2006/ole">
              <mc:AlternateContent xmlns:mc="http://schemas.openxmlformats.org/markup-compatibility/2006">
                <mc:Choice xmlns:v="urn:schemas-microsoft-com:vml" Requires="v">
                  <p:oleObj spid="_x0000_s18469" name="公式" r:id="rId11" imgW="494870" imgH="177646" progId="Equation.3">
                    <p:embed/>
                  </p:oleObj>
                </mc:Choice>
                <mc:Fallback>
                  <p:oleObj name="公式" r:id="rId11" imgW="494870" imgH="177646"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7" y="2281"/>
                          <a:ext cx="825" cy="242"/>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22"/>
          <p:cNvGrpSpPr>
            <a:grpSpLocks/>
          </p:cNvGrpSpPr>
          <p:nvPr/>
        </p:nvGrpSpPr>
        <p:grpSpPr bwMode="auto">
          <a:xfrm>
            <a:off x="684213" y="3148013"/>
            <a:ext cx="5699125" cy="398462"/>
            <a:chOff x="431" y="2541"/>
            <a:chExt cx="3590" cy="334"/>
          </a:xfrm>
        </p:grpSpPr>
        <p:sp>
          <p:nvSpPr>
            <p:cNvPr id="18451" name="Rectangle 9"/>
            <p:cNvSpPr>
              <a:spLocks noChangeArrowheads="1"/>
            </p:cNvSpPr>
            <p:nvPr/>
          </p:nvSpPr>
          <p:spPr bwMode="auto">
            <a:xfrm>
              <a:off x="431" y="2565"/>
              <a:ext cx="359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latin typeface="华文中宋" pitchFamily="2" charset="-122"/>
                  <a:ea typeface="华文中宋" pitchFamily="2" charset="-122"/>
                </a:rPr>
                <a:t>物体间的相互作用与参照系的选择无关：</a:t>
              </a:r>
              <a:endParaRPr lang="zh-CN" altLang="en-US" sz="1800" baseline="30000">
                <a:latin typeface="华文中宋" pitchFamily="2" charset="-122"/>
                <a:ea typeface="华文中宋" pitchFamily="2" charset="-122"/>
              </a:endParaRPr>
            </a:p>
          </p:txBody>
        </p:sp>
        <p:graphicFrame>
          <p:nvGraphicFramePr>
            <p:cNvPr id="18452" name="Object 18"/>
            <p:cNvGraphicFramePr>
              <a:graphicFrameLocks noChangeAspect="1"/>
            </p:cNvGraphicFramePr>
            <p:nvPr/>
          </p:nvGraphicFramePr>
          <p:xfrm>
            <a:off x="3061" y="2541"/>
            <a:ext cx="862" cy="289"/>
          </p:xfrm>
          <a:graphic>
            <a:graphicData uri="http://schemas.openxmlformats.org/presentationml/2006/ole">
              <mc:AlternateContent xmlns:mc="http://schemas.openxmlformats.org/markup-compatibility/2006">
                <mc:Choice xmlns:v="urn:schemas-microsoft-com:vml" Requires="v">
                  <p:oleObj spid="_x0000_s18470" name="公式" r:id="rId13" imgW="494870" imgH="203024" progId="Equation.3">
                    <p:embed/>
                  </p:oleObj>
                </mc:Choice>
                <mc:Fallback>
                  <p:oleObj name="公式" r:id="rId13" imgW="494870" imgH="203024"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1" y="2541"/>
                          <a:ext cx="862" cy="289"/>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33"/>
          <p:cNvGrpSpPr>
            <a:grpSpLocks/>
          </p:cNvGrpSpPr>
          <p:nvPr/>
        </p:nvGrpSpPr>
        <p:grpSpPr bwMode="auto">
          <a:xfrm>
            <a:off x="684213" y="3549650"/>
            <a:ext cx="7559675" cy="390525"/>
            <a:chOff x="448" y="2898"/>
            <a:chExt cx="4762" cy="328"/>
          </a:xfrm>
        </p:grpSpPr>
        <p:grpSp>
          <p:nvGrpSpPr>
            <p:cNvPr id="18445" name="Group 31"/>
            <p:cNvGrpSpPr>
              <a:grpSpLocks/>
            </p:cNvGrpSpPr>
            <p:nvPr/>
          </p:nvGrpSpPr>
          <p:grpSpPr bwMode="auto">
            <a:xfrm>
              <a:off x="448" y="2898"/>
              <a:ext cx="2750" cy="328"/>
              <a:chOff x="720" y="3034"/>
              <a:chExt cx="2750" cy="328"/>
            </a:xfrm>
          </p:grpSpPr>
          <p:sp>
            <p:nvSpPr>
              <p:cNvPr id="18449" name="Text Box 24"/>
              <p:cNvSpPr txBox="1">
                <a:spLocks noChangeArrowheads="1"/>
              </p:cNvSpPr>
              <p:nvPr/>
            </p:nvSpPr>
            <p:spPr bwMode="auto">
              <a:xfrm>
                <a:off x="720" y="3051"/>
                <a:ext cx="275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latin typeface="华文中宋" pitchFamily="2" charset="-122"/>
                    <a:ea typeface="华文中宋" pitchFamily="2" charset="-122"/>
                  </a:rPr>
                  <a:t>故只要在</a:t>
                </a:r>
                <a:r>
                  <a:rPr lang="en-US" altLang="zh-CN" sz="1800">
                    <a:latin typeface="华文中宋" pitchFamily="2" charset="-122"/>
                    <a:ea typeface="华文中宋" pitchFamily="2" charset="-122"/>
                  </a:rPr>
                  <a:t>S</a:t>
                </a:r>
                <a:r>
                  <a:rPr lang="zh-CN" altLang="en-US" sz="1800">
                    <a:latin typeface="华文中宋" pitchFamily="2" charset="-122"/>
                    <a:ea typeface="华文中宋" pitchFamily="2" charset="-122"/>
                  </a:rPr>
                  <a:t>系中有               ，</a:t>
                </a:r>
              </a:p>
            </p:txBody>
          </p:sp>
          <p:graphicFrame>
            <p:nvGraphicFramePr>
              <p:cNvPr id="18450" name="Object 25"/>
              <p:cNvGraphicFramePr>
                <a:graphicFrameLocks noChangeAspect="1"/>
              </p:cNvGraphicFramePr>
              <p:nvPr/>
            </p:nvGraphicFramePr>
            <p:xfrm>
              <a:off x="1882" y="3034"/>
              <a:ext cx="726" cy="305"/>
            </p:xfrm>
            <a:graphic>
              <a:graphicData uri="http://schemas.openxmlformats.org/presentationml/2006/ole">
                <mc:AlternateContent xmlns:mc="http://schemas.openxmlformats.org/markup-compatibility/2006">
                  <mc:Choice xmlns:v="urn:schemas-microsoft-com:vml" Requires="v">
                    <p:oleObj spid="_x0000_s18471" name="公式" r:id="rId15" imgW="532937" imgH="215713" progId="Equation.3">
                      <p:embed/>
                    </p:oleObj>
                  </mc:Choice>
                  <mc:Fallback>
                    <p:oleObj name="公式" r:id="rId15" imgW="532937" imgH="215713" progId="Equation.3">
                      <p:embed/>
                      <p:pic>
                        <p:nvPicPr>
                          <p:cNvPr id="0"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82" y="3034"/>
                            <a:ext cx="726" cy="305"/>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8446" name="Group 30"/>
            <p:cNvGrpSpPr>
              <a:grpSpLocks/>
            </p:cNvGrpSpPr>
            <p:nvPr/>
          </p:nvGrpSpPr>
          <p:grpSpPr bwMode="auto">
            <a:xfrm>
              <a:off x="2443" y="2915"/>
              <a:ext cx="2767" cy="311"/>
              <a:chOff x="265" y="3385"/>
              <a:chExt cx="2767" cy="311"/>
            </a:xfrm>
          </p:grpSpPr>
          <p:graphicFrame>
            <p:nvGraphicFramePr>
              <p:cNvPr id="18447" name="Object 26"/>
              <p:cNvGraphicFramePr>
                <a:graphicFrameLocks noChangeAspect="1"/>
              </p:cNvGraphicFramePr>
              <p:nvPr/>
            </p:nvGraphicFramePr>
            <p:xfrm>
              <a:off x="1626" y="3385"/>
              <a:ext cx="817" cy="283"/>
            </p:xfrm>
            <a:graphic>
              <a:graphicData uri="http://schemas.openxmlformats.org/presentationml/2006/ole">
                <mc:AlternateContent xmlns:mc="http://schemas.openxmlformats.org/markup-compatibility/2006">
                  <mc:Choice xmlns:v="urn:schemas-microsoft-com:vml" Requires="v">
                    <p:oleObj spid="_x0000_s18472" name="公式" r:id="rId17" imgW="647419" imgH="215806" progId="Equation.3">
                      <p:embed/>
                    </p:oleObj>
                  </mc:Choice>
                  <mc:Fallback>
                    <p:oleObj name="公式" r:id="rId17" imgW="647419" imgH="215806" progId="Equation.3">
                      <p:embed/>
                      <p:pic>
                        <p:nvPicPr>
                          <p:cNvPr id="0"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26" y="3385"/>
                            <a:ext cx="817" cy="283"/>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48" name="Text Box 27"/>
              <p:cNvSpPr txBox="1">
                <a:spLocks noChangeArrowheads="1"/>
              </p:cNvSpPr>
              <p:nvPr/>
            </p:nvSpPr>
            <p:spPr bwMode="auto">
              <a:xfrm>
                <a:off x="265" y="3385"/>
                <a:ext cx="276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latin typeface="华文中宋" pitchFamily="2" charset="-122"/>
                    <a:ea typeface="华文中宋" pitchFamily="2" charset="-122"/>
                  </a:rPr>
                  <a:t>则在</a:t>
                </a:r>
                <a:r>
                  <a:rPr lang="en-US" altLang="zh-CN" sz="1800">
                    <a:latin typeface="华文中宋" pitchFamily="2" charset="-122"/>
                    <a:ea typeface="华文中宋" pitchFamily="2" charset="-122"/>
                  </a:rPr>
                  <a:t>S</a:t>
                </a:r>
                <a:r>
                  <a:rPr lang="en-US" altLang="zh-CN" sz="1800" baseline="30000">
                    <a:ea typeface="华文中宋" pitchFamily="2" charset="-122"/>
                  </a:rPr>
                  <a:t>’</a:t>
                </a:r>
                <a:r>
                  <a:rPr lang="zh-CN" altLang="en-US" sz="1800">
                    <a:latin typeface="华文中宋" pitchFamily="2" charset="-122"/>
                    <a:ea typeface="华文中宋" pitchFamily="2" charset="-122"/>
                  </a:rPr>
                  <a:t>系也一定有                  。</a:t>
                </a:r>
              </a:p>
            </p:txBody>
          </p:sp>
        </p:grpSp>
      </p:grpSp>
      <p:sp>
        <p:nvSpPr>
          <p:cNvPr id="9" name="Text Box 5"/>
          <p:cNvSpPr txBox="1">
            <a:spLocks noChangeArrowheads="1"/>
          </p:cNvSpPr>
          <p:nvPr/>
        </p:nvSpPr>
        <p:spPr bwMode="auto">
          <a:xfrm>
            <a:off x="1403350" y="3922713"/>
            <a:ext cx="6469063" cy="646112"/>
          </a:xfrm>
          <a:prstGeom prst="rect">
            <a:avLst/>
          </a:prstGeom>
          <a:noFill/>
          <a:ln w="19050">
            <a:solidFill>
              <a:srgbClr val="FF0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a:latin typeface="华文中宋" pitchFamily="2" charset="-122"/>
                <a:ea typeface="华文中宋" pitchFamily="2" charset="-122"/>
                <a:cs typeface="Times New Roman" pitchFamily="18" charset="0"/>
              </a:rPr>
              <a:t>        </a:t>
            </a:r>
            <a:r>
              <a:rPr kumimoji="0" lang="zh-CN" altLang="en-US" sz="1800">
                <a:solidFill>
                  <a:srgbClr val="0000FF"/>
                </a:solidFill>
                <a:latin typeface="华文中宋" pitchFamily="2" charset="-122"/>
                <a:ea typeface="华文中宋" pitchFamily="2" charset="-122"/>
                <a:cs typeface="Times New Roman" pitchFamily="18" charset="0"/>
              </a:rPr>
              <a:t>一切惯性系中，描述运动的力学规律都是完全相同的</a:t>
            </a:r>
            <a:r>
              <a:rPr kumimoji="0" lang="en-US" altLang="zh-CN" sz="1800">
                <a:latin typeface="华文中宋" pitchFamily="2" charset="-122"/>
                <a:ea typeface="华文中宋" pitchFamily="2" charset="-122"/>
                <a:cs typeface="Times New Roman" pitchFamily="18" charset="0"/>
              </a:rPr>
              <a:t>. </a:t>
            </a:r>
          </a:p>
          <a:p>
            <a:pPr algn="r" eaLnBrk="1" hangingPunct="1"/>
            <a:r>
              <a:rPr kumimoji="0" lang="en-US" altLang="zh-CN" sz="1800">
                <a:latin typeface="华文中宋" pitchFamily="2" charset="-122"/>
                <a:ea typeface="华文中宋" pitchFamily="2" charset="-122"/>
                <a:cs typeface="Times New Roman" pitchFamily="18" charset="0"/>
              </a:rPr>
              <a:t>               ----</a:t>
            </a:r>
            <a:r>
              <a:rPr kumimoji="0" lang="zh-CN" altLang="en-US" sz="1800">
                <a:latin typeface="华文中宋" pitchFamily="2" charset="-122"/>
                <a:ea typeface="华文中宋" pitchFamily="2" charset="-122"/>
                <a:cs typeface="Times New Roman" pitchFamily="18" charset="0"/>
              </a:rPr>
              <a:t>力学的相对性原理</a:t>
            </a:r>
          </a:p>
        </p:txBody>
      </p:sp>
      <p:sp>
        <p:nvSpPr>
          <p:cNvPr id="18444" name="Text Box 2"/>
          <p:cNvSpPr>
            <a:spLocks noChangeArrowheads="1"/>
          </p:cNvSpPr>
          <p:nvPr/>
        </p:nvSpPr>
        <p:spPr bwMode="auto">
          <a:xfrm>
            <a:off x="839788" y="874713"/>
            <a:ext cx="2868612" cy="401637"/>
          </a:xfrm>
          <a:prstGeom prst="homePlate">
            <a:avLst>
              <a:gd name="adj" fmla="val 49864"/>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三、力学相对性原理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9390"/>
                                        </p:tgtEl>
                                        <p:attrNameLst>
                                          <p:attrName>style.visibility</p:attrName>
                                        </p:attrNameLst>
                                      </p:cBhvr>
                                      <p:to>
                                        <p:strVal val="visible"/>
                                      </p:to>
                                    </p:set>
                                    <p:animEffect transition="in" filter="blinds(horizontal)">
                                      <p:cBhvr>
                                        <p:cTn id="7" dur="500"/>
                                        <p:tgtEl>
                                          <p:spTgt spid="2293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9391"/>
                                        </p:tgtEl>
                                        <p:attrNameLst>
                                          <p:attrName>style.visibility</p:attrName>
                                        </p:attrNameLst>
                                      </p:cBhvr>
                                      <p:to>
                                        <p:strVal val="visible"/>
                                      </p:to>
                                    </p:set>
                                    <p:animEffect transition="in" filter="blinds(horizontal)">
                                      <p:cBhvr>
                                        <p:cTn id="12" dur="500"/>
                                        <p:tgtEl>
                                          <p:spTgt spid="229391"/>
                                        </p:tgtEl>
                                      </p:cBhvr>
                                    </p:animEffect>
                                  </p:childTnLst>
                                </p:cTn>
                              </p:par>
                              <p:par>
                                <p:cTn id="13" presetID="3" presetClass="entr" presetSubtype="10" fill="hold" nodeType="withEffect">
                                  <p:stCondLst>
                                    <p:cond delay="0"/>
                                  </p:stCondLst>
                                  <p:childTnLst>
                                    <p:set>
                                      <p:cBhvr>
                                        <p:cTn id="14" dur="1" fill="hold">
                                          <p:stCondLst>
                                            <p:cond delay="0"/>
                                          </p:stCondLst>
                                        </p:cTn>
                                        <p:tgtEl>
                                          <p:spTgt spid="229389"/>
                                        </p:tgtEl>
                                        <p:attrNameLst>
                                          <p:attrName>style.visibility</p:attrName>
                                        </p:attrNameLst>
                                      </p:cBhvr>
                                      <p:to>
                                        <p:strVal val="visible"/>
                                      </p:to>
                                    </p:set>
                                    <p:animEffect transition="in" filter="blinds(horizontal)">
                                      <p:cBhvr>
                                        <p:cTn id="15" dur="500"/>
                                        <p:tgtEl>
                                          <p:spTgt spid="22938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29392"/>
                                        </p:tgtEl>
                                        <p:attrNameLst>
                                          <p:attrName>style.visibility</p:attrName>
                                        </p:attrNameLst>
                                      </p:cBhvr>
                                      <p:to>
                                        <p:strVal val="visible"/>
                                      </p:to>
                                    </p:set>
                                    <p:animEffect transition="in" filter="blinds(horizontal)">
                                      <p:cBhvr>
                                        <p:cTn id="20" dur="500"/>
                                        <p:tgtEl>
                                          <p:spTgt spid="229392"/>
                                        </p:tgtEl>
                                      </p:cBhvr>
                                    </p:animEffect>
                                  </p:childTnLst>
                                </p:cTn>
                              </p:par>
                              <p:par>
                                <p:cTn id="21" presetID="3" presetClass="entr" presetSubtype="10" fill="hold" nodeType="withEffect">
                                  <p:stCondLst>
                                    <p:cond delay="0"/>
                                  </p:stCondLst>
                                  <p:childTnLst>
                                    <p:set>
                                      <p:cBhvr>
                                        <p:cTn id="22" dur="1" fill="hold">
                                          <p:stCondLst>
                                            <p:cond delay="0"/>
                                          </p:stCondLst>
                                        </p:cTn>
                                        <p:tgtEl>
                                          <p:spTgt spid="229381"/>
                                        </p:tgtEl>
                                        <p:attrNameLst>
                                          <p:attrName>style.visibility</p:attrName>
                                        </p:attrNameLst>
                                      </p:cBhvr>
                                      <p:to>
                                        <p:strVal val="visible"/>
                                      </p:to>
                                    </p:set>
                                    <p:animEffect transition="in" filter="blinds(horizontal)">
                                      <p:cBhvr>
                                        <p:cTn id="23" dur="500"/>
                                        <p:tgtEl>
                                          <p:spTgt spid="22938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linds(horizontal)">
                                      <p:cBhvr>
                                        <p:cTn id="33" dur="500"/>
                                        <p:tgtEl>
                                          <p:spTgt spid="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blinds(horizontal)">
                                      <p:cBhvr>
                                        <p:cTn id="38" dur="500"/>
                                        <p:tgtEl>
                                          <p:spTgt spid="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
                                            <p:bg/>
                                          </p:spTgt>
                                        </p:tgtEl>
                                        <p:attrNameLst>
                                          <p:attrName>style.visibility</p:attrName>
                                        </p:attrNameLst>
                                      </p:cBhvr>
                                      <p:to>
                                        <p:strVal val="visible"/>
                                      </p:to>
                                    </p:set>
                                    <p:animEffect transition="in" filter="wipe(left)">
                                      <p:cBhvr>
                                        <p:cTn id="48" dur="500"/>
                                        <p:tgtEl>
                                          <p:spTgt spid="9">
                                            <p:bg/>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txEl>
                                              <p:pRg st="0" end="0"/>
                                            </p:txEl>
                                          </p:spTgt>
                                        </p:tgtEl>
                                        <p:attrNameLst>
                                          <p:attrName>style.visibility</p:attrName>
                                        </p:attrNameLst>
                                      </p:cBhvr>
                                      <p:to>
                                        <p:strVal val="visible"/>
                                      </p:to>
                                    </p:set>
                                    <p:animEffect transition="in" filter="wipe(left)">
                                      <p:cBhvr>
                                        <p:cTn id="53" dur="500"/>
                                        <p:tgtEl>
                                          <p:spTgt spid="9">
                                            <p:txEl>
                                              <p:pRg st="0" end="0"/>
                                            </p:txEl>
                                          </p:spTgt>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9">
                                            <p:txEl>
                                              <p:pRg st="1" end="1"/>
                                            </p:txEl>
                                          </p:spTgt>
                                        </p:tgtEl>
                                        <p:attrNameLst>
                                          <p:attrName>style.visibility</p:attrName>
                                        </p:attrNameLst>
                                      </p:cBhvr>
                                      <p:to>
                                        <p:strVal val="visible"/>
                                      </p:to>
                                    </p:set>
                                    <p:animEffect transition="in" filter="wipe(left)">
                                      <p:cBhvr>
                                        <p:cTn id="5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91" grpId="0" animBg="1"/>
      <p:bldP spid="229392" grpId="0" animBg="1"/>
      <p:bldP spid="9"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2" name="Rectangle 4"/>
          <p:cNvSpPr>
            <a:spLocks noChangeArrowheads="1"/>
          </p:cNvSpPr>
          <p:nvPr/>
        </p:nvSpPr>
        <p:spPr bwMode="auto">
          <a:xfrm>
            <a:off x="1000125" y="1096963"/>
            <a:ext cx="3421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ckThin">
                <a:solidFill>
                  <a:srgbClr val="000000"/>
                </a:solidFill>
                <a:miter lim="800000"/>
                <a:headEnd/>
                <a:tailEnd/>
              </a14:hiddenLine>
            </a:ext>
          </a:extLst>
        </p:spPr>
        <p:txBody>
          <a:bodyPr>
            <a:spAutoFit/>
          </a:bodyPr>
          <a:lstStyle/>
          <a:p>
            <a:pPr algn="just" eaLnBrk="0" hangingPunct="0"/>
            <a:r>
              <a:rPr kumimoji="0" lang="zh-CN" altLang="en-US" sz="1800">
                <a:solidFill>
                  <a:srgbClr val="FF0000"/>
                </a:solidFill>
                <a:latin typeface="华文中宋" pitchFamily="2" charset="-122"/>
                <a:ea typeface="华文中宋" pitchFamily="2" charset="-122"/>
              </a:rPr>
              <a:t>力学的相对性原理</a:t>
            </a:r>
          </a:p>
        </p:txBody>
      </p:sp>
      <p:sp>
        <p:nvSpPr>
          <p:cNvPr id="201733" name="Text Box 5"/>
          <p:cNvSpPr txBox="1">
            <a:spLocks noChangeArrowheads="1"/>
          </p:cNvSpPr>
          <p:nvPr/>
        </p:nvSpPr>
        <p:spPr bwMode="auto">
          <a:xfrm>
            <a:off x="774700" y="1570038"/>
            <a:ext cx="79644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latin typeface="华文中宋" pitchFamily="2" charset="-122"/>
                <a:ea typeface="华文中宋" pitchFamily="2" charset="-122"/>
              </a:rPr>
              <a:t>（</a:t>
            </a:r>
            <a:r>
              <a:rPr lang="en-US" altLang="zh-CN" sz="1800">
                <a:solidFill>
                  <a:srgbClr val="0000FF"/>
                </a:solidFill>
                <a:latin typeface="华文中宋" pitchFamily="2" charset="-122"/>
                <a:ea typeface="华文中宋" pitchFamily="2" charset="-122"/>
              </a:rPr>
              <a:t>1</a:t>
            </a:r>
            <a:r>
              <a:rPr lang="zh-CN" altLang="en-US" sz="1800">
                <a:solidFill>
                  <a:srgbClr val="0000FF"/>
                </a:solidFill>
                <a:latin typeface="华文中宋" pitchFamily="2" charset="-122"/>
                <a:ea typeface="华文中宋" pitchFamily="2" charset="-122"/>
              </a:rPr>
              <a:t>）来源于牛顿的时空观。</a:t>
            </a:r>
          </a:p>
          <a:p>
            <a:pPr eaLnBrk="1" hangingPunct="1"/>
            <a:r>
              <a:rPr lang="zh-CN" altLang="en-US" sz="1800">
                <a:solidFill>
                  <a:srgbClr val="FF0066"/>
                </a:solidFill>
                <a:latin typeface="华文中宋" pitchFamily="2" charset="-122"/>
                <a:ea typeface="华文中宋" pitchFamily="2" charset="-122"/>
              </a:rPr>
              <a:t>       </a:t>
            </a:r>
            <a:r>
              <a:rPr lang="zh-CN" altLang="en-US" sz="1800">
                <a:latin typeface="华文中宋" pitchFamily="2" charset="-122"/>
                <a:ea typeface="华文中宋" pitchFamily="2" charset="-122"/>
              </a:rPr>
              <a:t>时间和空间的测量</a:t>
            </a:r>
            <a:r>
              <a:rPr kumimoji="0" lang="zh-CN" altLang="en-US" sz="1800">
                <a:latin typeface="华文中宋" pitchFamily="2" charset="-122"/>
                <a:ea typeface="华文中宋" pitchFamily="2" charset="-122"/>
              </a:rPr>
              <a:t>与</a:t>
            </a:r>
            <a:r>
              <a:rPr lang="zh-CN" altLang="en-US" sz="1800">
                <a:latin typeface="华文中宋" pitchFamily="2" charset="-122"/>
                <a:ea typeface="华文中宋" pitchFamily="2" charset="-122"/>
              </a:rPr>
              <a:t>惯性参考系</a:t>
            </a:r>
            <a:r>
              <a:rPr kumimoji="0" lang="zh-CN" altLang="en-US" sz="1800">
                <a:latin typeface="华文中宋" pitchFamily="2" charset="-122"/>
                <a:ea typeface="华文中宋" pitchFamily="2" charset="-122"/>
              </a:rPr>
              <a:t>的运动无关。</a:t>
            </a:r>
            <a:endParaRPr lang="zh-CN" altLang="en-US" sz="1800">
              <a:latin typeface="华文中宋" pitchFamily="2" charset="-122"/>
              <a:ea typeface="华文中宋" pitchFamily="2" charset="-122"/>
            </a:endParaRPr>
          </a:p>
        </p:txBody>
      </p:sp>
      <p:sp>
        <p:nvSpPr>
          <p:cNvPr id="201735" name="Rectangle 7"/>
          <p:cNvSpPr>
            <a:spLocks noChangeArrowheads="1"/>
          </p:cNvSpPr>
          <p:nvPr/>
        </p:nvSpPr>
        <p:spPr bwMode="auto">
          <a:xfrm>
            <a:off x="776288" y="2414588"/>
            <a:ext cx="81168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ckThin">
                <a:solidFill>
                  <a:srgbClr val="000000"/>
                </a:solidFill>
                <a:miter lim="800000"/>
                <a:headEnd/>
                <a:tailEnd/>
              </a14:hiddenLine>
            </a:ext>
          </a:extLst>
        </p:spPr>
        <p:txBody>
          <a:bodyPr>
            <a:spAutoFit/>
          </a:bodyPr>
          <a:lstStyle/>
          <a:p>
            <a:pPr algn="just" eaLnBrk="0" hangingPunct="0"/>
            <a:r>
              <a:rPr lang="zh-CN" altLang="en-US" sz="1800">
                <a:solidFill>
                  <a:srgbClr val="0000FF"/>
                </a:solidFill>
                <a:latin typeface="华文中宋" pitchFamily="2" charset="-122"/>
                <a:ea typeface="华文中宋" pitchFamily="2" charset="-122"/>
              </a:rPr>
              <a:t>（</a:t>
            </a:r>
            <a:r>
              <a:rPr lang="en-US" altLang="zh-CN" sz="1800">
                <a:solidFill>
                  <a:srgbClr val="0000FF"/>
                </a:solidFill>
                <a:latin typeface="华文中宋" pitchFamily="2" charset="-122"/>
                <a:ea typeface="华文中宋" pitchFamily="2" charset="-122"/>
              </a:rPr>
              <a:t>2</a:t>
            </a:r>
            <a:r>
              <a:rPr lang="zh-CN" altLang="en-US" sz="1800">
                <a:solidFill>
                  <a:srgbClr val="0000FF"/>
                </a:solidFill>
                <a:latin typeface="华文中宋" pitchFamily="2" charset="-122"/>
                <a:ea typeface="华文中宋" pitchFamily="2" charset="-122"/>
              </a:rPr>
              <a:t>）最早由伽利略从实验上提出来。</a:t>
            </a:r>
          </a:p>
          <a:p>
            <a:pPr algn="just" eaLnBrk="0" hangingPunct="0"/>
            <a:r>
              <a:rPr lang="zh-CN" altLang="en-US" sz="1800">
                <a:latin typeface="华文中宋" pitchFamily="2" charset="-122"/>
                <a:ea typeface="华文中宋" pitchFamily="2" charset="-122"/>
              </a:rPr>
              <a:t>     通过力学实验无法判定一个惯性系的运动状态。</a:t>
            </a:r>
          </a:p>
          <a:p>
            <a:r>
              <a:rPr kumimoji="0" lang="zh-CN" altLang="en-US" sz="1800">
                <a:latin typeface="华文中宋" pitchFamily="2" charset="-122"/>
                <a:ea typeface="华文中宋" pitchFamily="2" charset="-122"/>
              </a:rPr>
              <a:t>     因此，用力学的方法无法寻找绝对静止参照系。</a:t>
            </a:r>
          </a:p>
        </p:txBody>
      </p:sp>
      <p:sp>
        <p:nvSpPr>
          <p:cNvPr id="201736" name="Text Box 8"/>
          <p:cNvSpPr txBox="1">
            <a:spLocks noChangeArrowheads="1"/>
          </p:cNvSpPr>
          <p:nvPr/>
        </p:nvSpPr>
        <p:spPr bwMode="auto">
          <a:xfrm>
            <a:off x="765175" y="3570288"/>
            <a:ext cx="7335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solidFill>
                  <a:srgbClr val="0000FF"/>
                </a:solidFill>
                <a:latin typeface="华文中宋" pitchFamily="2" charset="-122"/>
                <a:ea typeface="华文中宋" pitchFamily="2" charset="-122"/>
              </a:rPr>
              <a:t>（</a:t>
            </a:r>
            <a:r>
              <a:rPr kumimoji="0" lang="en-US" altLang="zh-CN" sz="1800">
                <a:solidFill>
                  <a:srgbClr val="0000FF"/>
                </a:solidFill>
                <a:latin typeface="华文中宋" pitchFamily="2" charset="-122"/>
                <a:ea typeface="华文中宋" pitchFamily="2" charset="-122"/>
              </a:rPr>
              <a:t>3</a:t>
            </a:r>
            <a:r>
              <a:rPr kumimoji="0" lang="zh-CN" altLang="en-US" sz="1800">
                <a:solidFill>
                  <a:srgbClr val="0000FF"/>
                </a:solidFill>
                <a:latin typeface="华文中宋" pitchFamily="2" charset="-122"/>
                <a:ea typeface="华文中宋" pitchFamily="2" charset="-122"/>
              </a:rPr>
              <a:t>）伽利略变换是</a:t>
            </a:r>
            <a:r>
              <a:rPr lang="zh-CN" altLang="en-US" sz="1800">
                <a:solidFill>
                  <a:srgbClr val="0000FF"/>
                </a:solidFill>
                <a:latin typeface="华文中宋" pitchFamily="2" charset="-122"/>
                <a:ea typeface="华文中宋" pitchFamily="2" charset="-122"/>
              </a:rPr>
              <a:t>经典力学时空观的数学体现。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2">
                                            <p:txEl>
                                              <p:pRg st="0" end="0"/>
                                            </p:txEl>
                                          </p:spTgt>
                                        </p:tgtEl>
                                        <p:attrNameLst>
                                          <p:attrName>style.visibility</p:attrName>
                                        </p:attrNameLst>
                                      </p:cBhvr>
                                      <p:to>
                                        <p:strVal val="visible"/>
                                      </p:to>
                                    </p:set>
                                    <p:animEffect transition="in" filter="wipe(left)">
                                      <p:cBhvr>
                                        <p:cTn id="7" dur="500"/>
                                        <p:tgtEl>
                                          <p:spTgt spid="20173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1733"/>
                                        </p:tgtEl>
                                        <p:attrNameLst>
                                          <p:attrName>style.visibility</p:attrName>
                                        </p:attrNameLst>
                                      </p:cBhvr>
                                      <p:to>
                                        <p:strVal val="visible"/>
                                      </p:to>
                                    </p:set>
                                    <p:animEffect transition="in" filter="wipe(left)">
                                      <p:cBhvr>
                                        <p:cTn id="12" dur="500"/>
                                        <p:tgtEl>
                                          <p:spTgt spid="2017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1735">
                                            <p:txEl>
                                              <p:pRg st="0" end="0"/>
                                            </p:txEl>
                                          </p:spTgt>
                                        </p:tgtEl>
                                        <p:attrNameLst>
                                          <p:attrName>style.visibility</p:attrName>
                                        </p:attrNameLst>
                                      </p:cBhvr>
                                      <p:to>
                                        <p:strVal val="visible"/>
                                      </p:to>
                                    </p:set>
                                    <p:animEffect transition="in" filter="wipe(left)">
                                      <p:cBhvr>
                                        <p:cTn id="17" dur="500"/>
                                        <p:tgtEl>
                                          <p:spTgt spid="20173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1735">
                                            <p:txEl>
                                              <p:pRg st="1" end="1"/>
                                            </p:txEl>
                                          </p:spTgt>
                                        </p:tgtEl>
                                        <p:attrNameLst>
                                          <p:attrName>style.visibility</p:attrName>
                                        </p:attrNameLst>
                                      </p:cBhvr>
                                      <p:to>
                                        <p:strVal val="visible"/>
                                      </p:to>
                                    </p:set>
                                    <p:animEffect transition="in" filter="wipe(left)">
                                      <p:cBhvr>
                                        <p:cTn id="22" dur="500"/>
                                        <p:tgtEl>
                                          <p:spTgt spid="201735">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1735">
                                            <p:txEl>
                                              <p:pRg st="2" end="2"/>
                                            </p:txEl>
                                          </p:spTgt>
                                        </p:tgtEl>
                                        <p:attrNameLst>
                                          <p:attrName>style.visibility</p:attrName>
                                        </p:attrNameLst>
                                      </p:cBhvr>
                                      <p:to>
                                        <p:strVal val="visible"/>
                                      </p:to>
                                    </p:set>
                                    <p:animEffect transition="in" filter="wipe(left)">
                                      <p:cBhvr>
                                        <p:cTn id="27" dur="500"/>
                                        <p:tgtEl>
                                          <p:spTgt spid="201735">
                                            <p:txEl>
                                              <p:pRg st="2" end="2"/>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1736">
                                            <p:txEl>
                                              <p:pRg st="0" end="0"/>
                                            </p:txEl>
                                          </p:spTgt>
                                        </p:tgtEl>
                                        <p:attrNameLst>
                                          <p:attrName>style.visibility</p:attrName>
                                        </p:attrNameLst>
                                      </p:cBhvr>
                                      <p:to>
                                        <p:strVal val="visible"/>
                                      </p:to>
                                    </p:set>
                                    <p:animEffect transition="in" filter="wipe(left)">
                                      <p:cBhvr>
                                        <p:cTn id="32" dur="500"/>
                                        <p:tgtEl>
                                          <p:spTgt spid="2017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2" grpId="0" build="p" autoUpdateAnimBg="0"/>
      <p:bldP spid="201733" grpId="0" autoUpdateAnimBg="0"/>
      <p:bldP spid="201735" grpId="0" build="p" autoUpdateAnimBg="0"/>
      <p:bldP spid="201736"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3"/>
          <p:cNvSpPr txBox="1">
            <a:spLocks noChangeArrowheads="1"/>
          </p:cNvSpPr>
          <p:nvPr/>
        </p:nvSpPr>
        <p:spPr bwMode="auto">
          <a:xfrm>
            <a:off x="576263" y="3402013"/>
            <a:ext cx="80994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en-US" sz="1800">
                <a:latin typeface="华文中宋" pitchFamily="2" charset="-122"/>
                <a:ea typeface="华文中宋" pitchFamily="2" charset="-122"/>
              </a:rPr>
              <a:t>       他在展望20世纪物理学前景时，却若有所思地讲道：“动力理论肯定了热和光是运动的两种方式，现在，它的美丽而晴朗的天空却被两朵乌云笼罩了，”“第一朵乌云出现在光的波动理论上，”“第二朵乌云出现在关于能量均分的麦克斯韦-玻尔兹曼理论上。”</a:t>
            </a:r>
            <a:endParaRPr lang="zh-CN" altLang="en-US" sz="1800">
              <a:latin typeface="华文中宋" pitchFamily="2" charset="-122"/>
              <a:ea typeface="华文中宋" pitchFamily="2" charset="-122"/>
            </a:endParaRPr>
          </a:p>
        </p:txBody>
      </p:sp>
      <p:sp>
        <p:nvSpPr>
          <p:cNvPr id="95241" name="Rectangle 9"/>
          <p:cNvSpPr>
            <a:spLocks noChangeArrowheads="1"/>
          </p:cNvSpPr>
          <p:nvPr/>
        </p:nvSpPr>
        <p:spPr bwMode="auto">
          <a:xfrm>
            <a:off x="611188" y="1527175"/>
            <a:ext cx="5256212"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latin typeface="华文中宋" pitchFamily="2" charset="-122"/>
                <a:ea typeface="华文中宋" pitchFamily="2" charset="-122"/>
              </a:rPr>
              <a:t>      </a:t>
            </a:r>
            <a:r>
              <a:rPr lang="en-US" altLang="en-US" sz="1800">
                <a:latin typeface="华文中宋" pitchFamily="2" charset="-122"/>
                <a:ea typeface="华文中宋" pitchFamily="2" charset="-122"/>
              </a:rPr>
              <a:t>19世纪的最后一天，欧洲著名的科学家欢聚一堂。会上，</a:t>
            </a:r>
            <a:r>
              <a:rPr lang="zh-CN" altLang="en-US" sz="1800">
                <a:latin typeface="华文中宋" pitchFamily="2" charset="-122"/>
                <a:ea typeface="华文中宋" pitchFamily="2" charset="-122"/>
              </a:rPr>
              <a:t>英国著名物理学家汤姆生（开尔文男爵）发表了新年祝词</a:t>
            </a:r>
            <a:r>
              <a:rPr lang="en-US" altLang="en-US" sz="1800">
                <a:latin typeface="华文中宋" pitchFamily="2" charset="-122"/>
                <a:ea typeface="华文中宋" pitchFamily="2" charset="-122"/>
              </a:rPr>
              <a:t>。</a:t>
            </a:r>
            <a:r>
              <a:rPr lang="zh-CN" altLang="en-US" sz="1800">
                <a:latin typeface="华文中宋" pitchFamily="2" charset="-122"/>
                <a:ea typeface="华文中宋" pitchFamily="2" charset="-122"/>
              </a:rPr>
              <a:t>他在回顾物理学所取得的伟大成就时说：“物理大厦已经落成</a:t>
            </a:r>
            <a:r>
              <a:rPr lang="en-US" altLang="en-US" sz="1800">
                <a:latin typeface="华文中宋" pitchFamily="2" charset="-122"/>
                <a:ea typeface="华文中宋" pitchFamily="2" charset="-122"/>
              </a:rPr>
              <a:t>，所剩只是一些修饰工作。</a:t>
            </a:r>
            <a:r>
              <a:rPr lang="zh-CN" altLang="en-US" sz="1800">
                <a:latin typeface="华文中宋" pitchFamily="2" charset="-122"/>
                <a:ea typeface="华文中宋" pitchFamily="2" charset="-122"/>
              </a:rPr>
              <a:t>”</a:t>
            </a:r>
          </a:p>
        </p:txBody>
      </p:sp>
      <p:pic>
        <p:nvPicPr>
          <p:cNvPr id="95244" name="Picture 1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950913"/>
            <a:ext cx="2379663" cy="226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2"/>
          <p:cNvSpPr>
            <a:spLocks noChangeArrowheads="1"/>
          </p:cNvSpPr>
          <p:nvPr/>
        </p:nvSpPr>
        <p:spPr bwMode="auto">
          <a:xfrm>
            <a:off x="839788" y="874713"/>
            <a:ext cx="2076450" cy="401637"/>
          </a:xfrm>
          <a:prstGeom prst="homePlate">
            <a:avLst>
              <a:gd name="adj" fmla="val 4985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一、历史条件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241"/>
                                        </p:tgtEl>
                                        <p:attrNameLst>
                                          <p:attrName>style.visibility</p:attrName>
                                        </p:attrNameLst>
                                      </p:cBhvr>
                                      <p:to>
                                        <p:strVal val="visible"/>
                                      </p:to>
                                    </p:set>
                                    <p:animEffect transition="in" filter="blinds(horizontal)">
                                      <p:cBhvr>
                                        <p:cTn id="7" dur="500"/>
                                        <p:tgtEl>
                                          <p:spTgt spid="952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5244"/>
                                        </p:tgtEl>
                                        <p:attrNameLst>
                                          <p:attrName>style.visibility</p:attrName>
                                        </p:attrNameLst>
                                      </p:cBhvr>
                                      <p:to>
                                        <p:strVal val="visible"/>
                                      </p:to>
                                    </p:set>
                                    <p:animEffect transition="in" filter="blinds(horizontal)">
                                      <p:cBhvr>
                                        <p:cTn id="12" dur="500"/>
                                        <p:tgtEl>
                                          <p:spTgt spid="952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95235"/>
                                        </p:tgtEl>
                                        <p:attrNameLst>
                                          <p:attrName>style.visibility</p:attrName>
                                        </p:attrNameLst>
                                      </p:cBhvr>
                                      <p:to>
                                        <p:strVal val="visible"/>
                                      </p:to>
                                    </p:set>
                                    <p:animEffect transition="in" filter="checkerboard(across)">
                                      <p:cBhvr>
                                        <p:cTn id="17" dur="500"/>
                                        <p:tgtEl>
                                          <p:spTgt spid="95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autoUpdateAnimBg="0"/>
      <p:bldP spid="952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90" name="Object 6"/>
          <p:cNvGraphicFramePr>
            <a:graphicFrameLocks noChangeAspect="1"/>
          </p:cNvGraphicFramePr>
          <p:nvPr/>
        </p:nvGraphicFramePr>
        <p:xfrm>
          <a:off x="1604963" y="2813050"/>
          <a:ext cx="2079625" cy="1382713"/>
        </p:xfrm>
        <a:graphic>
          <a:graphicData uri="http://schemas.openxmlformats.org/presentationml/2006/ole">
            <mc:AlternateContent xmlns:mc="http://schemas.openxmlformats.org/markup-compatibility/2006">
              <mc:Choice xmlns:v="urn:schemas-microsoft-com:vml" Requires="v">
                <p:oleObj spid="_x0000_s21557" name="剪辑" r:id="rId4" imgW="739924" imgH="656797" progId="MS_ClipArt_Gallery.2">
                  <p:embed/>
                </p:oleObj>
              </mc:Choice>
              <mc:Fallback>
                <p:oleObj name="剪辑" r:id="rId4" imgW="739924" imgH="656797" progId="MS_ClipArt_Gallery.2">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4963" y="2813050"/>
                        <a:ext cx="2079625"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3191" name="Object 7"/>
          <p:cNvGraphicFramePr>
            <a:graphicFrameLocks noChangeAspect="1"/>
          </p:cNvGraphicFramePr>
          <p:nvPr/>
        </p:nvGraphicFramePr>
        <p:xfrm>
          <a:off x="5667375" y="2725738"/>
          <a:ext cx="2079625" cy="1539875"/>
        </p:xfrm>
        <a:graphic>
          <a:graphicData uri="http://schemas.openxmlformats.org/presentationml/2006/ole">
            <mc:AlternateContent xmlns:mc="http://schemas.openxmlformats.org/markup-compatibility/2006">
              <mc:Choice xmlns:v="urn:schemas-microsoft-com:vml" Requires="v">
                <p:oleObj spid="_x0000_s21558" name="剪辑" r:id="rId6" imgW="2825750" imgH="2787650" progId="MS_ClipArt_Gallery.2">
                  <p:embed/>
                </p:oleObj>
              </mc:Choice>
              <mc:Fallback>
                <p:oleObj name="剪辑" r:id="rId6" imgW="2825750" imgH="2787650" progId="MS_ClipArt_Gallery.2">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7375" y="2725738"/>
                        <a:ext cx="2079625"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8"/>
          <p:cNvGrpSpPr>
            <a:grpSpLocks/>
          </p:cNvGrpSpPr>
          <p:nvPr/>
        </p:nvGrpSpPr>
        <p:grpSpPr bwMode="auto">
          <a:xfrm>
            <a:off x="1135063" y="2341563"/>
            <a:ext cx="7037387" cy="1771650"/>
            <a:chOff x="720" y="2447"/>
            <a:chExt cx="4128" cy="1873"/>
          </a:xfrm>
        </p:grpSpPr>
        <p:grpSp>
          <p:nvGrpSpPr>
            <p:cNvPr id="21518" name="Group 9"/>
            <p:cNvGrpSpPr>
              <a:grpSpLocks/>
            </p:cNvGrpSpPr>
            <p:nvPr/>
          </p:nvGrpSpPr>
          <p:grpSpPr bwMode="auto">
            <a:xfrm>
              <a:off x="720" y="2448"/>
              <a:ext cx="1344" cy="1872"/>
              <a:chOff x="1824" y="2304"/>
              <a:chExt cx="1344" cy="1872"/>
            </a:xfrm>
          </p:grpSpPr>
          <p:sp>
            <p:nvSpPr>
              <p:cNvPr id="21547" name="Line 10"/>
              <p:cNvSpPr>
                <a:spLocks noChangeShapeType="1"/>
              </p:cNvSpPr>
              <p:nvPr/>
            </p:nvSpPr>
            <p:spPr bwMode="auto">
              <a:xfrm flipV="1">
                <a:off x="1824" y="230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8" name="Line 11"/>
              <p:cNvSpPr>
                <a:spLocks noChangeShapeType="1"/>
              </p:cNvSpPr>
              <p:nvPr/>
            </p:nvSpPr>
            <p:spPr bwMode="auto">
              <a:xfrm flipV="1">
                <a:off x="1824" y="254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9" name="Line 12"/>
              <p:cNvSpPr>
                <a:spLocks noChangeShapeType="1"/>
              </p:cNvSpPr>
              <p:nvPr/>
            </p:nvSpPr>
            <p:spPr bwMode="auto">
              <a:xfrm flipV="1">
                <a:off x="2016" y="2400"/>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50" name="Line 13"/>
              <p:cNvSpPr>
                <a:spLocks noChangeShapeType="1"/>
              </p:cNvSpPr>
              <p:nvPr/>
            </p:nvSpPr>
            <p:spPr bwMode="auto">
              <a:xfrm flipV="1">
                <a:off x="211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51" name="Line 14"/>
              <p:cNvSpPr>
                <a:spLocks noChangeShapeType="1"/>
              </p:cNvSpPr>
              <p:nvPr/>
            </p:nvSpPr>
            <p:spPr bwMode="auto">
              <a:xfrm flipV="1">
                <a:off x="2160" y="2592"/>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52" name="Line 15"/>
              <p:cNvSpPr>
                <a:spLocks noChangeShapeType="1"/>
              </p:cNvSpPr>
              <p:nvPr/>
            </p:nvSpPr>
            <p:spPr bwMode="auto">
              <a:xfrm flipV="1">
                <a:off x="235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21519" name="Group 16"/>
            <p:cNvGrpSpPr>
              <a:grpSpLocks/>
            </p:cNvGrpSpPr>
            <p:nvPr/>
          </p:nvGrpSpPr>
          <p:grpSpPr bwMode="auto">
            <a:xfrm>
              <a:off x="2832" y="2448"/>
              <a:ext cx="1344" cy="1872"/>
              <a:chOff x="1824" y="2304"/>
              <a:chExt cx="1344" cy="1872"/>
            </a:xfrm>
          </p:grpSpPr>
          <p:sp>
            <p:nvSpPr>
              <p:cNvPr id="21541" name="Line 17"/>
              <p:cNvSpPr>
                <a:spLocks noChangeShapeType="1"/>
              </p:cNvSpPr>
              <p:nvPr/>
            </p:nvSpPr>
            <p:spPr bwMode="auto">
              <a:xfrm flipV="1">
                <a:off x="1824" y="230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2" name="Line 18"/>
              <p:cNvSpPr>
                <a:spLocks noChangeShapeType="1"/>
              </p:cNvSpPr>
              <p:nvPr/>
            </p:nvSpPr>
            <p:spPr bwMode="auto">
              <a:xfrm flipV="1">
                <a:off x="1824" y="254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3" name="Line 19"/>
              <p:cNvSpPr>
                <a:spLocks noChangeShapeType="1"/>
              </p:cNvSpPr>
              <p:nvPr/>
            </p:nvSpPr>
            <p:spPr bwMode="auto">
              <a:xfrm flipV="1">
                <a:off x="2016" y="2400"/>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4" name="Line 20"/>
              <p:cNvSpPr>
                <a:spLocks noChangeShapeType="1"/>
              </p:cNvSpPr>
              <p:nvPr/>
            </p:nvSpPr>
            <p:spPr bwMode="auto">
              <a:xfrm flipV="1">
                <a:off x="211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5" name="Line 21"/>
              <p:cNvSpPr>
                <a:spLocks noChangeShapeType="1"/>
              </p:cNvSpPr>
              <p:nvPr/>
            </p:nvSpPr>
            <p:spPr bwMode="auto">
              <a:xfrm flipV="1">
                <a:off x="2160" y="2592"/>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6" name="Line 22"/>
              <p:cNvSpPr>
                <a:spLocks noChangeShapeType="1"/>
              </p:cNvSpPr>
              <p:nvPr/>
            </p:nvSpPr>
            <p:spPr bwMode="auto">
              <a:xfrm flipV="1">
                <a:off x="235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21520" name="Group 23"/>
            <p:cNvGrpSpPr>
              <a:grpSpLocks/>
            </p:cNvGrpSpPr>
            <p:nvPr/>
          </p:nvGrpSpPr>
          <p:grpSpPr bwMode="auto">
            <a:xfrm>
              <a:off x="2112" y="2448"/>
              <a:ext cx="1344" cy="1872"/>
              <a:chOff x="1824" y="2304"/>
              <a:chExt cx="1344" cy="1872"/>
            </a:xfrm>
          </p:grpSpPr>
          <p:sp>
            <p:nvSpPr>
              <p:cNvPr id="21535" name="Line 24"/>
              <p:cNvSpPr>
                <a:spLocks noChangeShapeType="1"/>
              </p:cNvSpPr>
              <p:nvPr/>
            </p:nvSpPr>
            <p:spPr bwMode="auto">
              <a:xfrm flipV="1">
                <a:off x="1824" y="230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6" name="Line 25"/>
              <p:cNvSpPr>
                <a:spLocks noChangeShapeType="1"/>
              </p:cNvSpPr>
              <p:nvPr/>
            </p:nvSpPr>
            <p:spPr bwMode="auto">
              <a:xfrm flipV="1">
                <a:off x="1824" y="254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7" name="Line 26"/>
              <p:cNvSpPr>
                <a:spLocks noChangeShapeType="1"/>
              </p:cNvSpPr>
              <p:nvPr/>
            </p:nvSpPr>
            <p:spPr bwMode="auto">
              <a:xfrm flipV="1">
                <a:off x="2016" y="2400"/>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8" name="Line 27"/>
              <p:cNvSpPr>
                <a:spLocks noChangeShapeType="1"/>
              </p:cNvSpPr>
              <p:nvPr/>
            </p:nvSpPr>
            <p:spPr bwMode="auto">
              <a:xfrm flipV="1">
                <a:off x="211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9" name="Line 28"/>
              <p:cNvSpPr>
                <a:spLocks noChangeShapeType="1"/>
              </p:cNvSpPr>
              <p:nvPr/>
            </p:nvSpPr>
            <p:spPr bwMode="auto">
              <a:xfrm flipV="1">
                <a:off x="2160" y="2592"/>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40" name="Line 29"/>
              <p:cNvSpPr>
                <a:spLocks noChangeShapeType="1"/>
              </p:cNvSpPr>
              <p:nvPr/>
            </p:nvSpPr>
            <p:spPr bwMode="auto">
              <a:xfrm flipV="1">
                <a:off x="235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21521" name="Group 30"/>
            <p:cNvGrpSpPr>
              <a:grpSpLocks/>
            </p:cNvGrpSpPr>
            <p:nvPr/>
          </p:nvGrpSpPr>
          <p:grpSpPr bwMode="auto">
            <a:xfrm>
              <a:off x="1392" y="2447"/>
              <a:ext cx="1344" cy="1872"/>
              <a:chOff x="1824" y="2304"/>
              <a:chExt cx="1344" cy="1872"/>
            </a:xfrm>
          </p:grpSpPr>
          <p:sp>
            <p:nvSpPr>
              <p:cNvPr id="21529" name="Line 31"/>
              <p:cNvSpPr>
                <a:spLocks noChangeShapeType="1"/>
              </p:cNvSpPr>
              <p:nvPr/>
            </p:nvSpPr>
            <p:spPr bwMode="auto">
              <a:xfrm flipV="1">
                <a:off x="1824" y="230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0" name="Line 32"/>
              <p:cNvSpPr>
                <a:spLocks noChangeShapeType="1"/>
              </p:cNvSpPr>
              <p:nvPr/>
            </p:nvSpPr>
            <p:spPr bwMode="auto">
              <a:xfrm flipV="1">
                <a:off x="1824" y="254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1" name="Line 33"/>
              <p:cNvSpPr>
                <a:spLocks noChangeShapeType="1"/>
              </p:cNvSpPr>
              <p:nvPr/>
            </p:nvSpPr>
            <p:spPr bwMode="auto">
              <a:xfrm flipV="1">
                <a:off x="2016" y="2400"/>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2" name="Line 34"/>
              <p:cNvSpPr>
                <a:spLocks noChangeShapeType="1"/>
              </p:cNvSpPr>
              <p:nvPr/>
            </p:nvSpPr>
            <p:spPr bwMode="auto">
              <a:xfrm flipV="1">
                <a:off x="211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3" name="Line 35"/>
              <p:cNvSpPr>
                <a:spLocks noChangeShapeType="1"/>
              </p:cNvSpPr>
              <p:nvPr/>
            </p:nvSpPr>
            <p:spPr bwMode="auto">
              <a:xfrm flipV="1">
                <a:off x="2160" y="2592"/>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34" name="Line 36"/>
              <p:cNvSpPr>
                <a:spLocks noChangeShapeType="1"/>
              </p:cNvSpPr>
              <p:nvPr/>
            </p:nvSpPr>
            <p:spPr bwMode="auto">
              <a:xfrm flipV="1">
                <a:off x="235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nvGrpSpPr>
            <p:cNvPr id="21522" name="Group 37"/>
            <p:cNvGrpSpPr>
              <a:grpSpLocks/>
            </p:cNvGrpSpPr>
            <p:nvPr/>
          </p:nvGrpSpPr>
          <p:grpSpPr bwMode="auto">
            <a:xfrm>
              <a:off x="3504" y="2448"/>
              <a:ext cx="1344" cy="1872"/>
              <a:chOff x="1824" y="2304"/>
              <a:chExt cx="1344" cy="1872"/>
            </a:xfrm>
          </p:grpSpPr>
          <p:sp>
            <p:nvSpPr>
              <p:cNvPr id="21523" name="Line 38"/>
              <p:cNvSpPr>
                <a:spLocks noChangeShapeType="1"/>
              </p:cNvSpPr>
              <p:nvPr/>
            </p:nvSpPr>
            <p:spPr bwMode="auto">
              <a:xfrm flipV="1">
                <a:off x="1824" y="230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24" name="Line 39"/>
              <p:cNvSpPr>
                <a:spLocks noChangeShapeType="1"/>
              </p:cNvSpPr>
              <p:nvPr/>
            </p:nvSpPr>
            <p:spPr bwMode="auto">
              <a:xfrm flipV="1">
                <a:off x="1824" y="2544"/>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25" name="Line 40"/>
              <p:cNvSpPr>
                <a:spLocks noChangeShapeType="1"/>
              </p:cNvSpPr>
              <p:nvPr/>
            </p:nvSpPr>
            <p:spPr bwMode="auto">
              <a:xfrm flipV="1">
                <a:off x="2016" y="2400"/>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26" name="Line 41"/>
              <p:cNvSpPr>
                <a:spLocks noChangeShapeType="1"/>
              </p:cNvSpPr>
              <p:nvPr/>
            </p:nvSpPr>
            <p:spPr bwMode="auto">
              <a:xfrm flipV="1">
                <a:off x="211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27" name="Line 42"/>
              <p:cNvSpPr>
                <a:spLocks noChangeShapeType="1"/>
              </p:cNvSpPr>
              <p:nvPr/>
            </p:nvSpPr>
            <p:spPr bwMode="auto">
              <a:xfrm flipV="1">
                <a:off x="2160" y="2592"/>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1528" name="Line 43"/>
              <p:cNvSpPr>
                <a:spLocks noChangeShapeType="1"/>
              </p:cNvSpPr>
              <p:nvPr/>
            </p:nvSpPr>
            <p:spPr bwMode="auto">
              <a:xfrm flipV="1">
                <a:off x="2352" y="2448"/>
                <a:ext cx="816" cy="1584"/>
              </a:xfrm>
              <a:prstGeom prst="line">
                <a:avLst/>
              </a:prstGeom>
              <a:noFill/>
              <a:ln w="38100">
                <a:solidFill>
                  <a:srgbClr val="6600FF"/>
                </a:solidFill>
                <a:prstDash val="sysDot"/>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grpSp>
      </p:grpSp>
      <p:grpSp>
        <p:nvGrpSpPr>
          <p:cNvPr id="8" name="Group 54"/>
          <p:cNvGrpSpPr>
            <a:grpSpLocks/>
          </p:cNvGrpSpPr>
          <p:nvPr/>
        </p:nvGrpSpPr>
        <p:grpSpPr bwMode="auto">
          <a:xfrm>
            <a:off x="1422400" y="1290638"/>
            <a:ext cx="2789238" cy="863600"/>
            <a:chOff x="703" y="935"/>
            <a:chExt cx="1996" cy="874"/>
          </a:xfrm>
        </p:grpSpPr>
        <p:graphicFrame>
          <p:nvGraphicFramePr>
            <p:cNvPr id="21516" name="Object 46"/>
            <p:cNvGraphicFramePr>
              <a:graphicFrameLocks noChangeAspect="1"/>
            </p:cNvGraphicFramePr>
            <p:nvPr/>
          </p:nvGraphicFramePr>
          <p:xfrm>
            <a:off x="703" y="935"/>
            <a:ext cx="1996" cy="874"/>
          </p:xfrm>
          <a:graphic>
            <a:graphicData uri="http://schemas.openxmlformats.org/presentationml/2006/ole">
              <mc:AlternateContent xmlns:mc="http://schemas.openxmlformats.org/markup-compatibility/2006">
                <mc:Choice xmlns:v="urn:schemas-microsoft-com:vml" Requires="v">
                  <p:oleObj spid="_x0000_s21559" name="剪辑" r:id="rId8" imgW="1087222" imgH="699516" progId="MS_ClipArt_Gallery.2">
                    <p:embed/>
                  </p:oleObj>
                </mc:Choice>
                <mc:Fallback>
                  <p:oleObj name="剪辑" r:id="rId8" imgW="1087222" imgH="699516" progId="MS_ClipArt_Gallery.2">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 y="935"/>
                          <a:ext cx="1996" cy="8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7" name="Text Box 47"/>
            <p:cNvSpPr txBox="1">
              <a:spLocks noChangeArrowheads="1"/>
            </p:cNvSpPr>
            <p:nvPr/>
          </p:nvSpPr>
          <p:spPr bwMode="auto">
            <a:xfrm>
              <a:off x="1111" y="1253"/>
              <a:ext cx="142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eaLnBrk="1" hangingPunct="1"/>
              <a:r>
                <a:rPr lang="zh-CN" altLang="en-US" sz="1800">
                  <a:solidFill>
                    <a:srgbClr val="FF0000"/>
                  </a:solidFill>
                  <a:ea typeface="华文中宋" pitchFamily="2" charset="-122"/>
                </a:rPr>
                <a:t>热辐射实验</a:t>
              </a:r>
            </a:p>
          </p:txBody>
        </p:sp>
      </p:grpSp>
      <p:grpSp>
        <p:nvGrpSpPr>
          <p:cNvPr id="9" name="Group 55"/>
          <p:cNvGrpSpPr>
            <a:grpSpLocks/>
          </p:cNvGrpSpPr>
          <p:nvPr/>
        </p:nvGrpSpPr>
        <p:grpSpPr bwMode="auto">
          <a:xfrm>
            <a:off x="5364163" y="1276350"/>
            <a:ext cx="2736850" cy="939800"/>
            <a:chOff x="3289" y="890"/>
            <a:chExt cx="1957" cy="952"/>
          </a:xfrm>
        </p:grpSpPr>
        <p:graphicFrame>
          <p:nvGraphicFramePr>
            <p:cNvPr id="21514" name="Object 49"/>
            <p:cNvGraphicFramePr>
              <a:graphicFrameLocks noChangeAspect="1"/>
            </p:cNvGraphicFramePr>
            <p:nvPr/>
          </p:nvGraphicFramePr>
          <p:xfrm>
            <a:off x="3289" y="890"/>
            <a:ext cx="1905" cy="952"/>
          </p:xfrm>
          <a:graphic>
            <a:graphicData uri="http://schemas.openxmlformats.org/presentationml/2006/ole">
              <mc:AlternateContent xmlns:mc="http://schemas.openxmlformats.org/markup-compatibility/2006">
                <mc:Choice xmlns:v="urn:schemas-microsoft-com:vml" Requires="v">
                  <p:oleObj spid="_x0000_s21560" name="剪辑" r:id="rId10" imgW="1087222" imgH="699516" progId="MS_ClipArt_Gallery.2">
                    <p:embed/>
                  </p:oleObj>
                </mc:Choice>
                <mc:Fallback>
                  <p:oleObj name="剪辑" r:id="rId10" imgW="1087222" imgH="699516" progId="MS_ClipArt_Gallery.2">
                    <p:embed/>
                    <p:pic>
                      <p:nvPicPr>
                        <p:cNvPr id="0" name="Object 4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9" y="890"/>
                          <a:ext cx="1905" cy="9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5" name="Text Box 50"/>
            <p:cNvSpPr txBox="1">
              <a:spLocks noChangeArrowheads="1"/>
            </p:cNvSpPr>
            <p:nvPr/>
          </p:nvSpPr>
          <p:spPr bwMode="auto">
            <a:xfrm>
              <a:off x="3548" y="1254"/>
              <a:ext cx="1698"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0000"/>
                  </a:solidFill>
                  <a:latin typeface="华文中宋" pitchFamily="2" charset="-122"/>
                  <a:ea typeface="华文中宋" pitchFamily="2" charset="-122"/>
                </a:rPr>
                <a:t>迈克尔逊</a:t>
              </a:r>
              <a:r>
                <a:rPr lang="en-US" altLang="zh-CN" sz="1800">
                  <a:solidFill>
                    <a:srgbClr val="FF0000"/>
                  </a:solidFill>
                  <a:latin typeface="华文中宋" pitchFamily="2" charset="-122"/>
                  <a:ea typeface="华文中宋" pitchFamily="2" charset="-122"/>
                </a:rPr>
                <a:t>-</a:t>
              </a:r>
              <a:r>
                <a:rPr lang="zh-CN" altLang="en-US" sz="1800">
                  <a:solidFill>
                    <a:srgbClr val="FF0000"/>
                  </a:solidFill>
                  <a:latin typeface="华文中宋" pitchFamily="2" charset="-122"/>
                  <a:ea typeface="华文中宋" pitchFamily="2" charset="-122"/>
                </a:rPr>
                <a:t>莫雷实验</a:t>
              </a:r>
            </a:p>
          </p:txBody>
        </p:sp>
      </p:grpSp>
      <p:sp>
        <p:nvSpPr>
          <p:cNvPr id="93235" name="Text Box 51"/>
          <p:cNvSpPr txBox="1">
            <a:spLocks noChangeArrowheads="1"/>
          </p:cNvSpPr>
          <p:nvPr/>
        </p:nvSpPr>
        <p:spPr bwMode="auto">
          <a:xfrm>
            <a:off x="468313" y="844550"/>
            <a:ext cx="8474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chemeClr val="accent2"/>
                </a:solidFill>
                <a:latin typeface="华文中宋" pitchFamily="2" charset="-122"/>
                <a:ea typeface="华文中宋" pitchFamily="2" charset="-122"/>
              </a:rPr>
              <a:t>        </a:t>
            </a:r>
            <a:r>
              <a:rPr lang="zh-CN" altLang="en-US" sz="1800">
                <a:solidFill>
                  <a:schemeClr val="accent2"/>
                </a:solidFill>
                <a:latin typeface="华文中宋" pitchFamily="2" charset="-122"/>
                <a:ea typeface="华文中宋" pitchFamily="2" charset="-122"/>
              </a:rPr>
              <a:t>后来的事实证明，正是这两朵乌云发展为一埸革命的风暴，乌云落地化为一埸春雨，浇灌着两朵鲜花。</a:t>
            </a:r>
          </a:p>
        </p:txBody>
      </p:sp>
      <p:sp>
        <p:nvSpPr>
          <p:cNvPr id="93236" name="Rectangle 52"/>
          <p:cNvSpPr>
            <a:spLocks noChangeArrowheads="1"/>
          </p:cNvSpPr>
          <p:nvPr/>
        </p:nvSpPr>
        <p:spPr bwMode="auto">
          <a:xfrm>
            <a:off x="5508625" y="4227513"/>
            <a:ext cx="1425575" cy="36988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zh-CN" altLang="en-US" sz="1800">
                <a:latin typeface="华文中宋" pitchFamily="2" charset="-122"/>
                <a:ea typeface="华文中宋" pitchFamily="2" charset="-122"/>
              </a:rPr>
              <a:t>相对论</a:t>
            </a:r>
          </a:p>
        </p:txBody>
      </p:sp>
      <p:sp>
        <p:nvSpPr>
          <p:cNvPr id="93237" name="Rectangle 53"/>
          <p:cNvSpPr>
            <a:spLocks noChangeArrowheads="1"/>
          </p:cNvSpPr>
          <p:nvPr/>
        </p:nvSpPr>
        <p:spPr bwMode="auto">
          <a:xfrm>
            <a:off x="1331913" y="4227513"/>
            <a:ext cx="1552575" cy="36988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p>
            <a:pPr algn="ctr"/>
            <a:r>
              <a:rPr lang="zh-CN" altLang="en-US" sz="1800">
                <a:latin typeface="华文中宋" pitchFamily="2" charset="-122"/>
                <a:ea typeface="华文中宋" pitchFamily="2" charset="-122"/>
              </a:rPr>
              <a:t>量子力学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3235"/>
                                        </p:tgtEl>
                                        <p:attrNameLst>
                                          <p:attrName>style.visibility</p:attrName>
                                        </p:attrNameLst>
                                      </p:cBhvr>
                                      <p:to>
                                        <p:strVal val="visible"/>
                                      </p:to>
                                    </p:set>
                                    <p:animEffect transition="in" filter="checkerboard(across)">
                                      <p:cBhvr>
                                        <p:cTn id="7" dur="500"/>
                                        <p:tgtEl>
                                          <p:spTgt spid="93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93190"/>
                                        </p:tgtEl>
                                        <p:attrNameLst>
                                          <p:attrName>style.visibility</p:attrName>
                                        </p:attrNameLst>
                                      </p:cBhvr>
                                      <p:to>
                                        <p:strVal val="visible"/>
                                      </p:to>
                                    </p:set>
                                  </p:childTnLst>
                                </p:cTn>
                              </p:par>
                            </p:childTnLst>
                          </p:cTn>
                        </p:par>
                        <p:par>
                          <p:cTn id="26" fill="hold" nodeType="afterGroup">
                            <p:stCondLst>
                              <p:cond delay="500"/>
                            </p:stCondLst>
                            <p:childTnLst>
                              <p:par>
                                <p:cTn id="27" presetID="1" presetClass="entr" presetSubtype="0" fill="hold" nodeType="afterEffect">
                                  <p:stCondLst>
                                    <p:cond delay="0"/>
                                  </p:stCondLst>
                                  <p:childTnLst>
                                    <p:set>
                                      <p:cBhvr>
                                        <p:cTn id="28" dur="1" fill="hold">
                                          <p:stCondLst>
                                            <p:cond delay="499"/>
                                          </p:stCondLst>
                                        </p:cTn>
                                        <p:tgtEl>
                                          <p:spTgt spid="93191"/>
                                        </p:tgtEl>
                                        <p:attrNameLst>
                                          <p:attrName>style.visibility</p:attrName>
                                        </p:attrNameLst>
                                      </p:cBhvr>
                                      <p:to>
                                        <p:strVal val="visible"/>
                                      </p:to>
                                    </p:set>
                                  </p:childTnLst>
                                </p:cTn>
                              </p:par>
                            </p:childTnLst>
                          </p:cTn>
                        </p:par>
                        <p:par>
                          <p:cTn id="29" fill="hold" nodeType="afterGroup">
                            <p:stCondLst>
                              <p:cond delay="1000"/>
                            </p:stCondLst>
                            <p:childTnLst>
                              <p:par>
                                <p:cTn id="30" presetID="1" presetClass="entr" presetSubtype="0" fill="hold" grpId="0" nodeType="afterEffect">
                                  <p:stCondLst>
                                    <p:cond delay="0"/>
                                  </p:stCondLst>
                                  <p:childTnLst>
                                    <p:set>
                                      <p:cBhvr>
                                        <p:cTn id="31" dur="1" fill="hold">
                                          <p:stCondLst>
                                            <p:cond delay="499"/>
                                          </p:stCondLst>
                                        </p:cTn>
                                        <p:tgtEl>
                                          <p:spTgt spid="93237"/>
                                        </p:tgtEl>
                                        <p:attrNameLst>
                                          <p:attrName>style.visibility</p:attrName>
                                        </p:attrNameLst>
                                      </p:cBhvr>
                                      <p:to>
                                        <p:strVal val="visible"/>
                                      </p:to>
                                    </p:set>
                                  </p:childTnLst>
                                </p:cTn>
                              </p:par>
                            </p:childTnLst>
                          </p:cTn>
                        </p:par>
                        <p:par>
                          <p:cTn id="32" fill="hold" nodeType="afterGroup">
                            <p:stCondLst>
                              <p:cond delay="1500"/>
                            </p:stCondLst>
                            <p:childTnLst>
                              <p:par>
                                <p:cTn id="33" presetID="1" presetClass="entr" presetSubtype="0" fill="hold" grpId="0" nodeType="afterEffect">
                                  <p:stCondLst>
                                    <p:cond delay="0"/>
                                  </p:stCondLst>
                                  <p:childTnLst>
                                    <p:set>
                                      <p:cBhvr>
                                        <p:cTn id="34" dur="1" fill="hold">
                                          <p:stCondLst>
                                            <p:cond delay="499"/>
                                          </p:stCondLst>
                                        </p:cTn>
                                        <p:tgtEl>
                                          <p:spTgt spid="93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35" grpId="0" autoUpdateAnimBg="0"/>
      <p:bldP spid="93236" grpId="0" animBg="1" autoUpdateAnimBg="0"/>
      <p:bldP spid="93237"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31" name="Rectangle 23"/>
          <p:cNvSpPr>
            <a:spLocks noChangeArrowheads="1"/>
          </p:cNvSpPr>
          <p:nvPr/>
        </p:nvSpPr>
        <p:spPr bwMode="auto">
          <a:xfrm>
            <a:off x="323850" y="1338263"/>
            <a:ext cx="2374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solidFill>
                  <a:srgbClr val="0000FF"/>
                </a:solidFill>
                <a:latin typeface="华文中宋" pitchFamily="2" charset="-122"/>
                <a:ea typeface="华文中宋" pitchFamily="2" charset="-122"/>
              </a:rPr>
              <a:t>1</a:t>
            </a:r>
            <a:r>
              <a:rPr lang="zh-CN" altLang="en-US" sz="1800">
                <a:solidFill>
                  <a:srgbClr val="0000FF"/>
                </a:solidFill>
                <a:latin typeface="华文中宋" pitchFamily="2" charset="-122"/>
                <a:ea typeface="华文中宋" pitchFamily="2" charset="-122"/>
              </a:rPr>
              <a:t>、光速的困惑</a:t>
            </a:r>
          </a:p>
        </p:txBody>
      </p:sp>
      <p:pic>
        <p:nvPicPr>
          <p:cNvPr id="94232" name="Picture 24"/>
          <p:cNvPicPr preferRelativeResize="0">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5463" y="2141538"/>
            <a:ext cx="17145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36" name="Line 28"/>
          <p:cNvSpPr>
            <a:spLocks noChangeShapeType="1"/>
          </p:cNvSpPr>
          <p:nvPr/>
        </p:nvSpPr>
        <p:spPr bwMode="auto">
          <a:xfrm>
            <a:off x="539750" y="2085975"/>
            <a:ext cx="84597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pic>
        <p:nvPicPr>
          <p:cNvPr id="94239" name="Picture 31" descr="013000~1"/>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3863" y="2193925"/>
            <a:ext cx="23622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83"/>
          <p:cNvGrpSpPr>
            <a:grpSpLocks/>
          </p:cNvGrpSpPr>
          <p:nvPr/>
        </p:nvGrpSpPr>
        <p:grpSpPr bwMode="auto">
          <a:xfrm>
            <a:off x="4356100" y="901700"/>
            <a:ext cx="4579938" cy="1093788"/>
            <a:chOff x="2653" y="4"/>
            <a:chExt cx="2885" cy="918"/>
          </a:xfrm>
        </p:grpSpPr>
        <p:grpSp>
          <p:nvGrpSpPr>
            <p:cNvPr id="22575" name="Group 25"/>
            <p:cNvGrpSpPr>
              <a:grpSpLocks/>
            </p:cNvGrpSpPr>
            <p:nvPr/>
          </p:nvGrpSpPr>
          <p:grpSpPr bwMode="auto">
            <a:xfrm>
              <a:off x="2653" y="140"/>
              <a:ext cx="2885" cy="782"/>
              <a:chOff x="2426" y="709"/>
              <a:chExt cx="2885" cy="782"/>
            </a:xfrm>
          </p:grpSpPr>
          <p:pic>
            <p:nvPicPr>
              <p:cNvPr id="22578" name="Picture 17"/>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6" y="709"/>
                <a:ext cx="2885" cy="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79" name="Line 20"/>
              <p:cNvSpPr>
                <a:spLocks noChangeShapeType="1"/>
              </p:cNvSpPr>
              <p:nvPr/>
            </p:nvSpPr>
            <p:spPr bwMode="auto">
              <a:xfrm>
                <a:off x="3152" y="1117"/>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graphicFrame>
          <p:nvGraphicFramePr>
            <p:cNvPr id="22576" name="Object 33"/>
            <p:cNvGraphicFramePr>
              <a:graphicFrameLocks noChangeAspect="1"/>
            </p:cNvGraphicFramePr>
            <p:nvPr/>
          </p:nvGraphicFramePr>
          <p:xfrm>
            <a:off x="4211" y="548"/>
            <a:ext cx="121" cy="251"/>
          </p:xfrm>
          <a:graphic>
            <a:graphicData uri="http://schemas.openxmlformats.org/presentationml/2006/ole">
              <mc:AlternateContent xmlns:mc="http://schemas.openxmlformats.org/markup-compatibility/2006">
                <mc:Choice xmlns:v="urn:schemas-microsoft-com:vml" Requires="v">
                  <p:oleObj spid="_x0000_s22589" name="公式" r:id="rId7" imgW="101468" imgH="177569" progId="Equation.3">
                    <p:embed/>
                  </p:oleObj>
                </mc:Choice>
                <mc:Fallback>
                  <p:oleObj name="公式" r:id="rId7" imgW="101468" imgH="177569"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 y="548"/>
                          <a:ext cx="121" cy="251"/>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77" name="Object 34"/>
            <p:cNvGraphicFramePr>
              <a:graphicFrameLocks noChangeAspect="1"/>
            </p:cNvGraphicFramePr>
            <p:nvPr/>
          </p:nvGraphicFramePr>
          <p:xfrm>
            <a:off x="3969" y="4"/>
            <a:ext cx="547" cy="575"/>
          </p:xfrm>
          <a:graphic>
            <a:graphicData uri="http://schemas.openxmlformats.org/presentationml/2006/ole">
              <mc:AlternateContent xmlns:mc="http://schemas.openxmlformats.org/markup-compatibility/2006">
                <mc:Choice xmlns:v="urn:schemas-microsoft-com:vml" Requires="v">
                  <p:oleObj spid="_x0000_s22590" name="公式" r:id="rId9" imgW="457002" imgH="406224" progId="Equation.3">
                    <p:embed/>
                  </p:oleObj>
                </mc:Choice>
                <mc:Fallback>
                  <p:oleObj name="公式" r:id="rId9" imgW="457002" imgH="406224" progId="Equation.3">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9" y="4"/>
                          <a:ext cx="547" cy="57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84"/>
          <p:cNvGrpSpPr>
            <a:grpSpLocks/>
          </p:cNvGrpSpPr>
          <p:nvPr/>
        </p:nvGrpSpPr>
        <p:grpSpPr bwMode="auto">
          <a:xfrm>
            <a:off x="4643438" y="868363"/>
            <a:ext cx="4248150" cy="1109662"/>
            <a:chOff x="2925" y="729"/>
            <a:chExt cx="2676" cy="932"/>
          </a:xfrm>
        </p:grpSpPr>
        <p:grpSp>
          <p:nvGrpSpPr>
            <p:cNvPr id="22570" name="Group 26"/>
            <p:cNvGrpSpPr>
              <a:grpSpLocks/>
            </p:cNvGrpSpPr>
            <p:nvPr/>
          </p:nvGrpSpPr>
          <p:grpSpPr bwMode="auto">
            <a:xfrm>
              <a:off x="2925" y="911"/>
              <a:ext cx="2676" cy="750"/>
              <a:chOff x="2880" y="1298"/>
              <a:chExt cx="2676" cy="750"/>
            </a:xfrm>
          </p:grpSpPr>
          <p:pic>
            <p:nvPicPr>
              <p:cNvPr id="22573" name="Picture 19"/>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80" y="1298"/>
                <a:ext cx="2676"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74" name="Line 21"/>
              <p:cNvSpPr>
                <a:spLocks noChangeShapeType="1"/>
              </p:cNvSpPr>
              <p:nvPr/>
            </p:nvSpPr>
            <p:spPr bwMode="auto">
              <a:xfrm>
                <a:off x="3424" y="1661"/>
                <a:ext cx="176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graphicFrame>
          <p:nvGraphicFramePr>
            <p:cNvPr id="22571" name="Object 35"/>
            <p:cNvGraphicFramePr>
              <a:graphicFrameLocks noChangeAspect="1"/>
            </p:cNvGraphicFramePr>
            <p:nvPr/>
          </p:nvGraphicFramePr>
          <p:xfrm>
            <a:off x="3856" y="729"/>
            <a:ext cx="851" cy="575"/>
          </p:xfrm>
          <a:graphic>
            <a:graphicData uri="http://schemas.openxmlformats.org/presentationml/2006/ole">
              <mc:AlternateContent xmlns:mc="http://schemas.openxmlformats.org/markup-compatibility/2006">
                <mc:Choice xmlns:v="urn:schemas-microsoft-com:vml" Requires="v">
                  <p:oleObj spid="_x0000_s22591" name="公式" r:id="rId12" imgW="710891" imgH="406224" progId="Equation.3">
                    <p:embed/>
                  </p:oleObj>
                </mc:Choice>
                <mc:Fallback>
                  <p:oleObj name="公式" r:id="rId12" imgW="710891" imgH="406224" progId="Equation.3">
                    <p:embed/>
                    <p:pic>
                      <p:nvPicPr>
                        <p:cNvPr id="0" name="Object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56" y="729"/>
                          <a:ext cx="851" cy="57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72" name="Object 36"/>
            <p:cNvGraphicFramePr>
              <a:graphicFrameLocks noChangeAspect="1"/>
            </p:cNvGraphicFramePr>
            <p:nvPr/>
          </p:nvGraphicFramePr>
          <p:xfrm>
            <a:off x="4271" y="1298"/>
            <a:ext cx="122" cy="252"/>
          </p:xfrm>
          <a:graphic>
            <a:graphicData uri="http://schemas.openxmlformats.org/presentationml/2006/ole">
              <mc:AlternateContent xmlns:mc="http://schemas.openxmlformats.org/markup-compatibility/2006">
                <mc:Choice xmlns:v="urn:schemas-microsoft-com:vml" Requires="v">
                  <p:oleObj spid="_x0000_s22592" name="公式" r:id="rId14" imgW="101468" imgH="177569" progId="Equation.3">
                    <p:embed/>
                  </p:oleObj>
                </mc:Choice>
                <mc:Fallback>
                  <p:oleObj name="公式" r:id="rId14" imgW="101468" imgH="177569" progId="Equation.3">
                    <p:embed/>
                    <p:pic>
                      <p:nvPicPr>
                        <p:cNvPr id="0" name="Object 3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71" y="1298"/>
                          <a:ext cx="122" cy="252"/>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4246" name="Object 38"/>
          <p:cNvGraphicFramePr>
            <a:graphicFrameLocks noChangeAspect="1"/>
          </p:cNvGraphicFramePr>
          <p:nvPr/>
        </p:nvGraphicFramePr>
        <p:xfrm>
          <a:off x="1619250" y="1006475"/>
          <a:ext cx="995363" cy="323850"/>
        </p:xfrm>
        <a:graphic>
          <a:graphicData uri="http://schemas.openxmlformats.org/presentationml/2006/ole">
            <mc:AlternateContent xmlns:mc="http://schemas.openxmlformats.org/markup-compatibility/2006">
              <mc:Choice xmlns:v="urn:schemas-microsoft-com:vml" Requires="v">
                <p:oleObj spid="_x0000_s22593" name="公式" r:id="rId16" imgW="380835" imgH="139639" progId="Equation.3">
                  <p:embed/>
                </p:oleObj>
              </mc:Choice>
              <mc:Fallback>
                <p:oleObj name="公式" r:id="rId16" imgW="380835" imgH="139639" progId="Equation.3">
                  <p:embed/>
                  <p:pic>
                    <p:nvPicPr>
                      <p:cNvPr id="0"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19250" y="1006475"/>
                        <a:ext cx="995363" cy="32385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47" name="Rectangle 39"/>
          <p:cNvSpPr>
            <a:spLocks noChangeArrowheads="1"/>
          </p:cNvSpPr>
          <p:nvPr/>
        </p:nvSpPr>
        <p:spPr bwMode="auto">
          <a:xfrm>
            <a:off x="258763" y="1654175"/>
            <a:ext cx="41036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500">
                <a:latin typeface="华文中宋" pitchFamily="2" charset="-122"/>
                <a:ea typeface="华文中宋" pitchFamily="2" charset="-122"/>
              </a:rPr>
              <a:t>先看到球飞出再看到击球，因果关系颠倒！！！</a:t>
            </a:r>
          </a:p>
        </p:txBody>
      </p:sp>
      <p:sp>
        <p:nvSpPr>
          <p:cNvPr id="94248" name="Rectangle 40"/>
          <p:cNvSpPr>
            <a:spLocks noChangeArrowheads="1"/>
          </p:cNvSpPr>
          <p:nvPr/>
        </p:nvSpPr>
        <p:spPr bwMode="auto">
          <a:xfrm>
            <a:off x="6875463" y="3416300"/>
            <a:ext cx="158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zh-CN" sz="1400">
                <a:latin typeface="华文中宋" pitchFamily="2" charset="-122"/>
                <a:ea typeface="华文中宋" pitchFamily="2" charset="-122"/>
              </a:rPr>
              <a:t>《</a:t>
            </a:r>
            <a:r>
              <a:rPr lang="zh-CN" altLang="en-US" sz="1400">
                <a:latin typeface="华文中宋" pitchFamily="2" charset="-122"/>
                <a:ea typeface="华文中宋" pitchFamily="2" charset="-122"/>
              </a:rPr>
              <a:t>宋会要</a:t>
            </a:r>
            <a:r>
              <a:rPr lang="en-US" altLang="zh-CN" sz="1400">
                <a:latin typeface="华文中宋" pitchFamily="2" charset="-122"/>
                <a:ea typeface="华文中宋" pitchFamily="2" charset="-122"/>
              </a:rPr>
              <a:t>》</a:t>
            </a:r>
            <a:r>
              <a:rPr lang="zh-CN" altLang="en-US" sz="1400">
                <a:latin typeface="华文中宋" pitchFamily="2" charset="-122"/>
                <a:ea typeface="华文中宋" pitchFamily="2" charset="-122"/>
              </a:rPr>
              <a:t>记载</a:t>
            </a:r>
          </a:p>
        </p:txBody>
      </p:sp>
      <p:sp>
        <p:nvSpPr>
          <p:cNvPr id="94249" name="Rectangle 41"/>
          <p:cNvSpPr>
            <a:spLocks noChangeArrowheads="1"/>
          </p:cNvSpPr>
          <p:nvPr/>
        </p:nvSpPr>
        <p:spPr bwMode="auto">
          <a:xfrm>
            <a:off x="4716463" y="3416300"/>
            <a:ext cx="12239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400">
                <a:latin typeface="华文中宋" pitchFamily="2" charset="-122"/>
                <a:ea typeface="华文中宋" pitchFamily="2" charset="-122"/>
              </a:rPr>
              <a:t>天文学观测</a:t>
            </a:r>
          </a:p>
        </p:txBody>
      </p:sp>
      <p:sp>
        <p:nvSpPr>
          <p:cNvPr id="94250" name="Rectangle 42"/>
          <p:cNvSpPr>
            <a:spLocks noChangeArrowheads="1"/>
          </p:cNvSpPr>
          <p:nvPr/>
        </p:nvSpPr>
        <p:spPr bwMode="auto">
          <a:xfrm>
            <a:off x="327025" y="2643188"/>
            <a:ext cx="35242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500">
                <a:latin typeface="华文中宋" pitchFamily="2" charset="-122"/>
                <a:ea typeface="华文中宋" pitchFamily="2" charset="-122"/>
              </a:rPr>
              <a:t>超新星爆炸观测的持续时间是两年，而依据伽利略变换计算的时间却是</a:t>
            </a:r>
            <a:r>
              <a:rPr lang="en-US" altLang="zh-CN" sz="1500">
                <a:latin typeface="华文中宋" pitchFamily="2" charset="-122"/>
                <a:ea typeface="华文中宋" pitchFamily="2" charset="-122"/>
              </a:rPr>
              <a:t>25</a:t>
            </a:r>
            <a:r>
              <a:rPr lang="zh-CN" altLang="en-US" sz="1500">
                <a:latin typeface="华文中宋" pitchFamily="2" charset="-122"/>
                <a:ea typeface="华文中宋" pitchFamily="2" charset="-122"/>
              </a:rPr>
              <a:t>年。</a:t>
            </a:r>
          </a:p>
        </p:txBody>
      </p:sp>
      <p:sp>
        <p:nvSpPr>
          <p:cNvPr id="94251" name="Rectangle 43"/>
          <p:cNvSpPr>
            <a:spLocks noChangeArrowheads="1"/>
          </p:cNvSpPr>
          <p:nvPr/>
        </p:nvSpPr>
        <p:spPr bwMode="auto">
          <a:xfrm>
            <a:off x="395288" y="2201863"/>
            <a:ext cx="2808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latin typeface="华文中宋" pitchFamily="2" charset="-122"/>
                <a:ea typeface="华文中宋" pitchFamily="2" charset="-122"/>
              </a:rPr>
              <a:t>超新星爆发</a:t>
            </a:r>
          </a:p>
        </p:txBody>
      </p:sp>
      <p:grpSp>
        <p:nvGrpSpPr>
          <p:cNvPr id="6" name="Group 61"/>
          <p:cNvGrpSpPr>
            <a:grpSpLocks/>
          </p:cNvGrpSpPr>
          <p:nvPr/>
        </p:nvGrpSpPr>
        <p:grpSpPr bwMode="auto">
          <a:xfrm>
            <a:off x="476250" y="3292475"/>
            <a:ext cx="1295400" cy="1295400"/>
            <a:chOff x="975" y="3158"/>
            <a:chExt cx="816" cy="1089"/>
          </a:xfrm>
        </p:grpSpPr>
        <p:grpSp>
          <p:nvGrpSpPr>
            <p:cNvPr id="22559" name="Group 48"/>
            <p:cNvGrpSpPr>
              <a:grpSpLocks/>
            </p:cNvGrpSpPr>
            <p:nvPr/>
          </p:nvGrpSpPr>
          <p:grpSpPr bwMode="auto">
            <a:xfrm>
              <a:off x="1155" y="3179"/>
              <a:ext cx="410" cy="822"/>
              <a:chOff x="157" y="3088"/>
              <a:chExt cx="410" cy="822"/>
            </a:xfrm>
          </p:grpSpPr>
          <p:sp>
            <p:nvSpPr>
              <p:cNvPr id="22568" name="Oval 46"/>
              <p:cNvSpPr>
                <a:spLocks noChangeArrowheads="1"/>
              </p:cNvSpPr>
              <p:nvPr/>
            </p:nvSpPr>
            <p:spPr bwMode="auto">
              <a:xfrm>
                <a:off x="295" y="3189"/>
                <a:ext cx="136" cy="618"/>
              </a:xfrm>
              <a:prstGeom prst="ellipse">
                <a:avLst/>
              </a:prstGeom>
              <a:solidFill>
                <a:srgbClr val="FF0000"/>
              </a:solidFill>
              <a:ln w="38100">
                <a:solidFill>
                  <a:srgbClr val="FF0000"/>
                </a:solidFill>
                <a:round/>
                <a:headEnd/>
                <a:tailEnd/>
              </a:ln>
            </p:spPr>
            <p:txBody>
              <a:bodyPr anchor="ctr">
                <a:spAutoFit/>
              </a:bodyPr>
              <a:lstStyle/>
              <a:p>
                <a:endParaRPr lang="zh-CN" altLang="en-US"/>
              </a:p>
            </p:txBody>
          </p:sp>
          <p:sp>
            <p:nvSpPr>
              <p:cNvPr id="94255" name="AutoShape 47"/>
              <p:cNvSpPr>
                <a:spLocks noChangeArrowheads="1"/>
              </p:cNvSpPr>
              <p:nvPr/>
            </p:nvSpPr>
            <p:spPr bwMode="auto">
              <a:xfrm>
                <a:off x="157" y="3088"/>
                <a:ext cx="410" cy="822"/>
              </a:xfrm>
              <a:prstGeom prst="star16">
                <a:avLst>
                  <a:gd name="adj" fmla="val 37500"/>
                </a:avLst>
              </a:prstGeom>
              <a:noFill/>
              <a:ln w="38100">
                <a:solidFill>
                  <a:srgbClr val="FF0000"/>
                </a:solidFill>
                <a:miter lim="800000"/>
                <a:headEnd/>
                <a:tailEnd/>
              </a:ln>
              <a:effectLst/>
            </p:spPr>
            <p:txBody>
              <a:bodyPr anchor="ctr">
                <a:spAutoFit/>
              </a:bodyPr>
              <a:lstStyle/>
              <a:p>
                <a:pPr algn="ctr">
                  <a:defRPr/>
                </a:pPr>
                <a:endParaRPr lang="zh-CN" altLang="zh-CN">
                  <a:effectLst>
                    <a:outerShdw blurRad="38100" dist="38100" dir="2700000" algn="tl">
                      <a:srgbClr val="C0C0C0"/>
                    </a:outerShdw>
                  </a:effectLst>
                </a:endParaRPr>
              </a:p>
            </p:txBody>
          </p:sp>
        </p:grpSp>
        <p:sp>
          <p:nvSpPr>
            <p:cNvPr id="22560" name="Line 49"/>
            <p:cNvSpPr>
              <a:spLocks noChangeShapeType="1"/>
            </p:cNvSpPr>
            <p:nvPr/>
          </p:nvSpPr>
          <p:spPr bwMode="auto">
            <a:xfrm flipV="1">
              <a:off x="1565" y="3294"/>
              <a:ext cx="136" cy="13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561" name="Line 50"/>
            <p:cNvSpPr>
              <a:spLocks noChangeShapeType="1"/>
            </p:cNvSpPr>
            <p:nvPr/>
          </p:nvSpPr>
          <p:spPr bwMode="auto">
            <a:xfrm flipV="1">
              <a:off x="1383" y="3158"/>
              <a:ext cx="0" cy="182"/>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562" name="Line 51"/>
            <p:cNvSpPr>
              <a:spLocks noChangeShapeType="1"/>
            </p:cNvSpPr>
            <p:nvPr/>
          </p:nvSpPr>
          <p:spPr bwMode="auto">
            <a:xfrm>
              <a:off x="1610" y="3612"/>
              <a:ext cx="181"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563" name="Line 53"/>
            <p:cNvSpPr>
              <a:spLocks noChangeShapeType="1"/>
            </p:cNvSpPr>
            <p:nvPr/>
          </p:nvSpPr>
          <p:spPr bwMode="auto">
            <a:xfrm>
              <a:off x="1383" y="3839"/>
              <a:ext cx="0" cy="40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564" name="Line 54"/>
            <p:cNvSpPr>
              <a:spLocks noChangeShapeType="1"/>
            </p:cNvSpPr>
            <p:nvPr/>
          </p:nvSpPr>
          <p:spPr bwMode="auto">
            <a:xfrm>
              <a:off x="1519" y="3793"/>
              <a:ext cx="136" cy="13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565" name="Line 55"/>
            <p:cNvSpPr>
              <a:spLocks noChangeShapeType="1"/>
            </p:cNvSpPr>
            <p:nvPr/>
          </p:nvSpPr>
          <p:spPr bwMode="auto">
            <a:xfrm flipV="1">
              <a:off x="1066" y="3793"/>
              <a:ext cx="136" cy="136"/>
            </a:xfrm>
            <a:prstGeom prst="line">
              <a:avLst/>
            </a:prstGeom>
            <a:noFill/>
            <a:ln w="38100">
              <a:solidFill>
                <a:srgbClr val="FF0000"/>
              </a:solidFill>
              <a:round/>
              <a:headEnd type="stealth"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566" name="Line 56"/>
            <p:cNvSpPr>
              <a:spLocks noChangeShapeType="1"/>
            </p:cNvSpPr>
            <p:nvPr/>
          </p:nvSpPr>
          <p:spPr bwMode="auto">
            <a:xfrm flipH="1">
              <a:off x="975" y="3612"/>
              <a:ext cx="136"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22567" name="Line 57"/>
            <p:cNvSpPr>
              <a:spLocks noChangeShapeType="1"/>
            </p:cNvSpPr>
            <p:nvPr/>
          </p:nvSpPr>
          <p:spPr bwMode="auto">
            <a:xfrm flipH="1" flipV="1">
              <a:off x="1066" y="3294"/>
              <a:ext cx="136" cy="13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pic>
        <p:nvPicPr>
          <p:cNvPr id="94278" name="Picture 70"/>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51538" y="3617913"/>
            <a:ext cx="5730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81"/>
          <p:cNvGrpSpPr>
            <a:grpSpLocks/>
          </p:cNvGrpSpPr>
          <p:nvPr/>
        </p:nvGrpSpPr>
        <p:grpSpPr bwMode="auto">
          <a:xfrm>
            <a:off x="1771650" y="3529013"/>
            <a:ext cx="1079500" cy="303212"/>
            <a:chOff x="1791" y="3357"/>
            <a:chExt cx="680" cy="255"/>
          </a:xfrm>
        </p:grpSpPr>
        <p:sp>
          <p:nvSpPr>
            <p:cNvPr id="22557" name="Line 62"/>
            <p:cNvSpPr>
              <a:spLocks noChangeShapeType="1"/>
            </p:cNvSpPr>
            <p:nvPr/>
          </p:nvSpPr>
          <p:spPr bwMode="auto">
            <a:xfrm>
              <a:off x="1791" y="3612"/>
              <a:ext cx="68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22558" name="Object 73"/>
            <p:cNvGraphicFramePr>
              <a:graphicFrameLocks noChangeAspect="1"/>
            </p:cNvGraphicFramePr>
            <p:nvPr/>
          </p:nvGraphicFramePr>
          <p:xfrm>
            <a:off x="1873" y="3357"/>
            <a:ext cx="412" cy="216"/>
          </p:xfrm>
          <a:graphic>
            <a:graphicData uri="http://schemas.openxmlformats.org/presentationml/2006/ole">
              <mc:AlternateContent xmlns:mc="http://schemas.openxmlformats.org/markup-compatibility/2006">
                <mc:Choice xmlns:v="urn:schemas-microsoft-com:vml" Requires="v">
                  <p:oleObj spid="_x0000_s22594" name="公式" r:id="rId19" imgW="342751" imgH="152334" progId="Equation.3">
                    <p:embed/>
                  </p:oleObj>
                </mc:Choice>
                <mc:Fallback>
                  <p:oleObj name="公式" r:id="rId19" imgW="342751" imgH="152334" progId="Equation.3">
                    <p:embed/>
                    <p:pic>
                      <p:nvPicPr>
                        <p:cNvPr id="0" name="Object 7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73" y="3357"/>
                          <a:ext cx="412" cy="216"/>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 name="Group 82"/>
          <p:cNvGrpSpPr>
            <a:grpSpLocks/>
          </p:cNvGrpSpPr>
          <p:nvPr/>
        </p:nvGrpSpPr>
        <p:grpSpPr bwMode="auto">
          <a:xfrm>
            <a:off x="1763713" y="4027488"/>
            <a:ext cx="1655762" cy="234950"/>
            <a:chOff x="1383" y="3793"/>
            <a:chExt cx="1043" cy="198"/>
          </a:xfrm>
        </p:grpSpPr>
        <p:sp>
          <p:nvSpPr>
            <p:cNvPr id="22555" name="Line 71"/>
            <p:cNvSpPr>
              <a:spLocks noChangeShapeType="1"/>
            </p:cNvSpPr>
            <p:nvPr/>
          </p:nvSpPr>
          <p:spPr bwMode="auto">
            <a:xfrm>
              <a:off x="1383" y="3974"/>
              <a:ext cx="104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22556" name="Object 74"/>
            <p:cNvGraphicFramePr>
              <a:graphicFrameLocks noChangeAspect="1"/>
            </p:cNvGraphicFramePr>
            <p:nvPr/>
          </p:nvGraphicFramePr>
          <p:xfrm>
            <a:off x="1882" y="3793"/>
            <a:ext cx="137" cy="198"/>
          </p:xfrm>
          <a:graphic>
            <a:graphicData uri="http://schemas.openxmlformats.org/presentationml/2006/ole">
              <mc:AlternateContent xmlns:mc="http://schemas.openxmlformats.org/markup-compatibility/2006">
                <mc:Choice xmlns:v="urn:schemas-microsoft-com:vml" Requires="v">
                  <p:oleObj spid="_x0000_s22595" name="公式" r:id="rId21" imgW="114201" imgH="139579" progId="Equation.3">
                    <p:embed/>
                  </p:oleObj>
                </mc:Choice>
                <mc:Fallback>
                  <p:oleObj name="公式" r:id="rId21" imgW="114201" imgH="139579" progId="Equation.3">
                    <p:embed/>
                    <p:pic>
                      <p:nvPicPr>
                        <p:cNvPr id="0" name="Object 7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82" y="3793"/>
                          <a:ext cx="137" cy="198"/>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Group 80"/>
          <p:cNvGrpSpPr>
            <a:grpSpLocks/>
          </p:cNvGrpSpPr>
          <p:nvPr/>
        </p:nvGrpSpPr>
        <p:grpSpPr bwMode="auto">
          <a:xfrm>
            <a:off x="1123950" y="4048125"/>
            <a:ext cx="5113338" cy="593725"/>
            <a:chOff x="1383" y="3793"/>
            <a:chExt cx="3221" cy="499"/>
          </a:xfrm>
        </p:grpSpPr>
        <p:grpSp>
          <p:nvGrpSpPr>
            <p:cNvPr id="22551" name="Group 79"/>
            <p:cNvGrpSpPr>
              <a:grpSpLocks/>
            </p:cNvGrpSpPr>
            <p:nvPr/>
          </p:nvGrpSpPr>
          <p:grpSpPr bwMode="auto">
            <a:xfrm>
              <a:off x="1383" y="4040"/>
              <a:ext cx="3221" cy="252"/>
              <a:chOff x="1383" y="4040"/>
              <a:chExt cx="3221" cy="252"/>
            </a:xfrm>
          </p:grpSpPr>
          <p:sp>
            <p:nvSpPr>
              <p:cNvPr id="22553" name="Line 63"/>
              <p:cNvSpPr>
                <a:spLocks noChangeShapeType="1"/>
              </p:cNvSpPr>
              <p:nvPr/>
            </p:nvSpPr>
            <p:spPr bwMode="auto">
              <a:xfrm>
                <a:off x="1383" y="4156"/>
                <a:ext cx="3221" cy="0"/>
              </a:xfrm>
              <a:prstGeom prst="line">
                <a:avLst/>
              </a:prstGeom>
              <a:noFill/>
              <a:ln w="28575">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graphicFrame>
            <p:nvGraphicFramePr>
              <p:cNvPr id="22554" name="Object 72"/>
              <p:cNvGraphicFramePr>
                <a:graphicFrameLocks noChangeAspect="1"/>
              </p:cNvGraphicFramePr>
              <p:nvPr/>
            </p:nvGraphicFramePr>
            <p:xfrm>
              <a:off x="2880" y="4040"/>
              <a:ext cx="122" cy="252"/>
            </p:xfrm>
            <a:graphic>
              <a:graphicData uri="http://schemas.openxmlformats.org/presentationml/2006/ole">
                <mc:AlternateContent xmlns:mc="http://schemas.openxmlformats.org/markup-compatibility/2006">
                  <mc:Choice xmlns:v="urn:schemas-microsoft-com:vml" Requires="v">
                    <p:oleObj spid="_x0000_s22596" name="公式" r:id="rId23" imgW="101468" imgH="177569" progId="Equation.3">
                      <p:embed/>
                    </p:oleObj>
                  </mc:Choice>
                  <mc:Fallback>
                    <p:oleObj name="公式" r:id="rId23" imgW="101468" imgH="177569" progId="Equation.3">
                      <p:embed/>
                      <p:pic>
                        <p:nvPicPr>
                          <p:cNvPr id="0" name="Object 7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0" y="4040"/>
                            <a:ext cx="122" cy="252"/>
                          </a:xfrm>
                          <a:prstGeom prst="rect">
                            <a:avLst/>
                          </a:prstGeom>
                          <a:solidFill>
                            <a:schemeClr val="bg1"/>
                          </a:solidFill>
                          <a:ln>
                            <a:noFill/>
                          </a:ln>
                          <a:effectLst/>
                          <a:extLs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552" name="Line 75"/>
            <p:cNvSpPr>
              <a:spLocks noChangeShapeType="1"/>
            </p:cNvSpPr>
            <p:nvPr/>
          </p:nvSpPr>
          <p:spPr bwMode="auto">
            <a:xfrm>
              <a:off x="4604" y="3793"/>
              <a:ext cx="0" cy="40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grpSp>
      <p:graphicFrame>
        <p:nvGraphicFramePr>
          <p:cNvPr id="94284" name="Object 76"/>
          <p:cNvGraphicFramePr>
            <a:graphicFrameLocks noChangeAspect="1"/>
          </p:cNvGraphicFramePr>
          <p:nvPr/>
        </p:nvGraphicFramePr>
        <p:xfrm>
          <a:off x="3140075" y="3524250"/>
          <a:ext cx="2517775" cy="685800"/>
        </p:xfrm>
        <a:graphic>
          <a:graphicData uri="http://schemas.openxmlformats.org/presentationml/2006/ole">
            <mc:AlternateContent xmlns:mc="http://schemas.openxmlformats.org/markup-compatibility/2006">
              <mc:Choice xmlns:v="urn:schemas-microsoft-com:vml" Requires="v">
                <p:oleObj spid="_x0000_s22597" name="公式" r:id="rId24" imgW="1320227" imgH="406224" progId="Equation.3">
                  <p:embed/>
                </p:oleObj>
              </mc:Choice>
              <mc:Fallback>
                <p:oleObj name="公式" r:id="rId24" imgW="1320227" imgH="406224" progId="Equation.3">
                  <p:embed/>
                  <p:pic>
                    <p:nvPicPr>
                      <p:cNvPr id="0" name="Object 76"/>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140075" y="3524250"/>
                        <a:ext cx="2517775" cy="6858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85" name="Rectangle 77"/>
          <p:cNvSpPr>
            <a:spLocks noChangeArrowheads="1"/>
          </p:cNvSpPr>
          <p:nvPr/>
        </p:nvSpPr>
        <p:spPr bwMode="auto">
          <a:xfrm>
            <a:off x="107950" y="3467100"/>
            <a:ext cx="4397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latin typeface="华文中宋" pitchFamily="2" charset="-122"/>
                <a:ea typeface="华文中宋" pitchFamily="2" charset="-122"/>
              </a:rPr>
              <a:t>超</a:t>
            </a:r>
          </a:p>
          <a:p>
            <a:r>
              <a:rPr lang="zh-CN" altLang="en-US" sz="1600">
                <a:latin typeface="华文中宋" pitchFamily="2" charset="-122"/>
                <a:ea typeface="华文中宋" pitchFamily="2" charset="-122"/>
              </a:rPr>
              <a:t>新</a:t>
            </a:r>
          </a:p>
          <a:p>
            <a:r>
              <a:rPr lang="zh-CN" altLang="en-US" sz="1600">
                <a:latin typeface="华文中宋" pitchFamily="2" charset="-122"/>
                <a:ea typeface="华文中宋" pitchFamily="2" charset="-122"/>
              </a:rPr>
              <a:t>星</a:t>
            </a:r>
          </a:p>
        </p:txBody>
      </p:sp>
      <p:sp>
        <p:nvSpPr>
          <p:cNvPr id="94286" name="Rectangle 78"/>
          <p:cNvSpPr>
            <a:spLocks noChangeArrowheads="1"/>
          </p:cNvSpPr>
          <p:nvPr/>
        </p:nvSpPr>
        <p:spPr bwMode="auto">
          <a:xfrm>
            <a:off x="6588125" y="3521075"/>
            <a:ext cx="4397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latin typeface="华文中宋" pitchFamily="2" charset="-122"/>
                <a:ea typeface="华文中宋" pitchFamily="2" charset="-122"/>
              </a:rPr>
              <a:t>地</a:t>
            </a:r>
          </a:p>
          <a:p>
            <a:r>
              <a:rPr lang="zh-CN" altLang="en-US" sz="1600">
                <a:latin typeface="华文中宋" pitchFamily="2" charset="-122"/>
                <a:ea typeface="华文中宋" pitchFamily="2" charset="-122"/>
              </a:rPr>
              <a:t>球</a:t>
            </a:r>
          </a:p>
        </p:txBody>
      </p:sp>
      <p:sp>
        <p:nvSpPr>
          <p:cNvPr id="22550" name="Text Box 2"/>
          <p:cNvSpPr>
            <a:spLocks noChangeArrowheads="1"/>
          </p:cNvSpPr>
          <p:nvPr/>
        </p:nvSpPr>
        <p:spPr bwMode="auto">
          <a:xfrm>
            <a:off x="839788" y="874713"/>
            <a:ext cx="2076450" cy="401637"/>
          </a:xfrm>
          <a:prstGeom prst="homePlate">
            <a:avLst>
              <a:gd name="adj" fmla="val 4985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二、实验基础</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31"/>
                                        </p:tgtEl>
                                        <p:attrNameLst>
                                          <p:attrName>style.visibility</p:attrName>
                                        </p:attrNameLst>
                                      </p:cBhvr>
                                      <p:to>
                                        <p:strVal val="visible"/>
                                      </p:to>
                                    </p:set>
                                    <p:animEffect transition="in" filter="blinds(horizontal)">
                                      <p:cBhvr>
                                        <p:cTn id="7" dur="500"/>
                                        <p:tgtEl>
                                          <p:spTgt spid="942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94246"/>
                                        </p:tgtEl>
                                        <p:attrNameLst>
                                          <p:attrName>style.visibility</p:attrName>
                                        </p:attrNameLst>
                                      </p:cBhvr>
                                      <p:to>
                                        <p:strVal val="visible"/>
                                      </p:to>
                                    </p:set>
                                    <p:animEffect transition="in" filter="blinds(horizontal)">
                                      <p:cBhvr>
                                        <p:cTn id="22" dur="500"/>
                                        <p:tgtEl>
                                          <p:spTgt spid="94246"/>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4247"/>
                                        </p:tgtEl>
                                        <p:attrNameLst>
                                          <p:attrName>style.visibility</p:attrName>
                                        </p:attrNameLst>
                                      </p:cBhvr>
                                      <p:to>
                                        <p:strVal val="visible"/>
                                      </p:to>
                                    </p:set>
                                    <p:animEffect transition="in" filter="blinds(horizontal)">
                                      <p:cBhvr>
                                        <p:cTn id="25" dur="500"/>
                                        <p:tgtEl>
                                          <p:spTgt spid="9424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4236"/>
                                        </p:tgtEl>
                                        <p:attrNameLst>
                                          <p:attrName>style.visibility</p:attrName>
                                        </p:attrNameLst>
                                      </p:cBhvr>
                                      <p:to>
                                        <p:strVal val="visible"/>
                                      </p:to>
                                    </p:set>
                                    <p:anim calcmode="lin" valueType="num">
                                      <p:cBhvr additive="base">
                                        <p:cTn id="30" dur="500" fill="hold"/>
                                        <p:tgtEl>
                                          <p:spTgt spid="94236"/>
                                        </p:tgtEl>
                                        <p:attrNameLst>
                                          <p:attrName>ppt_x</p:attrName>
                                        </p:attrNameLst>
                                      </p:cBhvr>
                                      <p:tavLst>
                                        <p:tav tm="0">
                                          <p:val>
                                            <p:strVal val="#ppt_x"/>
                                          </p:val>
                                        </p:tav>
                                        <p:tav tm="100000">
                                          <p:val>
                                            <p:strVal val="#ppt_x"/>
                                          </p:val>
                                        </p:tav>
                                      </p:tavLst>
                                    </p:anim>
                                    <p:anim calcmode="lin" valueType="num">
                                      <p:cBhvr additive="base">
                                        <p:cTn id="31" dur="500" fill="hold"/>
                                        <p:tgtEl>
                                          <p:spTgt spid="94236"/>
                                        </p:tgtEl>
                                        <p:attrNameLst>
                                          <p:attrName>ppt_y</p:attrName>
                                        </p:attrNameLst>
                                      </p:cBhvr>
                                      <p:tavLst>
                                        <p:tav tm="0">
                                          <p:val>
                                            <p:strVal val="1+#ppt_h/2"/>
                                          </p:val>
                                        </p:tav>
                                        <p:tav tm="100000">
                                          <p:val>
                                            <p:strVal val="#ppt_y"/>
                                          </p:val>
                                        </p:tav>
                                      </p:tavLst>
                                    </p:anim>
                                  </p:childTnLst>
                                </p:cTn>
                              </p:par>
                            </p:childTnLst>
                          </p:cTn>
                        </p:par>
                        <p:par>
                          <p:cTn id="32" fill="hold" nodeType="afterGroup">
                            <p:stCondLst>
                              <p:cond delay="500"/>
                            </p:stCondLst>
                            <p:childTnLst>
                              <p:par>
                                <p:cTn id="33" presetID="3" presetClass="entr" presetSubtype="10" fill="hold" grpId="0" nodeType="afterEffect">
                                  <p:stCondLst>
                                    <p:cond delay="0"/>
                                  </p:stCondLst>
                                  <p:childTnLst>
                                    <p:set>
                                      <p:cBhvr>
                                        <p:cTn id="34" dur="1" fill="hold">
                                          <p:stCondLst>
                                            <p:cond delay="0"/>
                                          </p:stCondLst>
                                        </p:cTn>
                                        <p:tgtEl>
                                          <p:spTgt spid="94251"/>
                                        </p:tgtEl>
                                        <p:attrNameLst>
                                          <p:attrName>style.visibility</p:attrName>
                                        </p:attrNameLst>
                                      </p:cBhvr>
                                      <p:to>
                                        <p:strVal val="visible"/>
                                      </p:to>
                                    </p:set>
                                    <p:animEffect transition="in" filter="blinds(horizontal)">
                                      <p:cBhvr>
                                        <p:cTn id="35" dur="500"/>
                                        <p:tgtEl>
                                          <p:spTgt spid="9425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94239"/>
                                        </p:tgtEl>
                                        <p:attrNameLst>
                                          <p:attrName>style.visibility</p:attrName>
                                        </p:attrNameLst>
                                      </p:cBhvr>
                                      <p:to>
                                        <p:strVal val="visible"/>
                                      </p:to>
                                    </p:set>
                                    <p:animEffect transition="in" filter="blinds(horizontal)">
                                      <p:cBhvr>
                                        <p:cTn id="40" dur="500"/>
                                        <p:tgtEl>
                                          <p:spTgt spid="94239"/>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94249"/>
                                        </p:tgtEl>
                                        <p:attrNameLst>
                                          <p:attrName>style.visibility</p:attrName>
                                        </p:attrNameLst>
                                      </p:cBhvr>
                                      <p:to>
                                        <p:strVal val="visible"/>
                                      </p:to>
                                    </p:set>
                                    <p:animEffect transition="in" filter="blinds(horizontal)">
                                      <p:cBhvr>
                                        <p:cTn id="43" dur="500"/>
                                        <p:tgtEl>
                                          <p:spTgt spid="9424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94232"/>
                                        </p:tgtEl>
                                        <p:attrNameLst>
                                          <p:attrName>style.visibility</p:attrName>
                                        </p:attrNameLst>
                                      </p:cBhvr>
                                      <p:to>
                                        <p:strVal val="visible"/>
                                      </p:to>
                                    </p:set>
                                    <p:animEffect transition="in" filter="blinds(horizontal)">
                                      <p:cBhvr>
                                        <p:cTn id="48" dur="500"/>
                                        <p:tgtEl>
                                          <p:spTgt spid="9423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94248"/>
                                        </p:tgtEl>
                                        <p:attrNameLst>
                                          <p:attrName>style.visibility</p:attrName>
                                        </p:attrNameLst>
                                      </p:cBhvr>
                                      <p:to>
                                        <p:strVal val="visible"/>
                                      </p:to>
                                    </p:set>
                                    <p:animEffect transition="in" filter="blinds(horizontal)">
                                      <p:cBhvr>
                                        <p:cTn id="51" dur="500"/>
                                        <p:tgtEl>
                                          <p:spTgt spid="9424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94250"/>
                                        </p:tgtEl>
                                        <p:attrNameLst>
                                          <p:attrName>style.visibility</p:attrName>
                                        </p:attrNameLst>
                                      </p:cBhvr>
                                      <p:to>
                                        <p:strVal val="visible"/>
                                      </p:to>
                                    </p:set>
                                    <p:animEffect transition="in" filter="blinds(horizontal)">
                                      <p:cBhvr>
                                        <p:cTn id="56" dur="500"/>
                                        <p:tgtEl>
                                          <p:spTgt spid="94250"/>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blinds(horizontal)">
                                      <p:cBhvr>
                                        <p:cTn id="61" dur="500"/>
                                        <p:tgtEl>
                                          <p:spTgt spid="6"/>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94285"/>
                                        </p:tgtEl>
                                        <p:attrNameLst>
                                          <p:attrName>style.visibility</p:attrName>
                                        </p:attrNameLst>
                                      </p:cBhvr>
                                      <p:to>
                                        <p:strVal val="visible"/>
                                      </p:to>
                                    </p:set>
                                    <p:animEffect transition="in" filter="blinds(horizontal)">
                                      <p:cBhvr>
                                        <p:cTn id="64" dur="500"/>
                                        <p:tgtEl>
                                          <p:spTgt spid="9428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94278"/>
                                        </p:tgtEl>
                                        <p:attrNameLst>
                                          <p:attrName>style.visibility</p:attrName>
                                        </p:attrNameLst>
                                      </p:cBhvr>
                                      <p:to>
                                        <p:strVal val="visible"/>
                                      </p:to>
                                    </p:set>
                                    <p:animEffect transition="in" filter="blinds(horizontal)">
                                      <p:cBhvr>
                                        <p:cTn id="69" dur="500"/>
                                        <p:tgtEl>
                                          <p:spTgt spid="94278"/>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94286"/>
                                        </p:tgtEl>
                                        <p:attrNameLst>
                                          <p:attrName>style.visibility</p:attrName>
                                        </p:attrNameLst>
                                      </p:cBhvr>
                                      <p:to>
                                        <p:strVal val="visible"/>
                                      </p:to>
                                    </p:set>
                                    <p:animEffect transition="in" filter="blinds(horizontal)">
                                      <p:cBhvr>
                                        <p:cTn id="72" dur="500"/>
                                        <p:tgtEl>
                                          <p:spTgt spid="9428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Effect transition="in" filter="blinds(horizontal)">
                                      <p:cBhvr>
                                        <p:cTn id="77" dur="500"/>
                                        <p:tgtEl>
                                          <p:spTgt spid="1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blinds(horizontal)">
                                      <p:cBhvr>
                                        <p:cTn id="82" dur="500"/>
                                        <p:tgtEl>
                                          <p:spTgt spid="9"/>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blinds(horizontal)">
                                      <p:cBhvr>
                                        <p:cTn id="87" dur="500"/>
                                        <p:tgtEl>
                                          <p:spTgt spid="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94284"/>
                                        </p:tgtEl>
                                        <p:attrNameLst>
                                          <p:attrName>style.visibility</p:attrName>
                                        </p:attrNameLst>
                                      </p:cBhvr>
                                      <p:to>
                                        <p:strVal val="visible"/>
                                      </p:to>
                                    </p:set>
                                    <p:animEffect transition="in" filter="blinds(horizontal)">
                                      <p:cBhvr>
                                        <p:cTn id="92" dur="500"/>
                                        <p:tgtEl>
                                          <p:spTgt spid="94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31" grpId="0"/>
      <p:bldP spid="94236" grpId="0" animBg="1"/>
      <p:bldP spid="94247" grpId="0"/>
      <p:bldP spid="94248" grpId="0"/>
      <p:bldP spid="94249" grpId="0"/>
      <p:bldP spid="94250" grpId="0"/>
      <p:bldP spid="94251" grpId="0"/>
      <p:bldP spid="94285" grpId="0"/>
      <p:bldP spid="9428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170"/>
          <p:cNvSpPr>
            <a:spLocks noChangeArrowheads="1"/>
          </p:cNvSpPr>
          <p:nvPr/>
        </p:nvSpPr>
        <p:spPr bwMode="auto">
          <a:xfrm>
            <a:off x="550863" y="801688"/>
            <a:ext cx="3805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eaLnBrk="0" hangingPunct="0">
              <a:buFont typeface="Arial" charset="0"/>
              <a:buNone/>
            </a:pPr>
            <a:r>
              <a:rPr kumimoji="0" lang="en-US" altLang="zh-CN" sz="1800">
                <a:solidFill>
                  <a:srgbClr val="FF0000"/>
                </a:solidFill>
                <a:latin typeface="华文中宋" pitchFamily="2" charset="-122"/>
                <a:ea typeface="华文中宋" pitchFamily="2" charset="-122"/>
              </a:rPr>
              <a:t>2</a:t>
            </a:r>
            <a:r>
              <a:rPr kumimoji="0" lang="zh-CN" altLang="en-US" sz="1800">
                <a:solidFill>
                  <a:srgbClr val="FF0000"/>
                </a:solidFill>
                <a:latin typeface="华文中宋" pitchFamily="2" charset="-122"/>
                <a:ea typeface="华文中宋" pitchFamily="2" charset="-122"/>
              </a:rPr>
              <a:t>、麦克斯韦方程问题</a:t>
            </a:r>
          </a:p>
        </p:txBody>
      </p:sp>
      <p:sp>
        <p:nvSpPr>
          <p:cNvPr id="75" name="Text Box 3"/>
          <p:cNvSpPr txBox="1">
            <a:spLocks noChangeArrowheads="1"/>
          </p:cNvSpPr>
          <p:nvPr/>
        </p:nvSpPr>
        <p:spPr bwMode="auto">
          <a:xfrm>
            <a:off x="763588" y="1347788"/>
            <a:ext cx="4024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zh-CN" altLang="en-US" sz="1800">
                <a:solidFill>
                  <a:srgbClr val="000000"/>
                </a:solidFill>
                <a:ea typeface="华文中宋" pitchFamily="2" charset="-122"/>
                <a:cs typeface="Times New Roman" pitchFamily="18" charset="0"/>
              </a:rPr>
              <a:t>设有两点电荷</a:t>
            </a:r>
            <a:r>
              <a:rPr kumimoji="0" lang="en-US" altLang="zh-CN" sz="1800" i="1">
                <a:solidFill>
                  <a:srgbClr val="000000"/>
                </a:solidFill>
                <a:ea typeface="华文中宋" pitchFamily="2" charset="-122"/>
                <a:cs typeface="Times New Roman" pitchFamily="18" charset="0"/>
              </a:rPr>
              <a:t>q</a:t>
            </a:r>
            <a:r>
              <a:rPr kumimoji="0" lang="en-US" altLang="zh-CN" sz="1800" baseline="-25000">
                <a:solidFill>
                  <a:srgbClr val="000000"/>
                </a:solidFill>
                <a:ea typeface="华文中宋" pitchFamily="2" charset="-122"/>
                <a:cs typeface="Times New Roman" pitchFamily="18" charset="0"/>
              </a:rPr>
              <a:t>1</a:t>
            </a:r>
            <a:r>
              <a:rPr kumimoji="0" lang="en-US" altLang="zh-CN" sz="1800">
                <a:solidFill>
                  <a:srgbClr val="000000"/>
                </a:solidFill>
                <a:ea typeface="华文中宋" pitchFamily="2" charset="-122"/>
                <a:cs typeface="Times New Roman" pitchFamily="18" charset="0"/>
              </a:rPr>
              <a:t>,</a:t>
            </a:r>
            <a:r>
              <a:rPr kumimoji="0" lang="en-US" altLang="zh-CN" sz="1800" i="1">
                <a:solidFill>
                  <a:srgbClr val="000000"/>
                </a:solidFill>
                <a:ea typeface="华文中宋" pitchFamily="2" charset="-122"/>
                <a:cs typeface="Times New Roman" pitchFamily="18" charset="0"/>
              </a:rPr>
              <a:t>q</a:t>
            </a:r>
            <a:r>
              <a:rPr kumimoji="0" lang="en-US" altLang="zh-CN" sz="1800" baseline="-25000">
                <a:solidFill>
                  <a:srgbClr val="000000"/>
                </a:solidFill>
                <a:ea typeface="华文中宋" pitchFamily="2" charset="-122"/>
                <a:cs typeface="Times New Roman" pitchFamily="18" charset="0"/>
              </a:rPr>
              <a:t>2</a:t>
            </a:r>
            <a:r>
              <a:rPr kumimoji="0" lang="zh-CN" altLang="en-US" sz="1800" baseline="-25000">
                <a:solidFill>
                  <a:srgbClr val="000000"/>
                </a:solidFill>
                <a:ea typeface="华文中宋" pitchFamily="2" charset="-122"/>
                <a:cs typeface="Times New Roman" pitchFamily="18" charset="0"/>
              </a:rPr>
              <a:t>。</a:t>
            </a:r>
            <a:r>
              <a:rPr kumimoji="0" lang="zh-CN" altLang="en-US" sz="1800">
                <a:solidFill>
                  <a:srgbClr val="000000"/>
                </a:solidFill>
                <a:latin typeface="华文中宋" pitchFamily="2" charset="-122"/>
                <a:ea typeface="华文中宋" pitchFamily="2" charset="-122"/>
                <a:cs typeface="Times New Roman" pitchFamily="18" charset="0"/>
              </a:rPr>
              <a:t>若用伽里略变换：</a:t>
            </a:r>
          </a:p>
        </p:txBody>
      </p:sp>
      <p:grpSp>
        <p:nvGrpSpPr>
          <p:cNvPr id="3" name="组合 49"/>
          <p:cNvGrpSpPr>
            <a:grpSpLocks/>
          </p:cNvGrpSpPr>
          <p:nvPr/>
        </p:nvGrpSpPr>
        <p:grpSpPr bwMode="auto">
          <a:xfrm>
            <a:off x="5310188" y="1176338"/>
            <a:ext cx="2084387" cy="1466850"/>
            <a:chOff x="2127534" y="1219312"/>
            <a:chExt cx="2084142" cy="1957275"/>
          </a:xfrm>
        </p:grpSpPr>
        <p:sp>
          <p:nvSpPr>
            <p:cNvPr id="23586" name="Line 13"/>
            <p:cNvSpPr>
              <a:spLocks noChangeShapeType="1"/>
            </p:cNvSpPr>
            <p:nvPr/>
          </p:nvSpPr>
          <p:spPr bwMode="auto">
            <a:xfrm flipV="1">
              <a:off x="2481301" y="1626437"/>
              <a:ext cx="0" cy="1072790"/>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87" name="Line 14"/>
            <p:cNvSpPr>
              <a:spLocks noChangeShapeType="1"/>
            </p:cNvSpPr>
            <p:nvPr/>
          </p:nvSpPr>
          <p:spPr bwMode="auto">
            <a:xfrm flipH="1">
              <a:off x="2127534" y="2699227"/>
              <a:ext cx="355354" cy="477360"/>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88" name="Text Box 38"/>
            <p:cNvSpPr txBox="1">
              <a:spLocks noChangeArrowheads="1"/>
            </p:cNvSpPr>
            <p:nvPr/>
          </p:nvSpPr>
          <p:spPr bwMode="auto">
            <a:xfrm>
              <a:off x="2177308" y="1508373"/>
              <a:ext cx="312869" cy="492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00"/>
                  </a:solidFill>
                  <a:ea typeface="宋体" pitchFamily="2" charset="-122"/>
                </a:rPr>
                <a:t>S</a:t>
              </a:r>
            </a:p>
          </p:txBody>
        </p:sp>
        <p:sp>
          <p:nvSpPr>
            <p:cNvPr id="23589" name="Text Box 39"/>
            <p:cNvSpPr txBox="1">
              <a:spLocks noChangeArrowheads="1"/>
            </p:cNvSpPr>
            <p:nvPr/>
          </p:nvSpPr>
          <p:spPr bwMode="auto">
            <a:xfrm>
              <a:off x="2192614" y="2499802"/>
              <a:ext cx="361907" cy="492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00"/>
                  </a:solidFill>
                  <a:ea typeface="宋体" pitchFamily="2" charset="-122"/>
                </a:rPr>
                <a:t>O</a:t>
              </a:r>
            </a:p>
          </p:txBody>
        </p:sp>
        <p:sp>
          <p:nvSpPr>
            <p:cNvPr id="23590" name="Line 45"/>
            <p:cNvSpPr>
              <a:spLocks noChangeShapeType="1"/>
            </p:cNvSpPr>
            <p:nvPr/>
          </p:nvSpPr>
          <p:spPr bwMode="auto">
            <a:xfrm>
              <a:off x="2482888" y="2699227"/>
              <a:ext cx="1728788" cy="0"/>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82" name="流程图: 或者 81"/>
            <p:cNvSpPr/>
            <p:nvPr/>
          </p:nvSpPr>
          <p:spPr bwMode="auto">
            <a:xfrm>
              <a:off x="3581890" y="1538841"/>
              <a:ext cx="180020" cy="180020"/>
            </a:xfrm>
            <a:prstGeom prst="flowChartOr">
              <a:avLst/>
            </a:prstGeom>
            <a:solidFill>
              <a:srgbClr val="0070C0"/>
            </a:solidFill>
            <a:ln w="19050" cap="flat" cmpd="sng" algn="ctr">
              <a:solidFill>
                <a:srgbClr val="FF0000"/>
              </a:solidFill>
              <a:prstDash val="solid"/>
              <a:round/>
              <a:headEnd type="none" w="med" len="med"/>
              <a:tailEnd type="none" w="med" len="med"/>
            </a:ln>
            <a:effectLst/>
            <a:scene3d>
              <a:camera prst="orthographicFront"/>
              <a:lightRig rig="threePt" dir="t"/>
            </a:scene3d>
            <a:sp3d>
              <a:bevelT/>
            </a:sp3d>
          </p:spPr>
          <p:txBody>
            <a:bodyPr/>
            <a:lstStyle/>
            <a:p>
              <a:pPr>
                <a:defRPr/>
              </a:pPr>
              <a:endParaRPr kumimoji="0" lang="zh-CN" altLang="en-US" sz="1800">
                <a:solidFill>
                  <a:srgbClr val="000000"/>
                </a:solidFill>
                <a:ea typeface="宋体" pitchFamily="2" charset="-122"/>
              </a:endParaRPr>
            </a:p>
          </p:txBody>
        </p:sp>
        <p:sp>
          <p:nvSpPr>
            <p:cNvPr id="83" name="流程图: 或者 82"/>
            <p:cNvSpPr/>
            <p:nvPr/>
          </p:nvSpPr>
          <p:spPr bwMode="auto">
            <a:xfrm>
              <a:off x="3581890" y="2258921"/>
              <a:ext cx="180020" cy="180020"/>
            </a:xfrm>
            <a:prstGeom prst="flowChartOr">
              <a:avLst/>
            </a:prstGeom>
            <a:solidFill>
              <a:srgbClr val="0070C0"/>
            </a:solidFill>
            <a:ln w="19050" cap="flat" cmpd="sng" algn="ctr">
              <a:solidFill>
                <a:srgbClr val="FF0000"/>
              </a:solidFill>
              <a:prstDash val="solid"/>
              <a:round/>
              <a:headEnd type="none" w="med" len="med"/>
              <a:tailEnd type="none" w="med" len="med"/>
            </a:ln>
            <a:effectLst/>
            <a:scene3d>
              <a:camera prst="orthographicFront"/>
              <a:lightRig rig="threePt" dir="t"/>
            </a:scene3d>
            <a:sp3d>
              <a:bevelT/>
            </a:sp3d>
          </p:spPr>
          <p:txBody>
            <a:bodyPr/>
            <a:lstStyle/>
            <a:p>
              <a:pPr>
                <a:defRPr/>
              </a:pPr>
              <a:endParaRPr kumimoji="0" lang="zh-CN" altLang="en-US" sz="1800">
                <a:solidFill>
                  <a:srgbClr val="000000"/>
                </a:solidFill>
                <a:ea typeface="宋体" pitchFamily="2" charset="-122"/>
              </a:endParaRPr>
            </a:p>
          </p:txBody>
        </p:sp>
        <p:cxnSp>
          <p:nvCxnSpPr>
            <p:cNvPr id="23597" name="直接连接符 68"/>
            <p:cNvCxnSpPr>
              <a:cxnSpLocks noChangeShapeType="1"/>
            </p:cNvCxnSpPr>
            <p:nvPr/>
          </p:nvCxnSpPr>
          <p:spPr bwMode="auto">
            <a:xfrm>
              <a:off x="3671900" y="1718861"/>
              <a:ext cx="0" cy="540060"/>
            </a:xfrm>
            <a:prstGeom prst="line">
              <a:avLst/>
            </a:prstGeom>
            <a:noFill/>
            <a:ln w="9525" algn="ctr">
              <a:solidFill>
                <a:srgbClr val="00B0F0"/>
              </a:solidFill>
              <a:prstDash val="dash"/>
              <a:round/>
              <a:headEnd/>
              <a:tailEnd/>
            </a:ln>
            <a:extLst>
              <a:ext uri="{909E8E84-426E-40DD-AFC4-6F175D3DCCD1}">
                <a14:hiddenFill xmlns:a14="http://schemas.microsoft.com/office/drawing/2010/main">
                  <a:noFill/>
                </a14:hiddenFill>
              </a:ext>
            </a:extLst>
          </p:spPr>
        </p:cxnSp>
        <p:sp>
          <p:nvSpPr>
            <p:cNvPr id="23598" name="TextBox 69"/>
            <p:cNvSpPr txBox="1">
              <a:spLocks noChangeArrowheads="1"/>
            </p:cNvSpPr>
            <p:nvPr/>
          </p:nvSpPr>
          <p:spPr bwMode="auto">
            <a:xfrm>
              <a:off x="3267225" y="1219312"/>
              <a:ext cx="376982" cy="492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00"/>
                  </a:solidFill>
                  <a:ea typeface="宋体" pitchFamily="2" charset="-122"/>
                </a:rPr>
                <a:t>q</a:t>
              </a:r>
              <a:r>
                <a:rPr kumimoji="0" lang="en-US" altLang="zh-CN" sz="1800" baseline="-25000">
                  <a:solidFill>
                    <a:srgbClr val="000000"/>
                  </a:solidFill>
                  <a:ea typeface="宋体" pitchFamily="2" charset="-122"/>
                </a:rPr>
                <a:t>1</a:t>
              </a:r>
              <a:endParaRPr kumimoji="0" lang="en-US" altLang="zh-CN" sz="1800">
                <a:solidFill>
                  <a:srgbClr val="000000"/>
                </a:solidFill>
                <a:ea typeface="宋体" pitchFamily="2" charset="-122"/>
              </a:endParaRPr>
            </a:p>
          </p:txBody>
        </p:sp>
        <p:sp>
          <p:nvSpPr>
            <p:cNvPr id="23599" name="TextBox 88"/>
            <p:cNvSpPr txBox="1">
              <a:spLocks noChangeArrowheads="1"/>
            </p:cNvSpPr>
            <p:nvPr/>
          </p:nvSpPr>
          <p:spPr bwMode="auto">
            <a:xfrm>
              <a:off x="3267225" y="2258320"/>
              <a:ext cx="376982" cy="492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00"/>
                  </a:solidFill>
                  <a:ea typeface="宋体" pitchFamily="2" charset="-122"/>
                </a:rPr>
                <a:t>q</a:t>
              </a:r>
              <a:r>
                <a:rPr kumimoji="0" lang="en-US" altLang="zh-CN" sz="1800" baseline="-25000">
                  <a:solidFill>
                    <a:srgbClr val="000000"/>
                  </a:solidFill>
                  <a:ea typeface="宋体" pitchFamily="2" charset="-122"/>
                </a:rPr>
                <a:t>2</a:t>
              </a:r>
            </a:p>
          </p:txBody>
        </p:sp>
      </p:grpSp>
      <p:grpSp>
        <p:nvGrpSpPr>
          <p:cNvPr id="4" name="组合 86"/>
          <p:cNvGrpSpPr>
            <a:grpSpLocks/>
          </p:cNvGrpSpPr>
          <p:nvPr/>
        </p:nvGrpSpPr>
        <p:grpSpPr bwMode="auto">
          <a:xfrm>
            <a:off x="6524625" y="987425"/>
            <a:ext cx="301625" cy="430213"/>
            <a:chOff x="3618124" y="2010527"/>
            <a:chExt cx="301822" cy="572778"/>
          </a:xfrm>
        </p:grpSpPr>
        <p:cxnSp>
          <p:nvCxnSpPr>
            <p:cNvPr id="23584" name="直接箭头连接符 94"/>
            <p:cNvCxnSpPr>
              <a:cxnSpLocks noChangeShapeType="1"/>
            </p:cNvCxnSpPr>
            <p:nvPr/>
          </p:nvCxnSpPr>
          <p:spPr bwMode="auto">
            <a:xfrm flipV="1">
              <a:off x="3919946" y="2043208"/>
              <a:ext cx="0" cy="540097"/>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graphicFrame>
          <p:nvGraphicFramePr>
            <p:cNvPr id="23585" name="对象 88"/>
            <p:cNvGraphicFramePr>
              <a:graphicFrameLocks noChangeAspect="1"/>
            </p:cNvGraphicFramePr>
            <p:nvPr/>
          </p:nvGraphicFramePr>
          <p:xfrm>
            <a:off x="3618124" y="2010527"/>
            <a:ext cx="238420" cy="317893"/>
          </p:xfrm>
          <a:graphic>
            <a:graphicData uri="http://schemas.openxmlformats.org/presentationml/2006/ole">
              <mc:AlternateContent xmlns:mc="http://schemas.openxmlformats.org/markup-compatibility/2006">
                <mc:Choice xmlns:v="urn:schemas-microsoft-com:vml" Requires="v">
                  <p:oleObj spid="_x0000_s23609" name="公式" r:id="rId3" imgW="190417" imgH="253890" progId="Equation.3">
                    <p:embed/>
                  </p:oleObj>
                </mc:Choice>
                <mc:Fallback>
                  <p:oleObj name="公式" r:id="rId3" imgW="190417" imgH="253890" progId="Equation.3">
                    <p:embed/>
                    <p:pic>
                      <p:nvPicPr>
                        <p:cNvPr id="0" name="对象 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8124" y="2010527"/>
                          <a:ext cx="238420" cy="317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5" name="组合 89"/>
          <p:cNvGrpSpPr>
            <a:grpSpLocks/>
          </p:cNvGrpSpPr>
          <p:nvPr/>
        </p:nvGrpSpPr>
        <p:grpSpPr bwMode="auto">
          <a:xfrm>
            <a:off x="7575550" y="1323975"/>
            <a:ext cx="1317625" cy="1190625"/>
            <a:chOff x="4753255" y="2287835"/>
            <a:chExt cx="1317606" cy="1588593"/>
          </a:xfrm>
        </p:grpSpPr>
        <p:sp>
          <p:nvSpPr>
            <p:cNvPr id="23577" name="Line 19"/>
            <p:cNvSpPr>
              <a:spLocks noChangeShapeType="1"/>
            </p:cNvSpPr>
            <p:nvPr/>
          </p:nvSpPr>
          <p:spPr bwMode="auto">
            <a:xfrm>
              <a:off x="5089512" y="2960367"/>
              <a:ext cx="53340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8" name="Line 21"/>
            <p:cNvSpPr>
              <a:spLocks noChangeShapeType="1"/>
            </p:cNvSpPr>
            <p:nvPr/>
          </p:nvSpPr>
          <p:spPr bwMode="auto">
            <a:xfrm>
              <a:off x="5109605" y="3418071"/>
              <a:ext cx="961256" cy="0"/>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79" name="Line 22"/>
            <p:cNvSpPr>
              <a:spLocks noChangeShapeType="1"/>
            </p:cNvSpPr>
            <p:nvPr/>
          </p:nvSpPr>
          <p:spPr bwMode="auto">
            <a:xfrm flipV="1">
              <a:off x="5089655" y="2460394"/>
              <a:ext cx="0" cy="976435"/>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80" name="Line 23"/>
            <p:cNvSpPr>
              <a:spLocks noChangeShapeType="1"/>
            </p:cNvSpPr>
            <p:nvPr/>
          </p:nvSpPr>
          <p:spPr bwMode="auto">
            <a:xfrm flipH="1">
              <a:off x="4753255" y="3417793"/>
              <a:ext cx="336399" cy="447198"/>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23581" name="Text Box 37"/>
            <p:cNvSpPr txBox="1">
              <a:spLocks noChangeArrowheads="1"/>
            </p:cNvSpPr>
            <p:nvPr/>
          </p:nvSpPr>
          <p:spPr bwMode="auto">
            <a:xfrm>
              <a:off x="5108850" y="2287835"/>
              <a:ext cx="356183" cy="49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00"/>
                  </a:solidFill>
                  <a:ea typeface="宋体" pitchFamily="2" charset="-122"/>
                </a:rPr>
                <a:t>S</a:t>
              </a:r>
              <a:r>
                <a:rPr kumimoji="0" lang="en-US" altLang="zh-CN" sz="1800" i="1" baseline="30000">
                  <a:solidFill>
                    <a:srgbClr val="000000"/>
                  </a:solidFill>
                  <a:ea typeface="宋体" pitchFamily="2" charset="-122"/>
                </a:rPr>
                <a:t>/</a:t>
              </a:r>
              <a:endParaRPr kumimoji="0" lang="en-US" altLang="zh-CN" sz="1800" i="1">
                <a:solidFill>
                  <a:srgbClr val="000000"/>
                </a:solidFill>
                <a:ea typeface="宋体" pitchFamily="2" charset="-122"/>
              </a:endParaRPr>
            </a:p>
          </p:txBody>
        </p:sp>
        <p:sp>
          <p:nvSpPr>
            <p:cNvPr id="23582" name="Text Box 40"/>
            <p:cNvSpPr txBox="1">
              <a:spLocks noChangeArrowheads="1"/>
            </p:cNvSpPr>
            <p:nvPr/>
          </p:nvSpPr>
          <p:spPr bwMode="auto">
            <a:xfrm>
              <a:off x="5050113" y="3383745"/>
              <a:ext cx="457194" cy="492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00"/>
                  </a:solidFill>
                  <a:ea typeface="宋体" pitchFamily="2" charset="-122"/>
                </a:rPr>
                <a:t>O</a:t>
              </a:r>
              <a:r>
                <a:rPr kumimoji="0" lang="en-US" altLang="zh-CN" sz="1800" i="1" baseline="30000">
                  <a:solidFill>
                    <a:srgbClr val="000000"/>
                  </a:solidFill>
                  <a:ea typeface="宋体" pitchFamily="2" charset="-122"/>
                </a:rPr>
                <a:t>/</a:t>
              </a:r>
              <a:endParaRPr kumimoji="0" lang="en-US" altLang="zh-CN" sz="1800" i="1">
                <a:solidFill>
                  <a:srgbClr val="000000"/>
                </a:solidFill>
                <a:ea typeface="宋体" pitchFamily="2" charset="-122"/>
              </a:endParaRPr>
            </a:p>
          </p:txBody>
        </p:sp>
        <p:graphicFrame>
          <p:nvGraphicFramePr>
            <p:cNvPr id="23583" name="对象 96"/>
            <p:cNvGraphicFramePr>
              <a:graphicFrameLocks noChangeAspect="1"/>
            </p:cNvGraphicFramePr>
            <p:nvPr/>
          </p:nvGraphicFramePr>
          <p:xfrm>
            <a:off x="5191713" y="2700632"/>
            <a:ext cx="203802" cy="259384"/>
          </p:xfrm>
          <a:graphic>
            <a:graphicData uri="http://schemas.openxmlformats.org/presentationml/2006/ole">
              <mc:AlternateContent xmlns:mc="http://schemas.openxmlformats.org/markup-compatibility/2006">
                <mc:Choice xmlns:v="urn:schemas-microsoft-com:vml" Requires="v">
                  <p:oleObj spid="_x0000_s23610" name="公式" r:id="rId5" imgW="139579" imgH="177646" progId="Equation.3">
                    <p:embed/>
                  </p:oleObj>
                </mc:Choice>
                <mc:Fallback>
                  <p:oleObj name="公式" r:id="rId5" imgW="139579" imgH="177646" progId="Equation.3">
                    <p:embed/>
                    <p:pic>
                      <p:nvPicPr>
                        <p:cNvPr id="0" name="对象 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1713" y="2700632"/>
                          <a:ext cx="203802" cy="259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组合 97"/>
          <p:cNvGrpSpPr>
            <a:grpSpLocks/>
          </p:cNvGrpSpPr>
          <p:nvPr/>
        </p:nvGrpSpPr>
        <p:grpSpPr bwMode="auto">
          <a:xfrm>
            <a:off x="6908800" y="931863"/>
            <a:ext cx="344488" cy="496887"/>
            <a:chOff x="5812049" y="1426966"/>
            <a:chExt cx="344411" cy="660990"/>
          </a:xfrm>
        </p:grpSpPr>
        <p:cxnSp>
          <p:nvCxnSpPr>
            <p:cNvPr id="23575" name="直接箭头连接符 106"/>
            <p:cNvCxnSpPr>
              <a:cxnSpLocks noChangeShapeType="1"/>
            </p:cNvCxnSpPr>
            <p:nvPr/>
          </p:nvCxnSpPr>
          <p:spPr bwMode="auto">
            <a:xfrm flipV="1">
              <a:off x="5812049" y="1593130"/>
              <a:ext cx="0" cy="494826"/>
            </a:xfrm>
            <a:prstGeom prst="straightConnector1">
              <a:avLst/>
            </a:prstGeom>
            <a:noFill/>
            <a:ln w="28575" algn="ctr">
              <a:solidFill>
                <a:srgbClr val="C00000"/>
              </a:solidFill>
              <a:round/>
              <a:headEnd/>
              <a:tailEnd type="arrow" w="med" len="med"/>
            </a:ln>
            <a:extLst>
              <a:ext uri="{909E8E84-426E-40DD-AFC4-6F175D3DCCD1}">
                <a14:hiddenFill xmlns:a14="http://schemas.microsoft.com/office/drawing/2010/main">
                  <a:noFill/>
                </a14:hiddenFill>
              </a:ext>
            </a:extLst>
          </p:spPr>
        </p:cxnSp>
        <p:graphicFrame>
          <p:nvGraphicFramePr>
            <p:cNvPr id="23576" name="对象 99"/>
            <p:cNvGraphicFramePr>
              <a:graphicFrameLocks noChangeAspect="1"/>
            </p:cNvGraphicFramePr>
            <p:nvPr/>
          </p:nvGraphicFramePr>
          <p:xfrm>
            <a:off x="5879004" y="1426966"/>
            <a:ext cx="277456" cy="326419"/>
          </p:xfrm>
          <a:graphic>
            <a:graphicData uri="http://schemas.openxmlformats.org/presentationml/2006/ole">
              <mc:AlternateContent xmlns:mc="http://schemas.openxmlformats.org/markup-compatibility/2006">
                <mc:Choice xmlns:v="urn:schemas-microsoft-com:vml" Requires="v">
                  <p:oleObj spid="_x0000_s23611" name="公式" r:id="rId7" imgW="215713" imgH="253780" progId="Equation.3">
                    <p:embed/>
                  </p:oleObj>
                </mc:Choice>
                <mc:Fallback>
                  <p:oleObj name="公式" r:id="rId7" imgW="215713" imgH="253780" progId="Equation.3">
                    <p:embed/>
                    <p:pic>
                      <p:nvPicPr>
                        <p:cNvPr id="0" name="对象 9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79004" y="1426966"/>
                          <a:ext cx="277456" cy="326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7" name="组合 100"/>
          <p:cNvGrpSpPr>
            <a:grpSpLocks/>
          </p:cNvGrpSpPr>
          <p:nvPr/>
        </p:nvGrpSpPr>
        <p:grpSpPr bwMode="auto">
          <a:xfrm>
            <a:off x="6022975" y="1473200"/>
            <a:ext cx="754063" cy="539750"/>
            <a:chOff x="3154362" y="4411010"/>
            <a:chExt cx="753195" cy="719137"/>
          </a:xfrm>
        </p:grpSpPr>
        <p:cxnSp>
          <p:nvCxnSpPr>
            <p:cNvPr id="23572" name="直接箭头连接符 109"/>
            <p:cNvCxnSpPr>
              <a:cxnSpLocks noChangeShapeType="1"/>
            </p:cNvCxnSpPr>
            <p:nvPr/>
          </p:nvCxnSpPr>
          <p:spPr bwMode="auto">
            <a:xfrm flipH="1">
              <a:off x="3321769" y="5130147"/>
              <a:ext cx="585788" cy="0"/>
            </a:xfrm>
            <a:prstGeom prst="straightConnector1">
              <a:avLst/>
            </a:prstGeom>
            <a:noFill/>
            <a:ln w="19050" algn="ctr">
              <a:solidFill>
                <a:srgbClr val="FF00FF"/>
              </a:solidFill>
              <a:prstDash val="dash"/>
              <a:round/>
              <a:headEnd/>
              <a:tailEnd type="arrow" w="med" len="med"/>
            </a:ln>
            <a:extLst>
              <a:ext uri="{909E8E84-426E-40DD-AFC4-6F175D3DCCD1}">
                <a14:hiddenFill xmlns:a14="http://schemas.microsoft.com/office/drawing/2010/main">
                  <a:noFill/>
                </a14:hiddenFill>
              </a:ext>
            </a:extLst>
          </p:spPr>
        </p:cxnSp>
        <p:cxnSp>
          <p:nvCxnSpPr>
            <p:cNvPr id="23573" name="直接箭头连接符 110"/>
            <p:cNvCxnSpPr>
              <a:cxnSpLocks noChangeShapeType="1"/>
            </p:cNvCxnSpPr>
            <p:nvPr/>
          </p:nvCxnSpPr>
          <p:spPr bwMode="auto">
            <a:xfrm flipH="1">
              <a:off x="3321769" y="4411010"/>
              <a:ext cx="585788" cy="0"/>
            </a:xfrm>
            <a:prstGeom prst="straightConnector1">
              <a:avLst/>
            </a:prstGeom>
            <a:noFill/>
            <a:ln w="19050" algn="ctr">
              <a:solidFill>
                <a:srgbClr val="FF00FF"/>
              </a:solidFill>
              <a:prstDash val="dash"/>
              <a:round/>
              <a:headEnd/>
              <a:tailEnd type="arrow" w="med" len="med"/>
            </a:ln>
            <a:extLst>
              <a:ext uri="{909E8E84-426E-40DD-AFC4-6F175D3DCCD1}">
                <a14:hiddenFill xmlns:a14="http://schemas.microsoft.com/office/drawing/2010/main">
                  <a:noFill/>
                </a14:hiddenFill>
              </a:ext>
            </a:extLst>
          </p:spPr>
        </p:cxnSp>
        <p:graphicFrame>
          <p:nvGraphicFramePr>
            <p:cNvPr id="23574" name="对象 103"/>
            <p:cNvGraphicFramePr>
              <a:graphicFrameLocks noChangeAspect="1"/>
            </p:cNvGraphicFramePr>
            <p:nvPr/>
          </p:nvGraphicFramePr>
          <p:xfrm>
            <a:off x="3154362" y="4641849"/>
            <a:ext cx="425421" cy="297795"/>
          </p:xfrm>
          <a:graphic>
            <a:graphicData uri="http://schemas.openxmlformats.org/presentationml/2006/ole">
              <mc:AlternateContent xmlns:mc="http://schemas.openxmlformats.org/markup-compatibility/2006">
                <mc:Choice xmlns:v="urn:schemas-microsoft-com:vml" Requires="v">
                  <p:oleObj spid="_x0000_s23612" name="公式" r:id="rId9" imgW="253670" imgH="177569" progId="Equation.3">
                    <p:embed/>
                  </p:oleObj>
                </mc:Choice>
                <mc:Fallback>
                  <p:oleObj name="公式" r:id="rId9" imgW="253670" imgH="177569" progId="Equation.3">
                    <p:embed/>
                    <p:pic>
                      <p:nvPicPr>
                        <p:cNvPr id="0" name="对象 10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4362" y="4641849"/>
                          <a:ext cx="425421" cy="297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 name="组合 104"/>
          <p:cNvGrpSpPr>
            <a:grpSpLocks/>
          </p:cNvGrpSpPr>
          <p:nvPr/>
        </p:nvGrpSpPr>
        <p:grpSpPr bwMode="auto">
          <a:xfrm>
            <a:off x="6967538" y="1319213"/>
            <a:ext cx="303212" cy="371475"/>
            <a:chOff x="4051104" y="4695824"/>
            <a:chExt cx="302944" cy="494926"/>
          </a:xfrm>
        </p:grpSpPr>
        <p:sp>
          <p:nvSpPr>
            <p:cNvPr id="23570" name="流程图: 汇总连接 113"/>
            <p:cNvSpPr>
              <a:spLocks noChangeArrowheads="1"/>
            </p:cNvSpPr>
            <p:nvPr/>
          </p:nvSpPr>
          <p:spPr bwMode="auto">
            <a:xfrm>
              <a:off x="4051104" y="5010641"/>
              <a:ext cx="179917" cy="180109"/>
            </a:xfrm>
            <a:prstGeom prst="flowChartSummingJunction">
              <a:avLst/>
            </a:prstGeom>
            <a:solidFill>
              <a:srgbClr val="FFFF00"/>
            </a:solidFill>
            <a:ln w="19050" algn="ctr">
              <a:solidFill>
                <a:srgbClr val="0070C0"/>
              </a:solidFill>
              <a:round/>
              <a:headEnd/>
              <a:tailEnd/>
            </a:ln>
          </p:spPr>
          <p:txBody>
            <a:bodyPr/>
            <a:lstStyle/>
            <a:p>
              <a:endParaRPr kumimoji="0" lang="zh-CN" altLang="zh-CN">
                <a:solidFill>
                  <a:srgbClr val="000000"/>
                </a:solidFill>
                <a:ea typeface="宋体" pitchFamily="2" charset="-122"/>
              </a:endParaRPr>
            </a:p>
          </p:txBody>
        </p:sp>
        <p:graphicFrame>
          <p:nvGraphicFramePr>
            <p:cNvPr id="23571" name="对象 106"/>
            <p:cNvGraphicFramePr>
              <a:graphicFrameLocks noChangeAspect="1"/>
            </p:cNvGraphicFramePr>
            <p:nvPr/>
          </p:nvGraphicFramePr>
          <p:xfrm>
            <a:off x="4132966" y="4695824"/>
            <a:ext cx="221082" cy="272101"/>
          </p:xfrm>
          <a:graphic>
            <a:graphicData uri="http://schemas.openxmlformats.org/presentationml/2006/ole">
              <mc:AlternateContent xmlns:mc="http://schemas.openxmlformats.org/markup-compatibility/2006">
                <mc:Choice xmlns:v="urn:schemas-microsoft-com:vml" Requires="v">
                  <p:oleObj spid="_x0000_s23613" name="公式" r:id="rId11" imgW="164957" imgH="203024" progId="Equation.3">
                    <p:embed/>
                  </p:oleObj>
                </mc:Choice>
                <mc:Fallback>
                  <p:oleObj name="公式" r:id="rId11" imgW="164957" imgH="203024" progId="Equation.3">
                    <p:embed/>
                    <p:pic>
                      <p:nvPicPr>
                        <p:cNvPr id="0" name="对象 10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32966" y="4695824"/>
                          <a:ext cx="221082" cy="27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9" name="组合 107"/>
          <p:cNvGrpSpPr>
            <a:grpSpLocks/>
          </p:cNvGrpSpPr>
          <p:nvPr/>
        </p:nvGrpSpPr>
        <p:grpSpPr bwMode="auto">
          <a:xfrm>
            <a:off x="6505575" y="1562100"/>
            <a:ext cx="339725" cy="301625"/>
            <a:chOff x="3570697" y="2737096"/>
            <a:chExt cx="339822" cy="402030"/>
          </a:xfrm>
        </p:grpSpPr>
        <p:cxnSp>
          <p:nvCxnSpPr>
            <p:cNvPr id="23568" name="直接箭头连接符 117"/>
            <p:cNvCxnSpPr>
              <a:cxnSpLocks noChangeShapeType="1"/>
            </p:cNvCxnSpPr>
            <p:nvPr/>
          </p:nvCxnSpPr>
          <p:spPr bwMode="auto">
            <a:xfrm>
              <a:off x="3910519" y="2737096"/>
              <a:ext cx="0" cy="270559"/>
            </a:xfrm>
            <a:prstGeom prst="straightConnector1">
              <a:avLst/>
            </a:prstGeom>
            <a:noFill/>
            <a:ln w="28575" algn="ctr">
              <a:solidFill>
                <a:srgbClr val="C00000"/>
              </a:solidFill>
              <a:round/>
              <a:headEnd/>
              <a:tailEnd type="arrow" w="med" len="med"/>
            </a:ln>
            <a:extLst>
              <a:ext uri="{909E8E84-426E-40DD-AFC4-6F175D3DCCD1}">
                <a14:hiddenFill xmlns:a14="http://schemas.microsoft.com/office/drawing/2010/main">
                  <a:noFill/>
                </a14:hiddenFill>
              </a:ext>
            </a:extLst>
          </p:spPr>
        </p:cxnSp>
        <p:graphicFrame>
          <p:nvGraphicFramePr>
            <p:cNvPr id="23569" name="对象 109"/>
            <p:cNvGraphicFramePr>
              <a:graphicFrameLocks noChangeAspect="1"/>
            </p:cNvGraphicFramePr>
            <p:nvPr/>
          </p:nvGraphicFramePr>
          <p:xfrm>
            <a:off x="3570697" y="2819007"/>
            <a:ext cx="286422" cy="320119"/>
          </p:xfrm>
          <a:graphic>
            <a:graphicData uri="http://schemas.openxmlformats.org/presentationml/2006/ole">
              <mc:AlternateContent xmlns:mc="http://schemas.openxmlformats.org/markup-compatibility/2006">
                <mc:Choice xmlns:v="urn:schemas-microsoft-com:vml" Requires="v">
                  <p:oleObj spid="_x0000_s23614" name="公式" r:id="rId13" imgW="215713" imgH="241091" progId="Equation.3">
                    <p:embed/>
                  </p:oleObj>
                </mc:Choice>
                <mc:Fallback>
                  <p:oleObj name="公式" r:id="rId13" imgW="215713" imgH="241091" progId="Equation.3">
                    <p:embed/>
                    <p:pic>
                      <p:nvPicPr>
                        <p:cNvPr id="0" name="对象 10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0697" y="2819007"/>
                          <a:ext cx="286422" cy="320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12" name="对象 111"/>
          <p:cNvGraphicFramePr>
            <a:graphicFrameLocks noChangeAspect="1"/>
          </p:cNvGraphicFramePr>
          <p:nvPr/>
        </p:nvGraphicFramePr>
        <p:xfrm>
          <a:off x="1927225" y="1738313"/>
          <a:ext cx="1631950" cy="363537"/>
        </p:xfrm>
        <a:graphic>
          <a:graphicData uri="http://schemas.openxmlformats.org/presentationml/2006/ole">
            <mc:AlternateContent xmlns:mc="http://schemas.openxmlformats.org/markup-compatibility/2006">
              <mc:Choice xmlns:v="urn:schemas-microsoft-com:vml" Requires="v">
                <p:oleObj spid="_x0000_s23615" name="公式" r:id="rId15" imgW="850531" imgH="253890" progId="Equation.3">
                  <p:embed/>
                </p:oleObj>
              </mc:Choice>
              <mc:Fallback>
                <p:oleObj name="公式" r:id="rId15" imgW="850531" imgH="253890" progId="Equation.3">
                  <p:embed/>
                  <p:pic>
                    <p:nvPicPr>
                      <p:cNvPr id="0" name="对象 1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7225" y="1738313"/>
                        <a:ext cx="163195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3" name="对象 112"/>
          <p:cNvGraphicFramePr>
            <a:graphicFrameLocks noChangeAspect="1"/>
          </p:cNvGraphicFramePr>
          <p:nvPr/>
        </p:nvGraphicFramePr>
        <p:xfrm>
          <a:off x="1817688" y="2114550"/>
          <a:ext cx="2290762" cy="328613"/>
        </p:xfrm>
        <a:graphic>
          <a:graphicData uri="http://schemas.openxmlformats.org/presentationml/2006/ole">
            <mc:AlternateContent xmlns:mc="http://schemas.openxmlformats.org/markup-compatibility/2006">
              <mc:Choice xmlns:v="urn:schemas-microsoft-com:vml" Requires="v">
                <p:oleObj spid="_x0000_s23616" name="公式" r:id="rId17" imgW="1193800" imgH="228600" progId="Equation.3">
                  <p:embed/>
                </p:oleObj>
              </mc:Choice>
              <mc:Fallback>
                <p:oleObj name="公式" r:id="rId17" imgW="1193800" imgH="228600" progId="Equation.3">
                  <p:embed/>
                  <p:pic>
                    <p:nvPicPr>
                      <p:cNvPr id="0" name="对象 1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17688" y="2114550"/>
                        <a:ext cx="22907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 name="对象 113"/>
          <p:cNvGraphicFramePr>
            <a:graphicFrameLocks noChangeAspect="1"/>
          </p:cNvGraphicFramePr>
          <p:nvPr/>
        </p:nvGraphicFramePr>
        <p:xfrm>
          <a:off x="2393950" y="2546350"/>
          <a:ext cx="925513" cy="292100"/>
        </p:xfrm>
        <a:graphic>
          <a:graphicData uri="http://schemas.openxmlformats.org/presentationml/2006/ole">
            <mc:AlternateContent xmlns:mc="http://schemas.openxmlformats.org/markup-compatibility/2006">
              <mc:Choice xmlns:v="urn:schemas-microsoft-com:vml" Requires="v">
                <p:oleObj spid="_x0000_s23617" name="公式" r:id="rId19" imgW="482391" imgH="203112" progId="Equation.3">
                  <p:embed/>
                </p:oleObj>
              </mc:Choice>
              <mc:Fallback>
                <p:oleObj name="公式" r:id="rId19" imgW="482391" imgH="203112" progId="Equation.3">
                  <p:embed/>
                  <p:pic>
                    <p:nvPicPr>
                      <p:cNvPr id="0" name="对象 1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393950" y="2546350"/>
                        <a:ext cx="9255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 name="Text Box 6"/>
          <p:cNvSpPr txBox="1">
            <a:spLocks noChangeArrowheads="1"/>
          </p:cNvSpPr>
          <p:nvPr/>
        </p:nvSpPr>
        <p:spPr bwMode="auto">
          <a:xfrm>
            <a:off x="971550" y="3144838"/>
            <a:ext cx="7094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solidFill>
                  <a:srgbClr val="0000FF"/>
                </a:solidFill>
                <a:latin typeface="华文中宋" pitchFamily="2" charset="-122"/>
                <a:ea typeface="华文中宋" pitchFamily="2" charset="-122"/>
              </a:rPr>
              <a:t>麦克斯韦方程组对伽里略变换不是不变的。</a:t>
            </a:r>
            <a:endParaRPr lang="zh-CN" altLang="en-US" sz="1800">
              <a:solidFill>
                <a:srgbClr val="0000FF"/>
              </a:solidFill>
              <a:latin typeface="华文中宋" pitchFamily="2" charset="-122"/>
              <a:ea typeface="华文中宋" pitchFamily="2" charset="-122"/>
            </a:endParaRPr>
          </a:p>
        </p:txBody>
      </p:sp>
      <p:sp>
        <p:nvSpPr>
          <p:cNvPr id="2" name="Rectangle 5"/>
          <p:cNvSpPr>
            <a:spLocks noChangeArrowheads="1"/>
          </p:cNvSpPr>
          <p:nvPr/>
        </p:nvSpPr>
        <p:spPr bwMode="auto">
          <a:xfrm>
            <a:off x="989013" y="3592513"/>
            <a:ext cx="73993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latin typeface="华文中宋" pitchFamily="2" charset="-122"/>
                <a:ea typeface="华文中宋" pitchFamily="2" charset="-122"/>
              </a:rPr>
              <a:t>但是实验证明麦克斯韦电磁场方程组是正确的。</a:t>
            </a:r>
            <a:endParaRPr lang="zh-CN" altLang="en-US" sz="2400">
              <a:latin typeface="华文中宋" pitchFamily="2" charset="-122"/>
              <a:ea typeface="华文中宋" pitchFamily="2" charset="-122"/>
            </a:endParaRPr>
          </a:p>
          <a:p>
            <a:r>
              <a:rPr lang="zh-CN" altLang="en-US" sz="1800">
                <a:solidFill>
                  <a:srgbClr val="FF0000"/>
                </a:solidFill>
                <a:latin typeface="华文中宋" pitchFamily="2" charset="-122"/>
                <a:ea typeface="华文中宋" pitchFamily="2" charset="-122"/>
              </a:rPr>
              <a:t>如何解释上述的矛盾呢？到底是麦克斯韦电磁场方程的问题？还是伽利略变换的问题？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wipe(left)">
                                      <p:cBhvr>
                                        <p:cTn id="12" dur="500"/>
                                        <p:tgtEl>
                                          <p:spTgt spid="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p:tgtEl>
                                          <p:spTgt spid="5"/>
                                        </p:tgtEl>
                                        <p:attrNameLst>
                                          <p:attrName>ppt_x</p:attrName>
                                        </p:attrNameLst>
                                      </p:cBhvr>
                                      <p:tavLst>
                                        <p:tav tm="0">
                                          <p:val>
                                            <p:strVal val="#ppt_x-#ppt_w*1.125000"/>
                                          </p:val>
                                        </p:tav>
                                        <p:tav tm="100000">
                                          <p:val>
                                            <p:strVal val="#ppt_x"/>
                                          </p:val>
                                        </p:tav>
                                      </p:tavLst>
                                    </p:anim>
                                    <p:animEffect transition="in" filter="wipe(right)">
                                      <p:cBhvr>
                                        <p:cTn id="30" dur="500"/>
                                        <p:tgtEl>
                                          <p:spTgt spid="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down)">
                                      <p:cBhvr>
                                        <p:cTn id="35" dur="500"/>
                                        <p:tgtEl>
                                          <p:spTgt spid="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right)">
                                      <p:cBhvr>
                                        <p:cTn id="40" dur="500"/>
                                        <p:tgtEl>
                                          <p:spTgt spid="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1" presetClass="entr" presetSubtype="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1000" fill="hold"/>
                                        <p:tgtEl>
                                          <p:spTgt spid="8"/>
                                        </p:tgtEl>
                                        <p:attrNameLst>
                                          <p:attrName>ppt_w</p:attrName>
                                        </p:attrNameLst>
                                      </p:cBhvr>
                                      <p:tavLst>
                                        <p:tav tm="0">
                                          <p:val>
                                            <p:fltVal val="0"/>
                                          </p:val>
                                        </p:tav>
                                        <p:tav tm="100000">
                                          <p:val>
                                            <p:strVal val="#ppt_w"/>
                                          </p:val>
                                        </p:tav>
                                      </p:tavLst>
                                    </p:anim>
                                    <p:anim calcmode="lin" valueType="num">
                                      <p:cBhvr>
                                        <p:cTn id="46" dur="1000" fill="hold"/>
                                        <p:tgtEl>
                                          <p:spTgt spid="8"/>
                                        </p:tgtEl>
                                        <p:attrNameLst>
                                          <p:attrName>ppt_h</p:attrName>
                                        </p:attrNameLst>
                                      </p:cBhvr>
                                      <p:tavLst>
                                        <p:tav tm="0">
                                          <p:val>
                                            <p:fltVal val="0"/>
                                          </p:val>
                                        </p:tav>
                                        <p:tav tm="100000">
                                          <p:val>
                                            <p:strVal val="#ppt_h"/>
                                          </p:val>
                                        </p:tav>
                                      </p:tavLst>
                                    </p:anim>
                                    <p:anim calcmode="lin" valueType="num">
                                      <p:cBhvr>
                                        <p:cTn id="47" dur="1000" fill="hold"/>
                                        <p:tgtEl>
                                          <p:spTgt spid="8"/>
                                        </p:tgtEl>
                                        <p:attrNameLst>
                                          <p:attrName>style.rotation</p:attrName>
                                        </p:attrNameLst>
                                      </p:cBhvr>
                                      <p:tavLst>
                                        <p:tav tm="0">
                                          <p:val>
                                            <p:fltVal val="90"/>
                                          </p:val>
                                        </p:tav>
                                        <p:tav tm="100000">
                                          <p:val>
                                            <p:fltVal val="0"/>
                                          </p:val>
                                        </p:tav>
                                      </p:tavLst>
                                    </p:anim>
                                    <p:animEffect transition="in" filter="fade">
                                      <p:cBhvr>
                                        <p:cTn id="48" dur="1000"/>
                                        <p:tgtEl>
                                          <p:spTgt spid="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up)">
                                      <p:cBhvr>
                                        <p:cTn id="53" dur="500"/>
                                        <p:tgtEl>
                                          <p:spTgt spid="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12"/>
                                        </p:tgtEl>
                                        <p:attrNameLst>
                                          <p:attrName>style.visibility</p:attrName>
                                        </p:attrNameLst>
                                      </p:cBhvr>
                                      <p:to>
                                        <p:strVal val="visible"/>
                                      </p:to>
                                    </p:set>
                                    <p:animEffect transition="in" filter="wipe(left)">
                                      <p:cBhvr>
                                        <p:cTn id="58" dur="500"/>
                                        <p:tgtEl>
                                          <p:spTgt spid="11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113"/>
                                        </p:tgtEl>
                                        <p:attrNameLst>
                                          <p:attrName>style.visibility</p:attrName>
                                        </p:attrNameLst>
                                      </p:cBhvr>
                                      <p:to>
                                        <p:strVal val="visible"/>
                                      </p:to>
                                    </p:set>
                                    <p:animEffect transition="in" filter="wipe(left)">
                                      <p:cBhvr>
                                        <p:cTn id="63" dur="500"/>
                                        <p:tgtEl>
                                          <p:spTgt spid="11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14"/>
                                        </p:tgtEl>
                                        <p:attrNameLst>
                                          <p:attrName>style.visibility</p:attrName>
                                        </p:attrNameLst>
                                      </p:cBhvr>
                                      <p:to>
                                        <p:strVal val="visible"/>
                                      </p:to>
                                    </p:set>
                                    <p:animEffect transition="in" filter="wipe(left)">
                                      <p:cBhvr>
                                        <p:cTn id="68" dur="500"/>
                                        <p:tgtEl>
                                          <p:spTgt spid="114"/>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15">
                                            <p:txEl>
                                              <p:pRg st="0" end="0"/>
                                            </p:txEl>
                                          </p:spTgt>
                                        </p:tgtEl>
                                        <p:attrNameLst>
                                          <p:attrName>style.visibility</p:attrName>
                                        </p:attrNameLst>
                                      </p:cBhvr>
                                      <p:to>
                                        <p:strVal val="visible"/>
                                      </p:to>
                                    </p:set>
                                    <p:animEffect transition="in" filter="wipe(left)">
                                      <p:cBhvr>
                                        <p:cTn id="73" dur="500"/>
                                        <p:tgtEl>
                                          <p:spTgt spid="115">
                                            <p:txEl>
                                              <p:pRg st="0" end="0"/>
                                            </p:txEl>
                                          </p:spTgt>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
                                        </p:tgtEl>
                                        <p:attrNameLst>
                                          <p:attrName>style.visibility</p:attrName>
                                        </p:attrNameLst>
                                      </p:cBhvr>
                                      <p:to>
                                        <p:strVal val="visible"/>
                                      </p:to>
                                    </p:set>
                                    <p:animEffect transition="in" filter="wipe(left)">
                                      <p:cBhvr>
                                        <p:cTn id="7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utoUpdateAnimBg="0"/>
      <p:bldP spid="75" grpId="0" autoUpdateAnimBg="0"/>
      <p:bldP spid="115" grpId="0" build="p" autoUpdateAnimBg="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t="33221" r="20576"/>
          <a:stretch>
            <a:fillRect/>
          </a:stretch>
        </p:blipFill>
        <p:spPr bwMode="auto">
          <a:xfrm>
            <a:off x="684213" y="2247900"/>
            <a:ext cx="2879725" cy="169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9798" name="Picture 6" descr="image005"/>
          <p:cNvPicPr preferRelativeResize="0">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139950"/>
            <a:ext cx="3960813"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800" name="Text Box 8"/>
          <p:cNvSpPr txBox="1">
            <a:spLocks noChangeArrowheads="1"/>
          </p:cNvSpPr>
          <p:nvPr/>
        </p:nvSpPr>
        <p:spPr bwMode="auto">
          <a:xfrm>
            <a:off x="973138" y="4030663"/>
            <a:ext cx="2449512"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eaLnBrk="1" hangingPunct="1">
              <a:lnSpc>
                <a:spcPct val="90000"/>
              </a:lnSpc>
            </a:pPr>
            <a:r>
              <a:rPr lang="zh-CN" altLang="en-US" sz="1500">
                <a:latin typeface="华文中宋" pitchFamily="2" charset="-122"/>
                <a:ea typeface="华文中宋" pitchFamily="2" charset="-122"/>
              </a:rPr>
              <a:t>迈克尔逊干涉仪</a:t>
            </a:r>
          </a:p>
        </p:txBody>
      </p:sp>
      <p:sp>
        <p:nvSpPr>
          <p:cNvPr id="289801" name="Text Box 9"/>
          <p:cNvSpPr txBox="1">
            <a:spLocks noChangeArrowheads="1"/>
          </p:cNvSpPr>
          <p:nvPr/>
        </p:nvSpPr>
        <p:spPr bwMode="auto">
          <a:xfrm>
            <a:off x="5867400" y="4371975"/>
            <a:ext cx="1512888"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eaLnBrk="1" hangingPunct="1">
              <a:lnSpc>
                <a:spcPct val="90000"/>
              </a:lnSpc>
            </a:pPr>
            <a:r>
              <a:rPr lang="zh-CN" altLang="en-US" sz="1500">
                <a:latin typeface="华文中宋" pitchFamily="2" charset="-122"/>
                <a:ea typeface="华文中宋" pitchFamily="2" charset="-122"/>
              </a:rPr>
              <a:t>光路图</a:t>
            </a:r>
          </a:p>
        </p:txBody>
      </p:sp>
      <p:sp>
        <p:nvSpPr>
          <p:cNvPr id="74" name="Rectangle 5"/>
          <p:cNvSpPr>
            <a:spLocks noChangeArrowheads="1"/>
          </p:cNvSpPr>
          <p:nvPr/>
        </p:nvSpPr>
        <p:spPr bwMode="auto">
          <a:xfrm>
            <a:off x="757238" y="1308100"/>
            <a:ext cx="77755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a:latin typeface="华文中宋" pitchFamily="2" charset="-122"/>
                <a:ea typeface="华文中宋" pitchFamily="2" charset="-122"/>
              </a:rPr>
              <a:t>      </a:t>
            </a:r>
            <a:r>
              <a:rPr lang="zh-CN" altLang="en-US" sz="1600">
                <a:latin typeface="华文中宋" pitchFamily="2" charset="-122"/>
                <a:ea typeface="华文中宋" pitchFamily="2" charset="-122"/>
              </a:rPr>
              <a:t>当时</a:t>
            </a:r>
            <a:r>
              <a:rPr kumimoji="0" lang="zh-CN" altLang="en-US" sz="1600">
                <a:latin typeface="华文中宋" pitchFamily="2" charset="-122"/>
                <a:ea typeface="华文中宋" pitchFamily="2" charset="-122"/>
              </a:rPr>
              <a:t>人们认为麦克斯韦方程只有在绝对静止的惯性坐标系中成立。</a:t>
            </a:r>
            <a:r>
              <a:rPr lang="zh-CN" altLang="en-US" sz="1600">
                <a:latin typeface="华文中宋" pitchFamily="2" charset="-122"/>
                <a:ea typeface="华文中宋" pitchFamily="2" charset="-122"/>
              </a:rPr>
              <a:t>“以太”</a:t>
            </a:r>
            <a:r>
              <a:rPr kumimoji="0" lang="zh-CN" altLang="en-US" sz="1600">
                <a:latin typeface="华文中宋" pitchFamily="2" charset="-122"/>
                <a:ea typeface="华文中宋" pitchFamily="2" charset="-122"/>
              </a:rPr>
              <a:t>绝对静止。</a:t>
            </a:r>
            <a:r>
              <a:rPr lang="zh-CN" altLang="en-US" sz="1600">
                <a:latin typeface="华文中宋" pitchFamily="2" charset="-122"/>
                <a:ea typeface="华文中宋" pitchFamily="2" charset="-122"/>
              </a:rPr>
              <a:t>电磁波</a:t>
            </a:r>
            <a:r>
              <a:rPr kumimoji="0" lang="zh-CN" altLang="en-US" sz="1600">
                <a:latin typeface="华文中宋" pitchFamily="2" charset="-122"/>
                <a:ea typeface="华文中宋" pitchFamily="2" charset="-122"/>
              </a:rPr>
              <a:t>在</a:t>
            </a:r>
            <a:r>
              <a:rPr lang="zh-CN" altLang="en-US" sz="1600">
                <a:latin typeface="华文中宋" pitchFamily="2" charset="-122"/>
                <a:ea typeface="华文中宋" pitchFamily="2" charset="-122"/>
              </a:rPr>
              <a:t> </a:t>
            </a:r>
            <a:r>
              <a:rPr kumimoji="0" lang="zh-CN" altLang="en-US" sz="1600">
                <a:latin typeface="华文中宋" pitchFamily="2" charset="-122"/>
                <a:ea typeface="华文中宋" pitchFamily="2" charset="-122"/>
              </a:rPr>
              <a:t>“绝对静止”的惯性系中</a:t>
            </a:r>
            <a:r>
              <a:rPr lang="zh-CN" altLang="en-US" sz="1600">
                <a:latin typeface="华文中宋" pitchFamily="2" charset="-122"/>
                <a:ea typeface="华文中宋" pitchFamily="2" charset="-122"/>
              </a:rPr>
              <a:t>沿各方向传播的速度都等于恒量</a:t>
            </a:r>
            <a:r>
              <a:rPr lang="en-US" altLang="zh-CN" sz="1600" i="1">
                <a:latin typeface="华文中宋" pitchFamily="2" charset="-122"/>
                <a:ea typeface="华文中宋" pitchFamily="2" charset="-122"/>
              </a:rPr>
              <a:t>c</a:t>
            </a:r>
            <a:r>
              <a:rPr lang="zh-CN" altLang="en-US" sz="1600" i="1">
                <a:latin typeface="华文中宋" pitchFamily="2" charset="-122"/>
                <a:ea typeface="华文中宋" pitchFamily="2" charset="-122"/>
              </a:rPr>
              <a:t>。</a:t>
            </a:r>
            <a:r>
              <a:rPr lang="zh-CN" altLang="en-US" sz="1600">
                <a:latin typeface="华文中宋" pitchFamily="2" charset="-122"/>
                <a:ea typeface="华文中宋" pitchFamily="2" charset="-122"/>
              </a:rPr>
              <a:t>想找到麦克斯韦电磁场方程组对 “绝对静止”参考系的形式。那么，就要找到“以太”。</a:t>
            </a:r>
          </a:p>
        </p:txBody>
      </p:sp>
      <p:sp>
        <p:nvSpPr>
          <p:cNvPr id="24583" name="Text Box 2"/>
          <p:cNvSpPr>
            <a:spLocks noChangeArrowheads="1"/>
          </p:cNvSpPr>
          <p:nvPr/>
        </p:nvSpPr>
        <p:spPr bwMode="auto">
          <a:xfrm>
            <a:off x="839788" y="874713"/>
            <a:ext cx="4164012" cy="401637"/>
          </a:xfrm>
          <a:prstGeom prst="homePlate">
            <a:avLst>
              <a:gd name="adj" fmla="val 49822"/>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三、迈克耳逊</a:t>
            </a:r>
            <a:r>
              <a:rPr lang="en-US" altLang="zh-CN" sz="2000">
                <a:solidFill>
                  <a:schemeClr val="bg1"/>
                </a:solidFill>
                <a:latin typeface="华文中宋" pitchFamily="2" charset="-122"/>
                <a:ea typeface="华文中宋" pitchFamily="2" charset="-122"/>
              </a:rPr>
              <a:t>--</a:t>
            </a:r>
            <a:r>
              <a:rPr lang="zh-CN" altLang="en-US" sz="2000">
                <a:solidFill>
                  <a:schemeClr val="bg1"/>
                </a:solidFill>
                <a:latin typeface="华文中宋" pitchFamily="2" charset="-122"/>
                <a:ea typeface="华文中宋" pitchFamily="2" charset="-122"/>
              </a:rPr>
              <a:t>莫雷实验的零结果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89800"/>
                                        </p:tgtEl>
                                        <p:attrNameLst>
                                          <p:attrName>style.visibility</p:attrName>
                                        </p:attrNameLst>
                                      </p:cBhvr>
                                      <p:to>
                                        <p:strVal val="visible"/>
                                      </p:to>
                                    </p:set>
                                    <p:anim calcmode="lin" valueType="num">
                                      <p:cBhvr>
                                        <p:cTn id="19" dur="500" fill="hold"/>
                                        <p:tgtEl>
                                          <p:spTgt spid="289800"/>
                                        </p:tgtEl>
                                        <p:attrNameLst>
                                          <p:attrName>ppt_w</p:attrName>
                                        </p:attrNameLst>
                                      </p:cBhvr>
                                      <p:tavLst>
                                        <p:tav tm="0">
                                          <p:val>
                                            <p:fltVal val="0"/>
                                          </p:val>
                                        </p:tav>
                                        <p:tav tm="100000">
                                          <p:val>
                                            <p:strVal val="#ppt_w"/>
                                          </p:val>
                                        </p:tav>
                                      </p:tavLst>
                                    </p:anim>
                                    <p:anim calcmode="lin" valueType="num">
                                      <p:cBhvr>
                                        <p:cTn id="20" dur="500" fill="hold"/>
                                        <p:tgtEl>
                                          <p:spTgt spid="2898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2" name="chimes.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89798"/>
                                        </p:tgtEl>
                                        <p:attrNameLst>
                                          <p:attrName>style.visibility</p:attrName>
                                        </p:attrNameLst>
                                      </p:cBhvr>
                                      <p:to>
                                        <p:strVal val="visible"/>
                                      </p:to>
                                    </p:set>
                                    <p:animEffect transition="in" filter="blinds(horizontal)">
                                      <p:cBhvr>
                                        <p:cTn id="25" dur="500"/>
                                        <p:tgtEl>
                                          <p:spTgt spid="28979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289801"/>
                                        </p:tgtEl>
                                        <p:attrNameLst>
                                          <p:attrName>style.visibility</p:attrName>
                                        </p:attrNameLst>
                                      </p:cBhvr>
                                      <p:to>
                                        <p:strVal val="visible"/>
                                      </p:to>
                                    </p:set>
                                    <p:anim calcmode="lin" valueType="num">
                                      <p:cBhvr>
                                        <p:cTn id="30" dur="500" fill="hold"/>
                                        <p:tgtEl>
                                          <p:spTgt spid="289801"/>
                                        </p:tgtEl>
                                        <p:attrNameLst>
                                          <p:attrName>ppt_w</p:attrName>
                                        </p:attrNameLst>
                                      </p:cBhvr>
                                      <p:tavLst>
                                        <p:tav tm="0">
                                          <p:val>
                                            <p:fltVal val="0"/>
                                          </p:val>
                                        </p:tav>
                                        <p:tav tm="100000">
                                          <p:val>
                                            <p:strVal val="#ppt_w"/>
                                          </p:val>
                                        </p:tav>
                                      </p:tavLst>
                                    </p:anim>
                                    <p:anim calcmode="lin" valueType="num">
                                      <p:cBhvr>
                                        <p:cTn id="31" dur="500" fill="hold"/>
                                        <p:tgtEl>
                                          <p:spTgt spid="2898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00" grpId="0" autoUpdateAnimBg="0"/>
      <p:bldP spid="289801" grpId="0" autoUpdateAnimBg="0"/>
      <p:bldP spid="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8"/>
          <p:cNvGrpSpPr>
            <a:grpSpLocks/>
          </p:cNvGrpSpPr>
          <p:nvPr/>
        </p:nvGrpSpPr>
        <p:grpSpPr bwMode="auto">
          <a:xfrm>
            <a:off x="5759450" y="1054100"/>
            <a:ext cx="1555750" cy="1143000"/>
            <a:chOff x="6883400" y="1517650"/>
            <a:chExt cx="1556743" cy="1523056"/>
          </a:xfrm>
        </p:grpSpPr>
        <p:pic>
          <p:nvPicPr>
            <p:cNvPr id="25659" name="Picture 2" descr="http://hiphotos.baidu.com/392487163/pic/item/dd5010128ec8b115dc5401d2.jpg"/>
            <p:cNvPicPr>
              <a:picLocks noChangeAspect="1" noChangeArrowheads="1"/>
            </p:cNvPicPr>
            <p:nvPr/>
          </p:nvPicPr>
          <p:blipFill>
            <a:blip r:embed="rId3" cstate="print">
              <a:extLst>
                <a:ext uri="{28A0092B-C50C-407E-A947-70E740481C1C}">
                  <a14:useLocalDpi xmlns:a14="http://schemas.microsoft.com/office/drawing/2010/main" val="0"/>
                </a:ext>
              </a:extLst>
            </a:blip>
            <a:srcRect l="12878" t="13972" r="13200" b="11205"/>
            <a:stretch>
              <a:fillRect/>
            </a:stretch>
          </p:blipFill>
          <p:spPr bwMode="auto">
            <a:xfrm>
              <a:off x="6883400" y="1928813"/>
              <a:ext cx="889000" cy="899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60" name="Line 307"/>
            <p:cNvSpPr>
              <a:spLocks noChangeShapeType="1"/>
            </p:cNvSpPr>
            <p:nvPr/>
          </p:nvSpPr>
          <p:spPr bwMode="auto">
            <a:xfrm>
              <a:off x="7327900" y="2417763"/>
              <a:ext cx="88284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61" name="Line 308"/>
            <p:cNvSpPr>
              <a:spLocks noChangeShapeType="1"/>
            </p:cNvSpPr>
            <p:nvPr/>
          </p:nvSpPr>
          <p:spPr bwMode="auto">
            <a:xfrm flipV="1">
              <a:off x="7327900" y="1652588"/>
              <a:ext cx="0" cy="7651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62" name="Text Box 309"/>
            <p:cNvSpPr txBox="1">
              <a:spLocks noChangeArrowheads="1"/>
            </p:cNvSpPr>
            <p:nvPr/>
          </p:nvSpPr>
          <p:spPr bwMode="auto">
            <a:xfrm>
              <a:off x="8096662" y="2183847"/>
              <a:ext cx="343481" cy="49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FF"/>
                  </a:solidFill>
                  <a:ea typeface="宋体" pitchFamily="2" charset="-122"/>
                </a:rPr>
                <a:t>x</a:t>
              </a:r>
              <a:r>
                <a:rPr kumimoji="0" lang="en-US" altLang="zh-CN" sz="1800" baseline="30000">
                  <a:solidFill>
                    <a:srgbClr val="0000FF"/>
                  </a:solidFill>
                  <a:ea typeface="宋体" pitchFamily="2" charset="-122"/>
                </a:rPr>
                <a:t>/</a:t>
              </a:r>
              <a:endParaRPr kumimoji="0" lang="en-US" altLang="zh-CN" sz="1800">
                <a:solidFill>
                  <a:srgbClr val="0000FF"/>
                </a:solidFill>
                <a:ea typeface="宋体" pitchFamily="2" charset="-122"/>
              </a:endParaRPr>
            </a:p>
          </p:txBody>
        </p:sp>
        <p:sp>
          <p:nvSpPr>
            <p:cNvPr id="25663" name="Line 310"/>
            <p:cNvSpPr>
              <a:spLocks noChangeShapeType="1"/>
            </p:cNvSpPr>
            <p:nvPr/>
          </p:nvSpPr>
          <p:spPr bwMode="auto">
            <a:xfrm flipH="1">
              <a:off x="7146925" y="2417763"/>
              <a:ext cx="180975" cy="36036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64" name="Text Box 311"/>
            <p:cNvSpPr txBox="1">
              <a:spLocks noChangeArrowheads="1"/>
            </p:cNvSpPr>
            <p:nvPr/>
          </p:nvSpPr>
          <p:spPr bwMode="auto">
            <a:xfrm>
              <a:off x="7328051" y="1517650"/>
              <a:ext cx="330652" cy="49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FF"/>
                  </a:solidFill>
                  <a:ea typeface="宋体" pitchFamily="2" charset="-122"/>
                </a:rPr>
                <a:t>y</a:t>
              </a:r>
              <a:r>
                <a:rPr kumimoji="0" lang="en-US" altLang="zh-CN" sz="1800" baseline="30000">
                  <a:solidFill>
                    <a:srgbClr val="0000FF"/>
                  </a:solidFill>
                  <a:ea typeface="宋体" pitchFamily="2" charset="-122"/>
                </a:rPr>
                <a:t>/</a:t>
              </a:r>
              <a:endParaRPr kumimoji="0" lang="en-US" altLang="zh-CN" sz="1800">
                <a:solidFill>
                  <a:srgbClr val="0000FF"/>
                </a:solidFill>
                <a:ea typeface="宋体" pitchFamily="2" charset="-122"/>
              </a:endParaRPr>
            </a:p>
          </p:txBody>
        </p:sp>
        <p:sp>
          <p:nvSpPr>
            <p:cNvPr id="25665" name="Text Box 312"/>
            <p:cNvSpPr txBox="1">
              <a:spLocks noChangeArrowheads="1"/>
            </p:cNvSpPr>
            <p:nvPr/>
          </p:nvSpPr>
          <p:spPr bwMode="auto">
            <a:xfrm>
              <a:off x="7158131" y="2548671"/>
              <a:ext cx="317824" cy="49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FF"/>
                  </a:solidFill>
                  <a:ea typeface="宋体" pitchFamily="2" charset="-122"/>
                </a:rPr>
                <a:t>z</a:t>
              </a:r>
              <a:r>
                <a:rPr kumimoji="0" lang="en-US" altLang="zh-CN" sz="1800" baseline="30000">
                  <a:solidFill>
                    <a:srgbClr val="0000FF"/>
                  </a:solidFill>
                  <a:ea typeface="宋体" pitchFamily="2" charset="-122"/>
                </a:rPr>
                <a:t>/</a:t>
              </a:r>
              <a:endParaRPr kumimoji="0" lang="en-US" altLang="zh-CN" sz="1800">
                <a:solidFill>
                  <a:srgbClr val="0000FF"/>
                </a:solidFill>
                <a:ea typeface="宋体" pitchFamily="2" charset="-122"/>
              </a:endParaRPr>
            </a:p>
          </p:txBody>
        </p:sp>
        <p:sp>
          <p:nvSpPr>
            <p:cNvPr id="25666" name="Text Box 313"/>
            <p:cNvSpPr txBox="1">
              <a:spLocks noChangeArrowheads="1"/>
            </p:cNvSpPr>
            <p:nvPr/>
          </p:nvSpPr>
          <p:spPr bwMode="auto">
            <a:xfrm>
              <a:off x="7058084" y="2193365"/>
              <a:ext cx="300184" cy="49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a:solidFill>
                    <a:srgbClr val="0000FF"/>
                  </a:solidFill>
                  <a:ea typeface="宋体" pitchFamily="2" charset="-122"/>
                </a:rPr>
                <a:t>0</a:t>
              </a:r>
            </a:p>
          </p:txBody>
        </p:sp>
        <p:sp>
          <p:nvSpPr>
            <p:cNvPr id="25667" name="Line 314"/>
            <p:cNvSpPr>
              <a:spLocks noChangeShapeType="1"/>
            </p:cNvSpPr>
            <p:nvPr/>
          </p:nvSpPr>
          <p:spPr bwMode="auto">
            <a:xfrm>
              <a:off x="7334642" y="2417763"/>
              <a:ext cx="539750" cy="0"/>
            </a:xfrm>
            <a:prstGeom prst="line">
              <a:avLst/>
            </a:prstGeom>
            <a:noFill/>
            <a:ln w="3810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668" name="对象 17"/>
            <p:cNvGraphicFramePr>
              <a:graphicFrameLocks noChangeAspect="1"/>
            </p:cNvGraphicFramePr>
            <p:nvPr/>
          </p:nvGraphicFramePr>
          <p:xfrm>
            <a:off x="7415034" y="2086335"/>
            <a:ext cx="220679" cy="280864"/>
          </p:xfrm>
          <a:graphic>
            <a:graphicData uri="http://schemas.openxmlformats.org/presentationml/2006/ole">
              <mc:AlternateContent xmlns:mc="http://schemas.openxmlformats.org/markup-compatibility/2006">
                <mc:Choice xmlns:v="urn:schemas-microsoft-com:vml" Requires="v">
                  <p:oleObj spid="_x0000_s25675" name="公式" r:id="rId4" imgW="139579" imgH="177646" progId="Equation.3">
                    <p:embed/>
                  </p:oleObj>
                </mc:Choice>
                <mc:Fallback>
                  <p:oleObj name="公式" r:id="rId4" imgW="139579" imgH="177646" progId="Equation.3">
                    <p:embed/>
                    <p:pic>
                      <p:nvPicPr>
                        <p:cNvPr id="0" name="对象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15034" y="2086335"/>
                          <a:ext cx="220679" cy="280864"/>
                        </a:xfrm>
                        <a:prstGeom prst="rect">
                          <a:avLst/>
                        </a:prstGeom>
                        <a:solidFill>
                          <a:srgbClr val="DBEEF4"/>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 name="组合 99"/>
          <p:cNvGrpSpPr>
            <a:grpSpLocks/>
          </p:cNvGrpSpPr>
          <p:nvPr/>
        </p:nvGrpSpPr>
        <p:grpSpPr bwMode="auto">
          <a:xfrm>
            <a:off x="884238" y="1041400"/>
            <a:ext cx="6496050" cy="2233613"/>
            <a:chOff x="788220" y="2138225"/>
            <a:chExt cx="6495099" cy="2977455"/>
          </a:xfrm>
        </p:grpSpPr>
        <p:sp>
          <p:nvSpPr>
            <p:cNvPr id="25640" name="Text Box 434"/>
            <p:cNvSpPr txBox="1">
              <a:spLocks noChangeArrowheads="1"/>
            </p:cNvSpPr>
            <p:nvPr/>
          </p:nvSpPr>
          <p:spPr bwMode="auto">
            <a:xfrm>
              <a:off x="6833269" y="4440039"/>
              <a:ext cx="450050" cy="315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just"/>
              <a:r>
                <a:rPr kumimoji="0" lang="en-US" altLang="zh-CN" sz="1500">
                  <a:solidFill>
                    <a:srgbClr val="3333FF"/>
                  </a:solidFill>
                  <a:ea typeface="宋体" pitchFamily="2" charset="-122"/>
                </a:rPr>
                <a:t>M</a:t>
              </a:r>
              <a:r>
                <a:rPr kumimoji="0" lang="en-US" altLang="zh-CN" sz="1500" baseline="-25000">
                  <a:solidFill>
                    <a:srgbClr val="3333FF"/>
                  </a:solidFill>
                  <a:ea typeface="宋体" pitchFamily="2" charset="-122"/>
                </a:rPr>
                <a:t>1</a:t>
              </a:r>
              <a:endParaRPr kumimoji="0" lang="en-US" altLang="zh-CN" sz="1500">
                <a:solidFill>
                  <a:srgbClr val="3333FF"/>
                </a:solidFill>
                <a:ea typeface="宋体" pitchFamily="2" charset="-122"/>
              </a:endParaRPr>
            </a:p>
          </p:txBody>
        </p:sp>
        <p:sp>
          <p:nvSpPr>
            <p:cNvPr id="25641" name="Text Box 438"/>
            <p:cNvSpPr txBox="1">
              <a:spLocks noChangeArrowheads="1"/>
            </p:cNvSpPr>
            <p:nvPr/>
          </p:nvSpPr>
          <p:spPr bwMode="auto">
            <a:xfrm>
              <a:off x="3716905" y="4131555"/>
              <a:ext cx="541338"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just"/>
              <a:r>
                <a:rPr kumimoji="0" lang="en-US" altLang="zh-CN" sz="1500">
                  <a:solidFill>
                    <a:srgbClr val="3333FF"/>
                  </a:solidFill>
                  <a:ea typeface="宋体" pitchFamily="2" charset="-122"/>
                </a:rPr>
                <a:t>G</a:t>
              </a:r>
              <a:r>
                <a:rPr kumimoji="0" lang="en-US" altLang="zh-CN" sz="1500" baseline="-25000">
                  <a:solidFill>
                    <a:srgbClr val="3333FF"/>
                  </a:solidFill>
                  <a:ea typeface="宋体" pitchFamily="2" charset="-122"/>
                </a:rPr>
                <a:t>1</a:t>
              </a:r>
              <a:endParaRPr kumimoji="0" lang="en-US" altLang="zh-CN" sz="1500">
                <a:solidFill>
                  <a:srgbClr val="3333FF"/>
                </a:solidFill>
                <a:ea typeface="宋体" pitchFamily="2" charset="-122"/>
              </a:endParaRPr>
            </a:p>
          </p:txBody>
        </p:sp>
        <p:sp>
          <p:nvSpPr>
            <p:cNvPr id="25642" name="Text Box 441"/>
            <p:cNvSpPr txBox="1">
              <a:spLocks noChangeArrowheads="1"/>
            </p:cNvSpPr>
            <p:nvPr/>
          </p:nvSpPr>
          <p:spPr bwMode="auto">
            <a:xfrm>
              <a:off x="3727840" y="2138225"/>
              <a:ext cx="45561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just"/>
              <a:r>
                <a:rPr kumimoji="0" lang="en-US" altLang="zh-CN" sz="1500">
                  <a:solidFill>
                    <a:srgbClr val="3333FF"/>
                  </a:solidFill>
                  <a:ea typeface="宋体" pitchFamily="2" charset="-122"/>
                </a:rPr>
                <a:t>M</a:t>
              </a:r>
              <a:r>
                <a:rPr kumimoji="0" lang="en-US" altLang="zh-CN" sz="1500" baseline="-25000">
                  <a:solidFill>
                    <a:srgbClr val="3333FF"/>
                  </a:solidFill>
                  <a:ea typeface="宋体" pitchFamily="2" charset="-122"/>
                </a:rPr>
                <a:t>2</a:t>
              </a:r>
              <a:endParaRPr kumimoji="0" lang="en-US" altLang="zh-CN" sz="1500">
                <a:solidFill>
                  <a:srgbClr val="3333FF"/>
                </a:solidFill>
                <a:ea typeface="宋体" pitchFamily="2" charset="-122"/>
              </a:endParaRPr>
            </a:p>
          </p:txBody>
        </p:sp>
        <p:sp>
          <p:nvSpPr>
            <p:cNvPr id="25643" name="Text Box 445"/>
            <p:cNvSpPr txBox="1">
              <a:spLocks noChangeArrowheads="1"/>
            </p:cNvSpPr>
            <p:nvPr/>
          </p:nvSpPr>
          <p:spPr bwMode="auto">
            <a:xfrm>
              <a:off x="788220" y="4351160"/>
              <a:ext cx="495055" cy="6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just"/>
              <a:r>
                <a:rPr kumimoji="0" lang="zh-CN" altLang="en-US" sz="1500">
                  <a:solidFill>
                    <a:srgbClr val="3333FF"/>
                  </a:solidFill>
                </a:rPr>
                <a:t>光源</a:t>
              </a:r>
            </a:p>
          </p:txBody>
        </p:sp>
        <p:sp>
          <p:nvSpPr>
            <p:cNvPr id="25644" name="十六角星 65"/>
            <p:cNvSpPr>
              <a:spLocks noChangeArrowheads="1"/>
            </p:cNvSpPr>
            <p:nvPr/>
          </p:nvSpPr>
          <p:spPr bwMode="auto">
            <a:xfrm>
              <a:off x="1149939" y="4537965"/>
              <a:ext cx="225025" cy="225025"/>
            </a:xfrm>
            <a:prstGeom prst="star16">
              <a:avLst>
                <a:gd name="adj" fmla="val 16338"/>
              </a:avLst>
            </a:prstGeom>
            <a:solidFill>
              <a:srgbClr val="FF0000"/>
            </a:solidFill>
            <a:ln w="9525" algn="ctr">
              <a:solidFill>
                <a:srgbClr val="FF0000"/>
              </a:solidFill>
              <a:round/>
              <a:headEnd/>
              <a:tailEnd/>
            </a:ln>
          </p:spPr>
          <p:txBody>
            <a:bodyPr/>
            <a:lstStyle/>
            <a:p>
              <a:endParaRPr kumimoji="0" lang="zh-CN" altLang="zh-CN">
                <a:ea typeface="宋体" pitchFamily="2" charset="-122"/>
              </a:endParaRPr>
            </a:p>
          </p:txBody>
        </p:sp>
        <p:grpSp>
          <p:nvGrpSpPr>
            <p:cNvPr id="25645" name="组合 66"/>
            <p:cNvGrpSpPr>
              <a:grpSpLocks/>
            </p:cNvGrpSpPr>
            <p:nvPr/>
          </p:nvGrpSpPr>
          <p:grpSpPr bwMode="auto">
            <a:xfrm>
              <a:off x="3221852" y="4201854"/>
              <a:ext cx="591829" cy="891518"/>
              <a:chOff x="2366756" y="4502452"/>
              <a:chExt cx="637354" cy="891518"/>
            </a:xfrm>
          </p:grpSpPr>
          <p:sp>
            <p:nvSpPr>
              <p:cNvPr id="33" name="矩形 32"/>
              <p:cNvSpPr/>
              <p:nvPr/>
            </p:nvSpPr>
            <p:spPr bwMode="auto">
              <a:xfrm rot="2690043">
                <a:off x="2405282" y="4502452"/>
                <a:ext cx="348855" cy="891518"/>
              </a:xfrm>
              <a:prstGeom prst="rect">
                <a:avLst/>
              </a:prstGeom>
              <a:solidFill>
                <a:srgbClr val="CCFFCC"/>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a:lstStyle/>
              <a:p>
                <a:pPr>
                  <a:defRPr/>
                </a:pPr>
                <a:endParaRPr kumimoji="0" lang="zh-CN" altLang="en-US">
                  <a:solidFill>
                    <a:schemeClr val="tx1"/>
                  </a:solidFill>
                </a:endParaRPr>
              </a:p>
            </p:txBody>
          </p:sp>
          <p:cxnSp>
            <p:nvCxnSpPr>
              <p:cNvPr id="25658" name="直接连接符 68"/>
              <p:cNvCxnSpPr>
                <a:cxnSpLocks noChangeShapeType="1"/>
              </p:cNvCxnSpPr>
              <p:nvPr/>
            </p:nvCxnSpPr>
            <p:spPr bwMode="auto">
              <a:xfrm flipH="1">
                <a:off x="2366756" y="4747164"/>
                <a:ext cx="637354" cy="610384"/>
              </a:xfrm>
              <a:prstGeom prst="line">
                <a:avLst/>
              </a:prstGeom>
              <a:noFill/>
              <a:ln w="38100" algn="ctr">
                <a:solidFill>
                  <a:srgbClr val="47CFFF"/>
                </a:solidFill>
                <a:round/>
                <a:headEnd/>
                <a:tailEnd/>
              </a:ln>
              <a:extLst>
                <a:ext uri="{909E8E84-426E-40DD-AFC4-6F175D3DCCD1}">
                  <a14:hiddenFill xmlns:a14="http://schemas.microsoft.com/office/drawing/2010/main">
                    <a:noFill/>
                  </a14:hiddenFill>
                </a:ext>
              </a:extLst>
            </p:spPr>
          </p:cxnSp>
        </p:grpSp>
        <p:sp>
          <p:nvSpPr>
            <p:cNvPr id="28" name="矩形 27"/>
            <p:cNvSpPr/>
            <p:nvPr/>
          </p:nvSpPr>
          <p:spPr bwMode="auto">
            <a:xfrm>
              <a:off x="6705536" y="4395600"/>
              <a:ext cx="90010" cy="720080"/>
            </a:xfrm>
            <a:prstGeom prst="rect">
              <a:avLst/>
            </a:prstGeom>
            <a:solidFill>
              <a:srgbClr val="CCFFCC"/>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a:lstStyle/>
            <a:p>
              <a:pPr>
                <a:defRPr/>
              </a:pPr>
              <a:endParaRPr kumimoji="0" lang="zh-CN" altLang="en-US">
                <a:solidFill>
                  <a:schemeClr val="tx1"/>
                </a:solidFill>
              </a:endParaRPr>
            </a:p>
          </p:txBody>
        </p:sp>
        <p:cxnSp>
          <p:nvCxnSpPr>
            <p:cNvPr id="25649" name="直接连接符 80"/>
            <p:cNvCxnSpPr>
              <a:cxnSpLocks noChangeShapeType="1"/>
            </p:cNvCxnSpPr>
            <p:nvPr/>
          </p:nvCxnSpPr>
          <p:spPr bwMode="auto">
            <a:xfrm rot="5400000">
              <a:off x="6424959" y="4755640"/>
              <a:ext cx="720079" cy="0"/>
            </a:xfrm>
            <a:prstGeom prst="line">
              <a:avLst/>
            </a:prstGeom>
            <a:noFill/>
            <a:ln w="38100" algn="ctr">
              <a:solidFill>
                <a:srgbClr val="0070C0"/>
              </a:solidFill>
              <a:round/>
              <a:headEnd/>
              <a:tailEnd/>
            </a:ln>
            <a:extLst>
              <a:ext uri="{909E8E84-426E-40DD-AFC4-6F175D3DCCD1}">
                <a14:hiddenFill xmlns:a14="http://schemas.microsoft.com/office/drawing/2010/main">
                  <a:noFill/>
                </a14:hiddenFill>
              </a:ext>
            </a:extLst>
          </p:spPr>
        </p:cxnSp>
        <p:grpSp>
          <p:nvGrpSpPr>
            <p:cNvPr id="25650" name="组合 85"/>
            <p:cNvGrpSpPr>
              <a:grpSpLocks/>
            </p:cNvGrpSpPr>
            <p:nvPr/>
          </p:nvGrpSpPr>
          <p:grpSpPr bwMode="auto">
            <a:xfrm>
              <a:off x="3007097" y="2316605"/>
              <a:ext cx="765085" cy="89951"/>
              <a:chOff x="2422032" y="917823"/>
              <a:chExt cx="765085" cy="89951"/>
            </a:xfrm>
          </p:grpSpPr>
          <p:sp>
            <p:nvSpPr>
              <p:cNvPr id="31" name="矩形 30"/>
              <p:cNvSpPr/>
              <p:nvPr/>
            </p:nvSpPr>
            <p:spPr bwMode="auto">
              <a:xfrm>
                <a:off x="2422032" y="917823"/>
                <a:ext cx="765085" cy="89951"/>
              </a:xfrm>
              <a:prstGeom prst="rect">
                <a:avLst/>
              </a:prstGeom>
              <a:solidFill>
                <a:srgbClr val="CCFFCC"/>
              </a:solidFill>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a:lstStyle/>
              <a:p>
                <a:pPr>
                  <a:defRPr/>
                </a:pPr>
                <a:endParaRPr kumimoji="0" lang="zh-CN" altLang="en-US">
                  <a:solidFill>
                    <a:schemeClr val="tx1"/>
                  </a:solidFill>
                </a:endParaRPr>
              </a:p>
            </p:txBody>
          </p:sp>
          <p:cxnSp>
            <p:nvCxnSpPr>
              <p:cNvPr id="25654" name="直接连接符 87"/>
              <p:cNvCxnSpPr>
                <a:cxnSpLocks noChangeShapeType="1"/>
              </p:cNvCxnSpPr>
              <p:nvPr/>
            </p:nvCxnSpPr>
            <p:spPr bwMode="auto">
              <a:xfrm>
                <a:off x="2422032" y="919884"/>
                <a:ext cx="765085" cy="0"/>
              </a:xfrm>
              <a:prstGeom prst="line">
                <a:avLst/>
              </a:prstGeom>
              <a:noFill/>
              <a:ln w="38100" algn="ctr">
                <a:solidFill>
                  <a:srgbClr val="0070C0"/>
                </a:solidFill>
                <a:round/>
                <a:headEnd/>
                <a:tailEnd/>
              </a:ln>
              <a:extLst>
                <a:ext uri="{909E8E84-426E-40DD-AFC4-6F175D3DCCD1}">
                  <a14:hiddenFill xmlns:a14="http://schemas.microsoft.com/office/drawing/2010/main">
                    <a:noFill/>
                  </a14:hiddenFill>
                </a:ext>
              </a:extLst>
            </p:spPr>
          </p:cxnSp>
        </p:grpSp>
      </p:grpSp>
      <p:grpSp>
        <p:nvGrpSpPr>
          <p:cNvPr id="11" name="Group 447"/>
          <p:cNvGrpSpPr>
            <a:grpSpLocks/>
          </p:cNvGrpSpPr>
          <p:nvPr/>
        </p:nvGrpSpPr>
        <p:grpSpPr bwMode="auto">
          <a:xfrm>
            <a:off x="1487488" y="2940050"/>
            <a:ext cx="2159000" cy="68263"/>
            <a:chOff x="897" y="1820"/>
            <a:chExt cx="1360" cy="57"/>
          </a:xfrm>
        </p:grpSpPr>
        <p:sp>
          <p:nvSpPr>
            <p:cNvPr id="25638" name="Line 448"/>
            <p:cNvSpPr>
              <a:spLocks noChangeShapeType="1"/>
            </p:cNvSpPr>
            <p:nvPr/>
          </p:nvSpPr>
          <p:spPr bwMode="auto">
            <a:xfrm flipV="1">
              <a:off x="897" y="1820"/>
              <a:ext cx="1189" cy="1"/>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9" name="Line 449"/>
            <p:cNvSpPr>
              <a:spLocks noChangeShapeType="1"/>
            </p:cNvSpPr>
            <p:nvPr/>
          </p:nvSpPr>
          <p:spPr bwMode="auto">
            <a:xfrm>
              <a:off x="2059" y="1820"/>
              <a:ext cx="198" cy="5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8" name="Line 454"/>
          <p:cNvSpPr>
            <a:spLocks noChangeShapeType="1"/>
          </p:cNvSpPr>
          <p:nvPr/>
        </p:nvSpPr>
        <p:spPr bwMode="auto">
          <a:xfrm>
            <a:off x="3602038" y="3008313"/>
            <a:ext cx="320040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Text Box 25"/>
          <p:cNvSpPr txBox="1">
            <a:spLocks noChangeArrowheads="1"/>
          </p:cNvSpPr>
          <p:nvPr/>
        </p:nvSpPr>
        <p:spPr bwMode="auto">
          <a:xfrm>
            <a:off x="4402138" y="3041650"/>
            <a:ext cx="2147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lnSpc>
                <a:spcPct val="90000"/>
              </a:lnSpc>
            </a:pPr>
            <a:r>
              <a:rPr kumimoji="0" lang="en-US" altLang="zh-CN" sz="2000" i="1">
                <a:ea typeface="宋体" pitchFamily="2" charset="-122"/>
                <a:sym typeface="Symbol" pitchFamily="18" charset="2"/>
              </a:rPr>
              <a:t></a:t>
            </a:r>
            <a:r>
              <a:rPr kumimoji="0" lang="en-US" altLang="zh-CN" sz="2000" baseline="30000">
                <a:ea typeface="宋体" pitchFamily="2" charset="-122"/>
              </a:rPr>
              <a:t>/</a:t>
            </a:r>
            <a:r>
              <a:rPr kumimoji="0" lang="en-US" altLang="zh-CN" sz="2000" i="1" baseline="-25000">
                <a:ea typeface="宋体" pitchFamily="2" charset="-122"/>
              </a:rPr>
              <a:t>x</a:t>
            </a:r>
            <a:r>
              <a:rPr lang="en-US" altLang="zh-CN" sz="2000">
                <a:ea typeface="宋体" pitchFamily="2" charset="-122"/>
              </a:rPr>
              <a:t> = </a:t>
            </a:r>
            <a:r>
              <a:rPr lang="en-US" altLang="zh-CN" sz="2000" i="1">
                <a:ea typeface="宋体" pitchFamily="2" charset="-122"/>
              </a:rPr>
              <a:t>c-u</a:t>
            </a:r>
            <a:r>
              <a:rPr lang="en-US" altLang="zh-CN" sz="2000">
                <a:ea typeface="宋体" pitchFamily="2" charset="-122"/>
              </a:rPr>
              <a:t>;</a:t>
            </a:r>
            <a:r>
              <a:rPr kumimoji="0" lang="en-US" altLang="zh-CN" sz="2000" i="1">
                <a:ea typeface="宋体" pitchFamily="2" charset="-122"/>
                <a:sym typeface="Symbol" pitchFamily="18" charset="2"/>
              </a:rPr>
              <a:t>  l</a:t>
            </a:r>
            <a:r>
              <a:rPr kumimoji="0" lang="en-US" altLang="zh-CN" sz="2000" baseline="-25000">
                <a:ea typeface="宋体" pitchFamily="2" charset="-122"/>
              </a:rPr>
              <a:t>1 </a:t>
            </a:r>
            <a:r>
              <a:rPr lang="en-US" altLang="zh-CN" sz="2000">
                <a:ea typeface="宋体" pitchFamily="2" charset="-122"/>
              </a:rPr>
              <a:t>/ (</a:t>
            </a:r>
            <a:r>
              <a:rPr lang="en-US" altLang="zh-CN" sz="2000" i="1">
                <a:ea typeface="宋体" pitchFamily="2" charset="-122"/>
              </a:rPr>
              <a:t>c-u</a:t>
            </a:r>
            <a:r>
              <a:rPr lang="en-US" altLang="zh-CN" sz="2000">
                <a:ea typeface="宋体" pitchFamily="2" charset="-122"/>
              </a:rPr>
              <a:t>)</a:t>
            </a:r>
            <a:endParaRPr lang="en-US" altLang="zh-CN" sz="2000">
              <a:latin typeface="Symbol" pitchFamily="18" charset="2"/>
              <a:ea typeface="宋体" pitchFamily="2" charset="-122"/>
            </a:endParaRPr>
          </a:p>
        </p:txBody>
      </p:sp>
      <p:grpSp>
        <p:nvGrpSpPr>
          <p:cNvPr id="12" name="Group 450"/>
          <p:cNvGrpSpPr>
            <a:grpSpLocks/>
          </p:cNvGrpSpPr>
          <p:nvPr/>
        </p:nvGrpSpPr>
        <p:grpSpPr bwMode="auto">
          <a:xfrm>
            <a:off x="3424238" y="1225550"/>
            <a:ext cx="134937" cy="1749425"/>
            <a:chOff x="2171" y="418"/>
            <a:chExt cx="85" cy="1470"/>
          </a:xfrm>
        </p:grpSpPr>
        <p:sp>
          <p:nvSpPr>
            <p:cNvPr id="25636" name="Line 451"/>
            <p:cNvSpPr>
              <a:spLocks noChangeShapeType="1"/>
            </p:cNvSpPr>
            <p:nvPr/>
          </p:nvSpPr>
          <p:spPr bwMode="auto">
            <a:xfrm flipH="1" flipV="1">
              <a:off x="2171" y="1718"/>
              <a:ext cx="85" cy="17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37" name="Line 452"/>
            <p:cNvSpPr>
              <a:spLocks noChangeShapeType="1"/>
            </p:cNvSpPr>
            <p:nvPr/>
          </p:nvSpPr>
          <p:spPr bwMode="auto">
            <a:xfrm flipV="1">
              <a:off x="2171" y="418"/>
              <a:ext cx="0" cy="133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6" name="Line 454"/>
          <p:cNvSpPr>
            <a:spLocks noChangeShapeType="1"/>
          </p:cNvSpPr>
          <p:nvPr/>
        </p:nvSpPr>
        <p:spPr bwMode="auto">
          <a:xfrm>
            <a:off x="3646488" y="2949575"/>
            <a:ext cx="3155950" cy="0"/>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7" name="Text Box 25"/>
          <p:cNvSpPr txBox="1">
            <a:spLocks noChangeArrowheads="1"/>
          </p:cNvSpPr>
          <p:nvPr/>
        </p:nvSpPr>
        <p:spPr bwMode="auto">
          <a:xfrm>
            <a:off x="4392613" y="2614613"/>
            <a:ext cx="2270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2000" i="1">
                <a:ea typeface="宋体" pitchFamily="2" charset="-122"/>
                <a:sym typeface="Symbol" pitchFamily="18" charset="2"/>
              </a:rPr>
              <a:t></a:t>
            </a:r>
            <a:r>
              <a:rPr kumimoji="0" lang="en-US" altLang="zh-CN" sz="2000" baseline="30000">
                <a:ea typeface="宋体" pitchFamily="2" charset="-122"/>
              </a:rPr>
              <a:t>/</a:t>
            </a:r>
            <a:r>
              <a:rPr kumimoji="0" lang="en-US" altLang="zh-CN" sz="2000" i="1" baseline="-25000">
                <a:ea typeface="宋体" pitchFamily="2" charset="-122"/>
              </a:rPr>
              <a:t>x</a:t>
            </a:r>
            <a:r>
              <a:rPr lang="en-US" altLang="zh-CN" sz="2000">
                <a:ea typeface="宋体" pitchFamily="2" charset="-122"/>
              </a:rPr>
              <a:t> = </a:t>
            </a:r>
            <a:r>
              <a:rPr lang="en-US" altLang="zh-CN" sz="2000" i="1">
                <a:ea typeface="宋体" pitchFamily="2" charset="-122"/>
              </a:rPr>
              <a:t>c</a:t>
            </a:r>
            <a:r>
              <a:rPr lang="en-US" altLang="zh-CN" sz="2000">
                <a:ea typeface="宋体" pitchFamily="2" charset="-122"/>
              </a:rPr>
              <a:t>+</a:t>
            </a:r>
            <a:r>
              <a:rPr lang="en-US" altLang="zh-CN" sz="2000" i="1">
                <a:ea typeface="宋体" pitchFamily="2" charset="-122"/>
              </a:rPr>
              <a:t>u</a:t>
            </a:r>
            <a:r>
              <a:rPr lang="en-US" altLang="zh-CN" sz="2000">
                <a:ea typeface="宋体" pitchFamily="2" charset="-122"/>
              </a:rPr>
              <a:t>;</a:t>
            </a:r>
            <a:r>
              <a:rPr kumimoji="0" lang="en-US" altLang="zh-CN" sz="2000" i="1">
                <a:ea typeface="宋体" pitchFamily="2" charset="-122"/>
                <a:sym typeface="Symbol" pitchFamily="18" charset="2"/>
              </a:rPr>
              <a:t>  l</a:t>
            </a:r>
            <a:r>
              <a:rPr kumimoji="0" lang="en-US" altLang="zh-CN" sz="2000" baseline="-25000">
                <a:ea typeface="宋体" pitchFamily="2" charset="-122"/>
              </a:rPr>
              <a:t>1 </a:t>
            </a:r>
            <a:r>
              <a:rPr lang="en-US" altLang="zh-CN" sz="2000">
                <a:ea typeface="宋体" pitchFamily="2" charset="-122"/>
              </a:rPr>
              <a:t>/ (</a:t>
            </a:r>
            <a:r>
              <a:rPr lang="en-US" altLang="zh-CN" sz="2000" i="1">
                <a:ea typeface="宋体" pitchFamily="2" charset="-122"/>
              </a:rPr>
              <a:t>c+u</a:t>
            </a:r>
            <a:r>
              <a:rPr lang="en-US" altLang="zh-CN" sz="2000">
                <a:ea typeface="宋体" pitchFamily="2" charset="-122"/>
              </a:rPr>
              <a:t>)</a:t>
            </a:r>
            <a:endParaRPr lang="en-US" altLang="zh-CN" sz="2000" i="1">
              <a:latin typeface="Symbol" pitchFamily="18" charset="2"/>
              <a:ea typeface="宋体" pitchFamily="2" charset="-122"/>
            </a:endParaRPr>
          </a:p>
        </p:txBody>
      </p:sp>
      <p:grpSp>
        <p:nvGrpSpPr>
          <p:cNvPr id="13" name="组合 71"/>
          <p:cNvGrpSpPr>
            <a:grpSpLocks/>
          </p:cNvGrpSpPr>
          <p:nvPr/>
        </p:nvGrpSpPr>
        <p:grpSpPr bwMode="auto">
          <a:xfrm>
            <a:off x="2087563" y="1322388"/>
            <a:ext cx="936625" cy="909637"/>
            <a:chOff x="4378031" y="2984500"/>
            <a:chExt cx="936722" cy="1213592"/>
          </a:xfrm>
        </p:grpSpPr>
        <p:cxnSp>
          <p:nvCxnSpPr>
            <p:cNvPr id="25630" name="直接箭头连接符 55"/>
            <p:cNvCxnSpPr>
              <a:cxnSpLocks noChangeShapeType="1"/>
            </p:cNvCxnSpPr>
            <p:nvPr/>
          </p:nvCxnSpPr>
          <p:spPr bwMode="auto">
            <a:xfrm>
              <a:off x="4394200" y="3784600"/>
              <a:ext cx="533400" cy="1588"/>
            </a:xfrm>
            <a:prstGeom prst="straightConnector1">
              <a:avLst/>
            </a:prstGeom>
            <a:noFill/>
            <a:ln w="19050"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25631" name="直接箭头连接符 57"/>
            <p:cNvCxnSpPr>
              <a:cxnSpLocks noChangeShapeType="1"/>
            </p:cNvCxnSpPr>
            <p:nvPr/>
          </p:nvCxnSpPr>
          <p:spPr bwMode="auto">
            <a:xfrm rot="5400000" flipH="1" flipV="1">
              <a:off x="4527200" y="3384106"/>
              <a:ext cx="800894" cy="1683"/>
            </a:xfrm>
            <a:prstGeom prst="straightConnector1">
              <a:avLst/>
            </a:prstGeom>
            <a:noFill/>
            <a:ln w="19050" algn="ctr">
              <a:solidFill>
                <a:srgbClr val="0000FF"/>
              </a:solidFill>
              <a:round/>
              <a:headEnd/>
              <a:tailEnd type="arrow" w="med" len="med"/>
            </a:ln>
            <a:extLst>
              <a:ext uri="{909E8E84-426E-40DD-AFC4-6F175D3DCCD1}">
                <a14:hiddenFill xmlns:a14="http://schemas.microsoft.com/office/drawing/2010/main">
                  <a:noFill/>
                </a14:hiddenFill>
              </a:ext>
            </a:extLst>
          </p:spPr>
        </p:cxnSp>
        <p:sp>
          <p:nvSpPr>
            <p:cNvPr id="25632" name="Text Box 9"/>
            <p:cNvSpPr txBox="1">
              <a:spLocks noChangeArrowheads="1"/>
            </p:cNvSpPr>
            <p:nvPr/>
          </p:nvSpPr>
          <p:spPr bwMode="auto">
            <a:xfrm>
              <a:off x="4478054" y="3665018"/>
              <a:ext cx="346111" cy="533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000" i="1">
                  <a:ea typeface="宋体" pitchFamily="2" charset="-122"/>
                </a:rPr>
                <a:t>u</a:t>
              </a:r>
              <a:endParaRPr lang="en-US" altLang="zh-CN" sz="2000">
                <a:ea typeface="宋体" pitchFamily="2" charset="-122"/>
              </a:endParaRPr>
            </a:p>
          </p:txBody>
        </p:sp>
        <p:sp>
          <p:nvSpPr>
            <p:cNvPr id="25633" name="Text Box 9"/>
            <p:cNvSpPr txBox="1">
              <a:spLocks noChangeArrowheads="1"/>
            </p:cNvSpPr>
            <p:nvPr/>
          </p:nvSpPr>
          <p:spPr bwMode="auto">
            <a:xfrm>
              <a:off x="4857506" y="3211340"/>
              <a:ext cx="457247" cy="533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2000" i="1">
                  <a:ea typeface="宋体" pitchFamily="2" charset="-122"/>
                  <a:sym typeface="Symbol" pitchFamily="18" charset="2"/>
                </a:rPr>
                <a:t></a:t>
              </a:r>
              <a:r>
                <a:rPr kumimoji="0" lang="en-US" altLang="zh-CN" sz="2000" baseline="30000">
                  <a:ea typeface="宋体" pitchFamily="2" charset="-122"/>
                </a:rPr>
                <a:t>/</a:t>
              </a:r>
              <a:r>
                <a:rPr kumimoji="0" lang="en-US" altLang="zh-CN" sz="2000" i="1" baseline="-25000">
                  <a:ea typeface="宋体" pitchFamily="2" charset="-122"/>
                </a:rPr>
                <a:t>y</a:t>
              </a:r>
              <a:endParaRPr lang="en-US" altLang="zh-CN" sz="2000">
                <a:ea typeface="宋体" pitchFamily="2" charset="-122"/>
              </a:endParaRPr>
            </a:p>
          </p:txBody>
        </p:sp>
        <p:cxnSp>
          <p:nvCxnSpPr>
            <p:cNvPr id="25634" name="直接箭头连接符 66"/>
            <p:cNvCxnSpPr>
              <a:cxnSpLocks noChangeShapeType="1"/>
            </p:cNvCxnSpPr>
            <p:nvPr/>
          </p:nvCxnSpPr>
          <p:spPr bwMode="auto">
            <a:xfrm rot="5400000" flipH="1" flipV="1">
              <a:off x="4260850" y="3117850"/>
              <a:ext cx="800100" cy="53340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5635" name="Text Box 9"/>
            <p:cNvSpPr txBox="1">
              <a:spLocks noChangeArrowheads="1"/>
            </p:cNvSpPr>
            <p:nvPr/>
          </p:nvSpPr>
          <p:spPr bwMode="auto">
            <a:xfrm>
              <a:off x="4378031" y="3111403"/>
              <a:ext cx="400091" cy="533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000" i="1">
                  <a:ea typeface="宋体" pitchFamily="2" charset="-122"/>
                </a:rPr>
                <a:t>c</a:t>
              </a:r>
            </a:p>
          </p:txBody>
        </p:sp>
      </p:grpSp>
      <p:graphicFrame>
        <p:nvGraphicFramePr>
          <p:cNvPr id="90" name="对象 89"/>
          <p:cNvGraphicFramePr>
            <a:graphicFrameLocks noChangeAspect="1"/>
          </p:cNvGraphicFramePr>
          <p:nvPr/>
        </p:nvGraphicFramePr>
        <p:xfrm>
          <a:off x="2009775" y="2178050"/>
          <a:ext cx="1263650" cy="315913"/>
        </p:xfrm>
        <a:graphic>
          <a:graphicData uri="http://schemas.openxmlformats.org/presentationml/2006/ole">
            <mc:AlternateContent xmlns:mc="http://schemas.openxmlformats.org/markup-compatibility/2006">
              <mc:Choice xmlns:v="urn:schemas-microsoft-com:vml" Requires="v">
                <p:oleObj spid="_x0000_s25676" name="公式" r:id="rId6" imgW="799753" imgH="266584" progId="Equation.3">
                  <p:embed/>
                </p:oleObj>
              </mc:Choice>
              <mc:Fallback>
                <p:oleObj name="公式" r:id="rId6" imgW="799753" imgH="266584" progId="Equation.3">
                  <p:embed/>
                  <p:pic>
                    <p:nvPicPr>
                      <p:cNvPr id="0" name="对象 8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09775" y="2178050"/>
                        <a:ext cx="1263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4" name="Group 461"/>
          <p:cNvGrpSpPr>
            <a:grpSpLocks/>
          </p:cNvGrpSpPr>
          <p:nvPr/>
        </p:nvGrpSpPr>
        <p:grpSpPr bwMode="auto">
          <a:xfrm>
            <a:off x="3513138" y="1254125"/>
            <a:ext cx="134937" cy="1720850"/>
            <a:chOff x="2115" y="487"/>
            <a:chExt cx="85" cy="1446"/>
          </a:xfrm>
        </p:grpSpPr>
        <p:sp>
          <p:nvSpPr>
            <p:cNvPr id="25628" name="Line 462"/>
            <p:cNvSpPr>
              <a:spLocks noChangeShapeType="1"/>
            </p:cNvSpPr>
            <p:nvPr/>
          </p:nvSpPr>
          <p:spPr bwMode="auto">
            <a:xfrm flipH="1" flipV="1">
              <a:off x="2115" y="1763"/>
              <a:ext cx="85" cy="170"/>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5629" name="Line 463"/>
            <p:cNvSpPr>
              <a:spLocks noChangeShapeType="1"/>
            </p:cNvSpPr>
            <p:nvPr/>
          </p:nvSpPr>
          <p:spPr bwMode="auto">
            <a:xfrm flipV="1">
              <a:off x="2115" y="487"/>
              <a:ext cx="0" cy="1304"/>
            </a:xfrm>
            <a:prstGeom prst="line">
              <a:avLst/>
            </a:prstGeom>
            <a:noFill/>
            <a:ln w="19050">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 name="组合 84"/>
          <p:cNvGrpSpPr>
            <a:grpSpLocks/>
          </p:cNvGrpSpPr>
          <p:nvPr/>
        </p:nvGrpSpPr>
        <p:grpSpPr bwMode="auto">
          <a:xfrm>
            <a:off x="3711575" y="1338263"/>
            <a:ext cx="982663" cy="890587"/>
            <a:chOff x="1917044" y="2851150"/>
            <a:chExt cx="982026" cy="1188162"/>
          </a:xfrm>
        </p:grpSpPr>
        <p:cxnSp>
          <p:nvCxnSpPr>
            <p:cNvPr id="25622" name="直接箭头连接符 77"/>
            <p:cNvCxnSpPr>
              <a:cxnSpLocks noChangeShapeType="1"/>
            </p:cNvCxnSpPr>
            <p:nvPr/>
          </p:nvCxnSpPr>
          <p:spPr bwMode="auto">
            <a:xfrm>
              <a:off x="2305050" y="3651250"/>
              <a:ext cx="533400" cy="1588"/>
            </a:xfrm>
            <a:prstGeom prst="straightConnector1">
              <a:avLst/>
            </a:prstGeom>
            <a:noFill/>
            <a:ln w="19050"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25623" name="直接箭头连接符 78"/>
            <p:cNvCxnSpPr>
              <a:cxnSpLocks noChangeShapeType="1"/>
            </p:cNvCxnSpPr>
            <p:nvPr/>
          </p:nvCxnSpPr>
          <p:spPr bwMode="auto">
            <a:xfrm rot="5400000" flipH="1" flipV="1">
              <a:off x="1905445" y="3250755"/>
              <a:ext cx="800894" cy="1683"/>
            </a:xfrm>
            <a:prstGeom prst="straightConnector1">
              <a:avLst/>
            </a:prstGeom>
            <a:noFill/>
            <a:ln w="19050" algn="ctr">
              <a:solidFill>
                <a:srgbClr val="0000FF"/>
              </a:solidFill>
              <a:round/>
              <a:headEnd type="arrow" w="med" len="med"/>
              <a:tailEnd/>
            </a:ln>
            <a:extLst>
              <a:ext uri="{909E8E84-426E-40DD-AFC4-6F175D3DCCD1}">
                <a14:hiddenFill xmlns:a14="http://schemas.microsoft.com/office/drawing/2010/main">
                  <a:noFill/>
                </a14:hiddenFill>
              </a:ext>
            </a:extLst>
          </p:spPr>
        </p:cxnSp>
        <p:sp>
          <p:nvSpPr>
            <p:cNvPr id="25624" name="Text Box 9"/>
            <p:cNvSpPr txBox="1">
              <a:spLocks noChangeArrowheads="1"/>
            </p:cNvSpPr>
            <p:nvPr/>
          </p:nvSpPr>
          <p:spPr bwMode="auto">
            <a:xfrm>
              <a:off x="2366015" y="3505548"/>
              <a:ext cx="352197" cy="53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000" i="1">
                  <a:ea typeface="宋体" pitchFamily="2" charset="-122"/>
                </a:rPr>
                <a:t>u</a:t>
              </a:r>
              <a:endParaRPr lang="en-US" altLang="zh-CN" sz="2000">
                <a:ea typeface="宋体" pitchFamily="2" charset="-122"/>
              </a:endParaRPr>
            </a:p>
          </p:txBody>
        </p:sp>
        <p:sp>
          <p:nvSpPr>
            <p:cNvPr id="25625" name="Text Box 9"/>
            <p:cNvSpPr txBox="1">
              <a:spLocks noChangeArrowheads="1"/>
            </p:cNvSpPr>
            <p:nvPr/>
          </p:nvSpPr>
          <p:spPr bwMode="auto">
            <a:xfrm>
              <a:off x="1917044" y="3029045"/>
              <a:ext cx="469596" cy="53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2000" i="1">
                  <a:ea typeface="宋体" pitchFamily="2" charset="-122"/>
                  <a:sym typeface="Symbol" pitchFamily="18" charset="2"/>
                </a:rPr>
                <a:t></a:t>
              </a:r>
              <a:r>
                <a:rPr kumimoji="0" lang="en-US" altLang="zh-CN" sz="2000" baseline="30000">
                  <a:ea typeface="宋体" pitchFamily="2" charset="-122"/>
                </a:rPr>
                <a:t>/</a:t>
              </a:r>
              <a:r>
                <a:rPr kumimoji="0" lang="en-US" altLang="zh-CN" sz="2000" i="1" baseline="-25000">
                  <a:ea typeface="宋体" pitchFamily="2" charset="-122"/>
                </a:rPr>
                <a:t>y</a:t>
              </a:r>
              <a:endParaRPr lang="en-US" altLang="zh-CN" sz="2000">
                <a:ea typeface="宋体" pitchFamily="2" charset="-122"/>
              </a:endParaRPr>
            </a:p>
          </p:txBody>
        </p:sp>
        <p:cxnSp>
          <p:nvCxnSpPr>
            <p:cNvPr id="25626" name="直接箭头连接符 82"/>
            <p:cNvCxnSpPr>
              <a:cxnSpLocks noChangeShapeType="1"/>
            </p:cNvCxnSpPr>
            <p:nvPr/>
          </p:nvCxnSpPr>
          <p:spPr bwMode="auto">
            <a:xfrm rot="16200000" flipH="1">
              <a:off x="2171700" y="2984500"/>
              <a:ext cx="800100" cy="533400"/>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5627" name="Text Box 9"/>
            <p:cNvSpPr txBox="1">
              <a:spLocks noChangeArrowheads="1"/>
            </p:cNvSpPr>
            <p:nvPr/>
          </p:nvSpPr>
          <p:spPr bwMode="auto">
            <a:xfrm>
              <a:off x="2499279" y="2959157"/>
              <a:ext cx="399791" cy="533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000" i="1">
                  <a:ea typeface="宋体" pitchFamily="2" charset="-122"/>
                  <a:sym typeface="Symbol" pitchFamily="18" charset="2"/>
                </a:rPr>
                <a:t>c</a:t>
              </a:r>
              <a:endParaRPr lang="en-US" altLang="zh-CN" sz="2000" i="1">
                <a:ea typeface="宋体" pitchFamily="2" charset="-122"/>
              </a:endParaRPr>
            </a:p>
          </p:txBody>
        </p:sp>
      </p:grpSp>
      <p:graphicFrame>
        <p:nvGraphicFramePr>
          <p:cNvPr id="108" name="对象 107"/>
          <p:cNvGraphicFramePr>
            <a:graphicFrameLocks noChangeAspect="1"/>
          </p:cNvGraphicFramePr>
          <p:nvPr/>
        </p:nvGraphicFramePr>
        <p:xfrm>
          <a:off x="3800475" y="2136775"/>
          <a:ext cx="1263650" cy="315913"/>
        </p:xfrm>
        <a:graphic>
          <a:graphicData uri="http://schemas.openxmlformats.org/presentationml/2006/ole">
            <mc:AlternateContent xmlns:mc="http://schemas.openxmlformats.org/markup-compatibility/2006">
              <mc:Choice xmlns:v="urn:schemas-microsoft-com:vml" Requires="v">
                <p:oleObj spid="_x0000_s25677" name="公式" r:id="rId8" imgW="799753" imgH="266584" progId="Equation.3">
                  <p:embed/>
                </p:oleObj>
              </mc:Choice>
              <mc:Fallback>
                <p:oleObj name="公式" r:id="rId8" imgW="799753" imgH="266584" progId="Equation.3">
                  <p:embed/>
                  <p:pic>
                    <p:nvPicPr>
                      <p:cNvPr id="0" name="对象 10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0475" y="2136775"/>
                        <a:ext cx="1263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 name="组合 5"/>
          <p:cNvGrpSpPr>
            <a:grpSpLocks/>
          </p:cNvGrpSpPr>
          <p:nvPr/>
        </p:nvGrpSpPr>
        <p:grpSpPr bwMode="auto">
          <a:xfrm>
            <a:off x="3646488" y="2943225"/>
            <a:ext cx="46037" cy="403225"/>
            <a:chOff x="3817934" y="4458882"/>
            <a:chExt cx="46818" cy="537306"/>
          </a:xfrm>
        </p:grpSpPr>
        <p:cxnSp>
          <p:nvCxnSpPr>
            <p:cNvPr id="5" name="直接箭头连接符 4"/>
            <p:cNvCxnSpPr/>
            <p:nvPr/>
          </p:nvCxnSpPr>
          <p:spPr>
            <a:xfrm>
              <a:off x="3864752" y="4458882"/>
              <a:ext cx="0" cy="509807"/>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3817934" y="4486383"/>
              <a:ext cx="0" cy="50980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4" name="Text Box 123"/>
          <p:cNvSpPr txBox="1">
            <a:spLocks noChangeArrowheads="1"/>
          </p:cNvSpPr>
          <p:nvPr/>
        </p:nvSpPr>
        <p:spPr bwMode="auto">
          <a:xfrm>
            <a:off x="611188" y="865188"/>
            <a:ext cx="84978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ea typeface="华文中宋" pitchFamily="2" charset="-122"/>
              </a:rPr>
              <a:t>设地球在</a:t>
            </a:r>
            <a:r>
              <a:rPr lang="zh-CN" altLang="en-US" sz="1600">
                <a:solidFill>
                  <a:srgbClr val="3333FF"/>
                </a:solidFill>
                <a:ea typeface="华文中宋" pitchFamily="2" charset="-122"/>
              </a:rPr>
              <a:t>“绝对静止”</a:t>
            </a:r>
            <a:r>
              <a:rPr lang="en-US" altLang="zh-CN" sz="1600">
                <a:ea typeface="华文中宋" pitchFamily="2" charset="-122"/>
              </a:rPr>
              <a:t>(</a:t>
            </a:r>
            <a:r>
              <a:rPr lang="zh-CN" altLang="en-US" sz="1600">
                <a:ea typeface="华文中宋" pitchFamily="2" charset="-122"/>
              </a:rPr>
              <a:t>以太</a:t>
            </a:r>
            <a:r>
              <a:rPr lang="en-US" altLang="zh-CN" sz="1600">
                <a:ea typeface="华文中宋" pitchFamily="2" charset="-122"/>
              </a:rPr>
              <a:t>)</a:t>
            </a:r>
            <a:r>
              <a:rPr lang="zh-CN" altLang="en-US" sz="1600">
                <a:solidFill>
                  <a:srgbClr val="000000"/>
                </a:solidFill>
                <a:ea typeface="华文中宋" pitchFamily="2" charset="-122"/>
              </a:rPr>
              <a:t>参考系中的速度为</a:t>
            </a:r>
            <a:r>
              <a:rPr lang="en-US" altLang="zh-CN" sz="1600" i="1">
                <a:solidFill>
                  <a:srgbClr val="000000"/>
                </a:solidFill>
                <a:ea typeface="华文中宋" pitchFamily="2" charset="-122"/>
              </a:rPr>
              <a:t>u</a:t>
            </a:r>
            <a:r>
              <a:rPr lang="zh-CN" altLang="en-US" sz="1600">
                <a:solidFill>
                  <a:srgbClr val="000000"/>
                </a:solidFill>
                <a:ea typeface="华文中宋" pitchFamily="2" charset="-122"/>
              </a:rPr>
              <a:t>。</a:t>
            </a:r>
            <a:r>
              <a:rPr lang="zh-CN" altLang="en-US" sz="1600">
                <a:latin typeface="华文中宋" pitchFamily="2" charset="-122"/>
                <a:ea typeface="华文中宋" pitchFamily="2" charset="-122"/>
              </a:rPr>
              <a:t>使干涉仪的一臂沿着地球轨道运动方向。</a:t>
            </a:r>
          </a:p>
        </p:txBody>
      </p:sp>
      <p:graphicFrame>
        <p:nvGraphicFramePr>
          <p:cNvPr id="2" name="对象 5"/>
          <p:cNvGraphicFramePr>
            <a:graphicFrameLocks noChangeAspect="1"/>
          </p:cNvGraphicFramePr>
          <p:nvPr/>
        </p:nvGraphicFramePr>
        <p:xfrm>
          <a:off x="1851025" y="4083050"/>
          <a:ext cx="4687888" cy="649288"/>
        </p:xfrm>
        <a:graphic>
          <a:graphicData uri="http://schemas.openxmlformats.org/presentationml/2006/ole">
            <mc:AlternateContent xmlns:mc="http://schemas.openxmlformats.org/markup-compatibility/2006">
              <mc:Choice xmlns:v="urn:schemas-microsoft-com:vml" Requires="v">
                <p:oleObj spid="_x0000_s25678" name="公式" r:id="rId9" imgW="2616200" imgH="482600" progId="Equation.3">
                  <p:embed/>
                </p:oleObj>
              </mc:Choice>
              <mc:Fallback>
                <p:oleObj name="公式" r:id="rId9" imgW="2616200" imgH="482600" progId="Equation.3">
                  <p:embed/>
                  <p:pic>
                    <p:nvPicPr>
                      <p:cNvPr id="0" name="对象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1025" y="4083050"/>
                        <a:ext cx="468788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2038350" y="3489325"/>
          <a:ext cx="1573213" cy="630238"/>
        </p:xfrm>
        <a:graphic>
          <a:graphicData uri="http://schemas.openxmlformats.org/presentationml/2006/ole">
            <mc:AlternateContent xmlns:mc="http://schemas.openxmlformats.org/markup-compatibility/2006">
              <mc:Choice xmlns:v="urn:schemas-microsoft-com:vml" Requires="v">
                <p:oleObj spid="_x0000_s25679" name="公式" r:id="rId11" imgW="761669" imgH="406224" progId="Equation.3">
                  <p:embed/>
                </p:oleObj>
              </mc:Choice>
              <mc:Fallback>
                <p:oleObj name="公式" r:id="rId11" imgW="761669" imgH="406224" progId="Equation.3">
                  <p:embed/>
                  <p:pic>
                    <p:nvPicPr>
                      <p:cNvPr id="0" name="对象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38350" y="3489325"/>
                        <a:ext cx="1573213"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4084638" y="3511550"/>
          <a:ext cx="1714500" cy="644525"/>
        </p:xfrm>
        <a:graphic>
          <a:graphicData uri="http://schemas.openxmlformats.org/presentationml/2006/ole">
            <mc:AlternateContent xmlns:mc="http://schemas.openxmlformats.org/markup-compatibility/2006">
              <mc:Choice xmlns:v="urn:schemas-microsoft-com:vml" Requires="v">
                <p:oleObj spid="_x0000_s25680" name="公式" r:id="rId13" imgW="888614" imgH="444307" progId="Equation.3">
                  <p:embed/>
                </p:oleObj>
              </mc:Choice>
              <mc:Fallback>
                <p:oleObj name="公式" r:id="rId13" imgW="888614" imgH="444307" progId="Equation.3">
                  <p:embed/>
                  <p:pic>
                    <p:nvPicPr>
                      <p:cNvPr id="0" name="对象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84638" y="3511550"/>
                        <a:ext cx="17145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style.rotation</p:attrName>
                                        </p:attrNameLst>
                                      </p:cBhvr>
                                      <p:tavLst>
                                        <p:tav tm="0">
                                          <p:val>
                                            <p:fltVal val="90"/>
                                          </p:val>
                                        </p:tav>
                                        <p:tav tm="100000">
                                          <p:val>
                                            <p:fltVal val="0"/>
                                          </p:val>
                                        </p:tav>
                                      </p:tavLst>
                                    </p:anim>
                                    <p:animEffect transition="in" filter="fade">
                                      <p:cBhvr>
                                        <p:cTn id="15" dur="10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3" presetClass="entr" presetSubtype="16"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left)">
                                      <p:cBhvr>
                                        <p:cTn id="31" dur="500"/>
                                        <p:tgtEl>
                                          <p:spTgt spid="3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9">
                                            <p:txEl>
                                              <p:pRg st="0" end="0"/>
                                            </p:txEl>
                                          </p:spTgt>
                                        </p:tgtEl>
                                        <p:attrNameLst>
                                          <p:attrName>style.visibility</p:attrName>
                                        </p:attrNameLst>
                                      </p:cBhvr>
                                      <p:to>
                                        <p:strVal val="visible"/>
                                      </p:to>
                                    </p:set>
                                    <p:animEffect transition="in" filter="wipe(left)">
                                      <p:cBhvr>
                                        <p:cTn id="41" dur="500"/>
                                        <p:tgtEl>
                                          <p:spTgt spid="39">
                                            <p:txEl>
                                              <p:pRg st="0" end="0"/>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76"/>
                                        </p:tgtEl>
                                        <p:attrNameLst>
                                          <p:attrName>style.visibility</p:attrName>
                                        </p:attrNameLst>
                                      </p:cBhvr>
                                      <p:to>
                                        <p:strVal val="visible"/>
                                      </p:to>
                                    </p:set>
                                    <p:animEffect transition="in" filter="wipe(right)">
                                      <p:cBhvr>
                                        <p:cTn id="46" dur="500"/>
                                        <p:tgtEl>
                                          <p:spTgt spid="7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7">
                                            <p:txEl>
                                              <p:pRg st="0" end="0"/>
                                            </p:txEl>
                                          </p:spTgt>
                                        </p:tgtEl>
                                        <p:attrNameLst>
                                          <p:attrName>style.visibility</p:attrName>
                                        </p:attrNameLst>
                                      </p:cBhvr>
                                      <p:to>
                                        <p:strVal val="visible"/>
                                      </p:to>
                                    </p:set>
                                    <p:animEffect transition="in" filter="wipe(left)">
                                      <p:cBhvr>
                                        <p:cTn id="51" dur="500"/>
                                        <p:tgtEl>
                                          <p:spTgt spid="77">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3" presetClass="entr" presetSubtype="16"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p:cTn id="61" dur="500" fill="hold"/>
                                        <p:tgtEl>
                                          <p:spTgt spid="13"/>
                                        </p:tgtEl>
                                        <p:attrNameLst>
                                          <p:attrName>ppt_w</p:attrName>
                                        </p:attrNameLst>
                                      </p:cBhvr>
                                      <p:tavLst>
                                        <p:tav tm="0">
                                          <p:val>
                                            <p:fltVal val="0"/>
                                          </p:val>
                                        </p:tav>
                                        <p:tav tm="100000">
                                          <p:val>
                                            <p:strVal val="#ppt_w"/>
                                          </p:val>
                                        </p:tav>
                                      </p:tavLst>
                                    </p:anim>
                                    <p:anim calcmode="lin" valueType="num">
                                      <p:cBhvr>
                                        <p:cTn id="62"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31" presetClass="entr" presetSubtype="0" fill="hold" nodeType="clickEffect">
                                  <p:stCondLst>
                                    <p:cond delay="0"/>
                                  </p:stCondLst>
                                  <p:childTnLst>
                                    <p:set>
                                      <p:cBhvr>
                                        <p:cTn id="66" dur="1" fill="hold">
                                          <p:stCondLst>
                                            <p:cond delay="0"/>
                                          </p:stCondLst>
                                        </p:cTn>
                                        <p:tgtEl>
                                          <p:spTgt spid="90"/>
                                        </p:tgtEl>
                                        <p:attrNameLst>
                                          <p:attrName>style.visibility</p:attrName>
                                        </p:attrNameLst>
                                      </p:cBhvr>
                                      <p:to>
                                        <p:strVal val="visible"/>
                                      </p:to>
                                    </p:set>
                                    <p:anim calcmode="lin" valueType="num">
                                      <p:cBhvr>
                                        <p:cTn id="67" dur="1000" fill="hold"/>
                                        <p:tgtEl>
                                          <p:spTgt spid="90"/>
                                        </p:tgtEl>
                                        <p:attrNameLst>
                                          <p:attrName>ppt_w</p:attrName>
                                        </p:attrNameLst>
                                      </p:cBhvr>
                                      <p:tavLst>
                                        <p:tav tm="0">
                                          <p:val>
                                            <p:fltVal val="0"/>
                                          </p:val>
                                        </p:tav>
                                        <p:tav tm="100000">
                                          <p:val>
                                            <p:strVal val="#ppt_w"/>
                                          </p:val>
                                        </p:tav>
                                      </p:tavLst>
                                    </p:anim>
                                    <p:anim calcmode="lin" valueType="num">
                                      <p:cBhvr>
                                        <p:cTn id="68" dur="1000" fill="hold"/>
                                        <p:tgtEl>
                                          <p:spTgt spid="90"/>
                                        </p:tgtEl>
                                        <p:attrNameLst>
                                          <p:attrName>ppt_h</p:attrName>
                                        </p:attrNameLst>
                                      </p:cBhvr>
                                      <p:tavLst>
                                        <p:tav tm="0">
                                          <p:val>
                                            <p:fltVal val="0"/>
                                          </p:val>
                                        </p:tav>
                                        <p:tav tm="100000">
                                          <p:val>
                                            <p:strVal val="#ppt_h"/>
                                          </p:val>
                                        </p:tav>
                                      </p:tavLst>
                                    </p:anim>
                                    <p:anim calcmode="lin" valueType="num">
                                      <p:cBhvr>
                                        <p:cTn id="69" dur="1000" fill="hold"/>
                                        <p:tgtEl>
                                          <p:spTgt spid="90"/>
                                        </p:tgtEl>
                                        <p:attrNameLst>
                                          <p:attrName>style.rotation</p:attrName>
                                        </p:attrNameLst>
                                      </p:cBhvr>
                                      <p:tavLst>
                                        <p:tav tm="0">
                                          <p:val>
                                            <p:fltVal val="90"/>
                                          </p:val>
                                        </p:tav>
                                        <p:tav tm="100000">
                                          <p:val>
                                            <p:fltVal val="0"/>
                                          </p:val>
                                        </p:tav>
                                      </p:tavLst>
                                    </p:anim>
                                    <p:animEffect transition="in" filter="fade">
                                      <p:cBhvr>
                                        <p:cTn id="70" dur="1000"/>
                                        <p:tgtEl>
                                          <p:spTgt spid="9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1"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up)">
                                      <p:cBhvr>
                                        <p:cTn id="75" dur="500"/>
                                        <p:tgtEl>
                                          <p:spTgt spid="1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3" presetClass="entr" presetSubtype="16" fill="hold" nodeType="clickEffect">
                                  <p:stCondLst>
                                    <p:cond delay="0"/>
                                  </p:stCondLst>
                                  <p:childTnLst>
                                    <p:set>
                                      <p:cBhvr>
                                        <p:cTn id="79" dur="1" fill="hold">
                                          <p:stCondLst>
                                            <p:cond delay="0"/>
                                          </p:stCondLst>
                                        </p:cTn>
                                        <p:tgtEl>
                                          <p:spTgt spid="15"/>
                                        </p:tgtEl>
                                        <p:attrNameLst>
                                          <p:attrName>style.visibility</p:attrName>
                                        </p:attrNameLst>
                                      </p:cBhvr>
                                      <p:to>
                                        <p:strVal val="visible"/>
                                      </p:to>
                                    </p:set>
                                    <p:anim calcmode="lin" valueType="num">
                                      <p:cBhvr>
                                        <p:cTn id="80" dur="500" fill="hold"/>
                                        <p:tgtEl>
                                          <p:spTgt spid="15"/>
                                        </p:tgtEl>
                                        <p:attrNameLst>
                                          <p:attrName>ppt_w</p:attrName>
                                        </p:attrNameLst>
                                      </p:cBhvr>
                                      <p:tavLst>
                                        <p:tav tm="0">
                                          <p:val>
                                            <p:fltVal val="0"/>
                                          </p:val>
                                        </p:tav>
                                        <p:tav tm="100000">
                                          <p:val>
                                            <p:strVal val="#ppt_w"/>
                                          </p:val>
                                        </p:tav>
                                      </p:tavLst>
                                    </p:anim>
                                    <p:anim calcmode="lin" valueType="num">
                                      <p:cBhvr>
                                        <p:cTn id="81"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31" presetClass="entr" presetSubtype="0" fill="hold" nodeType="clickEffect">
                                  <p:stCondLst>
                                    <p:cond delay="0"/>
                                  </p:stCondLst>
                                  <p:childTnLst>
                                    <p:set>
                                      <p:cBhvr>
                                        <p:cTn id="85" dur="1" fill="hold">
                                          <p:stCondLst>
                                            <p:cond delay="0"/>
                                          </p:stCondLst>
                                        </p:cTn>
                                        <p:tgtEl>
                                          <p:spTgt spid="108"/>
                                        </p:tgtEl>
                                        <p:attrNameLst>
                                          <p:attrName>style.visibility</p:attrName>
                                        </p:attrNameLst>
                                      </p:cBhvr>
                                      <p:to>
                                        <p:strVal val="visible"/>
                                      </p:to>
                                    </p:set>
                                    <p:anim calcmode="lin" valueType="num">
                                      <p:cBhvr>
                                        <p:cTn id="86" dur="1000" fill="hold"/>
                                        <p:tgtEl>
                                          <p:spTgt spid="108"/>
                                        </p:tgtEl>
                                        <p:attrNameLst>
                                          <p:attrName>ppt_w</p:attrName>
                                        </p:attrNameLst>
                                      </p:cBhvr>
                                      <p:tavLst>
                                        <p:tav tm="0">
                                          <p:val>
                                            <p:fltVal val="0"/>
                                          </p:val>
                                        </p:tav>
                                        <p:tav tm="100000">
                                          <p:val>
                                            <p:strVal val="#ppt_w"/>
                                          </p:val>
                                        </p:tav>
                                      </p:tavLst>
                                    </p:anim>
                                    <p:anim calcmode="lin" valueType="num">
                                      <p:cBhvr>
                                        <p:cTn id="87" dur="1000" fill="hold"/>
                                        <p:tgtEl>
                                          <p:spTgt spid="108"/>
                                        </p:tgtEl>
                                        <p:attrNameLst>
                                          <p:attrName>ppt_h</p:attrName>
                                        </p:attrNameLst>
                                      </p:cBhvr>
                                      <p:tavLst>
                                        <p:tav tm="0">
                                          <p:val>
                                            <p:fltVal val="0"/>
                                          </p:val>
                                        </p:tav>
                                        <p:tav tm="100000">
                                          <p:val>
                                            <p:strVal val="#ppt_h"/>
                                          </p:val>
                                        </p:tav>
                                      </p:tavLst>
                                    </p:anim>
                                    <p:anim calcmode="lin" valueType="num">
                                      <p:cBhvr>
                                        <p:cTn id="88" dur="1000" fill="hold"/>
                                        <p:tgtEl>
                                          <p:spTgt spid="108"/>
                                        </p:tgtEl>
                                        <p:attrNameLst>
                                          <p:attrName>style.rotation</p:attrName>
                                        </p:attrNameLst>
                                      </p:cBhvr>
                                      <p:tavLst>
                                        <p:tav tm="0">
                                          <p:val>
                                            <p:fltVal val="90"/>
                                          </p:val>
                                        </p:tav>
                                        <p:tav tm="100000">
                                          <p:val>
                                            <p:fltVal val="0"/>
                                          </p:val>
                                        </p:tav>
                                      </p:tavLst>
                                    </p:anim>
                                    <p:animEffect transition="in" filter="fade">
                                      <p:cBhvr>
                                        <p:cTn id="89" dur="1000"/>
                                        <p:tgtEl>
                                          <p:spTgt spid="10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1" fill="hold" nodeType="click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wipe(up)">
                                      <p:cBhvr>
                                        <p:cTn id="94" dur="500"/>
                                        <p:tgtEl>
                                          <p:spTgt spid="16"/>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nodeType="clickEffect">
                                  <p:stCondLst>
                                    <p:cond delay="0"/>
                                  </p:stCondLst>
                                  <p:childTnLst>
                                    <p:set>
                                      <p:cBhvr>
                                        <p:cTn id="98" dur="1" fill="hold">
                                          <p:stCondLst>
                                            <p:cond delay="0"/>
                                          </p:stCondLst>
                                        </p:cTn>
                                        <p:tgtEl>
                                          <p:spTgt spid="8"/>
                                        </p:tgtEl>
                                        <p:attrNameLst>
                                          <p:attrName>style.visibility</p:attrName>
                                        </p:attrNameLst>
                                      </p:cBhvr>
                                      <p:to>
                                        <p:strVal val="visible"/>
                                      </p:to>
                                    </p:set>
                                    <p:animEffect transition="in" filter="wipe(left)">
                                      <p:cBhvr>
                                        <p:cTn id="99" dur="500"/>
                                        <p:tgtEl>
                                          <p:spTgt spid="8"/>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2"/>
                                        </p:tgtEl>
                                        <p:attrNameLst>
                                          <p:attrName>style.visibility</p:attrName>
                                        </p:attrNameLst>
                                      </p:cBhvr>
                                      <p:to>
                                        <p:strVal val="visible"/>
                                      </p:to>
                                    </p:set>
                                    <p:animEffect transition="in" filter="wipe(left)">
                                      <p:cBhvr>
                                        <p:cTn id="10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build="p" autoUpdateAnimBg="0"/>
      <p:bldP spid="76" grpId="0" animBg="1"/>
      <p:bldP spid="77" grpId="0" build="p" autoUpdateAnimBg="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4" name="Text Box 4"/>
          <p:cNvSpPr txBox="1">
            <a:spLocks noChangeArrowheads="1"/>
          </p:cNvSpPr>
          <p:nvPr/>
        </p:nvSpPr>
        <p:spPr bwMode="auto">
          <a:xfrm>
            <a:off x="98425" y="788988"/>
            <a:ext cx="39687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600">
                <a:ea typeface="华文中宋" pitchFamily="2" charset="-122"/>
              </a:rPr>
              <a:t>    </a:t>
            </a:r>
            <a:r>
              <a:rPr lang="zh-CN" altLang="en-US" sz="1600">
                <a:ea typeface="华文中宋" pitchFamily="2" charset="-122"/>
              </a:rPr>
              <a:t>把整个装置转动</a:t>
            </a:r>
            <a:r>
              <a:rPr lang="en-US" altLang="zh-CN" sz="1600">
                <a:ea typeface="华文中宋" pitchFamily="2" charset="-122"/>
              </a:rPr>
              <a:t>90</a:t>
            </a:r>
            <a:r>
              <a:rPr lang="en-US" altLang="zh-CN" sz="1600">
                <a:ea typeface="华文中宋" pitchFamily="2" charset="-122"/>
                <a:sym typeface="Symbol" pitchFamily="18" charset="2"/>
              </a:rPr>
              <a:t></a:t>
            </a:r>
            <a:r>
              <a:rPr lang="zh-CN" altLang="en-US" sz="1600">
                <a:ea typeface="华文中宋" pitchFamily="2" charset="-122"/>
              </a:rPr>
              <a:t>，光束的时间差为</a:t>
            </a:r>
          </a:p>
        </p:txBody>
      </p:sp>
      <p:sp>
        <p:nvSpPr>
          <p:cNvPr id="291847" name="Rectangle 7"/>
          <p:cNvSpPr>
            <a:spLocks noChangeArrowheads="1"/>
          </p:cNvSpPr>
          <p:nvPr/>
        </p:nvSpPr>
        <p:spPr bwMode="auto">
          <a:xfrm>
            <a:off x="107950" y="1296988"/>
            <a:ext cx="46434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ea typeface="华文中宋" pitchFamily="2" charset="-122"/>
              </a:rPr>
              <a:t>干涉仪转动前后，光通过两臂时间差的改变量为：</a:t>
            </a:r>
          </a:p>
        </p:txBody>
      </p:sp>
      <p:graphicFrame>
        <p:nvGraphicFramePr>
          <p:cNvPr id="97" name="对象 96"/>
          <p:cNvGraphicFramePr>
            <a:graphicFrameLocks noChangeAspect="1"/>
          </p:cNvGraphicFramePr>
          <p:nvPr/>
        </p:nvGraphicFramePr>
        <p:xfrm>
          <a:off x="3924300" y="912813"/>
          <a:ext cx="4800600" cy="650875"/>
        </p:xfrm>
        <a:graphic>
          <a:graphicData uri="http://schemas.openxmlformats.org/presentationml/2006/ole">
            <mc:AlternateContent xmlns:mc="http://schemas.openxmlformats.org/markup-compatibility/2006">
              <mc:Choice xmlns:v="urn:schemas-microsoft-com:vml" Requires="v">
                <p:oleObj spid="_x0000_s26658" name="公式" r:id="rId4" imgW="2679700" imgH="482600" progId="Equation.3">
                  <p:embed/>
                </p:oleObj>
              </mc:Choice>
              <mc:Fallback>
                <p:oleObj name="公式" r:id="rId4" imgW="2679700" imgH="482600" progId="Equation.3">
                  <p:embed/>
                  <p:pic>
                    <p:nvPicPr>
                      <p:cNvPr id="0" name="对象 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912813"/>
                        <a:ext cx="48006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5" name="对象 124"/>
          <p:cNvGraphicFramePr>
            <a:graphicFrameLocks noChangeAspect="1"/>
          </p:cNvGraphicFramePr>
          <p:nvPr/>
        </p:nvGraphicFramePr>
        <p:xfrm>
          <a:off x="1331913" y="1590675"/>
          <a:ext cx="5449887" cy="1196975"/>
        </p:xfrm>
        <a:graphic>
          <a:graphicData uri="http://schemas.openxmlformats.org/presentationml/2006/ole">
            <mc:AlternateContent xmlns:mc="http://schemas.openxmlformats.org/markup-compatibility/2006">
              <mc:Choice xmlns:v="urn:schemas-microsoft-com:vml" Requires="v">
                <p:oleObj spid="_x0000_s26659" name="公式" r:id="rId6" imgW="2260600" imgH="660400" progId="Equation.3">
                  <p:embed/>
                </p:oleObj>
              </mc:Choice>
              <mc:Fallback>
                <p:oleObj name="公式" r:id="rId6" imgW="2260600" imgH="660400" progId="Equation.3">
                  <p:embed/>
                  <p:pic>
                    <p:nvPicPr>
                      <p:cNvPr id="0" name="对象 1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913" y="1590675"/>
                        <a:ext cx="544988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23"/>
          <p:cNvGrpSpPr>
            <a:grpSpLocks/>
          </p:cNvGrpSpPr>
          <p:nvPr/>
        </p:nvGrpSpPr>
        <p:grpSpPr bwMode="auto">
          <a:xfrm>
            <a:off x="4892675" y="2921000"/>
            <a:ext cx="1414463" cy="749300"/>
            <a:chOff x="1994" y="1310"/>
            <a:chExt cx="1087" cy="768"/>
          </a:xfrm>
        </p:grpSpPr>
        <p:grpSp>
          <p:nvGrpSpPr>
            <p:cNvPr id="26648" name="Group 24"/>
            <p:cNvGrpSpPr>
              <a:grpSpLocks/>
            </p:cNvGrpSpPr>
            <p:nvPr/>
          </p:nvGrpSpPr>
          <p:grpSpPr bwMode="auto">
            <a:xfrm>
              <a:off x="2313" y="1310"/>
              <a:ext cx="768" cy="768"/>
              <a:chOff x="3024" y="912"/>
              <a:chExt cx="768" cy="768"/>
            </a:xfrm>
          </p:grpSpPr>
          <p:sp>
            <p:nvSpPr>
              <p:cNvPr id="26650" name="Oval 25"/>
              <p:cNvSpPr>
                <a:spLocks noChangeArrowheads="1"/>
              </p:cNvSpPr>
              <p:nvPr/>
            </p:nvSpPr>
            <p:spPr bwMode="auto">
              <a:xfrm>
                <a:off x="3024" y="912"/>
                <a:ext cx="768" cy="768"/>
              </a:xfrm>
              <a:prstGeom prst="ellipse">
                <a:avLst/>
              </a:prstGeom>
              <a:solidFill>
                <a:schemeClr val="bg1"/>
              </a:solidFill>
              <a:ln w="19050">
                <a:solidFill>
                  <a:srgbClr val="0070C0"/>
                </a:solidFill>
                <a:round/>
                <a:headEnd/>
                <a:tailEnd/>
              </a:ln>
            </p:spPr>
            <p:txBody>
              <a:bodyPr wrap="none" anchor="ctr"/>
              <a:lstStyle/>
              <a:p>
                <a:endParaRPr kumimoji="0" lang="zh-CN" altLang="zh-CN">
                  <a:ea typeface="宋体" pitchFamily="2" charset="-122"/>
                </a:endParaRPr>
              </a:p>
            </p:txBody>
          </p:sp>
          <p:sp>
            <p:nvSpPr>
              <p:cNvPr id="26651" name="Line 26"/>
              <p:cNvSpPr>
                <a:spLocks noChangeShapeType="1"/>
              </p:cNvSpPr>
              <p:nvPr/>
            </p:nvSpPr>
            <p:spPr bwMode="auto">
              <a:xfrm>
                <a:off x="3401" y="947"/>
                <a:ext cx="0" cy="7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2" name="Line 27"/>
              <p:cNvSpPr>
                <a:spLocks noChangeShapeType="1"/>
              </p:cNvSpPr>
              <p:nvPr/>
            </p:nvSpPr>
            <p:spPr bwMode="auto">
              <a:xfrm>
                <a:off x="3600" y="976"/>
                <a:ext cx="0" cy="63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3" name="Line 28"/>
              <p:cNvSpPr>
                <a:spLocks noChangeShapeType="1"/>
              </p:cNvSpPr>
              <p:nvPr/>
            </p:nvSpPr>
            <p:spPr bwMode="auto">
              <a:xfrm>
                <a:off x="3216" y="1005"/>
                <a:ext cx="0" cy="59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6649" name="Text Box 29"/>
            <p:cNvSpPr txBox="1">
              <a:spLocks noChangeArrowheads="1"/>
            </p:cNvSpPr>
            <p:nvPr/>
          </p:nvSpPr>
          <p:spPr bwMode="auto">
            <a:xfrm>
              <a:off x="1994" y="1551"/>
              <a:ext cx="428"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宋体" pitchFamily="2" charset="-122"/>
                  <a:sym typeface="Symbol" pitchFamily="18" charset="2"/>
                </a:rPr>
                <a:t></a:t>
              </a:r>
              <a:r>
                <a:rPr kumimoji="0" lang="en-US" altLang="zh-CN" sz="1800" i="1">
                  <a:ea typeface="宋体" pitchFamily="2" charset="-122"/>
                </a:rPr>
                <a:t>t</a:t>
              </a:r>
            </a:p>
          </p:txBody>
        </p:sp>
      </p:grpSp>
      <p:grpSp>
        <p:nvGrpSpPr>
          <p:cNvPr id="4" name="Group 32"/>
          <p:cNvGrpSpPr>
            <a:grpSpLocks/>
          </p:cNvGrpSpPr>
          <p:nvPr/>
        </p:nvGrpSpPr>
        <p:grpSpPr bwMode="auto">
          <a:xfrm>
            <a:off x="7273925" y="2876550"/>
            <a:ext cx="1474788" cy="771525"/>
            <a:chOff x="2030" y="3327"/>
            <a:chExt cx="1101" cy="768"/>
          </a:xfrm>
        </p:grpSpPr>
        <p:sp>
          <p:nvSpPr>
            <p:cNvPr id="26640" name="Oval 33"/>
            <p:cNvSpPr>
              <a:spLocks noChangeArrowheads="1"/>
            </p:cNvSpPr>
            <p:nvPr/>
          </p:nvSpPr>
          <p:spPr bwMode="auto">
            <a:xfrm>
              <a:off x="2363" y="3327"/>
              <a:ext cx="768" cy="768"/>
            </a:xfrm>
            <a:prstGeom prst="ellipse">
              <a:avLst/>
            </a:prstGeom>
            <a:solidFill>
              <a:schemeClr val="bg1"/>
            </a:solidFill>
            <a:ln w="19050">
              <a:solidFill>
                <a:srgbClr val="0070C0"/>
              </a:solidFill>
              <a:round/>
              <a:headEnd/>
              <a:tailEnd/>
            </a:ln>
          </p:spPr>
          <p:txBody>
            <a:bodyPr wrap="none" anchor="ctr"/>
            <a:lstStyle/>
            <a:p>
              <a:endParaRPr kumimoji="0" lang="zh-CN" altLang="zh-CN">
                <a:ea typeface="宋体" pitchFamily="2" charset="-122"/>
              </a:endParaRPr>
            </a:p>
          </p:txBody>
        </p:sp>
        <p:sp>
          <p:nvSpPr>
            <p:cNvPr id="26641" name="Line 34"/>
            <p:cNvSpPr>
              <a:spLocks noChangeShapeType="1"/>
            </p:cNvSpPr>
            <p:nvPr/>
          </p:nvSpPr>
          <p:spPr bwMode="auto">
            <a:xfrm>
              <a:off x="2795" y="3379"/>
              <a:ext cx="0" cy="68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2" name="Line 35"/>
            <p:cNvSpPr>
              <a:spLocks noChangeShapeType="1"/>
            </p:cNvSpPr>
            <p:nvPr/>
          </p:nvSpPr>
          <p:spPr bwMode="auto">
            <a:xfrm>
              <a:off x="2987" y="3442"/>
              <a:ext cx="0" cy="53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3" name="Line 36"/>
            <p:cNvSpPr>
              <a:spLocks noChangeShapeType="1"/>
            </p:cNvSpPr>
            <p:nvPr/>
          </p:nvSpPr>
          <p:spPr bwMode="auto">
            <a:xfrm>
              <a:off x="2603" y="3421"/>
              <a:ext cx="0" cy="61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4" name="Line 37"/>
            <p:cNvSpPr>
              <a:spLocks noChangeShapeType="1"/>
            </p:cNvSpPr>
            <p:nvPr/>
          </p:nvSpPr>
          <p:spPr bwMode="auto">
            <a:xfrm>
              <a:off x="2747" y="3393"/>
              <a:ext cx="0" cy="653"/>
            </a:xfrm>
            <a:prstGeom prst="line">
              <a:avLst/>
            </a:prstGeom>
            <a:noFill/>
            <a:ln w="19050">
              <a:solidFill>
                <a:srgbClr val="CC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5" name="Line 38"/>
            <p:cNvSpPr>
              <a:spLocks noChangeShapeType="1"/>
            </p:cNvSpPr>
            <p:nvPr/>
          </p:nvSpPr>
          <p:spPr bwMode="auto">
            <a:xfrm>
              <a:off x="2939" y="3449"/>
              <a:ext cx="0" cy="535"/>
            </a:xfrm>
            <a:prstGeom prst="line">
              <a:avLst/>
            </a:prstGeom>
            <a:noFill/>
            <a:ln w="19050">
              <a:solidFill>
                <a:srgbClr val="CC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6" name="Line 39"/>
            <p:cNvSpPr>
              <a:spLocks noChangeShapeType="1"/>
            </p:cNvSpPr>
            <p:nvPr/>
          </p:nvSpPr>
          <p:spPr bwMode="auto">
            <a:xfrm>
              <a:off x="2555" y="3421"/>
              <a:ext cx="0" cy="612"/>
            </a:xfrm>
            <a:prstGeom prst="line">
              <a:avLst/>
            </a:prstGeom>
            <a:noFill/>
            <a:ln w="19050">
              <a:solidFill>
                <a:srgbClr val="CC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7" name="Text Box 40"/>
            <p:cNvSpPr txBox="1">
              <a:spLocks noChangeArrowheads="1"/>
            </p:cNvSpPr>
            <p:nvPr/>
          </p:nvSpPr>
          <p:spPr bwMode="auto">
            <a:xfrm>
              <a:off x="2030" y="3577"/>
              <a:ext cx="323"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宋体" pitchFamily="2" charset="-122"/>
                  <a:sym typeface="Symbol" pitchFamily="18" charset="2"/>
                </a:rPr>
                <a:t></a:t>
              </a:r>
              <a:r>
                <a:rPr kumimoji="0" lang="en-US" altLang="zh-CN" sz="1800" i="1">
                  <a:ea typeface="宋体" pitchFamily="2" charset="-122"/>
                </a:rPr>
                <a:t>t</a:t>
              </a:r>
              <a:r>
                <a:rPr kumimoji="0" lang="en-US" altLang="zh-CN" sz="1800" baseline="30000">
                  <a:ea typeface="宋体" pitchFamily="2" charset="-122"/>
                </a:rPr>
                <a:t>/</a:t>
              </a:r>
              <a:endParaRPr kumimoji="0" lang="en-US" altLang="zh-CN" sz="1800">
                <a:ea typeface="宋体" pitchFamily="2" charset="-122"/>
              </a:endParaRPr>
            </a:p>
          </p:txBody>
        </p:sp>
      </p:grpSp>
      <p:sp>
        <p:nvSpPr>
          <p:cNvPr id="291870" name="AutoShape 30"/>
          <p:cNvSpPr>
            <a:spLocks noChangeArrowheads="1"/>
          </p:cNvSpPr>
          <p:nvPr/>
        </p:nvSpPr>
        <p:spPr bwMode="auto">
          <a:xfrm>
            <a:off x="6588125" y="3146425"/>
            <a:ext cx="576263" cy="269875"/>
          </a:xfrm>
          <a:prstGeom prst="rightArrow">
            <a:avLst>
              <a:gd name="adj1" fmla="val 50000"/>
              <a:gd name="adj2" fmla="val 40037"/>
            </a:avLst>
          </a:prstGeom>
          <a:solidFill>
            <a:schemeClr val="accent1"/>
          </a:solidFill>
          <a:ln w="9525">
            <a:solidFill>
              <a:schemeClr val="tx1"/>
            </a:solidFill>
            <a:miter lim="800000"/>
            <a:headEnd/>
            <a:tailEnd/>
          </a:ln>
        </p:spPr>
        <p:txBody>
          <a:bodyPr wrap="none" anchor="ctr"/>
          <a:lstStyle/>
          <a:p>
            <a:endParaRPr lang="zh-CN" altLang="en-US"/>
          </a:p>
        </p:txBody>
      </p:sp>
      <p:graphicFrame>
        <p:nvGraphicFramePr>
          <p:cNvPr id="35" name="对象 34"/>
          <p:cNvGraphicFramePr>
            <a:graphicFrameLocks noChangeAspect="1"/>
          </p:cNvGraphicFramePr>
          <p:nvPr/>
        </p:nvGraphicFramePr>
        <p:xfrm>
          <a:off x="6877050" y="2197100"/>
          <a:ext cx="1911350" cy="581025"/>
        </p:xfrm>
        <a:graphic>
          <a:graphicData uri="http://schemas.openxmlformats.org/presentationml/2006/ole">
            <mc:AlternateContent xmlns:mc="http://schemas.openxmlformats.org/markup-compatibility/2006">
              <mc:Choice xmlns:v="urn:schemas-microsoft-com:vml" Requires="v">
                <p:oleObj spid="_x0000_s26660" name="公式" r:id="rId8" imgW="1066800" imgH="431800" progId="Equation.3">
                  <p:embed/>
                </p:oleObj>
              </mc:Choice>
              <mc:Fallback>
                <p:oleObj name="公式" r:id="rId8" imgW="1066800" imgH="431800" progId="Equation.3">
                  <p:embed/>
                  <p:pic>
                    <p:nvPicPr>
                      <p:cNvPr id="0" name="对象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77050" y="2197100"/>
                        <a:ext cx="1911350" cy="5810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1873" name="AutoShape 33"/>
          <p:cNvSpPr>
            <a:spLocks noChangeArrowheads="1"/>
          </p:cNvSpPr>
          <p:nvPr/>
        </p:nvSpPr>
        <p:spPr bwMode="auto">
          <a:xfrm flipH="1">
            <a:off x="5867400" y="2273300"/>
            <a:ext cx="936625" cy="298450"/>
          </a:xfrm>
          <a:custGeom>
            <a:avLst/>
            <a:gdLst>
              <a:gd name="T0" fmla="*/ 2147483647 w 21600"/>
              <a:gd name="T1" fmla="*/ 0 h 21600"/>
              <a:gd name="T2" fmla="*/ 2147483647 w 21600"/>
              <a:gd name="T3" fmla="*/ 289191874 h 21600"/>
              <a:gd name="T4" fmla="*/ 0 w 21600"/>
              <a:gd name="T5" fmla="*/ 723020397 h 21600"/>
              <a:gd name="T6" fmla="*/ 2147483647 w 21600"/>
              <a:gd name="T7" fmla="*/ 867575428 h 21600"/>
              <a:gd name="T8" fmla="*/ 2147483647 w 21600"/>
              <a:gd name="T9" fmla="*/ 602482673 h 21600"/>
              <a:gd name="T10" fmla="*/ 2147483647 w 21600"/>
              <a:gd name="T11" fmla="*/ 289191874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headEnd/>
            <a:tailEnd/>
          </a:ln>
        </p:spPr>
        <p:txBody>
          <a:bodyPr wrap="none" anchor="ctr"/>
          <a:lstStyle/>
          <a:p>
            <a:endParaRPr lang="zh-CN" altLang="en-US"/>
          </a:p>
        </p:txBody>
      </p:sp>
      <p:sp>
        <p:nvSpPr>
          <p:cNvPr id="291874" name="Line 34"/>
          <p:cNvSpPr>
            <a:spLocks noChangeShapeType="1"/>
          </p:cNvSpPr>
          <p:nvPr/>
        </p:nvSpPr>
        <p:spPr bwMode="auto">
          <a:xfrm>
            <a:off x="3924300" y="2273300"/>
            <a:ext cx="287972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91875" name="Object 35"/>
          <p:cNvGraphicFramePr>
            <a:graphicFrameLocks noChangeAspect="1"/>
          </p:cNvGraphicFramePr>
          <p:nvPr/>
        </p:nvGraphicFramePr>
        <p:xfrm>
          <a:off x="827088" y="3065463"/>
          <a:ext cx="3744912" cy="658812"/>
        </p:xfrm>
        <a:graphic>
          <a:graphicData uri="http://schemas.openxmlformats.org/presentationml/2006/ole">
            <mc:AlternateContent xmlns:mc="http://schemas.openxmlformats.org/markup-compatibility/2006">
              <mc:Choice xmlns:v="urn:schemas-microsoft-com:vml" Requires="v">
                <p:oleObj spid="_x0000_s26661" name="Equation" r:id="rId10" imgW="1511300" imgH="355600" progId="Equation.DSMT4">
                  <p:embed/>
                </p:oleObj>
              </mc:Choice>
              <mc:Fallback>
                <p:oleObj name="Equation" r:id="rId10" imgW="1511300" imgH="355600" progId="Equation.DSMT4">
                  <p:embed/>
                  <p:pic>
                    <p:nvPicPr>
                      <p:cNvPr id="0" name="Object 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3065463"/>
                        <a:ext cx="3744912" cy="658812"/>
                      </a:xfrm>
                      <a:prstGeom prst="rect">
                        <a:avLst/>
                      </a:prstGeom>
                      <a:noFill/>
                      <a:ln>
                        <a:noFill/>
                      </a:ln>
                      <a:effectLst/>
                      <a:extLst>
                        <a:ext uri="{909E8E84-426E-40DD-AFC4-6F175D3DCCD1}">
                          <a14:hiddenFill xmlns:a14="http://schemas.microsoft.com/office/drawing/2010/main">
                            <a:solidFill>
                              <a:srgbClr val="33CC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1876" name="Text Box 36"/>
          <p:cNvSpPr txBox="1">
            <a:spLocks noChangeArrowheads="1"/>
          </p:cNvSpPr>
          <p:nvPr/>
        </p:nvSpPr>
        <p:spPr bwMode="auto">
          <a:xfrm>
            <a:off x="800100" y="2736850"/>
            <a:ext cx="29797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ea typeface="华文中宋" pitchFamily="2" charset="-122"/>
              </a:rPr>
              <a:t>那么转动过程中条纹移动数</a:t>
            </a:r>
          </a:p>
        </p:txBody>
      </p:sp>
      <p:sp>
        <p:nvSpPr>
          <p:cNvPr id="39" name="Text Box 22"/>
          <p:cNvSpPr txBox="1">
            <a:spLocks noChangeArrowheads="1"/>
          </p:cNvSpPr>
          <p:nvPr/>
        </p:nvSpPr>
        <p:spPr bwMode="auto">
          <a:xfrm>
            <a:off x="684213" y="3724275"/>
            <a:ext cx="8135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600">
                <a:ea typeface="华文中宋" pitchFamily="2" charset="-122"/>
              </a:rPr>
              <a:t>实验时取 </a:t>
            </a:r>
            <a:r>
              <a:rPr kumimoji="0" lang="en-US" altLang="zh-CN" sz="1600" i="1">
                <a:ea typeface="华文中宋" pitchFamily="2" charset="-122"/>
              </a:rPr>
              <a:t>l</a:t>
            </a:r>
            <a:r>
              <a:rPr kumimoji="0" lang="en-US" altLang="zh-CN" sz="1600" baseline="-25000">
                <a:ea typeface="华文中宋" pitchFamily="2" charset="-122"/>
              </a:rPr>
              <a:t>1</a:t>
            </a:r>
            <a:r>
              <a:rPr kumimoji="0" lang="en-US" altLang="zh-CN" sz="1600">
                <a:ea typeface="华文中宋" pitchFamily="2" charset="-122"/>
              </a:rPr>
              <a:t>=</a:t>
            </a:r>
            <a:r>
              <a:rPr kumimoji="0" lang="en-US" altLang="zh-CN" sz="1600" i="1">
                <a:ea typeface="华文中宋" pitchFamily="2" charset="-122"/>
              </a:rPr>
              <a:t>l</a:t>
            </a:r>
            <a:r>
              <a:rPr kumimoji="0" lang="en-US" altLang="zh-CN" sz="1600" baseline="-25000">
                <a:ea typeface="华文中宋" pitchFamily="2" charset="-122"/>
              </a:rPr>
              <a:t>2</a:t>
            </a:r>
            <a:r>
              <a:rPr kumimoji="0" lang="en-US" altLang="zh-CN" sz="1600">
                <a:ea typeface="华文中宋" pitchFamily="2" charset="-122"/>
              </a:rPr>
              <a:t>=</a:t>
            </a:r>
            <a:r>
              <a:rPr kumimoji="0" lang="en-US" altLang="zh-CN" sz="1600" i="1">
                <a:ea typeface="华文中宋" pitchFamily="2" charset="-122"/>
              </a:rPr>
              <a:t>l=</a:t>
            </a:r>
            <a:r>
              <a:rPr kumimoji="0" lang="en-US" altLang="zh-CN" sz="1600">
                <a:ea typeface="华文中宋" pitchFamily="2" charset="-122"/>
              </a:rPr>
              <a:t>11m</a:t>
            </a:r>
            <a:r>
              <a:rPr kumimoji="0" lang="zh-CN" altLang="en-US" sz="1600">
                <a:ea typeface="华文中宋" pitchFamily="2" charset="-122"/>
              </a:rPr>
              <a:t>，</a:t>
            </a:r>
            <a:r>
              <a:rPr kumimoji="0" lang="zh-CN" altLang="en-US" sz="1600">
                <a:ea typeface="华文中宋" pitchFamily="2" charset="-122"/>
                <a:sym typeface="Symbol" pitchFamily="18" charset="2"/>
              </a:rPr>
              <a:t></a:t>
            </a:r>
            <a:r>
              <a:rPr kumimoji="0" lang="en-US" altLang="zh-CN" sz="1600">
                <a:ea typeface="华文中宋" pitchFamily="2" charset="-122"/>
              </a:rPr>
              <a:t>=5.9×10</a:t>
            </a:r>
            <a:r>
              <a:rPr kumimoji="0" lang="en-US" altLang="zh-CN" sz="1600" baseline="30000">
                <a:ea typeface="华文中宋" pitchFamily="2" charset="-122"/>
              </a:rPr>
              <a:t>-7</a:t>
            </a:r>
            <a:r>
              <a:rPr kumimoji="0" lang="en-US" altLang="zh-CN" sz="1600">
                <a:ea typeface="华文中宋" pitchFamily="2" charset="-122"/>
              </a:rPr>
              <a:t>m</a:t>
            </a:r>
            <a:r>
              <a:rPr kumimoji="0" lang="zh-CN" altLang="en-US" sz="1600">
                <a:ea typeface="华文中宋" pitchFamily="2" charset="-122"/>
              </a:rPr>
              <a:t>，</a:t>
            </a:r>
            <a:r>
              <a:rPr kumimoji="0" lang="en-US" altLang="zh-CN" sz="1600" i="1">
                <a:ea typeface="华文中宋" pitchFamily="2" charset="-122"/>
              </a:rPr>
              <a:t>u</a:t>
            </a:r>
            <a:r>
              <a:rPr kumimoji="0" lang="en-US" altLang="zh-CN" sz="1600">
                <a:ea typeface="华文中宋" pitchFamily="2" charset="-122"/>
              </a:rPr>
              <a:t>=3.0×10</a:t>
            </a:r>
            <a:r>
              <a:rPr kumimoji="0" lang="en-US" altLang="zh-CN" sz="1600" baseline="30000">
                <a:ea typeface="华文中宋" pitchFamily="2" charset="-122"/>
              </a:rPr>
              <a:t>4</a:t>
            </a:r>
            <a:r>
              <a:rPr kumimoji="0" lang="en-US" altLang="zh-CN" sz="1600">
                <a:ea typeface="华文中宋" pitchFamily="2" charset="-122"/>
              </a:rPr>
              <a:t>m/s(</a:t>
            </a:r>
            <a:r>
              <a:rPr kumimoji="0" lang="zh-CN" altLang="en-US" sz="1600">
                <a:ea typeface="华文中宋" pitchFamily="2" charset="-122"/>
              </a:rPr>
              <a:t>为地球绕太阳公转的速度</a:t>
            </a:r>
            <a:r>
              <a:rPr kumimoji="0" lang="en-US" altLang="zh-CN" sz="1600">
                <a:ea typeface="华文中宋" pitchFamily="2" charset="-122"/>
              </a:rPr>
              <a:t>),</a:t>
            </a:r>
            <a:r>
              <a:rPr kumimoji="0" lang="zh-CN" altLang="en-US" sz="1600">
                <a:ea typeface="华文中宋" pitchFamily="2" charset="-122"/>
              </a:rPr>
              <a:t>理论值</a:t>
            </a:r>
            <a:r>
              <a:rPr kumimoji="0" lang="en-US" altLang="zh-CN" sz="1600">
                <a:ea typeface="华文中宋" pitchFamily="2" charset="-122"/>
              </a:rPr>
              <a:t>Δ</a:t>
            </a:r>
            <a:r>
              <a:rPr kumimoji="0" lang="en-US" altLang="zh-CN" sz="1600" i="1">
                <a:ea typeface="华文中宋" pitchFamily="2" charset="-122"/>
              </a:rPr>
              <a:t>N</a:t>
            </a:r>
            <a:r>
              <a:rPr kumimoji="0" lang="en-US" altLang="zh-CN" sz="1600">
                <a:ea typeface="华文中宋" pitchFamily="2" charset="-122"/>
              </a:rPr>
              <a:t>≈0.37</a:t>
            </a:r>
            <a:r>
              <a:rPr kumimoji="0" lang="zh-CN" altLang="en-US" sz="1600">
                <a:ea typeface="华文中宋" pitchFamily="2" charset="-122"/>
              </a:rPr>
              <a:t>条，但实验观测值小于</a:t>
            </a:r>
            <a:r>
              <a:rPr kumimoji="0" lang="en-US" altLang="zh-CN" sz="1600">
                <a:ea typeface="华文中宋" pitchFamily="2" charset="-122"/>
              </a:rPr>
              <a:t>0.01</a:t>
            </a:r>
            <a:r>
              <a:rPr kumimoji="0" lang="zh-CN" altLang="en-US" sz="1600">
                <a:ea typeface="华文中宋" pitchFamily="2" charset="-122"/>
              </a:rPr>
              <a:t>条。 </a:t>
            </a:r>
          </a:p>
        </p:txBody>
      </p:sp>
      <p:sp>
        <p:nvSpPr>
          <p:cNvPr id="42" name="Text Box 39"/>
          <p:cNvSpPr txBox="1">
            <a:spLocks noChangeArrowheads="1"/>
          </p:cNvSpPr>
          <p:nvPr/>
        </p:nvSpPr>
        <p:spPr bwMode="auto">
          <a:xfrm>
            <a:off x="3059113" y="4227513"/>
            <a:ext cx="2665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0000"/>
                </a:solidFill>
                <a:ea typeface="华文中宋" pitchFamily="2" charset="-122"/>
              </a:rPr>
              <a:t>实验得到了“零”结果！</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91844"/>
                                        </p:tgtEl>
                                        <p:attrNameLst>
                                          <p:attrName>style.visibility</p:attrName>
                                        </p:attrNameLst>
                                      </p:cBhvr>
                                      <p:to>
                                        <p:strVal val="visible"/>
                                      </p:to>
                                    </p:set>
                                    <p:anim calcmode="lin" valueType="num">
                                      <p:cBhvr>
                                        <p:cTn id="7" dur="500" fill="hold"/>
                                        <p:tgtEl>
                                          <p:spTgt spid="291844"/>
                                        </p:tgtEl>
                                        <p:attrNameLst>
                                          <p:attrName>ppt_w</p:attrName>
                                        </p:attrNameLst>
                                      </p:cBhvr>
                                      <p:tavLst>
                                        <p:tav tm="0">
                                          <p:val>
                                            <p:fltVal val="0"/>
                                          </p:val>
                                        </p:tav>
                                        <p:tav tm="100000">
                                          <p:val>
                                            <p:strVal val="#ppt_w"/>
                                          </p:val>
                                        </p:tav>
                                      </p:tavLst>
                                    </p:anim>
                                    <p:anim calcmode="lin" valueType="num">
                                      <p:cBhvr>
                                        <p:cTn id="8" dur="500" fill="hold"/>
                                        <p:tgtEl>
                                          <p:spTgt spid="29184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97"/>
                                        </p:tgtEl>
                                        <p:attrNameLst>
                                          <p:attrName>style.visibility</p:attrName>
                                        </p:attrNameLst>
                                      </p:cBhvr>
                                      <p:to>
                                        <p:strVal val="visible"/>
                                      </p:to>
                                    </p:set>
                                    <p:animEffect transition="in" filter="wipe(left)">
                                      <p:cBhvr>
                                        <p:cTn id="13" dur="500"/>
                                        <p:tgtEl>
                                          <p:spTgt spid="9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291847"/>
                                        </p:tgtEl>
                                        <p:attrNameLst>
                                          <p:attrName>style.visibility</p:attrName>
                                        </p:attrNameLst>
                                      </p:cBhvr>
                                      <p:to>
                                        <p:strVal val="visible"/>
                                      </p:to>
                                    </p:set>
                                    <p:anim calcmode="lin" valueType="num">
                                      <p:cBhvr>
                                        <p:cTn id="18" dur="500" fill="hold"/>
                                        <p:tgtEl>
                                          <p:spTgt spid="291847"/>
                                        </p:tgtEl>
                                        <p:attrNameLst>
                                          <p:attrName>ppt_w</p:attrName>
                                        </p:attrNameLst>
                                      </p:cBhvr>
                                      <p:tavLst>
                                        <p:tav tm="0">
                                          <p:val>
                                            <p:fltVal val="0"/>
                                          </p:val>
                                        </p:tav>
                                        <p:tav tm="100000">
                                          <p:val>
                                            <p:strVal val="#ppt_w"/>
                                          </p:val>
                                        </p:tav>
                                      </p:tavLst>
                                    </p:anim>
                                    <p:anim calcmode="lin" valueType="num">
                                      <p:cBhvr>
                                        <p:cTn id="19" dur="500" fill="hold"/>
                                        <p:tgtEl>
                                          <p:spTgt spid="291847"/>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25"/>
                                        </p:tgtEl>
                                        <p:attrNameLst>
                                          <p:attrName>style.visibility</p:attrName>
                                        </p:attrNameLst>
                                      </p:cBhvr>
                                      <p:to>
                                        <p:strVal val="visible"/>
                                      </p:to>
                                    </p:set>
                                    <p:animEffect transition="in" filter="wipe(left)">
                                      <p:cBhvr>
                                        <p:cTn id="24" dur="500"/>
                                        <p:tgtEl>
                                          <p:spTgt spid="12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91874"/>
                                        </p:tgtEl>
                                        <p:attrNameLst>
                                          <p:attrName>style.visibility</p:attrName>
                                        </p:attrNameLst>
                                      </p:cBhvr>
                                      <p:to>
                                        <p:strVal val="visible"/>
                                      </p:to>
                                    </p:set>
                                    <p:animEffect transition="in" filter="blinds(horizontal)">
                                      <p:cBhvr>
                                        <p:cTn id="29" dur="500"/>
                                        <p:tgtEl>
                                          <p:spTgt spid="29187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291873"/>
                                        </p:tgtEl>
                                        <p:attrNameLst>
                                          <p:attrName>style.visibility</p:attrName>
                                        </p:attrNameLst>
                                      </p:cBhvr>
                                      <p:to>
                                        <p:strVal val="visible"/>
                                      </p:to>
                                    </p:set>
                                    <p:animEffect transition="in" filter="blinds(horizontal)">
                                      <p:cBhvr>
                                        <p:cTn id="32" dur="500"/>
                                        <p:tgtEl>
                                          <p:spTgt spid="291873"/>
                                        </p:tgtEl>
                                      </p:cBhvr>
                                    </p:animEffect>
                                  </p:childTnLst>
                                </p:cTn>
                              </p:par>
                              <p:par>
                                <p:cTn id="33" presetID="3" presetClass="entr" presetSubtype="1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blinds(horizontal)">
                                      <p:cBhvr>
                                        <p:cTn id="35" dur="500"/>
                                        <p:tgtEl>
                                          <p:spTgt spid="3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291876"/>
                                        </p:tgtEl>
                                        <p:attrNameLst>
                                          <p:attrName>style.visibility</p:attrName>
                                        </p:attrNameLst>
                                      </p:cBhvr>
                                      <p:to>
                                        <p:strVal val="visible"/>
                                      </p:to>
                                    </p:set>
                                    <p:anim calcmode="lin" valueType="num">
                                      <p:cBhvr>
                                        <p:cTn id="40" dur="500" fill="hold"/>
                                        <p:tgtEl>
                                          <p:spTgt spid="291876"/>
                                        </p:tgtEl>
                                        <p:attrNameLst>
                                          <p:attrName>ppt_w</p:attrName>
                                        </p:attrNameLst>
                                      </p:cBhvr>
                                      <p:tavLst>
                                        <p:tav tm="0">
                                          <p:val>
                                            <p:fltVal val="0"/>
                                          </p:val>
                                        </p:tav>
                                        <p:tav tm="100000">
                                          <p:val>
                                            <p:strVal val="#ppt_w"/>
                                          </p:val>
                                        </p:tav>
                                      </p:tavLst>
                                    </p:anim>
                                    <p:anim calcmode="lin" valueType="num">
                                      <p:cBhvr>
                                        <p:cTn id="41" dur="500" fill="hold"/>
                                        <p:tgtEl>
                                          <p:spTgt spid="2918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3" name="chimes.wav"/>
                                        </p:tgtEl>
                                      </p:cMediaNode>
                                    </p:audio>
                                  </p:subTnLst>
                                </p:cTn>
                              </p:par>
                            </p:childTnLst>
                          </p:cTn>
                        </p:par>
                      </p:childTnLst>
                    </p:cTn>
                  </p:par>
                  <p:par>
                    <p:cTn id="42" fill="hold" nodeType="clickPar">
                      <p:stCondLst>
                        <p:cond delay="indefinite"/>
                      </p:stCondLst>
                      <p:childTnLst>
                        <p:par>
                          <p:cTn id="43" fill="hold" nodeType="withGroup">
                            <p:stCondLst>
                              <p:cond delay="0"/>
                            </p:stCondLst>
                            <p:childTnLst>
                              <p:par>
                                <p:cTn id="44" presetID="17" presetClass="entr" presetSubtype="10" fill="hold" nodeType="clickEffect">
                                  <p:stCondLst>
                                    <p:cond delay="0"/>
                                  </p:stCondLst>
                                  <p:childTnLst>
                                    <p:set>
                                      <p:cBhvr>
                                        <p:cTn id="45" dur="1" fill="hold">
                                          <p:stCondLst>
                                            <p:cond delay="0"/>
                                          </p:stCondLst>
                                        </p:cTn>
                                        <p:tgtEl>
                                          <p:spTgt spid="291875"/>
                                        </p:tgtEl>
                                        <p:attrNameLst>
                                          <p:attrName>style.visibility</p:attrName>
                                        </p:attrNameLst>
                                      </p:cBhvr>
                                      <p:to>
                                        <p:strVal val="visible"/>
                                      </p:to>
                                    </p:set>
                                    <p:anim calcmode="lin" valueType="num">
                                      <p:cBhvr>
                                        <p:cTn id="46" dur="500" fill="hold"/>
                                        <p:tgtEl>
                                          <p:spTgt spid="291875"/>
                                        </p:tgtEl>
                                        <p:attrNameLst>
                                          <p:attrName>ppt_w</p:attrName>
                                        </p:attrNameLst>
                                      </p:cBhvr>
                                      <p:tavLst>
                                        <p:tav tm="0">
                                          <p:val>
                                            <p:fltVal val="0"/>
                                          </p:val>
                                        </p:tav>
                                        <p:tav tm="100000">
                                          <p:val>
                                            <p:strVal val="#ppt_w"/>
                                          </p:val>
                                        </p:tav>
                                      </p:tavLst>
                                    </p:anim>
                                    <p:anim calcmode="lin" valueType="num">
                                      <p:cBhvr>
                                        <p:cTn id="47" dur="500" fill="hold"/>
                                        <p:tgtEl>
                                          <p:spTgt spid="2918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16"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 calcmode="lin" valueType="num">
                                      <p:cBhvr>
                                        <p:cTn id="52" dur="500" fill="hold"/>
                                        <p:tgtEl>
                                          <p:spTgt spid="2"/>
                                        </p:tgtEl>
                                        <p:attrNameLst>
                                          <p:attrName>ppt_w</p:attrName>
                                        </p:attrNameLst>
                                      </p:cBhvr>
                                      <p:tavLst>
                                        <p:tav tm="0">
                                          <p:val>
                                            <p:fltVal val="0"/>
                                          </p:val>
                                        </p:tav>
                                        <p:tav tm="100000">
                                          <p:val>
                                            <p:strVal val="#ppt_w"/>
                                          </p:val>
                                        </p:tav>
                                      </p:tavLst>
                                    </p:anim>
                                    <p:anim calcmode="lin" valueType="num">
                                      <p:cBhvr>
                                        <p:cTn id="5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91870"/>
                                        </p:tgtEl>
                                        <p:attrNameLst>
                                          <p:attrName>style.visibility</p:attrName>
                                        </p:attrNameLst>
                                      </p:cBhvr>
                                      <p:to>
                                        <p:strVal val="visible"/>
                                      </p:to>
                                    </p:set>
                                    <p:animEffect transition="in" filter="blinds(horizontal)">
                                      <p:cBhvr>
                                        <p:cTn id="58" dur="500"/>
                                        <p:tgtEl>
                                          <p:spTgt spid="29187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nodeType="clickEffect">
                                  <p:stCondLst>
                                    <p:cond delay="0"/>
                                  </p:stCondLst>
                                  <p:childTnLst>
                                    <p:set>
                                      <p:cBhvr>
                                        <p:cTn id="62" dur="1" fill="hold">
                                          <p:stCondLst>
                                            <p:cond delay="0"/>
                                          </p:stCondLst>
                                        </p:cTn>
                                        <p:tgtEl>
                                          <p:spTgt spid="4"/>
                                        </p:tgtEl>
                                        <p:attrNameLst>
                                          <p:attrName>style.visibility</p:attrName>
                                        </p:attrNameLst>
                                      </p:cBhvr>
                                      <p:to>
                                        <p:strVal val="visible"/>
                                      </p:to>
                                    </p:set>
                                    <p:anim calcmode="lin" valueType="num">
                                      <p:cBhvr>
                                        <p:cTn id="63" dur="500" fill="hold"/>
                                        <p:tgtEl>
                                          <p:spTgt spid="4"/>
                                        </p:tgtEl>
                                        <p:attrNameLst>
                                          <p:attrName>ppt_w</p:attrName>
                                        </p:attrNameLst>
                                      </p:cBhvr>
                                      <p:tavLst>
                                        <p:tav tm="0">
                                          <p:val>
                                            <p:fltVal val="0"/>
                                          </p:val>
                                        </p:tav>
                                        <p:tav tm="100000">
                                          <p:val>
                                            <p:strVal val="#ppt_w"/>
                                          </p:val>
                                        </p:tav>
                                      </p:tavLst>
                                    </p:anim>
                                    <p:anim calcmode="lin" valueType="num">
                                      <p:cBhvr>
                                        <p:cTn id="64"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500"/>
                                        <p:tgtEl>
                                          <p:spTgt spid="39"/>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wipe(left)">
                                      <p:cBhvr>
                                        <p:cTn id="7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4" grpId="0" autoUpdateAnimBg="0"/>
      <p:bldP spid="291847" grpId="0" autoUpdateAnimBg="0"/>
      <p:bldP spid="291870" grpId="0" animBg="1"/>
      <p:bldP spid="291873" grpId="0" animBg="1"/>
      <p:bldP spid="291874" grpId="0" animBg="1"/>
      <p:bldP spid="291876" grpId="0" autoUpdateAnimBg="0"/>
      <p:bldP spid="39" grpId="0"/>
      <p:bldP spid="4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17" name="Text Box 41"/>
          <p:cNvSpPr txBox="1">
            <a:spLocks noChangeArrowheads="1"/>
          </p:cNvSpPr>
          <p:nvPr/>
        </p:nvSpPr>
        <p:spPr bwMode="auto">
          <a:xfrm>
            <a:off x="395288" y="1785938"/>
            <a:ext cx="84026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洛仑兹等人提出，可能是地球拖着“以太”一道运动，地球与以太之间没有相对运动了，当然测不出速度的差别，但是这一想法又被天文上的“光行差实验”所否定。“光行差实验”否定地球拖着“以太”运动。</a:t>
            </a:r>
          </a:p>
        </p:txBody>
      </p:sp>
      <p:sp>
        <p:nvSpPr>
          <p:cNvPr id="124968" name="Text Box 40"/>
          <p:cNvSpPr txBox="1">
            <a:spLocks noChangeArrowheads="1"/>
          </p:cNvSpPr>
          <p:nvPr/>
        </p:nvSpPr>
        <p:spPr bwMode="auto">
          <a:xfrm>
            <a:off x="490538" y="784225"/>
            <a:ext cx="81851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just"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有一部分人不相信实验的真实性，继续改进实验设备做实验。而且在不同的时间，不同的纬度，不同海拔高度来做，实验精度越来越高，但结果仍然一样，</a:t>
            </a:r>
            <a:r>
              <a:rPr lang="zh-CN" altLang="en-US" sz="1800">
                <a:solidFill>
                  <a:srgbClr val="FF0000"/>
                </a:solidFill>
                <a:latin typeface="华文中宋" pitchFamily="2" charset="-122"/>
                <a:ea typeface="华文中宋" pitchFamily="2" charset="-122"/>
              </a:rPr>
              <a:t>地球上的光速与地球速度无关</a:t>
            </a:r>
            <a:r>
              <a:rPr lang="zh-CN" altLang="en-US" sz="1800">
                <a:latin typeface="华文中宋" pitchFamily="2" charset="-122"/>
                <a:ea typeface="华文中宋" pitchFamily="2" charset="-122"/>
              </a:rPr>
              <a:t>。</a:t>
            </a:r>
          </a:p>
        </p:txBody>
      </p:sp>
      <p:sp>
        <p:nvSpPr>
          <p:cNvPr id="286723" name="Text Box 3"/>
          <p:cNvSpPr txBox="1">
            <a:spLocks noChangeArrowheads="1"/>
          </p:cNvSpPr>
          <p:nvPr/>
        </p:nvSpPr>
        <p:spPr bwMode="auto">
          <a:xfrm>
            <a:off x="414338" y="2787650"/>
            <a:ext cx="85502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还有不少解释</a:t>
            </a:r>
            <a:r>
              <a:rPr lang="en-US" altLang="zh-CN" sz="1800">
                <a:latin typeface="华文中宋" pitchFamily="2" charset="-122"/>
                <a:ea typeface="华文中宋" pitchFamily="2" charset="-122"/>
              </a:rPr>
              <a:t>…..</a:t>
            </a:r>
            <a:r>
              <a:rPr lang="zh-CN" altLang="en-US" sz="1800">
                <a:latin typeface="华文中宋" pitchFamily="2" charset="-122"/>
                <a:ea typeface="华文中宋" pitchFamily="2" charset="-122"/>
              </a:rPr>
              <a:t>但总有矛盾的地方。这样一来物理学面临着一埸危机，对于经典物理的大厦，人们想扶起东墙却倒了西墙，想扶起西墙却倒了东墙。</a:t>
            </a:r>
          </a:p>
        </p:txBody>
      </p:sp>
      <p:sp>
        <p:nvSpPr>
          <p:cNvPr id="286725" name="Text Box 5"/>
          <p:cNvSpPr txBox="1">
            <a:spLocks noChangeArrowheads="1"/>
          </p:cNvSpPr>
          <p:nvPr/>
        </p:nvSpPr>
        <p:spPr bwMode="auto">
          <a:xfrm>
            <a:off x="414338" y="3513138"/>
            <a:ext cx="85502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为什么会产生这样的现象呢？因为人们受着传统思想的束缚，</a:t>
            </a:r>
            <a:r>
              <a:rPr lang="zh-CN" altLang="en-US" sz="1800">
                <a:solidFill>
                  <a:srgbClr val="0000FF"/>
                </a:solidFill>
                <a:latin typeface="华文中宋" pitchFamily="2" charset="-122"/>
                <a:ea typeface="华文中宋" pitchFamily="2" charset="-122"/>
              </a:rPr>
              <a:t>仍抱着牛顿的时空观不放。抱着伽利略坐标变换不放。</a:t>
            </a:r>
            <a:r>
              <a:rPr lang="zh-CN" altLang="en-US" sz="1800">
                <a:latin typeface="华文中宋" pitchFamily="2" charset="-122"/>
                <a:ea typeface="华文中宋" pitchFamily="2" charset="-122"/>
              </a:rPr>
              <a:t>在这种情况下就看谁能冲破传统思想的束缚，就能在大量的实验事实面前创建新的理论。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68"/>
                                        </p:tgtEl>
                                        <p:attrNameLst>
                                          <p:attrName>style.visibility</p:attrName>
                                        </p:attrNameLst>
                                      </p:cBhvr>
                                      <p:to>
                                        <p:strVal val="visible"/>
                                      </p:to>
                                    </p:set>
                                    <p:animEffect transition="in" filter="wipe(left)">
                                      <p:cBhvr>
                                        <p:cTn id="7" dur="500"/>
                                        <p:tgtEl>
                                          <p:spTgt spid="1249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1417"/>
                                        </p:tgtEl>
                                        <p:attrNameLst>
                                          <p:attrName>style.visibility</p:attrName>
                                        </p:attrNameLst>
                                      </p:cBhvr>
                                      <p:to>
                                        <p:strVal val="visible"/>
                                      </p:to>
                                    </p:set>
                                    <p:animEffect transition="in" filter="checkerboard(across)">
                                      <p:cBhvr>
                                        <p:cTn id="12" dur="500"/>
                                        <p:tgtEl>
                                          <p:spTgt spid="1014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86723"/>
                                        </p:tgtEl>
                                        <p:attrNameLst>
                                          <p:attrName>style.visibility</p:attrName>
                                        </p:attrNameLst>
                                      </p:cBhvr>
                                      <p:to>
                                        <p:strVal val="visible"/>
                                      </p:to>
                                    </p:set>
                                    <p:animEffect transition="in" filter="checkerboard(across)">
                                      <p:cBhvr>
                                        <p:cTn id="17" dur="500"/>
                                        <p:tgtEl>
                                          <p:spTgt spid="2867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86725"/>
                                        </p:tgtEl>
                                        <p:attrNameLst>
                                          <p:attrName>style.visibility</p:attrName>
                                        </p:attrNameLst>
                                      </p:cBhvr>
                                      <p:to>
                                        <p:strVal val="visible"/>
                                      </p:to>
                                    </p:set>
                                    <p:animEffect transition="in" filter="checkerboard(across)">
                                      <p:cBhvr>
                                        <p:cTn id="22" dur="500"/>
                                        <p:tgtEl>
                                          <p:spTgt spid="286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17" grpId="0" autoUpdateAnimBg="0"/>
      <p:bldP spid="124968" grpId="0"/>
      <p:bldP spid="286723" grpId="0" autoUpdateAnimBg="0"/>
      <p:bldP spid="28672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65" name="Rectangle 41"/>
          <p:cNvSpPr>
            <a:spLocks noChangeArrowheads="1"/>
          </p:cNvSpPr>
          <p:nvPr/>
        </p:nvSpPr>
        <p:spPr bwMode="auto">
          <a:xfrm>
            <a:off x="539750" y="2030413"/>
            <a:ext cx="8208963" cy="1477962"/>
          </a:xfrm>
          <a:prstGeom prst="rect">
            <a:avLst/>
          </a:prstGeom>
          <a:noFill/>
          <a:ln w="19050" cap="rnd">
            <a:solidFill>
              <a:srgbClr val="FF0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en-US" altLang="zh-CN" sz="1500">
                <a:ea typeface="华文中宋" pitchFamily="2" charset="-122"/>
              </a:rPr>
              <a:t>“</a:t>
            </a:r>
            <a:r>
              <a:rPr lang="zh-CN" altLang="en-US" sz="1500">
                <a:ea typeface="华文中宋" pitchFamily="2" charset="-122"/>
              </a:rPr>
              <a:t>我尊敬的迈克尔逊博士，您开始工作时，我还是个孩子，只有一米高，正是您将物理学引向新的道路，通过您精湛的实验工作，铺平了相对论发展的道路，您揭示了光以太的隐患，激发了洛仑兹和菲兹杰诺的思想，狭义相对论正是由此发展而来的。没有您的工作，相对论今天顶多也只是一个有趣的猜想，您的验证使之得到最初的实验基础。”</a:t>
            </a:r>
          </a:p>
          <a:p>
            <a:endParaRPr lang="zh-CN" altLang="en-US" sz="1500">
              <a:ea typeface="华文中宋" pitchFamily="2" charset="-122"/>
            </a:endParaRPr>
          </a:p>
          <a:p>
            <a:r>
              <a:rPr lang="zh-CN" altLang="en-US" sz="1500">
                <a:ea typeface="华文中宋" pitchFamily="2" charset="-122"/>
              </a:rPr>
              <a:t>“我的实验竟然对相对论这个怪物的诞生起了作用，我对此感到十分遗憾。”</a:t>
            </a:r>
          </a:p>
        </p:txBody>
      </p:sp>
      <p:sp>
        <p:nvSpPr>
          <p:cNvPr id="103466" name="Rectangle 42"/>
          <p:cNvSpPr>
            <a:spLocks noChangeArrowheads="1"/>
          </p:cNvSpPr>
          <p:nvPr/>
        </p:nvSpPr>
        <p:spPr bwMode="auto">
          <a:xfrm>
            <a:off x="539750" y="1492250"/>
            <a:ext cx="4679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000FF"/>
                </a:solidFill>
                <a:ea typeface="华文中宋" pitchFamily="2" charset="-122"/>
              </a:rPr>
              <a:t>爱因斯坦</a:t>
            </a:r>
            <a:r>
              <a:rPr lang="en-US" altLang="zh-CN" sz="1800">
                <a:solidFill>
                  <a:srgbClr val="0000FF"/>
                </a:solidFill>
                <a:ea typeface="华文中宋" pitchFamily="2" charset="-122"/>
              </a:rPr>
              <a:t>1931 </a:t>
            </a:r>
            <a:r>
              <a:rPr lang="zh-CN" altLang="en-US" sz="1800">
                <a:solidFill>
                  <a:srgbClr val="0000FF"/>
                </a:solidFill>
                <a:ea typeface="华文中宋" pitchFamily="2" charset="-122"/>
              </a:rPr>
              <a:t>年会见迈克尔耳逊时的对话：</a:t>
            </a:r>
          </a:p>
        </p:txBody>
      </p:sp>
      <p:sp>
        <p:nvSpPr>
          <p:cNvPr id="103468" name="Rectangle 44"/>
          <p:cNvSpPr>
            <a:spLocks noChangeArrowheads="1"/>
          </p:cNvSpPr>
          <p:nvPr/>
        </p:nvSpPr>
        <p:spPr bwMode="auto">
          <a:xfrm>
            <a:off x="757238" y="844550"/>
            <a:ext cx="75596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ea typeface="华文中宋" pitchFamily="2" charset="-122"/>
              </a:rPr>
              <a:t>        </a:t>
            </a:r>
            <a:r>
              <a:rPr lang="zh-CN" altLang="en-US" sz="1800">
                <a:ea typeface="华文中宋" pitchFamily="2" charset="-122"/>
              </a:rPr>
              <a:t>爱因斯坦则抛弃以太（即否定绝对静止参考系的存在），建立相对论，并提出了全新的时、空观。</a:t>
            </a:r>
          </a:p>
        </p:txBody>
      </p:sp>
      <p:sp>
        <p:nvSpPr>
          <p:cNvPr id="103469" name="Rectangle 45"/>
          <p:cNvSpPr>
            <a:spLocks noChangeArrowheads="1"/>
          </p:cNvSpPr>
          <p:nvPr/>
        </p:nvSpPr>
        <p:spPr bwMode="auto">
          <a:xfrm>
            <a:off x="539750" y="3724275"/>
            <a:ext cx="8353425" cy="784225"/>
          </a:xfrm>
          <a:prstGeom prst="rect">
            <a:avLst/>
          </a:prstGeom>
          <a:noFill/>
          <a:ln w="28575">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zh-CN" altLang="en-US" sz="1500">
                <a:ea typeface="华文中宋" pitchFamily="2" charset="-122"/>
              </a:rPr>
              <a:t>相对论的兴起是由于实际需要，是由于旧理论中的矛盾非常严重和深刻，而看来旧理论对这些矛盾已经没法避免了。</a:t>
            </a:r>
          </a:p>
          <a:p>
            <a:r>
              <a:rPr lang="zh-CN" altLang="en-US" sz="1500">
                <a:ea typeface="华文中宋" pitchFamily="2" charset="-122"/>
              </a:rPr>
              <a:t>                                                                   </a:t>
            </a:r>
            <a:r>
              <a:rPr lang="en-US" altLang="zh-CN" sz="1500">
                <a:ea typeface="华文中宋" pitchFamily="2" charset="-122"/>
              </a:rPr>
              <a:t>--------</a:t>
            </a:r>
            <a:r>
              <a:rPr lang="zh-CN" altLang="en-US" sz="1500">
                <a:ea typeface="华文中宋" pitchFamily="2" charset="-122"/>
              </a:rPr>
              <a:t>爱因斯坦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3468"/>
                                        </p:tgtEl>
                                        <p:attrNameLst>
                                          <p:attrName>style.visibility</p:attrName>
                                        </p:attrNameLst>
                                      </p:cBhvr>
                                      <p:to>
                                        <p:strVal val="visible"/>
                                      </p:to>
                                    </p:set>
                                    <p:animEffect transition="in" filter="checkerboard(across)">
                                      <p:cBhvr>
                                        <p:cTn id="7" dur="500"/>
                                        <p:tgtEl>
                                          <p:spTgt spid="1034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466"/>
                                        </p:tgtEl>
                                        <p:attrNameLst>
                                          <p:attrName>style.visibility</p:attrName>
                                        </p:attrNameLst>
                                      </p:cBhvr>
                                      <p:to>
                                        <p:strVal val="visible"/>
                                      </p:to>
                                    </p:set>
                                    <p:animEffect transition="in" filter="blinds(horizontal)">
                                      <p:cBhvr>
                                        <p:cTn id="12" dur="500"/>
                                        <p:tgtEl>
                                          <p:spTgt spid="1034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3465"/>
                                        </p:tgtEl>
                                        <p:attrNameLst>
                                          <p:attrName>style.visibility</p:attrName>
                                        </p:attrNameLst>
                                      </p:cBhvr>
                                      <p:to>
                                        <p:strVal val="visible"/>
                                      </p:to>
                                    </p:set>
                                    <p:animEffect transition="in" filter="blinds(horizontal)">
                                      <p:cBhvr>
                                        <p:cTn id="17" dur="500"/>
                                        <p:tgtEl>
                                          <p:spTgt spid="1034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3469"/>
                                        </p:tgtEl>
                                        <p:attrNameLst>
                                          <p:attrName>style.visibility</p:attrName>
                                        </p:attrNameLst>
                                      </p:cBhvr>
                                      <p:to>
                                        <p:strVal val="visible"/>
                                      </p:to>
                                    </p:set>
                                    <p:animEffect transition="in" filter="blinds(horizontal)">
                                      <p:cBhvr>
                                        <p:cTn id="22" dur="500"/>
                                        <p:tgtEl>
                                          <p:spTgt spid="103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65" grpId="0" animBg="1"/>
      <p:bldP spid="103466" grpId="0"/>
      <p:bldP spid="103468" grpId="0" autoUpdateAnimBg="0"/>
      <p:bldP spid="10346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6"/>
          <p:cNvSpPr>
            <a:spLocks noChangeArrowheads="1"/>
          </p:cNvSpPr>
          <p:nvPr/>
        </p:nvSpPr>
        <p:spPr bwMode="auto">
          <a:xfrm>
            <a:off x="457200" y="1238250"/>
            <a:ext cx="83058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sz="1600">
                <a:latin typeface="华文中宋" pitchFamily="2" charset="-122"/>
                <a:ea typeface="华文中宋" pitchFamily="2" charset="-122"/>
              </a:rPr>
              <a:t>       </a:t>
            </a:r>
            <a:r>
              <a:rPr lang="zh-CN" altLang="en-US" sz="1600">
                <a:latin typeface="华文中宋" pitchFamily="2" charset="-122"/>
                <a:ea typeface="华文中宋" pitchFamily="2" charset="-122"/>
              </a:rPr>
              <a:t>到</a:t>
            </a:r>
            <a:r>
              <a:rPr lang="en-US" altLang="zh-CN" sz="1600">
                <a:latin typeface="华文中宋" pitchFamily="2" charset="-122"/>
                <a:ea typeface="华文中宋" pitchFamily="2" charset="-122"/>
              </a:rPr>
              <a:t>1900</a:t>
            </a:r>
            <a:r>
              <a:rPr lang="zh-CN" altLang="en-US" sz="1600">
                <a:latin typeface="华文中宋" pitchFamily="2" charset="-122"/>
                <a:ea typeface="华文中宋" pitchFamily="2" charset="-122"/>
              </a:rPr>
              <a:t>年，任何实验都没观察到以太的存在，因此，爱因斯坦认为以太根本就不存在，电磁场不是在媒质中传播的状态，而是物质存在的一种基本形态。在任何惯性系，电磁理论的基本定律</a:t>
            </a:r>
            <a:r>
              <a:rPr lang="en-US" altLang="zh-CN" sz="1600">
                <a:latin typeface="华文中宋" pitchFamily="2" charset="-122"/>
                <a:ea typeface="华文中宋" pitchFamily="2" charset="-122"/>
              </a:rPr>
              <a:t>(</a:t>
            </a:r>
            <a:r>
              <a:rPr lang="zh-CN" altLang="en-US" sz="1600">
                <a:latin typeface="华文中宋" pitchFamily="2" charset="-122"/>
                <a:ea typeface="华文中宋" pitchFamily="2" charset="-122"/>
              </a:rPr>
              <a:t>麦克斯韦方程组</a:t>
            </a:r>
            <a:r>
              <a:rPr lang="en-US" altLang="zh-CN" sz="1600">
                <a:latin typeface="华文中宋" pitchFamily="2" charset="-122"/>
                <a:ea typeface="华文中宋" pitchFamily="2" charset="-122"/>
              </a:rPr>
              <a:t>)</a:t>
            </a:r>
            <a:r>
              <a:rPr lang="zh-CN" altLang="en-US" sz="1600">
                <a:latin typeface="华文中宋" pitchFamily="2" charset="-122"/>
                <a:ea typeface="华文中宋" pitchFamily="2" charset="-122"/>
              </a:rPr>
              <a:t>应具有相同的数学形式，不过伽里略变换与旧的时空必须抛弃。于是爱因斯坦根据自己的信念，提出了两个大胆的假设：</a:t>
            </a:r>
          </a:p>
        </p:txBody>
      </p:sp>
      <p:sp>
        <p:nvSpPr>
          <p:cNvPr id="20488" name="Text Box 8"/>
          <p:cNvSpPr txBox="1">
            <a:spLocks noChangeArrowheads="1"/>
          </p:cNvSpPr>
          <p:nvPr/>
        </p:nvSpPr>
        <p:spPr bwMode="auto">
          <a:xfrm>
            <a:off x="373063" y="2355850"/>
            <a:ext cx="85201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600">
                <a:solidFill>
                  <a:srgbClr val="FF0000"/>
                </a:solidFill>
                <a:latin typeface="华文中宋" pitchFamily="2" charset="-122"/>
                <a:ea typeface="华文中宋" pitchFamily="2" charset="-122"/>
              </a:rPr>
              <a:t>1</a:t>
            </a:r>
            <a:r>
              <a:rPr lang="zh-CN" altLang="en-US" sz="1600">
                <a:solidFill>
                  <a:srgbClr val="FF0000"/>
                </a:solidFill>
                <a:latin typeface="华文中宋" pitchFamily="2" charset="-122"/>
                <a:ea typeface="华文中宋" pitchFamily="2" charset="-122"/>
              </a:rPr>
              <a:t>、相对性原理：</a:t>
            </a:r>
            <a:r>
              <a:rPr lang="zh-CN" altLang="en-US" sz="1600">
                <a:latin typeface="华文中宋" pitchFamily="2" charset="-122"/>
                <a:ea typeface="华文中宋" pitchFamily="2" charset="-122"/>
              </a:rPr>
              <a:t>所有物理定律在一切惯性系中都具有相同的形式。或者说所有惯性系都是平权的，在它们之中所有物理规律都一样。</a:t>
            </a:r>
          </a:p>
        </p:txBody>
      </p:sp>
      <p:sp>
        <p:nvSpPr>
          <p:cNvPr id="20489" name="Text Box 9"/>
          <p:cNvSpPr txBox="1">
            <a:spLocks noChangeArrowheads="1"/>
          </p:cNvSpPr>
          <p:nvPr/>
        </p:nvSpPr>
        <p:spPr bwMode="auto">
          <a:xfrm>
            <a:off x="381000" y="3148013"/>
            <a:ext cx="84248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600">
                <a:solidFill>
                  <a:srgbClr val="FF0000"/>
                </a:solidFill>
                <a:latin typeface="华文中宋" pitchFamily="2" charset="-122"/>
                <a:ea typeface="华文中宋" pitchFamily="2" charset="-122"/>
              </a:rPr>
              <a:t>2</a:t>
            </a:r>
            <a:r>
              <a:rPr lang="zh-CN" altLang="en-US" sz="1600">
                <a:solidFill>
                  <a:srgbClr val="FF0000"/>
                </a:solidFill>
                <a:latin typeface="华文中宋" pitchFamily="2" charset="-122"/>
                <a:ea typeface="华文中宋" pitchFamily="2" charset="-122"/>
              </a:rPr>
              <a:t>、光速不变原理：</a:t>
            </a:r>
            <a:r>
              <a:rPr lang="zh-CN" altLang="en-US" sz="1600">
                <a:latin typeface="华文中宋" pitchFamily="2" charset="-122"/>
                <a:ea typeface="华文中宋" pitchFamily="2" charset="-122"/>
              </a:rPr>
              <a:t>所有惯性系中测量到的真空中光速沿各方向都等于</a:t>
            </a:r>
            <a:r>
              <a:rPr lang="en-US" altLang="zh-CN" sz="1600">
                <a:latin typeface="华文中宋" pitchFamily="2" charset="-122"/>
                <a:ea typeface="华文中宋" pitchFamily="2" charset="-122"/>
              </a:rPr>
              <a:t>c</a:t>
            </a:r>
            <a:r>
              <a:rPr lang="zh-CN" altLang="en-US" sz="1600">
                <a:latin typeface="华文中宋" pitchFamily="2" charset="-122"/>
                <a:ea typeface="华文中宋" pitchFamily="2" charset="-122"/>
              </a:rPr>
              <a:t>，与光源和观察者的运动状态无关。</a:t>
            </a:r>
          </a:p>
        </p:txBody>
      </p:sp>
      <p:sp>
        <p:nvSpPr>
          <p:cNvPr id="21521" name="Text Box 1041"/>
          <p:cNvSpPr txBox="1">
            <a:spLocks noChangeArrowheads="1"/>
          </p:cNvSpPr>
          <p:nvPr/>
        </p:nvSpPr>
        <p:spPr bwMode="auto">
          <a:xfrm>
            <a:off x="381000" y="3940175"/>
            <a:ext cx="8534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latin typeface="华文中宋" pitchFamily="2" charset="-122"/>
                <a:ea typeface="华文中宋" pitchFamily="2" charset="-122"/>
              </a:rPr>
              <a:t>那么，什么样的变换能保证所有的物理规律对这种变换都具有不变的形式呢</a:t>
            </a:r>
            <a:r>
              <a:rPr lang="en-US" altLang="zh-CN" sz="1600">
                <a:latin typeface="华文中宋" pitchFamily="2" charset="-122"/>
                <a:ea typeface="华文中宋" pitchFamily="2" charset="-122"/>
              </a:rPr>
              <a:t>? </a:t>
            </a:r>
            <a:r>
              <a:rPr lang="zh-CN" altLang="en-US" sz="1600">
                <a:latin typeface="华文中宋" pitchFamily="2" charset="-122"/>
                <a:ea typeface="华文中宋" pitchFamily="2" charset="-122"/>
              </a:rPr>
              <a:t>什么样的变换能保证在所有惯性系中光速不变呢？</a:t>
            </a:r>
          </a:p>
        </p:txBody>
      </p:sp>
      <p:sp>
        <p:nvSpPr>
          <p:cNvPr id="29702" name="Text Box 2"/>
          <p:cNvSpPr>
            <a:spLocks noChangeArrowheads="1"/>
          </p:cNvSpPr>
          <p:nvPr/>
        </p:nvSpPr>
        <p:spPr bwMode="auto">
          <a:xfrm>
            <a:off x="839788" y="874713"/>
            <a:ext cx="3948112" cy="401637"/>
          </a:xfrm>
          <a:prstGeom prst="homePlate">
            <a:avLst>
              <a:gd name="adj" fmla="val 49833"/>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一、狭义相对论的两个基本假设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0486"/>
                                        </p:tgtEl>
                                        <p:attrNameLst>
                                          <p:attrName>style.visibility</p:attrName>
                                        </p:attrNameLst>
                                      </p:cBhvr>
                                      <p:to>
                                        <p:strVal val="visible"/>
                                      </p:to>
                                    </p:set>
                                    <p:anim calcmode="lin" valueType="num">
                                      <p:cBhvr>
                                        <p:cTn id="7" dur="500" fill="hold"/>
                                        <p:tgtEl>
                                          <p:spTgt spid="20486"/>
                                        </p:tgtEl>
                                        <p:attrNameLst>
                                          <p:attrName>ppt_x</p:attrName>
                                        </p:attrNameLst>
                                      </p:cBhvr>
                                      <p:tavLst>
                                        <p:tav tm="0">
                                          <p:val>
                                            <p:strVal val="#ppt_x-#ppt_w/2"/>
                                          </p:val>
                                        </p:tav>
                                        <p:tav tm="100000">
                                          <p:val>
                                            <p:strVal val="#ppt_x"/>
                                          </p:val>
                                        </p:tav>
                                      </p:tavLst>
                                    </p:anim>
                                    <p:anim calcmode="lin" valueType="num">
                                      <p:cBhvr>
                                        <p:cTn id="8" dur="500" fill="hold"/>
                                        <p:tgtEl>
                                          <p:spTgt spid="20486"/>
                                        </p:tgtEl>
                                        <p:attrNameLst>
                                          <p:attrName>ppt_y</p:attrName>
                                        </p:attrNameLst>
                                      </p:cBhvr>
                                      <p:tavLst>
                                        <p:tav tm="0">
                                          <p:val>
                                            <p:strVal val="#ppt_y"/>
                                          </p:val>
                                        </p:tav>
                                        <p:tav tm="100000">
                                          <p:val>
                                            <p:strVal val="#ppt_y"/>
                                          </p:val>
                                        </p:tav>
                                      </p:tavLst>
                                    </p:anim>
                                    <p:anim calcmode="lin" valueType="num">
                                      <p:cBhvr>
                                        <p:cTn id="9" dur="500" fill="hold"/>
                                        <p:tgtEl>
                                          <p:spTgt spid="20486"/>
                                        </p:tgtEl>
                                        <p:attrNameLst>
                                          <p:attrName>ppt_w</p:attrName>
                                        </p:attrNameLst>
                                      </p:cBhvr>
                                      <p:tavLst>
                                        <p:tav tm="0">
                                          <p:val>
                                            <p:fltVal val="0"/>
                                          </p:val>
                                        </p:tav>
                                        <p:tav tm="100000">
                                          <p:val>
                                            <p:strVal val="#ppt_w"/>
                                          </p:val>
                                        </p:tav>
                                      </p:tavLst>
                                    </p:anim>
                                    <p:anim calcmode="lin" valueType="num">
                                      <p:cBhvr>
                                        <p:cTn id="10" dur="500" fill="hold"/>
                                        <p:tgtEl>
                                          <p:spTgt spid="20486"/>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0488"/>
                                        </p:tgtEl>
                                        <p:attrNameLst>
                                          <p:attrName>style.visibility</p:attrName>
                                        </p:attrNameLst>
                                      </p:cBhvr>
                                      <p:to>
                                        <p:strVal val="visible"/>
                                      </p:to>
                                    </p:set>
                                    <p:anim calcmode="lin" valueType="num">
                                      <p:cBhvr>
                                        <p:cTn id="15" dur="500" fill="hold"/>
                                        <p:tgtEl>
                                          <p:spTgt spid="20488"/>
                                        </p:tgtEl>
                                        <p:attrNameLst>
                                          <p:attrName>ppt_x</p:attrName>
                                        </p:attrNameLst>
                                      </p:cBhvr>
                                      <p:tavLst>
                                        <p:tav tm="0">
                                          <p:val>
                                            <p:strVal val="#ppt_x-#ppt_w/2"/>
                                          </p:val>
                                        </p:tav>
                                        <p:tav tm="100000">
                                          <p:val>
                                            <p:strVal val="#ppt_x"/>
                                          </p:val>
                                        </p:tav>
                                      </p:tavLst>
                                    </p:anim>
                                    <p:anim calcmode="lin" valueType="num">
                                      <p:cBhvr>
                                        <p:cTn id="16" dur="500" fill="hold"/>
                                        <p:tgtEl>
                                          <p:spTgt spid="20488"/>
                                        </p:tgtEl>
                                        <p:attrNameLst>
                                          <p:attrName>ppt_y</p:attrName>
                                        </p:attrNameLst>
                                      </p:cBhvr>
                                      <p:tavLst>
                                        <p:tav tm="0">
                                          <p:val>
                                            <p:strVal val="#ppt_y"/>
                                          </p:val>
                                        </p:tav>
                                        <p:tav tm="100000">
                                          <p:val>
                                            <p:strVal val="#ppt_y"/>
                                          </p:val>
                                        </p:tav>
                                      </p:tavLst>
                                    </p:anim>
                                    <p:anim calcmode="lin" valueType="num">
                                      <p:cBhvr>
                                        <p:cTn id="17" dur="500" fill="hold"/>
                                        <p:tgtEl>
                                          <p:spTgt spid="20488"/>
                                        </p:tgtEl>
                                        <p:attrNameLst>
                                          <p:attrName>ppt_w</p:attrName>
                                        </p:attrNameLst>
                                      </p:cBhvr>
                                      <p:tavLst>
                                        <p:tav tm="0">
                                          <p:val>
                                            <p:fltVal val="0"/>
                                          </p:val>
                                        </p:tav>
                                        <p:tav tm="100000">
                                          <p:val>
                                            <p:strVal val="#ppt_w"/>
                                          </p:val>
                                        </p:tav>
                                      </p:tavLst>
                                    </p:anim>
                                    <p:anim calcmode="lin" valueType="num">
                                      <p:cBhvr>
                                        <p:cTn id="18" dur="500" fill="hold"/>
                                        <p:tgtEl>
                                          <p:spTgt spid="20488"/>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0489"/>
                                        </p:tgtEl>
                                        <p:attrNameLst>
                                          <p:attrName>style.visibility</p:attrName>
                                        </p:attrNameLst>
                                      </p:cBhvr>
                                      <p:to>
                                        <p:strVal val="visible"/>
                                      </p:to>
                                    </p:set>
                                    <p:anim calcmode="lin" valueType="num">
                                      <p:cBhvr>
                                        <p:cTn id="23" dur="500" fill="hold"/>
                                        <p:tgtEl>
                                          <p:spTgt spid="20489"/>
                                        </p:tgtEl>
                                        <p:attrNameLst>
                                          <p:attrName>ppt_x</p:attrName>
                                        </p:attrNameLst>
                                      </p:cBhvr>
                                      <p:tavLst>
                                        <p:tav tm="0">
                                          <p:val>
                                            <p:strVal val="#ppt_x-#ppt_w/2"/>
                                          </p:val>
                                        </p:tav>
                                        <p:tav tm="100000">
                                          <p:val>
                                            <p:strVal val="#ppt_x"/>
                                          </p:val>
                                        </p:tav>
                                      </p:tavLst>
                                    </p:anim>
                                    <p:anim calcmode="lin" valueType="num">
                                      <p:cBhvr>
                                        <p:cTn id="24" dur="500" fill="hold"/>
                                        <p:tgtEl>
                                          <p:spTgt spid="20489"/>
                                        </p:tgtEl>
                                        <p:attrNameLst>
                                          <p:attrName>ppt_y</p:attrName>
                                        </p:attrNameLst>
                                      </p:cBhvr>
                                      <p:tavLst>
                                        <p:tav tm="0">
                                          <p:val>
                                            <p:strVal val="#ppt_y"/>
                                          </p:val>
                                        </p:tav>
                                        <p:tav tm="100000">
                                          <p:val>
                                            <p:strVal val="#ppt_y"/>
                                          </p:val>
                                        </p:tav>
                                      </p:tavLst>
                                    </p:anim>
                                    <p:anim calcmode="lin" valueType="num">
                                      <p:cBhvr>
                                        <p:cTn id="25" dur="500" fill="hold"/>
                                        <p:tgtEl>
                                          <p:spTgt spid="20489"/>
                                        </p:tgtEl>
                                        <p:attrNameLst>
                                          <p:attrName>ppt_w</p:attrName>
                                        </p:attrNameLst>
                                      </p:cBhvr>
                                      <p:tavLst>
                                        <p:tav tm="0">
                                          <p:val>
                                            <p:fltVal val="0"/>
                                          </p:val>
                                        </p:tav>
                                        <p:tav tm="100000">
                                          <p:val>
                                            <p:strVal val="#ppt_w"/>
                                          </p:val>
                                        </p:tav>
                                      </p:tavLst>
                                    </p:anim>
                                    <p:anim calcmode="lin" valueType="num">
                                      <p:cBhvr>
                                        <p:cTn id="26" dur="500" fill="hold"/>
                                        <p:tgtEl>
                                          <p:spTgt spid="20489"/>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21521"/>
                                        </p:tgtEl>
                                        <p:attrNameLst>
                                          <p:attrName>style.visibility</p:attrName>
                                        </p:attrNameLst>
                                      </p:cBhvr>
                                      <p:to>
                                        <p:strVal val="visible"/>
                                      </p:to>
                                    </p:set>
                                    <p:anim calcmode="lin" valueType="num">
                                      <p:cBhvr>
                                        <p:cTn id="31" dur="500" fill="hold"/>
                                        <p:tgtEl>
                                          <p:spTgt spid="21521"/>
                                        </p:tgtEl>
                                        <p:attrNameLst>
                                          <p:attrName>ppt_x</p:attrName>
                                        </p:attrNameLst>
                                      </p:cBhvr>
                                      <p:tavLst>
                                        <p:tav tm="0">
                                          <p:val>
                                            <p:strVal val="#ppt_x-#ppt_w/2"/>
                                          </p:val>
                                        </p:tav>
                                        <p:tav tm="100000">
                                          <p:val>
                                            <p:strVal val="#ppt_x"/>
                                          </p:val>
                                        </p:tav>
                                      </p:tavLst>
                                    </p:anim>
                                    <p:anim calcmode="lin" valueType="num">
                                      <p:cBhvr>
                                        <p:cTn id="32" dur="500" fill="hold"/>
                                        <p:tgtEl>
                                          <p:spTgt spid="21521"/>
                                        </p:tgtEl>
                                        <p:attrNameLst>
                                          <p:attrName>ppt_y</p:attrName>
                                        </p:attrNameLst>
                                      </p:cBhvr>
                                      <p:tavLst>
                                        <p:tav tm="0">
                                          <p:val>
                                            <p:strVal val="#ppt_y"/>
                                          </p:val>
                                        </p:tav>
                                        <p:tav tm="100000">
                                          <p:val>
                                            <p:strVal val="#ppt_y"/>
                                          </p:val>
                                        </p:tav>
                                      </p:tavLst>
                                    </p:anim>
                                    <p:anim calcmode="lin" valueType="num">
                                      <p:cBhvr>
                                        <p:cTn id="33" dur="500" fill="hold"/>
                                        <p:tgtEl>
                                          <p:spTgt spid="21521"/>
                                        </p:tgtEl>
                                        <p:attrNameLst>
                                          <p:attrName>ppt_w</p:attrName>
                                        </p:attrNameLst>
                                      </p:cBhvr>
                                      <p:tavLst>
                                        <p:tav tm="0">
                                          <p:val>
                                            <p:fltVal val="0"/>
                                          </p:val>
                                        </p:tav>
                                        <p:tav tm="100000">
                                          <p:val>
                                            <p:strVal val="#ppt_w"/>
                                          </p:val>
                                        </p:tav>
                                      </p:tavLst>
                                    </p:anim>
                                    <p:anim calcmode="lin" valueType="num">
                                      <p:cBhvr>
                                        <p:cTn id="34" dur="500" fill="hold"/>
                                        <p:tgtEl>
                                          <p:spTgt spid="215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autoUpdateAnimBg="0"/>
      <p:bldP spid="20488" grpId="0" autoUpdateAnimBg="0"/>
      <p:bldP spid="20489" grpId="0" autoUpdateAnimBg="0"/>
      <p:bldP spid="2152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p:cNvGrpSpPr>
            <a:grpSpLocks/>
          </p:cNvGrpSpPr>
          <p:nvPr/>
        </p:nvGrpSpPr>
        <p:grpSpPr bwMode="auto">
          <a:xfrm>
            <a:off x="5329238" y="896938"/>
            <a:ext cx="3681412" cy="1585912"/>
            <a:chOff x="4601066" y="1136650"/>
            <a:chExt cx="3680347" cy="2113697"/>
          </a:xfrm>
        </p:grpSpPr>
        <p:grpSp>
          <p:nvGrpSpPr>
            <p:cNvPr id="30748" name="Group 101"/>
            <p:cNvGrpSpPr>
              <a:grpSpLocks/>
            </p:cNvGrpSpPr>
            <p:nvPr/>
          </p:nvGrpSpPr>
          <p:grpSpPr bwMode="auto">
            <a:xfrm>
              <a:off x="4633898" y="2667392"/>
              <a:ext cx="2565222" cy="492308"/>
              <a:chOff x="3192" y="3195"/>
              <a:chExt cx="1616" cy="310"/>
            </a:xfrm>
          </p:grpSpPr>
          <p:sp>
            <p:nvSpPr>
              <p:cNvPr id="30761" name="Line 31"/>
              <p:cNvSpPr>
                <a:spLocks noChangeShapeType="1"/>
              </p:cNvSpPr>
              <p:nvPr/>
            </p:nvSpPr>
            <p:spPr bwMode="auto">
              <a:xfrm>
                <a:off x="3192" y="3266"/>
                <a:ext cx="1616" cy="0"/>
              </a:xfrm>
              <a:prstGeom prst="line">
                <a:avLst/>
              </a:prstGeom>
              <a:noFill/>
              <a:ln w="9525">
                <a:solidFill>
                  <a:srgbClr val="0000FF"/>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2" name="Text Box 43"/>
              <p:cNvSpPr txBox="1">
                <a:spLocks noChangeArrowheads="1"/>
              </p:cNvSpPr>
              <p:nvPr/>
            </p:nvSpPr>
            <p:spPr bwMode="auto">
              <a:xfrm>
                <a:off x="4018" y="3195"/>
                <a:ext cx="18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p>
            </p:txBody>
          </p:sp>
        </p:grpSp>
        <p:sp>
          <p:nvSpPr>
            <p:cNvPr id="30749" name="Line 73"/>
            <p:cNvSpPr>
              <a:spLocks noChangeShapeType="1"/>
            </p:cNvSpPr>
            <p:nvPr/>
          </p:nvSpPr>
          <p:spPr bwMode="auto">
            <a:xfrm flipH="1">
              <a:off x="7205470" y="2257661"/>
              <a:ext cx="404784" cy="54153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0" name="Line 93"/>
            <p:cNvSpPr>
              <a:spLocks noChangeShapeType="1"/>
            </p:cNvSpPr>
            <p:nvPr/>
          </p:nvSpPr>
          <p:spPr bwMode="auto">
            <a:xfrm>
              <a:off x="7196033" y="1617766"/>
              <a:ext cx="0" cy="117042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1" name="Text Box 95"/>
            <p:cNvSpPr txBox="1">
              <a:spLocks noChangeArrowheads="1"/>
            </p:cNvSpPr>
            <p:nvPr/>
          </p:nvSpPr>
          <p:spPr bwMode="auto">
            <a:xfrm>
              <a:off x="7224854" y="1136650"/>
              <a:ext cx="1056559" cy="861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a:ea typeface="宋体" pitchFamily="2" charset="-122"/>
                </a:rPr>
                <a:t>(</a:t>
              </a:r>
              <a:r>
                <a:rPr kumimoji="0" lang="en-US" altLang="zh-CN" sz="1800" i="1">
                  <a:ea typeface="宋体" pitchFamily="2" charset="-122"/>
                </a:rPr>
                <a:t>x</a:t>
              </a:r>
              <a:r>
                <a:rPr kumimoji="0" lang="en-US" altLang="zh-CN" sz="1800">
                  <a:ea typeface="宋体" pitchFamily="2" charset="-122"/>
                </a:rPr>
                <a:t>,</a:t>
              </a:r>
              <a:r>
                <a:rPr kumimoji="0" lang="en-US" altLang="zh-CN" sz="1800" i="1">
                  <a:ea typeface="宋体" pitchFamily="2" charset="-122"/>
                </a:rPr>
                <a:t>y</a:t>
              </a:r>
              <a:r>
                <a:rPr kumimoji="0" lang="en-US" altLang="zh-CN" sz="1800">
                  <a:ea typeface="宋体" pitchFamily="2" charset="-122"/>
                </a:rPr>
                <a:t>,</a:t>
              </a:r>
              <a:r>
                <a:rPr kumimoji="0" lang="en-US" altLang="zh-CN" sz="1800" i="1">
                  <a:ea typeface="宋体" pitchFamily="2" charset="-122"/>
                </a:rPr>
                <a:t>z,t</a:t>
              </a:r>
              <a:r>
                <a:rPr kumimoji="0" lang="en-US" altLang="zh-CN" sz="1800">
                  <a:ea typeface="宋体" pitchFamily="2" charset="-122"/>
                </a:rPr>
                <a:t>)</a:t>
              </a:r>
            </a:p>
            <a:p>
              <a:r>
                <a:rPr kumimoji="0" lang="en-US" altLang="zh-CN" sz="1800">
                  <a:ea typeface="宋体" pitchFamily="2" charset="-122"/>
                </a:rPr>
                <a:t>(</a:t>
              </a:r>
              <a:r>
                <a:rPr kumimoji="0" lang="en-US" altLang="zh-CN" sz="1800" i="1">
                  <a:ea typeface="宋体" pitchFamily="2" charset="-122"/>
                </a:rPr>
                <a:t>x</a:t>
              </a:r>
              <a:r>
                <a:rPr kumimoji="0" lang="en-US" altLang="zh-CN" sz="1800" baseline="30000">
                  <a:ea typeface="宋体" pitchFamily="2" charset="-122"/>
                </a:rPr>
                <a:t>/</a:t>
              </a:r>
              <a:r>
                <a:rPr kumimoji="0" lang="en-US" altLang="zh-CN" sz="1800">
                  <a:ea typeface="宋体" pitchFamily="2" charset="-122"/>
                </a:rPr>
                <a:t>,</a:t>
              </a:r>
              <a:r>
                <a:rPr kumimoji="0" lang="en-US" altLang="zh-CN" sz="1800" i="1">
                  <a:ea typeface="宋体" pitchFamily="2" charset="-122"/>
                </a:rPr>
                <a:t>y</a:t>
              </a:r>
              <a:r>
                <a:rPr kumimoji="0" lang="en-US" altLang="zh-CN" sz="1800" baseline="30000">
                  <a:ea typeface="宋体" pitchFamily="2" charset="-122"/>
                </a:rPr>
                <a:t>/</a:t>
              </a:r>
              <a:r>
                <a:rPr kumimoji="0" lang="en-US" altLang="zh-CN" sz="1800">
                  <a:ea typeface="宋体" pitchFamily="2" charset="-122"/>
                </a:rPr>
                <a:t>,</a:t>
              </a:r>
              <a:r>
                <a:rPr kumimoji="0" lang="en-US" altLang="zh-CN" sz="1800" i="1">
                  <a:ea typeface="宋体" pitchFamily="2" charset="-122"/>
                </a:rPr>
                <a:t>z</a:t>
              </a:r>
              <a:r>
                <a:rPr kumimoji="0" lang="en-US" altLang="zh-CN" sz="1800" baseline="30000">
                  <a:ea typeface="宋体" pitchFamily="2" charset="-122"/>
                </a:rPr>
                <a:t>/</a:t>
              </a:r>
              <a:r>
                <a:rPr kumimoji="0" lang="en-US" altLang="zh-CN" sz="1800">
                  <a:ea typeface="宋体" pitchFamily="2" charset="-122"/>
                </a:rPr>
                <a:t>,</a:t>
              </a:r>
              <a:r>
                <a:rPr kumimoji="0" lang="en-US" altLang="zh-CN" sz="1800" i="1">
                  <a:ea typeface="宋体" pitchFamily="2" charset="-122"/>
                </a:rPr>
                <a:t>t</a:t>
              </a:r>
              <a:r>
                <a:rPr kumimoji="0" lang="en-US" altLang="zh-CN" sz="1800" baseline="30000">
                  <a:ea typeface="宋体" pitchFamily="2" charset="-122"/>
                </a:rPr>
                <a:t>/</a:t>
              </a:r>
              <a:r>
                <a:rPr kumimoji="0" lang="en-US" altLang="zh-CN" sz="1800">
                  <a:ea typeface="宋体" pitchFamily="2" charset="-122"/>
                </a:rPr>
                <a:t>)</a:t>
              </a:r>
            </a:p>
          </p:txBody>
        </p:sp>
        <p:sp>
          <p:nvSpPr>
            <p:cNvPr id="11" name="Oval 96"/>
            <p:cNvSpPr>
              <a:spLocks noChangeArrowheads="1"/>
            </p:cNvSpPr>
            <p:nvPr/>
          </p:nvSpPr>
          <p:spPr bwMode="auto">
            <a:xfrm>
              <a:off x="7105553" y="1492206"/>
              <a:ext cx="152389" cy="152457"/>
            </a:xfrm>
            <a:prstGeom prst="ellipse">
              <a:avLst/>
            </a:prstGeom>
            <a:solidFill>
              <a:srgbClr val="9933FF"/>
            </a:solidFill>
            <a:ln w="9525">
              <a:solidFill>
                <a:schemeClr val="tx1"/>
              </a:solidFill>
              <a:round/>
              <a:headEnd/>
              <a:tailEnd/>
            </a:ln>
            <a:scene3d>
              <a:camera prst="orthographicFront"/>
              <a:lightRig rig="threePt" dir="t"/>
            </a:scene3d>
            <a:sp3d>
              <a:bevelT/>
            </a:sp3d>
          </p:spPr>
          <p:txBody>
            <a:bodyPr wrap="none" anchor="ctr"/>
            <a:lstStyle/>
            <a:p>
              <a:pPr>
                <a:defRPr/>
              </a:pPr>
              <a:endParaRPr kumimoji="0" lang="zh-CN" altLang="en-US" sz="1800">
                <a:ea typeface="宋体" pitchFamily="2" charset="-122"/>
              </a:endParaRPr>
            </a:p>
          </p:txBody>
        </p:sp>
        <p:grpSp>
          <p:nvGrpSpPr>
            <p:cNvPr id="30755" name="Group 100"/>
            <p:cNvGrpSpPr>
              <a:grpSpLocks/>
            </p:cNvGrpSpPr>
            <p:nvPr/>
          </p:nvGrpSpPr>
          <p:grpSpPr bwMode="auto">
            <a:xfrm>
              <a:off x="5938732" y="2260841"/>
              <a:ext cx="1439762" cy="492308"/>
              <a:chOff x="4010" y="2956"/>
              <a:chExt cx="907" cy="310"/>
            </a:xfrm>
          </p:grpSpPr>
          <p:sp>
            <p:nvSpPr>
              <p:cNvPr id="30759" name="Line 98"/>
              <p:cNvSpPr>
                <a:spLocks noChangeShapeType="1"/>
              </p:cNvSpPr>
              <p:nvPr/>
            </p:nvSpPr>
            <p:spPr bwMode="auto">
              <a:xfrm>
                <a:off x="4010" y="3139"/>
                <a:ext cx="907" cy="0"/>
              </a:xfrm>
              <a:prstGeom prst="line">
                <a:avLst/>
              </a:prstGeom>
              <a:noFill/>
              <a:ln w="19050">
                <a:solidFill>
                  <a:srgbClr val="3333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0" name="Text Box 99"/>
              <p:cNvSpPr txBox="1">
                <a:spLocks noChangeArrowheads="1"/>
              </p:cNvSpPr>
              <p:nvPr/>
            </p:nvSpPr>
            <p:spPr bwMode="auto">
              <a:xfrm>
                <a:off x="4354" y="2956"/>
                <a:ext cx="21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r>
                  <a:rPr kumimoji="0" lang="en-US" altLang="zh-CN" sz="1800" i="1" baseline="30000">
                    <a:ea typeface="宋体" pitchFamily="2" charset="-122"/>
                  </a:rPr>
                  <a:t>/</a:t>
                </a:r>
                <a:endParaRPr kumimoji="0" lang="en-US" altLang="zh-CN" sz="1800" i="1">
                  <a:ea typeface="宋体" pitchFamily="2" charset="-122"/>
                </a:endParaRPr>
              </a:p>
            </p:txBody>
          </p:sp>
        </p:grpSp>
        <p:grpSp>
          <p:nvGrpSpPr>
            <p:cNvPr id="30756" name="组合 42"/>
            <p:cNvGrpSpPr>
              <a:grpSpLocks/>
            </p:cNvGrpSpPr>
            <p:nvPr/>
          </p:nvGrpSpPr>
          <p:grpSpPr bwMode="auto">
            <a:xfrm>
              <a:off x="4601066" y="2757903"/>
              <a:ext cx="1099558" cy="492444"/>
              <a:chOff x="5117016" y="5008988"/>
              <a:chExt cx="1099634" cy="491721"/>
            </a:xfrm>
          </p:grpSpPr>
          <p:cxnSp>
            <p:nvCxnSpPr>
              <p:cNvPr id="30757" name="直接连接符 38"/>
              <p:cNvCxnSpPr>
                <a:cxnSpLocks noChangeShapeType="1"/>
              </p:cNvCxnSpPr>
              <p:nvPr/>
            </p:nvCxnSpPr>
            <p:spPr bwMode="auto">
              <a:xfrm flipV="1">
                <a:off x="5117016" y="5073651"/>
                <a:ext cx="1099634" cy="5859"/>
              </a:xfrm>
              <a:prstGeom prst="line">
                <a:avLst/>
              </a:prstGeom>
              <a:noFill/>
              <a:ln w="9525" algn="ctr">
                <a:solidFill>
                  <a:srgbClr val="FF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30758" name="TextBox 41"/>
              <p:cNvSpPr txBox="1">
                <a:spLocks noChangeArrowheads="1"/>
              </p:cNvSpPr>
              <p:nvPr/>
            </p:nvSpPr>
            <p:spPr bwMode="auto">
              <a:xfrm>
                <a:off x="5416916" y="5008988"/>
                <a:ext cx="377002" cy="491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ut</a:t>
                </a:r>
              </a:p>
            </p:txBody>
          </p:sp>
        </p:grpSp>
      </p:grpSp>
      <p:grpSp>
        <p:nvGrpSpPr>
          <p:cNvPr id="7" name="组合 7"/>
          <p:cNvGrpSpPr>
            <a:grpSpLocks/>
          </p:cNvGrpSpPr>
          <p:nvPr/>
        </p:nvGrpSpPr>
        <p:grpSpPr bwMode="auto">
          <a:xfrm>
            <a:off x="5076825" y="1111250"/>
            <a:ext cx="3700463" cy="1298575"/>
            <a:chOff x="4414838" y="1357216"/>
            <a:chExt cx="3700110" cy="1729429"/>
          </a:xfrm>
        </p:grpSpPr>
        <p:grpSp>
          <p:nvGrpSpPr>
            <p:cNvPr id="30734" name="Group 72"/>
            <p:cNvGrpSpPr>
              <a:grpSpLocks/>
            </p:cNvGrpSpPr>
            <p:nvPr/>
          </p:nvGrpSpPr>
          <p:grpSpPr bwMode="auto">
            <a:xfrm>
              <a:off x="4414838" y="1357216"/>
              <a:ext cx="3428762" cy="1729429"/>
              <a:chOff x="3050" y="2387"/>
              <a:chExt cx="2160" cy="1089"/>
            </a:xfrm>
          </p:grpSpPr>
          <p:sp>
            <p:nvSpPr>
              <p:cNvPr id="30736" name="Line 13"/>
              <p:cNvSpPr>
                <a:spLocks noChangeShapeType="1"/>
              </p:cNvSpPr>
              <p:nvPr/>
            </p:nvSpPr>
            <p:spPr bwMode="auto">
              <a:xfrm flipV="1">
                <a:off x="3434" y="2441"/>
                <a:ext cx="0" cy="507"/>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0737" name="Line 14"/>
              <p:cNvSpPr>
                <a:spLocks noChangeShapeType="1"/>
              </p:cNvSpPr>
              <p:nvPr/>
            </p:nvSpPr>
            <p:spPr bwMode="auto">
              <a:xfrm flipH="1">
                <a:off x="3050" y="2948"/>
                <a:ext cx="385" cy="528"/>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0738" name="Line 19"/>
              <p:cNvSpPr>
                <a:spLocks noChangeShapeType="1"/>
              </p:cNvSpPr>
              <p:nvPr/>
            </p:nvSpPr>
            <p:spPr bwMode="auto">
              <a:xfrm>
                <a:off x="4156" y="2671"/>
                <a:ext cx="336"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9" name="Line 21"/>
              <p:cNvSpPr>
                <a:spLocks noChangeShapeType="1"/>
              </p:cNvSpPr>
              <p:nvPr/>
            </p:nvSpPr>
            <p:spPr bwMode="auto">
              <a:xfrm flipV="1">
                <a:off x="4155" y="2945"/>
                <a:ext cx="1055" cy="3"/>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0740" name="Line 22"/>
              <p:cNvSpPr>
                <a:spLocks noChangeShapeType="1"/>
              </p:cNvSpPr>
              <p:nvPr/>
            </p:nvSpPr>
            <p:spPr bwMode="auto">
              <a:xfrm flipV="1">
                <a:off x="4161" y="2405"/>
                <a:ext cx="0" cy="543"/>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0741" name="Line 23"/>
              <p:cNvSpPr>
                <a:spLocks noChangeShapeType="1"/>
              </p:cNvSpPr>
              <p:nvPr/>
            </p:nvSpPr>
            <p:spPr bwMode="auto">
              <a:xfrm flipH="1">
                <a:off x="3771" y="2948"/>
                <a:ext cx="385" cy="528"/>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0742" name="Text Box 37"/>
              <p:cNvSpPr txBox="1">
                <a:spLocks noChangeArrowheads="1"/>
              </p:cNvSpPr>
              <p:nvPr/>
            </p:nvSpPr>
            <p:spPr bwMode="auto">
              <a:xfrm>
                <a:off x="3936" y="2426"/>
                <a:ext cx="2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r>
                  <a:rPr kumimoji="0" lang="en-US" altLang="zh-CN" sz="1800" i="1" baseline="30000">
                    <a:ea typeface="宋体" pitchFamily="2" charset="-122"/>
                  </a:rPr>
                  <a:t>/</a:t>
                </a:r>
                <a:endParaRPr kumimoji="0" lang="en-US" altLang="zh-CN" sz="1800" i="1">
                  <a:ea typeface="宋体" pitchFamily="2" charset="-122"/>
                </a:endParaRPr>
              </a:p>
            </p:txBody>
          </p:sp>
          <p:sp>
            <p:nvSpPr>
              <p:cNvPr id="30743" name="Text Box 38"/>
              <p:cNvSpPr txBox="1">
                <a:spLocks noChangeArrowheads="1"/>
              </p:cNvSpPr>
              <p:nvPr/>
            </p:nvSpPr>
            <p:spPr bwMode="auto">
              <a:xfrm>
                <a:off x="3254" y="2387"/>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p>
            </p:txBody>
          </p:sp>
          <p:sp>
            <p:nvSpPr>
              <p:cNvPr id="30744" name="Text Box 39"/>
              <p:cNvSpPr txBox="1">
                <a:spLocks noChangeArrowheads="1"/>
              </p:cNvSpPr>
              <p:nvPr/>
            </p:nvSpPr>
            <p:spPr bwMode="auto">
              <a:xfrm>
                <a:off x="3264" y="2823"/>
                <a:ext cx="2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p>
            </p:txBody>
          </p:sp>
          <p:sp>
            <p:nvSpPr>
              <p:cNvPr id="30745" name="Text Box 40"/>
              <p:cNvSpPr txBox="1">
                <a:spLocks noChangeArrowheads="1"/>
              </p:cNvSpPr>
              <p:nvPr/>
            </p:nvSpPr>
            <p:spPr bwMode="auto">
              <a:xfrm>
                <a:off x="3929" y="2774"/>
                <a:ext cx="2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r>
                  <a:rPr kumimoji="0" lang="en-US" altLang="zh-CN" sz="1800" i="1" baseline="30000">
                    <a:ea typeface="宋体" pitchFamily="2" charset="-122"/>
                  </a:rPr>
                  <a:t>/</a:t>
                </a:r>
                <a:endParaRPr kumimoji="0" lang="en-US" altLang="zh-CN" sz="1800" i="1">
                  <a:ea typeface="宋体" pitchFamily="2" charset="-122"/>
                </a:endParaRPr>
              </a:p>
            </p:txBody>
          </p:sp>
          <p:sp>
            <p:nvSpPr>
              <p:cNvPr id="30746" name="Line 45"/>
              <p:cNvSpPr>
                <a:spLocks noChangeShapeType="1"/>
              </p:cNvSpPr>
              <p:nvPr/>
            </p:nvSpPr>
            <p:spPr bwMode="auto">
              <a:xfrm flipV="1">
                <a:off x="3435" y="2945"/>
                <a:ext cx="991" cy="3"/>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0747" name="Text Box 37"/>
              <p:cNvSpPr txBox="1">
                <a:spLocks noChangeArrowheads="1"/>
              </p:cNvSpPr>
              <p:nvPr/>
            </p:nvSpPr>
            <p:spPr bwMode="auto">
              <a:xfrm>
                <a:off x="4215" y="2474"/>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a:t>
                </a:r>
              </a:p>
            </p:txBody>
          </p:sp>
        </p:grpSp>
        <p:sp>
          <p:nvSpPr>
            <p:cNvPr id="30735" name="TextBox 6"/>
            <p:cNvSpPr txBox="1">
              <a:spLocks noChangeArrowheads="1"/>
            </p:cNvSpPr>
            <p:nvPr/>
          </p:nvSpPr>
          <p:spPr bwMode="auto">
            <a:xfrm>
              <a:off x="7814898" y="2026775"/>
              <a:ext cx="300050" cy="492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p>
          </p:txBody>
        </p:sp>
      </p:grpSp>
      <p:sp>
        <p:nvSpPr>
          <p:cNvPr id="40" name="Text Box 7"/>
          <p:cNvSpPr txBox="1">
            <a:spLocks noChangeArrowheads="1"/>
          </p:cNvSpPr>
          <p:nvPr/>
        </p:nvSpPr>
        <p:spPr bwMode="auto">
          <a:xfrm>
            <a:off x="5407025" y="2490788"/>
            <a:ext cx="2657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宋体" pitchFamily="2" charset="-122"/>
              </a:rPr>
              <a:t>t</a:t>
            </a:r>
            <a:r>
              <a:rPr kumimoji="0" lang="en-US" altLang="zh-CN" sz="1800" baseline="-25000">
                <a:ea typeface="宋体" pitchFamily="2" charset="-122"/>
              </a:rPr>
              <a:t>0</a:t>
            </a:r>
            <a:r>
              <a:rPr kumimoji="0" lang="en-US" altLang="zh-CN" sz="1800">
                <a:ea typeface="宋体" pitchFamily="2" charset="-122"/>
              </a:rPr>
              <a:t> = </a:t>
            </a:r>
            <a:r>
              <a:rPr kumimoji="0" lang="en-US" altLang="zh-CN" sz="1800" i="1">
                <a:ea typeface="宋体" pitchFamily="2" charset="-122"/>
              </a:rPr>
              <a:t>t</a:t>
            </a:r>
            <a:r>
              <a:rPr kumimoji="0" lang="en-US" altLang="zh-CN" sz="1800" baseline="-25000">
                <a:ea typeface="宋体" pitchFamily="2" charset="-122"/>
              </a:rPr>
              <a:t>0</a:t>
            </a:r>
            <a:r>
              <a:rPr kumimoji="0" lang="en-US" altLang="zh-CN" sz="1800" baseline="30000">
                <a:ea typeface="宋体" pitchFamily="2" charset="-122"/>
              </a:rPr>
              <a:t>/</a:t>
            </a:r>
            <a:r>
              <a:rPr kumimoji="0" lang="en-US" altLang="zh-CN" sz="1800">
                <a:ea typeface="宋体" pitchFamily="2" charset="-122"/>
              </a:rPr>
              <a:t> = 0</a:t>
            </a:r>
            <a:r>
              <a:rPr kumimoji="0" lang="zh-CN" altLang="en-US" sz="1800">
                <a:latin typeface="楷体_GB2312" pitchFamily="49" charset="-122"/>
              </a:rPr>
              <a:t>时</a:t>
            </a:r>
            <a:r>
              <a:rPr kumimoji="0" lang="en-US" altLang="zh-CN" sz="1800">
                <a:latin typeface="楷体_GB2312" pitchFamily="49" charset="-122"/>
              </a:rPr>
              <a:t>,</a:t>
            </a:r>
            <a:r>
              <a:rPr kumimoji="0" lang="zh-CN" altLang="en-US" sz="1800">
                <a:latin typeface="楷体_GB2312" pitchFamily="49" charset="-122"/>
              </a:rPr>
              <a:t>原点重合</a:t>
            </a:r>
          </a:p>
        </p:txBody>
      </p:sp>
      <p:sp>
        <p:nvSpPr>
          <p:cNvPr id="41" name="Text Box 7"/>
          <p:cNvSpPr txBox="1">
            <a:spLocks noChangeArrowheads="1"/>
          </p:cNvSpPr>
          <p:nvPr/>
        </p:nvSpPr>
        <p:spPr bwMode="auto">
          <a:xfrm>
            <a:off x="971550" y="2124075"/>
            <a:ext cx="3168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zh-CN" altLang="en-US" sz="1800">
                <a:ea typeface="华文中宋" pitchFamily="2" charset="-122"/>
              </a:rPr>
              <a:t>只</a:t>
            </a:r>
            <a:r>
              <a:rPr kumimoji="0" lang="en-US" altLang="zh-CN" sz="1800" i="1">
                <a:ea typeface="华文中宋" pitchFamily="2" charset="-122"/>
              </a:rPr>
              <a:t>x</a:t>
            </a:r>
            <a:r>
              <a:rPr kumimoji="0" lang="zh-CN" altLang="en-US" sz="1800">
                <a:ea typeface="华文中宋" pitchFamily="2" charset="-122"/>
              </a:rPr>
              <a:t>轴方向有相对运动</a:t>
            </a:r>
          </a:p>
        </p:txBody>
      </p:sp>
      <p:sp>
        <p:nvSpPr>
          <p:cNvPr id="44" name="Rectangle 36"/>
          <p:cNvSpPr>
            <a:spLocks noChangeArrowheads="1"/>
          </p:cNvSpPr>
          <p:nvPr/>
        </p:nvSpPr>
        <p:spPr bwMode="auto">
          <a:xfrm>
            <a:off x="1236663" y="2417763"/>
            <a:ext cx="2111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a:ea typeface="华文中宋" pitchFamily="2" charset="-122"/>
              </a:rPr>
              <a:t>故      </a:t>
            </a:r>
            <a:r>
              <a:rPr kumimoji="0" lang="en-US" altLang="zh-CN" sz="1800" i="1">
                <a:ea typeface="华文中宋" pitchFamily="2" charset="-122"/>
              </a:rPr>
              <a:t>y</a:t>
            </a:r>
            <a:r>
              <a:rPr kumimoji="0" lang="en-US" altLang="zh-CN" sz="1800" i="1" baseline="30000">
                <a:ea typeface="华文中宋" pitchFamily="2" charset="-122"/>
              </a:rPr>
              <a:t>/</a:t>
            </a:r>
            <a:r>
              <a:rPr kumimoji="0" lang="en-US" altLang="zh-CN" sz="1800">
                <a:ea typeface="华文中宋" pitchFamily="2" charset="-122"/>
              </a:rPr>
              <a:t>=</a:t>
            </a:r>
            <a:r>
              <a:rPr kumimoji="0" lang="en-US" altLang="zh-CN" sz="1800" i="1">
                <a:ea typeface="华文中宋" pitchFamily="2" charset="-122"/>
              </a:rPr>
              <a:t>y</a:t>
            </a:r>
            <a:r>
              <a:rPr kumimoji="0" lang="en-US" altLang="zh-CN" sz="1800">
                <a:ea typeface="华文中宋" pitchFamily="2" charset="-122"/>
              </a:rPr>
              <a:t>      </a:t>
            </a:r>
            <a:r>
              <a:rPr kumimoji="0" lang="en-US" altLang="zh-CN" sz="1800" i="1">
                <a:ea typeface="华文中宋" pitchFamily="2" charset="-122"/>
              </a:rPr>
              <a:t>z</a:t>
            </a:r>
            <a:r>
              <a:rPr kumimoji="0" lang="en-US" altLang="zh-CN" sz="1800" i="1" baseline="30000">
                <a:ea typeface="华文中宋" pitchFamily="2" charset="-122"/>
              </a:rPr>
              <a:t>/</a:t>
            </a:r>
            <a:r>
              <a:rPr kumimoji="0" lang="en-US" altLang="zh-CN" sz="1800">
                <a:ea typeface="华文中宋" pitchFamily="2" charset="-122"/>
              </a:rPr>
              <a:t>=</a:t>
            </a:r>
            <a:r>
              <a:rPr kumimoji="0" lang="en-US" altLang="zh-CN" sz="1800" i="1">
                <a:ea typeface="华文中宋" pitchFamily="2" charset="-122"/>
              </a:rPr>
              <a:t>z</a:t>
            </a:r>
            <a:endParaRPr kumimoji="0" lang="en-US" altLang="zh-CN" sz="1800">
              <a:ea typeface="华文中宋" pitchFamily="2" charset="-122"/>
            </a:endParaRPr>
          </a:p>
        </p:txBody>
      </p:sp>
      <p:sp>
        <p:nvSpPr>
          <p:cNvPr id="43" name="Rectangle 6"/>
          <p:cNvSpPr>
            <a:spLocks noChangeArrowheads="1"/>
          </p:cNvSpPr>
          <p:nvPr/>
        </p:nvSpPr>
        <p:spPr bwMode="auto">
          <a:xfrm>
            <a:off x="1136650" y="1276350"/>
            <a:ext cx="31480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kumimoji="0" lang="zh-CN" altLang="en-US" sz="1800">
                <a:ea typeface="华文中宋" pitchFamily="2" charset="-122"/>
              </a:rPr>
              <a:t>同一事件</a:t>
            </a:r>
            <a:r>
              <a:rPr kumimoji="0" lang="en-US" altLang="zh-CN" sz="1800" i="1">
                <a:ea typeface="华文中宋" pitchFamily="2" charset="-122"/>
              </a:rPr>
              <a:t>P</a:t>
            </a:r>
            <a:r>
              <a:rPr kumimoji="0" lang="en-US" altLang="zh-CN" sz="1800">
                <a:ea typeface="华文中宋" pitchFamily="2" charset="-122"/>
              </a:rPr>
              <a:t>     </a:t>
            </a:r>
          </a:p>
          <a:p>
            <a:pPr algn="just" eaLnBrk="0" hangingPunct="0"/>
            <a:r>
              <a:rPr kumimoji="0" lang="en-US" altLang="zh-CN" sz="1800" i="1">
                <a:ea typeface="华文中宋" pitchFamily="2" charset="-122"/>
              </a:rPr>
              <a:t>S </a:t>
            </a:r>
            <a:r>
              <a:rPr kumimoji="0" lang="en-US" altLang="zh-CN" sz="1800">
                <a:ea typeface="华文中宋" pitchFamily="2" charset="-122"/>
              </a:rPr>
              <a:t>(</a:t>
            </a:r>
            <a:r>
              <a:rPr kumimoji="0" lang="en-US" altLang="zh-CN" sz="1800" i="1">
                <a:ea typeface="华文中宋" pitchFamily="2" charset="-122"/>
              </a:rPr>
              <a:t>x</a:t>
            </a:r>
            <a:r>
              <a:rPr kumimoji="0" lang="en-US" altLang="zh-CN" sz="1800">
                <a:ea typeface="华文中宋" pitchFamily="2" charset="-122"/>
              </a:rPr>
              <a:t>, </a:t>
            </a:r>
            <a:r>
              <a:rPr kumimoji="0" lang="en-US" altLang="zh-CN" sz="1800" i="1">
                <a:ea typeface="华文中宋" pitchFamily="2" charset="-122"/>
              </a:rPr>
              <a:t>y</a:t>
            </a:r>
            <a:r>
              <a:rPr kumimoji="0" lang="en-US" altLang="zh-CN" sz="1800">
                <a:ea typeface="华文中宋" pitchFamily="2" charset="-122"/>
              </a:rPr>
              <a:t>, </a:t>
            </a:r>
            <a:r>
              <a:rPr kumimoji="0" lang="en-US" altLang="zh-CN" sz="1800" i="1">
                <a:ea typeface="华文中宋" pitchFamily="2" charset="-122"/>
              </a:rPr>
              <a:t>z</a:t>
            </a:r>
            <a:r>
              <a:rPr kumimoji="0" lang="en-US" altLang="zh-CN" sz="1800">
                <a:ea typeface="华文中宋" pitchFamily="2" charset="-122"/>
              </a:rPr>
              <a:t>, </a:t>
            </a:r>
            <a:r>
              <a:rPr kumimoji="0" lang="en-US" altLang="zh-CN" sz="1800" i="1">
                <a:ea typeface="华文中宋" pitchFamily="2" charset="-122"/>
              </a:rPr>
              <a:t>t</a:t>
            </a:r>
            <a:r>
              <a:rPr kumimoji="0" lang="en-US" altLang="zh-CN" sz="1800">
                <a:ea typeface="华文中宋" pitchFamily="2" charset="-122"/>
              </a:rPr>
              <a:t>)</a:t>
            </a:r>
          </a:p>
          <a:p>
            <a:pPr algn="just" eaLnBrk="0" hangingPunct="0"/>
            <a:r>
              <a:rPr kumimoji="0" lang="en-US" altLang="zh-CN" sz="1800" i="1">
                <a:ea typeface="华文中宋" pitchFamily="2" charset="-122"/>
              </a:rPr>
              <a:t>S</a:t>
            </a:r>
            <a:r>
              <a:rPr kumimoji="0" lang="en-US" altLang="zh-CN" sz="1800" baseline="30000">
                <a:ea typeface="华文中宋" pitchFamily="2" charset="-122"/>
              </a:rPr>
              <a:t>/</a:t>
            </a:r>
            <a:r>
              <a:rPr kumimoji="0" lang="en-US" altLang="zh-CN" sz="1800">
                <a:ea typeface="华文中宋" pitchFamily="2" charset="-122"/>
              </a:rPr>
              <a:t>(</a:t>
            </a:r>
            <a:r>
              <a:rPr kumimoji="0" lang="en-US" altLang="zh-CN" sz="1800" i="1">
                <a:ea typeface="华文中宋" pitchFamily="2" charset="-122"/>
              </a:rPr>
              <a:t>x</a:t>
            </a:r>
            <a:r>
              <a:rPr kumimoji="0" lang="en-US" altLang="zh-CN" sz="1800" baseline="30000">
                <a:ea typeface="华文中宋" pitchFamily="2" charset="-122"/>
              </a:rPr>
              <a:t>/</a:t>
            </a:r>
            <a:r>
              <a:rPr kumimoji="0" lang="en-US" altLang="zh-CN" sz="1800">
                <a:ea typeface="华文中宋" pitchFamily="2" charset="-122"/>
              </a:rPr>
              <a:t>, y</a:t>
            </a:r>
            <a:r>
              <a:rPr kumimoji="0" lang="en-US" altLang="zh-CN" sz="1800" baseline="30000">
                <a:ea typeface="华文中宋" pitchFamily="2" charset="-122"/>
              </a:rPr>
              <a:t>/</a:t>
            </a:r>
            <a:r>
              <a:rPr kumimoji="0" lang="en-US" altLang="zh-CN" sz="1800">
                <a:ea typeface="华文中宋" pitchFamily="2" charset="-122"/>
              </a:rPr>
              <a:t>, z</a:t>
            </a:r>
            <a:r>
              <a:rPr kumimoji="0" lang="en-US" altLang="zh-CN" sz="1800" baseline="30000">
                <a:ea typeface="华文中宋" pitchFamily="2" charset="-122"/>
              </a:rPr>
              <a:t>/</a:t>
            </a:r>
            <a:r>
              <a:rPr kumimoji="0" lang="en-US" altLang="zh-CN" sz="1800">
                <a:ea typeface="华文中宋" pitchFamily="2" charset="-122"/>
              </a:rPr>
              <a:t>, t</a:t>
            </a:r>
            <a:r>
              <a:rPr kumimoji="0" lang="en-US" altLang="zh-CN" sz="1800" baseline="30000">
                <a:ea typeface="华文中宋" pitchFamily="2" charset="-122"/>
              </a:rPr>
              <a:t>/</a:t>
            </a:r>
            <a:r>
              <a:rPr kumimoji="0" lang="en-US" altLang="zh-CN" sz="1800">
                <a:ea typeface="华文中宋" pitchFamily="2" charset="-122"/>
              </a:rPr>
              <a:t>)</a:t>
            </a:r>
          </a:p>
        </p:txBody>
      </p:sp>
      <p:sp>
        <p:nvSpPr>
          <p:cNvPr id="45" name="Text Box 41"/>
          <p:cNvSpPr txBox="1">
            <a:spLocks noChangeArrowheads="1"/>
          </p:cNvSpPr>
          <p:nvPr/>
        </p:nvSpPr>
        <p:spPr bwMode="auto">
          <a:xfrm>
            <a:off x="755650" y="2733675"/>
            <a:ext cx="2136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lang="en-US" altLang="zh-CN" sz="1800">
                <a:solidFill>
                  <a:srgbClr val="0000FF"/>
                </a:solidFill>
                <a:ea typeface="华文中宋" pitchFamily="2" charset="-122"/>
              </a:rPr>
              <a:t>1</a:t>
            </a:r>
            <a:r>
              <a:rPr lang="zh-CN" altLang="en-US" sz="1800">
                <a:solidFill>
                  <a:srgbClr val="0000FF"/>
                </a:solidFill>
                <a:ea typeface="华文中宋" pitchFamily="2" charset="-122"/>
              </a:rPr>
              <a:t>、</a:t>
            </a:r>
            <a:r>
              <a:rPr kumimoji="0" lang="zh-CN" altLang="en-US" sz="1800">
                <a:solidFill>
                  <a:srgbClr val="0000FF"/>
                </a:solidFill>
                <a:ea typeface="华文中宋" pitchFamily="2" charset="-122"/>
              </a:rPr>
              <a:t>相对性原理</a:t>
            </a:r>
          </a:p>
        </p:txBody>
      </p:sp>
      <p:sp>
        <p:nvSpPr>
          <p:cNvPr id="46" name="Text Box 41"/>
          <p:cNvSpPr txBox="1">
            <a:spLocks noChangeArrowheads="1"/>
          </p:cNvSpPr>
          <p:nvPr/>
        </p:nvSpPr>
        <p:spPr bwMode="auto">
          <a:xfrm>
            <a:off x="827088" y="3165475"/>
            <a:ext cx="7416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lang="en-US" altLang="zh-CN" sz="1800">
                <a:ea typeface="华文中宋" pitchFamily="2" charset="-122"/>
              </a:rPr>
              <a:t>    </a:t>
            </a:r>
            <a:r>
              <a:rPr lang="zh-CN" altLang="en-US" sz="1800">
                <a:ea typeface="华文中宋" pitchFamily="2" charset="-122"/>
              </a:rPr>
              <a:t>惯性系</a:t>
            </a:r>
            <a:r>
              <a:rPr kumimoji="0" lang="zh-CN" altLang="en-US" sz="1800">
                <a:ea typeface="华文中宋" pitchFamily="2" charset="-122"/>
              </a:rPr>
              <a:t>要求</a:t>
            </a:r>
            <a:r>
              <a:rPr lang="zh-CN" altLang="en-US" sz="1800">
                <a:ea typeface="华文中宋" pitchFamily="2" charset="-122"/>
              </a:rPr>
              <a:t>时空是均匀的 ，所以一惯性系中匀速运动的物体，另一惯性系中也应是匀速运动的。</a:t>
            </a:r>
          </a:p>
        </p:txBody>
      </p:sp>
      <p:sp>
        <p:nvSpPr>
          <p:cNvPr id="9" name="Text Box 43"/>
          <p:cNvSpPr txBox="1">
            <a:spLocks noChangeArrowheads="1"/>
          </p:cNvSpPr>
          <p:nvPr/>
        </p:nvSpPr>
        <p:spPr bwMode="auto">
          <a:xfrm>
            <a:off x="827088" y="3760788"/>
            <a:ext cx="7245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lang="en-US" altLang="zh-CN" sz="1800">
                <a:ea typeface="华文中宋" pitchFamily="2" charset="-122"/>
              </a:rPr>
              <a:t>    </a:t>
            </a:r>
            <a:r>
              <a:rPr lang="zh-CN" altLang="en-US" sz="1800">
                <a:ea typeface="华文中宋" pitchFamily="2" charset="-122"/>
              </a:rPr>
              <a:t>因此</a:t>
            </a:r>
            <a:r>
              <a:rPr lang="en-US" altLang="zh-CN" sz="1800">
                <a:ea typeface="华文中宋" pitchFamily="2" charset="-122"/>
              </a:rPr>
              <a:t>,</a:t>
            </a:r>
            <a:r>
              <a:rPr lang="zh-CN" altLang="en-US" sz="1800">
                <a:ea typeface="华文中宋" pitchFamily="2" charset="-122"/>
              </a:rPr>
              <a:t>惯性系间的时空变换应该是</a:t>
            </a:r>
            <a:r>
              <a:rPr lang="zh-CN" altLang="en-US" sz="1800">
                <a:solidFill>
                  <a:srgbClr val="0000FF"/>
                </a:solidFill>
                <a:ea typeface="华文中宋" pitchFamily="2" charset="-122"/>
              </a:rPr>
              <a:t>线性变换</a:t>
            </a:r>
            <a:r>
              <a:rPr lang="zh-CN" altLang="en-US" sz="1800">
                <a:ea typeface="华文中宋" pitchFamily="2" charset="-122"/>
              </a:rPr>
              <a:t>，满足线性函数关系：</a:t>
            </a:r>
          </a:p>
        </p:txBody>
      </p:sp>
      <p:graphicFrame>
        <p:nvGraphicFramePr>
          <p:cNvPr id="60" name="对象 59"/>
          <p:cNvGraphicFramePr>
            <a:graphicFrameLocks noChangeAspect="1"/>
          </p:cNvGraphicFramePr>
          <p:nvPr/>
        </p:nvGraphicFramePr>
        <p:xfrm>
          <a:off x="2578100" y="4156075"/>
          <a:ext cx="1754188" cy="415925"/>
        </p:xfrm>
        <a:graphic>
          <a:graphicData uri="http://schemas.openxmlformats.org/presentationml/2006/ole">
            <mc:AlternateContent xmlns:mc="http://schemas.openxmlformats.org/markup-compatibility/2006">
              <mc:Choice xmlns:v="urn:schemas-microsoft-com:vml" Requires="v">
                <p:oleObj spid="_x0000_s30765" name="公式" r:id="rId4" imgW="482391" imgH="152334" progId="Equation.3">
                  <p:embed/>
                </p:oleObj>
              </mc:Choice>
              <mc:Fallback>
                <p:oleObj name="公式" r:id="rId4" imgW="482391" imgH="152334" progId="Equation.3">
                  <p:embed/>
                  <p:pic>
                    <p:nvPicPr>
                      <p:cNvPr id="0" name="对象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8100" y="4156075"/>
                        <a:ext cx="17541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59"/>
          <p:cNvGraphicFramePr>
            <a:graphicFrameLocks noChangeAspect="1"/>
          </p:cNvGraphicFramePr>
          <p:nvPr/>
        </p:nvGraphicFramePr>
        <p:xfrm>
          <a:off x="4933950" y="4156075"/>
          <a:ext cx="1939925" cy="415925"/>
        </p:xfrm>
        <a:graphic>
          <a:graphicData uri="http://schemas.openxmlformats.org/presentationml/2006/ole">
            <mc:AlternateContent xmlns:mc="http://schemas.openxmlformats.org/markup-compatibility/2006">
              <mc:Choice xmlns:v="urn:schemas-microsoft-com:vml" Requires="v">
                <p:oleObj spid="_x0000_s30766" name="公式" r:id="rId6" imgW="533169" imgH="152334" progId="Equation.3">
                  <p:embed/>
                </p:oleObj>
              </mc:Choice>
              <mc:Fallback>
                <p:oleObj name="公式" r:id="rId6" imgW="533169" imgH="152334" progId="Equation.3">
                  <p:embed/>
                  <p:pic>
                    <p:nvPicPr>
                      <p:cNvPr id="0" name="对象 5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3950" y="4156075"/>
                        <a:ext cx="1939925"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3" name="Text Box 2"/>
          <p:cNvSpPr>
            <a:spLocks noChangeArrowheads="1"/>
          </p:cNvSpPr>
          <p:nvPr/>
        </p:nvSpPr>
        <p:spPr bwMode="auto">
          <a:xfrm>
            <a:off x="839788" y="874713"/>
            <a:ext cx="3084512" cy="401637"/>
          </a:xfrm>
          <a:prstGeom prst="homePlate">
            <a:avLst>
              <a:gd name="adj" fmla="val 49848"/>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二、洛仑兹变换（</a:t>
            </a:r>
            <a:r>
              <a:rPr lang="en-US" altLang="zh-CN" sz="2000">
                <a:solidFill>
                  <a:schemeClr val="bg1"/>
                </a:solidFill>
                <a:latin typeface="华文中宋" pitchFamily="2" charset="-122"/>
                <a:ea typeface="华文中宋" pitchFamily="2" charset="-122"/>
              </a:rPr>
              <a:t>L</a:t>
            </a:r>
            <a:r>
              <a:rPr lang="zh-CN" altLang="en-US" sz="2000">
                <a:solidFill>
                  <a:schemeClr val="bg1"/>
                </a:solidFill>
                <a:latin typeface="华文中宋" pitchFamily="2" charset="-122"/>
                <a:ea typeface="华文中宋" pitchFamily="2" charset="-122"/>
              </a:rPr>
              <a:t>变换）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wipe(left)">
                                      <p:cBhvr>
                                        <p:cTn id="15" dur="500"/>
                                        <p:tgtEl>
                                          <p:spTgt spid="4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wipe(left)">
                                      <p:cBhvr>
                                        <p:cTn id="20" dur="500"/>
                                        <p:tgtEl>
                                          <p:spTgt spid="4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3" presetClass="entr" presetSubtype="16"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wipe(left)">
                                      <p:cBhvr>
                                        <p:cTn id="32" dur="500"/>
                                        <p:tgtEl>
                                          <p:spTgt spid="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left)">
                                      <p:cBhvr>
                                        <p:cTn id="37" dur="500"/>
                                        <p:tgtEl>
                                          <p:spTgt spid="4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5">
                                            <p:txEl>
                                              <p:pRg st="0" end="0"/>
                                            </p:txEl>
                                          </p:spTgt>
                                        </p:tgtEl>
                                        <p:attrNameLst>
                                          <p:attrName>style.visibility</p:attrName>
                                        </p:attrNameLst>
                                      </p:cBhvr>
                                      <p:to>
                                        <p:strVal val="visible"/>
                                      </p:to>
                                    </p:set>
                                    <p:animEffect transition="in" filter="wipe(left)">
                                      <p:cBhvr>
                                        <p:cTn id="42" dur="500"/>
                                        <p:tgtEl>
                                          <p:spTgt spid="45">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6">
                                            <p:txEl>
                                              <p:pRg st="0" end="0"/>
                                            </p:txEl>
                                          </p:spTgt>
                                        </p:tgtEl>
                                        <p:attrNameLst>
                                          <p:attrName>style.visibility</p:attrName>
                                        </p:attrNameLst>
                                      </p:cBhvr>
                                      <p:to>
                                        <p:strVal val="visible"/>
                                      </p:to>
                                    </p:set>
                                    <p:animEffect transition="in" filter="wipe(left)">
                                      <p:cBhvr>
                                        <p:cTn id="47" dur="500"/>
                                        <p:tgtEl>
                                          <p:spTgt spid="46">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wipe(left)">
                                      <p:cBhvr>
                                        <p:cTn id="57" dur="500"/>
                                        <p:tgtEl>
                                          <p:spTgt spid="60"/>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4" grpId="0"/>
      <p:bldP spid="43" grpId="0"/>
      <p:bldP spid="45" grpId="0" build="p"/>
      <p:bldP spid="46" grpId="0" build="p"/>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6"/>
          <p:cNvGrpSpPr>
            <a:grpSpLocks/>
          </p:cNvGrpSpPr>
          <p:nvPr/>
        </p:nvGrpSpPr>
        <p:grpSpPr bwMode="auto">
          <a:xfrm>
            <a:off x="5003800" y="842963"/>
            <a:ext cx="3992563" cy="1465262"/>
            <a:chOff x="2752828" y="2013982"/>
            <a:chExt cx="3994000" cy="1952793"/>
          </a:xfrm>
        </p:grpSpPr>
        <p:grpSp>
          <p:nvGrpSpPr>
            <p:cNvPr id="31766" name="Group 72"/>
            <p:cNvGrpSpPr>
              <a:grpSpLocks/>
            </p:cNvGrpSpPr>
            <p:nvPr/>
          </p:nvGrpSpPr>
          <p:grpSpPr bwMode="auto">
            <a:xfrm>
              <a:off x="2752828" y="2013982"/>
              <a:ext cx="3357563" cy="1698625"/>
              <a:chOff x="3091" y="2349"/>
              <a:chExt cx="2115" cy="1070"/>
            </a:xfrm>
          </p:grpSpPr>
          <p:sp>
            <p:nvSpPr>
              <p:cNvPr id="31782" name="Line 13"/>
              <p:cNvSpPr>
                <a:spLocks noChangeShapeType="1"/>
              </p:cNvSpPr>
              <p:nvPr/>
            </p:nvSpPr>
            <p:spPr bwMode="auto">
              <a:xfrm flipV="1">
                <a:off x="3434" y="2398"/>
                <a:ext cx="0" cy="550"/>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1783" name="Line 14"/>
              <p:cNvSpPr>
                <a:spLocks noChangeShapeType="1"/>
              </p:cNvSpPr>
              <p:nvPr/>
            </p:nvSpPr>
            <p:spPr bwMode="auto">
              <a:xfrm flipH="1">
                <a:off x="3091" y="2948"/>
                <a:ext cx="344" cy="471"/>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1784" name="Line 19"/>
              <p:cNvSpPr>
                <a:spLocks noChangeShapeType="1"/>
              </p:cNvSpPr>
              <p:nvPr/>
            </p:nvSpPr>
            <p:spPr bwMode="auto">
              <a:xfrm>
                <a:off x="4156" y="2701"/>
                <a:ext cx="336"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85" name="Line 21"/>
              <p:cNvSpPr>
                <a:spLocks noChangeShapeType="1"/>
              </p:cNvSpPr>
              <p:nvPr/>
            </p:nvSpPr>
            <p:spPr bwMode="auto">
              <a:xfrm>
                <a:off x="4155" y="2948"/>
                <a:ext cx="1051" cy="2"/>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1786" name="Line 22"/>
              <p:cNvSpPr>
                <a:spLocks noChangeShapeType="1"/>
              </p:cNvSpPr>
              <p:nvPr/>
            </p:nvSpPr>
            <p:spPr bwMode="auto">
              <a:xfrm flipV="1">
                <a:off x="4155" y="2374"/>
                <a:ext cx="0" cy="574"/>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1787" name="Line 23"/>
              <p:cNvSpPr>
                <a:spLocks noChangeShapeType="1"/>
              </p:cNvSpPr>
              <p:nvPr/>
            </p:nvSpPr>
            <p:spPr bwMode="auto">
              <a:xfrm flipH="1">
                <a:off x="3817" y="2948"/>
                <a:ext cx="339" cy="466"/>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1788" name="Text Box 37"/>
              <p:cNvSpPr txBox="1">
                <a:spLocks noChangeArrowheads="1"/>
              </p:cNvSpPr>
              <p:nvPr/>
            </p:nvSpPr>
            <p:spPr bwMode="auto">
              <a:xfrm>
                <a:off x="3930" y="2349"/>
                <a:ext cx="2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r>
                  <a:rPr kumimoji="0" lang="en-US" altLang="zh-CN" sz="1800" i="1" baseline="30000">
                    <a:ea typeface="宋体" pitchFamily="2" charset="-122"/>
                  </a:rPr>
                  <a:t>/</a:t>
                </a:r>
                <a:endParaRPr kumimoji="0" lang="en-US" altLang="zh-CN" sz="1800" i="1">
                  <a:ea typeface="宋体" pitchFamily="2" charset="-122"/>
                </a:endParaRPr>
              </a:p>
            </p:txBody>
          </p:sp>
          <p:sp>
            <p:nvSpPr>
              <p:cNvPr id="31789" name="Text Box 38"/>
              <p:cNvSpPr txBox="1">
                <a:spLocks noChangeArrowheads="1"/>
              </p:cNvSpPr>
              <p:nvPr/>
            </p:nvSpPr>
            <p:spPr bwMode="auto">
              <a:xfrm>
                <a:off x="3236" y="2356"/>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p>
            </p:txBody>
          </p:sp>
          <p:sp>
            <p:nvSpPr>
              <p:cNvPr id="31790" name="Text Box 39"/>
              <p:cNvSpPr txBox="1">
                <a:spLocks noChangeArrowheads="1"/>
              </p:cNvSpPr>
              <p:nvPr/>
            </p:nvSpPr>
            <p:spPr bwMode="auto">
              <a:xfrm>
                <a:off x="3276" y="2787"/>
                <a:ext cx="2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p>
            </p:txBody>
          </p:sp>
          <p:sp>
            <p:nvSpPr>
              <p:cNvPr id="31791" name="Text Box 40"/>
              <p:cNvSpPr txBox="1">
                <a:spLocks noChangeArrowheads="1"/>
              </p:cNvSpPr>
              <p:nvPr/>
            </p:nvSpPr>
            <p:spPr bwMode="auto">
              <a:xfrm>
                <a:off x="3953" y="2727"/>
                <a:ext cx="2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r>
                  <a:rPr kumimoji="0" lang="en-US" altLang="zh-CN" sz="1800" i="1" baseline="30000">
                    <a:ea typeface="宋体" pitchFamily="2" charset="-122"/>
                  </a:rPr>
                  <a:t>/</a:t>
                </a:r>
                <a:endParaRPr kumimoji="0" lang="en-US" altLang="zh-CN" sz="1800" i="1">
                  <a:ea typeface="宋体" pitchFamily="2" charset="-122"/>
                </a:endParaRPr>
              </a:p>
            </p:txBody>
          </p:sp>
          <p:sp>
            <p:nvSpPr>
              <p:cNvPr id="31792" name="Line 45"/>
              <p:cNvSpPr>
                <a:spLocks noChangeShapeType="1"/>
              </p:cNvSpPr>
              <p:nvPr/>
            </p:nvSpPr>
            <p:spPr bwMode="auto">
              <a:xfrm>
                <a:off x="3435" y="2948"/>
                <a:ext cx="940" cy="2"/>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1793" name="Text Box 37"/>
              <p:cNvSpPr txBox="1">
                <a:spLocks noChangeArrowheads="1"/>
              </p:cNvSpPr>
              <p:nvPr/>
            </p:nvSpPr>
            <p:spPr bwMode="auto">
              <a:xfrm>
                <a:off x="4221" y="2510"/>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a:t>
                </a:r>
              </a:p>
            </p:txBody>
          </p:sp>
        </p:grpSp>
        <p:grpSp>
          <p:nvGrpSpPr>
            <p:cNvPr id="31767" name="Group 101"/>
            <p:cNvGrpSpPr>
              <a:grpSpLocks/>
            </p:cNvGrpSpPr>
            <p:nvPr/>
          </p:nvGrpSpPr>
          <p:grpSpPr bwMode="auto">
            <a:xfrm>
              <a:off x="2906815" y="3384005"/>
              <a:ext cx="2565400" cy="492126"/>
              <a:chOff x="3192" y="3195"/>
              <a:chExt cx="1616" cy="310"/>
            </a:xfrm>
          </p:grpSpPr>
          <p:sp>
            <p:nvSpPr>
              <p:cNvPr id="31780" name="Line 31"/>
              <p:cNvSpPr>
                <a:spLocks noChangeShapeType="1"/>
              </p:cNvSpPr>
              <p:nvPr/>
            </p:nvSpPr>
            <p:spPr bwMode="auto">
              <a:xfrm>
                <a:off x="3192" y="3266"/>
                <a:ext cx="1616" cy="0"/>
              </a:xfrm>
              <a:prstGeom prst="line">
                <a:avLst/>
              </a:prstGeom>
              <a:noFill/>
              <a:ln w="9525">
                <a:solidFill>
                  <a:srgbClr val="0000FF"/>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81" name="Text Box 43"/>
              <p:cNvSpPr txBox="1">
                <a:spLocks noChangeArrowheads="1"/>
              </p:cNvSpPr>
              <p:nvPr/>
            </p:nvSpPr>
            <p:spPr bwMode="auto">
              <a:xfrm>
                <a:off x="4107" y="3195"/>
                <a:ext cx="18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p>
            </p:txBody>
          </p:sp>
        </p:grpSp>
        <p:sp>
          <p:nvSpPr>
            <p:cNvPr id="31768" name="Line 73"/>
            <p:cNvSpPr>
              <a:spLocks noChangeShapeType="1"/>
            </p:cNvSpPr>
            <p:nvPr/>
          </p:nvSpPr>
          <p:spPr bwMode="auto">
            <a:xfrm flipH="1">
              <a:off x="5478565" y="2974420"/>
              <a:ext cx="404812" cy="54133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9" name="Line 93"/>
            <p:cNvSpPr>
              <a:spLocks noChangeShapeType="1"/>
            </p:cNvSpPr>
            <p:nvPr/>
          </p:nvSpPr>
          <p:spPr bwMode="auto">
            <a:xfrm>
              <a:off x="5478555" y="2344186"/>
              <a:ext cx="0" cy="116998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0" name="Text Box 95"/>
            <p:cNvSpPr txBox="1">
              <a:spLocks noChangeArrowheads="1"/>
            </p:cNvSpPr>
            <p:nvPr/>
          </p:nvSpPr>
          <p:spPr bwMode="auto">
            <a:xfrm>
              <a:off x="5516411" y="2072702"/>
              <a:ext cx="1230417" cy="86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宋体" pitchFamily="2" charset="-122"/>
                </a:rPr>
                <a:t>P </a:t>
              </a:r>
              <a:r>
                <a:rPr kumimoji="0" lang="en-US" altLang="zh-CN" sz="1800">
                  <a:ea typeface="宋体" pitchFamily="2" charset="-122"/>
                </a:rPr>
                <a:t>(</a:t>
              </a:r>
              <a:r>
                <a:rPr kumimoji="0" lang="en-US" altLang="zh-CN" sz="1800" i="1">
                  <a:ea typeface="宋体" pitchFamily="2" charset="-122"/>
                </a:rPr>
                <a:t>x</a:t>
              </a:r>
              <a:r>
                <a:rPr kumimoji="0" lang="en-US" altLang="zh-CN" sz="1800">
                  <a:ea typeface="宋体" pitchFamily="2" charset="-122"/>
                </a:rPr>
                <a:t>,</a:t>
              </a:r>
              <a:r>
                <a:rPr kumimoji="0" lang="en-US" altLang="zh-CN" sz="1800" i="1">
                  <a:ea typeface="宋体" pitchFamily="2" charset="-122"/>
                </a:rPr>
                <a:t>y</a:t>
              </a:r>
              <a:r>
                <a:rPr kumimoji="0" lang="en-US" altLang="zh-CN" sz="1800">
                  <a:ea typeface="宋体" pitchFamily="2" charset="-122"/>
                </a:rPr>
                <a:t>,</a:t>
              </a:r>
              <a:r>
                <a:rPr kumimoji="0" lang="en-US" altLang="zh-CN" sz="1800" i="1">
                  <a:ea typeface="宋体" pitchFamily="2" charset="-122"/>
                </a:rPr>
                <a:t>z,t</a:t>
              </a:r>
              <a:r>
                <a:rPr kumimoji="0" lang="en-US" altLang="zh-CN" sz="1800">
                  <a:ea typeface="宋体" pitchFamily="2" charset="-122"/>
                </a:rPr>
                <a:t>)</a:t>
              </a:r>
            </a:p>
            <a:p>
              <a:r>
                <a:rPr kumimoji="0" lang="en-US" altLang="zh-CN" sz="1800">
                  <a:ea typeface="宋体" pitchFamily="2" charset="-122"/>
                </a:rPr>
                <a:t>   (</a:t>
              </a:r>
              <a:r>
                <a:rPr kumimoji="0" lang="en-US" altLang="zh-CN" sz="1800" i="1">
                  <a:ea typeface="宋体" pitchFamily="2" charset="-122"/>
                </a:rPr>
                <a:t>x</a:t>
              </a:r>
              <a:r>
                <a:rPr kumimoji="0" lang="en-US" altLang="zh-CN" sz="1800" baseline="30000">
                  <a:ea typeface="宋体" pitchFamily="2" charset="-122"/>
                </a:rPr>
                <a:t>/</a:t>
              </a:r>
              <a:r>
                <a:rPr kumimoji="0" lang="en-US" altLang="zh-CN" sz="1800">
                  <a:ea typeface="宋体" pitchFamily="2" charset="-122"/>
                </a:rPr>
                <a:t>,</a:t>
              </a:r>
              <a:r>
                <a:rPr kumimoji="0" lang="en-US" altLang="zh-CN" sz="1800" i="1">
                  <a:ea typeface="宋体" pitchFamily="2" charset="-122"/>
                </a:rPr>
                <a:t>y</a:t>
              </a:r>
              <a:r>
                <a:rPr kumimoji="0" lang="en-US" altLang="zh-CN" sz="1800" baseline="30000">
                  <a:ea typeface="宋体" pitchFamily="2" charset="-122"/>
                </a:rPr>
                <a:t>/</a:t>
              </a:r>
              <a:r>
                <a:rPr kumimoji="0" lang="en-US" altLang="zh-CN" sz="1800">
                  <a:ea typeface="宋体" pitchFamily="2" charset="-122"/>
                </a:rPr>
                <a:t>,</a:t>
              </a:r>
              <a:r>
                <a:rPr kumimoji="0" lang="en-US" altLang="zh-CN" sz="1800" i="1">
                  <a:ea typeface="宋体" pitchFamily="2" charset="-122"/>
                </a:rPr>
                <a:t>z</a:t>
              </a:r>
              <a:r>
                <a:rPr kumimoji="0" lang="en-US" altLang="zh-CN" sz="1800" baseline="30000">
                  <a:ea typeface="宋体" pitchFamily="2" charset="-122"/>
                </a:rPr>
                <a:t>/</a:t>
              </a:r>
              <a:r>
                <a:rPr kumimoji="0" lang="en-US" altLang="zh-CN" sz="1800">
                  <a:ea typeface="宋体" pitchFamily="2" charset="-122"/>
                </a:rPr>
                <a:t>,</a:t>
              </a:r>
              <a:r>
                <a:rPr kumimoji="0" lang="en-US" altLang="zh-CN" sz="1800" i="1">
                  <a:ea typeface="宋体" pitchFamily="2" charset="-122"/>
                </a:rPr>
                <a:t>t</a:t>
              </a:r>
              <a:r>
                <a:rPr kumimoji="0" lang="en-US" altLang="zh-CN" sz="1800" baseline="30000">
                  <a:ea typeface="宋体" pitchFamily="2" charset="-122"/>
                </a:rPr>
                <a:t>/</a:t>
              </a:r>
              <a:r>
                <a:rPr kumimoji="0" lang="en-US" altLang="zh-CN" sz="1800">
                  <a:ea typeface="宋体" pitchFamily="2" charset="-122"/>
                </a:rPr>
                <a:t>)</a:t>
              </a:r>
            </a:p>
          </p:txBody>
        </p:sp>
        <p:sp>
          <p:nvSpPr>
            <p:cNvPr id="9" name="Oval 96"/>
            <p:cNvSpPr>
              <a:spLocks noChangeArrowheads="1"/>
            </p:cNvSpPr>
            <p:nvPr/>
          </p:nvSpPr>
          <p:spPr bwMode="auto">
            <a:xfrm>
              <a:off x="5388068" y="2209249"/>
              <a:ext cx="152400" cy="152400"/>
            </a:xfrm>
            <a:prstGeom prst="ellipse">
              <a:avLst/>
            </a:prstGeom>
            <a:solidFill>
              <a:srgbClr val="9933FF"/>
            </a:solidFill>
            <a:ln w="9525">
              <a:solidFill>
                <a:schemeClr val="tx1"/>
              </a:solidFill>
              <a:round/>
              <a:headEnd/>
              <a:tailEnd/>
            </a:ln>
            <a:scene3d>
              <a:camera prst="orthographicFront"/>
              <a:lightRig rig="threePt" dir="t"/>
            </a:scene3d>
            <a:sp3d>
              <a:bevelT/>
            </a:sp3d>
          </p:spPr>
          <p:txBody>
            <a:bodyPr wrap="none" anchor="ctr"/>
            <a:lstStyle/>
            <a:p>
              <a:pPr>
                <a:defRPr/>
              </a:pPr>
              <a:endParaRPr kumimoji="0" lang="zh-CN" altLang="en-US" sz="1800">
                <a:ea typeface="宋体" pitchFamily="2" charset="-122"/>
              </a:endParaRPr>
            </a:p>
          </p:txBody>
        </p:sp>
        <p:grpSp>
          <p:nvGrpSpPr>
            <p:cNvPr id="31774" name="Group 100"/>
            <p:cNvGrpSpPr>
              <a:grpSpLocks/>
            </p:cNvGrpSpPr>
            <p:nvPr/>
          </p:nvGrpSpPr>
          <p:grpSpPr bwMode="auto">
            <a:xfrm>
              <a:off x="4230790" y="2939504"/>
              <a:ext cx="1439862" cy="492126"/>
              <a:chOff x="4022" y="2932"/>
              <a:chExt cx="907" cy="310"/>
            </a:xfrm>
          </p:grpSpPr>
          <p:sp>
            <p:nvSpPr>
              <p:cNvPr id="31778" name="Line 98"/>
              <p:cNvSpPr>
                <a:spLocks noChangeShapeType="1"/>
              </p:cNvSpPr>
              <p:nvPr/>
            </p:nvSpPr>
            <p:spPr bwMode="auto">
              <a:xfrm>
                <a:off x="4022" y="3139"/>
                <a:ext cx="907" cy="0"/>
              </a:xfrm>
              <a:prstGeom prst="line">
                <a:avLst/>
              </a:prstGeom>
              <a:noFill/>
              <a:ln w="19050">
                <a:solidFill>
                  <a:srgbClr val="3333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9" name="Text Box 99"/>
              <p:cNvSpPr txBox="1">
                <a:spLocks noChangeArrowheads="1"/>
              </p:cNvSpPr>
              <p:nvPr/>
            </p:nvSpPr>
            <p:spPr bwMode="auto">
              <a:xfrm>
                <a:off x="4354" y="2932"/>
                <a:ext cx="21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r>
                  <a:rPr kumimoji="0" lang="en-US" altLang="zh-CN" sz="1800" i="1" baseline="30000">
                    <a:ea typeface="宋体" pitchFamily="2" charset="-122"/>
                  </a:rPr>
                  <a:t>/</a:t>
                </a:r>
                <a:endParaRPr kumimoji="0" lang="en-US" altLang="zh-CN" sz="1800" i="1">
                  <a:ea typeface="宋体" pitchFamily="2" charset="-122"/>
                </a:endParaRPr>
              </a:p>
            </p:txBody>
          </p:sp>
        </p:grpSp>
        <p:grpSp>
          <p:nvGrpSpPr>
            <p:cNvPr id="31775" name="组合 42"/>
            <p:cNvGrpSpPr>
              <a:grpSpLocks/>
            </p:cNvGrpSpPr>
            <p:nvPr/>
          </p:nvGrpSpPr>
          <p:grpSpPr bwMode="auto">
            <a:xfrm>
              <a:off x="2906815" y="3474482"/>
              <a:ext cx="1066800" cy="492293"/>
              <a:chOff x="5149850" y="5008988"/>
              <a:chExt cx="1066800" cy="491751"/>
            </a:xfrm>
          </p:grpSpPr>
          <p:cxnSp>
            <p:nvCxnSpPr>
              <p:cNvPr id="31776" name="直接连接符 38"/>
              <p:cNvCxnSpPr>
                <a:cxnSpLocks noChangeShapeType="1"/>
              </p:cNvCxnSpPr>
              <p:nvPr/>
            </p:nvCxnSpPr>
            <p:spPr bwMode="auto">
              <a:xfrm>
                <a:off x="5149850" y="5071918"/>
                <a:ext cx="1066800" cy="1732"/>
              </a:xfrm>
              <a:prstGeom prst="line">
                <a:avLst/>
              </a:prstGeom>
              <a:noFill/>
              <a:ln w="9525" algn="ctr">
                <a:solidFill>
                  <a:srgbClr val="FF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31777" name="TextBox 41"/>
              <p:cNvSpPr txBox="1">
                <a:spLocks noChangeArrowheads="1"/>
              </p:cNvSpPr>
              <p:nvPr/>
            </p:nvSpPr>
            <p:spPr bwMode="auto">
              <a:xfrm>
                <a:off x="5416549" y="5008988"/>
                <a:ext cx="377208" cy="491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ut</a:t>
                </a:r>
              </a:p>
            </p:txBody>
          </p:sp>
        </p:grpSp>
      </p:grpSp>
      <p:sp>
        <p:nvSpPr>
          <p:cNvPr id="60" name="Rectangle 37"/>
          <p:cNvSpPr>
            <a:spLocks noChangeArrowheads="1"/>
          </p:cNvSpPr>
          <p:nvPr/>
        </p:nvSpPr>
        <p:spPr bwMode="auto">
          <a:xfrm>
            <a:off x="250825" y="977900"/>
            <a:ext cx="1323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eaLnBrk="0" hangingPunct="0">
              <a:buFont typeface="Arial" charset="0"/>
              <a:buNone/>
            </a:pPr>
            <a:r>
              <a:rPr kumimoji="0" lang="zh-CN" altLang="en-US" sz="1800">
                <a:ea typeface="华文中宋" pitchFamily="2" charset="-122"/>
              </a:rPr>
              <a:t>原点</a:t>
            </a:r>
            <a:r>
              <a:rPr kumimoji="0" lang="en-US" altLang="zh-CN" sz="1800" i="1">
                <a:ea typeface="华文中宋" pitchFamily="2" charset="-122"/>
              </a:rPr>
              <a:t>O</a:t>
            </a:r>
            <a:r>
              <a:rPr kumimoji="0" lang="zh-CN" altLang="en-US" sz="1800">
                <a:ea typeface="华文中宋" pitchFamily="2" charset="-122"/>
              </a:rPr>
              <a:t>：</a:t>
            </a:r>
          </a:p>
        </p:txBody>
      </p:sp>
      <p:sp>
        <p:nvSpPr>
          <p:cNvPr id="69" name="Rectangle 11"/>
          <p:cNvSpPr>
            <a:spLocks noChangeArrowheads="1"/>
          </p:cNvSpPr>
          <p:nvPr/>
        </p:nvSpPr>
        <p:spPr bwMode="auto">
          <a:xfrm>
            <a:off x="468313" y="2463800"/>
            <a:ext cx="7127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a:solidFill>
                  <a:srgbClr val="FF0000"/>
                </a:solidFill>
                <a:ea typeface="华文中宋" pitchFamily="2" charset="-122"/>
              </a:rPr>
              <a:t>因此，我们得到坐标变换关系为：</a:t>
            </a:r>
          </a:p>
        </p:txBody>
      </p:sp>
      <p:graphicFrame>
        <p:nvGraphicFramePr>
          <p:cNvPr id="2" name="对象 59"/>
          <p:cNvGraphicFramePr>
            <a:graphicFrameLocks noChangeAspect="1"/>
          </p:cNvGraphicFramePr>
          <p:nvPr/>
        </p:nvGraphicFramePr>
        <p:xfrm>
          <a:off x="1125538" y="936625"/>
          <a:ext cx="2438400" cy="411163"/>
        </p:xfrm>
        <a:graphic>
          <a:graphicData uri="http://schemas.openxmlformats.org/presentationml/2006/ole">
            <mc:AlternateContent xmlns:mc="http://schemas.openxmlformats.org/markup-compatibility/2006">
              <mc:Choice xmlns:v="urn:schemas-microsoft-com:vml" Requires="v">
                <p:oleObj spid="_x0000_s31802" name="公式" r:id="rId3" imgW="736280" imgH="165028" progId="Equation.3">
                  <p:embed/>
                </p:oleObj>
              </mc:Choice>
              <mc:Fallback>
                <p:oleObj name="公式" r:id="rId3" imgW="736280" imgH="165028" progId="Equation.3">
                  <p:embed/>
                  <p:pic>
                    <p:nvPicPr>
                      <p:cNvPr id="0" name="对象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538" y="936625"/>
                        <a:ext cx="24384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 name="Group 50"/>
          <p:cNvGrpSpPr>
            <a:grpSpLocks/>
          </p:cNvGrpSpPr>
          <p:nvPr/>
        </p:nvGrpSpPr>
        <p:grpSpPr bwMode="auto">
          <a:xfrm>
            <a:off x="612775" y="1274763"/>
            <a:ext cx="3816350" cy="415925"/>
            <a:chOff x="386" y="1102"/>
            <a:chExt cx="2404" cy="350"/>
          </a:xfrm>
        </p:grpSpPr>
        <p:graphicFrame>
          <p:nvGraphicFramePr>
            <p:cNvPr id="31764" name="对象 59"/>
            <p:cNvGraphicFramePr>
              <a:graphicFrameLocks noChangeAspect="1"/>
            </p:cNvGraphicFramePr>
            <p:nvPr/>
          </p:nvGraphicFramePr>
          <p:xfrm>
            <a:off x="732" y="1102"/>
            <a:ext cx="1105" cy="350"/>
          </p:xfrm>
          <a:graphic>
            <a:graphicData uri="http://schemas.openxmlformats.org/presentationml/2006/ole">
              <mc:AlternateContent xmlns:mc="http://schemas.openxmlformats.org/markup-compatibility/2006">
                <mc:Choice xmlns:v="urn:schemas-microsoft-com:vml" Requires="v">
                  <p:oleObj spid="_x0000_s31803" name="公式" r:id="rId5" imgW="482391" imgH="152334" progId="Equation.3">
                    <p:embed/>
                  </p:oleObj>
                </mc:Choice>
                <mc:Fallback>
                  <p:oleObj name="公式" r:id="rId5" imgW="482391" imgH="152334" progId="Equation.3">
                    <p:embed/>
                    <p:pic>
                      <p:nvPicPr>
                        <p:cNvPr id="0" name="对象 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2" y="1102"/>
                          <a:ext cx="1105"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65" name="Rectangle 38"/>
            <p:cNvSpPr>
              <a:spLocks noChangeArrowheads="1"/>
            </p:cNvSpPr>
            <p:nvPr/>
          </p:nvSpPr>
          <p:spPr bwMode="auto">
            <a:xfrm>
              <a:off x="386" y="1118"/>
              <a:ext cx="2404"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a:ea typeface="华文中宋" pitchFamily="2" charset="-122"/>
                </a:rPr>
                <a:t>代入      </a:t>
              </a:r>
              <a:r>
                <a:rPr kumimoji="0" lang="zh-CN" altLang="en-US" sz="1800" i="1">
                  <a:ea typeface="华文中宋" pitchFamily="2" charset="-122"/>
                </a:rPr>
                <a:t>                        </a:t>
              </a:r>
              <a:r>
                <a:rPr kumimoji="0" lang="zh-CN" altLang="en-US" sz="1800">
                  <a:ea typeface="华文中宋" pitchFamily="2" charset="-122"/>
                </a:rPr>
                <a:t>，可得</a:t>
              </a:r>
            </a:p>
          </p:txBody>
        </p:sp>
      </p:grpSp>
      <p:graphicFrame>
        <p:nvGraphicFramePr>
          <p:cNvPr id="5" name="对象 59"/>
          <p:cNvGraphicFramePr>
            <a:graphicFrameLocks noChangeAspect="1"/>
          </p:cNvGraphicFramePr>
          <p:nvPr/>
        </p:nvGraphicFramePr>
        <p:xfrm>
          <a:off x="539750" y="1600200"/>
          <a:ext cx="3698875" cy="379413"/>
        </p:xfrm>
        <a:graphic>
          <a:graphicData uri="http://schemas.openxmlformats.org/presentationml/2006/ole">
            <mc:AlternateContent xmlns:mc="http://schemas.openxmlformats.org/markup-compatibility/2006">
              <mc:Choice xmlns:v="urn:schemas-microsoft-com:vml" Requires="v">
                <p:oleObj spid="_x0000_s31804" name="公式" r:id="rId7" imgW="1117115" imgH="152334" progId="Equation.3">
                  <p:embed/>
                </p:oleObj>
              </mc:Choice>
              <mc:Fallback>
                <p:oleObj name="公式" r:id="rId7" imgW="1117115" imgH="152334" progId="Equation.3">
                  <p:embed/>
                  <p:pic>
                    <p:nvPicPr>
                      <p:cNvPr id="0" name="对象 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1600200"/>
                        <a:ext cx="3698875"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7" name="Group 54"/>
          <p:cNvGrpSpPr>
            <a:grpSpLocks/>
          </p:cNvGrpSpPr>
          <p:nvPr/>
        </p:nvGrpSpPr>
        <p:grpSpPr bwMode="auto">
          <a:xfrm>
            <a:off x="468313" y="2085975"/>
            <a:ext cx="5167312" cy="379413"/>
            <a:chOff x="295" y="1752"/>
            <a:chExt cx="3255" cy="319"/>
          </a:xfrm>
        </p:grpSpPr>
        <p:sp>
          <p:nvSpPr>
            <p:cNvPr id="31762" name="Text Box 39"/>
            <p:cNvSpPr txBox="1">
              <a:spLocks noChangeArrowheads="1"/>
            </p:cNvSpPr>
            <p:nvPr/>
          </p:nvSpPr>
          <p:spPr bwMode="auto">
            <a:xfrm>
              <a:off x="295" y="1752"/>
              <a:ext cx="244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buFont typeface="Arial" charset="0"/>
                <a:buNone/>
              </a:pPr>
              <a:r>
                <a:rPr kumimoji="0" lang="zh-CN" altLang="en-US" sz="1800">
                  <a:ea typeface="华文中宋" pitchFamily="2" charset="-122"/>
                </a:rPr>
                <a:t>类似地，对于</a:t>
              </a:r>
              <a:r>
                <a:rPr kumimoji="0" lang="en-US" altLang="zh-CN" sz="1800" i="1">
                  <a:ea typeface="华文中宋" pitchFamily="2" charset="-122"/>
                </a:rPr>
                <a:t>O’</a:t>
              </a:r>
              <a:r>
                <a:rPr kumimoji="0" lang="zh-CN" altLang="en-US" sz="1800">
                  <a:ea typeface="华文中宋" pitchFamily="2" charset="-122"/>
                </a:rPr>
                <a:t>我们可获得</a:t>
              </a:r>
              <a:r>
                <a:rPr kumimoji="0" lang="zh-CN" altLang="en-US" sz="1800" baseline="30000">
                  <a:ea typeface="华文中宋" pitchFamily="2" charset="-122"/>
                </a:rPr>
                <a:t> </a:t>
              </a:r>
              <a:endParaRPr kumimoji="0" lang="zh-CN" altLang="en-US" sz="1800">
                <a:ea typeface="华文中宋" pitchFamily="2" charset="-122"/>
              </a:endParaRPr>
            </a:p>
          </p:txBody>
        </p:sp>
        <p:graphicFrame>
          <p:nvGraphicFramePr>
            <p:cNvPr id="31763" name="对象 59"/>
            <p:cNvGraphicFramePr>
              <a:graphicFrameLocks noChangeAspect="1"/>
            </p:cNvGraphicFramePr>
            <p:nvPr/>
          </p:nvGraphicFramePr>
          <p:xfrm>
            <a:off x="2200" y="1752"/>
            <a:ext cx="1350" cy="319"/>
          </p:xfrm>
          <a:graphic>
            <a:graphicData uri="http://schemas.openxmlformats.org/presentationml/2006/ole">
              <mc:AlternateContent xmlns:mc="http://schemas.openxmlformats.org/markup-compatibility/2006">
                <mc:Choice xmlns:v="urn:schemas-microsoft-com:vml" Requires="v">
                  <p:oleObj spid="_x0000_s31805" name="公式" r:id="rId9" imgW="647419" imgH="152334" progId="Equation.3">
                    <p:embed/>
                  </p:oleObj>
                </mc:Choice>
                <mc:Fallback>
                  <p:oleObj name="公式" r:id="rId9" imgW="647419" imgH="152334" progId="Equation.3">
                    <p:embed/>
                    <p:pic>
                      <p:nvPicPr>
                        <p:cNvPr id="0" name="对象 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0" y="1752"/>
                          <a:ext cx="1350"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pSp>
      <p:grpSp>
        <p:nvGrpSpPr>
          <p:cNvPr id="18" name="Group 62"/>
          <p:cNvGrpSpPr>
            <a:grpSpLocks/>
          </p:cNvGrpSpPr>
          <p:nvPr/>
        </p:nvGrpSpPr>
        <p:grpSpPr bwMode="auto">
          <a:xfrm>
            <a:off x="1331913" y="2787650"/>
            <a:ext cx="4089400" cy="379413"/>
            <a:chOff x="839" y="2476"/>
            <a:chExt cx="2576" cy="319"/>
          </a:xfrm>
        </p:grpSpPr>
        <p:sp>
          <p:nvSpPr>
            <p:cNvPr id="31760" name="Text Box 13"/>
            <p:cNvSpPr txBox="1">
              <a:spLocks noChangeArrowheads="1"/>
            </p:cNvSpPr>
            <p:nvPr/>
          </p:nvSpPr>
          <p:spPr bwMode="auto">
            <a:xfrm>
              <a:off x="839" y="2478"/>
              <a:ext cx="186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eaLnBrk="0" hangingPunct="0">
                <a:defRPr kumimoji="1" sz="2800" b="1">
                  <a:solidFill>
                    <a:schemeClr val="tx1"/>
                  </a:solidFill>
                  <a:latin typeface="Times New Roman" pitchFamily="18" charset="0"/>
                  <a:ea typeface="楷体_GB2312" pitchFamily="49" charset="-122"/>
                </a:defRPr>
              </a:lvl1pPr>
              <a:lvl2pPr marL="742950" indent="-285750" defTabSz="762000" eaLnBrk="0" hangingPunct="0">
                <a:defRPr kumimoji="1" sz="2800" b="1">
                  <a:solidFill>
                    <a:schemeClr val="tx1"/>
                  </a:solidFill>
                  <a:latin typeface="Times New Roman" pitchFamily="18" charset="0"/>
                  <a:ea typeface="楷体_GB2312" pitchFamily="49" charset="-122"/>
                </a:defRPr>
              </a:lvl2pPr>
              <a:lvl3pPr marL="1143000" indent="-228600" defTabSz="762000" eaLnBrk="0" hangingPunct="0">
                <a:defRPr kumimoji="1" sz="2800" b="1">
                  <a:solidFill>
                    <a:schemeClr val="tx1"/>
                  </a:solidFill>
                  <a:latin typeface="Times New Roman" pitchFamily="18" charset="0"/>
                  <a:ea typeface="楷体_GB2312" pitchFamily="49" charset="-122"/>
                </a:defRPr>
              </a:lvl3pPr>
              <a:lvl4pPr marL="1600200" indent="-228600" defTabSz="762000" eaLnBrk="0" hangingPunct="0">
                <a:defRPr kumimoji="1" sz="2800" b="1">
                  <a:solidFill>
                    <a:schemeClr val="tx1"/>
                  </a:solidFill>
                  <a:latin typeface="Times New Roman" pitchFamily="18" charset="0"/>
                  <a:ea typeface="楷体_GB2312" pitchFamily="49" charset="-122"/>
                </a:defRPr>
              </a:lvl4pPr>
              <a:lvl5pPr marL="2057400" indent="-228600" defTabSz="762000" eaLnBrk="0" hangingPunct="0">
                <a:defRPr kumimoji="1" sz="2800" b="1">
                  <a:solidFill>
                    <a:schemeClr val="tx1"/>
                  </a:solidFill>
                  <a:latin typeface="Times New Roman" pitchFamily="18" charset="0"/>
                  <a:ea typeface="楷体_GB2312" pitchFamily="49" charset="-122"/>
                </a:defRPr>
              </a:lvl5pPr>
              <a:lvl6pPr marL="25146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spcBef>
                  <a:spcPct val="50000"/>
                </a:spcBef>
              </a:pPr>
              <a:r>
                <a:rPr lang="en-US" altLang="zh-CN" sz="1800" i="1">
                  <a:ea typeface="华文中宋" pitchFamily="2" charset="-122"/>
                </a:rPr>
                <a:t>S</a:t>
              </a:r>
              <a:r>
                <a:rPr lang="en-US" altLang="zh-CN" sz="1800" baseline="30000">
                  <a:ea typeface="华文中宋" pitchFamily="2" charset="-122"/>
                </a:rPr>
                <a:t>/ </a:t>
              </a:r>
              <a:r>
                <a:rPr lang="en-US" altLang="zh-CN" sz="1800">
                  <a:ea typeface="华文中宋" pitchFamily="2" charset="-122"/>
                </a:rPr>
                <a:t>→</a:t>
              </a:r>
              <a:r>
                <a:rPr lang="en-US" altLang="zh-CN" sz="1800" baseline="30000">
                  <a:ea typeface="华文中宋" pitchFamily="2" charset="-122"/>
                </a:rPr>
                <a:t> </a:t>
              </a:r>
              <a:r>
                <a:rPr lang="en-US" altLang="zh-CN" sz="1800" i="1">
                  <a:ea typeface="华文中宋" pitchFamily="2" charset="-122"/>
                </a:rPr>
                <a:t>S</a:t>
              </a:r>
              <a:r>
                <a:rPr lang="zh-CN" altLang="en-US" sz="1800">
                  <a:ea typeface="华文中宋" pitchFamily="2" charset="-122"/>
                </a:rPr>
                <a:t>的变换为：</a:t>
              </a:r>
            </a:p>
          </p:txBody>
        </p:sp>
        <p:graphicFrame>
          <p:nvGraphicFramePr>
            <p:cNvPr id="31761" name="对象 59"/>
            <p:cNvGraphicFramePr>
              <a:graphicFrameLocks noChangeAspect="1"/>
            </p:cNvGraphicFramePr>
            <p:nvPr/>
          </p:nvGraphicFramePr>
          <p:xfrm>
            <a:off x="2064" y="2476"/>
            <a:ext cx="1351" cy="319"/>
          </p:xfrm>
          <a:graphic>
            <a:graphicData uri="http://schemas.openxmlformats.org/presentationml/2006/ole">
              <mc:AlternateContent xmlns:mc="http://schemas.openxmlformats.org/markup-compatibility/2006">
                <mc:Choice xmlns:v="urn:schemas-microsoft-com:vml" Requires="v">
                  <p:oleObj spid="_x0000_s31806" name="公式" r:id="rId11" imgW="647419" imgH="152334" progId="Equation.3">
                    <p:embed/>
                  </p:oleObj>
                </mc:Choice>
                <mc:Fallback>
                  <p:oleObj name="公式" r:id="rId11" imgW="647419" imgH="152334" progId="Equation.3">
                    <p:embed/>
                    <p:pic>
                      <p:nvPicPr>
                        <p:cNvPr id="0" name="对象 5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4" y="2476"/>
                          <a:ext cx="1351"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9" name="Group 61"/>
          <p:cNvGrpSpPr>
            <a:grpSpLocks/>
          </p:cNvGrpSpPr>
          <p:nvPr/>
        </p:nvGrpSpPr>
        <p:grpSpPr bwMode="auto">
          <a:xfrm>
            <a:off x="1331913" y="3165475"/>
            <a:ext cx="4103687" cy="381000"/>
            <a:chOff x="839" y="2884"/>
            <a:chExt cx="2585" cy="319"/>
          </a:xfrm>
        </p:grpSpPr>
        <p:sp>
          <p:nvSpPr>
            <p:cNvPr id="31758" name="Text Box 15"/>
            <p:cNvSpPr txBox="1">
              <a:spLocks noChangeArrowheads="1"/>
            </p:cNvSpPr>
            <p:nvPr/>
          </p:nvSpPr>
          <p:spPr bwMode="auto">
            <a:xfrm>
              <a:off x="839" y="2886"/>
              <a:ext cx="195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eaLnBrk="0" hangingPunct="0">
                <a:defRPr kumimoji="1" sz="2800" b="1">
                  <a:solidFill>
                    <a:schemeClr val="tx1"/>
                  </a:solidFill>
                  <a:latin typeface="Times New Roman" pitchFamily="18" charset="0"/>
                  <a:ea typeface="楷体_GB2312" pitchFamily="49" charset="-122"/>
                </a:defRPr>
              </a:lvl1pPr>
              <a:lvl2pPr marL="742950" indent="-285750" defTabSz="762000" eaLnBrk="0" hangingPunct="0">
                <a:defRPr kumimoji="1" sz="2800" b="1">
                  <a:solidFill>
                    <a:schemeClr val="tx1"/>
                  </a:solidFill>
                  <a:latin typeface="Times New Roman" pitchFamily="18" charset="0"/>
                  <a:ea typeface="楷体_GB2312" pitchFamily="49" charset="-122"/>
                </a:defRPr>
              </a:lvl2pPr>
              <a:lvl3pPr marL="1143000" indent="-228600" defTabSz="762000" eaLnBrk="0" hangingPunct="0">
                <a:defRPr kumimoji="1" sz="2800" b="1">
                  <a:solidFill>
                    <a:schemeClr val="tx1"/>
                  </a:solidFill>
                  <a:latin typeface="Times New Roman" pitchFamily="18" charset="0"/>
                  <a:ea typeface="楷体_GB2312" pitchFamily="49" charset="-122"/>
                </a:defRPr>
              </a:lvl3pPr>
              <a:lvl4pPr marL="1600200" indent="-228600" defTabSz="762000" eaLnBrk="0" hangingPunct="0">
                <a:defRPr kumimoji="1" sz="2800" b="1">
                  <a:solidFill>
                    <a:schemeClr val="tx1"/>
                  </a:solidFill>
                  <a:latin typeface="Times New Roman" pitchFamily="18" charset="0"/>
                  <a:ea typeface="楷体_GB2312" pitchFamily="49" charset="-122"/>
                </a:defRPr>
              </a:lvl4pPr>
              <a:lvl5pPr marL="2057400" indent="-228600" defTabSz="762000" eaLnBrk="0" hangingPunct="0">
                <a:defRPr kumimoji="1" sz="2800" b="1">
                  <a:solidFill>
                    <a:schemeClr val="tx1"/>
                  </a:solidFill>
                  <a:latin typeface="Times New Roman" pitchFamily="18" charset="0"/>
                  <a:ea typeface="楷体_GB2312" pitchFamily="49" charset="-122"/>
                </a:defRPr>
              </a:lvl5pPr>
              <a:lvl6pPr marL="25146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spcBef>
                  <a:spcPct val="50000"/>
                </a:spcBef>
              </a:pPr>
              <a:r>
                <a:rPr lang="en-US" altLang="zh-CN" sz="1800" i="1">
                  <a:ea typeface="华文中宋" pitchFamily="2" charset="-122"/>
                </a:rPr>
                <a:t>S</a:t>
              </a:r>
              <a:r>
                <a:rPr lang="en-US" altLang="zh-CN" sz="1800" baseline="30000">
                  <a:ea typeface="华文中宋" pitchFamily="2" charset="-122"/>
                </a:rPr>
                <a:t> </a:t>
              </a:r>
              <a:r>
                <a:rPr lang="en-US" altLang="zh-CN" sz="1800">
                  <a:ea typeface="华文中宋" pitchFamily="2" charset="-122"/>
                </a:rPr>
                <a:t>→</a:t>
              </a:r>
              <a:r>
                <a:rPr lang="en-US" altLang="zh-CN" sz="1800" baseline="30000">
                  <a:ea typeface="华文中宋" pitchFamily="2" charset="-122"/>
                </a:rPr>
                <a:t> </a:t>
              </a:r>
              <a:r>
                <a:rPr lang="en-US" altLang="zh-CN" sz="1800" i="1">
                  <a:ea typeface="华文中宋" pitchFamily="2" charset="-122"/>
                </a:rPr>
                <a:t>S</a:t>
              </a:r>
              <a:r>
                <a:rPr lang="en-US" altLang="zh-CN" sz="1800" baseline="30000">
                  <a:ea typeface="华文中宋" pitchFamily="2" charset="-122"/>
                </a:rPr>
                <a:t>/</a:t>
              </a:r>
              <a:r>
                <a:rPr lang="zh-CN" altLang="en-US" sz="1800">
                  <a:ea typeface="华文中宋" pitchFamily="2" charset="-122"/>
                </a:rPr>
                <a:t>的变换为：</a:t>
              </a:r>
            </a:p>
          </p:txBody>
        </p:sp>
        <p:graphicFrame>
          <p:nvGraphicFramePr>
            <p:cNvPr id="31759" name="对象 59"/>
            <p:cNvGraphicFramePr>
              <a:graphicFrameLocks noChangeAspect="1"/>
            </p:cNvGraphicFramePr>
            <p:nvPr/>
          </p:nvGraphicFramePr>
          <p:xfrm>
            <a:off x="2073" y="2884"/>
            <a:ext cx="1351" cy="319"/>
          </p:xfrm>
          <a:graphic>
            <a:graphicData uri="http://schemas.openxmlformats.org/presentationml/2006/ole">
              <mc:AlternateContent xmlns:mc="http://schemas.openxmlformats.org/markup-compatibility/2006">
                <mc:Choice xmlns:v="urn:schemas-microsoft-com:vml" Requires="v">
                  <p:oleObj spid="_x0000_s31807" name="公式" r:id="rId13" imgW="647419" imgH="152334" progId="Equation.3">
                    <p:embed/>
                  </p:oleObj>
                </mc:Choice>
                <mc:Fallback>
                  <p:oleObj name="公式" r:id="rId13" imgW="647419" imgH="152334" progId="Equation.3">
                    <p:embed/>
                    <p:pic>
                      <p:nvPicPr>
                        <p:cNvPr id="0" name="对象 5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73" y="2884"/>
                          <a:ext cx="1351"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9" name="Rectangle 52"/>
          <p:cNvSpPr>
            <a:spLocks noChangeArrowheads="1"/>
          </p:cNvSpPr>
          <p:nvPr/>
        </p:nvSpPr>
        <p:spPr bwMode="auto">
          <a:xfrm>
            <a:off x="468313" y="3598863"/>
            <a:ext cx="8351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a:ea typeface="华文中宋" pitchFamily="2" charset="-122"/>
              </a:rPr>
              <a:t>相对性原理说明两惯性系等价</a:t>
            </a:r>
            <a:r>
              <a:rPr kumimoji="0" lang="en-US" altLang="zh-CN" sz="1800">
                <a:ea typeface="华文中宋" pitchFamily="2" charset="-122"/>
              </a:rPr>
              <a:t>,</a:t>
            </a:r>
            <a:r>
              <a:rPr kumimoji="0" lang="zh-CN" altLang="en-US" sz="1800">
                <a:ea typeface="华文中宋" pitchFamily="2" charset="-122"/>
              </a:rPr>
              <a:t>即当</a:t>
            </a:r>
            <a:r>
              <a:rPr kumimoji="0" lang="en-US" altLang="zh-CN" sz="1800" i="1">
                <a:ea typeface="华文中宋" pitchFamily="2" charset="-122"/>
              </a:rPr>
              <a:t>u</a:t>
            </a:r>
            <a:r>
              <a:rPr kumimoji="0" lang="en-US" altLang="en-US" sz="1800">
                <a:ea typeface="华文中宋" pitchFamily="2" charset="-122"/>
              </a:rPr>
              <a:t>→</a:t>
            </a:r>
            <a:r>
              <a:rPr kumimoji="0" lang="en-US" altLang="zh-CN" sz="1800">
                <a:ea typeface="华文中宋" pitchFamily="2" charset="-122"/>
              </a:rPr>
              <a:t>-</a:t>
            </a:r>
            <a:r>
              <a:rPr kumimoji="0" lang="en-US" altLang="zh-CN" sz="1800" i="1">
                <a:ea typeface="华文中宋" pitchFamily="2" charset="-122"/>
              </a:rPr>
              <a:t>u</a:t>
            </a:r>
            <a:r>
              <a:rPr kumimoji="0" lang="zh-CN" altLang="en-US" sz="1800">
                <a:ea typeface="华文中宋" pitchFamily="2" charset="-122"/>
              </a:rPr>
              <a:t>时，上式有相同的形式，因此</a:t>
            </a:r>
          </a:p>
        </p:txBody>
      </p:sp>
      <p:graphicFrame>
        <p:nvGraphicFramePr>
          <p:cNvPr id="10" name="对象 59"/>
          <p:cNvGraphicFramePr>
            <a:graphicFrameLocks noChangeAspect="1"/>
          </p:cNvGraphicFramePr>
          <p:nvPr/>
        </p:nvGraphicFramePr>
        <p:xfrm>
          <a:off x="4065588" y="3898900"/>
          <a:ext cx="966787" cy="379413"/>
        </p:xfrm>
        <a:graphic>
          <a:graphicData uri="http://schemas.openxmlformats.org/presentationml/2006/ole">
            <mc:AlternateContent xmlns:mc="http://schemas.openxmlformats.org/markup-compatibility/2006">
              <mc:Choice xmlns:v="urn:schemas-microsoft-com:vml" Requires="v">
                <p:oleObj spid="_x0000_s31808" name="公式" r:id="rId15" imgW="291973" imgH="152334" progId="Equation.3">
                  <p:embed/>
                </p:oleObj>
              </mc:Choice>
              <mc:Fallback>
                <p:oleObj name="公式" r:id="rId15" imgW="291973" imgH="152334" progId="Equation.3">
                  <p:embed/>
                  <p:pic>
                    <p:nvPicPr>
                      <p:cNvPr id="0" name="对象 5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65588" y="3898900"/>
                        <a:ext cx="966787"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59"/>
          <p:cNvGraphicFramePr>
            <a:graphicFrameLocks noChangeAspect="1"/>
          </p:cNvGraphicFramePr>
          <p:nvPr/>
        </p:nvGraphicFramePr>
        <p:xfrm>
          <a:off x="2700338" y="4224338"/>
          <a:ext cx="3698875" cy="508000"/>
        </p:xfrm>
        <a:graphic>
          <a:graphicData uri="http://schemas.openxmlformats.org/presentationml/2006/ole">
            <mc:AlternateContent xmlns:mc="http://schemas.openxmlformats.org/markup-compatibility/2006">
              <mc:Choice xmlns:v="urn:schemas-microsoft-com:vml" Requires="v">
                <p:oleObj spid="_x0000_s31809" name="公式" r:id="rId17" imgW="1117115" imgH="203112" progId="Equation.3">
                  <p:embed/>
                </p:oleObj>
              </mc:Choice>
              <mc:Fallback>
                <p:oleObj name="公式" r:id="rId17" imgW="1117115" imgH="203112" progId="Equation.3">
                  <p:embed/>
                  <p:pic>
                    <p:nvPicPr>
                      <p:cNvPr id="0" name="对象 5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00338" y="4224338"/>
                        <a:ext cx="36988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500"/>
                                        <p:tgtEl>
                                          <p:spTgt spid="6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left)">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linds(horizontal)">
                                      <p:cBhvr>
                                        <p:cTn id="24" dur="500"/>
                                        <p:tgtEl>
                                          <p:spTgt spid="1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linds(horizontal)">
                                      <p:cBhvr>
                                        <p:cTn id="34" dur="500"/>
                                        <p:tgtEl>
                                          <p:spTgt spid="1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9">
                                            <p:txEl>
                                              <p:pRg st="0" end="0"/>
                                            </p:txEl>
                                          </p:spTgt>
                                        </p:tgtEl>
                                        <p:attrNameLst>
                                          <p:attrName>style.visibility</p:attrName>
                                        </p:attrNameLst>
                                      </p:cBhvr>
                                      <p:to>
                                        <p:strVal val="visible"/>
                                      </p:to>
                                    </p:set>
                                    <p:animEffect transition="in" filter="wipe(left)">
                                      <p:cBhvr>
                                        <p:cTn id="39" dur="500"/>
                                        <p:tgtEl>
                                          <p:spTgt spid="69">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blinds(horizontal)">
                                      <p:cBhvr>
                                        <p:cTn id="44" dur="500"/>
                                        <p:tgtEl>
                                          <p:spTgt spid="18"/>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blinds(horizontal)">
                                      <p:cBhvr>
                                        <p:cTn id="49" dur="500"/>
                                        <p:tgtEl>
                                          <p:spTgt spid="1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9">
                                            <p:txEl>
                                              <p:pRg st="0" end="0"/>
                                            </p:txEl>
                                          </p:spTgt>
                                        </p:tgtEl>
                                        <p:attrNameLst>
                                          <p:attrName>style.visibility</p:attrName>
                                        </p:attrNameLst>
                                      </p:cBhvr>
                                      <p:to>
                                        <p:strVal val="visible"/>
                                      </p:to>
                                    </p:set>
                                    <p:animEffect transition="in" filter="wipe(left)">
                                      <p:cBhvr>
                                        <p:cTn id="54" dur="500"/>
                                        <p:tgtEl>
                                          <p:spTgt spid="49">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wipe(left)">
                                      <p:cBhvr>
                                        <p:cTn id="59" dur="500"/>
                                        <p:tgtEl>
                                          <p:spTgt spid="1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9" grpId="0" build="p"/>
      <p:bldP spid="49"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Box 61"/>
          <p:cNvSpPr txBox="1">
            <a:spLocks noChangeArrowheads="1"/>
          </p:cNvSpPr>
          <p:nvPr/>
        </p:nvSpPr>
        <p:spPr bwMode="auto">
          <a:xfrm>
            <a:off x="539750" y="835025"/>
            <a:ext cx="31956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62000" eaLnBrk="0" hangingPunct="0">
              <a:defRPr kumimoji="1" sz="2800" b="1">
                <a:solidFill>
                  <a:schemeClr val="tx1"/>
                </a:solidFill>
                <a:latin typeface="Times New Roman" pitchFamily="18" charset="0"/>
                <a:ea typeface="楷体_GB2312" pitchFamily="49" charset="-122"/>
              </a:defRPr>
            </a:lvl1pPr>
            <a:lvl2pPr marL="742950" indent="-285750" defTabSz="762000" eaLnBrk="0" hangingPunct="0">
              <a:defRPr kumimoji="1" sz="2800" b="1">
                <a:solidFill>
                  <a:schemeClr val="tx1"/>
                </a:solidFill>
                <a:latin typeface="Times New Roman" pitchFamily="18" charset="0"/>
                <a:ea typeface="楷体_GB2312" pitchFamily="49" charset="-122"/>
              </a:defRPr>
            </a:lvl2pPr>
            <a:lvl3pPr marL="1143000" indent="-228600" defTabSz="762000" eaLnBrk="0" hangingPunct="0">
              <a:defRPr kumimoji="1" sz="2800" b="1">
                <a:solidFill>
                  <a:schemeClr val="tx1"/>
                </a:solidFill>
                <a:latin typeface="Times New Roman" pitchFamily="18" charset="0"/>
                <a:ea typeface="楷体_GB2312" pitchFamily="49" charset="-122"/>
              </a:defRPr>
            </a:lvl3pPr>
            <a:lvl4pPr marL="1600200" indent="-228600" defTabSz="762000" eaLnBrk="0" hangingPunct="0">
              <a:defRPr kumimoji="1" sz="2800" b="1">
                <a:solidFill>
                  <a:schemeClr val="tx1"/>
                </a:solidFill>
                <a:latin typeface="Times New Roman" pitchFamily="18" charset="0"/>
                <a:ea typeface="楷体_GB2312" pitchFamily="49" charset="-122"/>
              </a:defRPr>
            </a:lvl4pPr>
            <a:lvl5pPr marL="2057400" indent="-228600" defTabSz="762000" eaLnBrk="0" hangingPunct="0">
              <a:defRPr kumimoji="1" sz="2800" b="1">
                <a:solidFill>
                  <a:schemeClr val="tx1"/>
                </a:solidFill>
                <a:latin typeface="Times New Roman" pitchFamily="18" charset="0"/>
                <a:ea typeface="楷体_GB2312" pitchFamily="49" charset="-122"/>
              </a:defRPr>
            </a:lvl5pPr>
            <a:lvl6pPr marL="25146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spcBef>
                <a:spcPct val="50000"/>
              </a:spcBef>
            </a:pPr>
            <a:r>
              <a:rPr lang="en-US" altLang="zh-CN" sz="1800">
                <a:solidFill>
                  <a:srgbClr val="0000FF"/>
                </a:solidFill>
                <a:ea typeface="华文中宋" pitchFamily="2" charset="-122"/>
              </a:rPr>
              <a:t>2</a:t>
            </a:r>
            <a:r>
              <a:rPr lang="zh-CN" altLang="en-US" sz="1800">
                <a:solidFill>
                  <a:srgbClr val="0000FF"/>
                </a:solidFill>
                <a:ea typeface="华文中宋" pitchFamily="2" charset="-122"/>
              </a:rPr>
              <a:t>、光速不变原理</a:t>
            </a:r>
          </a:p>
        </p:txBody>
      </p:sp>
      <p:sp>
        <p:nvSpPr>
          <p:cNvPr id="14" name="Text Box 62"/>
          <p:cNvSpPr txBox="1">
            <a:spLocks noChangeArrowheads="1"/>
          </p:cNvSpPr>
          <p:nvPr/>
        </p:nvSpPr>
        <p:spPr bwMode="auto">
          <a:xfrm>
            <a:off x="1704975" y="1276350"/>
            <a:ext cx="41703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spcBef>
                <a:spcPct val="50000"/>
              </a:spcBef>
            </a:pPr>
            <a:r>
              <a:rPr lang="zh-CN" altLang="en-US" sz="1800">
                <a:ea typeface="华文中宋" pitchFamily="2" charset="-122"/>
              </a:rPr>
              <a:t>若原点重合时，从原点发出一个光脉冲</a:t>
            </a:r>
          </a:p>
        </p:txBody>
      </p:sp>
      <p:grpSp>
        <p:nvGrpSpPr>
          <p:cNvPr id="2" name="组合 6"/>
          <p:cNvGrpSpPr>
            <a:grpSpLocks/>
          </p:cNvGrpSpPr>
          <p:nvPr/>
        </p:nvGrpSpPr>
        <p:grpSpPr bwMode="auto">
          <a:xfrm>
            <a:off x="6137275" y="1463675"/>
            <a:ext cx="2466975" cy="1036638"/>
            <a:chOff x="3351315" y="2210833"/>
            <a:chExt cx="2466975" cy="1382722"/>
          </a:xfrm>
        </p:grpSpPr>
        <p:grpSp>
          <p:nvGrpSpPr>
            <p:cNvPr id="32783" name="Group 72"/>
            <p:cNvGrpSpPr>
              <a:grpSpLocks/>
            </p:cNvGrpSpPr>
            <p:nvPr/>
          </p:nvGrpSpPr>
          <p:grpSpPr bwMode="auto">
            <a:xfrm>
              <a:off x="3351315" y="2210833"/>
              <a:ext cx="2466975" cy="1154113"/>
              <a:chOff x="3468" y="2473"/>
              <a:chExt cx="1554" cy="727"/>
            </a:xfrm>
          </p:grpSpPr>
          <p:sp>
            <p:nvSpPr>
              <p:cNvPr id="32793" name="Line 13"/>
              <p:cNvSpPr>
                <a:spLocks noChangeShapeType="1"/>
              </p:cNvSpPr>
              <p:nvPr/>
            </p:nvSpPr>
            <p:spPr bwMode="auto">
              <a:xfrm flipV="1">
                <a:off x="3666" y="2523"/>
                <a:ext cx="0" cy="425"/>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794" name="Line 14"/>
              <p:cNvSpPr>
                <a:spLocks noChangeShapeType="1"/>
              </p:cNvSpPr>
              <p:nvPr/>
            </p:nvSpPr>
            <p:spPr bwMode="auto">
              <a:xfrm flipH="1">
                <a:off x="3513" y="2936"/>
                <a:ext cx="172" cy="235"/>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795" name="Line 19"/>
              <p:cNvSpPr>
                <a:spLocks noChangeShapeType="1"/>
              </p:cNvSpPr>
              <p:nvPr/>
            </p:nvSpPr>
            <p:spPr bwMode="auto">
              <a:xfrm>
                <a:off x="4150" y="2707"/>
                <a:ext cx="336"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796" name="Line 21"/>
              <p:cNvSpPr>
                <a:spLocks noChangeShapeType="1"/>
              </p:cNvSpPr>
              <p:nvPr/>
            </p:nvSpPr>
            <p:spPr bwMode="auto">
              <a:xfrm>
                <a:off x="4155" y="2948"/>
                <a:ext cx="867" cy="0"/>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797" name="Line 22"/>
              <p:cNvSpPr>
                <a:spLocks noChangeShapeType="1"/>
              </p:cNvSpPr>
              <p:nvPr/>
            </p:nvSpPr>
            <p:spPr bwMode="auto">
              <a:xfrm flipV="1">
                <a:off x="4155" y="2529"/>
                <a:ext cx="0" cy="419"/>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798" name="Line 23"/>
              <p:cNvSpPr>
                <a:spLocks noChangeShapeType="1"/>
              </p:cNvSpPr>
              <p:nvPr/>
            </p:nvSpPr>
            <p:spPr bwMode="auto">
              <a:xfrm flipH="1">
                <a:off x="3972" y="2948"/>
                <a:ext cx="184" cy="252"/>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799" name="Text Box 37"/>
              <p:cNvSpPr txBox="1">
                <a:spLocks noChangeArrowheads="1"/>
              </p:cNvSpPr>
              <p:nvPr/>
            </p:nvSpPr>
            <p:spPr bwMode="auto">
              <a:xfrm>
                <a:off x="3930" y="2473"/>
                <a:ext cx="2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r>
                  <a:rPr kumimoji="0" lang="en-US" altLang="zh-CN" sz="1800" i="1" baseline="30000">
                    <a:ea typeface="宋体" pitchFamily="2" charset="-122"/>
                  </a:rPr>
                  <a:t>/</a:t>
                </a:r>
                <a:endParaRPr kumimoji="0" lang="en-US" altLang="zh-CN" sz="1800" i="1">
                  <a:ea typeface="宋体" pitchFamily="2" charset="-122"/>
                </a:endParaRPr>
              </a:p>
            </p:txBody>
          </p:sp>
          <p:sp>
            <p:nvSpPr>
              <p:cNvPr id="32800" name="Text Box 38"/>
              <p:cNvSpPr txBox="1">
                <a:spLocks noChangeArrowheads="1"/>
              </p:cNvSpPr>
              <p:nvPr/>
            </p:nvSpPr>
            <p:spPr bwMode="auto">
              <a:xfrm>
                <a:off x="3468" y="2481"/>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p>
            </p:txBody>
          </p:sp>
          <p:sp>
            <p:nvSpPr>
              <p:cNvPr id="32801" name="Text Box 39"/>
              <p:cNvSpPr txBox="1">
                <a:spLocks noChangeArrowheads="1"/>
              </p:cNvSpPr>
              <p:nvPr/>
            </p:nvSpPr>
            <p:spPr bwMode="auto">
              <a:xfrm>
                <a:off x="3489" y="2793"/>
                <a:ext cx="2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p>
            </p:txBody>
          </p:sp>
          <p:sp>
            <p:nvSpPr>
              <p:cNvPr id="32802" name="Text Box 40"/>
              <p:cNvSpPr txBox="1">
                <a:spLocks noChangeArrowheads="1"/>
              </p:cNvSpPr>
              <p:nvPr/>
            </p:nvSpPr>
            <p:spPr bwMode="auto">
              <a:xfrm>
                <a:off x="3953" y="2781"/>
                <a:ext cx="2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r>
                  <a:rPr kumimoji="0" lang="en-US" altLang="zh-CN" sz="1800" i="1" baseline="30000">
                    <a:ea typeface="宋体" pitchFamily="2" charset="-122"/>
                  </a:rPr>
                  <a:t>/</a:t>
                </a:r>
                <a:endParaRPr kumimoji="0" lang="en-US" altLang="zh-CN" sz="1800" i="1">
                  <a:ea typeface="宋体" pitchFamily="2" charset="-122"/>
                </a:endParaRPr>
              </a:p>
            </p:txBody>
          </p:sp>
          <p:sp>
            <p:nvSpPr>
              <p:cNvPr id="32803" name="Line 45"/>
              <p:cNvSpPr>
                <a:spLocks noChangeShapeType="1"/>
              </p:cNvSpPr>
              <p:nvPr/>
            </p:nvSpPr>
            <p:spPr bwMode="auto">
              <a:xfrm>
                <a:off x="3672" y="2942"/>
                <a:ext cx="1220" cy="0"/>
              </a:xfrm>
              <a:prstGeom prst="line">
                <a:avLst/>
              </a:prstGeom>
              <a:noFill/>
              <a:ln w="12700">
                <a:solidFill>
                  <a:srgbClr val="0070C0"/>
                </a:solidFill>
                <a:round/>
                <a:headE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32804" name="Text Box 37"/>
              <p:cNvSpPr txBox="1">
                <a:spLocks noChangeArrowheads="1"/>
              </p:cNvSpPr>
              <p:nvPr/>
            </p:nvSpPr>
            <p:spPr bwMode="auto">
              <a:xfrm>
                <a:off x="4215" y="2515"/>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a:t>
                </a:r>
              </a:p>
            </p:txBody>
          </p:sp>
          <p:sp>
            <p:nvSpPr>
              <p:cNvPr id="32805" name="Line 14"/>
              <p:cNvSpPr>
                <a:spLocks noChangeShapeType="1"/>
              </p:cNvSpPr>
              <p:nvPr/>
            </p:nvSpPr>
            <p:spPr bwMode="auto">
              <a:xfrm flipH="1">
                <a:off x="4589" y="2965"/>
                <a:ext cx="154" cy="2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2784" name="Group 101"/>
            <p:cNvGrpSpPr>
              <a:grpSpLocks/>
            </p:cNvGrpSpPr>
            <p:nvPr/>
          </p:nvGrpSpPr>
          <p:grpSpPr bwMode="auto">
            <a:xfrm>
              <a:off x="3557690" y="3101429"/>
              <a:ext cx="1666875" cy="492126"/>
              <a:chOff x="3602" y="3017"/>
              <a:chExt cx="1050" cy="310"/>
            </a:xfrm>
          </p:grpSpPr>
          <p:sp>
            <p:nvSpPr>
              <p:cNvPr id="32791" name="Line 31"/>
              <p:cNvSpPr>
                <a:spLocks noChangeShapeType="1"/>
              </p:cNvSpPr>
              <p:nvPr/>
            </p:nvSpPr>
            <p:spPr bwMode="auto">
              <a:xfrm>
                <a:off x="3602" y="3087"/>
                <a:ext cx="1050" cy="0"/>
              </a:xfrm>
              <a:prstGeom prst="line">
                <a:avLst/>
              </a:prstGeom>
              <a:noFill/>
              <a:ln w="9525">
                <a:solidFill>
                  <a:srgbClr val="0000FF"/>
                </a:solidFill>
                <a:prstDash val="dash"/>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2792" name="Text Box 43"/>
              <p:cNvSpPr txBox="1">
                <a:spLocks noChangeArrowheads="1"/>
              </p:cNvSpPr>
              <p:nvPr/>
            </p:nvSpPr>
            <p:spPr bwMode="auto">
              <a:xfrm>
                <a:off x="4232" y="3017"/>
                <a:ext cx="18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p>
            </p:txBody>
          </p:sp>
        </p:grpSp>
        <p:sp>
          <p:nvSpPr>
            <p:cNvPr id="26" name="Oval 96"/>
            <p:cNvSpPr>
              <a:spLocks noChangeArrowheads="1"/>
            </p:cNvSpPr>
            <p:nvPr/>
          </p:nvSpPr>
          <p:spPr bwMode="auto">
            <a:xfrm>
              <a:off x="5340914" y="2916046"/>
              <a:ext cx="91040" cy="91040"/>
            </a:xfrm>
            <a:prstGeom prst="ellipse">
              <a:avLst/>
            </a:prstGeom>
            <a:solidFill>
              <a:srgbClr val="00B050"/>
            </a:solidFill>
            <a:ln w="9525">
              <a:solidFill>
                <a:schemeClr val="tx1"/>
              </a:solidFill>
              <a:round/>
              <a:headEnd/>
              <a:tailEnd/>
            </a:ln>
            <a:scene3d>
              <a:camera prst="orthographicFront"/>
              <a:lightRig rig="threePt" dir="t"/>
            </a:scene3d>
            <a:sp3d>
              <a:bevelT/>
            </a:sp3d>
          </p:spPr>
          <p:txBody>
            <a:bodyPr wrap="none" anchor="ctr"/>
            <a:lstStyle/>
            <a:p>
              <a:pPr>
                <a:defRPr/>
              </a:pPr>
              <a:endParaRPr kumimoji="0" lang="zh-CN" altLang="en-US" sz="1800">
                <a:ea typeface="宋体" pitchFamily="2" charset="-122"/>
              </a:endParaRPr>
            </a:p>
          </p:txBody>
        </p:sp>
        <p:grpSp>
          <p:nvGrpSpPr>
            <p:cNvPr id="32788" name="Group 100"/>
            <p:cNvGrpSpPr>
              <a:grpSpLocks/>
            </p:cNvGrpSpPr>
            <p:nvPr/>
          </p:nvGrpSpPr>
          <p:grpSpPr bwMode="auto">
            <a:xfrm>
              <a:off x="4387947" y="2912514"/>
              <a:ext cx="911224" cy="492126"/>
              <a:chOff x="4121" y="2915"/>
              <a:chExt cx="574" cy="310"/>
            </a:xfrm>
          </p:grpSpPr>
          <p:sp>
            <p:nvSpPr>
              <p:cNvPr id="32789" name="Line 98"/>
              <p:cNvSpPr>
                <a:spLocks noChangeShapeType="1"/>
              </p:cNvSpPr>
              <p:nvPr/>
            </p:nvSpPr>
            <p:spPr bwMode="auto">
              <a:xfrm>
                <a:off x="4121" y="3013"/>
                <a:ext cx="574" cy="0"/>
              </a:xfrm>
              <a:prstGeom prst="line">
                <a:avLst/>
              </a:prstGeom>
              <a:noFill/>
              <a:ln w="12700">
                <a:solidFill>
                  <a:srgbClr val="FF00FF"/>
                </a:solidFill>
                <a:prstDash val="dash"/>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2790" name="Text Box 99"/>
              <p:cNvSpPr txBox="1">
                <a:spLocks noChangeArrowheads="1"/>
              </p:cNvSpPr>
              <p:nvPr/>
            </p:nvSpPr>
            <p:spPr bwMode="auto">
              <a:xfrm>
                <a:off x="4383" y="2915"/>
                <a:ext cx="21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r>
                  <a:rPr kumimoji="0" lang="en-US" altLang="zh-CN" sz="1800" i="1" baseline="30000">
                    <a:ea typeface="宋体" pitchFamily="2" charset="-122"/>
                  </a:rPr>
                  <a:t>/</a:t>
                </a:r>
                <a:endParaRPr kumimoji="0" lang="en-US" altLang="zh-CN" sz="1800" i="1">
                  <a:ea typeface="宋体" pitchFamily="2" charset="-122"/>
                </a:endParaRPr>
              </a:p>
            </p:txBody>
          </p:sp>
        </p:grpSp>
      </p:grpSp>
      <p:sp>
        <p:nvSpPr>
          <p:cNvPr id="55" name="Text Box 62"/>
          <p:cNvSpPr txBox="1">
            <a:spLocks noChangeArrowheads="1"/>
          </p:cNvSpPr>
          <p:nvPr/>
        </p:nvSpPr>
        <p:spPr bwMode="auto">
          <a:xfrm>
            <a:off x="1619250" y="1781175"/>
            <a:ext cx="1665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spcBef>
                <a:spcPct val="50000"/>
              </a:spcBef>
            </a:pPr>
            <a:r>
              <a:rPr lang="zh-CN" altLang="en-US" sz="1800">
                <a:ea typeface="华文中宋" pitchFamily="2" charset="-122"/>
              </a:rPr>
              <a:t>坐标为：</a:t>
            </a:r>
          </a:p>
        </p:txBody>
      </p:sp>
      <p:sp>
        <p:nvSpPr>
          <p:cNvPr id="56" name="Text Box 63"/>
          <p:cNvSpPr txBox="1">
            <a:spLocks noChangeArrowheads="1"/>
          </p:cNvSpPr>
          <p:nvPr/>
        </p:nvSpPr>
        <p:spPr bwMode="auto">
          <a:xfrm>
            <a:off x="3221038" y="1636713"/>
            <a:ext cx="26543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华文中宋" pitchFamily="2" charset="-122"/>
              </a:rPr>
              <a:t>S</a:t>
            </a:r>
            <a:r>
              <a:rPr kumimoji="0" lang="en-US" altLang="zh-CN" sz="1800">
                <a:ea typeface="华文中宋" pitchFamily="2" charset="-122"/>
              </a:rPr>
              <a:t> </a:t>
            </a:r>
            <a:r>
              <a:rPr kumimoji="0" lang="zh-CN" altLang="en-US" sz="1800">
                <a:ea typeface="华文中宋" pitchFamily="2" charset="-122"/>
              </a:rPr>
              <a:t>系</a:t>
            </a:r>
            <a:r>
              <a:rPr kumimoji="0" lang="en-US" altLang="zh-CN" sz="1800">
                <a:ea typeface="华文中宋" pitchFamily="2" charset="-122"/>
              </a:rPr>
              <a:t>:      </a:t>
            </a:r>
            <a:r>
              <a:rPr kumimoji="0" lang="en-US" altLang="zh-CN" sz="1800" i="1">
                <a:ea typeface="华文中宋" pitchFamily="2" charset="-122"/>
              </a:rPr>
              <a:t>x = c t</a:t>
            </a:r>
            <a:r>
              <a:rPr kumimoji="0" lang="en-US" altLang="zh-CN" sz="1800">
                <a:ea typeface="华文中宋" pitchFamily="2" charset="-122"/>
              </a:rPr>
              <a:t> </a:t>
            </a:r>
          </a:p>
          <a:p>
            <a:r>
              <a:rPr kumimoji="0" lang="en-US" altLang="zh-CN" sz="1800" i="1">
                <a:ea typeface="华文中宋" pitchFamily="2" charset="-122"/>
              </a:rPr>
              <a:t>S</a:t>
            </a:r>
            <a:r>
              <a:rPr kumimoji="0" lang="en-US" altLang="zh-CN" sz="1800" baseline="30000">
                <a:ea typeface="华文中宋" pitchFamily="2" charset="-122"/>
              </a:rPr>
              <a:t>/</a:t>
            </a:r>
            <a:r>
              <a:rPr kumimoji="0" lang="zh-CN" altLang="en-US" sz="1800">
                <a:ea typeface="华文中宋" pitchFamily="2" charset="-122"/>
              </a:rPr>
              <a:t>系</a:t>
            </a:r>
            <a:r>
              <a:rPr kumimoji="0" lang="en-US" altLang="zh-CN" sz="1800">
                <a:ea typeface="华文中宋" pitchFamily="2" charset="-122"/>
              </a:rPr>
              <a:t>:      </a:t>
            </a:r>
            <a:r>
              <a:rPr kumimoji="0" lang="en-US" altLang="zh-CN" sz="1800" i="1">
                <a:ea typeface="华文中宋" pitchFamily="2" charset="-122"/>
              </a:rPr>
              <a:t>x</a:t>
            </a:r>
            <a:r>
              <a:rPr kumimoji="0" lang="en-US" altLang="zh-CN" sz="1800" baseline="30000">
                <a:ea typeface="华文中宋" pitchFamily="2" charset="-122"/>
              </a:rPr>
              <a:t>/ </a:t>
            </a:r>
            <a:r>
              <a:rPr kumimoji="0" lang="en-US" altLang="zh-CN" sz="1800">
                <a:ea typeface="华文中宋" pitchFamily="2" charset="-122"/>
              </a:rPr>
              <a:t>= </a:t>
            </a:r>
            <a:r>
              <a:rPr kumimoji="0" lang="en-US" altLang="zh-CN" sz="1800" i="1">
                <a:ea typeface="华文中宋" pitchFamily="2" charset="-122"/>
              </a:rPr>
              <a:t>c t</a:t>
            </a:r>
            <a:r>
              <a:rPr kumimoji="0" lang="en-US" altLang="zh-CN" sz="1800" baseline="30000">
                <a:ea typeface="华文中宋" pitchFamily="2" charset="-122"/>
              </a:rPr>
              <a:t>/</a:t>
            </a:r>
          </a:p>
        </p:txBody>
      </p:sp>
      <p:sp>
        <p:nvSpPr>
          <p:cNvPr id="57" name="Rectangle 38"/>
          <p:cNvSpPr>
            <a:spLocks noChangeArrowheads="1"/>
          </p:cNvSpPr>
          <p:nvPr/>
        </p:nvSpPr>
        <p:spPr bwMode="auto">
          <a:xfrm>
            <a:off x="2200275" y="2355850"/>
            <a:ext cx="3019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i="1">
                <a:ea typeface="华文中宋" pitchFamily="2" charset="-122"/>
              </a:rPr>
              <a:t>c</a:t>
            </a:r>
            <a:r>
              <a:rPr kumimoji="0" lang="en-US" altLang="zh-CN" sz="1800" i="1" baseline="30000">
                <a:ea typeface="华文中宋" pitchFamily="2" charset="-122"/>
              </a:rPr>
              <a:t>2</a:t>
            </a:r>
            <a:r>
              <a:rPr kumimoji="0" lang="en-US" altLang="zh-CN" sz="1800" i="1">
                <a:ea typeface="华文中宋" pitchFamily="2" charset="-122"/>
              </a:rPr>
              <a:t> tt</a:t>
            </a:r>
            <a:r>
              <a:rPr kumimoji="0" lang="en-US" altLang="zh-CN" sz="1800" i="1" baseline="30000">
                <a:ea typeface="华文中宋" pitchFamily="2" charset="-122"/>
              </a:rPr>
              <a:t>/</a:t>
            </a:r>
            <a:r>
              <a:rPr kumimoji="0" lang="zh-CN" altLang="en-US" sz="1800">
                <a:ea typeface="华文中宋" pitchFamily="2" charset="-122"/>
              </a:rPr>
              <a:t>＝</a:t>
            </a:r>
            <a:r>
              <a:rPr kumimoji="0" lang="zh-CN" altLang="en-US" sz="1800" i="1">
                <a:ea typeface="华文中宋" pitchFamily="2" charset="-122"/>
                <a:sym typeface="Symbol" pitchFamily="18" charset="2"/>
              </a:rPr>
              <a:t>  </a:t>
            </a:r>
            <a:r>
              <a:rPr kumimoji="0" lang="en-US" altLang="zh-CN" sz="1800" i="1" baseline="30000">
                <a:ea typeface="华文中宋" pitchFamily="2" charset="-122"/>
              </a:rPr>
              <a:t>2</a:t>
            </a:r>
            <a:r>
              <a:rPr kumimoji="0" lang="en-US" altLang="zh-CN" sz="1800" i="1">
                <a:ea typeface="华文中宋" pitchFamily="2" charset="-122"/>
              </a:rPr>
              <a:t> tt</a:t>
            </a:r>
            <a:r>
              <a:rPr kumimoji="0" lang="en-US" altLang="zh-CN" sz="1800" i="1" baseline="30000">
                <a:ea typeface="华文中宋" pitchFamily="2" charset="-122"/>
              </a:rPr>
              <a:t>/ </a:t>
            </a:r>
            <a:r>
              <a:rPr kumimoji="0" lang="en-US" altLang="zh-CN" sz="1800">
                <a:ea typeface="华文中宋" pitchFamily="2" charset="-122"/>
              </a:rPr>
              <a:t>(</a:t>
            </a:r>
            <a:r>
              <a:rPr kumimoji="0" lang="en-US" altLang="zh-CN" sz="1800" i="1">
                <a:ea typeface="华文中宋" pitchFamily="2" charset="-122"/>
              </a:rPr>
              <a:t>c</a:t>
            </a:r>
            <a:r>
              <a:rPr kumimoji="0" lang="en-US" altLang="zh-CN" sz="1800">
                <a:ea typeface="华文中宋" pitchFamily="2" charset="-122"/>
              </a:rPr>
              <a:t>+</a:t>
            </a:r>
            <a:r>
              <a:rPr kumimoji="0" lang="en-US" altLang="zh-CN" sz="1800" i="1">
                <a:ea typeface="华文中宋" pitchFamily="2" charset="-122"/>
              </a:rPr>
              <a:t>u</a:t>
            </a:r>
            <a:r>
              <a:rPr kumimoji="0" lang="en-US" altLang="zh-CN" sz="1800" baseline="30000">
                <a:ea typeface="华文中宋" pitchFamily="2" charset="-122"/>
              </a:rPr>
              <a:t> </a:t>
            </a:r>
            <a:r>
              <a:rPr kumimoji="0" lang="en-US" altLang="zh-CN" sz="1800">
                <a:ea typeface="华文中宋" pitchFamily="2" charset="-122"/>
              </a:rPr>
              <a:t>)</a:t>
            </a:r>
            <a:r>
              <a:rPr kumimoji="0" lang="en-US" altLang="zh-CN" sz="1800" baseline="30000">
                <a:ea typeface="华文中宋" pitchFamily="2" charset="-122"/>
              </a:rPr>
              <a:t> </a:t>
            </a:r>
            <a:r>
              <a:rPr kumimoji="0" lang="en-US" altLang="zh-CN" sz="1800">
                <a:ea typeface="华文中宋" pitchFamily="2" charset="-122"/>
              </a:rPr>
              <a:t>(</a:t>
            </a:r>
            <a:r>
              <a:rPr kumimoji="0" lang="en-US" altLang="zh-CN" sz="1800" i="1">
                <a:ea typeface="华文中宋" pitchFamily="2" charset="-122"/>
              </a:rPr>
              <a:t>c – u</a:t>
            </a:r>
            <a:r>
              <a:rPr kumimoji="0" lang="en-US" altLang="zh-CN" sz="1800">
                <a:ea typeface="华文中宋" pitchFamily="2" charset="-122"/>
              </a:rPr>
              <a:t>)</a:t>
            </a:r>
          </a:p>
        </p:txBody>
      </p:sp>
      <p:sp>
        <p:nvSpPr>
          <p:cNvPr id="58" name="Text Box 65"/>
          <p:cNvSpPr txBox="1">
            <a:spLocks noChangeArrowheads="1"/>
          </p:cNvSpPr>
          <p:nvPr/>
        </p:nvSpPr>
        <p:spPr bwMode="auto">
          <a:xfrm>
            <a:off x="1403350" y="2878138"/>
            <a:ext cx="4905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ea typeface="华文中宋" pitchFamily="2" charset="-122"/>
              </a:rPr>
              <a:t>得</a:t>
            </a:r>
          </a:p>
        </p:txBody>
      </p:sp>
      <p:graphicFrame>
        <p:nvGraphicFramePr>
          <p:cNvPr id="60" name="对象 59"/>
          <p:cNvGraphicFramePr>
            <a:graphicFrameLocks noChangeAspect="1"/>
          </p:cNvGraphicFramePr>
          <p:nvPr/>
        </p:nvGraphicFramePr>
        <p:xfrm>
          <a:off x="1971675" y="2732088"/>
          <a:ext cx="1889125" cy="650875"/>
        </p:xfrm>
        <a:graphic>
          <a:graphicData uri="http://schemas.openxmlformats.org/presentationml/2006/ole">
            <mc:AlternateContent xmlns:mc="http://schemas.openxmlformats.org/markup-compatibility/2006">
              <mc:Choice xmlns:v="urn:schemas-microsoft-com:vml" Requires="v">
                <p:oleObj spid="_x0000_s32811" name="公式" r:id="rId3" imgW="1054100" imgH="482600" progId="Equation.3">
                  <p:embed/>
                </p:oleObj>
              </mc:Choice>
              <mc:Fallback>
                <p:oleObj name="公式" r:id="rId3" imgW="1054100" imgH="482600" progId="Equation.3">
                  <p:embed/>
                  <p:pic>
                    <p:nvPicPr>
                      <p:cNvPr id="0" name="对象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1675" y="2732088"/>
                        <a:ext cx="188912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3937000" y="2752725"/>
          <a:ext cx="2003425" cy="650875"/>
        </p:xfrm>
        <a:graphic>
          <a:graphicData uri="http://schemas.openxmlformats.org/presentationml/2006/ole">
            <mc:AlternateContent xmlns:mc="http://schemas.openxmlformats.org/markup-compatibility/2006">
              <mc:Choice xmlns:v="urn:schemas-microsoft-com:vml" Requires="v">
                <p:oleObj spid="_x0000_s32812" name="公式" r:id="rId5" imgW="1117115" imgH="482391" progId="Equation.3">
                  <p:embed/>
                </p:oleObj>
              </mc:Choice>
              <mc:Fallback>
                <p:oleObj name="公式" r:id="rId5" imgW="1117115" imgH="482391" progId="Equation.3">
                  <p:embed/>
                  <p:pic>
                    <p:nvPicPr>
                      <p:cNvPr id="0" name="对象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7000" y="2752725"/>
                        <a:ext cx="200342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6199188" y="2716213"/>
          <a:ext cx="1912937" cy="666750"/>
        </p:xfrm>
        <a:graphic>
          <a:graphicData uri="http://schemas.openxmlformats.org/presentationml/2006/ole">
            <mc:AlternateContent xmlns:mc="http://schemas.openxmlformats.org/markup-compatibility/2006">
              <mc:Choice xmlns:v="urn:schemas-microsoft-com:vml" Requires="v">
                <p:oleObj spid="_x0000_s32813" name="公式" r:id="rId7" imgW="1066337" imgH="495085" progId="Equation.3">
                  <p:embed/>
                </p:oleObj>
              </mc:Choice>
              <mc:Fallback>
                <p:oleObj name="公式" r:id="rId7" imgW="1066337" imgH="495085" progId="Equation.3">
                  <p:embed/>
                  <p:pic>
                    <p:nvPicPr>
                      <p:cNvPr id="0" name="对象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99188" y="2716213"/>
                        <a:ext cx="1912937"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12"/>
          <p:cNvSpPr txBox="1">
            <a:spLocks noChangeArrowheads="1"/>
          </p:cNvSpPr>
          <p:nvPr/>
        </p:nvSpPr>
        <p:spPr bwMode="auto">
          <a:xfrm>
            <a:off x="2124075" y="3484563"/>
            <a:ext cx="496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ea typeface="华文中宋" pitchFamily="2" charset="-122"/>
              </a:rPr>
              <a:t>从上两个式子消去 </a:t>
            </a:r>
            <a:r>
              <a:rPr kumimoji="0" lang="en-US" altLang="zh-CN" sz="1800" i="1">
                <a:ea typeface="华文中宋" pitchFamily="2" charset="-122"/>
              </a:rPr>
              <a:t>x</a:t>
            </a:r>
            <a:r>
              <a:rPr kumimoji="0" lang="en-US" altLang="zh-CN" sz="1800" baseline="30000">
                <a:ea typeface="华文中宋" pitchFamily="2" charset="-122"/>
              </a:rPr>
              <a:t>/ </a:t>
            </a:r>
            <a:r>
              <a:rPr kumimoji="0" lang="zh-CN" altLang="en-US" sz="1800">
                <a:ea typeface="华文中宋" pitchFamily="2" charset="-122"/>
              </a:rPr>
              <a:t>或 </a:t>
            </a:r>
            <a:r>
              <a:rPr kumimoji="0" lang="en-US" altLang="zh-CN" sz="1800" i="1">
                <a:ea typeface="华文中宋" pitchFamily="2" charset="-122"/>
              </a:rPr>
              <a:t>x</a:t>
            </a:r>
            <a:r>
              <a:rPr kumimoji="0" lang="zh-CN" altLang="en-US" sz="1800">
                <a:ea typeface="华文中宋" pitchFamily="2" charset="-122"/>
              </a:rPr>
              <a:t>，得到时间的变换式：</a:t>
            </a:r>
          </a:p>
        </p:txBody>
      </p:sp>
      <p:graphicFrame>
        <p:nvGraphicFramePr>
          <p:cNvPr id="18" name="对象 17"/>
          <p:cNvGraphicFramePr>
            <a:graphicFrameLocks noChangeAspect="1"/>
          </p:cNvGraphicFramePr>
          <p:nvPr/>
        </p:nvGraphicFramePr>
        <p:xfrm>
          <a:off x="2382838" y="3894138"/>
          <a:ext cx="1935162" cy="666750"/>
        </p:xfrm>
        <a:graphic>
          <a:graphicData uri="http://schemas.openxmlformats.org/presentationml/2006/ole">
            <mc:AlternateContent xmlns:mc="http://schemas.openxmlformats.org/markup-compatibility/2006">
              <mc:Choice xmlns:v="urn:schemas-microsoft-com:vml" Requires="v">
                <p:oleObj spid="_x0000_s32814" name="公式" r:id="rId9" imgW="1079032" imgH="495085" progId="Equation.3">
                  <p:embed/>
                </p:oleObj>
              </mc:Choice>
              <mc:Fallback>
                <p:oleObj name="公式" r:id="rId9" imgW="1079032" imgH="495085" progId="Equation.3">
                  <p:embed/>
                  <p:pic>
                    <p:nvPicPr>
                      <p:cNvPr id="0"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2838" y="3894138"/>
                        <a:ext cx="193516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nvGraphicFramePr>
        <p:xfrm>
          <a:off x="4895850" y="3921125"/>
          <a:ext cx="1844675" cy="666750"/>
        </p:xfrm>
        <a:graphic>
          <a:graphicData uri="http://schemas.openxmlformats.org/presentationml/2006/ole">
            <mc:AlternateContent xmlns:mc="http://schemas.openxmlformats.org/markup-compatibility/2006">
              <mc:Choice xmlns:v="urn:schemas-microsoft-com:vml" Requires="v">
                <p:oleObj spid="_x0000_s32815" name="公式" r:id="rId11" imgW="1028254" imgH="495085" progId="Equation.3">
                  <p:embed/>
                </p:oleObj>
              </mc:Choice>
              <mc:Fallback>
                <p:oleObj name="公式" r:id="rId11" imgW="1028254" imgH="495085" progId="Equation.3">
                  <p:embed/>
                  <p:pic>
                    <p:nvPicPr>
                      <p:cNvPr id="0" name="对象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5850" y="3921125"/>
                        <a:ext cx="184467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left)">
                                      <p:cBhvr>
                                        <p:cTn id="7" dur="500"/>
                                        <p:tgtEl>
                                          <p:spTgt spid="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wipe(left)">
                                      <p:cBhvr>
                                        <p:cTn id="24" dur="500"/>
                                        <p:tgtEl>
                                          <p:spTgt spid="5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wipe(left)">
                                      <p:cBhvr>
                                        <p:cTn id="29" dur="500"/>
                                        <p:tgtEl>
                                          <p:spTgt spid="5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wipe(left)">
                                      <p:cBhvr>
                                        <p:cTn id="34" dur="500"/>
                                        <p:tgtEl>
                                          <p:spTgt spid="5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wipe(left)">
                                      <p:cBhvr>
                                        <p:cTn id="39" dur="500"/>
                                        <p:tgtEl>
                                          <p:spTgt spid="5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wipe(left)">
                                      <p:cBhvr>
                                        <p:cTn id="44" dur="500"/>
                                        <p:tgtEl>
                                          <p:spTgt spid="6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left)">
                                      <p:cBhvr>
                                        <p:cTn id="49" dur="500"/>
                                        <p:tgtEl>
                                          <p:spTgt spid="1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left)">
                                      <p:cBhvr>
                                        <p:cTn id="54" dur="500"/>
                                        <p:tgtEl>
                                          <p:spTgt spid="1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9" dur="500"/>
                                        <p:tgtEl>
                                          <p:spTgt spid="1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wipe(left)">
                                      <p:cBhvr>
                                        <p:cTn id="64" dur="500"/>
                                        <p:tgtEl>
                                          <p:spTgt spid="1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left)">
                                      <p:cBhvr>
                                        <p:cTn id="6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14" grpId="0"/>
      <p:bldP spid="55" grpId="0"/>
      <p:bldP spid="56" grpId="0"/>
      <p:bldP spid="57" grpId="0"/>
      <p:bldP spid="58"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4"/>
          <p:cNvSpPr txBox="1">
            <a:spLocks noChangeArrowheads="1"/>
          </p:cNvSpPr>
          <p:nvPr/>
        </p:nvSpPr>
        <p:spPr bwMode="auto">
          <a:xfrm>
            <a:off x="468313" y="795338"/>
            <a:ext cx="42656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zh-CN" altLang="en-US" sz="1600">
                <a:solidFill>
                  <a:srgbClr val="FF00FF"/>
                </a:solidFill>
                <a:ea typeface="华文中宋" pitchFamily="2" charset="-122"/>
              </a:rPr>
              <a:t>洛仑兹变换（</a:t>
            </a:r>
            <a:r>
              <a:rPr kumimoji="0" lang="en-US" altLang="zh-CN" sz="1600">
                <a:solidFill>
                  <a:srgbClr val="FF00FF"/>
                </a:solidFill>
                <a:ea typeface="华文中宋" pitchFamily="2" charset="-122"/>
              </a:rPr>
              <a:t>L</a:t>
            </a:r>
            <a:r>
              <a:rPr kumimoji="0" lang="zh-CN" altLang="en-US" sz="1600">
                <a:solidFill>
                  <a:srgbClr val="FF00FF"/>
                </a:solidFill>
                <a:ea typeface="华文中宋" pitchFamily="2" charset="-122"/>
              </a:rPr>
              <a:t>变换）</a:t>
            </a:r>
          </a:p>
        </p:txBody>
      </p:sp>
      <p:sp>
        <p:nvSpPr>
          <p:cNvPr id="22" name="Text Box 62"/>
          <p:cNvSpPr txBox="1">
            <a:spLocks noChangeArrowheads="1"/>
          </p:cNvSpPr>
          <p:nvPr/>
        </p:nvSpPr>
        <p:spPr bwMode="auto">
          <a:xfrm>
            <a:off x="1692275" y="1058863"/>
            <a:ext cx="20701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eaLnBrk="0" hangingPunct="0">
              <a:defRPr kumimoji="1" sz="2800" b="1">
                <a:solidFill>
                  <a:schemeClr val="tx1"/>
                </a:solidFill>
                <a:latin typeface="Times New Roman" pitchFamily="18" charset="0"/>
                <a:ea typeface="楷体_GB2312" pitchFamily="49" charset="-122"/>
              </a:defRPr>
            </a:lvl1pPr>
            <a:lvl2pPr marL="742950" indent="-285750" defTabSz="762000" eaLnBrk="0" hangingPunct="0">
              <a:defRPr kumimoji="1" sz="2800" b="1">
                <a:solidFill>
                  <a:schemeClr val="tx1"/>
                </a:solidFill>
                <a:latin typeface="Times New Roman" pitchFamily="18" charset="0"/>
                <a:ea typeface="楷体_GB2312" pitchFamily="49" charset="-122"/>
              </a:defRPr>
            </a:lvl2pPr>
            <a:lvl3pPr marL="1143000" indent="-228600" defTabSz="762000" eaLnBrk="0" hangingPunct="0">
              <a:defRPr kumimoji="1" sz="2800" b="1">
                <a:solidFill>
                  <a:schemeClr val="tx1"/>
                </a:solidFill>
                <a:latin typeface="Times New Roman" pitchFamily="18" charset="0"/>
                <a:ea typeface="楷体_GB2312" pitchFamily="49" charset="-122"/>
              </a:defRPr>
            </a:lvl3pPr>
            <a:lvl4pPr marL="1600200" indent="-228600" defTabSz="762000" eaLnBrk="0" hangingPunct="0">
              <a:defRPr kumimoji="1" sz="2800" b="1">
                <a:solidFill>
                  <a:schemeClr val="tx1"/>
                </a:solidFill>
                <a:latin typeface="Times New Roman" pitchFamily="18" charset="0"/>
                <a:ea typeface="楷体_GB2312" pitchFamily="49" charset="-122"/>
              </a:defRPr>
            </a:lvl4pPr>
            <a:lvl5pPr marL="2057400" indent="-228600" defTabSz="762000" eaLnBrk="0" hangingPunct="0">
              <a:defRPr kumimoji="1" sz="2800" b="1">
                <a:solidFill>
                  <a:schemeClr val="tx1"/>
                </a:solidFill>
                <a:latin typeface="Times New Roman" pitchFamily="18" charset="0"/>
                <a:ea typeface="楷体_GB2312" pitchFamily="49" charset="-122"/>
              </a:defRPr>
            </a:lvl5pPr>
            <a:lvl6pPr marL="25146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a:spcBef>
                <a:spcPct val="50000"/>
              </a:spcBef>
            </a:pPr>
            <a:r>
              <a:rPr lang="en-US" altLang="zh-CN" sz="1600">
                <a:ea typeface="华文中宋" pitchFamily="2" charset="-122"/>
              </a:rPr>
              <a:t>S→S</a:t>
            </a:r>
            <a:r>
              <a:rPr lang="en-US" altLang="zh-CN" sz="1600" baseline="30000">
                <a:ea typeface="华文中宋" pitchFamily="2" charset="-122"/>
              </a:rPr>
              <a:t>/ </a:t>
            </a:r>
            <a:r>
              <a:rPr lang="zh-CN" altLang="en-US" sz="1600">
                <a:ea typeface="华文中宋" pitchFamily="2" charset="-122"/>
              </a:rPr>
              <a:t>的变换</a:t>
            </a:r>
            <a:r>
              <a:rPr lang="en-US" altLang="zh-CN" sz="1600">
                <a:ea typeface="华文中宋" pitchFamily="2" charset="-122"/>
              </a:rPr>
              <a:t>(</a:t>
            </a:r>
            <a:r>
              <a:rPr lang="zh-CN" altLang="en-US" sz="1600">
                <a:ea typeface="华文中宋" pitchFamily="2" charset="-122"/>
              </a:rPr>
              <a:t>正变换</a:t>
            </a:r>
            <a:r>
              <a:rPr lang="en-US" altLang="zh-CN" sz="1600">
                <a:ea typeface="华文中宋" pitchFamily="2" charset="-122"/>
              </a:rPr>
              <a:t>)</a:t>
            </a:r>
          </a:p>
        </p:txBody>
      </p:sp>
      <p:sp>
        <p:nvSpPr>
          <p:cNvPr id="23" name="Text Box 72"/>
          <p:cNvSpPr txBox="1">
            <a:spLocks noChangeArrowheads="1"/>
          </p:cNvSpPr>
          <p:nvPr/>
        </p:nvSpPr>
        <p:spPr bwMode="auto">
          <a:xfrm>
            <a:off x="5199063" y="1058863"/>
            <a:ext cx="23256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eaLnBrk="1" hangingPunct="1"/>
            <a:r>
              <a:rPr kumimoji="0" lang="en-US" altLang="zh-CN" sz="1600">
                <a:ea typeface="华文中宋" pitchFamily="2" charset="-122"/>
              </a:rPr>
              <a:t>S</a:t>
            </a:r>
            <a:r>
              <a:rPr kumimoji="0" lang="en-US" altLang="zh-CN" sz="1600" baseline="30000">
                <a:ea typeface="华文中宋" pitchFamily="2" charset="-122"/>
              </a:rPr>
              <a:t>/</a:t>
            </a:r>
            <a:r>
              <a:rPr kumimoji="0" lang="en-US" altLang="zh-CN" sz="1600">
                <a:ea typeface="华文中宋" pitchFamily="2" charset="-122"/>
              </a:rPr>
              <a:t>→S</a:t>
            </a:r>
            <a:r>
              <a:rPr kumimoji="0" lang="zh-CN" altLang="en-US" sz="1600">
                <a:ea typeface="华文中宋" pitchFamily="2" charset="-122"/>
              </a:rPr>
              <a:t>系变换</a:t>
            </a:r>
            <a:r>
              <a:rPr kumimoji="0" lang="en-US" altLang="zh-CN" sz="1600">
                <a:ea typeface="华文中宋" pitchFamily="2" charset="-122"/>
              </a:rPr>
              <a:t>(</a:t>
            </a:r>
            <a:r>
              <a:rPr kumimoji="0" lang="zh-CN" altLang="en-US" sz="1600">
                <a:ea typeface="华文中宋" pitchFamily="2" charset="-122"/>
              </a:rPr>
              <a:t>逆变换</a:t>
            </a:r>
            <a:r>
              <a:rPr kumimoji="0" lang="en-US" altLang="zh-CN" sz="1600">
                <a:ea typeface="华文中宋" pitchFamily="2" charset="-122"/>
              </a:rPr>
              <a:t>)</a:t>
            </a:r>
          </a:p>
        </p:txBody>
      </p:sp>
      <p:graphicFrame>
        <p:nvGraphicFramePr>
          <p:cNvPr id="24" name="对象 23"/>
          <p:cNvGraphicFramePr>
            <a:graphicFrameLocks noChangeAspect="1"/>
          </p:cNvGraphicFramePr>
          <p:nvPr/>
        </p:nvGraphicFramePr>
        <p:xfrm>
          <a:off x="1701800" y="1392238"/>
          <a:ext cx="1936750" cy="1827212"/>
        </p:xfrm>
        <a:graphic>
          <a:graphicData uri="http://schemas.openxmlformats.org/presentationml/2006/ole">
            <mc:AlternateContent xmlns:mc="http://schemas.openxmlformats.org/markup-compatibility/2006">
              <mc:Choice xmlns:v="urn:schemas-microsoft-com:vml" Requires="v">
                <p:oleObj spid="_x0000_s33808" name="公式" r:id="rId3" imgW="1193800" imgH="1498600" progId="Equation.3">
                  <p:embed/>
                </p:oleObj>
              </mc:Choice>
              <mc:Fallback>
                <p:oleObj name="公式" r:id="rId3" imgW="1193800" imgH="1498600" progId="Equation.3">
                  <p:embed/>
                  <p:pic>
                    <p:nvPicPr>
                      <p:cNvPr id="0" name="对象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1800" y="1392238"/>
                        <a:ext cx="1936750" cy="182721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nvGraphicFramePr>
        <p:xfrm>
          <a:off x="5381625" y="1382713"/>
          <a:ext cx="1854200" cy="1857375"/>
        </p:xfrm>
        <a:graphic>
          <a:graphicData uri="http://schemas.openxmlformats.org/presentationml/2006/ole">
            <mc:AlternateContent xmlns:mc="http://schemas.openxmlformats.org/markup-compatibility/2006">
              <mc:Choice xmlns:v="urn:schemas-microsoft-com:vml" Requires="v">
                <p:oleObj spid="_x0000_s33809" name="公式" r:id="rId5" imgW="1143000" imgH="1524000" progId="Equation.3">
                  <p:embed/>
                </p:oleObj>
              </mc:Choice>
              <mc:Fallback>
                <p:oleObj name="公式" r:id="rId5" imgW="1143000" imgH="1524000" progId="Equation.3">
                  <p:embed/>
                  <p:pic>
                    <p:nvPicPr>
                      <p:cNvPr id="0" name="对象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1625" y="1382713"/>
                        <a:ext cx="1854200" cy="18573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1572" name="Text Box 20"/>
          <p:cNvSpPr txBox="1">
            <a:spLocks noChangeArrowheads="1"/>
          </p:cNvSpPr>
          <p:nvPr/>
        </p:nvSpPr>
        <p:spPr bwMode="auto">
          <a:xfrm>
            <a:off x="546100" y="2994025"/>
            <a:ext cx="13954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solidFill>
                  <a:srgbClr val="3333FF"/>
                </a:solidFill>
                <a:ea typeface="华文中宋" pitchFamily="2" charset="-122"/>
              </a:rPr>
              <a:t>说明：</a:t>
            </a:r>
          </a:p>
        </p:txBody>
      </p:sp>
      <p:sp>
        <p:nvSpPr>
          <p:cNvPr id="151575" name="Text Box 23"/>
          <p:cNvSpPr txBox="1">
            <a:spLocks noChangeArrowheads="1"/>
          </p:cNvSpPr>
          <p:nvPr/>
        </p:nvSpPr>
        <p:spPr bwMode="auto">
          <a:xfrm>
            <a:off x="546100" y="3328988"/>
            <a:ext cx="5688013"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a:ea typeface="华文中宋" pitchFamily="2" charset="-122"/>
              </a:rPr>
              <a:t>(1)</a:t>
            </a:r>
            <a:r>
              <a:rPr lang="zh-CN" altLang="en-US" sz="1500">
                <a:ea typeface="华文中宋" pitchFamily="2" charset="-122"/>
              </a:rPr>
              <a:t>洛仑兹变换是爱因斯坦两个原理的数学表达式。 </a:t>
            </a:r>
          </a:p>
        </p:txBody>
      </p:sp>
      <p:sp>
        <p:nvSpPr>
          <p:cNvPr id="296975" name="Rectangle 15"/>
          <p:cNvSpPr>
            <a:spLocks noChangeArrowheads="1"/>
          </p:cNvSpPr>
          <p:nvPr/>
        </p:nvSpPr>
        <p:spPr bwMode="auto">
          <a:xfrm>
            <a:off x="517525" y="3651250"/>
            <a:ext cx="79216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500">
                <a:ea typeface="华文中宋" pitchFamily="2" charset="-122"/>
              </a:rPr>
              <a:t>(2)</a:t>
            </a:r>
            <a:r>
              <a:rPr lang="zh-CN" altLang="en-US" sz="1500">
                <a:ea typeface="华文中宋" pitchFamily="2" charset="-122"/>
              </a:rPr>
              <a:t>相对论将时间和空间，及它们与物质的运动不可分割地联系起来了；说明了时空是物质的一种基本属性</a:t>
            </a:r>
            <a:r>
              <a:rPr lang="en-US" altLang="zh-CN" sz="1500">
                <a:ea typeface="华文中宋" pitchFamily="2" charset="-122"/>
              </a:rPr>
              <a:t>,</a:t>
            </a:r>
            <a:r>
              <a:rPr lang="zh-CN" altLang="en-US" sz="1500">
                <a:ea typeface="华文中宋" pitchFamily="2" charset="-122"/>
              </a:rPr>
              <a:t>是统一的整体</a:t>
            </a:r>
            <a:r>
              <a:rPr lang="en-US" altLang="zh-CN" sz="1500">
                <a:ea typeface="华文中宋" pitchFamily="2" charset="-122"/>
              </a:rPr>
              <a:t>,</a:t>
            </a:r>
            <a:r>
              <a:rPr lang="zh-CN" altLang="en-US" sz="1500">
                <a:ea typeface="华文中宋" pitchFamily="2" charset="-122"/>
              </a:rPr>
              <a:t>与物质的分布和运动有关。</a:t>
            </a:r>
          </a:p>
        </p:txBody>
      </p:sp>
      <p:grpSp>
        <p:nvGrpSpPr>
          <p:cNvPr id="2" name="Group 20"/>
          <p:cNvGrpSpPr>
            <a:grpSpLocks/>
          </p:cNvGrpSpPr>
          <p:nvPr/>
        </p:nvGrpSpPr>
        <p:grpSpPr bwMode="auto">
          <a:xfrm>
            <a:off x="539750" y="4137025"/>
            <a:ext cx="8208963" cy="554038"/>
            <a:chOff x="340" y="3612"/>
            <a:chExt cx="5171" cy="465"/>
          </a:xfrm>
        </p:grpSpPr>
        <p:sp>
          <p:nvSpPr>
            <p:cNvPr id="33803" name="Rectangle 17"/>
            <p:cNvSpPr>
              <a:spLocks noChangeArrowheads="1"/>
            </p:cNvSpPr>
            <p:nvPr/>
          </p:nvSpPr>
          <p:spPr bwMode="auto">
            <a:xfrm>
              <a:off x="340" y="3612"/>
              <a:ext cx="5171"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500">
                  <a:ea typeface="华文中宋" pitchFamily="2" charset="-122"/>
                </a:rPr>
                <a:t>(3)</a:t>
              </a:r>
              <a:r>
                <a:rPr lang="zh-CN" altLang="en-US" sz="1500">
                  <a:ea typeface="华文中宋" pitchFamily="2" charset="-122"/>
                </a:rPr>
                <a:t>时间和空间的坐标都是实数，变换式                          中不应该出现虚数；</a:t>
              </a:r>
              <a:r>
                <a:rPr lang="en-US" altLang="zh-CN" sz="1500" i="1">
                  <a:ea typeface="华文中宋" pitchFamily="2" charset="-122"/>
                </a:rPr>
                <a:t>u</a:t>
              </a:r>
              <a:r>
                <a:rPr lang="en-US" altLang="zh-CN" sz="1500">
                  <a:ea typeface="华文中宋" pitchFamily="2" charset="-122"/>
                </a:rPr>
                <a:t>&gt;</a:t>
              </a:r>
              <a:r>
                <a:rPr lang="en-US" altLang="zh-CN" sz="1500" i="1">
                  <a:ea typeface="华文中宋" pitchFamily="2" charset="-122"/>
                </a:rPr>
                <a:t>c</a:t>
              </a:r>
              <a:r>
                <a:rPr lang="zh-CN" altLang="en-US" sz="1500">
                  <a:ea typeface="华文中宋" pitchFamily="2" charset="-122"/>
                </a:rPr>
                <a:t>变换无意义，</a:t>
              </a:r>
              <a:r>
                <a:rPr lang="zh-CN" altLang="en-US" sz="1500">
                  <a:solidFill>
                    <a:srgbClr val="0000FF"/>
                  </a:solidFill>
                  <a:ea typeface="华文中宋" pitchFamily="2" charset="-122"/>
                </a:rPr>
                <a:t>速度有极限。</a:t>
              </a:r>
            </a:p>
          </p:txBody>
        </p:sp>
        <p:graphicFrame>
          <p:nvGraphicFramePr>
            <p:cNvPr id="33804" name="对象 2"/>
            <p:cNvGraphicFramePr>
              <a:graphicFrameLocks noChangeAspect="1"/>
            </p:cNvGraphicFramePr>
            <p:nvPr/>
          </p:nvGraphicFramePr>
          <p:xfrm>
            <a:off x="2490" y="3628"/>
            <a:ext cx="753" cy="268"/>
          </p:xfrm>
          <a:graphic>
            <a:graphicData uri="http://schemas.openxmlformats.org/presentationml/2006/ole">
              <mc:AlternateContent xmlns:mc="http://schemas.openxmlformats.org/markup-compatibility/2006">
                <mc:Choice xmlns:v="urn:schemas-microsoft-com:vml" Requires="v">
                  <p:oleObj spid="_x0000_s33810" name="Equation" r:id="rId7" imgW="787400" imgH="279400" progId="Equation.DSMT4">
                    <p:embed/>
                  </p:oleObj>
                </mc:Choice>
                <mc:Fallback>
                  <p:oleObj name="Equation" r:id="rId7" imgW="787400" imgH="279400" progId="Equation.DSMT4">
                    <p:embed/>
                    <p:pic>
                      <p:nvPicPr>
                        <p:cNvPr id="0" name="对象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0" y="3628"/>
                          <a:ext cx="75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1572"/>
                                        </p:tgtEl>
                                        <p:attrNameLst>
                                          <p:attrName>style.visibility</p:attrName>
                                        </p:attrNameLst>
                                      </p:cBhvr>
                                      <p:to>
                                        <p:strVal val="visible"/>
                                      </p:to>
                                    </p:set>
                                    <p:animEffect transition="in" filter="wipe(left)">
                                      <p:cBhvr>
                                        <p:cTn id="32" dur="500"/>
                                        <p:tgtEl>
                                          <p:spTgt spid="15157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1575">
                                            <p:txEl>
                                              <p:pRg st="0" end="0"/>
                                            </p:txEl>
                                          </p:spTgt>
                                        </p:tgtEl>
                                        <p:attrNameLst>
                                          <p:attrName>style.visibility</p:attrName>
                                        </p:attrNameLst>
                                      </p:cBhvr>
                                      <p:to>
                                        <p:strVal val="visible"/>
                                      </p:to>
                                    </p:set>
                                    <p:animEffect transition="in" filter="wipe(left)">
                                      <p:cBhvr>
                                        <p:cTn id="37" dur="500"/>
                                        <p:tgtEl>
                                          <p:spTgt spid="151575">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96975"/>
                                        </p:tgtEl>
                                        <p:attrNameLst>
                                          <p:attrName>style.visibility</p:attrName>
                                        </p:attrNameLst>
                                      </p:cBhvr>
                                      <p:to>
                                        <p:strVal val="visible"/>
                                      </p:to>
                                    </p:set>
                                    <p:animEffect transition="in" filter="blinds(horizontal)">
                                      <p:cBhvr>
                                        <p:cTn id="42" dur="500"/>
                                        <p:tgtEl>
                                          <p:spTgt spid="2969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151572" grpId="0"/>
      <p:bldP spid="151575" grpId="0" build="p"/>
      <p:bldP spid="29697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2" name="Text Box 12"/>
          <p:cNvSpPr txBox="1">
            <a:spLocks noChangeArrowheads="1"/>
          </p:cNvSpPr>
          <p:nvPr/>
        </p:nvSpPr>
        <p:spPr bwMode="auto">
          <a:xfrm>
            <a:off x="692150" y="923925"/>
            <a:ext cx="7785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lnSpc>
                <a:spcPct val="110000"/>
              </a:lnSpc>
            </a:pPr>
            <a:r>
              <a:rPr lang="zh-CN" altLang="en-US" sz="1800">
                <a:latin typeface="华文中宋" pitchFamily="2" charset="-122"/>
                <a:ea typeface="华文中宋" pitchFamily="2" charset="-122"/>
              </a:rPr>
              <a:t>（</a:t>
            </a:r>
            <a:r>
              <a:rPr lang="en-US" altLang="zh-CN" sz="1800">
                <a:latin typeface="华文中宋" pitchFamily="2" charset="-122"/>
                <a:ea typeface="华文中宋" pitchFamily="2" charset="-122"/>
              </a:rPr>
              <a:t>4</a:t>
            </a:r>
            <a:r>
              <a:rPr lang="zh-CN" altLang="en-US" sz="1800">
                <a:latin typeface="华文中宋" pitchFamily="2" charset="-122"/>
                <a:ea typeface="华文中宋" pitchFamily="2" charset="-122"/>
              </a:rPr>
              <a:t>）洛仑兹变换与伽利略变换本质不同。</a:t>
            </a:r>
            <a:r>
              <a:rPr kumimoji="0" lang="en-US" altLang="zh-CN" sz="1800">
                <a:latin typeface="华文中宋" pitchFamily="2" charset="-122"/>
                <a:ea typeface="华文中宋" pitchFamily="2" charset="-122"/>
              </a:rPr>
              <a:t>L</a:t>
            </a:r>
            <a:r>
              <a:rPr kumimoji="0" lang="zh-CN" altLang="en-US" sz="1800">
                <a:latin typeface="华文中宋" pitchFamily="2" charset="-122"/>
                <a:ea typeface="华文中宋" pitchFamily="2" charset="-122"/>
              </a:rPr>
              <a:t>变换是比</a:t>
            </a:r>
            <a:r>
              <a:rPr kumimoji="0" lang="en-US" altLang="zh-CN" sz="1800">
                <a:latin typeface="华文中宋" pitchFamily="2" charset="-122"/>
                <a:ea typeface="华文中宋" pitchFamily="2" charset="-122"/>
              </a:rPr>
              <a:t>G</a:t>
            </a:r>
            <a:r>
              <a:rPr kumimoji="0" lang="zh-CN" altLang="en-US" sz="1800">
                <a:latin typeface="华文中宋" pitchFamily="2" charset="-122"/>
                <a:ea typeface="华文中宋" pitchFamily="2" charset="-122"/>
              </a:rPr>
              <a:t>变换更具普遍意义的变换。</a:t>
            </a:r>
            <a:endParaRPr lang="zh-CN" altLang="en-US" sz="1800">
              <a:latin typeface="华文中宋" pitchFamily="2" charset="-122"/>
              <a:ea typeface="华文中宋" pitchFamily="2" charset="-122"/>
            </a:endParaRPr>
          </a:p>
        </p:txBody>
      </p:sp>
      <p:sp>
        <p:nvSpPr>
          <p:cNvPr id="204813" name="Text Box 13"/>
          <p:cNvSpPr txBox="1">
            <a:spLocks noChangeArrowheads="1"/>
          </p:cNvSpPr>
          <p:nvPr/>
        </p:nvSpPr>
        <p:spPr bwMode="auto">
          <a:xfrm>
            <a:off x="849313" y="1625600"/>
            <a:ext cx="74279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latin typeface="华文中宋" pitchFamily="2" charset="-122"/>
                <a:ea typeface="华文中宋" pitchFamily="2" charset="-122"/>
              </a:rPr>
              <a:t>    </a:t>
            </a:r>
            <a:r>
              <a:rPr lang="zh-CN" altLang="en-US" sz="1800">
                <a:latin typeface="华文中宋" pitchFamily="2" charset="-122"/>
                <a:ea typeface="华文中宋" pitchFamily="2" charset="-122"/>
              </a:rPr>
              <a:t>但是在低速和宏观世界范围内洛仑兹变换</a:t>
            </a:r>
            <a:r>
              <a:rPr lang="zh-CN" altLang="en-US" sz="1800">
                <a:solidFill>
                  <a:srgbClr val="0000FF"/>
                </a:solidFill>
                <a:latin typeface="华文中宋" pitchFamily="2" charset="-122"/>
                <a:ea typeface="华文中宋" pitchFamily="2" charset="-122"/>
              </a:rPr>
              <a:t>应能退化成伽利略变换。</a:t>
            </a:r>
            <a:endParaRPr lang="zh-CN" altLang="en-US" sz="1800">
              <a:latin typeface="华文中宋" pitchFamily="2" charset="-122"/>
              <a:ea typeface="华文中宋" pitchFamily="2" charset="-122"/>
            </a:endParaRPr>
          </a:p>
        </p:txBody>
      </p:sp>
      <p:graphicFrame>
        <p:nvGraphicFramePr>
          <p:cNvPr id="3" name="对象 2"/>
          <p:cNvGraphicFramePr>
            <a:graphicFrameLocks noChangeAspect="1"/>
          </p:cNvGraphicFramePr>
          <p:nvPr/>
        </p:nvGraphicFramePr>
        <p:xfrm>
          <a:off x="1400175" y="2328863"/>
          <a:ext cx="1936750" cy="1827212"/>
        </p:xfrm>
        <a:graphic>
          <a:graphicData uri="http://schemas.openxmlformats.org/presentationml/2006/ole">
            <mc:AlternateContent xmlns:mc="http://schemas.openxmlformats.org/markup-compatibility/2006">
              <mc:Choice xmlns:v="urn:schemas-microsoft-com:vml" Requires="v">
                <p:oleObj spid="_x0000_s34828" name="公式" r:id="rId3" imgW="1193800" imgH="1498600" progId="Equation.3">
                  <p:embed/>
                </p:oleObj>
              </mc:Choice>
              <mc:Fallback>
                <p:oleObj name="公式" r:id="rId3" imgW="1193800" imgH="14986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0175" y="2328863"/>
                        <a:ext cx="1936750"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4"/>
          <p:cNvGrpSpPr>
            <a:grpSpLocks/>
          </p:cNvGrpSpPr>
          <p:nvPr/>
        </p:nvGrpSpPr>
        <p:grpSpPr bwMode="auto">
          <a:xfrm>
            <a:off x="3492500" y="2922588"/>
            <a:ext cx="2765425" cy="563562"/>
            <a:chOff x="3222625" y="3763127"/>
            <a:chExt cx="2764280" cy="752312"/>
          </a:xfrm>
        </p:grpSpPr>
        <p:sp>
          <p:nvSpPr>
            <p:cNvPr id="34823" name="Text Box 16"/>
            <p:cNvSpPr txBox="1">
              <a:spLocks noChangeArrowheads="1"/>
            </p:cNvSpPr>
            <p:nvPr/>
          </p:nvSpPr>
          <p:spPr bwMode="auto">
            <a:xfrm>
              <a:off x="3222625" y="3893275"/>
              <a:ext cx="1200473" cy="492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宋体" pitchFamily="2" charset="-122"/>
                </a:rPr>
                <a:t>当</a:t>
              </a:r>
              <a:r>
                <a:rPr lang="en-US" altLang="zh-CN" sz="1800" i="1">
                  <a:ea typeface="宋体" pitchFamily="2" charset="-122"/>
                </a:rPr>
                <a:t>u</a:t>
              </a:r>
              <a:r>
                <a:rPr lang="en-US" altLang="zh-CN" sz="1800">
                  <a:ea typeface="宋体" pitchFamily="2" charset="-122"/>
                </a:rPr>
                <a:t>&lt;&lt;</a:t>
              </a:r>
              <a:r>
                <a:rPr lang="en-US" altLang="zh-CN" sz="1800" i="1">
                  <a:ea typeface="宋体" pitchFamily="2" charset="-122"/>
                </a:rPr>
                <a:t>c</a:t>
              </a:r>
              <a:r>
                <a:rPr lang="zh-CN" altLang="en-US" sz="1800">
                  <a:ea typeface="宋体" pitchFamily="2" charset="-122"/>
                </a:rPr>
                <a:t>时</a:t>
              </a:r>
              <a:r>
                <a:rPr lang="en-US" altLang="zh-CN" sz="1800">
                  <a:ea typeface="宋体" pitchFamily="2" charset="-122"/>
                </a:rPr>
                <a:t>,</a:t>
              </a:r>
            </a:p>
          </p:txBody>
        </p:sp>
        <p:graphicFrame>
          <p:nvGraphicFramePr>
            <p:cNvPr id="34824" name="对象 3"/>
            <p:cNvGraphicFramePr>
              <a:graphicFrameLocks noChangeAspect="1"/>
            </p:cNvGraphicFramePr>
            <p:nvPr/>
          </p:nvGraphicFramePr>
          <p:xfrm>
            <a:off x="4952476" y="3763127"/>
            <a:ext cx="1034429" cy="752312"/>
          </p:xfrm>
          <a:graphic>
            <a:graphicData uri="http://schemas.openxmlformats.org/presentationml/2006/ole">
              <mc:AlternateContent xmlns:mc="http://schemas.openxmlformats.org/markup-compatibility/2006">
                <mc:Choice xmlns:v="urn:schemas-microsoft-com:vml" Requires="v">
                  <p:oleObj spid="_x0000_s34829" name="公式" r:id="rId5" imgW="558558" imgH="406224" progId="Equation.3">
                    <p:embed/>
                  </p:oleObj>
                </mc:Choice>
                <mc:Fallback>
                  <p:oleObj name="公式" r:id="rId5" imgW="558558" imgH="406224" progId="Equation.3">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2476" y="3763127"/>
                          <a:ext cx="1034429" cy="75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3" name="对象 12"/>
          <p:cNvGraphicFramePr>
            <a:graphicFrameLocks noChangeAspect="1"/>
          </p:cNvGraphicFramePr>
          <p:nvPr/>
        </p:nvGraphicFramePr>
        <p:xfrm>
          <a:off x="6443663" y="2544763"/>
          <a:ext cx="1382712" cy="1282700"/>
        </p:xfrm>
        <a:graphic>
          <a:graphicData uri="http://schemas.openxmlformats.org/presentationml/2006/ole">
            <mc:AlternateContent xmlns:mc="http://schemas.openxmlformats.org/markup-compatibility/2006">
              <mc:Choice xmlns:v="urn:schemas-microsoft-com:vml" Requires="v">
                <p:oleObj spid="_x0000_s34830" name="公式" r:id="rId7" imgW="812447" imgH="1002865" progId="Equation.3">
                  <p:embed/>
                </p:oleObj>
              </mc:Choice>
              <mc:Fallback>
                <p:oleObj name="公式" r:id="rId7" imgW="812447" imgH="1002865" progId="Equation.3">
                  <p:embed/>
                  <p:pic>
                    <p:nvPicPr>
                      <p:cNvPr id="0" name="对象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2544763"/>
                        <a:ext cx="1382712"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12"/>
                                        </p:tgtEl>
                                        <p:attrNameLst>
                                          <p:attrName>style.visibility</p:attrName>
                                        </p:attrNameLst>
                                      </p:cBhvr>
                                      <p:to>
                                        <p:strVal val="visible"/>
                                      </p:to>
                                    </p:set>
                                    <p:animEffect transition="in" filter="wipe(left)">
                                      <p:cBhvr>
                                        <p:cTn id="7" dur="500"/>
                                        <p:tgtEl>
                                          <p:spTgt spid="2048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13"/>
                                        </p:tgtEl>
                                        <p:attrNameLst>
                                          <p:attrName>style.visibility</p:attrName>
                                        </p:attrNameLst>
                                      </p:cBhvr>
                                      <p:to>
                                        <p:strVal val="visible"/>
                                      </p:to>
                                    </p:set>
                                    <p:animEffect transition="in" filter="wipe(left)">
                                      <p:cBhvr>
                                        <p:cTn id="12" dur="500"/>
                                        <p:tgtEl>
                                          <p:spTgt spid="2048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lef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12" grpId="0"/>
      <p:bldP spid="2048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p:cNvSpPr txBox="1">
            <a:spLocks noChangeArrowheads="1"/>
          </p:cNvSpPr>
          <p:nvPr/>
        </p:nvSpPr>
        <p:spPr bwMode="auto">
          <a:xfrm>
            <a:off x="3995738" y="1112838"/>
            <a:ext cx="1190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latin typeface="华文中宋" pitchFamily="2" charset="-122"/>
                <a:ea typeface="华文中宋" pitchFamily="2" charset="-122"/>
              </a:rPr>
              <a:t>一质点</a:t>
            </a:r>
            <a:r>
              <a:rPr kumimoji="0" lang="en-US" altLang="zh-CN" sz="1800">
                <a:latin typeface="华文中宋" pitchFamily="2" charset="-122"/>
                <a:ea typeface="华文中宋" pitchFamily="2" charset="-122"/>
              </a:rPr>
              <a:t>P</a:t>
            </a:r>
          </a:p>
        </p:txBody>
      </p:sp>
      <p:grpSp>
        <p:nvGrpSpPr>
          <p:cNvPr id="2" name="组合 12"/>
          <p:cNvGrpSpPr>
            <a:grpSpLocks/>
          </p:cNvGrpSpPr>
          <p:nvPr/>
        </p:nvGrpSpPr>
        <p:grpSpPr bwMode="auto">
          <a:xfrm>
            <a:off x="5264150" y="915988"/>
            <a:ext cx="2476500" cy="758825"/>
            <a:chOff x="2821070" y="3089619"/>
            <a:chExt cx="2476795" cy="1012677"/>
          </a:xfrm>
        </p:grpSpPr>
        <p:sp>
          <p:nvSpPr>
            <p:cNvPr id="35854" name="Text Box 5"/>
            <p:cNvSpPr txBox="1">
              <a:spLocks noChangeArrowheads="1"/>
            </p:cNvSpPr>
            <p:nvPr/>
          </p:nvSpPr>
          <p:spPr bwMode="auto">
            <a:xfrm>
              <a:off x="2860762" y="3089619"/>
              <a:ext cx="919272" cy="492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a:latin typeface="华文中宋" pitchFamily="2" charset="-122"/>
                  <a:ea typeface="华文中宋" pitchFamily="2" charset="-122"/>
                </a:rPr>
                <a:t>S</a:t>
              </a:r>
              <a:r>
                <a:rPr kumimoji="0" lang="zh-CN" altLang="en-US" sz="1800">
                  <a:latin typeface="华文中宋" pitchFamily="2" charset="-122"/>
                  <a:ea typeface="华文中宋" pitchFamily="2" charset="-122"/>
                </a:rPr>
                <a:t>系</a:t>
              </a:r>
              <a:r>
                <a:rPr kumimoji="0" lang="en-US" altLang="zh-CN" sz="1800">
                  <a:latin typeface="华文中宋" pitchFamily="2" charset="-122"/>
                  <a:ea typeface="华文中宋" pitchFamily="2" charset="-122"/>
                </a:rPr>
                <a:t>:</a:t>
              </a:r>
            </a:p>
          </p:txBody>
        </p:sp>
        <p:graphicFrame>
          <p:nvGraphicFramePr>
            <p:cNvPr id="35855" name="对象 9"/>
            <p:cNvGraphicFramePr>
              <a:graphicFrameLocks noChangeAspect="1"/>
            </p:cNvGraphicFramePr>
            <p:nvPr/>
          </p:nvGraphicFramePr>
          <p:xfrm>
            <a:off x="3731966" y="3139127"/>
            <a:ext cx="1524160" cy="452485"/>
          </p:xfrm>
          <a:graphic>
            <a:graphicData uri="http://schemas.openxmlformats.org/presentationml/2006/ole">
              <mc:AlternateContent xmlns:mc="http://schemas.openxmlformats.org/markup-compatibility/2006">
                <mc:Choice xmlns:v="urn:schemas-microsoft-com:vml" Requires="v">
                  <p:oleObj spid="_x0000_s35865" name="公式" r:id="rId3" imgW="812447" imgH="241195" progId="Equation.3">
                    <p:embed/>
                  </p:oleObj>
                </mc:Choice>
                <mc:Fallback>
                  <p:oleObj name="公式" r:id="rId3" imgW="812447" imgH="241195" progId="Equation.3">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1966" y="3139127"/>
                          <a:ext cx="1524160" cy="452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6" name="Rectangle 9"/>
            <p:cNvSpPr>
              <a:spLocks noChangeArrowheads="1"/>
            </p:cNvSpPr>
            <p:nvPr/>
          </p:nvSpPr>
          <p:spPr bwMode="auto">
            <a:xfrm>
              <a:off x="2821070" y="3602479"/>
              <a:ext cx="1081627" cy="492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en-US" altLang="zh-CN" sz="1800">
                  <a:latin typeface="华文中宋" pitchFamily="2" charset="-122"/>
                  <a:ea typeface="华文中宋" pitchFamily="2" charset="-122"/>
                </a:rPr>
                <a:t>S</a:t>
              </a:r>
              <a:r>
                <a:rPr kumimoji="0" lang="en-US" altLang="zh-CN" sz="1800" baseline="30000">
                  <a:latin typeface="华文中宋" pitchFamily="2" charset="-122"/>
                  <a:ea typeface="华文中宋" pitchFamily="2" charset="-122"/>
                </a:rPr>
                <a:t>/</a:t>
              </a:r>
              <a:r>
                <a:rPr kumimoji="0" lang="zh-CN" altLang="en-US" sz="1800">
                  <a:latin typeface="华文中宋" pitchFamily="2" charset="-122"/>
                  <a:ea typeface="华文中宋" pitchFamily="2" charset="-122"/>
                </a:rPr>
                <a:t>系</a:t>
              </a:r>
              <a:r>
                <a:rPr kumimoji="0" lang="en-US" altLang="zh-CN" sz="1800">
                  <a:latin typeface="华文中宋" pitchFamily="2" charset="-122"/>
                  <a:ea typeface="华文中宋" pitchFamily="2" charset="-122"/>
                </a:rPr>
                <a:t>:</a:t>
              </a:r>
            </a:p>
          </p:txBody>
        </p:sp>
        <p:graphicFrame>
          <p:nvGraphicFramePr>
            <p:cNvPr id="35857" name="对象 11"/>
            <p:cNvGraphicFramePr>
              <a:graphicFrameLocks noChangeAspect="1"/>
            </p:cNvGraphicFramePr>
            <p:nvPr/>
          </p:nvGraphicFramePr>
          <p:xfrm>
            <a:off x="3745912" y="3647238"/>
            <a:ext cx="1551953" cy="455058"/>
          </p:xfrm>
          <a:graphic>
            <a:graphicData uri="http://schemas.openxmlformats.org/presentationml/2006/ole">
              <mc:AlternateContent xmlns:mc="http://schemas.openxmlformats.org/markup-compatibility/2006">
                <mc:Choice xmlns:v="urn:schemas-microsoft-com:vml" Requires="v">
                  <p:oleObj spid="_x0000_s35866" name="公式" r:id="rId5" imgW="863225" imgH="253890" progId="Equation.3">
                    <p:embed/>
                  </p:oleObj>
                </mc:Choice>
                <mc:Fallback>
                  <p:oleObj name="公式" r:id="rId5" imgW="863225" imgH="253890" progId="Equation.3">
                    <p:embed/>
                    <p:pic>
                      <p:nvPicPr>
                        <p:cNvPr id="0" name="对象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5912" y="3647238"/>
                          <a:ext cx="1551953" cy="455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4" name="对象 13"/>
          <p:cNvGraphicFramePr>
            <a:graphicFrameLocks noChangeAspect="1"/>
          </p:cNvGraphicFramePr>
          <p:nvPr/>
        </p:nvGraphicFramePr>
        <p:xfrm>
          <a:off x="1069975" y="1779588"/>
          <a:ext cx="1936750" cy="1828800"/>
        </p:xfrm>
        <a:graphic>
          <a:graphicData uri="http://schemas.openxmlformats.org/presentationml/2006/ole">
            <mc:AlternateContent xmlns:mc="http://schemas.openxmlformats.org/markup-compatibility/2006">
              <mc:Choice xmlns:v="urn:schemas-microsoft-com:vml" Requires="v">
                <p:oleObj spid="_x0000_s35867" name="公式" r:id="rId7" imgW="1193800" imgH="1498600" progId="Equation.3">
                  <p:embed/>
                </p:oleObj>
              </mc:Choice>
              <mc:Fallback>
                <p:oleObj name="公式" r:id="rId7" imgW="1193800" imgH="1498600" progId="Equation.3">
                  <p:embed/>
                  <p:pic>
                    <p:nvPicPr>
                      <p:cNvPr id="0"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9975" y="1779588"/>
                        <a:ext cx="19367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 name="组合 17"/>
          <p:cNvGrpSpPr>
            <a:grpSpLocks/>
          </p:cNvGrpSpPr>
          <p:nvPr/>
        </p:nvGrpSpPr>
        <p:grpSpPr bwMode="auto">
          <a:xfrm>
            <a:off x="3176588" y="1736725"/>
            <a:ext cx="2670175" cy="1827213"/>
            <a:chOff x="3459637" y="2496449"/>
            <a:chExt cx="2669573" cy="2436812"/>
          </a:xfrm>
        </p:grpSpPr>
        <p:graphicFrame>
          <p:nvGraphicFramePr>
            <p:cNvPr id="35852" name="对象 14"/>
            <p:cNvGraphicFramePr>
              <a:graphicFrameLocks noChangeAspect="1"/>
            </p:cNvGraphicFramePr>
            <p:nvPr/>
          </p:nvGraphicFramePr>
          <p:xfrm>
            <a:off x="4172263" y="2496449"/>
            <a:ext cx="1956947" cy="2436812"/>
          </p:xfrm>
          <a:graphic>
            <a:graphicData uri="http://schemas.openxmlformats.org/presentationml/2006/ole">
              <mc:AlternateContent xmlns:mc="http://schemas.openxmlformats.org/markup-compatibility/2006">
                <mc:Choice xmlns:v="urn:schemas-microsoft-com:vml" Requires="v">
                  <p:oleObj spid="_x0000_s35868" name="Equation" r:id="rId9" imgW="1206500" imgH="1498600" progId="Equation.DSMT4">
                    <p:embed/>
                  </p:oleObj>
                </mc:Choice>
                <mc:Fallback>
                  <p:oleObj name="Equation" r:id="rId9" imgW="1206500" imgH="1498600" progId="Equation.DSMT4">
                    <p:embed/>
                    <p:pic>
                      <p:nvPicPr>
                        <p:cNvPr id="0" name="对象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72263" y="2496449"/>
                          <a:ext cx="1956947"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右箭头 16"/>
            <p:cNvSpPr/>
            <p:nvPr/>
          </p:nvSpPr>
          <p:spPr>
            <a:xfrm>
              <a:off x="3459637" y="3601588"/>
              <a:ext cx="660251" cy="215947"/>
            </a:xfrm>
            <a:prstGeom prst="rightArrow">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kumimoji="0" lang="zh-CN" altLang="en-US"/>
            </a:p>
          </p:txBody>
        </p:sp>
      </p:grpSp>
      <p:grpSp>
        <p:nvGrpSpPr>
          <p:cNvPr id="5" name="组合 9"/>
          <p:cNvGrpSpPr>
            <a:grpSpLocks/>
          </p:cNvGrpSpPr>
          <p:nvPr/>
        </p:nvGrpSpPr>
        <p:grpSpPr bwMode="auto">
          <a:xfrm>
            <a:off x="5862638" y="1762125"/>
            <a:ext cx="2195512" cy="1779588"/>
            <a:chOff x="5862638" y="2264837"/>
            <a:chExt cx="2195512" cy="2373839"/>
          </a:xfrm>
        </p:grpSpPr>
        <p:graphicFrame>
          <p:nvGraphicFramePr>
            <p:cNvPr id="35850" name="对象 6"/>
            <p:cNvGraphicFramePr>
              <a:graphicFrameLocks noChangeAspect="1"/>
            </p:cNvGraphicFramePr>
            <p:nvPr/>
          </p:nvGraphicFramePr>
          <p:xfrm>
            <a:off x="5888038" y="2264837"/>
            <a:ext cx="1706562" cy="800455"/>
          </p:xfrm>
          <a:graphic>
            <a:graphicData uri="http://schemas.openxmlformats.org/presentationml/2006/ole">
              <mc:AlternateContent xmlns:mc="http://schemas.openxmlformats.org/markup-compatibility/2006">
                <mc:Choice xmlns:v="urn:schemas-microsoft-com:vml" Requires="v">
                  <p:oleObj spid="_x0000_s35869" name="Equation" r:id="rId11" imgW="1002865" imgH="469696" progId="Equation.DSMT4">
                    <p:embed/>
                  </p:oleObj>
                </mc:Choice>
                <mc:Fallback>
                  <p:oleObj name="Equation" r:id="rId11" imgW="1002865" imgH="469696" progId="Equation.DSMT4">
                    <p:embed/>
                    <p:pic>
                      <p:nvPicPr>
                        <p:cNvPr id="0" name="对象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88038" y="2264837"/>
                          <a:ext cx="1706562" cy="800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5851" name="对象 8"/>
            <p:cNvGraphicFramePr>
              <a:graphicFrameLocks noChangeAspect="1"/>
            </p:cNvGraphicFramePr>
            <p:nvPr/>
          </p:nvGraphicFramePr>
          <p:xfrm>
            <a:off x="5862638" y="3861514"/>
            <a:ext cx="2195512" cy="777162"/>
          </p:xfrm>
          <a:graphic>
            <a:graphicData uri="http://schemas.openxmlformats.org/presentationml/2006/ole">
              <mc:AlternateContent xmlns:mc="http://schemas.openxmlformats.org/markup-compatibility/2006">
                <mc:Choice xmlns:v="urn:schemas-microsoft-com:vml" Requires="v">
                  <p:oleObj spid="_x0000_s35870" name="Equation" r:id="rId13" imgW="1396394" imgH="495085" progId="Equation.DSMT4">
                    <p:embed/>
                  </p:oleObj>
                </mc:Choice>
                <mc:Fallback>
                  <p:oleObj name="Equation" r:id="rId13" imgW="1396394" imgH="495085" progId="Equation.DSMT4">
                    <p:embed/>
                    <p:pic>
                      <p:nvPicPr>
                        <p:cNvPr id="0" name="对象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62638" y="3861514"/>
                          <a:ext cx="2195512" cy="77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7" name="Rectangle 55"/>
          <p:cNvSpPr>
            <a:spLocks noChangeArrowheads="1"/>
          </p:cNvSpPr>
          <p:nvPr/>
        </p:nvSpPr>
        <p:spPr bwMode="auto">
          <a:xfrm>
            <a:off x="1979613" y="3951288"/>
            <a:ext cx="16652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a:latin typeface="华文中宋" pitchFamily="2" charset="-122"/>
                <a:ea typeface="华文中宋" pitchFamily="2" charset="-122"/>
              </a:rPr>
              <a:t>由速度的定义</a:t>
            </a:r>
          </a:p>
        </p:txBody>
      </p:sp>
      <p:graphicFrame>
        <p:nvGraphicFramePr>
          <p:cNvPr id="28" name="对象 27"/>
          <p:cNvGraphicFramePr>
            <a:graphicFrameLocks noChangeAspect="1"/>
          </p:cNvGraphicFramePr>
          <p:nvPr/>
        </p:nvGraphicFramePr>
        <p:xfrm>
          <a:off x="3584575" y="3795713"/>
          <a:ext cx="3940175" cy="606425"/>
        </p:xfrm>
        <a:graphic>
          <a:graphicData uri="http://schemas.openxmlformats.org/presentationml/2006/ole">
            <mc:AlternateContent xmlns:mc="http://schemas.openxmlformats.org/markup-compatibility/2006">
              <mc:Choice xmlns:v="urn:schemas-microsoft-com:vml" Requires="v">
                <p:oleObj spid="_x0000_s35871" name="Equation" r:id="rId15" imgW="1916868" imgH="393529" progId="Equation.DSMT4">
                  <p:embed/>
                </p:oleObj>
              </mc:Choice>
              <mc:Fallback>
                <p:oleObj name="Equation" r:id="rId15" imgW="1916868" imgH="393529" progId="Equation.DSMT4">
                  <p:embed/>
                  <p:pic>
                    <p:nvPicPr>
                      <p:cNvPr id="0" name="对象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84575" y="3795713"/>
                        <a:ext cx="39401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9" name="Text Box 2"/>
          <p:cNvSpPr>
            <a:spLocks noChangeArrowheads="1"/>
          </p:cNvSpPr>
          <p:nvPr/>
        </p:nvSpPr>
        <p:spPr bwMode="auto">
          <a:xfrm>
            <a:off x="839788" y="874713"/>
            <a:ext cx="2579687" cy="401637"/>
          </a:xfrm>
          <a:prstGeom prst="homePlate">
            <a:avLst>
              <a:gd name="adj" fmla="val 4983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四、洛仑兹速度变换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left)">
                                      <p:cBhvr>
                                        <p:cTn id="32" dur="500"/>
                                        <p:tgtEl>
                                          <p:spTgt spid="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left)">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9"/>
          <p:cNvSpPr>
            <a:spLocks noChangeArrowheads="1"/>
          </p:cNvSpPr>
          <p:nvPr/>
        </p:nvSpPr>
        <p:spPr bwMode="auto">
          <a:xfrm>
            <a:off x="1423988" y="762000"/>
            <a:ext cx="16525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a:ea typeface="华文中宋" pitchFamily="2" charset="-122"/>
              </a:rPr>
              <a:t>由 </a:t>
            </a:r>
            <a:r>
              <a:rPr kumimoji="0" lang="en-US" altLang="zh-CN" sz="1800">
                <a:ea typeface="华文中宋" pitchFamily="2" charset="-122"/>
              </a:rPr>
              <a:t>S→S</a:t>
            </a:r>
            <a:r>
              <a:rPr kumimoji="0" lang="en-US" altLang="zh-CN" sz="1800" baseline="30000">
                <a:ea typeface="华文中宋" pitchFamily="2" charset="-122"/>
              </a:rPr>
              <a:t>/</a:t>
            </a:r>
            <a:r>
              <a:rPr kumimoji="0" lang="en-US" altLang="zh-CN" sz="1800">
                <a:ea typeface="华文中宋" pitchFamily="2" charset="-122"/>
              </a:rPr>
              <a:t> </a:t>
            </a:r>
            <a:r>
              <a:rPr kumimoji="0" lang="zh-CN" altLang="en-US" sz="1800">
                <a:ea typeface="华文中宋" pitchFamily="2" charset="-122"/>
              </a:rPr>
              <a:t>系</a:t>
            </a:r>
          </a:p>
        </p:txBody>
      </p:sp>
      <p:sp>
        <p:nvSpPr>
          <p:cNvPr id="23" name="Rectangle 10"/>
          <p:cNvSpPr>
            <a:spLocks noChangeArrowheads="1"/>
          </p:cNvSpPr>
          <p:nvPr/>
        </p:nvSpPr>
        <p:spPr bwMode="auto">
          <a:xfrm>
            <a:off x="5943600" y="762000"/>
            <a:ext cx="16525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a:ea typeface="华文中宋" pitchFamily="2" charset="-122"/>
              </a:rPr>
              <a:t>由 </a:t>
            </a:r>
            <a:r>
              <a:rPr kumimoji="0" lang="en-US" altLang="zh-CN" sz="1800">
                <a:ea typeface="华文中宋" pitchFamily="2" charset="-122"/>
              </a:rPr>
              <a:t>S</a:t>
            </a:r>
            <a:r>
              <a:rPr kumimoji="0" lang="en-US" altLang="zh-CN" sz="1800" baseline="30000">
                <a:ea typeface="华文中宋" pitchFamily="2" charset="-122"/>
              </a:rPr>
              <a:t>/</a:t>
            </a:r>
            <a:r>
              <a:rPr kumimoji="0" lang="en-US" altLang="zh-CN" sz="1800">
                <a:ea typeface="华文中宋" pitchFamily="2" charset="-122"/>
              </a:rPr>
              <a:t>→S </a:t>
            </a:r>
            <a:r>
              <a:rPr kumimoji="0" lang="zh-CN" altLang="en-US" sz="1800">
                <a:ea typeface="华文中宋" pitchFamily="2" charset="-122"/>
              </a:rPr>
              <a:t>系</a:t>
            </a:r>
          </a:p>
        </p:txBody>
      </p:sp>
      <p:sp>
        <p:nvSpPr>
          <p:cNvPr id="26" name="Text Box 12"/>
          <p:cNvSpPr txBox="1">
            <a:spLocks noChangeArrowheads="1"/>
          </p:cNvSpPr>
          <p:nvPr/>
        </p:nvSpPr>
        <p:spPr bwMode="auto">
          <a:xfrm>
            <a:off x="3419475" y="1436688"/>
            <a:ext cx="22225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eaLnBrk="1" hangingPunct="1"/>
            <a:r>
              <a:rPr kumimoji="0" lang="zh-CN" altLang="en-US" sz="1800">
                <a:solidFill>
                  <a:srgbClr val="FF0000"/>
                </a:solidFill>
                <a:ea typeface="华文中宋" pitchFamily="2" charset="-122"/>
              </a:rPr>
              <a:t>相对性原理</a:t>
            </a:r>
          </a:p>
          <a:p>
            <a:pPr algn="ctr" eaLnBrk="1" hangingPunct="1"/>
            <a:r>
              <a:rPr kumimoji="0" lang="en-US" altLang="zh-CN" sz="1800" i="1">
                <a:solidFill>
                  <a:srgbClr val="FF0000"/>
                </a:solidFill>
                <a:ea typeface="华文中宋" pitchFamily="2" charset="-122"/>
              </a:rPr>
              <a:t>u</a:t>
            </a:r>
            <a:r>
              <a:rPr kumimoji="0" lang="en-US" altLang="zh-CN" sz="1800">
                <a:solidFill>
                  <a:srgbClr val="FF0000"/>
                </a:solidFill>
                <a:ea typeface="华文中宋" pitchFamily="2" charset="-122"/>
              </a:rPr>
              <a:t>→-</a:t>
            </a:r>
            <a:r>
              <a:rPr kumimoji="0" lang="en-US" altLang="zh-CN" sz="1800" i="1">
                <a:solidFill>
                  <a:srgbClr val="FF0000"/>
                </a:solidFill>
                <a:ea typeface="华文中宋" pitchFamily="2" charset="-122"/>
              </a:rPr>
              <a:t>u</a:t>
            </a:r>
          </a:p>
        </p:txBody>
      </p:sp>
      <p:sp>
        <p:nvSpPr>
          <p:cNvPr id="28" name="Text Box 6"/>
          <p:cNvSpPr txBox="1">
            <a:spLocks noChangeArrowheads="1"/>
          </p:cNvSpPr>
          <p:nvPr/>
        </p:nvSpPr>
        <p:spPr bwMode="auto">
          <a:xfrm>
            <a:off x="454025" y="3354388"/>
            <a:ext cx="41671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solidFill>
                  <a:srgbClr val="0000FF"/>
                </a:solidFill>
                <a:ea typeface="华文中宋" pitchFamily="2" charset="-122"/>
              </a:rPr>
              <a:t>极限与伽利略速度变换式一致</a:t>
            </a:r>
          </a:p>
        </p:txBody>
      </p:sp>
      <p:sp>
        <p:nvSpPr>
          <p:cNvPr id="29" name="Text Box 6"/>
          <p:cNvSpPr txBox="1">
            <a:spLocks noChangeArrowheads="1"/>
          </p:cNvSpPr>
          <p:nvPr/>
        </p:nvSpPr>
        <p:spPr bwMode="auto">
          <a:xfrm>
            <a:off x="889000" y="3756025"/>
            <a:ext cx="2895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ea typeface="华文中宋" pitchFamily="2" charset="-122"/>
              </a:rPr>
              <a:t>当</a:t>
            </a:r>
            <a:r>
              <a:rPr kumimoji="0" lang="en-US" altLang="zh-CN" sz="1800" i="1">
                <a:ea typeface="华文中宋" pitchFamily="2" charset="-122"/>
              </a:rPr>
              <a:t>u</a:t>
            </a:r>
            <a:r>
              <a:rPr kumimoji="0" lang="en-US" altLang="zh-CN" sz="1800">
                <a:ea typeface="华文中宋" pitchFamily="2" charset="-122"/>
              </a:rPr>
              <a:t>&lt;&lt;c</a:t>
            </a:r>
            <a:r>
              <a:rPr kumimoji="0" lang="zh-CN" altLang="en-US" sz="1800">
                <a:ea typeface="华文中宋" pitchFamily="2" charset="-122"/>
              </a:rPr>
              <a:t>和 </a:t>
            </a:r>
            <a:r>
              <a:rPr kumimoji="0" lang="zh-CN" altLang="en-US" sz="1800" i="1">
                <a:ea typeface="华文中宋" pitchFamily="2" charset="-122"/>
                <a:sym typeface="Symbol" pitchFamily="18" charset="2"/>
              </a:rPr>
              <a:t></a:t>
            </a:r>
            <a:r>
              <a:rPr kumimoji="0" lang="en-US" altLang="zh-CN" sz="1800" i="1" baseline="-25000">
                <a:ea typeface="华文中宋" pitchFamily="2" charset="-122"/>
              </a:rPr>
              <a:t>x</a:t>
            </a:r>
            <a:r>
              <a:rPr kumimoji="0" lang="en-US" altLang="zh-CN" sz="1800">
                <a:ea typeface="华文中宋" pitchFamily="2" charset="-122"/>
              </a:rPr>
              <a:t>&lt;&lt;</a:t>
            </a:r>
            <a:r>
              <a:rPr kumimoji="0" lang="en-US" altLang="zh-CN" sz="1800" i="1">
                <a:ea typeface="华文中宋" pitchFamily="2" charset="-122"/>
              </a:rPr>
              <a:t>c</a:t>
            </a:r>
            <a:r>
              <a:rPr kumimoji="0" lang="zh-CN" altLang="en-US" sz="1800">
                <a:ea typeface="华文中宋" pitchFamily="2" charset="-122"/>
              </a:rPr>
              <a:t>时，</a:t>
            </a:r>
          </a:p>
        </p:txBody>
      </p:sp>
      <p:sp>
        <p:nvSpPr>
          <p:cNvPr id="34" name="Text Box 6"/>
          <p:cNvSpPr txBox="1">
            <a:spLocks noChangeArrowheads="1"/>
          </p:cNvSpPr>
          <p:nvPr/>
        </p:nvSpPr>
        <p:spPr bwMode="auto">
          <a:xfrm>
            <a:off x="2987675" y="3757613"/>
            <a:ext cx="7413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latin typeface="Symbol" pitchFamily="18" charset="2"/>
                <a:ea typeface="宋体" pitchFamily="2" charset="-122"/>
                <a:sym typeface="Symbol" pitchFamily="18" charset="2"/>
              </a:rPr>
              <a:t> </a:t>
            </a:r>
            <a:r>
              <a:rPr kumimoji="0" lang="en-US" altLang="zh-CN" sz="1800">
                <a:ea typeface="宋体" pitchFamily="2" charset="-122"/>
              </a:rPr>
              <a:t>→1 </a:t>
            </a:r>
          </a:p>
        </p:txBody>
      </p:sp>
      <p:graphicFrame>
        <p:nvGraphicFramePr>
          <p:cNvPr id="5" name="对象 4"/>
          <p:cNvGraphicFramePr>
            <a:graphicFrameLocks noChangeAspect="1"/>
          </p:cNvGraphicFramePr>
          <p:nvPr/>
        </p:nvGraphicFramePr>
        <p:xfrm>
          <a:off x="3768725" y="3651250"/>
          <a:ext cx="1163638" cy="569913"/>
        </p:xfrm>
        <a:graphic>
          <a:graphicData uri="http://schemas.openxmlformats.org/presentationml/2006/ole">
            <mc:AlternateContent xmlns:mc="http://schemas.openxmlformats.org/markup-compatibility/2006">
              <mc:Choice xmlns:v="urn:schemas-microsoft-com:vml" Requires="v">
                <p:oleObj spid="_x0000_s36883" name="Equation" r:id="rId3" imgW="622030" imgH="406224" progId="Equation.DSMT4">
                  <p:embed/>
                </p:oleObj>
              </mc:Choice>
              <mc:Fallback>
                <p:oleObj name="Equation" r:id="rId3" imgW="622030" imgH="406224"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8725" y="3651250"/>
                        <a:ext cx="1163638"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3" name="Object 13"/>
          <p:cNvGraphicFramePr>
            <a:graphicFrameLocks noChangeAspect="1"/>
          </p:cNvGraphicFramePr>
          <p:nvPr/>
        </p:nvGraphicFramePr>
        <p:xfrm>
          <a:off x="827088" y="842963"/>
          <a:ext cx="2524125" cy="2662237"/>
        </p:xfrm>
        <a:graphic>
          <a:graphicData uri="http://schemas.openxmlformats.org/presentationml/2006/ole">
            <mc:AlternateContent xmlns:mc="http://schemas.openxmlformats.org/markup-compatibility/2006">
              <mc:Choice xmlns:v="urn:schemas-microsoft-com:vml" Requires="v">
                <p:oleObj spid="_x0000_s36884" name="Equation" r:id="rId5" imgW="1282700" imgH="2108200" progId="Equation.DSMT4">
                  <p:embed/>
                </p:oleObj>
              </mc:Choice>
              <mc:Fallback>
                <p:oleObj name="Equation" r:id="rId5" imgW="1282700" imgH="2108200"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842963"/>
                        <a:ext cx="2524125" cy="266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4" name="Object 14"/>
          <p:cNvGraphicFramePr>
            <a:graphicFrameLocks noChangeAspect="1"/>
          </p:cNvGraphicFramePr>
          <p:nvPr/>
        </p:nvGraphicFramePr>
        <p:xfrm>
          <a:off x="5508625" y="890588"/>
          <a:ext cx="2422525" cy="2490787"/>
        </p:xfrm>
        <a:graphic>
          <a:graphicData uri="http://schemas.openxmlformats.org/presentationml/2006/ole">
            <mc:AlternateContent xmlns:mc="http://schemas.openxmlformats.org/markup-compatibility/2006">
              <mc:Choice xmlns:v="urn:schemas-microsoft-com:vml" Requires="v">
                <p:oleObj spid="_x0000_s36885" name="公式" r:id="rId7" imgW="977900" imgH="1625600" progId="Equation.3">
                  <p:embed/>
                </p:oleObj>
              </mc:Choice>
              <mc:Fallback>
                <p:oleObj name="公式" r:id="rId7" imgW="977900" imgH="16256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08625" y="890588"/>
                        <a:ext cx="2422525" cy="249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5" name="Line 15"/>
          <p:cNvSpPr>
            <a:spLocks noChangeShapeType="1"/>
          </p:cNvSpPr>
          <p:nvPr/>
        </p:nvSpPr>
        <p:spPr bwMode="auto">
          <a:xfrm>
            <a:off x="3492500" y="2139950"/>
            <a:ext cx="19431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17"/>
          <p:cNvGrpSpPr>
            <a:grpSpLocks/>
          </p:cNvGrpSpPr>
          <p:nvPr/>
        </p:nvGrpSpPr>
        <p:grpSpPr bwMode="auto">
          <a:xfrm>
            <a:off x="5003800" y="3363913"/>
            <a:ext cx="2214563" cy="1054100"/>
            <a:chOff x="2789" y="3271"/>
            <a:chExt cx="1395" cy="885"/>
          </a:xfrm>
        </p:grpSpPr>
        <p:graphicFrame>
          <p:nvGraphicFramePr>
            <p:cNvPr id="36877" name="对象 5"/>
            <p:cNvGraphicFramePr>
              <a:graphicFrameLocks noChangeAspect="1"/>
            </p:cNvGraphicFramePr>
            <p:nvPr/>
          </p:nvGraphicFramePr>
          <p:xfrm>
            <a:off x="3288" y="3271"/>
            <a:ext cx="896" cy="885"/>
          </p:xfrm>
          <a:graphic>
            <a:graphicData uri="http://schemas.openxmlformats.org/presentationml/2006/ole">
              <mc:AlternateContent xmlns:mc="http://schemas.openxmlformats.org/markup-compatibility/2006">
                <mc:Choice xmlns:v="urn:schemas-microsoft-com:vml" Requires="v">
                  <p:oleObj spid="_x0000_s36886" name="公式" r:id="rId9" imgW="812447" imgH="799753" progId="Equation.3">
                    <p:embed/>
                  </p:oleObj>
                </mc:Choice>
                <mc:Fallback>
                  <p:oleObj name="公式" r:id="rId9" imgW="812447" imgH="799753" progId="Equation.3">
                    <p:embed/>
                    <p:pic>
                      <p:nvPicPr>
                        <p:cNvPr id="0" name="对象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88" y="3271"/>
                          <a:ext cx="896" cy="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8" name="Line 16"/>
            <p:cNvSpPr>
              <a:spLocks noChangeShapeType="1"/>
            </p:cNvSpPr>
            <p:nvPr/>
          </p:nvSpPr>
          <p:spPr bwMode="auto">
            <a:xfrm>
              <a:off x="2789" y="3748"/>
              <a:ext cx="499" cy="0"/>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500"/>
                                        <p:tgtEl>
                                          <p:spTgt spid="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left)">
                                      <p:cBhvr>
                                        <p:cTn id="32" dur="500"/>
                                        <p:tgtEl>
                                          <p:spTgt spid="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3" grpId="0"/>
      <p:bldP spid="26" grpId="0"/>
      <p:bldP spid="28" grpId="0"/>
      <p:bldP spid="29" grpId="0"/>
      <p:bldP spid="3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539750" y="771525"/>
            <a:ext cx="5491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buClr>
                <a:srgbClr val="FF0000"/>
              </a:buClr>
              <a:buSzPct val="120000"/>
              <a:buFont typeface="Wingdings 2" pitchFamily="18" charset="2"/>
              <a:buNone/>
            </a:pPr>
            <a:r>
              <a:rPr lang="en-US" altLang="zh-CN" sz="1800" b="0">
                <a:solidFill>
                  <a:srgbClr val="FF0000"/>
                </a:solidFill>
                <a:ea typeface="华文中宋" pitchFamily="2" charset="-122"/>
              </a:rPr>
              <a:t> </a:t>
            </a:r>
            <a:r>
              <a:rPr lang="zh-CN" altLang="en-US" sz="1800">
                <a:solidFill>
                  <a:srgbClr val="FF0000"/>
                </a:solidFill>
                <a:ea typeface="华文中宋" pitchFamily="2" charset="-122"/>
              </a:rPr>
              <a:t>例：</a:t>
            </a:r>
            <a:r>
              <a:rPr lang="en-US" altLang="zh-CN" sz="1800">
                <a:solidFill>
                  <a:srgbClr val="FF0000"/>
                </a:solidFill>
                <a:ea typeface="华文中宋" pitchFamily="2" charset="-122"/>
              </a:rPr>
              <a:t>L</a:t>
            </a:r>
            <a:r>
              <a:rPr lang="zh-CN" altLang="en-US" sz="1800">
                <a:solidFill>
                  <a:srgbClr val="FF0000"/>
                </a:solidFill>
                <a:ea typeface="华文中宋" pitchFamily="2" charset="-122"/>
              </a:rPr>
              <a:t>速度变换能保证光速不变。</a:t>
            </a:r>
          </a:p>
        </p:txBody>
      </p:sp>
      <p:graphicFrame>
        <p:nvGraphicFramePr>
          <p:cNvPr id="37894" name="Object 6"/>
          <p:cNvGraphicFramePr>
            <a:graphicFrameLocks noChangeAspect="1"/>
          </p:cNvGraphicFramePr>
          <p:nvPr/>
        </p:nvGraphicFramePr>
        <p:xfrm>
          <a:off x="1187450" y="1641475"/>
          <a:ext cx="3538538" cy="909638"/>
        </p:xfrm>
        <a:graphic>
          <a:graphicData uri="http://schemas.openxmlformats.org/presentationml/2006/ole">
            <mc:AlternateContent xmlns:mc="http://schemas.openxmlformats.org/markup-compatibility/2006">
              <mc:Choice xmlns:v="urn:schemas-microsoft-com:vml" Requires="v">
                <p:oleObj spid="_x0000_s37944" name="公式" r:id="rId4" imgW="1294838" imgH="444307" progId="Equation.3">
                  <p:embed/>
                </p:oleObj>
              </mc:Choice>
              <mc:Fallback>
                <p:oleObj name="公式" r:id="rId4" imgW="1294838" imgH="444307"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1641475"/>
                        <a:ext cx="3538538" cy="909638"/>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5" name="Object 7"/>
          <p:cNvGraphicFramePr>
            <a:graphicFrameLocks noChangeAspect="1"/>
          </p:cNvGraphicFramePr>
          <p:nvPr/>
        </p:nvGraphicFramePr>
        <p:xfrm>
          <a:off x="1560513" y="2941638"/>
          <a:ext cx="3011487" cy="381000"/>
        </p:xfrm>
        <a:graphic>
          <a:graphicData uri="http://schemas.openxmlformats.org/presentationml/2006/ole">
            <mc:AlternateContent xmlns:mc="http://schemas.openxmlformats.org/markup-compatibility/2006">
              <mc:Choice xmlns:v="urn:schemas-microsoft-com:vml" Requires="v">
                <p:oleObj spid="_x0000_s37945" name="公式" r:id="rId6" imgW="1129810" imgH="190417" progId="Equation.3">
                  <p:embed/>
                </p:oleObj>
              </mc:Choice>
              <mc:Fallback>
                <p:oleObj name="公式" r:id="rId6" imgW="1129810" imgH="190417"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0513" y="2941638"/>
                        <a:ext cx="3011487" cy="381000"/>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7" name="Text Box 9"/>
          <p:cNvSpPr txBox="1">
            <a:spLocks noChangeArrowheads="1"/>
          </p:cNvSpPr>
          <p:nvPr/>
        </p:nvSpPr>
        <p:spPr bwMode="auto">
          <a:xfrm>
            <a:off x="685800" y="3714750"/>
            <a:ext cx="4675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即在</a:t>
            </a:r>
            <a:r>
              <a:rPr lang="en-US" altLang="zh-CN" sz="1800" i="1">
                <a:ea typeface="华文中宋" pitchFamily="2" charset="-122"/>
              </a:rPr>
              <a:t>S</a:t>
            </a:r>
            <a:r>
              <a:rPr lang="zh-CN" altLang="en-US" sz="1800">
                <a:ea typeface="华文中宋" pitchFamily="2" charset="-122"/>
              </a:rPr>
              <a:t>系测得</a:t>
            </a:r>
            <a:r>
              <a:rPr lang="en-US" altLang="zh-CN" sz="1800" i="1">
                <a:ea typeface="华文中宋" pitchFamily="2" charset="-122"/>
              </a:rPr>
              <a:t>A</a:t>
            </a:r>
            <a:r>
              <a:rPr lang="zh-CN" altLang="en-US" sz="1800">
                <a:ea typeface="华文中宋" pitchFamily="2" charset="-122"/>
              </a:rPr>
              <a:t>光子的速度也是</a:t>
            </a:r>
            <a:r>
              <a:rPr lang="en-US" altLang="zh-CN" sz="1800" i="1">
                <a:ea typeface="华文中宋" pitchFamily="2" charset="-122"/>
              </a:rPr>
              <a:t>c</a:t>
            </a:r>
            <a:r>
              <a:rPr lang="zh-CN" altLang="en-US" sz="1800">
                <a:ea typeface="华文中宋" pitchFamily="2" charset="-122"/>
              </a:rPr>
              <a:t>。</a:t>
            </a:r>
          </a:p>
        </p:txBody>
      </p:sp>
      <p:grpSp>
        <p:nvGrpSpPr>
          <p:cNvPr id="2" name="Group 35"/>
          <p:cNvGrpSpPr>
            <a:grpSpLocks/>
          </p:cNvGrpSpPr>
          <p:nvPr/>
        </p:nvGrpSpPr>
        <p:grpSpPr bwMode="auto">
          <a:xfrm>
            <a:off x="6373813" y="1381125"/>
            <a:ext cx="2616200" cy="1135063"/>
            <a:chOff x="3197" y="1295"/>
            <a:chExt cx="1648" cy="953"/>
          </a:xfrm>
        </p:grpSpPr>
        <p:sp>
          <p:nvSpPr>
            <p:cNvPr id="37926" name="Line 36"/>
            <p:cNvSpPr>
              <a:spLocks noChangeShapeType="1"/>
            </p:cNvSpPr>
            <p:nvPr/>
          </p:nvSpPr>
          <p:spPr bwMode="auto">
            <a:xfrm flipV="1">
              <a:off x="3384" y="1366"/>
              <a:ext cx="0" cy="573"/>
            </a:xfrm>
            <a:prstGeom prst="line">
              <a:avLst/>
            </a:prstGeom>
            <a:noFill/>
            <a:ln w="19050">
              <a:solidFill>
                <a:srgbClr val="00B0F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27" name="Line 37"/>
            <p:cNvSpPr>
              <a:spLocks noChangeShapeType="1"/>
            </p:cNvSpPr>
            <p:nvPr/>
          </p:nvSpPr>
          <p:spPr bwMode="auto">
            <a:xfrm flipH="1">
              <a:off x="3197" y="1927"/>
              <a:ext cx="194" cy="265"/>
            </a:xfrm>
            <a:prstGeom prst="line">
              <a:avLst/>
            </a:prstGeom>
            <a:noFill/>
            <a:ln w="19050">
              <a:solidFill>
                <a:srgbClr val="00B0F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28" name="Line 39"/>
            <p:cNvSpPr>
              <a:spLocks noChangeShapeType="1"/>
            </p:cNvSpPr>
            <p:nvPr/>
          </p:nvSpPr>
          <p:spPr bwMode="auto">
            <a:xfrm>
              <a:off x="3963" y="1527"/>
              <a:ext cx="336"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9" name="Line 40"/>
            <p:cNvSpPr>
              <a:spLocks noChangeShapeType="1"/>
            </p:cNvSpPr>
            <p:nvPr/>
          </p:nvSpPr>
          <p:spPr bwMode="auto">
            <a:xfrm>
              <a:off x="3957" y="1933"/>
              <a:ext cx="874" cy="0"/>
            </a:xfrm>
            <a:prstGeom prst="line">
              <a:avLst/>
            </a:prstGeom>
            <a:noFill/>
            <a:ln w="19050">
              <a:solidFill>
                <a:schemeClr val="accent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30" name="Line 41"/>
            <p:cNvSpPr>
              <a:spLocks noChangeShapeType="1"/>
            </p:cNvSpPr>
            <p:nvPr/>
          </p:nvSpPr>
          <p:spPr bwMode="auto">
            <a:xfrm flipV="1">
              <a:off x="3957" y="1295"/>
              <a:ext cx="0" cy="632"/>
            </a:xfrm>
            <a:prstGeom prst="line">
              <a:avLst/>
            </a:prstGeom>
            <a:noFill/>
            <a:ln w="19050">
              <a:solidFill>
                <a:schemeClr val="accent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31" name="Line 42"/>
            <p:cNvSpPr>
              <a:spLocks noChangeShapeType="1"/>
            </p:cNvSpPr>
            <p:nvPr/>
          </p:nvSpPr>
          <p:spPr bwMode="auto">
            <a:xfrm flipH="1">
              <a:off x="3732" y="1933"/>
              <a:ext cx="230" cy="315"/>
            </a:xfrm>
            <a:prstGeom prst="line">
              <a:avLst/>
            </a:prstGeom>
            <a:noFill/>
            <a:ln w="19050">
              <a:solidFill>
                <a:schemeClr val="accent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32" name="Text Box 43"/>
            <p:cNvSpPr txBox="1">
              <a:spLocks noChangeArrowheads="1"/>
            </p:cNvSpPr>
            <p:nvPr/>
          </p:nvSpPr>
          <p:spPr bwMode="auto">
            <a:xfrm>
              <a:off x="3714" y="1326"/>
              <a:ext cx="2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r>
                <a:rPr kumimoji="0" lang="en-US" altLang="zh-CN" sz="1800" i="1" baseline="30000">
                  <a:ea typeface="宋体" pitchFamily="2" charset="-122"/>
                </a:rPr>
                <a:t>/</a:t>
              </a:r>
              <a:endParaRPr kumimoji="0" lang="en-US" altLang="zh-CN" sz="1800" i="1">
                <a:ea typeface="宋体" pitchFamily="2" charset="-122"/>
              </a:endParaRPr>
            </a:p>
          </p:txBody>
        </p:sp>
        <p:sp>
          <p:nvSpPr>
            <p:cNvPr id="37933" name="Text Box 44"/>
            <p:cNvSpPr txBox="1">
              <a:spLocks noChangeArrowheads="1"/>
            </p:cNvSpPr>
            <p:nvPr/>
          </p:nvSpPr>
          <p:spPr bwMode="auto">
            <a:xfrm>
              <a:off x="3220" y="1318"/>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p>
          </p:txBody>
        </p:sp>
        <p:sp>
          <p:nvSpPr>
            <p:cNvPr id="37934" name="Text Box 45"/>
            <p:cNvSpPr txBox="1">
              <a:spLocks noChangeArrowheads="1"/>
            </p:cNvSpPr>
            <p:nvPr/>
          </p:nvSpPr>
          <p:spPr bwMode="auto">
            <a:xfrm>
              <a:off x="3202" y="1791"/>
              <a:ext cx="2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p>
          </p:txBody>
        </p:sp>
        <p:sp>
          <p:nvSpPr>
            <p:cNvPr id="37935" name="Text Box 46"/>
            <p:cNvSpPr txBox="1">
              <a:spLocks noChangeArrowheads="1"/>
            </p:cNvSpPr>
            <p:nvPr/>
          </p:nvSpPr>
          <p:spPr bwMode="auto">
            <a:xfrm>
              <a:off x="3675" y="1909"/>
              <a:ext cx="2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r>
                <a:rPr kumimoji="0" lang="en-US" altLang="zh-CN" sz="1800" i="1" baseline="30000">
                  <a:ea typeface="宋体" pitchFamily="2" charset="-122"/>
                </a:rPr>
                <a:t>/</a:t>
              </a:r>
              <a:endParaRPr kumimoji="0" lang="en-US" altLang="zh-CN" sz="1800" i="1">
                <a:ea typeface="宋体" pitchFamily="2" charset="-122"/>
              </a:endParaRPr>
            </a:p>
          </p:txBody>
        </p:sp>
        <p:sp>
          <p:nvSpPr>
            <p:cNvPr id="37936" name="Text Box 47"/>
            <p:cNvSpPr txBox="1">
              <a:spLocks noChangeArrowheads="1"/>
            </p:cNvSpPr>
            <p:nvPr/>
          </p:nvSpPr>
          <p:spPr bwMode="auto">
            <a:xfrm>
              <a:off x="4629" y="1886"/>
              <a:ext cx="21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r>
                <a:rPr kumimoji="0" lang="en-US" altLang="zh-CN" sz="1800" i="1" baseline="30000">
                  <a:ea typeface="宋体" pitchFamily="2" charset="-122"/>
                </a:rPr>
                <a:t>/</a:t>
              </a:r>
              <a:endParaRPr kumimoji="0" lang="en-US" altLang="zh-CN" sz="1800" i="1">
                <a:ea typeface="宋体" pitchFamily="2" charset="-122"/>
              </a:endParaRPr>
            </a:p>
          </p:txBody>
        </p:sp>
        <p:sp>
          <p:nvSpPr>
            <p:cNvPr id="37937" name="Text Box 48"/>
            <p:cNvSpPr txBox="1">
              <a:spLocks noChangeArrowheads="1"/>
            </p:cNvSpPr>
            <p:nvPr/>
          </p:nvSpPr>
          <p:spPr bwMode="auto">
            <a:xfrm>
              <a:off x="4012" y="1874"/>
              <a:ext cx="18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p>
          </p:txBody>
        </p:sp>
        <p:sp>
          <p:nvSpPr>
            <p:cNvPr id="37938" name="Line 49"/>
            <p:cNvSpPr>
              <a:spLocks noChangeShapeType="1"/>
            </p:cNvSpPr>
            <p:nvPr/>
          </p:nvSpPr>
          <p:spPr bwMode="auto">
            <a:xfrm flipV="1">
              <a:off x="3380" y="1931"/>
              <a:ext cx="1024" cy="2"/>
            </a:xfrm>
            <a:prstGeom prst="line">
              <a:avLst/>
            </a:prstGeom>
            <a:noFill/>
            <a:ln w="19050">
              <a:solidFill>
                <a:srgbClr val="00B0F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39" name="Text Box 43"/>
            <p:cNvSpPr txBox="1">
              <a:spLocks noChangeArrowheads="1"/>
            </p:cNvSpPr>
            <p:nvPr/>
          </p:nvSpPr>
          <p:spPr bwMode="auto">
            <a:xfrm>
              <a:off x="3989" y="1348"/>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a:t>
              </a:r>
            </a:p>
          </p:txBody>
        </p:sp>
      </p:grpSp>
      <p:grpSp>
        <p:nvGrpSpPr>
          <p:cNvPr id="3" name="Group 50"/>
          <p:cNvGrpSpPr>
            <a:grpSpLocks/>
          </p:cNvGrpSpPr>
          <p:nvPr/>
        </p:nvGrpSpPr>
        <p:grpSpPr bwMode="auto">
          <a:xfrm>
            <a:off x="7953375" y="1520825"/>
            <a:ext cx="796925" cy="681038"/>
            <a:chOff x="4166" y="1533"/>
            <a:chExt cx="502" cy="572"/>
          </a:xfrm>
        </p:grpSpPr>
        <p:grpSp>
          <p:nvGrpSpPr>
            <p:cNvPr id="37921" name="Group 51"/>
            <p:cNvGrpSpPr>
              <a:grpSpLocks/>
            </p:cNvGrpSpPr>
            <p:nvPr/>
          </p:nvGrpSpPr>
          <p:grpSpPr bwMode="auto">
            <a:xfrm>
              <a:off x="4166" y="1734"/>
              <a:ext cx="213" cy="371"/>
              <a:chOff x="3062" y="1254"/>
              <a:chExt cx="213" cy="371"/>
            </a:xfrm>
          </p:grpSpPr>
          <p:sp>
            <p:nvSpPr>
              <p:cNvPr id="37924" name="Oval 52"/>
              <p:cNvSpPr>
                <a:spLocks noChangeArrowheads="1"/>
              </p:cNvSpPr>
              <p:nvPr/>
            </p:nvSpPr>
            <p:spPr bwMode="auto">
              <a:xfrm>
                <a:off x="3194" y="1254"/>
                <a:ext cx="69" cy="69"/>
              </a:xfrm>
              <a:prstGeom prst="ellipse">
                <a:avLst/>
              </a:prstGeom>
              <a:solidFill>
                <a:srgbClr val="FFFF00"/>
              </a:solidFill>
              <a:ln w="9525">
                <a:solidFill>
                  <a:schemeClr val="tx1"/>
                </a:solidFill>
                <a:round/>
                <a:headEnd/>
                <a:tailEnd/>
              </a:ln>
            </p:spPr>
            <p:txBody>
              <a:bodyPr wrap="none" anchor="ctr"/>
              <a:lstStyle/>
              <a:p>
                <a:endParaRPr kumimoji="0" lang="zh-CN" altLang="zh-CN">
                  <a:ea typeface="宋体" pitchFamily="2" charset="-122"/>
                </a:endParaRPr>
              </a:p>
            </p:txBody>
          </p:sp>
          <p:sp>
            <p:nvSpPr>
              <p:cNvPr id="37925" name="Text Box 53"/>
              <p:cNvSpPr txBox="1">
                <a:spLocks noChangeArrowheads="1"/>
              </p:cNvSpPr>
              <p:nvPr/>
            </p:nvSpPr>
            <p:spPr bwMode="auto">
              <a:xfrm>
                <a:off x="3062" y="1315"/>
                <a:ext cx="21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宋体" pitchFamily="2" charset="-122"/>
                  </a:rPr>
                  <a:t>A</a:t>
                </a:r>
              </a:p>
            </p:txBody>
          </p:sp>
        </p:grpSp>
        <p:sp>
          <p:nvSpPr>
            <p:cNvPr id="37922" name="Line 54"/>
            <p:cNvSpPr>
              <a:spLocks noChangeShapeType="1"/>
            </p:cNvSpPr>
            <p:nvPr/>
          </p:nvSpPr>
          <p:spPr bwMode="auto">
            <a:xfrm>
              <a:off x="4368" y="1767"/>
              <a:ext cx="300" cy="0"/>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23" name="Text Box 55"/>
            <p:cNvSpPr txBox="1">
              <a:spLocks noChangeArrowheads="1"/>
            </p:cNvSpPr>
            <p:nvPr/>
          </p:nvSpPr>
          <p:spPr bwMode="auto">
            <a:xfrm>
              <a:off x="4387" y="1533"/>
              <a:ext cx="20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2400" i="1">
                  <a:ea typeface="宋体" pitchFamily="2" charset="-122"/>
                </a:rPr>
                <a:t>c</a:t>
              </a:r>
            </a:p>
          </p:txBody>
        </p:sp>
      </p:grpSp>
      <p:grpSp>
        <p:nvGrpSpPr>
          <p:cNvPr id="5" name="Group 38"/>
          <p:cNvGrpSpPr>
            <a:grpSpLocks/>
          </p:cNvGrpSpPr>
          <p:nvPr/>
        </p:nvGrpSpPr>
        <p:grpSpPr bwMode="auto">
          <a:xfrm>
            <a:off x="165100" y="1131888"/>
            <a:ext cx="7358063" cy="392112"/>
            <a:chOff x="104" y="516"/>
            <a:chExt cx="4635" cy="329"/>
          </a:xfrm>
        </p:grpSpPr>
        <p:sp>
          <p:nvSpPr>
            <p:cNvPr id="37918" name="Text Box 4"/>
            <p:cNvSpPr txBox="1">
              <a:spLocks noChangeArrowheads="1"/>
            </p:cNvSpPr>
            <p:nvPr/>
          </p:nvSpPr>
          <p:spPr bwMode="auto">
            <a:xfrm>
              <a:off x="104" y="525"/>
              <a:ext cx="463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buClr>
                  <a:srgbClr val="FF0000"/>
                </a:buClr>
                <a:buFont typeface="Wingdings 2" pitchFamily="18" charset="2"/>
                <a:buNone/>
              </a:pPr>
              <a:r>
                <a:rPr lang="zh-CN" altLang="en-US" sz="1800">
                  <a:ea typeface="华文中宋" pitchFamily="2" charset="-122"/>
                </a:rPr>
                <a:t>（</a:t>
              </a:r>
              <a:r>
                <a:rPr lang="en-US" altLang="zh-CN" sz="1800">
                  <a:ea typeface="华文中宋" pitchFamily="2" charset="-122"/>
                </a:rPr>
                <a:t>1</a:t>
              </a:r>
              <a:r>
                <a:rPr lang="zh-CN" altLang="en-US" sz="1800">
                  <a:ea typeface="华文中宋" pitchFamily="2" charset="-122"/>
                </a:rPr>
                <a:t>）设 </a:t>
              </a:r>
              <a:r>
                <a:rPr lang="zh-CN" altLang="en-US" sz="1800" i="1">
                  <a:ea typeface="华文中宋" pitchFamily="2" charset="-122"/>
                </a:rPr>
                <a:t>   </a:t>
              </a:r>
              <a:r>
                <a:rPr lang="zh-CN" altLang="en-US" sz="1800">
                  <a:ea typeface="华文中宋" pitchFamily="2" charset="-122"/>
                </a:rPr>
                <a:t>系的</a:t>
              </a:r>
              <a:r>
                <a:rPr lang="en-US" altLang="zh-CN" sz="1800" i="1">
                  <a:ea typeface="华文中宋" pitchFamily="2" charset="-122"/>
                </a:rPr>
                <a:t>A</a:t>
              </a:r>
              <a:r>
                <a:rPr lang="zh-CN" altLang="en-US" sz="1800">
                  <a:ea typeface="华文中宋" pitchFamily="2" charset="-122"/>
                </a:rPr>
                <a:t>质点就是光子，且其沿</a:t>
              </a:r>
              <a:r>
                <a:rPr lang="en-US" altLang="zh-CN" sz="1800" i="1">
                  <a:ea typeface="华文中宋" pitchFamily="2" charset="-122"/>
                </a:rPr>
                <a:t>x</a:t>
              </a:r>
              <a:r>
                <a:rPr lang="zh-CN" altLang="en-US" sz="1800">
                  <a:ea typeface="华文中宋" pitchFamily="2" charset="-122"/>
                </a:rPr>
                <a:t>轴运动，即  </a:t>
              </a:r>
            </a:p>
          </p:txBody>
        </p:sp>
        <p:graphicFrame>
          <p:nvGraphicFramePr>
            <p:cNvPr id="37919" name="Object 5"/>
            <p:cNvGraphicFramePr>
              <a:graphicFrameLocks noChangeAspect="1"/>
            </p:cNvGraphicFramePr>
            <p:nvPr/>
          </p:nvGraphicFramePr>
          <p:xfrm>
            <a:off x="3425" y="516"/>
            <a:ext cx="589" cy="329"/>
          </p:xfrm>
          <a:graphic>
            <a:graphicData uri="http://schemas.openxmlformats.org/presentationml/2006/ole">
              <mc:AlternateContent xmlns:mc="http://schemas.openxmlformats.org/markup-compatibility/2006">
                <mc:Choice xmlns:v="urn:schemas-microsoft-com:vml" Requires="v">
                  <p:oleObj spid="_x0000_s37946" name="公式" r:id="rId8" imgW="317087" imgH="177569" progId="Equation.3">
                    <p:embed/>
                  </p:oleObj>
                </mc:Choice>
                <mc:Fallback>
                  <p:oleObj name="公式" r:id="rId8" imgW="317087" imgH="177569"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5" y="516"/>
                          <a:ext cx="589" cy="329"/>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920" name="Object 37"/>
            <p:cNvGraphicFramePr>
              <a:graphicFrameLocks noChangeAspect="1"/>
            </p:cNvGraphicFramePr>
            <p:nvPr/>
          </p:nvGraphicFramePr>
          <p:xfrm>
            <a:off x="649" y="564"/>
            <a:ext cx="235" cy="235"/>
          </p:xfrm>
          <a:graphic>
            <a:graphicData uri="http://schemas.openxmlformats.org/presentationml/2006/ole">
              <mc:AlternateContent xmlns:mc="http://schemas.openxmlformats.org/markup-compatibility/2006">
                <mc:Choice xmlns:v="urn:schemas-microsoft-com:vml" Requires="v">
                  <p:oleObj spid="_x0000_s37947" name="公式" r:id="rId10" imgW="139700" imgH="139700" progId="Equation.3">
                    <p:embed/>
                  </p:oleObj>
                </mc:Choice>
                <mc:Fallback>
                  <p:oleObj name="公式" r:id="rId10" imgW="139700" imgH="139700" progId="Equation.3">
                    <p:embed/>
                    <p:pic>
                      <p:nvPicPr>
                        <p:cNvPr id="0" name="Object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49" y="564"/>
                          <a:ext cx="235" cy="23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 name="Group 35"/>
          <p:cNvGrpSpPr>
            <a:grpSpLocks/>
          </p:cNvGrpSpPr>
          <p:nvPr/>
        </p:nvGrpSpPr>
        <p:grpSpPr bwMode="auto">
          <a:xfrm>
            <a:off x="6300788" y="2732088"/>
            <a:ext cx="2616200" cy="1135062"/>
            <a:chOff x="3197" y="1295"/>
            <a:chExt cx="1648" cy="953"/>
          </a:xfrm>
        </p:grpSpPr>
        <p:sp>
          <p:nvSpPr>
            <p:cNvPr id="37904" name="Line 36"/>
            <p:cNvSpPr>
              <a:spLocks noChangeShapeType="1"/>
            </p:cNvSpPr>
            <p:nvPr/>
          </p:nvSpPr>
          <p:spPr bwMode="auto">
            <a:xfrm flipV="1">
              <a:off x="3384" y="1366"/>
              <a:ext cx="0" cy="573"/>
            </a:xfrm>
            <a:prstGeom prst="line">
              <a:avLst/>
            </a:prstGeom>
            <a:noFill/>
            <a:ln w="19050">
              <a:solidFill>
                <a:srgbClr val="00B0F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5" name="Line 37"/>
            <p:cNvSpPr>
              <a:spLocks noChangeShapeType="1"/>
            </p:cNvSpPr>
            <p:nvPr/>
          </p:nvSpPr>
          <p:spPr bwMode="auto">
            <a:xfrm flipH="1">
              <a:off x="3197" y="1927"/>
              <a:ext cx="194" cy="265"/>
            </a:xfrm>
            <a:prstGeom prst="line">
              <a:avLst/>
            </a:prstGeom>
            <a:noFill/>
            <a:ln w="19050">
              <a:solidFill>
                <a:srgbClr val="00B0F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6" name="Line 39"/>
            <p:cNvSpPr>
              <a:spLocks noChangeShapeType="1"/>
            </p:cNvSpPr>
            <p:nvPr/>
          </p:nvSpPr>
          <p:spPr bwMode="auto">
            <a:xfrm>
              <a:off x="3963" y="1527"/>
              <a:ext cx="336"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7" name="Line 40"/>
            <p:cNvSpPr>
              <a:spLocks noChangeShapeType="1"/>
            </p:cNvSpPr>
            <p:nvPr/>
          </p:nvSpPr>
          <p:spPr bwMode="auto">
            <a:xfrm>
              <a:off x="3957" y="1933"/>
              <a:ext cx="874" cy="0"/>
            </a:xfrm>
            <a:prstGeom prst="line">
              <a:avLst/>
            </a:prstGeom>
            <a:noFill/>
            <a:ln w="19050">
              <a:solidFill>
                <a:schemeClr val="accent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8" name="Line 41"/>
            <p:cNvSpPr>
              <a:spLocks noChangeShapeType="1"/>
            </p:cNvSpPr>
            <p:nvPr/>
          </p:nvSpPr>
          <p:spPr bwMode="auto">
            <a:xfrm flipV="1">
              <a:off x="3957" y="1295"/>
              <a:ext cx="0" cy="632"/>
            </a:xfrm>
            <a:prstGeom prst="line">
              <a:avLst/>
            </a:prstGeom>
            <a:noFill/>
            <a:ln w="19050">
              <a:solidFill>
                <a:schemeClr val="accent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09" name="Line 42"/>
            <p:cNvSpPr>
              <a:spLocks noChangeShapeType="1"/>
            </p:cNvSpPr>
            <p:nvPr/>
          </p:nvSpPr>
          <p:spPr bwMode="auto">
            <a:xfrm flipH="1">
              <a:off x="3732" y="1933"/>
              <a:ext cx="230" cy="315"/>
            </a:xfrm>
            <a:prstGeom prst="line">
              <a:avLst/>
            </a:prstGeom>
            <a:noFill/>
            <a:ln w="19050">
              <a:solidFill>
                <a:schemeClr val="accent2"/>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10" name="Text Box 43"/>
            <p:cNvSpPr txBox="1">
              <a:spLocks noChangeArrowheads="1"/>
            </p:cNvSpPr>
            <p:nvPr/>
          </p:nvSpPr>
          <p:spPr bwMode="auto">
            <a:xfrm>
              <a:off x="3714" y="1326"/>
              <a:ext cx="22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r>
                <a:rPr kumimoji="0" lang="en-US" altLang="zh-CN" sz="1800" i="1" baseline="30000">
                  <a:ea typeface="宋体" pitchFamily="2" charset="-122"/>
                </a:rPr>
                <a:t>/</a:t>
              </a:r>
              <a:endParaRPr kumimoji="0" lang="en-US" altLang="zh-CN" sz="1800" i="1">
                <a:ea typeface="宋体" pitchFamily="2" charset="-122"/>
              </a:endParaRPr>
            </a:p>
          </p:txBody>
        </p:sp>
        <p:sp>
          <p:nvSpPr>
            <p:cNvPr id="37911" name="Text Box 44"/>
            <p:cNvSpPr txBox="1">
              <a:spLocks noChangeArrowheads="1"/>
            </p:cNvSpPr>
            <p:nvPr/>
          </p:nvSpPr>
          <p:spPr bwMode="auto">
            <a:xfrm>
              <a:off x="3220" y="1318"/>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S</a:t>
              </a:r>
            </a:p>
          </p:txBody>
        </p:sp>
        <p:sp>
          <p:nvSpPr>
            <p:cNvPr id="37912" name="Text Box 45"/>
            <p:cNvSpPr txBox="1">
              <a:spLocks noChangeArrowheads="1"/>
            </p:cNvSpPr>
            <p:nvPr/>
          </p:nvSpPr>
          <p:spPr bwMode="auto">
            <a:xfrm>
              <a:off x="3202" y="1791"/>
              <a:ext cx="22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p>
          </p:txBody>
        </p:sp>
        <p:sp>
          <p:nvSpPr>
            <p:cNvPr id="37913" name="Text Box 46"/>
            <p:cNvSpPr txBox="1">
              <a:spLocks noChangeArrowheads="1"/>
            </p:cNvSpPr>
            <p:nvPr/>
          </p:nvSpPr>
          <p:spPr bwMode="auto">
            <a:xfrm>
              <a:off x="3675" y="1909"/>
              <a:ext cx="28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r>
                <a:rPr kumimoji="0" lang="en-US" altLang="zh-CN" sz="1800" i="1" baseline="30000">
                  <a:ea typeface="宋体" pitchFamily="2" charset="-122"/>
                </a:rPr>
                <a:t>/</a:t>
              </a:r>
              <a:endParaRPr kumimoji="0" lang="en-US" altLang="zh-CN" sz="1800" i="1">
                <a:ea typeface="宋体" pitchFamily="2" charset="-122"/>
              </a:endParaRPr>
            </a:p>
          </p:txBody>
        </p:sp>
        <p:sp>
          <p:nvSpPr>
            <p:cNvPr id="37914" name="Text Box 47"/>
            <p:cNvSpPr txBox="1">
              <a:spLocks noChangeArrowheads="1"/>
            </p:cNvSpPr>
            <p:nvPr/>
          </p:nvSpPr>
          <p:spPr bwMode="auto">
            <a:xfrm>
              <a:off x="4629" y="1886"/>
              <a:ext cx="216"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r>
                <a:rPr kumimoji="0" lang="en-US" altLang="zh-CN" sz="1800" i="1" baseline="30000">
                  <a:ea typeface="宋体" pitchFamily="2" charset="-122"/>
                </a:rPr>
                <a:t>/</a:t>
              </a:r>
              <a:endParaRPr kumimoji="0" lang="en-US" altLang="zh-CN" sz="1800" i="1">
                <a:ea typeface="宋体" pitchFamily="2" charset="-122"/>
              </a:endParaRPr>
            </a:p>
          </p:txBody>
        </p:sp>
        <p:sp>
          <p:nvSpPr>
            <p:cNvPr id="37915" name="Text Box 48"/>
            <p:cNvSpPr txBox="1">
              <a:spLocks noChangeArrowheads="1"/>
            </p:cNvSpPr>
            <p:nvPr/>
          </p:nvSpPr>
          <p:spPr bwMode="auto">
            <a:xfrm>
              <a:off x="4012" y="1874"/>
              <a:ext cx="18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p>
          </p:txBody>
        </p:sp>
        <p:sp>
          <p:nvSpPr>
            <p:cNvPr id="37916" name="Line 49"/>
            <p:cNvSpPr>
              <a:spLocks noChangeShapeType="1"/>
            </p:cNvSpPr>
            <p:nvPr/>
          </p:nvSpPr>
          <p:spPr bwMode="auto">
            <a:xfrm flipV="1">
              <a:off x="3380" y="1931"/>
              <a:ext cx="1024" cy="2"/>
            </a:xfrm>
            <a:prstGeom prst="line">
              <a:avLst/>
            </a:prstGeom>
            <a:noFill/>
            <a:ln w="19050">
              <a:solidFill>
                <a:srgbClr val="00B0F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37917" name="Text Box 43"/>
            <p:cNvSpPr txBox="1">
              <a:spLocks noChangeArrowheads="1"/>
            </p:cNvSpPr>
            <p:nvPr/>
          </p:nvSpPr>
          <p:spPr bwMode="auto">
            <a:xfrm>
              <a:off x="3989" y="1348"/>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a:t>
              </a:r>
            </a:p>
          </p:txBody>
        </p:sp>
      </p:grpSp>
      <p:grpSp>
        <p:nvGrpSpPr>
          <p:cNvPr id="7" name="Group 64"/>
          <p:cNvGrpSpPr>
            <a:grpSpLocks/>
          </p:cNvGrpSpPr>
          <p:nvPr/>
        </p:nvGrpSpPr>
        <p:grpSpPr bwMode="auto">
          <a:xfrm>
            <a:off x="7931150" y="2733675"/>
            <a:ext cx="508000" cy="746125"/>
            <a:chOff x="4451" y="2161"/>
            <a:chExt cx="320" cy="627"/>
          </a:xfrm>
        </p:grpSpPr>
        <p:sp>
          <p:nvSpPr>
            <p:cNvPr id="37899" name="Text Box 53"/>
            <p:cNvSpPr txBox="1">
              <a:spLocks noChangeArrowheads="1"/>
            </p:cNvSpPr>
            <p:nvPr/>
          </p:nvSpPr>
          <p:spPr bwMode="auto">
            <a:xfrm>
              <a:off x="4558" y="2478"/>
              <a:ext cx="21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宋体" pitchFamily="2" charset="-122"/>
                </a:rPr>
                <a:t>A</a:t>
              </a:r>
            </a:p>
          </p:txBody>
        </p:sp>
        <p:grpSp>
          <p:nvGrpSpPr>
            <p:cNvPr id="37900" name="Group 63"/>
            <p:cNvGrpSpPr>
              <a:grpSpLocks/>
            </p:cNvGrpSpPr>
            <p:nvPr/>
          </p:nvGrpSpPr>
          <p:grpSpPr bwMode="auto">
            <a:xfrm rot="-5400000">
              <a:off x="4413" y="2199"/>
              <a:ext cx="367" cy="291"/>
              <a:chOff x="4554" y="2275"/>
              <a:chExt cx="367" cy="291"/>
            </a:xfrm>
          </p:grpSpPr>
          <p:sp>
            <p:nvSpPr>
              <p:cNvPr id="37901" name="Oval 52"/>
              <p:cNvSpPr>
                <a:spLocks noChangeArrowheads="1"/>
              </p:cNvSpPr>
              <p:nvPr/>
            </p:nvSpPr>
            <p:spPr bwMode="auto">
              <a:xfrm>
                <a:off x="4554" y="2477"/>
                <a:ext cx="69" cy="69"/>
              </a:xfrm>
              <a:prstGeom prst="ellipse">
                <a:avLst/>
              </a:prstGeom>
              <a:solidFill>
                <a:srgbClr val="FFFF00"/>
              </a:solidFill>
              <a:ln w="9525">
                <a:solidFill>
                  <a:schemeClr val="tx1"/>
                </a:solidFill>
                <a:round/>
                <a:headEnd/>
                <a:tailEnd/>
              </a:ln>
            </p:spPr>
            <p:txBody>
              <a:bodyPr vert="eaVert" wrap="none" anchor="ctr"/>
              <a:lstStyle/>
              <a:p>
                <a:endParaRPr kumimoji="0" lang="zh-CN" altLang="zh-CN">
                  <a:ea typeface="宋体" pitchFamily="2" charset="-122"/>
                </a:endParaRPr>
              </a:p>
            </p:txBody>
          </p:sp>
          <p:sp>
            <p:nvSpPr>
              <p:cNvPr id="37902" name="Line 54"/>
              <p:cNvSpPr>
                <a:spLocks noChangeShapeType="1"/>
              </p:cNvSpPr>
              <p:nvPr/>
            </p:nvSpPr>
            <p:spPr bwMode="auto">
              <a:xfrm>
                <a:off x="4621" y="2510"/>
                <a:ext cx="300" cy="0"/>
              </a:xfrm>
              <a:prstGeom prst="line">
                <a:avLst/>
              </a:prstGeom>
              <a:noFill/>
              <a:ln w="2857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3" name="Text Box 55"/>
              <p:cNvSpPr txBox="1">
                <a:spLocks noChangeArrowheads="1"/>
              </p:cNvSpPr>
              <p:nvPr/>
            </p:nvSpPr>
            <p:spPr bwMode="auto">
              <a:xfrm>
                <a:off x="4606" y="2275"/>
                <a:ext cx="27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2400" i="1">
                    <a:ea typeface="宋体" pitchFamily="2" charset="-122"/>
                  </a:rPr>
                  <a:t>c</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 calcmode="lin" valueType="num">
                                      <p:cBhvr>
                                        <p:cTn id="7" dur="500" fill="hold"/>
                                        <p:tgtEl>
                                          <p:spTgt spid="37890"/>
                                        </p:tgtEl>
                                        <p:attrNameLst>
                                          <p:attrName>ppt_w</p:attrName>
                                        </p:attrNameLst>
                                      </p:cBhvr>
                                      <p:tavLst>
                                        <p:tav tm="0">
                                          <p:val>
                                            <p:fltVal val="0"/>
                                          </p:val>
                                        </p:tav>
                                        <p:tav tm="100000">
                                          <p:val>
                                            <p:strVal val="#ppt_w"/>
                                          </p:val>
                                        </p:tav>
                                      </p:tavLst>
                                    </p:anim>
                                    <p:anim calcmode="lin" valueType="num">
                                      <p:cBhvr>
                                        <p:cTn id="8" dur="500" fill="hold"/>
                                        <p:tgtEl>
                                          <p:spTgt spid="3789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nodeType="clickEffect">
                                  <p:stCondLst>
                                    <p:cond delay="0"/>
                                  </p:stCondLst>
                                  <p:childTnLst>
                                    <p:set>
                                      <p:cBhvr>
                                        <p:cTn id="27" dur="1" fill="hold">
                                          <p:stCondLst>
                                            <p:cond delay="0"/>
                                          </p:stCondLst>
                                        </p:cTn>
                                        <p:tgtEl>
                                          <p:spTgt spid="37894"/>
                                        </p:tgtEl>
                                        <p:attrNameLst>
                                          <p:attrName>style.visibility</p:attrName>
                                        </p:attrNameLst>
                                      </p:cBhvr>
                                      <p:to>
                                        <p:strVal val="visible"/>
                                      </p:to>
                                    </p:set>
                                    <p:anim calcmode="lin" valueType="num">
                                      <p:cBhvr>
                                        <p:cTn id="28" dur="500" fill="hold"/>
                                        <p:tgtEl>
                                          <p:spTgt spid="37894"/>
                                        </p:tgtEl>
                                        <p:attrNameLst>
                                          <p:attrName>ppt_w</p:attrName>
                                        </p:attrNameLst>
                                      </p:cBhvr>
                                      <p:tavLst>
                                        <p:tav tm="0">
                                          <p:val>
                                            <p:fltVal val="0"/>
                                          </p:val>
                                        </p:tav>
                                        <p:tav tm="100000">
                                          <p:val>
                                            <p:strVal val="#ppt_w"/>
                                          </p:val>
                                        </p:tav>
                                      </p:tavLst>
                                    </p:anim>
                                    <p:anim calcmode="lin" valueType="num">
                                      <p:cBhvr>
                                        <p:cTn id="29" dur="500" fill="hold"/>
                                        <p:tgtEl>
                                          <p:spTgt spid="37894"/>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nodeType="clickEffect">
                                  <p:stCondLst>
                                    <p:cond delay="0"/>
                                  </p:stCondLst>
                                  <p:childTnLst>
                                    <p:set>
                                      <p:cBhvr>
                                        <p:cTn id="33" dur="1" fill="hold">
                                          <p:stCondLst>
                                            <p:cond delay="0"/>
                                          </p:stCondLst>
                                        </p:cTn>
                                        <p:tgtEl>
                                          <p:spTgt spid="37895"/>
                                        </p:tgtEl>
                                        <p:attrNameLst>
                                          <p:attrName>style.visibility</p:attrName>
                                        </p:attrNameLst>
                                      </p:cBhvr>
                                      <p:to>
                                        <p:strVal val="visible"/>
                                      </p:to>
                                    </p:set>
                                    <p:anim calcmode="lin" valueType="num">
                                      <p:cBhvr>
                                        <p:cTn id="34" dur="500" fill="hold"/>
                                        <p:tgtEl>
                                          <p:spTgt spid="37895"/>
                                        </p:tgtEl>
                                        <p:attrNameLst>
                                          <p:attrName>ppt_w</p:attrName>
                                        </p:attrNameLst>
                                      </p:cBhvr>
                                      <p:tavLst>
                                        <p:tav tm="0">
                                          <p:val>
                                            <p:fltVal val="0"/>
                                          </p:val>
                                        </p:tav>
                                        <p:tav tm="100000">
                                          <p:val>
                                            <p:strVal val="#ppt_w"/>
                                          </p:val>
                                        </p:tav>
                                      </p:tavLst>
                                    </p:anim>
                                    <p:anim calcmode="lin" valueType="num">
                                      <p:cBhvr>
                                        <p:cTn id="35" dur="500" fill="hold"/>
                                        <p:tgtEl>
                                          <p:spTgt spid="37895"/>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37897"/>
                                        </p:tgtEl>
                                        <p:attrNameLst>
                                          <p:attrName>style.visibility</p:attrName>
                                        </p:attrNameLst>
                                      </p:cBhvr>
                                      <p:to>
                                        <p:strVal val="visible"/>
                                      </p:to>
                                    </p:set>
                                    <p:anim calcmode="lin" valueType="num">
                                      <p:cBhvr>
                                        <p:cTn id="40" dur="500" fill="hold"/>
                                        <p:tgtEl>
                                          <p:spTgt spid="37897"/>
                                        </p:tgtEl>
                                        <p:attrNameLst>
                                          <p:attrName>ppt_w</p:attrName>
                                        </p:attrNameLst>
                                      </p:cBhvr>
                                      <p:tavLst>
                                        <p:tav tm="0">
                                          <p:val>
                                            <p:fltVal val="0"/>
                                          </p:val>
                                        </p:tav>
                                        <p:tav tm="100000">
                                          <p:val>
                                            <p:strVal val="#ppt_w"/>
                                          </p:val>
                                        </p:tav>
                                      </p:tavLst>
                                    </p:anim>
                                    <p:anim calcmode="lin" valueType="num">
                                      <p:cBhvr>
                                        <p:cTn id="41" dur="500" fill="hold"/>
                                        <p:tgtEl>
                                          <p:spTgt spid="37897"/>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500"/>
                                        <p:tgtEl>
                                          <p:spTgt spid="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linds(horizontal)">
                                      <p:cBhvr>
                                        <p:cTn id="5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autoUpdateAnimBg="0"/>
      <p:bldP spid="37897"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5" name="Object 3"/>
          <p:cNvGraphicFramePr>
            <a:graphicFrameLocks noChangeAspect="1"/>
          </p:cNvGraphicFramePr>
          <p:nvPr/>
        </p:nvGraphicFramePr>
        <p:xfrm>
          <a:off x="2195513" y="3078163"/>
          <a:ext cx="4597400" cy="501650"/>
        </p:xfrm>
        <a:graphic>
          <a:graphicData uri="http://schemas.openxmlformats.org/presentationml/2006/ole">
            <mc:AlternateContent xmlns:mc="http://schemas.openxmlformats.org/markup-compatibility/2006">
              <mc:Choice xmlns:v="urn:schemas-microsoft-com:vml" Requires="v">
                <p:oleObj spid="_x0000_s38929" name="公式" r:id="rId4" imgW="1981200" imgH="254000" progId="Equation.3">
                  <p:embed/>
                </p:oleObj>
              </mc:Choice>
              <mc:Fallback>
                <p:oleObj name="公式" r:id="rId4" imgW="1981200" imgH="254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513" y="3078163"/>
                        <a:ext cx="4597400" cy="5016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6" name="Text Box 4"/>
          <p:cNvSpPr txBox="1">
            <a:spLocks noChangeArrowheads="1"/>
          </p:cNvSpPr>
          <p:nvPr/>
        </p:nvSpPr>
        <p:spPr bwMode="auto">
          <a:xfrm>
            <a:off x="323850" y="3570288"/>
            <a:ext cx="7654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但这时光子运动方向不是沿</a:t>
            </a:r>
            <a:r>
              <a:rPr lang="en-US" altLang="zh-CN" sz="1800" i="1">
                <a:ea typeface="华文中宋" pitchFamily="2" charset="-122"/>
              </a:rPr>
              <a:t>y</a:t>
            </a:r>
            <a:r>
              <a:rPr lang="zh-CN" altLang="en-US" sz="1800">
                <a:ea typeface="华文中宋" pitchFamily="2" charset="-122"/>
              </a:rPr>
              <a:t>轴，而是与</a:t>
            </a:r>
            <a:r>
              <a:rPr lang="en-US" altLang="zh-CN" sz="1800" i="1">
                <a:ea typeface="华文中宋" pitchFamily="2" charset="-122"/>
              </a:rPr>
              <a:t>y</a:t>
            </a:r>
            <a:r>
              <a:rPr lang="zh-CN" altLang="en-US" sz="1800">
                <a:ea typeface="华文中宋" pitchFamily="2" charset="-122"/>
              </a:rPr>
              <a:t>轴成</a:t>
            </a:r>
            <a:r>
              <a:rPr lang="en-US" altLang="zh-CN" sz="1800" i="1">
                <a:ea typeface="华文中宋" pitchFamily="2" charset="-122"/>
              </a:rPr>
              <a:t>θ</a:t>
            </a:r>
            <a:r>
              <a:rPr lang="zh-CN" altLang="en-US" sz="1800">
                <a:ea typeface="华文中宋" pitchFamily="2" charset="-122"/>
              </a:rPr>
              <a:t>角，且</a:t>
            </a:r>
          </a:p>
        </p:txBody>
      </p:sp>
      <p:graphicFrame>
        <p:nvGraphicFramePr>
          <p:cNvPr id="38917" name="Object 5"/>
          <p:cNvGraphicFramePr>
            <a:graphicFrameLocks noChangeAspect="1"/>
          </p:cNvGraphicFramePr>
          <p:nvPr/>
        </p:nvGraphicFramePr>
        <p:xfrm>
          <a:off x="2124075" y="3940175"/>
          <a:ext cx="4608513" cy="684213"/>
        </p:xfrm>
        <a:graphic>
          <a:graphicData uri="http://schemas.openxmlformats.org/presentationml/2006/ole">
            <mc:AlternateContent xmlns:mc="http://schemas.openxmlformats.org/markup-compatibility/2006">
              <mc:Choice xmlns:v="urn:schemas-microsoft-com:vml" Requires="v">
                <p:oleObj spid="_x0000_s38930" name="Equation" r:id="rId6" imgW="2070100" imgH="469900" progId="Equation.DSMT4">
                  <p:embed/>
                </p:oleObj>
              </mc:Choice>
              <mc:Fallback>
                <p:oleObj name="Equation" r:id="rId6" imgW="2070100" imgH="4699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4075" y="3940175"/>
                        <a:ext cx="4608513"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0"/>
          <p:cNvGraphicFramePr>
            <a:graphicFrameLocks noChangeAspect="1"/>
          </p:cNvGraphicFramePr>
          <p:nvPr/>
        </p:nvGraphicFramePr>
        <p:xfrm>
          <a:off x="1668463" y="1414463"/>
          <a:ext cx="2708275" cy="436562"/>
        </p:xfrm>
        <a:graphic>
          <a:graphicData uri="http://schemas.openxmlformats.org/presentationml/2006/ole">
            <mc:AlternateContent xmlns:mc="http://schemas.openxmlformats.org/markup-compatibility/2006">
              <mc:Choice xmlns:v="urn:schemas-microsoft-com:vml" Requires="v">
                <p:oleObj spid="_x0000_s38931" name="公式" r:id="rId8" imgW="889000" imgH="190500" progId="Equation.3">
                  <p:embed/>
                </p:oleObj>
              </mc:Choice>
              <mc:Fallback>
                <p:oleObj name="公式" r:id="rId8" imgW="889000" imgH="1905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68463" y="1414463"/>
                        <a:ext cx="2708275" cy="436562"/>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12"/>
          <p:cNvSpPr txBox="1">
            <a:spLocks noChangeArrowheads="1"/>
          </p:cNvSpPr>
          <p:nvPr/>
        </p:nvSpPr>
        <p:spPr bwMode="auto">
          <a:xfrm>
            <a:off x="971550" y="1851025"/>
            <a:ext cx="1584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由</a:t>
            </a:r>
            <a:r>
              <a:rPr lang="en-US" altLang="zh-CN" sz="1800">
                <a:ea typeface="华文中宋" pitchFamily="2" charset="-122"/>
              </a:rPr>
              <a:t>L</a:t>
            </a:r>
            <a:r>
              <a:rPr lang="zh-CN" altLang="en-US" sz="1800">
                <a:ea typeface="华文中宋" pitchFamily="2" charset="-122"/>
              </a:rPr>
              <a:t>变换，得</a:t>
            </a:r>
          </a:p>
        </p:txBody>
      </p:sp>
      <p:graphicFrame>
        <p:nvGraphicFramePr>
          <p:cNvPr id="7" name="Object 13"/>
          <p:cNvGraphicFramePr>
            <a:graphicFrameLocks noChangeAspect="1"/>
          </p:cNvGraphicFramePr>
          <p:nvPr/>
        </p:nvGraphicFramePr>
        <p:xfrm>
          <a:off x="1692275" y="2212975"/>
          <a:ext cx="2316163" cy="865188"/>
        </p:xfrm>
        <a:graphic>
          <a:graphicData uri="http://schemas.openxmlformats.org/presentationml/2006/ole">
            <mc:AlternateContent xmlns:mc="http://schemas.openxmlformats.org/markup-compatibility/2006">
              <mc:Choice xmlns:v="urn:schemas-microsoft-com:vml" Requires="v">
                <p:oleObj spid="_x0000_s38932" name="公式" r:id="rId10" imgW="825142" imgH="444307" progId="Equation.3">
                  <p:embed/>
                </p:oleObj>
              </mc:Choice>
              <mc:Fallback>
                <p:oleObj name="公式" r:id="rId10" imgW="825142" imgH="444307"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2275" y="2212975"/>
                        <a:ext cx="2316163" cy="865188"/>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15"/>
          <p:cNvSpPr txBox="1">
            <a:spLocks noChangeArrowheads="1"/>
          </p:cNvSpPr>
          <p:nvPr/>
        </p:nvSpPr>
        <p:spPr bwMode="auto">
          <a:xfrm>
            <a:off x="179388" y="977900"/>
            <a:ext cx="6480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a:t>
            </a:r>
            <a:r>
              <a:rPr lang="en-US" altLang="zh-CN" sz="1800">
                <a:ea typeface="华文中宋" pitchFamily="2" charset="-122"/>
              </a:rPr>
              <a:t>2</a:t>
            </a:r>
            <a:r>
              <a:rPr lang="zh-CN" altLang="en-US" sz="1800">
                <a:ea typeface="华文中宋" pitchFamily="2" charset="-122"/>
              </a:rPr>
              <a:t>）即使光子沿</a:t>
            </a:r>
            <a:r>
              <a:rPr lang="en-US" altLang="zh-CN" sz="1800" i="1">
                <a:ea typeface="华文中宋" pitchFamily="2" charset="-122"/>
              </a:rPr>
              <a:t>y</a:t>
            </a:r>
            <a:r>
              <a:rPr lang="zh-CN" altLang="en-US" sz="1800">
                <a:ea typeface="华文中宋" pitchFamily="2" charset="-122"/>
              </a:rPr>
              <a:t>轴运动，在</a:t>
            </a:r>
            <a:r>
              <a:rPr lang="en-US" altLang="zh-CN" sz="1800" i="1">
                <a:ea typeface="华文中宋" pitchFamily="2" charset="-122"/>
              </a:rPr>
              <a:t>S</a:t>
            </a:r>
            <a:r>
              <a:rPr lang="zh-CN" altLang="en-US" sz="1800">
                <a:ea typeface="华文中宋" pitchFamily="2" charset="-122"/>
              </a:rPr>
              <a:t>系中其合速度依然为</a:t>
            </a:r>
            <a:r>
              <a:rPr lang="en-US" altLang="zh-CN" sz="1800" i="1">
                <a:ea typeface="华文中宋" pitchFamily="2" charset="-122"/>
              </a:rPr>
              <a:t>c</a:t>
            </a:r>
            <a:r>
              <a:rPr lang="zh-CN" altLang="en-US" sz="1800">
                <a:ea typeface="华文中宋" pitchFamily="2" charset="-122"/>
              </a:rPr>
              <a:t>。</a:t>
            </a:r>
          </a:p>
        </p:txBody>
      </p:sp>
      <p:graphicFrame>
        <p:nvGraphicFramePr>
          <p:cNvPr id="9" name="Object 39"/>
          <p:cNvGraphicFramePr>
            <a:graphicFrameLocks noChangeAspect="1"/>
          </p:cNvGraphicFramePr>
          <p:nvPr/>
        </p:nvGraphicFramePr>
        <p:xfrm>
          <a:off x="4140200" y="2108200"/>
          <a:ext cx="2525713" cy="914400"/>
        </p:xfrm>
        <a:graphic>
          <a:graphicData uri="http://schemas.openxmlformats.org/presentationml/2006/ole">
            <mc:AlternateContent xmlns:mc="http://schemas.openxmlformats.org/markup-compatibility/2006">
              <mc:Choice xmlns:v="urn:schemas-microsoft-com:vml" Requires="v">
                <p:oleObj spid="_x0000_s38933" name="公式" r:id="rId12" imgW="1358900" imgH="520700" progId="Equation.3">
                  <p:embed/>
                </p:oleObj>
              </mc:Choice>
              <mc:Fallback>
                <p:oleObj name="公式" r:id="rId12" imgW="1358900" imgH="520700" progId="Equation.3">
                  <p:embed/>
                  <p:pic>
                    <p:nvPicPr>
                      <p:cNvPr id="0"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0200" y="2108200"/>
                        <a:ext cx="2525713" cy="91440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41"/>
          <p:cNvGraphicFramePr>
            <a:graphicFrameLocks noChangeAspect="1"/>
          </p:cNvGraphicFramePr>
          <p:nvPr/>
        </p:nvGraphicFramePr>
        <p:xfrm>
          <a:off x="6948488" y="2160588"/>
          <a:ext cx="1958975" cy="914400"/>
        </p:xfrm>
        <a:graphic>
          <a:graphicData uri="http://schemas.openxmlformats.org/presentationml/2006/ole">
            <mc:AlternateContent xmlns:mc="http://schemas.openxmlformats.org/markup-compatibility/2006">
              <mc:Choice xmlns:v="urn:schemas-microsoft-com:vml" Requires="v">
                <p:oleObj spid="_x0000_s38934" name="公式" r:id="rId14" imgW="1054100" imgH="520700" progId="Equation.3">
                  <p:embed/>
                </p:oleObj>
              </mc:Choice>
              <mc:Fallback>
                <p:oleObj name="公式" r:id="rId14" imgW="1054100" imgH="520700" progId="Equation.3">
                  <p:embed/>
                  <p:pic>
                    <p:nvPicPr>
                      <p:cNvPr id="0" name="Object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48488" y="2160588"/>
                        <a:ext cx="1958975" cy="91440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8" presetClass="entr" presetSubtype="12"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strips(downLeft)">
                                      <p:cBhvr>
                                        <p:cTn id="31" dur="500"/>
                                        <p:tgtEl>
                                          <p:spTgt spid="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12"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strips(downLeft)">
                                      <p:cBhvr>
                                        <p:cTn id="36" dur="500"/>
                                        <p:tgtEl>
                                          <p:spTgt spid="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12" fill="hold" nodeType="clickEffect">
                                  <p:stCondLst>
                                    <p:cond delay="0"/>
                                  </p:stCondLst>
                                  <p:childTnLst>
                                    <p:set>
                                      <p:cBhvr>
                                        <p:cTn id="40" dur="1" fill="hold">
                                          <p:stCondLst>
                                            <p:cond delay="0"/>
                                          </p:stCondLst>
                                        </p:cTn>
                                        <p:tgtEl>
                                          <p:spTgt spid="38915"/>
                                        </p:tgtEl>
                                        <p:attrNameLst>
                                          <p:attrName>style.visibility</p:attrName>
                                        </p:attrNameLst>
                                      </p:cBhvr>
                                      <p:to>
                                        <p:strVal val="visible"/>
                                      </p:to>
                                    </p:set>
                                    <p:animEffect transition="in" filter="strips(downLeft)">
                                      <p:cBhvr>
                                        <p:cTn id="41" dur="500"/>
                                        <p:tgtEl>
                                          <p:spTgt spid="3891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8" presetClass="entr" presetSubtype="12" fill="hold" grpId="0" nodeType="clickEffect">
                                  <p:stCondLst>
                                    <p:cond delay="0"/>
                                  </p:stCondLst>
                                  <p:childTnLst>
                                    <p:set>
                                      <p:cBhvr>
                                        <p:cTn id="45" dur="1" fill="hold">
                                          <p:stCondLst>
                                            <p:cond delay="0"/>
                                          </p:stCondLst>
                                        </p:cTn>
                                        <p:tgtEl>
                                          <p:spTgt spid="38916"/>
                                        </p:tgtEl>
                                        <p:attrNameLst>
                                          <p:attrName>style.visibility</p:attrName>
                                        </p:attrNameLst>
                                      </p:cBhvr>
                                      <p:to>
                                        <p:strVal val="visible"/>
                                      </p:to>
                                    </p:set>
                                    <p:animEffect transition="in" filter="strips(downLeft)">
                                      <p:cBhvr>
                                        <p:cTn id="46" dur="500"/>
                                        <p:tgtEl>
                                          <p:spTgt spid="3891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12" fill="hold" nodeType="clickEffect">
                                  <p:stCondLst>
                                    <p:cond delay="0"/>
                                  </p:stCondLst>
                                  <p:childTnLst>
                                    <p:set>
                                      <p:cBhvr>
                                        <p:cTn id="50" dur="1" fill="hold">
                                          <p:stCondLst>
                                            <p:cond delay="0"/>
                                          </p:stCondLst>
                                        </p:cTn>
                                        <p:tgtEl>
                                          <p:spTgt spid="38917"/>
                                        </p:tgtEl>
                                        <p:attrNameLst>
                                          <p:attrName>style.visibility</p:attrName>
                                        </p:attrNameLst>
                                      </p:cBhvr>
                                      <p:to>
                                        <p:strVal val="visible"/>
                                      </p:to>
                                    </p:set>
                                    <p:animEffect transition="in" filter="strips(downLeft)">
                                      <p:cBhvr>
                                        <p:cTn id="51" dur="500"/>
                                        <p:tgtEl>
                                          <p:spTgt spid="38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autoUpdateAnimBg="0"/>
      <p:bldP spid="6" grpId="0" autoUpdateAnimBg="0"/>
      <p:bldP spid="8"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ext Box 2"/>
          <p:cNvSpPr txBox="1">
            <a:spLocks noChangeArrowheads="1"/>
          </p:cNvSpPr>
          <p:nvPr/>
        </p:nvSpPr>
        <p:spPr bwMode="auto">
          <a:xfrm>
            <a:off x="288925" y="795338"/>
            <a:ext cx="87788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a:t>
            </a:r>
            <a:r>
              <a:rPr lang="en-US" altLang="zh-CN" sz="1800">
                <a:solidFill>
                  <a:srgbClr val="0000FF"/>
                </a:solidFill>
                <a:ea typeface="华文中宋" pitchFamily="2" charset="-122"/>
              </a:rPr>
              <a:t>1</a:t>
            </a:r>
            <a:r>
              <a:rPr lang="zh-CN" altLang="en-US" sz="1800">
                <a:solidFill>
                  <a:srgbClr val="0000FF"/>
                </a:solidFill>
                <a:ea typeface="华文中宋" pitchFamily="2" charset="-122"/>
              </a:rPr>
              <a:t>）火箭</a:t>
            </a:r>
            <a:r>
              <a:rPr lang="en-US" altLang="zh-CN" sz="1800" i="1">
                <a:solidFill>
                  <a:srgbClr val="0000FF"/>
                </a:solidFill>
                <a:ea typeface="华文中宋" pitchFamily="2" charset="-122"/>
              </a:rPr>
              <a:t>A</a:t>
            </a:r>
            <a:r>
              <a:rPr lang="zh-CN" altLang="en-US" sz="1800">
                <a:solidFill>
                  <a:srgbClr val="0000FF"/>
                </a:solidFill>
                <a:ea typeface="华文中宋" pitchFamily="2" charset="-122"/>
              </a:rPr>
              <a:t>和</a:t>
            </a:r>
            <a:r>
              <a:rPr lang="en-US" altLang="zh-CN" sz="1800" i="1">
                <a:solidFill>
                  <a:srgbClr val="0000FF"/>
                </a:solidFill>
                <a:ea typeface="华文中宋" pitchFamily="2" charset="-122"/>
              </a:rPr>
              <a:t>B</a:t>
            </a:r>
            <a:r>
              <a:rPr lang="zh-CN" altLang="en-US" sz="1800">
                <a:solidFill>
                  <a:srgbClr val="0000FF"/>
                </a:solidFill>
                <a:ea typeface="华文中宋" pitchFamily="2" charset="-122"/>
              </a:rPr>
              <a:t>分别以</a:t>
            </a:r>
            <a:r>
              <a:rPr lang="en-US" altLang="zh-CN" sz="1800">
                <a:solidFill>
                  <a:srgbClr val="0000FF"/>
                </a:solidFill>
                <a:ea typeface="华文中宋" pitchFamily="2" charset="-122"/>
              </a:rPr>
              <a:t>0.8</a:t>
            </a:r>
            <a:r>
              <a:rPr lang="en-US" altLang="zh-CN" sz="1800" i="1">
                <a:solidFill>
                  <a:srgbClr val="0000FF"/>
                </a:solidFill>
                <a:ea typeface="华文中宋" pitchFamily="2" charset="-122"/>
              </a:rPr>
              <a:t>c</a:t>
            </a:r>
            <a:r>
              <a:rPr lang="zh-CN" altLang="en-US" sz="1800">
                <a:solidFill>
                  <a:srgbClr val="0000FF"/>
                </a:solidFill>
                <a:ea typeface="华文中宋" pitchFamily="2" charset="-122"/>
              </a:rPr>
              <a:t>和</a:t>
            </a:r>
            <a:r>
              <a:rPr lang="en-US" altLang="zh-CN" sz="1800">
                <a:solidFill>
                  <a:srgbClr val="0000FF"/>
                </a:solidFill>
                <a:ea typeface="华文中宋" pitchFamily="2" charset="-122"/>
              </a:rPr>
              <a:t>0.6</a:t>
            </a:r>
            <a:r>
              <a:rPr lang="en-US" altLang="zh-CN" sz="1800" i="1">
                <a:solidFill>
                  <a:srgbClr val="0000FF"/>
                </a:solidFill>
                <a:ea typeface="华文中宋" pitchFamily="2" charset="-122"/>
              </a:rPr>
              <a:t>c</a:t>
            </a:r>
            <a:r>
              <a:rPr lang="zh-CN" altLang="en-US" sz="1800">
                <a:solidFill>
                  <a:srgbClr val="0000FF"/>
                </a:solidFill>
                <a:ea typeface="华文中宋" pitchFamily="2" charset="-122"/>
              </a:rPr>
              <a:t>的速度相对于地球向＋</a:t>
            </a:r>
            <a:r>
              <a:rPr lang="en-US" altLang="zh-CN" sz="1800" i="1">
                <a:solidFill>
                  <a:srgbClr val="0000FF"/>
                </a:solidFill>
                <a:ea typeface="华文中宋" pitchFamily="2" charset="-122"/>
              </a:rPr>
              <a:t>X</a:t>
            </a:r>
            <a:r>
              <a:rPr lang="zh-CN" altLang="en-US" sz="1800">
                <a:solidFill>
                  <a:srgbClr val="0000FF"/>
                </a:solidFill>
                <a:ea typeface="华文中宋" pitchFamily="2" charset="-122"/>
              </a:rPr>
              <a:t>方向和－</a:t>
            </a:r>
            <a:r>
              <a:rPr lang="en-US" altLang="zh-CN" sz="1800" i="1">
                <a:solidFill>
                  <a:srgbClr val="0000FF"/>
                </a:solidFill>
                <a:ea typeface="华文中宋" pitchFamily="2" charset="-122"/>
              </a:rPr>
              <a:t>X</a:t>
            </a:r>
            <a:r>
              <a:rPr lang="zh-CN" altLang="en-US" sz="1800">
                <a:solidFill>
                  <a:srgbClr val="0000FF"/>
                </a:solidFill>
                <a:ea typeface="华文中宋" pitchFamily="2" charset="-122"/>
              </a:rPr>
              <a:t>方向飞行。试求由火箭</a:t>
            </a:r>
            <a:r>
              <a:rPr lang="en-US" altLang="zh-CN" sz="1800" i="1">
                <a:solidFill>
                  <a:srgbClr val="0000FF"/>
                </a:solidFill>
                <a:ea typeface="华文中宋" pitchFamily="2" charset="-122"/>
              </a:rPr>
              <a:t>B</a:t>
            </a:r>
            <a:r>
              <a:rPr lang="zh-CN" altLang="en-US" sz="1800">
                <a:solidFill>
                  <a:srgbClr val="0000FF"/>
                </a:solidFill>
                <a:ea typeface="华文中宋" pitchFamily="2" charset="-122"/>
              </a:rPr>
              <a:t>测得</a:t>
            </a:r>
            <a:r>
              <a:rPr lang="en-US" altLang="zh-CN" sz="1800" i="1">
                <a:solidFill>
                  <a:srgbClr val="0000FF"/>
                </a:solidFill>
                <a:ea typeface="华文中宋" pitchFamily="2" charset="-122"/>
              </a:rPr>
              <a:t>A</a:t>
            </a:r>
            <a:r>
              <a:rPr lang="zh-CN" altLang="en-US" sz="1800">
                <a:solidFill>
                  <a:srgbClr val="0000FF"/>
                </a:solidFill>
                <a:ea typeface="华文中宋" pitchFamily="2" charset="-122"/>
              </a:rPr>
              <a:t>的速度。</a:t>
            </a:r>
          </a:p>
          <a:p>
            <a:pPr eaLnBrk="1" hangingPunct="1"/>
            <a:r>
              <a:rPr lang="zh-CN" altLang="en-US" sz="1800">
                <a:solidFill>
                  <a:srgbClr val="0000FF"/>
                </a:solidFill>
                <a:ea typeface="华文中宋" pitchFamily="2" charset="-122"/>
              </a:rPr>
              <a:t>        （</a:t>
            </a:r>
            <a:r>
              <a:rPr lang="en-US" altLang="zh-CN" sz="1800">
                <a:solidFill>
                  <a:srgbClr val="0000FF"/>
                </a:solidFill>
                <a:ea typeface="华文中宋" pitchFamily="2" charset="-122"/>
              </a:rPr>
              <a:t>2</a:t>
            </a:r>
            <a:r>
              <a:rPr lang="zh-CN" altLang="en-US" sz="1800">
                <a:solidFill>
                  <a:srgbClr val="0000FF"/>
                </a:solidFill>
                <a:ea typeface="华文中宋" pitchFamily="2" charset="-122"/>
              </a:rPr>
              <a:t>）若火箭</a:t>
            </a:r>
            <a:r>
              <a:rPr lang="en-US" altLang="zh-CN" sz="1800" i="1">
                <a:solidFill>
                  <a:srgbClr val="0000FF"/>
                </a:solidFill>
                <a:ea typeface="华文中宋" pitchFamily="2" charset="-122"/>
              </a:rPr>
              <a:t>A</a:t>
            </a:r>
            <a:r>
              <a:rPr lang="zh-CN" altLang="en-US" sz="1800">
                <a:solidFill>
                  <a:srgbClr val="0000FF"/>
                </a:solidFill>
                <a:ea typeface="华文中宋" pitchFamily="2" charset="-122"/>
              </a:rPr>
              <a:t>相对于地球以</a:t>
            </a:r>
            <a:r>
              <a:rPr lang="en-US" altLang="zh-CN" sz="1800">
                <a:solidFill>
                  <a:srgbClr val="0000FF"/>
                </a:solidFill>
                <a:ea typeface="华文中宋" pitchFamily="2" charset="-122"/>
              </a:rPr>
              <a:t>0.8</a:t>
            </a:r>
            <a:r>
              <a:rPr lang="en-US" altLang="zh-CN" sz="1800" i="1">
                <a:solidFill>
                  <a:srgbClr val="0000FF"/>
                </a:solidFill>
                <a:ea typeface="华文中宋" pitchFamily="2" charset="-122"/>
              </a:rPr>
              <a:t>c</a:t>
            </a:r>
            <a:r>
              <a:rPr lang="zh-CN" altLang="en-US" sz="1800">
                <a:solidFill>
                  <a:srgbClr val="0000FF"/>
                </a:solidFill>
                <a:ea typeface="华文中宋" pitchFamily="2" charset="-122"/>
              </a:rPr>
              <a:t>的速度向＋</a:t>
            </a:r>
            <a:r>
              <a:rPr lang="en-US" altLang="zh-CN" sz="1800" i="1">
                <a:solidFill>
                  <a:srgbClr val="0000FF"/>
                </a:solidFill>
                <a:ea typeface="华文中宋" pitchFamily="2" charset="-122"/>
              </a:rPr>
              <a:t>Y</a:t>
            </a:r>
            <a:r>
              <a:rPr lang="zh-CN" altLang="en-US" sz="1800">
                <a:solidFill>
                  <a:srgbClr val="0000FF"/>
                </a:solidFill>
                <a:ea typeface="华文中宋" pitchFamily="2" charset="-122"/>
              </a:rPr>
              <a:t>方向飞行，火箭</a:t>
            </a:r>
            <a:r>
              <a:rPr lang="en-US" altLang="zh-CN" sz="1800" i="1">
                <a:solidFill>
                  <a:srgbClr val="0000FF"/>
                </a:solidFill>
                <a:ea typeface="华文中宋" pitchFamily="2" charset="-122"/>
              </a:rPr>
              <a:t>B</a:t>
            </a:r>
            <a:r>
              <a:rPr lang="zh-CN" altLang="en-US" sz="1800">
                <a:solidFill>
                  <a:srgbClr val="0000FF"/>
                </a:solidFill>
                <a:ea typeface="华文中宋" pitchFamily="2" charset="-122"/>
              </a:rPr>
              <a:t>的速度不变，求</a:t>
            </a:r>
            <a:r>
              <a:rPr lang="en-US" altLang="zh-CN" sz="1800" i="1">
                <a:solidFill>
                  <a:srgbClr val="0000FF"/>
                </a:solidFill>
                <a:ea typeface="华文中宋" pitchFamily="2" charset="-122"/>
              </a:rPr>
              <a:t>A</a:t>
            </a:r>
            <a:r>
              <a:rPr lang="zh-CN" altLang="en-US" sz="1800">
                <a:solidFill>
                  <a:srgbClr val="0000FF"/>
                </a:solidFill>
                <a:ea typeface="华文中宋" pitchFamily="2" charset="-122"/>
              </a:rPr>
              <a:t>相对</a:t>
            </a:r>
            <a:r>
              <a:rPr lang="en-US" altLang="zh-CN" sz="1800" i="1">
                <a:solidFill>
                  <a:srgbClr val="0000FF"/>
                </a:solidFill>
                <a:ea typeface="华文中宋" pitchFamily="2" charset="-122"/>
              </a:rPr>
              <a:t>B</a:t>
            </a:r>
            <a:r>
              <a:rPr lang="zh-CN" altLang="en-US" sz="1800">
                <a:solidFill>
                  <a:srgbClr val="0000FF"/>
                </a:solidFill>
                <a:ea typeface="华文中宋" pitchFamily="2" charset="-122"/>
              </a:rPr>
              <a:t>的速度。</a:t>
            </a:r>
          </a:p>
        </p:txBody>
      </p:sp>
      <p:sp>
        <p:nvSpPr>
          <p:cNvPr id="303107" name="Text Box 3"/>
          <p:cNvSpPr txBox="1">
            <a:spLocks noChangeArrowheads="1"/>
          </p:cNvSpPr>
          <p:nvPr/>
        </p:nvSpPr>
        <p:spPr bwMode="auto">
          <a:xfrm>
            <a:off x="228600" y="2074863"/>
            <a:ext cx="491966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solidFill>
                  <a:srgbClr val="FF3300"/>
                </a:solidFill>
                <a:ea typeface="华文中宋" pitchFamily="2" charset="-122"/>
              </a:rPr>
              <a:t>解：</a:t>
            </a:r>
            <a:r>
              <a:rPr lang="zh-CN" altLang="en-US" sz="1500">
                <a:ea typeface="华文中宋" pitchFamily="2" charset="-122"/>
              </a:rPr>
              <a:t>如右图，取地球为</a:t>
            </a:r>
            <a:r>
              <a:rPr lang="en-US" altLang="zh-CN" sz="1500">
                <a:ea typeface="华文中宋" pitchFamily="2" charset="-122"/>
              </a:rPr>
              <a:t>S</a:t>
            </a:r>
            <a:r>
              <a:rPr lang="zh-CN" altLang="en-US" sz="1500">
                <a:ea typeface="华文中宋" pitchFamily="2" charset="-122"/>
              </a:rPr>
              <a:t>系，</a:t>
            </a:r>
            <a:r>
              <a:rPr lang="en-US" altLang="zh-CN" sz="1500">
                <a:ea typeface="华文中宋" pitchFamily="2" charset="-122"/>
              </a:rPr>
              <a:t>B</a:t>
            </a:r>
            <a:r>
              <a:rPr lang="zh-CN" altLang="en-US" sz="1500">
                <a:ea typeface="华文中宋" pitchFamily="2" charset="-122"/>
              </a:rPr>
              <a:t>为</a:t>
            </a:r>
            <a:r>
              <a:rPr lang="en-US" altLang="zh-CN" sz="1500">
                <a:ea typeface="华文中宋" pitchFamily="2" charset="-122"/>
              </a:rPr>
              <a:t>S</a:t>
            </a:r>
            <a:r>
              <a:rPr lang="en-US" altLang="zh-CN" sz="1500" baseline="30000">
                <a:ea typeface="华文中宋" pitchFamily="2" charset="-122"/>
              </a:rPr>
              <a:t>/</a:t>
            </a:r>
            <a:r>
              <a:rPr lang="zh-CN" altLang="en-US" sz="1500">
                <a:ea typeface="华文中宋" pitchFamily="2" charset="-122"/>
              </a:rPr>
              <a:t>系，则</a:t>
            </a:r>
            <a:r>
              <a:rPr lang="en-US" altLang="zh-CN" sz="1500">
                <a:ea typeface="华文中宋" pitchFamily="2" charset="-122"/>
              </a:rPr>
              <a:t>S</a:t>
            </a:r>
            <a:r>
              <a:rPr lang="en-US" altLang="zh-CN" sz="1500" baseline="30000">
                <a:ea typeface="华文中宋" pitchFamily="2" charset="-122"/>
              </a:rPr>
              <a:t>/</a:t>
            </a:r>
            <a:r>
              <a:rPr lang="zh-CN" altLang="en-US" sz="1500">
                <a:ea typeface="华文中宋" pitchFamily="2" charset="-122"/>
              </a:rPr>
              <a:t>系（即火箭</a:t>
            </a:r>
            <a:r>
              <a:rPr lang="en-US" altLang="zh-CN" sz="1500">
                <a:ea typeface="华文中宋" pitchFamily="2" charset="-122"/>
              </a:rPr>
              <a:t>B</a:t>
            </a:r>
            <a:r>
              <a:rPr lang="zh-CN" altLang="en-US" sz="1500">
                <a:ea typeface="华文中宋" pitchFamily="2" charset="-122"/>
              </a:rPr>
              <a:t>）相对于</a:t>
            </a:r>
            <a:r>
              <a:rPr lang="en-US" altLang="zh-CN" sz="1500">
                <a:ea typeface="华文中宋" pitchFamily="2" charset="-122"/>
              </a:rPr>
              <a:t>S</a:t>
            </a:r>
            <a:r>
              <a:rPr lang="zh-CN" altLang="en-US" sz="1500">
                <a:ea typeface="华文中宋" pitchFamily="2" charset="-122"/>
              </a:rPr>
              <a:t>系（即地球）的速度</a:t>
            </a:r>
            <a:r>
              <a:rPr lang="en-US" altLang="zh-CN" sz="1500" i="1">
                <a:ea typeface="华文中宋" pitchFamily="2" charset="-122"/>
              </a:rPr>
              <a:t>u</a:t>
            </a:r>
            <a:r>
              <a:rPr lang="en-US" altLang="zh-CN" sz="1500">
                <a:ea typeface="华文中宋" pitchFamily="2" charset="-122"/>
              </a:rPr>
              <a:t>=-0.6c,</a:t>
            </a:r>
            <a:r>
              <a:rPr lang="zh-CN" altLang="en-US" sz="1500">
                <a:ea typeface="华文中宋" pitchFamily="2" charset="-122"/>
              </a:rPr>
              <a:t>火箭</a:t>
            </a:r>
            <a:r>
              <a:rPr lang="en-US" altLang="zh-CN" sz="1500">
                <a:ea typeface="华文中宋" pitchFamily="2" charset="-122"/>
              </a:rPr>
              <a:t>A</a:t>
            </a:r>
            <a:r>
              <a:rPr lang="zh-CN" altLang="en-US" sz="1500">
                <a:ea typeface="华文中宋" pitchFamily="2" charset="-122"/>
              </a:rPr>
              <a:t>相对</a:t>
            </a:r>
            <a:r>
              <a:rPr lang="en-US" altLang="zh-CN" sz="1500">
                <a:ea typeface="华文中宋" pitchFamily="2" charset="-122"/>
              </a:rPr>
              <a:t>S</a:t>
            </a:r>
            <a:r>
              <a:rPr lang="zh-CN" altLang="en-US" sz="1500">
                <a:ea typeface="华文中宋" pitchFamily="2" charset="-122"/>
              </a:rPr>
              <a:t>系的速度</a:t>
            </a:r>
            <a:r>
              <a:rPr lang="en-US" altLang="zh-CN" sz="1500" i="1">
                <a:ea typeface="华文中宋" pitchFamily="2" charset="-122"/>
              </a:rPr>
              <a:t>v</a:t>
            </a:r>
            <a:r>
              <a:rPr lang="en-US" altLang="zh-CN" sz="1500" i="1" baseline="-25000">
                <a:ea typeface="华文中宋" pitchFamily="2" charset="-122"/>
              </a:rPr>
              <a:t>x</a:t>
            </a:r>
            <a:r>
              <a:rPr lang="en-US" altLang="zh-CN" sz="1500">
                <a:ea typeface="华文中宋" pitchFamily="2" charset="-122"/>
              </a:rPr>
              <a:t>=0.8c,</a:t>
            </a:r>
            <a:r>
              <a:rPr lang="zh-CN" altLang="en-US" sz="1500">
                <a:ea typeface="华文中宋" pitchFamily="2" charset="-122"/>
              </a:rPr>
              <a:t>则</a:t>
            </a:r>
            <a:r>
              <a:rPr lang="en-US" altLang="zh-CN" sz="1500">
                <a:ea typeface="华文中宋" pitchFamily="2" charset="-122"/>
              </a:rPr>
              <a:t>A</a:t>
            </a:r>
            <a:r>
              <a:rPr lang="zh-CN" altLang="en-US" sz="1500">
                <a:ea typeface="华文中宋" pitchFamily="2" charset="-122"/>
              </a:rPr>
              <a:t>相对</a:t>
            </a:r>
            <a:r>
              <a:rPr lang="en-US" altLang="zh-CN" sz="1500">
                <a:ea typeface="华文中宋" pitchFamily="2" charset="-122"/>
              </a:rPr>
              <a:t>S</a:t>
            </a:r>
            <a:r>
              <a:rPr lang="en-US" altLang="zh-CN" sz="1500" baseline="30000">
                <a:ea typeface="华文中宋" pitchFamily="2" charset="-122"/>
              </a:rPr>
              <a:t>/</a:t>
            </a:r>
            <a:r>
              <a:rPr lang="zh-CN" altLang="en-US" sz="1500">
                <a:ea typeface="华文中宋" pitchFamily="2" charset="-122"/>
              </a:rPr>
              <a:t>系（</a:t>
            </a:r>
            <a:r>
              <a:rPr lang="en-US" altLang="zh-CN" sz="1500">
                <a:ea typeface="华文中宋" pitchFamily="2" charset="-122"/>
              </a:rPr>
              <a:t>B</a:t>
            </a:r>
            <a:r>
              <a:rPr lang="zh-CN" altLang="en-US" sz="1500">
                <a:ea typeface="华文中宋" pitchFamily="2" charset="-122"/>
              </a:rPr>
              <a:t>）的速度为</a:t>
            </a:r>
            <a:endParaRPr lang="zh-CN" altLang="en-US" sz="1500" i="1">
              <a:ea typeface="华文中宋" pitchFamily="2" charset="-122"/>
            </a:endParaRPr>
          </a:p>
        </p:txBody>
      </p:sp>
      <p:grpSp>
        <p:nvGrpSpPr>
          <p:cNvPr id="2" name="Group 4"/>
          <p:cNvGrpSpPr>
            <a:grpSpLocks/>
          </p:cNvGrpSpPr>
          <p:nvPr/>
        </p:nvGrpSpPr>
        <p:grpSpPr bwMode="auto">
          <a:xfrm>
            <a:off x="5268913" y="1762125"/>
            <a:ext cx="3840162" cy="1746250"/>
            <a:chOff x="3456" y="1248"/>
            <a:chExt cx="2064" cy="1152"/>
          </a:xfrm>
        </p:grpSpPr>
        <p:grpSp>
          <p:nvGrpSpPr>
            <p:cNvPr id="39950" name="Group 5"/>
            <p:cNvGrpSpPr>
              <a:grpSpLocks/>
            </p:cNvGrpSpPr>
            <p:nvPr/>
          </p:nvGrpSpPr>
          <p:grpSpPr bwMode="auto">
            <a:xfrm>
              <a:off x="3456" y="1248"/>
              <a:ext cx="2064" cy="1152"/>
              <a:chOff x="3072" y="1344"/>
              <a:chExt cx="2064" cy="1152"/>
            </a:xfrm>
          </p:grpSpPr>
          <p:sp>
            <p:nvSpPr>
              <p:cNvPr id="39953" name="Rectangle 6"/>
              <p:cNvSpPr>
                <a:spLocks noChangeArrowheads="1"/>
              </p:cNvSpPr>
              <p:nvPr/>
            </p:nvSpPr>
            <p:spPr bwMode="auto">
              <a:xfrm>
                <a:off x="3072" y="1344"/>
                <a:ext cx="2064" cy="1152"/>
              </a:xfrm>
              <a:prstGeom prst="rect">
                <a:avLst/>
              </a:prstGeom>
              <a:gradFill rotWithShape="0">
                <a:gsLst>
                  <a:gs pos="0">
                    <a:schemeClr val="hlink"/>
                  </a:gs>
                  <a:gs pos="100000">
                    <a:srgbClr val="6600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54" name="Line 7"/>
              <p:cNvSpPr>
                <a:spLocks noChangeShapeType="1"/>
              </p:cNvSpPr>
              <p:nvPr/>
            </p:nvSpPr>
            <p:spPr bwMode="auto">
              <a:xfrm>
                <a:off x="3408" y="2208"/>
                <a:ext cx="1488"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5" name="Oval 8"/>
              <p:cNvSpPr>
                <a:spLocks noChangeArrowheads="1"/>
              </p:cNvSpPr>
              <p:nvPr/>
            </p:nvSpPr>
            <p:spPr bwMode="auto">
              <a:xfrm>
                <a:off x="3528" y="1824"/>
                <a:ext cx="144" cy="144"/>
              </a:xfrm>
              <a:prstGeom prst="ellipse">
                <a:avLst/>
              </a:prstGeom>
              <a:gradFill rotWithShape="0">
                <a:gsLst>
                  <a:gs pos="0">
                    <a:srgbClr val="FF3300"/>
                  </a:gs>
                  <a:gs pos="100000">
                    <a:srgbClr val="FFFF0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9956" name="Oval 9"/>
              <p:cNvSpPr>
                <a:spLocks noChangeArrowheads="1"/>
              </p:cNvSpPr>
              <p:nvPr/>
            </p:nvSpPr>
            <p:spPr bwMode="auto">
              <a:xfrm>
                <a:off x="4416" y="1824"/>
                <a:ext cx="144" cy="144"/>
              </a:xfrm>
              <a:prstGeom prst="ellipse">
                <a:avLst/>
              </a:prstGeom>
              <a:gradFill rotWithShape="0">
                <a:gsLst>
                  <a:gs pos="0">
                    <a:srgbClr val="FF3300"/>
                  </a:gs>
                  <a:gs pos="100000">
                    <a:srgbClr val="FFFF0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39957" name="Line 10"/>
              <p:cNvSpPr>
                <a:spLocks noChangeShapeType="1"/>
              </p:cNvSpPr>
              <p:nvPr/>
            </p:nvSpPr>
            <p:spPr bwMode="auto">
              <a:xfrm>
                <a:off x="3656" y="1904"/>
                <a:ext cx="336"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958" name="Line 11"/>
              <p:cNvSpPr>
                <a:spLocks noChangeShapeType="1"/>
              </p:cNvSpPr>
              <p:nvPr/>
            </p:nvSpPr>
            <p:spPr bwMode="auto">
              <a:xfrm>
                <a:off x="4128" y="1904"/>
                <a:ext cx="328" cy="16"/>
              </a:xfrm>
              <a:prstGeom prst="line">
                <a:avLst/>
              </a:prstGeom>
              <a:noFill/>
              <a:ln w="28575">
                <a:solidFill>
                  <a:srgbClr val="FFFF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9959" name="Text Box 12"/>
              <p:cNvSpPr txBox="1">
                <a:spLocks noChangeArrowheads="1"/>
              </p:cNvSpPr>
              <p:nvPr/>
            </p:nvSpPr>
            <p:spPr bwMode="auto">
              <a:xfrm>
                <a:off x="3504" y="1536"/>
                <a:ext cx="3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400">
                    <a:solidFill>
                      <a:srgbClr val="FFFF00"/>
                    </a:solidFill>
                    <a:ea typeface="宋体" pitchFamily="2" charset="-122"/>
                  </a:rPr>
                  <a:t>0.8c</a:t>
                </a:r>
              </a:p>
            </p:txBody>
          </p:sp>
          <p:sp>
            <p:nvSpPr>
              <p:cNvPr id="39960" name="Text Box 13"/>
              <p:cNvSpPr txBox="1">
                <a:spLocks noChangeArrowheads="1"/>
              </p:cNvSpPr>
              <p:nvPr/>
            </p:nvSpPr>
            <p:spPr bwMode="auto">
              <a:xfrm>
                <a:off x="4071" y="1536"/>
                <a:ext cx="36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400">
                    <a:solidFill>
                      <a:srgbClr val="FFFF00"/>
                    </a:solidFill>
                    <a:ea typeface="宋体" pitchFamily="2" charset="-122"/>
                  </a:rPr>
                  <a:t>0.6c</a:t>
                </a:r>
              </a:p>
            </p:txBody>
          </p:sp>
          <p:sp>
            <p:nvSpPr>
              <p:cNvPr id="39961" name="Text Box 14"/>
              <p:cNvSpPr txBox="1">
                <a:spLocks noChangeArrowheads="1"/>
              </p:cNvSpPr>
              <p:nvPr/>
            </p:nvSpPr>
            <p:spPr bwMode="auto">
              <a:xfrm>
                <a:off x="4848" y="2160"/>
                <a:ext cx="18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b="0">
                    <a:solidFill>
                      <a:srgbClr val="FFFF00"/>
                    </a:solidFill>
                    <a:ea typeface="宋体" pitchFamily="2" charset="-122"/>
                  </a:rPr>
                  <a:t>x</a:t>
                </a:r>
              </a:p>
            </p:txBody>
          </p:sp>
          <p:sp>
            <p:nvSpPr>
              <p:cNvPr id="39962" name="Text Box 15"/>
              <p:cNvSpPr txBox="1">
                <a:spLocks noChangeArrowheads="1"/>
              </p:cNvSpPr>
              <p:nvPr/>
            </p:nvSpPr>
            <p:spPr bwMode="auto">
              <a:xfrm>
                <a:off x="3896" y="2184"/>
                <a:ext cx="30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solidFill>
                      <a:srgbClr val="FFFF00"/>
                    </a:solidFill>
                    <a:ea typeface="宋体" pitchFamily="2" charset="-122"/>
                  </a:rPr>
                  <a:t>地球</a:t>
                </a:r>
              </a:p>
            </p:txBody>
          </p:sp>
        </p:grpSp>
        <p:sp>
          <p:nvSpPr>
            <p:cNvPr id="39951" name="Text Box 16"/>
            <p:cNvSpPr txBox="1">
              <a:spLocks noChangeArrowheads="1"/>
            </p:cNvSpPr>
            <p:nvPr/>
          </p:nvSpPr>
          <p:spPr bwMode="auto">
            <a:xfrm>
              <a:off x="3862" y="1834"/>
              <a:ext cx="2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400">
                  <a:solidFill>
                    <a:srgbClr val="FFFF00"/>
                  </a:solidFill>
                  <a:ea typeface="宋体" pitchFamily="2" charset="-122"/>
                </a:rPr>
                <a:t>A</a:t>
              </a:r>
            </a:p>
          </p:txBody>
        </p:sp>
        <p:sp>
          <p:nvSpPr>
            <p:cNvPr id="39952" name="Text Box 17"/>
            <p:cNvSpPr txBox="1">
              <a:spLocks noChangeArrowheads="1"/>
            </p:cNvSpPr>
            <p:nvPr/>
          </p:nvSpPr>
          <p:spPr bwMode="auto">
            <a:xfrm>
              <a:off x="4776" y="1840"/>
              <a:ext cx="1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400">
                  <a:solidFill>
                    <a:srgbClr val="FFFF00"/>
                  </a:solidFill>
                  <a:ea typeface="宋体" pitchFamily="2" charset="-122"/>
                </a:rPr>
                <a:t>B</a:t>
              </a:r>
            </a:p>
          </p:txBody>
        </p:sp>
      </p:grpSp>
      <p:sp>
        <p:nvSpPr>
          <p:cNvPr id="303122" name="Text Box 18"/>
          <p:cNvSpPr txBox="1">
            <a:spLocks noChangeArrowheads="1"/>
          </p:cNvSpPr>
          <p:nvPr/>
        </p:nvSpPr>
        <p:spPr bwMode="auto">
          <a:xfrm>
            <a:off x="7707313" y="2017713"/>
            <a:ext cx="9112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solidFill>
                  <a:srgbClr val="FFFF00"/>
                </a:solidFill>
                <a:ea typeface="宋体" pitchFamily="2" charset="-122"/>
              </a:rPr>
              <a:t>（</a:t>
            </a:r>
            <a:r>
              <a:rPr lang="en-US" altLang="zh-CN" sz="1600">
                <a:solidFill>
                  <a:srgbClr val="FFFF00"/>
                </a:solidFill>
                <a:ea typeface="宋体" pitchFamily="2" charset="-122"/>
              </a:rPr>
              <a:t>S</a:t>
            </a:r>
            <a:r>
              <a:rPr lang="en-US" altLang="zh-CN" sz="1600" baseline="30000">
                <a:solidFill>
                  <a:srgbClr val="FFFF00"/>
                </a:solidFill>
                <a:ea typeface="宋体" pitchFamily="2" charset="-122"/>
              </a:rPr>
              <a:t>/</a:t>
            </a:r>
            <a:r>
              <a:rPr lang="zh-CN" altLang="en-US" sz="1600">
                <a:solidFill>
                  <a:srgbClr val="FFFF00"/>
                </a:solidFill>
                <a:ea typeface="宋体" pitchFamily="2" charset="-122"/>
              </a:rPr>
              <a:t>系）</a:t>
            </a:r>
          </a:p>
        </p:txBody>
      </p:sp>
      <p:sp>
        <p:nvSpPr>
          <p:cNvPr id="303123" name="Text Box 19"/>
          <p:cNvSpPr txBox="1">
            <a:spLocks noChangeArrowheads="1"/>
          </p:cNvSpPr>
          <p:nvPr/>
        </p:nvSpPr>
        <p:spPr bwMode="auto">
          <a:xfrm>
            <a:off x="7516813" y="3097213"/>
            <a:ext cx="8715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solidFill>
                  <a:srgbClr val="FFFF00"/>
                </a:solidFill>
                <a:ea typeface="宋体" pitchFamily="2" charset="-122"/>
              </a:rPr>
              <a:t>（</a:t>
            </a:r>
            <a:r>
              <a:rPr lang="en-US" altLang="zh-CN" sz="1600">
                <a:solidFill>
                  <a:srgbClr val="FFFF00"/>
                </a:solidFill>
                <a:ea typeface="宋体" pitchFamily="2" charset="-122"/>
              </a:rPr>
              <a:t>S</a:t>
            </a:r>
            <a:r>
              <a:rPr lang="zh-CN" altLang="en-US" sz="1600">
                <a:solidFill>
                  <a:srgbClr val="FFFF00"/>
                </a:solidFill>
                <a:ea typeface="宋体" pitchFamily="2" charset="-122"/>
              </a:rPr>
              <a:t>系）</a:t>
            </a:r>
          </a:p>
        </p:txBody>
      </p:sp>
      <p:graphicFrame>
        <p:nvGraphicFramePr>
          <p:cNvPr id="303124" name="Object 20"/>
          <p:cNvGraphicFramePr>
            <a:graphicFrameLocks noChangeAspect="1"/>
          </p:cNvGraphicFramePr>
          <p:nvPr/>
        </p:nvGraphicFramePr>
        <p:xfrm>
          <a:off x="468313" y="2879725"/>
          <a:ext cx="1670050" cy="812800"/>
        </p:xfrm>
        <a:graphic>
          <a:graphicData uri="http://schemas.openxmlformats.org/presentationml/2006/ole">
            <mc:AlternateContent xmlns:mc="http://schemas.openxmlformats.org/markup-compatibility/2006">
              <mc:Choice xmlns:v="urn:schemas-microsoft-com:vml" Requires="v">
                <p:oleObj spid="_x0000_s39969" name="公式" r:id="rId4" imgW="685502" imgH="444307" progId="Equation.3">
                  <p:embed/>
                </p:oleObj>
              </mc:Choice>
              <mc:Fallback>
                <p:oleObj name="公式" r:id="rId4" imgW="685502" imgH="444307" progId="Equation.3">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2879725"/>
                        <a:ext cx="167005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3125" name="Object 21"/>
          <p:cNvGraphicFramePr>
            <a:graphicFrameLocks noChangeAspect="1"/>
          </p:cNvGraphicFramePr>
          <p:nvPr/>
        </p:nvGraphicFramePr>
        <p:xfrm>
          <a:off x="2052638" y="2906713"/>
          <a:ext cx="2087562" cy="804862"/>
        </p:xfrm>
        <a:graphic>
          <a:graphicData uri="http://schemas.openxmlformats.org/presentationml/2006/ole">
            <mc:AlternateContent xmlns:mc="http://schemas.openxmlformats.org/markup-compatibility/2006">
              <mc:Choice xmlns:v="urn:schemas-microsoft-com:vml" Requires="v">
                <p:oleObj spid="_x0000_s39970" name="公式" r:id="rId6" imgW="863225" imgH="444307" progId="Equation.3">
                  <p:embed/>
                </p:oleObj>
              </mc:Choice>
              <mc:Fallback>
                <p:oleObj name="公式" r:id="rId6" imgW="863225" imgH="444307" progId="Equation.3">
                  <p:embed/>
                  <p:pic>
                    <p:nvPicPr>
                      <p:cNvPr id="0"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2638" y="2906713"/>
                        <a:ext cx="2087562"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3126" name="Object 22"/>
          <p:cNvGraphicFramePr>
            <a:graphicFrameLocks noChangeAspect="1"/>
          </p:cNvGraphicFramePr>
          <p:nvPr/>
        </p:nvGraphicFramePr>
        <p:xfrm>
          <a:off x="4140200" y="3003550"/>
          <a:ext cx="1079500" cy="279400"/>
        </p:xfrm>
        <a:graphic>
          <a:graphicData uri="http://schemas.openxmlformats.org/presentationml/2006/ole">
            <mc:AlternateContent xmlns:mc="http://schemas.openxmlformats.org/markup-compatibility/2006">
              <mc:Choice xmlns:v="urn:schemas-microsoft-com:vml" Requires="v">
                <p:oleObj spid="_x0000_s39971" name="公式" r:id="rId8" imgW="406224" imgH="139639" progId="Equation.3">
                  <p:embed/>
                </p:oleObj>
              </mc:Choice>
              <mc:Fallback>
                <p:oleObj name="公式" r:id="rId8" imgW="406224" imgH="139639"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40200" y="3003550"/>
                        <a:ext cx="1079500"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3127" name="Text Box 23"/>
          <p:cNvSpPr txBox="1">
            <a:spLocks noChangeArrowheads="1"/>
          </p:cNvSpPr>
          <p:nvPr/>
        </p:nvSpPr>
        <p:spPr bwMode="auto">
          <a:xfrm>
            <a:off x="179388" y="3579813"/>
            <a:ext cx="66230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ea typeface="华文中宋" pitchFamily="2" charset="-122"/>
              </a:rPr>
              <a:t>　或者取</a:t>
            </a:r>
            <a:r>
              <a:rPr lang="en-US" altLang="zh-CN" sz="1500">
                <a:ea typeface="华文中宋" pitchFamily="2" charset="-122"/>
              </a:rPr>
              <a:t>A</a:t>
            </a:r>
            <a:r>
              <a:rPr lang="zh-CN" altLang="en-US" sz="1500">
                <a:ea typeface="华文中宋" pitchFamily="2" charset="-122"/>
              </a:rPr>
              <a:t>为</a:t>
            </a:r>
            <a:r>
              <a:rPr lang="en-US" altLang="zh-CN" sz="1500">
                <a:ea typeface="华文中宋" pitchFamily="2" charset="-122"/>
              </a:rPr>
              <a:t>S</a:t>
            </a:r>
            <a:r>
              <a:rPr lang="en-US" altLang="zh-CN" sz="1500" baseline="30000">
                <a:ea typeface="华文中宋" pitchFamily="2" charset="-122"/>
              </a:rPr>
              <a:t>/</a:t>
            </a:r>
            <a:r>
              <a:rPr lang="zh-CN" altLang="en-US" sz="1500">
                <a:ea typeface="华文中宋" pitchFamily="2" charset="-122"/>
              </a:rPr>
              <a:t>系，则</a:t>
            </a:r>
            <a:r>
              <a:rPr lang="en-US" altLang="zh-CN" sz="1500" i="1">
                <a:ea typeface="华文中宋" pitchFamily="2" charset="-122"/>
              </a:rPr>
              <a:t>u</a:t>
            </a:r>
            <a:r>
              <a:rPr lang="en-US" altLang="zh-CN" sz="1500">
                <a:ea typeface="华文中宋" pitchFamily="2" charset="-122"/>
              </a:rPr>
              <a:t> = 0.8</a:t>
            </a:r>
            <a:r>
              <a:rPr lang="en-US" altLang="zh-CN" sz="1500" i="1">
                <a:ea typeface="华文中宋" pitchFamily="2" charset="-122"/>
              </a:rPr>
              <a:t>c</a:t>
            </a:r>
            <a:r>
              <a:rPr lang="en-US" altLang="zh-CN" sz="1500">
                <a:ea typeface="华文中宋" pitchFamily="2" charset="-122"/>
              </a:rPr>
              <a:t>,B</a:t>
            </a:r>
            <a:r>
              <a:rPr lang="zh-CN" altLang="en-US" sz="1500">
                <a:ea typeface="华文中宋" pitchFamily="2" charset="-122"/>
              </a:rPr>
              <a:t>相对</a:t>
            </a:r>
            <a:r>
              <a:rPr lang="en-US" altLang="zh-CN" sz="1500">
                <a:ea typeface="华文中宋" pitchFamily="2" charset="-122"/>
              </a:rPr>
              <a:t>S</a:t>
            </a:r>
            <a:r>
              <a:rPr lang="zh-CN" altLang="en-US" sz="1500">
                <a:ea typeface="华文中宋" pitchFamily="2" charset="-122"/>
              </a:rPr>
              <a:t>系速度</a:t>
            </a:r>
            <a:r>
              <a:rPr lang="en-US" altLang="zh-CN" sz="1500" i="1">
                <a:ea typeface="华文中宋" pitchFamily="2" charset="-122"/>
              </a:rPr>
              <a:t>v</a:t>
            </a:r>
            <a:r>
              <a:rPr lang="en-US" altLang="zh-CN" sz="1500" i="1" baseline="-25000">
                <a:ea typeface="华文中宋" pitchFamily="2" charset="-122"/>
              </a:rPr>
              <a:t>x</a:t>
            </a:r>
            <a:r>
              <a:rPr lang="en-US" altLang="zh-CN" sz="1500">
                <a:ea typeface="华文中宋" pitchFamily="2" charset="-122"/>
              </a:rPr>
              <a:t>=-0.6c,</a:t>
            </a:r>
            <a:r>
              <a:rPr lang="zh-CN" altLang="en-US" sz="1500">
                <a:ea typeface="华文中宋" pitchFamily="2" charset="-122"/>
              </a:rPr>
              <a:t>于是</a:t>
            </a:r>
            <a:r>
              <a:rPr lang="en-US" altLang="zh-CN" sz="1500">
                <a:ea typeface="华文中宋" pitchFamily="2" charset="-122"/>
              </a:rPr>
              <a:t>B</a:t>
            </a:r>
            <a:r>
              <a:rPr lang="zh-CN" altLang="en-US" sz="1500">
                <a:ea typeface="华文中宋" pitchFamily="2" charset="-122"/>
              </a:rPr>
              <a:t>相对</a:t>
            </a:r>
            <a:r>
              <a:rPr lang="en-US" altLang="zh-CN" sz="1500">
                <a:ea typeface="华文中宋" pitchFamily="2" charset="-122"/>
              </a:rPr>
              <a:t>A</a:t>
            </a:r>
            <a:r>
              <a:rPr lang="zh-CN" altLang="en-US" sz="1500">
                <a:ea typeface="华文中宋" pitchFamily="2" charset="-122"/>
              </a:rPr>
              <a:t>的速度为</a:t>
            </a:r>
            <a:endParaRPr lang="zh-CN" altLang="en-US" sz="1500" i="1">
              <a:ea typeface="华文中宋" pitchFamily="2" charset="-122"/>
            </a:endParaRPr>
          </a:p>
        </p:txBody>
      </p:sp>
      <p:graphicFrame>
        <p:nvGraphicFramePr>
          <p:cNvPr id="303128" name="Object 24"/>
          <p:cNvGraphicFramePr>
            <a:graphicFrameLocks noChangeAspect="1"/>
          </p:cNvGraphicFramePr>
          <p:nvPr/>
        </p:nvGraphicFramePr>
        <p:xfrm>
          <a:off x="1547813" y="3830638"/>
          <a:ext cx="1703387" cy="828675"/>
        </p:xfrm>
        <a:graphic>
          <a:graphicData uri="http://schemas.openxmlformats.org/presentationml/2006/ole">
            <mc:AlternateContent xmlns:mc="http://schemas.openxmlformats.org/markup-compatibility/2006">
              <mc:Choice xmlns:v="urn:schemas-microsoft-com:vml" Requires="v">
                <p:oleObj spid="_x0000_s39972" name="公式" r:id="rId10" imgW="685502" imgH="444307" progId="Equation.3">
                  <p:embed/>
                </p:oleObj>
              </mc:Choice>
              <mc:Fallback>
                <p:oleObj name="公式" r:id="rId10" imgW="685502" imgH="444307" progId="Equation.3">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47813" y="3830638"/>
                        <a:ext cx="1703387" cy="82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3129" name="Object 25"/>
          <p:cNvGraphicFramePr>
            <a:graphicFrameLocks noChangeAspect="1"/>
          </p:cNvGraphicFramePr>
          <p:nvPr/>
        </p:nvGraphicFramePr>
        <p:xfrm>
          <a:off x="5435600" y="3960813"/>
          <a:ext cx="1295400" cy="288925"/>
        </p:xfrm>
        <a:graphic>
          <a:graphicData uri="http://schemas.openxmlformats.org/presentationml/2006/ole">
            <mc:AlternateContent xmlns:mc="http://schemas.openxmlformats.org/markup-compatibility/2006">
              <mc:Choice xmlns:v="urn:schemas-microsoft-com:vml" Requires="v">
                <p:oleObj spid="_x0000_s39973" name="公式" r:id="rId12" imgW="469900" imgH="139700" progId="Equation.3">
                  <p:embed/>
                </p:oleObj>
              </mc:Choice>
              <mc:Fallback>
                <p:oleObj name="公式" r:id="rId12" imgW="469900" imgH="139700" progId="Equation.3">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35600" y="3960813"/>
                        <a:ext cx="1295400" cy="288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3130" name="Object 26"/>
          <p:cNvGraphicFramePr>
            <a:graphicFrameLocks noChangeAspect="1"/>
          </p:cNvGraphicFramePr>
          <p:nvPr/>
        </p:nvGraphicFramePr>
        <p:xfrm>
          <a:off x="3276600" y="3832225"/>
          <a:ext cx="2087563" cy="808038"/>
        </p:xfrm>
        <a:graphic>
          <a:graphicData uri="http://schemas.openxmlformats.org/presentationml/2006/ole">
            <mc:AlternateContent xmlns:mc="http://schemas.openxmlformats.org/markup-compatibility/2006">
              <mc:Choice xmlns:v="urn:schemas-microsoft-com:vml" Requires="v">
                <p:oleObj spid="_x0000_s39974" name="公式" r:id="rId14" imgW="863225" imgH="444307" progId="Equation.3">
                  <p:embed/>
                </p:oleObj>
              </mc:Choice>
              <mc:Fallback>
                <p:oleObj name="公式" r:id="rId14" imgW="863225" imgH="444307" progId="Equation.3">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76600" y="3832225"/>
                        <a:ext cx="2087563" cy="808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303106"/>
                                        </p:tgtEl>
                                        <p:attrNameLst>
                                          <p:attrName>style.visibility</p:attrName>
                                        </p:attrNameLst>
                                      </p:cBhvr>
                                      <p:to>
                                        <p:strVal val="visible"/>
                                      </p:to>
                                    </p:set>
                                    <p:anim calcmode="lin" valueType="num">
                                      <p:cBhvr>
                                        <p:cTn id="7" dur="500" fill="hold"/>
                                        <p:tgtEl>
                                          <p:spTgt spid="303106"/>
                                        </p:tgtEl>
                                        <p:attrNameLst>
                                          <p:attrName>ppt_x</p:attrName>
                                        </p:attrNameLst>
                                      </p:cBhvr>
                                      <p:tavLst>
                                        <p:tav tm="0">
                                          <p:val>
                                            <p:strVal val="#ppt_x-#ppt_w/2"/>
                                          </p:val>
                                        </p:tav>
                                        <p:tav tm="100000">
                                          <p:val>
                                            <p:strVal val="#ppt_x"/>
                                          </p:val>
                                        </p:tav>
                                      </p:tavLst>
                                    </p:anim>
                                    <p:anim calcmode="lin" valueType="num">
                                      <p:cBhvr>
                                        <p:cTn id="8" dur="500" fill="hold"/>
                                        <p:tgtEl>
                                          <p:spTgt spid="303106"/>
                                        </p:tgtEl>
                                        <p:attrNameLst>
                                          <p:attrName>ppt_y</p:attrName>
                                        </p:attrNameLst>
                                      </p:cBhvr>
                                      <p:tavLst>
                                        <p:tav tm="0">
                                          <p:val>
                                            <p:strVal val="#ppt_y"/>
                                          </p:val>
                                        </p:tav>
                                        <p:tav tm="100000">
                                          <p:val>
                                            <p:strVal val="#ppt_y"/>
                                          </p:val>
                                        </p:tav>
                                      </p:tavLst>
                                    </p:anim>
                                    <p:anim calcmode="lin" valueType="num">
                                      <p:cBhvr>
                                        <p:cTn id="9" dur="500" fill="hold"/>
                                        <p:tgtEl>
                                          <p:spTgt spid="303106"/>
                                        </p:tgtEl>
                                        <p:attrNameLst>
                                          <p:attrName>ppt_w</p:attrName>
                                        </p:attrNameLst>
                                      </p:cBhvr>
                                      <p:tavLst>
                                        <p:tav tm="0">
                                          <p:val>
                                            <p:fltVal val="0"/>
                                          </p:val>
                                        </p:tav>
                                        <p:tav tm="100000">
                                          <p:val>
                                            <p:strVal val="#ppt_w"/>
                                          </p:val>
                                        </p:tav>
                                      </p:tavLst>
                                    </p:anim>
                                    <p:anim calcmode="lin" valueType="num">
                                      <p:cBhvr>
                                        <p:cTn id="10" dur="500" fill="hold"/>
                                        <p:tgtEl>
                                          <p:spTgt spid="303106"/>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303107"/>
                                        </p:tgtEl>
                                        <p:attrNameLst>
                                          <p:attrName>style.visibility</p:attrName>
                                        </p:attrNameLst>
                                      </p:cBhvr>
                                      <p:to>
                                        <p:strVal val="visible"/>
                                      </p:to>
                                    </p:set>
                                    <p:anim calcmode="lin" valueType="num">
                                      <p:cBhvr>
                                        <p:cTn id="15" dur="500" fill="hold"/>
                                        <p:tgtEl>
                                          <p:spTgt spid="303107"/>
                                        </p:tgtEl>
                                        <p:attrNameLst>
                                          <p:attrName>ppt_x</p:attrName>
                                        </p:attrNameLst>
                                      </p:cBhvr>
                                      <p:tavLst>
                                        <p:tav tm="0">
                                          <p:val>
                                            <p:strVal val="#ppt_x-#ppt_w/2"/>
                                          </p:val>
                                        </p:tav>
                                        <p:tav tm="100000">
                                          <p:val>
                                            <p:strVal val="#ppt_x"/>
                                          </p:val>
                                        </p:tav>
                                      </p:tavLst>
                                    </p:anim>
                                    <p:anim calcmode="lin" valueType="num">
                                      <p:cBhvr>
                                        <p:cTn id="16" dur="500" fill="hold"/>
                                        <p:tgtEl>
                                          <p:spTgt spid="303107"/>
                                        </p:tgtEl>
                                        <p:attrNameLst>
                                          <p:attrName>ppt_y</p:attrName>
                                        </p:attrNameLst>
                                      </p:cBhvr>
                                      <p:tavLst>
                                        <p:tav tm="0">
                                          <p:val>
                                            <p:strVal val="#ppt_y"/>
                                          </p:val>
                                        </p:tav>
                                        <p:tav tm="100000">
                                          <p:val>
                                            <p:strVal val="#ppt_y"/>
                                          </p:val>
                                        </p:tav>
                                      </p:tavLst>
                                    </p:anim>
                                    <p:anim calcmode="lin" valueType="num">
                                      <p:cBhvr>
                                        <p:cTn id="17" dur="500" fill="hold"/>
                                        <p:tgtEl>
                                          <p:spTgt spid="303107"/>
                                        </p:tgtEl>
                                        <p:attrNameLst>
                                          <p:attrName>ppt_w</p:attrName>
                                        </p:attrNameLst>
                                      </p:cBhvr>
                                      <p:tavLst>
                                        <p:tav tm="0">
                                          <p:val>
                                            <p:fltVal val="0"/>
                                          </p:val>
                                        </p:tav>
                                        <p:tav tm="100000">
                                          <p:val>
                                            <p:strVal val="#ppt_w"/>
                                          </p:val>
                                        </p:tav>
                                      </p:tavLst>
                                    </p:anim>
                                    <p:anim calcmode="lin" valueType="num">
                                      <p:cBhvr>
                                        <p:cTn id="18" dur="500" fill="hold"/>
                                        <p:tgtEl>
                                          <p:spTgt spid="303107"/>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ppt_x</p:attrName>
                                        </p:attrNameLst>
                                      </p:cBhvr>
                                      <p:tavLst>
                                        <p:tav tm="0">
                                          <p:val>
                                            <p:strVal val="#ppt_x-#ppt_w/2"/>
                                          </p:val>
                                        </p:tav>
                                        <p:tav tm="100000">
                                          <p:val>
                                            <p:strVal val="#ppt_x"/>
                                          </p:val>
                                        </p:tav>
                                      </p:tavLst>
                                    </p:anim>
                                    <p:anim calcmode="lin" valueType="num">
                                      <p:cBhvr>
                                        <p:cTn id="24" dur="500" fill="hold"/>
                                        <p:tgtEl>
                                          <p:spTgt spid="2"/>
                                        </p:tgtEl>
                                        <p:attrNameLst>
                                          <p:attrName>ppt_y</p:attrName>
                                        </p:attrNameLst>
                                      </p:cBhvr>
                                      <p:tavLst>
                                        <p:tav tm="0">
                                          <p:val>
                                            <p:strVal val="#ppt_y"/>
                                          </p:val>
                                        </p:tav>
                                        <p:tav tm="100000">
                                          <p:val>
                                            <p:strVal val="#ppt_y"/>
                                          </p:val>
                                        </p:tav>
                                      </p:tavLst>
                                    </p:anim>
                                    <p:anim calcmode="lin" valueType="num">
                                      <p:cBhvr>
                                        <p:cTn id="25" dur="500" fill="hold"/>
                                        <p:tgtEl>
                                          <p:spTgt spid="2"/>
                                        </p:tgtEl>
                                        <p:attrNameLst>
                                          <p:attrName>ppt_w</p:attrName>
                                        </p:attrNameLst>
                                      </p:cBhvr>
                                      <p:tavLst>
                                        <p:tav tm="0">
                                          <p:val>
                                            <p:fltVal val="0"/>
                                          </p:val>
                                        </p:tav>
                                        <p:tav tm="100000">
                                          <p:val>
                                            <p:strVal val="#ppt_w"/>
                                          </p:val>
                                        </p:tav>
                                      </p:tavLst>
                                    </p:anim>
                                    <p:anim calcmode="lin" valueType="num">
                                      <p:cBhvr>
                                        <p:cTn id="26"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303123"/>
                                        </p:tgtEl>
                                        <p:attrNameLst>
                                          <p:attrName>style.visibility</p:attrName>
                                        </p:attrNameLst>
                                      </p:cBhvr>
                                      <p:to>
                                        <p:strVal val="visible"/>
                                      </p:to>
                                    </p:set>
                                    <p:anim calcmode="lin" valueType="num">
                                      <p:cBhvr>
                                        <p:cTn id="31" dur="500" fill="hold"/>
                                        <p:tgtEl>
                                          <p:spTgt spid="303123"/>
                                        </p:tgtEl>
                                        <p:attrNameLst>
                                          <p:attrName>ppt_x</p:attrName>
                                        </p:attrNameLst>
                                      </p:cBhvr>
                                      <p:tavLst>
                                        <p:tav tm="0">
                                          <p:val>
                                            <p:strVal val="#ppt_x-#ppt_w/2"/>
                                          </p:val>
                                        </p:tav>
                                        <p:tav tm="100000">
                                          <p:val>
                                            <p:strVal val="#ppt_x"/>
                                          </p:val>
                                        </p:tav>
                                      </p:tavLst>
                                    </p:anim>
                                    <p:anim calcmode="lin" valueType="num">
                                      <p:cBhvr>
                                        <p:cTn id="32" dur="500" fill="hold"/>
                                        <p:tgtEl>
                                          <p:spTgt spid="303123"/>
                                        </p:tgtEl>
                                        <p:attrNameLst>
                                          <p:attrName>ppt_y</p:attrName>
                                        </p:attrNameLst>
                                      </p:cBhvr>
                                      <p:tavLst>
                                        <p:tav tm="0">
                                          <p:val>
                                            <p:strVal val="#ppt_y"/>
                                          </p:val>
                                        </p:tav>
                                        <p:tav tm="100000">
                                          <p:val>
                                            <p:strVal val="#ppt_y"/>
                                          </p:val>
                                        </p:tav>
                                      </p:tavLst>
                                    </p:anim>
                                    <p:anim calcmode="lin" valueType="num">
                                      <p:cBhvr>
                                        <p:cTn id="33" dur="500" fill="hold"/>
                                        <p:tgtEl>
                                          <p:spTgt spid="303123"/>
                                        </p:tgtEl>
                                        <p:attrNameLst>
                                          <p:attrName>ppt_w</p:attrName>
                                        </p:attrNameLst>
                                      </p:cBhvr>
                                      <p:tavLst>
                                        <p:tav tm="0">
                                          <p:val>
                                            <p:fltVal val="0"/>
                                          </p:val>
                                        </p:tav>
                                        <p:tav tm="100000">
                                          <p:val>
                                            <p:strVal val="#ppt_w"/>
                                          </p:val>
                                        </p:tav>
                                      </p:tavLst>
                                    </p:anim>
                                    <p:anim calcmode="lin" valueType="num">
                                      <p:cBhvr>
                                        <p:cTn id="34" dur="500" fill="hold"/>
                                        <p:tgtEl>
                                          <p:spTgt spid="303123"/>
                                        </p:tgtEl>
                                        <p:attrNameLst>
                                          <p:attrName>ppt_h</p:attrName>
                                        </p:attrNameLst>
                                      </p:cBhvr>
                                      <p:tavLst>
                                        <p:tav tm="0">
                                          <p:val>
                                            <p:strVal val="#ppt_h"/>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303122"/>
                                        </p:tgtEl>
                                        <p:attrNameLst>
                                          <p:attrName>style.visibility</p:attrName>
                                        </p:attrNameLst>
                                      </p:cBhvr>
                                      <p:to>
                                        <p:strVal val="visible"/>
                                      </p:to>
                                    </p:set>
                                    <p:anim calcmode="lin" valueType="num">
                                      <p:cBhvr>
                                        <p:cTn id="39" dur="500" fill="hold"/>
                                        <p:tgtEl>
                                          <p:spTgt spid="303122"/>
                                        </p:tgtEl>
                                        <p:attrNameLst>
                                          <p:attrName>ppt_x</p:attrName>
                                        </p:attrNameLst>
                                      </p:cBhvr>
                                      <p:tavLst>
                                        <p:tav tm="0">
                                          <p:val>
                                            <p:strVal val="#ppt_x-#ppt_w/2"/>
                                          </p:val>
                                        </p:tav>
                                        <p:tav tm="100000">
                                          <p:val>
                                            <p:strVal val="#ppt_x"/>
                                          </p:val>
                                        </p:tav>
                                      </p:tavLst>
                                    </p:anim>
                                    <p:anim calcmode="lin" valueType="num">
                                      <p:cBhvr>
                                        <p:cTn id="40" dur="500" fill="hold"/>
                                        <p:tgtEl>
                                          <p:spTgt spid="303122"/>
                                        </p:tgtEl>
                                        <p:attrNameLst>
                                          <p:attrName>ppt_y</p:attrName>
                                        </p:attrNameLst>
                                      </p:cBhvr>
                                      <p:tavLst>
                                        <p:tav tm="0">
                                          <p:val>
                                            <p:strVal val="#ppt_y"/>
                                          </p:val>
                                        </p:tav>
                                        <p:tav tm="100000">
                                          <p:val>
                                            <p:strVal val="#ppt_y"/>
                                          </p:val>
                                        </p:tav>
                                      </p:tavLst>
                                    </p:anim>
                                    <p:anim calcmode="lin" valueType="num">
                                      <p:cBhvr>
                                        <p:cTn id="41" dur="500" fill="hold"/>
                                        <p:tgtEl>
                                          <p:spTgt spid="303122"/>
                                        </p:tgtEl>
                                        <p:attrNameLst>
                                          <p:attrName>ppt_w</p:attrName>
                                        </p:attrNameLst>
                                      </p:cBhvr>
                                      <p:tavLst>
                                        <p:tav tm="0">
                                          <p:val>
                                            <p:fltVal val="0"/>
                                          </p:val>
                                        </p:tav>
                                        <p:tav tm="100000">
                                          <p:val>
                                            <p:strVal val="#ppt_w"/>
                                          </p:val>
                                        </p:tav>
                                      </p:tavLst>
                                    </p:anim>
                                    <p:anim calcmode="lin" valueType="num">
                                      <p:cBhvr>
                                        <p:cTn id="42" dur="500" fill="hold"/>
                                        <p:tgtEl>
                                          <p:spTgt spid="303122"/>
                                        </p:tgtEl>
                                        <p:attrNameLst>
                                          <p:attrName>ppt_h</p:attrName>
                                        </p:attrNameLst>
                                      </p:cBhvr>
                                      <p:tavLst>
                                        <p:tav tm="0">
                                          <p:val>
                                            <p:strVal val="#ppt_h"/>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8" fill="hold" nodeType="clickEffect">
                                  <p:stCondLst>
                                    <p:cond delay="0"/>
                                  </p:stCondLst>
                                  <p:childTnLst>
                                    <p:set>
                                      <p:cBhvr>
                                        <p:cTn id="46" dur="1" fill="hold">
                                          <p:stCondLst>
                                            <p:cond delay="0"/>
                                          </p:stCondLst>
                                        </p:cTn>
                                        <p:tgtEl>
                                          <p:spTgt spid="303124"/>
                                        </p:tgtEl>
                                        <p:attrNameLst>
                                          <p:attrName>style.visibility</p:attrName>
                                        </p:attrNameLst>
                                      </p:cBhvr>
                                      <p:to>
                                        <p:strVal val="visible"/>
                                      </p:to>
                                    </p:set>
                                    <p:anim calcmode="lin" valueType="num">
                                      <p:cBhvr>
                                        <p:cTn id="47" dur="500" fill="hold"/>
                                        <p:tgtEl>
                                          <p:spTgt spid="303124"/>
                                        </p:tgtEl>
                                        <p:attrNameLst>
                                          <p:attrName>ppt_x</p:attrName>
                                        </p:attrNameLst>
                                      </p:cBhvr>
                                      <p:tavLst>
                                        <p:tav tm="0">
                                          <p:val>
                                            <p:strVal val="#ppt_x-#ppt_w/2"/>
                                          </p:val>
                                        </p:tav>
                                        <p:tav tm="100000">
                                          <p:val>
                                            <p:strVal val="#ppt_x"/>
                                          </p:val>
                                        </p:tav>
                                      </p:tavLst>
                                    </p:anim>
                                    <p:anim calcmode="lin" valueType="num">
                                      <p:cBhvr>
                                        <p:cTn id="48" dur="500" fill="hold"/>
                                        <p:tgtEl>
                                          <p:spTgt spid="303124"/>
                                        </p:tgtEl>
                                        <p:attrNameLst>
                                          <p:attrName>ppt_y</p:attrName>
                                        </p:attrNameLst>
                                      </p:cBhvr>
                                      <p:tavLst>
                                        <p:tav tm="0">
                                          <p:val>
                                            <p:strVal val="#ppt_y"/>
                                          </p:val>
                                        </p:tav>
                                        <p:tav tm="100000">
                                          <p:val>
                                            <p:strVal val="#ppt_y"/>
                                          </p:val>
                                        </p:tav>
                                      </p:tavLst>
                                    </p:anim>
                                    <p:anim calcmode="lin" valueType="num">
                                      <p:cBhvr>
                                        <p:cTn id="49" dur="500" fill="hold"/>
                                        <p:tgtEl>
                                          <p:spTgt spid="303124"/>
                                        </p:tgtEl>
                                        <p:attrNameLst>
                                          <p:attrName>ppt_w</p:attrName>
                                        </p:attrNameLst>
                                      </p:cBhvr>
                                      <p:tavLst>
                                        <p:tav tm="0">
                                          <p:val>
                                            <p:fltVal val="0"/>
                                          </p:val>
                                        </p:tav>
                                        <p:tav tm="100000">
                                          <p:val>
                                            <p:strVal val="#ppt_w"/>
                                          </p:val>
                                        </p:tav>
                                      </p:tavLst>
                                    </p:anim>
                                    <p:anim calcmode="lin" valueType="num">
                                      <p:cBhvr>
                                        <p:cTn id="50" dur="500" fill="hold"/>
                                        <p:tgtEl>
                                          <p:spTgt spid="303124"/>
                                        </p:tgtEl>
                                        <p:attrNameLst>
                                          <p:attrName>ppt_h</p:attrName>
                                        </p:attrNameLst>
                                      </p:cBhvr>
                                      <p:tavLst>
                                        <p:tav tm="0">
                                          <p:val>
                                            <p:strVal val="#ppt_h"/>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8" fill="hold" nodeType="clickEffect">
                                  <p:stCondLst>
                                    <p:cond delay="0"/>
                                  </p:stCondLst>
                                  <p:childTnLst>
                                    <p:set>
                                      <p:cBhvr>
                                        <p:cTn id="54" dur="1" fill="hold">
                                          <p:stCondLst>
                                            <p:cond delay="0"/>
                                          </p:stCondLst>
                                        </p:cTn>
                                        <p:tgtEl>
                                          <p:spTgt spid="303125"/>
                                        </p:tgtEl>
                                        <p:attrNameLst>
                                          <p:attrName>style.visibility</p:attrName>
                                        </p:attrNameLst>
                                      </p:cBhvr>
                                      <p:to>
                                        <p:strVal val="visible"/>
                                      </p:to>
                                    </p:set>
                                    <p:anim calcmode="lin" valueType="num">
                                      <p:cBhvr>
                                        <p:cTn id="55" dur="500" fill="hold"/>
                                        <p:tgtEl>
                                          <p:spTgt spid="303125"/>
                                        </p:tgtEl>
                                        <p:attrNameLst>
                                          <p:attrName>ppt_x</p:attrName>
                                        </p:attrNameLst>
                                      </p:cBhvr>
                                      <p:tavLst>
                                        <p:tav tm="0">
                                          <p:val>
                                            <p:strVal val="#ppt_x-#ppt_w/2"/>
                                          </p:val>
                                        </p:tav>
                                        <p:tav tm="100000">
                                          <p:val>
                                            <p:strVal val="#ppt_x"/>
                                          </p:val>
                                        </p:tav>
                                      </p:tavLst>
                                    </p:anim>
                                    <p:anim calcmode="lin" valueType="num">
                                      <p:cBhvr>
                                        <p:cTn id="56" dur="500" fill="hold"/>
                                        <p:tgtEl>
                                          <p:spTgt spid="303125"/>
                                        </p:tgtEl>
                                        <p:attrNameLst>
                                          <p:attrName>ppt_y</p:attrName>
                                        </p:attrNameLst>
                                      </p:cBhvr>
                                      <p:tavLst>
                                        <p:tav tm="0">
                                          <p:val>
                                            <p:strVal val="#ppt_y"/>
                                          </p:val>
                                        </p:tav>
                                        <p:tav tm="100000">
                                          <p:val>
                                            <p:strVal val="#ppt_y"/>
                                          </p:val>
                                        </p:tav>
                                      </p:tavLst>
                                    </p:anim>
                                    <p:anim calcmode="lin" valueType="num">
                                      <p:cBhvr>
                                        <p:cTn id="57" dur="500" fill="hold"/>
                                        <p:tgtEl>
                                          <p:spTgt spid="303125"/>
                                        </p:tgtEl>
                                        <p:attrNameLst>
                                          <p:attrName>ppt_w</p:attrName>
                                        </p:attrNameLst>
                                      </p:cBhvr>
                                      <p:tavLst>
                                        <p:tav tm="0">
                                          <p:val>
                                            <p:fltVal val="0"/>
                                          </p:val>
                                        </p:tav>
                                        <p:tav tm="100000">
                                          <p:val>
                                            <p:strVal val="#ppt_w"/>
                                          </p:val>
                                        </p:tav>
                                      </p:tavLst>
                                    </p:anim>
                                    <p:anim calcmode="lin" valueType="num">
                                      <p:cBhvr>
                                        <p:cTn id="58" dur="500" fill="hold"/>
                                        <p:tgtEl>
                                          <p:spTgt spid="303125"/>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7" presetClass="entr" presetSubtype="8" fill="hold" nodeType="clickEffect">
                                  <p:stCondLst>
                                    <p:cond delay="0"/>
                                  </p:stCondLst>
                                  <p:childTnLst>
                                    <p:set>
                                      <p:cBhvr>
                                        <p:cTn id="62" dur="1" fill="hold">
                                          <p:stCondLst>
                                            <p:cond delay="0"/>
                                          </p:stCondLst>
                                        </p:cTn>
                                        <p:tgtEl>
                                          <p:spTgt spid="303126"/>
                                        </p:tgtEl>
                                        <p:attrNameLst>
                                          <p:attrName>style.visibility</p:attrName>
                                        </p:attrNameLst>
                                      </p:cBhvr>
                                      <p:to>
                                        <p:strVal val="visible"/>
                                      </p:to>
                                    </p:set>
                                    <p:anim calcmode="lin" valueType="num">
                                      <p:cBhvr>
                                        <p:cTn id="63" dur="500" fill="hold"/>
                                        <p:tgtEl>
                                          <p:spTgt spid="303126"/>
                                        </p:tgtEl>
                                        <p:attrNameLst>
                                          <p:attrName>ppt_x</p:attrName>
                                        </p:attrNameLst>
                                      </p:cBhvr>
                                      <p:tavLst>
                                        <p:tav tm="0">
                                          <p:val>
                                            <p:strVal val="#ppt_x-#ppt_w/2"/>
                                          </p:val>
                                        </p:tav>
                                        <p:tav tm="100000">
                                          <p:val>
                                            <p:strVal val="#ppt_x"/>
                                          </p:val>
                                        </p:tav>
                                      </p:tavLst>
                                    </p:anim>
                                    <p:anim calcmode="lin" valueType="num">
                                      <p:cBhvr>
                                        <p:cTn id="64" dur="500" fill="hold"/>
                                        <p:tgtEl>
                                          <p:spTgt spid="303126"/>
                                        </p:tgtEl>
                                        <p:attrNameLst>
                                          <p:attrName>ppt_y</p:attrName>
                                        </p:attrNameLst>
                                      </p:cBhvr>
                                      <p:tavLst>
                                        <p:tav tm="0">
                                          <p:val>
                                            <p:strVal val="#ppt_y"/>
                                          </p:val>
                                        </p:tav>
                                        <p:tav tm="100000">
                                          <p:val>
                                            <p:strVal val="#ppt_y"/>
                                          </p:val>
                                        </p:tav>
                                      </p:tavLst>
                                    </p:anim>
                                    <p:anim calcmode="lin" valueType="num">
                                      <p:cBhvr>
                                        <p:cTn id="65" dur="500" fill="hold"/>
                                        <p:tgtEl>
                                          <p:spTgt spid="303126"/>
                                        </p:tgtEl>
                                        <p:attrNameLst>
                                          <p:attrName>ppt_w</p:attrName>
                                        </p:attrNameLst>
                                      </p:cBhvr>
                                      <p:tavLst>
                                        <p:tav tm="0">
                                          <p:val>
                                            <p:fltVal val="0"/>
                                          </p:val>
                                        </p:tav>
                                        <p:tav tm="100000">
                                          <p:val>
                                            <p:strVal val="#ppt_w"/>
                                          </p:val>
                                        </p:tav>
                                      </p:tavLst>
                                    </p:anim>
                                    <p:anim calcmode="lin" valueType="num">
                                      <p:cBhvr>
                                        <p:cTn id="66" dur="500" fill="hold"/>
                                        <p:tgtEl>
                                          <p:spTgt spid="303126"/>
                                        </p:tgtEl>
                                        <p:attrNameLst>
                                          <p:attrName>ppt_h</p:attrName>
                                        </p:attrNameLst>
                                      </p:cBhvr>
                                      <p:tavLst>
                                        <p:tav tm="0">
                                          <p:val>
                                            <p:strVal val="#ppt_h"/>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7" presetClass="entr" presetSubtype="8" fill="hold" grpId="0" nodeType="clickEffect">
                                  <p:stCondLst>
                                    <p:cond delay="0"/>
                                  </p:stCondLst>
                                  <p:childTnLst>
                                    <p:set>
                                      <p:cBhvr>
                                        <p:cTn id="70" dur="1" fill="hold">
                                          <p:stCondLst>
                                            <p:cond delay="0"/>
                                          </p:stCondLst>
                                        </p:cTn>
                                        <p:tgtEl>
                                          <p:spTgt spid="303127"/>
                                        </p:tgtEl>
                                        <p:attrNameLst>
                                          <p:attrName>style.visibility</p:attrName>
                                        </p:attrNameLst>
                                      </p:cBhvr>
                                      <p:to>
                                        <p:strVal val="visible"/>
                                      </p:to>
                                    </p:set>
                                    <p:anim calcmode="lin" valueType="num">
                                      <p:cBhvr>
                                        <p:cTn id="71" dur="500" fill="hold"/>
                                        <p:tgtEl>
                                          <p:spTgt spid="303127"/>
                                        </p:tgtEl>
                                        <p:attrNameLst>
                                          <p:attrName>ppt_x</p:attrName>
                                        </p:attrNameLst>
                                      </p:cBhvr>
                                      <p:tavLst>
                                        <p:tav tm="0">
                                          <p:val>
                                            <p:strVal val="#ppt_x-#ppt_w/2"/>
                                          </p:val>
                                        </p:tav>
                                        <p:tav tm="100000">
                                          <p:val>
                                            <p:strVal val="#ppt_x"/>
                                          </p:val>
                                        </p:tav>
                                      </p:tavLst>
                                    </p:anim>
                                    <p:anim calcmode="lin" valueType="num">
                                      <p:cBhvr>
                                        <p:cTn id="72" dur="500" fill="hold"/>
                                        <p:tgtEl>
                                          <p:spTgt spid="303127"/>
                                        </p:tgtEl>
                                        <p:attrNameLst>
                                          <p:attrName>ppt_y</p:attrName>
                                        </p:attrNameLst>
                                      </p:cBhvr>
                                      <p:tavLst>
                                        <p:tav tm="0">
                                          <p:val>
                                            <p:strVal val="#ppt_y"/>
                                          </p:val>
                                        </p:tav>
                                        <p:tav tm="100000">
                                          <p:val>
                                            <p:strVal val="#ppt_y"/>
                                          </p:val>
                                        </p:tav>
                                      </p:tavLst>
                                    </p:anim>
                                    <p:anim calcmode="lin" valueType="num">
                                      <p:cBhvr>
                                        <p:cTn id="73" dur="500" fill="hold"/>
                                        <p:tgtEl>
                                          <p:spTgt spid="303127"/>
                                        </p:tgtEl>
                                        <p:attrNameLst>
                                          <p:attrName>ppt_w</p:attrName>
                                        </p:attrNameLst>
                                      </p:cBhvr>
                                      <p:tavLst>
                                        <p:tav tm="0">
                                          <p:val>
                                            <p:fltVal val="0"/>
                                          </p:val>
                                        </p:tav>
                                        <p:tav tm="100000">
                                          <p:val>
                                            <p:strVal val="#ppt_w"/>
                                          </p:val>
                                        </p:tav>
                                      </p:tavLst>
                                    </p:anim>
                                    <p:anim calcmode="lin" valueType="num">
                                      <p:cBhvr>
                                        <p:cTn id="74" dur="500" fill="hold"/>
                                        <p:tgtEl>
                                          <p:spTgt spid="303127"/>
                                        </p:tgtEl>
                                        <p:attrNameLst>
                                          <p:attrName>ppt_h</p:attrName>
                                        </p:attrNameLst>
                                      </p:cBhvr>
                                      <p:tavLst>
                                        <p:tav tm="0">
                                          <p:val>
                                            <p:strVal val="#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8" fill="hold" nodeType="clickEffect">
                                  <p:stCondLst>
                                    <p:cond delay="0"/>
                                  </p:stCondLst>
                                  <p:childTnLst>
                                    <p:set>
                                      <p:cBhvr>
                                        <p:cTn id="78" dur="1" fill="hold">
                                          <p:stCondLst>
                                            <p:cond delay="0"/>
                                          </p:stCondLst>
                                        </p:cTn>
                                        <p:tgtEl>
                                          <p:spTgt spid="303128"/>
                                        </p:tgtEl>
                                        <p:attrNameLst>
                                          <p:attrName>style.visibility</p:attrName>
                                        </p:attrNameLst>
                                      </p:cBhvr>
                                      <p:to>
                                        <p:strVal val="visible"/>
                                      </p:to>
                                    </p:set>
                                    <p:anim calcmode="lin" valueType="num">
                                      <p:cBhvr>
                                        <p:cTn id="79" dur="500" fill="hold"/>
                                        <p:tgtEl>
                                          <p:spTgt spid="303128"/>
                                        </p:tgtEl>
                                        <p:attrNameLst>
                                          <p:attrName>ppt_x</p:attrName>
                                        </p:attrNameLst>
                                      </p:cBhvr>
                                      <p:tavLst>
                                        <p:tav tm="0">
                                          <p:val>
                                            <p:strVal val="#ppt_x-#ppt_w/2"/>
                                          </p:val>
                                        </p:tav>
                                        <p:tav tm="100000">
                                          <p:val>
                                            <p:strVal val="#ppt_x"/>
                                          </p:val>
                                        </p:tav>
                                      </p:tavLst>
                                    </p:anim>
                                    <p:anim calcmode="lin" valueType="num">
                                      <p:cBhvr>
                                        <p:cTn id="80" dur="500" fill="hold"/>
                                        <p:tgtEl>
                                          <p:spTgt spid="303128"/>
                                        </p:tgtEl>
                                        <p:attrNameLst>
                                          <p:attrName>ppt_y</p:attrName>
                                        </p:attrNameLst>
                                      </p:cBhvr>
                                      <p:tavLst>
                                        <p:tav tm="0">
                                          <p:val>
                                            <p:strVal val="#ppt_y"/>
                                          </p:val>
                                        </p:tav>
                                        <p:tav tm="100000">
                                          <p:val>
                                            <p:strVal val="#ppt_y"/>
                                          </p:val>
                                        </p:tav>
                                      </p:tavLst>
                                    </p:anim>
                                    <p:anim calcmode="lin" valueType="num">
                                      <p:cBhvr>
                                        <p:cTn id="81" dur="500" fill="hold"/>
                                        <p:tgtEl>
                                          <p:spTgt spid="303128"/>
                                        </p:tgtEl>
                                        <p:attrNameLst>
                                          <p:attrName>ppt_w</p:attrName>
                                        </p:attrNameLst>
                                      </p:cBhvr>
                                      <p:tavLst>
                                        <p:tav tm="0">
                                          <p:val>
                                            <p:fltVal val="0"/>
                                          </p:val>
                                        </p:tav>
                                        <p:tav tm="100000">
                                          <p:val>
                                            <p:strVal val="#ppt_w"/>
                                          </p:val>
                                        </p:tav>
                                      </p:tavLst>
                                    </p:anim>
                                    <p:anim calcmode="lin" valueType="num">
                                      <p:cBhvr>
                                        <p:cTn id="82" dur="500" fill="hold"/>
                                        <p:tgtEl>
                                          <p:spTgt spid="303128"/>
                                        </p:tgtEl>
                                        <p:attrNameLst>
                                          <p:attrName>ppt_h</p:attrName>
                                        </p:attrNameLst>
                                      </p:cBhvr>
                                      <p:tavLst>
                                        <p:tav tm="0">
                                          <p:val>
                                            <p:strVal val="#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8" fill="hold" nodeType="clickEffect">
                                  <p:stCondLst>
                                    <p:cond delay="0"/>
                                  </p:stCondLst>
                                  <p:childTnLst>
                                    <p:set>
                                      <p:cBhvr>
                                        <p:cTn id="86" dur="1" fill="hold">
                                          <p:stCondLst>
                                            <p:cond delay="0"/>
                                          </p:stCondLst>
                                        </p:cTn>
                                        <p:tgtEl>
                                          <p:spTgt spid="303130"/>
                                        </p:tgtEl>
                                        <p:attrNameLst>
                                          <p:attrName>style.visibility</p:attrName>
                                        </p:attrNameLst>
                                      </p:cBhvr>
                                      <p:to>
                                        <p:strVal val="visible"/>
                                      </p:to>
                                    </p:set>
                                    <p:anim calcmode="lin" valueType="num">
                                      <p:cBhvr>
                                        <p:cTn id="87" dur="500" fill="hold"/>
                                        <p:tgtEl>
                                          <p:spTgt spid="303130"/>
                                        </p:tgtEl>
                                        <p:attrNameLst>
                                          <p:attrName>ppt_x</p:attrName>
                                        </p:attrNameLst>
                                      </p:cBhvr>
                                      <p:tavLst>
                                        <p:tav tm="0">
                                          <p:val>
                                            <p:strVal val="#ppt_x-#ppt_w/2"/>
                                          </p:val>
                                        </p:tav>
                                        <p:tav tm="100000">
                                          <p:val>
                                            <p:strVal val="#ppt_x"/>
                                          </p:val>
                                        </p:tav>
                                      </p:tavLst>
                                    </p:anim>
                                    <p:anim calcmode="lin" valueType="num">
                                      <p:cBhvr>
                                        <p:cTn id="88" dur="500" fill="hold"/>
                                        <p:tgtEl>
                                          <p:spTgt spid="303130"/>
                                        </p:tgtEl>
                                        <p:attrNameLst>
                                          <p:attrName>ppt_y</p:attrName>
                                        </p:attrNameLst>
                                      </p:cBhvr>
                                      <p:tavLst>
                                        <p:tav tm="0">
                                          <p:val>
                                            <p:strVal val="#ppt_y"/>
                                          </p:val>
                                        </p:tav>
                                        <p:tav tm="100000">
                                          <p:val>
                                            <p:strVal val="#ppt_y"/>
                                          </p:val>
                                        </p:tav>
                                      </p:tavLst>
                                    </p:anim>
                                    <p:anim calcmode="lin" valueType="num">
                                      <p:cBhvr>
                                        <p:cTn id="89" dur="500" fill="hold"/>
                                        <p:tgtEl>
                                          <p:spTgt spid="303130"/>
                                        </p:tgtEl>
                                        <p:attrNameLst>
                                          <p:attrName>ppt_w</p:attrName>
                                        </p:attrNameLst>
                                      </p:cBhvr>
                                      <p:tavLst>
                                        <p:tav tm="0">
                                          <p:val>
                                            <p:fltVal val="0"/>
                                          </p:val>
                                        </p:tav>
                                        <p:tav tm="100000">
                                          <p:val>
                                            <p:strVal val="#ppt_w"/>
                                          </p:val>
                                        </p:tav>
                                      </p:tavLst>
                                    </p:anim>
                                    <p:anim calcmode="lin" valueType="num">
                                      <p:cBhvr>
                                        <p:cTn id="90" dur="500" fill="hold"/>
                                        <p:tgtEl>
                                          <p:spTgt spid="303130"/>
                                        </p:tgtEl>
                                        <p:attrNameLst>
                                          <p:attrName>ppt_h</p:attrName>
                                        </p:attrNameLst>
                                      </p:cBhvr>
                                      <p:tavLst>
                                        <p:tav tm="0">
                                          <p:val>
                                            <p:strVal val="#ppt_h"/>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17" presetClass="entr" presetSubtype="8" fill="hold" nodeType="clickEffect">
                                  <p:stCondLst>
                                    <p:cond delay="0"/>
                                  </p:stCondLst>
                                  <p:childTnLst>
                                    <p:set>
                                      <p:cBhvr>
                                        <p:cTn id="94" dur="1" fill="hold">
                                          <p:stCondLst>
                                            <p:cond delay="0"/>
                                          </p:stCondLst>
                                        </p:cTn>
                                        <p:tgtEl>
                                          <p:spTgt spid="303129"/>
                                        </p:tgtEl>
                                        <p:attrNameLst>
                                          <p:attrName>style.visibility</p:attrName>
                                        </p:attrNameLst>
                                      </p:cBhvr>
                                      <p:to>
                                        <p:strVal val="visible"/>
                                      </p:to>
                                    </p:set>
                                    <p:anim calcmode="lin" valueType="num">
                                      <p:cBhvr>
                                        <p:cTn id="95" dur="500" fill="hold"/>
                                        <p:tgtEl>
                                          <p:spTgt spid="303129"/>
                                        </p:tgtEl>
                                        <p:attrNameLst>
                                          <p:attrName>ppt_x</p:attrName>
                                        </p:attrNameLst>
                                      </p:cBhvr>
                                      <p:tavLst>
                                        <p:tav tm="0">
                                          <p:val>
                                            <p:strVal val="#ppt_x-#ppt_w/2"/>
                                          </p:val>
                                        </p:tav>
                                        <p:tav tm="100000">
                                          <p:val>
                                            <p:strVal val="#ppt_x"/>
                                          </p:val>
                                        </p:tav>
                                      </p:tavLst>
                                    </p:anim>
                                    <p:anim calcmode="lin" valueType="num">
                                      <p:cBhvr>
                                        <p:cTn id="96" dur="500" fill="hold"/>
                                        <p:tgtEl>
                                          <p:spTgt spid="303129"/>
                                        </p:tgtEl>
                                        <p:attrNameLst>
                                          <p:attrName>ppt_y</p:attrName>
                                        </p:attrNameLst>
                                      </p:cBhvr>
                                      <p:tavLst>
                                        <p:tav tm="0">
                                          <p:val>
                                            <p:strVal val="#ppt_y"/>
                                          </p:val>
                                        </p:tav>
                                        <p:tav tm="100000">
                                          <p:val>
                                            <p:strVal val="#ppt_y"/>
                                          </p:val>
                                        </p:tav>
                                      </p:tavLst>
                                    </p:anim>
                                    <p:anim calcmode="lin" valueType="num">
                                      <p:cBhvr>
                                        <p:cTn id="97" dur="500" fill="hold"/>
                                        <p:tgtEl>
                                          <p:spTgt spid="303129"/>
                                        </p:tgtEl>
                                        <p:attrNameLst>
                                          <p:attrName>ppt_w</p:attrName>
                                        </p:attrNameLst>
                                      </p:cBhvr>
                                      <p:tavLst>
                                        <p:tav tm="0">
                                          <p:val>
                                            <p:fltVal val="0"/>
                                          </p:val>
                                        </p:tav>
                                        <p:tav tm="100000">
                                          <p:val>
                                            <p:strVal val="#ppt_w"/>
                                          </p:val>
                                        </p:tav>
                                      </p:tavLst>
                                    </p:anim>
                                    <p:anim calcmode="lin" valueType="num">
                                      <p:cBhvr>
                                        <p:cTn id="98" dur="500" fill="hold"/>
                                        <p:tgtEl>
                                          <p:spTgt spid="30312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6" grpId="0" autoUpdateAnimBg="0"/>
      <p:bldP spid="303107" grpId="0" autoUpdateAnimBg="0"/>
      <p:bldP spid="303122" grpId="0" autoUpdateAnimBg="0"/>
      <p:bldP spid="303123" grpId="0" autoUpdateAnimBg="0"/>
      <p:bldP spid="30312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8" name="Text Box 6"/>
          <p:cNvSpPr txBox="1">
            <a:spLocks noChangeArrowheads="1"/>
          </p:cNvSpPr>
          <p:nvPr/>
        </p:nvSpPr>
        <p:spPr bwMode="auto">
          <a:xfrm>
            <a:off x="3924300" y="842963"/>
            <a:ext cx="48006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ea typeface="华文中宋" pitchFamily="2" charset="-122"/>
              </a:rPr>
              <a:t>（</a:t>
            </a:r>
            <a:r>
              <a:rPr lang="en-US" altLang="zh-CN" sz="1500">
                <a:ea typeface="华文中宋" pitchFamily="2" charset="-122"/>
              </a:rPr>
              <a:t>2</a:t>
            </a:r>
            <a:r>
              <a:rPr lang="zh-CN" altLang="en-US" sz="1500">
                <a:ea typeface="华文中宋" pitchFamily="2" charset="-122"/>
              </a:rPr>
              <a:t>）如左图，取地球为</a:t>
            </a:r>
            <a:r>
              <a:rPr lang="en-US" altLang="zh-CN" sz="1500" i="1">
                <a:ea typeface="华文中宋" pitchFamily="2" charset="-122"/>
              </a:rPr>
              <a:t>S</a:t>
            </a:r>
            <a:r>
              <a:rPr lang="zh-CN" altLang="en-US" sz="1500">
                <a:ea typeface="华文中宋" pitchFamily="2" charset="-122"/>
              </a:rPr>
              <a:t>系，</a:t>
            </a:r>
            <a:r>
              <a:rPr lang="en-US" altLang="zh-CN" sz="1500">
                <a:ea typeface="华文中宋" pitchFamily="2" charset="-122"/>
              </a:rPr>
              <a:t>B</a:t>
            </a:r>
            <a:r>
              <a:rPr lang="zh-CN" altLang="en-US" sz="1500">
                <a:ea typeface="华文中宋" pitchFamily="2" charset="-122"/>
              </a:rPr>
              <a:t>为</a:t>
            </a:r>
            <a:r>
              <a:rPr lang="en-US" altLang="zh-CN" sz="1500" i="1">
                <a:ea typeface="华文中宋" pitchFamily="2" charset="-122"/>
              </a:rPr>
              <a:t>S</a:t>
            </a:r>
            <a:r>
              <a:rPr lang="en-US" altLang="zh-CN" sz="1500" baseline="30000">
                <a:ea typeface="华文中宋" pitchFamily="2" charset="-122"/>
              </a:rPr>
              <a:t>/</a:t>
            </a:r>
            <a:r>
              <a:rPr lang="zh-CN" altLang="en-US" sz="1500">
                <a:ea typeface="华文中宋" pitchFamily="2" charset="-122"/>
              </a:rPr>
              <a:t>系，则</a:t>
            </a:r>
            <a:r>
              <a:rPr lang="en-US" altLang="zh-CN" sz="1500" i="1">
                <a:ea typeface="华文中宋" pitchFamily="2" charset="-122"/>
              </a:rPr>
              <a:t>S</a:t>
            </a:r>
            <a:r>
              <a:rPr lang="en-US" altLang="zh-CN" sz="1500" baseline="30000">
                <a:ea typeface="华文中宋" pitchFamily="2" charset="-122"/>
              </a:rPr>
              <a:t>/</a:t>
            </a:r>
            <a:r>
              <a:rPr lang="zh-CN" altLang="en-US" sz="1500">
                <a:ea typeface="华文中宋" pitchFamily="2" charset="-122"/>
              </a:rPr>
              <a:t>系（即火箭</a:t>
            </a:r>
            <a:r>
              <a:rPr lang="en-US" altLang="zh-CN" sz="1500">
                <a:ea typeface="华文中宋" pitchFamily="2" charset="-122"/>
              </a:rPr>
              <a:t>B</a:t>
            </a:r>
            <a:r>
              <a:rPr lang="zh-CN" altLang="en-US" sz="1500">
                <a:ea typeface="华文中宋" pitchFamily="2" charset="-122"/>
              </a:rPr>
              <a:t>）相对于</a:t>
            </a:r>
            <a:r>
              <a:rPr lang="en-US" altLang="zh-CN" sz="1500" i="1">
                <a:ea typeface="华文中宋" pitchFamily="2" charset="-122"/>
              </a:rPr>
              <a:t>S</a:t>
            </a:r>
            <a:r>
              <a:rPr lang="zh-CN" altLang="en-US" sz="1500">
                <a:ea typeface="华文中宋" pitchFamily="2" charset="-122"/>
              </a:rPr>
              <a:t>系（即地球）的速度</a:t>
            </a:r>
            <a:r>
              <a:rPr lang="en-US" altLang="zh-CN" sz="1500" i="1">
                <a:ea typeface="华文中宋" pitchFamily="2" charset="-122"/>
              </a:rPr>
              <a:t>u</a:t>
            </a:r>
            <a:r>
              <a:rPr lang="en-US" altLang="zh-CN" sz="1500">
                <a:ea typeface="华文中宋" pitchFamily="2" charset="-122"/>
              </a:rPr>
              <a:t>=-0.6</a:t>
            </a:r>
            <a:r>
              <a:rPr lang="en-US" altLang="zh-CN" sz="1500" i="1">
                <a:ea typeface="华文中宋" pitchFamily="2" charset="-122"/>
              </a:rPr>
              <a:t>c</a:t>
            </a:r>
            <a:r>
              <a:rPr lang="en-US" altLang="zh-CN" sz="1500">
                <a:ea typeface="华文中宋" pitchFamily="2" charset="-122"/>
              </a:rPr>
              <a:t>,</a:t>
            </a:r>
            <a:r>
              <a:rPr lang="zh-CN" altLang="en-US" sz="1500">
                <a:ea typeface="华文中宋" pitchFamily="2" charset="-122"/>
              </a:rPr>
              <a:t>火箭</a:t>
            </a:r>
            <a:r>
              <a:rPr lang="en-US" altLang="zh-CN" sz="1500">
                <a:ea typeface="华文中宋" pitchFamily="2" charset="-122"/>
              </a:rPr>
              <a:t>A</a:t>
            </a:r>
            <a:r>
              <a:rPr lang="zh-CN" altLang="en-US" sz="1500">
                <a:ea typeface="华文中宋" pitchFamily="2" charset="-122"/>
              </a:rPr>
              <a:t>相对</a:t>
            </a:r>
            <a:r>
              <a:rPr lang="en-US" altLang="zh-CN" sz="1500" i="1">
                <a:ea typeface="华文中宋" pitchFamily="2" charset="-122"/>
              </a:rPr>
              <a:t>S</a:t>
            </a:r>
            <a:r>
              <a:rPr lang="zh-CN" altLang="en-US" sz="1500">
                <a:ea typeface="华文中宋" pitchFamily="2" charset="-122"/>
              </a:rPr>
              <a:t>系的速度为</a:t>
            </a:r>
            <a:r>
              <a:rPr lang="en-US" altLang="zh-CN" sz="1500" i="1">
                <a:ea typeface="华文中宋" pitchFamily="2" charset="-122"/>
              </a:rPr>
              <a:t>v</a:t>
            </a:r>
            <a:r>
              <a:rPr lang="en-US" altLang="zh-CN" sz="1500" baseline="-25000">
                <a:ea typeface="华文中宋" pitchFamily="2" charset="-122"/>
              </a:rPr>
              <a:t>x</a:t>
            </a:r>
            <a:r>
              <a:rPr lang="en-US" altLang="zh-CN" sz="1500">
                <a:ea typeface="华文中宋" pitchFamily="2" charset="-122"/>
              </a:rPr>
              <a:t>=0,</a:t>
            </a:r>
            <a:r>
              <a:rPr lang="en-US" altLang="zh-CN" sz="1500" i="1">
                <a:ea typeface="华文中宋" pitchFamily="2" charset="-122"/>
              </a:rPr>
              <a:t>v</a:t>
            </a:r>
            <a:r>
              <a:rPr lang="en-US" altLang="zh-CN" sz="1500" baseline="-25000">
                <a:ea typeface="华文中宋" pitchFamily="2" charset="-122"/>
              </a:rPr>
              <a:t>y</a:t>
            </a:r>
            <a:r>
              <a:rPr lang="en-US" altLang="zh-CN" sz="1500">
                <a:ea typeface="华文中宋" pitchFamily="2" charset="-122"/>
              </a:rPr>
              <a:t>=0.8</a:t>
            </a:r>
            <a:r>
              <a:rPr lang="en-US" altLang="zh-CN" sz="1500" i="1">
                <a:ea typeface="华文中宋" pitchFamily="2" charset="-122"/>
              </a:rPr>
              <a:t>c</a:t>
            </a:r>
            <a:r>
              <a:rPr lang="en-US" altLang="zh-CN" sz="1500">
                <a:ea typeface="华文中宋" pitchFamily="2" charset="-122"/>
              </a:rPr>
              <a:t>,</a:t>
            </a:r>
            <a:endParaRPr lang="en-US" altLang="zh-CN" sz="1500" i="1">
              <a:ea typeface="华文中宋" pitchFamily="2" charset="-122"/>
            </a:endParaRPr>
          </a:p>
        </p:txBody>
      </p:sp>
      <p:sp>
        <p:nvSpPr>
          <p:cNvPr id="305159" name="Text Box 7"/>
          <p:cNvSpPr txBox="1">
            <a:spLocks noChangeArrowheads="1"/>
          </p:cNvSpPr>
          <p:nvPr/>
        </p:nvSpPr>
        <p:spPr bwMode="auto">
          <a:xfrm>
            <a:off x="4500563" y="1600200"/>
            <a:ext cx="18272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ea typeface="华文中宋" pitchFamily="2" charset="-122"/>
              </a:rPr>
              <a:t>则</a:t>
            </a:r>
            <a:r>
              <a:rPr lang="en-US" altLang="zh-CN" sz="1500">
                <a:ea typeface="华文中宋" pitchFamily="2" charset="-122"/>
              </a:rPr>
              <a:t>A</a:t>
            </a:r>
            <a:r>
              <a:rPr lang="zh-CN" altLang="en-US" sz="1500">
                <a:ea typeface="华文中宋" pitchFamily="2" charset="-122"/>
              </a:rPr>
              <a:t>相对</a:t>
            </a:r>
            <a:r>
              <a:rPr lang="en-US" altLang="zh-CN" sz="1500">
                <a:ea typeface="华文中宋" pitchFamily="2" charset="-122"/>
              </a:rPr>
              <a:t>B</a:t>
            </a:r>
            <a:r>
              <a:rPr lang="zh-CN" altLang="en-US" sz="1500">
                <a:ea typeface="华文中宋" pitchFamily="2" charset="-122"/>
              </a:rPr>
              <a:t>的速度为</a:t>
            </a:r>
          </a:p>
        </p:txBody>
      </p:sp>
      <p:graphicFrame>
        <p:nvGraphicFramePr>
          <p:cNvPr id="305160" name="Object 8"/>
          <p:cNvGraphicFramePr>
            <a:graphicFrameLocks noChangeAspect="1"/>
          </p:cNvGraphicFramePr>
          <p:nvPr/>
        </p:nvGraphicFramePr>
        <p:xfrm>
          <a:off x="4711700" y="1981200"/>
          <a:ext cx="1660525" cy="806450"/>
        </p:xfrm>
        <a:graphic>
          <a:graphicData uri="http://schemas.openxmlformats.org/presentationml/2006/ole">
            <mc:AlternateContent xmlns:mc="http://schemas.openxmlformats.org/markup-compatibility/2006">
              <mc:Choice xmlns:v="urn:schemas-microsoft-com:vml" Requires="v">
                <p:oleObj spid="_x0000_s40999" name="Equation" r:id="rId4" imgW="685502" imgH="444307" progId="Equation.DSMT4">
                  <p:embed/>
                </p:oleObj>
              </mc:Choice>
              <mc:Fallback>
                <p:oleObj name="Equation" r:id="rId4" imgW="685502" imgH="444307"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1700" y="1981200"/>
                        <a:ext cx="1660525"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61" name="Object 9"/>
          <p:cNvGraphicFramePr>
            <a:graphicFrameLocks noChangeAspect="1"/>
          </p:cNvGraphicFramePr>
          <p:nvPr/>
        </p:nvGraphicFramePr>
        <p:xfrm>
          <a:off x="6372225" y="1978025"/>
          <a:ext cx="2160588" cy="539750"/>
        </p:xfrm>
        <a:graphic>
          <a:graphicData uri="http://schemas.openxmlformats.org/presentationml/2006/ole">
            <mc:AlternateContent xmlns:mc="http://schemas.openxmlformats.org/markup-compatibility/2006">
              <mc:Choice xmlns:v="urn:schemas-microsoft-com:vml" Requires="v">
                <p:oleObj spid="_x0000_s41000" name="公式" r:id="rId6" imgW="876300" imgH="292100" progId="Equation.3">
                  <p:embed/>
                </p:oleObj>
              </mc:Choice>
              <mc:Fallback>
                <p:oleObj name="公式" r:id="rId6" imgW="876300" imgH="2921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2225" y="1978025"/>
                        <a:ext cx="2160588"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0"/>
          <p:cNvGrpSpPr>
            <a:grpSpLocks/>
          </p:cNvGrpSpPr>
          <p:nvPr/>
        </p:nvGrpSpPr>
        <p:grpSpPr bwMode="auto">
          <a:xfrm>
            <a:off x="228600" y="928688"/>
            <a:ext cx="3541713" cy="1714500"/>
            <a:chOff x="144" y="1488"/>
            <a:chExt cx="2544" cy="1536"/>
          </a:xfrm>
        </p:grpSpPr>
        <p:sp>
          <p:nvSpPr>
            <p:cNvPr id="40976" name="Rectangle 11"/>
            <p:cNvSpPr>
              <a:spLocks noChangeArrowheads="1"/>
            </p:cNvSpPr>
            <p:nvPr/>
          </p:nvSpPr>
          <p:spPr bwMode="auto">
            <a:xfrm>
              <a:off x="144" y="1488"/>
              <a:ext cx="2544" cy="1536"/>
            </a:xfrm>
            <a:prstGeom prst="rect">
              <a:avLst/>
            </a:prstGeom>
            <a:gradFill rotWithShape="0">
              <a:gsLst>
                <a:gs pos="0">
                  <a:schemeClr val="hlink"/>
                </a:gs>
                <a:gs pos="100000">
                  <a:srgbClr val="6600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0977" name="Line 12"/>
            <p:cNvSpPr>
              <a:spLocks noChangeShapeType="1"/>
            </p:cNvSpPr>
            <p:nvPr/>
          </p:nvSpPr>
          <p:spPr bwMode="auto">
            <a:xfrm>
              <a:off x="558" y="2640"/>
              <a:ext cx="1834"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78" name="Oval 13"/>
            <p:cNvSpPr>
              <a:spLocks noChangeArrowheads="1"/>
            </p:cNvSpPr>
            <p:nvPr/>
          </p:nvSpPr>
          <p:spPr bwMode="auto">
            <a:xfrm>
              <a:off x="706" y="2128"/>
              <a:ext cx="178" cy="192"/>
            </a:xfrm>
            <a:prstGeom prst="ellipse">
              <a:avLst/>
            </a:prstGeom>
            <a:gradFill rotWithShape="0">
              <a:gsLst>
                <a:gs pos="0">
                  <a:srgbClr val="FF3300"/>
                </a:gs>
                <a:gs pos="100000">
                  <a:srgbClr val="FFFF0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0979" name="Oval 14"/>
            <p:cNvSpPr>
              <a:spLocks noChangeArrowheads="1"/>
            </p:cNvSpPr>
            <p:nvPr/>
          </p:nvSpPr>
          <p:spPr bwMode="auto">
            <a:xfrm>
              <a:off x="1801" y="2128"/>
              <a:ext cx="177" cy="192"/>
            </a:xfrm>
            <a:prstGeom prst="ellipse">
              <a:avLst/>
            </a:prstGeom>
            <a:gradFill rotWithShape="0">
              <a:gsLst>
                <a:gs pos="0">
                  <a:srgbClr val="FF3300"/>
                </a:gs>
                <a:gs pos="100000">
                  <a:srgbClr val="FFFF0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40980" name="Line 15"/>
            <p:cNvSpPr>
              <a:spLocks noChangeShapeType="1"/>
            </p:cNvSpPr>
            <p:nvPr/>
          </p:nvSpPr>
          <p:spPr bwMode="auto">
            <a:xfrm flipV="1">
              <a:off x="792" y="1824"/>
              <a:ext cx="0" cy="411"/>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981" name="Text Box 16"/>
            <p:cNvSpPr txBox="1">
              <a:spLocks noChangeArrowheads="1"/>
            </p:cNvSpPr>
            <p:nvPr/>
          </p:nvSpPr>
          <p:spPr bwMode="auto">
            <a:xfrm>
              <a:off x="672" y="1584"/>
              <a:ext cx="32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a:solidFill>
                    <a:srgbClr val="FFFF00"/>
                  </a:solidFill>
                  <a:ea typeface="宋体" pitchFamily="2" charset="-122"/>
                </a:rPr>
                <a:t>0.8c</a:t>
              </a:r>
            </a:p>
          </p:txBody>
        </p:sp>
        <p:sp>
          <p:nvSpPr>
            <p:cNvPr id="40982" name="Text Box 17"/>
            <p:cNvSpPr txBox="1">
              <a:spLocks noChangeArrowheads="1"/>
            </p:cNvSpPr>
            <p:nvPr/>
          </p:nvSpPr>
          <p:spPr bwMode="auto">
            <a:xfrm>
              <a:off x="1375" y="1744"/>
              <a:ext cx="321"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a:solidFill>
                    <a:srgbClr val="FFFF00"/>
                  </a:solidFill>
                  <a:ea typeface="宋体" pitchFamily="2" charset="-122"/>
                </a:rPr>
                <a:t>0.6c</a:t>
              </a:r>
            </a:p>
          </p:txBody>
        </p:sp>
        <p:sp>
          <p:nvSpPr>
            <p:cNvPr id="40983" name="Text Box 18"/>
            <p:cNvSpPr txBox="1">
              <a:spLocks noChangeArrowheads="1"/>
            </p:cNvSpPr>
            <p:nvPr/>
          </p:nvSpPr>
          <p:spPr bwMode="auto">
            <a:xfrm>
              <a:off x="2333" y="2576"/>
              <a:ext cx="19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b="0" i="1">
                  <a:solidFill>
                    <a:srgbClr val="FFFF00"/>
                  </a:solidFill>
                  <a:ea typeface="宋体" pitchFamily="2" charset="-122"/>
                </a:rPr>
                <a:t>x</a:t>
              </a:r>
            </a:p>
          </p:txBody>
        </p:sp>
        <p:sp>
          <p:nvSpPr>
            <p:cNvPr id="40984" name="Text Box 19"/>
            <p:cNvSpPr txBox="1">
              <a:spLocks noChangeArrowheads="1"/>
            </p:cNvSpPr>
            <p:nvPr/>
          </p:nvSpPr>
          <p:spPr bwMode="auto">
            <a:xfrm>
              <a:off x="1160" y="2608"/>
              <a:ext cx="35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solidFill>
                    <a:srgbClr val="FFFF00"/>
                  </a:solidFill>
                  <a:ea typeface="宋体" pitchFamily="2" charset="-122"/>
                </a:rPr>
                <a:t>地球</a:t>
              </a:r>
            </a:p>
          </p:txBody>
        </p:sp>
        <p:sp>
          <p:nvSpPr>
            <p:cNvPr id="40985" name="Text Box 20"/>
            <p:cNvSpPr txBox="1">
              <a:spLocks noChangeArrowheads="1"/>
            </p:cNvSpPr>
            <p:nvPr/>
          </p:nvSpPr>
          <p:spPr bwMode="auto">
            <a:xfrm>
              <a:off x="644" y="2269"/>
              <a:ext cx="20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a:solidFill>
                    <a:srgbClr val="FFFF00"/>
                  </a:solidFill>
                  <a:ea typeface="宋体" pitchFamily="2" charset="-122"/>
                </a:rPr>
                <a:t>A</a:t>
              </a:r>
            </a:p>
          </p:txBody>
        </p:sp>
        <p:sp>
          <p:nvSpPr>
            <p:cNvPr id="40986" name="Text Box 21"/>
            <p:cNvSpPr txBox="1">
              <a:spLocks noChangeArrowheads="1"/>
            </p:cNvSpPr>
            <p:nvPr/>
          </p:nvSpPr>
          <p:spPr bwMode="auto">
            <a:xfrm>
              <a:off x="1771" y="2277"/>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a:solidFill>
                    <a:srgbClr val="FFFF00"/>
                  </a:solidFill>
                  <a:ea typeface="宋体" pitchFamily="2" charset="-122"/>
                </a:rPr>
                <a:t>B</a:t>
              </a:r>
            </a:p>
          </p:txBody>
        </p:sp>
        <p:sp>
          <p:nvSpPr>
            <p:cNvPr id="40987" name="Text Box 22"/>
            <p:cNvSpPr txBox="1">
              <a:spLocks noChangeArrowheads="1"/>
            </p:cNvSpPr>
            <p:nvPr/>
          </p:nvSpPr>
          <p:spPr bwMode="auto">
            <a:xfrm>
              <a:off x="1664" y="1760"/>
              <a:ext cx="65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solidFill>
                    <a:srgbClr val="FFFF00"/>
                  </a:solidFill>
                  <a:ea typeface="宋体" pitchFamily="2" charset="-122"/>
                </a:rPr>
                <a:t>（</a:t>
              </a:r>
              <a:r>
                <a:rPr lang="en-US" altLang="zh-CN" sz="1500" i="1">
                  <a:solidFill>
                    <a:srgbClr val="FFFF00"/>
                  </a:solidFill>
                  <a:ea typeface="宋体" pitchFamily="2" charset="-122"/>
                </a:rPr>
                <a:t>S</a:t>
              </a:r>
              <a:r>
                <a:rPr lang="en-US" altLang="zh-CN" sz="1500" baseline="30000">
                  <a:solidFill>
                    <a:srgbClr val="FFFF00"/>
                  </a:solidFill>
                  <a:ea typeface="宋体" pitchFamily="2" charset="-122"/>
                </a:rPr>
                <a:t>/</a:t>
              </a:r>
              <a:r>
                <a:rPr lang="zh-CN" altLang="en-US" sz="1500">
                  <a:solidFill>
                    <a:srgbClr val="FFFF00"/>
                  </a:solidFill>
                  <a:ea typeface="宋体" pitchFamily="2" charset="-122"/>
                </a:rPr>
                <a:t>系）</a:t>
              </a:r>
            </a:p>
          </p:txBody>
        </p:sp>
        <p:sp>
          <p:nvSpPr>
            <p:cNvPr id="40988" name="Text Box 23"/>
            <p:cNvSpPr txBox="1">
              <a:spLocks noChangeArrowheads="1"/>
            </p:cNvSpPr>
            <p:nvPr/>
          </p:nvSpPr>
          <p:spPr bwMode="auto">
            <a:xfrm>
              <a:off x="1496" y="2616"/>
              <a:ext cx="802"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solidFill>
                    <a:srgbClr val="FFFF00"/>
                  </a:solidFill>
                  <a:ea typeface="宋体" pitchFamily="2" charset="-122"/>
                </a:rPr>
                <a:t>（</a:t>
              </a:r>
              <a:r>
                <a:rPr lang="en-US" altLang="zh-CN" sz="1500" i="1">
                  <a:solidFill>
                    <a:srgbClr val="FFFF00"/>
                  </a:solidFill>
                  <a:ea typeface="宋体" pitchFamily="2" charset="-122"/>
                </a:rPr>
                <a:t>S</a:t>
              </a:r>
              <a:r>
                <a:rPr lang="zh-CN" altLang="en-US" sz="1500">
                  <a:solidFill>
                    <a:srgbClr val="FFFF00"/>
                  </a:solidFill>
                  <a:ea typeface="宋体" pitchFamily="2" charset="-122"/>
                </a:rPr>
                <a:t>系）</a:t>
              </a:r>
            </a:p>
          </p:txBody>
        </p:sp>
        <p:sp>
          <p:nvSpPr>
            <p:cNvPr id="40989" name="Line 24"/>
            <p:cNvSpPr>
              <a:spLocks noChangeShapeType="1"/>
            </p:cNvSpPr>
            <p:nvPr/>
          </p:nvSpPr>
          <p:spPr bwMode="auto">
            <a:xfrm flipH="1">
              <a:off x="1504" y="2224"/>
              <a:ext cx="288" cy="0"/>
            </a:xfrm>
            <a:prstGeom prst="line">
              <a:avLst/>
            </a:prstGeom>
            <a:noFill/>
            <a:ln w="285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05177" name="Object 25"/>
          <p:cNvGraphicFramePr>
            <a:graphicFrameLocks noChangeAspect="1"/>
          </p:cNvGraphicFramePr>
          <p:nvPr/>
        </p:nvGraphicFramePr>
        <p:xfrm>
          <a:off x="3171825" y="2579688"/>
          <a:ext cx="2222500" cy="1000125"/>
        </p:xfrm>
        <a:graphic>
          <a:graphicData uri="http://schemas.openxmlformats.org/presentationml/2006/ole">
            <mc:AlternateContent xmlns:mc="http://schemas.openxmlformats.org/markup-compatibility/2006">
              <mc:Choice xmlns:v="urn:schemas-microsoft-com:vml" Requires="v">
                <p:oleObj spid="_x0000_s41001" name="Equation" r:id="rId8" imgW="888614" imgH="533169" progId="Equation.DSMT4">
                  <p:embed/>
                </p:oleObj>
              </mc:Choice>
              <mc:Fallback>
                <p:oleObj name="Equation" r:id="rId8" imgW="888614" imgH="533169" progId="Equation.DSMT4">
                  <p:embed/>
                  <p:pic>
                    <p:nvPicPr>
                      <p:cNvPr id="0" name="Object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1825" y="2579688"/>
                        <a:ext cx="2222500"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78" name="Object 26"/>
          <p:cNvGraphicFramePr>
            <a:graphicFrameLocks noChangeAspect="1"/>
          </p:cNvGraphicFramePr>
          <p:nvPr/>
        </p:nvGraphicFramePr>
        <p:xfrm>
          <a:off x="5418138" y="2784475"/>
          <a:ext cx="2016125" cy="441325"/>
        </p:xfrm>
        <a:graphic>
          <a:graphicData uri="http://schemas.openxmlformats.org/presentationml/2006/ole">
            <mc:AlternateContent xmlns:mc="http://schemas.openxmlformats.org/markup-compatibility/2006">
              <mc:Choice xmlns:v="urn:schemas-microsoft-com:vml" Requires="v">
                <p:oleObj spid="_x0000_s41002" name="公式" r:id="rId10" imgW="825500" imgH="241300" progId="Equation.3">
                  <p:embed/>
                </p:oleObj>
              </mc:Choice>
              <mc:Fallback>
                <p:oleObj name="公式" r:id="rId10" imgW="825500" imgH="241300" progId="Equation.3">
                  <p:embed/>
                  <p:pic>
                    <p:nvPicPr>
                      <p:cNvPr id="0" name="Object 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18138" y="2784475"/>
                        <a:ext cx="2016125"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79" name="Object 27"/>
          <p:cNvGraphicFramePr>
            <a:graphicFrameLocks noChangeAspect="1"/>
          </p:cNvGraphicFramePr>
          <p:nvPr/>
        </p:nvGraphicFramePr>
        <p:xfrm>
          <a:off x="7434263" y="2892425"/>
          <a:ext cx="936625" cy="274638"/>
        </p:xfrm>
        <a:graphic>
          <a:graphicData uri="http://schemas.openxmlformats.org/presentationml/2006/ole">
            <mc:AlternateContent xmlns:mc="http://schemas.openxmlformats.org/markup-compatibility/2006">
              <mc:Choice xmlns:v="urn:schemas-microsoft-com:vml" Requires="v">
                <p:oleObj spid="_x0000_s41003" name="公式" r:id="rId12" imgW="355446" imgH="139639" progId="Equation.3">
                  <p:embed/>
                </p:oleObj>
              </mc:Choice>
              <mc:Fallback>
                <p:oleObj name="公式" r:id="rId12" imgW="355446" imgH="139639"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34263" y="2892425"/>
                        <a:ext cx="936625"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5180" name="Text Box 28"/>
          <p:cNvSpPr txBox="1">
            <a:spLocks noChangeArrowheads="1"/>
          </p:cNvSpPr>
          <p:nvPr/>
        </p:nvSpPr>
        <p:spPr bwMode="auto">
          <a:xfrm>
            <a:off x="3152775" y="3473450"/>
            <a:ext cx="2211388"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ea typeface="华文中宋" pitchFamily="2" charset="-122"/>
              </a:rPr>
              <a:t>即</a:t>
            </a:r>
            <a:r>
              <a:rPr lang="en-US" altLang="zh-CN" sz="1500">
                <a:ea typeface="华文中宋" pitchFamily="2" charset="-122"/>
              </a:rPr>
              <a:t>A</a:t>
            </a:r>
            <a:r>
              <a:rPr lang="zh-CN" altLang="en-US" sz="1500">
                <a:ea typeface="华文中宋" pitchFamily="2" charset="-122"/>
              </a:rPr>
              <a:t>相对</a:t>
            </a:r>
            <a:r>
              <a:rPr lang="en-US" altLang="zh-CN" sz="1500">
                <a:ea typeface="华文中宋" pitchFamily="2" charset="-122"/>
              </a:rPr>
              <a:t>B</a:t>
            </a:r>
            <a:r>
              <a:rPr lang="zh-CN" altLang="en-US" sz="1500">
                <a:ea typeface="华文中宋" pitchFamily="2" charset="-122"/>
              </a:rPr>
              <a:t>的速度大小为</a:t>
            </a:r>
          </a:p>
        </p:txBody>
      </p:sp>
      <p:graphicFrame>
        <p:nvGraphicFramePr>
          <p:cNvPr id="305181" name="Object 29"/>
          <p:cNvGraphicFramePr>
            <a:graphicFrameLocks noChangeAspect="1"/>
          </p:cNvGraphicFramePr>
          <p:nvPr/>
        </p:nvGraphicFramePr>
        <p:xfrm>
          <a:off x="5580063" y="3292475"/>
          <a:ext cx="2970212" cy="609600"/>
        </p:xfrm>
        <a:graphic>
          <a:graphicData uri="http://schemas.openxmlformats.org/presentationml/2006/ole">
            <mc:AlternateContent xmlns:mc="http://schemas.openxmlformats.org/markup-compatibility/2006">
              <mc:Choice xmlns:v="urn:schemas-microsoft-com:vml" Requires="v">
                <p:oleObj spid="_x0000_s41004" name="公式" r:id="rId14" imgW="1066800" imgH="292100" progId="Equation.3">
                  <p:embed/>
                </p:oleObj>
              </mc:Choice>
              <mc:Fallback>
                <p:oleObj name="公式" r:id="rId14" imgW="1066800" imgH="292100" progId="Equation.3">
                  <p:embed/>
                  <p:pic>
                    <p:nvPicPr>
                      <p:cNvPr id="0"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80063" y="3292475"/>
                        <a:ext cx="2970212"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5182" name="Text Box 30"/>
          <p:cNvSpPr txBox="1">
            <a:spLocks noChangeArrowheads="1"/>
          </p:cNvSpPr>
          <p:nvPr/>
        </p:nvSpPr>
        <p:spPr bwMode="auto">
          <a:xfrm>
            <a:off x="1258888" y="4084638"/>
            <a:ext cx="205898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ea typeface="华文中宋" pitchFamily="2" charset="-122"/>
              </a:rPr>
              <a:t>速度与</a:t>
            </a:r>
            <a:r>
              <a:rPr lang="en-US" altLang="zh-CN" sz="1500" i="1">
                <a:ea typeface="华文中宋" pitchFamily="2" charset="-122"/>
              </a:rPr>
              <a:t>X</a:t>
            </a:r>
            <a:r>
              <a:rPr lang="en-US" altLang="zh-CN" sz="1500" baseline="30000">
                <a:ea typeface="华文中宋" pitchFamily="2" charset="-122"/>
              </a:rPr>
              <a:t>/</a:t>
            </a:r>
            <a:r>
              <a:rPr lang="zh-CN" altLang="en-US" sz="1500">
                <a:ea typeface="华文中宋" pitchFamily="2" charset="-122"/>
              </a:rPr>
              <a:t>轴的夹角为</a:t>
            </a:r>
          </a:p>
        </p:txBody>
      </p:sp>
      <p:graphicFrame>
        <p:nvGraphicFramePr>
          <p:cNvPr id="305183" name="Object 31"/>
          <p:cNvGraphicFramePr>
            <a:graphicFrameLocks noChangeAspect="1"/>
          </p:cNvGraphicFramePr>
          <p:nvPr/>
        </p:nvGraphicFramePr>
        <p:xfrm>
          <a:off x="3346450" y="3867150"/>
          <a:ext cx="1441450" cy="777875"/>
        </p:xfrm>
        <a:graphic>
          <a:graphicData uri="http://schemas.openxmlformats.org/presentationml/2006/ole">
            <mc:AlternateContent xmlns:mc="http://schemas.openxmlformats.org/markup-compatibility/2006">
              <mc:Choice xmlns:v="urn:schemas-microsoft-com:vml" Requires="v">
                <p:oleObj spid="_x0000_s41005" name="公式" r:id="rId16" imgW="545863" imgH="393529" progId="Equation.3">
                  <p:embed/>
                </p:oleObj>
              </mc:Choice>
              <mc:Fallback>
                <p:oleObj name="公式" r:id="rId16" imgW="545863" imgH="393529" progId="Equation.3">
                  <p:embed/>
                  <p:pic>
                    <p:nvPicPr>
                      <p:cNvPr id="0" name="Object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346450" y="3867150"/>
                        <a:ext cx="1441450"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84" name="Object 32"/>
          <p:cNvGraphicFramePr>
            <a:graphicFrameLocks noChangeAspect="1"/>
          </p:cNvGraphicFramePr>
          <p:nvPr/>
        </p:nvGraphicFramePr>
        <p:xfrm>
          <a:off x="4859338" y="3960813"/>
          <a:ext cx="1724025" cy="573087"/>
        </p:xfrm>
        <a:graphic>
          <a:graphicData uri="http://schemas.openxmlformats.org/presentationml/2006/ole">
            <mc:AlternateContent xmlns:mc="http://schemas.openxmlformats.org/markup-compatibility/2006">
              <mc:Choice xmlns:v="urn:schemas-microsoft-com:vml" Requires="v">
                <p:oleObj spid="_x0000_s41006" name="公式" r:id="rId18" imgW="660113" imgH="291973" progId="Equation.3">
                  <p:embed/>
                </p:oleObj>
              </mc:Choice>
              <mc:Fallback>
                <p:oleObj name="公式" r:id="rId18" imgW="660113" imgH="291973" progId="Equation.3">
                  <p:embed/>
                  <p:pic>
                    <p:nvPicPr>
                      <p:cNvPr id="0" name="Object 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59338" y="3960813"/>
                        <a:ext cx="1724025" cy="573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5185" name="Object 33"/>
          <p:cNvGraphicFramePr>
            <a:graphicFrameLocks noChangeAspect="1"/>
          </p:cNvGraphicFramePr>
          <p:nvPr/>
        </p:nvGraphicFramePr>
        <p:xfrm>
          <a:off x="6875463" y="4013200"/>
          <a:ext cx="1225550" cy="363538"/>
        </p:xfrm>
        <a:graphic>
          <a:graphicData uri="http://schemas.openxmlformats.org/presentationml/2006/ole">
            <mc:AlternateContent xmlns:mc="http://schemas.openxmlformats.org/markup-compatibility/2006">
              <mc:Choice xmlns:v="urn:schemas-microsoft-com:vml" Requires="v">
                <p:oleObj spid="_x0000_s41007" name="公式" r:id="rId20" imgW="482391" imgH="190417" progId="Equation.3">
                  <p:embed/>
                </p:oleObj>
              </mc:Choice>
              <mc:Fallback>
                <p:oleObj name="公式" r:id="rId20" imgW="482391" imgH="190417" progId="Equation.3">
                  <p:embed/>
                  <p:pic>
                    <p:nvPicPr>
                      <p:cNvPr id="0" name="Object 3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875463" y="4013200"/>
                        <a:ext cx="1225550" cy="363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305158"/>
                                        </p:tgtEl>
                                        <p:attrNameLst>
                                          <p:attrName>style.visibility</p:attrName>
                                        </p:attrNameLst>
                                      </p:cBhvr>
                                      <p:to>
                                        <p:strVal val="visible"/>
                                      </p:to>
                                    </p:set>
                                    <p:anim calcmode="lin" valueType="num">
                                      <p:cBhvr>
                                        <p:cTn id="7" dur="500" fill="hold"/>
                                        <p:tgtEl>
                                          <p:spTgt spid="305158"/>
                                        </p:tgtEl>
                                        <p:attrNameLst>
                                          <p:attrName>ppt_x</p:attrName>
                                        </p:attrNameLst>
                                      </p:cBhvr>
                                      <p:tavLst>
                                        <p:tav tm="0">
                                          <p:val>
                                            <p:strVal val="#ppt_x-#ppt_w/2"/>
                                          </p:val>
                                        </p:tav>
                                        <p:tav tm="100000">
                                          <p:val>
                                            <p:strVal val="#ppt_x"/>
                                          </p:val>
                                        </p:tav>
                                      </p:tavLst>
                                    </p:anim>
                                    <p:anim calcmode="lin" valueType="num">
                                      <p:cBhvr>
                                        <p:cTn id="8" dur="500" fill="hold"/>
                                        <p:tgtEl>
                                          <p:spTgt spid="305158"/>
                                        </p:tgtEl>
                                        <p:attrNameLst>
                                          <p:attrName>ppt_y</p:attrName>
                                        </p:attrNameLst>
                                      </p:cBhvr>
                                      <p:tavLst>
                                        <p:tav tm="0">
                                          <p:val>
                                            <p:strVal val="#ppt_y"/>
                                          </p:val>
                                        </p:tav>
                                        <p:tav tm="100000">
                                          <p:val>
                                            <p:strVal val="#ppt_y"/>
                                          </p:val>
                                        </p:tav>
                                      </p:tavLst>
                                    </p:anim>
                                    <p:anim calcmode="lin" valueType="num">
                                      <p:cBhvr>
                                        <p:cTn id="9" dur="500" fill="hold"/>
                                        <p:tgtEl>
                                          <p:spTgt spid="305158"/>
                                        </p:tgtEl>
                                        <p:attrNameLst>
                                          <p:attrName>ppt_w</p:attrName>
                                        </p:attrNameLst>
                                      </p:cBhvr>
                                      <p:tavLst>
                                        <p:tav tm="0">
                                          <p:val>
                                            <p:fltVal val="0"/>
                                          </p:val>
                                        </p:tav>
                                        <p:tav tm="100000">
                                          <p:val>
                                            <p:strVal val="#ppt_w"/>
                                          </p:val>
                                        </p:tav>
                                      </p:tavLst>
                                    </p:anim>
                                    <p:anim calcmode="lin" valueType="num">
                                      <p:cBhvr>
                                        <p:cTn id="10" dur="500" fill="hold"/>
                                        <p:tgtEl>
                                          <p:spTgt spid="305158"/>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500"/>
                            </p:stCondLst>
                            <p:childTnLst>
                              <p:par>
                                <p:cTn id="12" presetID="23" presetClass="entr" presetSubtype="16"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305159"/>
                                        </p:tgtEl>
                                        <p:attrNameLst>
                                          <p:attrName>style.visibility</p:attrName>
                                        </p:attrNameLst>
                                      </p:cBhvr>
                                      <p:to>
                                        <p:strVal val="visible"/>
                                      </p:to>
                                    </p:set>
                                    <p:anim calcmode="lin" valueType="num">
                                      <p:cBhvr>
                                        <p:cTn id="20" dur="500" fill="hold"/>
                                        <p:tgtEl>
                                          <p:spTgt spid="305159"/>
                                        </p:tgtEl>
                                        <p:attrNameLst>
                                          <p:attrName>ppt_x</p:attrName>
                                        </p:attrNameLst>
                                      </p:cBhvr>
                                      <p:tavLst>
                                        <p:tav tm="0">
                                          <p:val>
                                            <p:strVal val="#ppt_x-#ppt_w/2"/>
                                          </p:val>
                                        </p:tav>
                                        <p:tav tm="100000">
                                          <p:val>
                                            <p:strVal val="#ppt_x"/>
                                          </p:val>
                                        </p:tav>
                                      </p:tavLst>
                                    </p:anim>
                                    <p:anim calcmode="lin" valueType="num">
                                      <p:cBhvr>
                                        <p:cTn id="21" dur="500" fill="hold"/>
                                        <p:tgtEl>
                                          <p:spTgt spid="305159"/>
                                        </p:tgtEl>
                                        <p:attrNameLst>
                                          <p:attrName>ppt_y</p:attrName>
                                        </p:attrNameLst>
                                      </p:cBhvr>
                                      <p:tavLst>
                                        <p:tav tm="0">
                                          <p:val>
                                            <p:strVal val="#ppt_y"/>
                                          </p:val>
                                        </p:tav>
                                        <p:tav tm="100000">
                                          <p:val>
                                            <p:strVal val="#ppt_y"/>
                                          </p:val>
                                        </p:tav>
                                      </p:tavLst>
                                    </p:anim>
                                    <p:anim calcmode="lin" valueType="num">
                                      <p:cBhvr>
                                        <p:cTn id="22" dur="500" fill="hold"/>
                                        <p:tgtEl>
                                          <p:spTgt spid="305159"/>
                                        </p:tgtEl>
                                        <p:attrNameLst>
                                          <p:attrName>ppt_w</p:attrName>
                                        </p:attrNameLst>
                                      </p:cBhvr>
                                      <p:tavLst>
                                        <p:tav tm="0">
                                          <p:val>
                                            <p:fltVal val="0"/>
                                          </p:val>
                                        </p:tav>
                                        <p:tav tm="100000">
                                          <p:val>
                                            <p:strVal val="#ppt_w"/>
                                          </p:val>
                                        </p:tav>
                                      </p:tavLst>
                                    </p:anim>
                                    <p:anim calcmode="lin" valueType="num">
                                      <p:cBhvr>
                                        <p:cTn id="23" dur="500" fill="hold"/>
                                        <p:tgtEl>
                                          <p:spTgt spid="305159"/>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nodeType="clickEffect">
                                  <p:stCondLst>
                                    <p:cond delay="0"/>
                                  </p:stCondLst>
                                  <p:childTnLst>
                                    <p:set>
                                      <p:cBhvr>
                                        <p:cTn id="27" dur="1" fill="hold">
                                          <p:stCondLst>
                                            <p:cond delay="0"/>
                                          </p:stCondLst>
                                        </p:cTn>
                                        <p:tgtEl>
                                          <p:spTgt spid="305160"/>
                                        </p:tgtEl>
                                        <p:attrNameLst>
                                          <p:attrName>style.visibility</p:attrName>
                                        </p:attrNameLst>
                                      </p:cBhvr>
                                      <p:to>
                                        <p:strVal val="visible"/>
                                      </p:to>
                                    </p:set>
                                    <p:anim calcmode="lin" valueType="num">
                                      <p:cBhvr>
                                        <p:cTn id="28" dur="500" fill="hold"/>
                                        <p:tgtEl>
                                          <p:spTgt spid="305160"/>
                                        </p:tgtEl>
                                        <p:attrNameLst>
                                          <p:attrName>ppt_x</p:attrName>
                                        </p:attrNameLst>
                                      </p:cBhvr>
                                      <p:tavLst>
                                        <p:tav tm="0">
                                          <p:val>
                                            <p:strVal val="#ppt_x-#ppt_w/2"/>
                                          </p:val>
                                        </p:tav>
                                        <p:tav tm="100000">
                                          <p:val>
                                            <p:strVal val="#ppt_x"/>
                                          </p:val>
                                        </p:tav>
                                      </p:tavLst>
                                    </p:anim>
                                    <p:anim calcmode="lin" valueType="num">
                                      <p:cBhvr>
                                        <p:cTn id="29" dur="500" fill="hold"/>
                                        <p:tgtEl>
                                          <p:spTgt spid="305160"/>
                                        </p:tgtEl>
                                        <p:attrNameLst>
                                          <p:attrName>ppt_y</p:attrName>
                                        </p:attrNameLst>
                                      </p:cBhvr>
                                      <p:tavLst>
                                        <p:tav tm="0">
                                          <p:val>
                                            <p:strVal val="#ppt_y"/>
                                          </p:val>
                                        </p:tav>
                                        <p:tav tm="100000">
                                          <p:val>
                                            <p:strVal val="#ppt_y"/>
                                          </p:val>
                                        </p:tav>
                                      </p:tavLst>
                                    </p:anim>
                                    <p:anim calcmode="lin" valueType="num">
                                      <p:cBhvr>
                                        <p:cTn id="30" dur="500" fill="hold"/>
                                        <p:tgtEl>
                                          <p:spTgt spid="305160"/>
                                        </p:tgtEl>
                                        <p:attrNameLst>
                                          <p:attrName>ppt_w</p:attrName>
                                        </p:attrNameLst>
                                      </p:cBhvr>
                                      <p:tavLst>
                                        <p:tav tm="0">
                                          <p:val>
                                            <p:fltVal val="0"/>
                                          </p:val>
                                        </p:tav>
                                        <p:tav tm="100000">
                                          <p:val>
                                            <p:strVal val="#ppt_w"/>
                                          </p:val>
                                        </p:tav>
                                      </p:tavLst>
                                    </p:anim>
                                    <p:anim calcmode="lin" valueType="num">
                                      <p:cBhvr>
                                        <p:cTn id="31" dur="500" fill="hold"/>
                                        <p:tgtEl>
                                          <p:spTgt spid="305160"/>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nodeType="clickEffect">
                                  <p:stCondLst>
                                    <p:cond delay="0"/>
                                  </p:stCondLst>
                                  <p:childTnLst>
                                    <p:set>
                                      <p:cBhvr>
                                        <p:cTn id="35" dur="1" fill="hold">
                                          <p:stCondLst>
                                            <p:cond delay="0"/>
                                          </p:stCondLst>
                                        </p:cTn>
                                        <p:tgtEl>
                                          <p:spTgt spid="305161"/>
                                        </p:tgtEl>
                                        <p:attrNameLst>
                                          <p:attrName>style.visibility</p:attrName>
                                        </p:attrNameLst>
                                      </p:cBhvr>
                                      <p:to>
                                        <p:strVal val="visible"/>
                                      </p:to>
                                    </p:set>
                                    <p:anim calcmode="lin" valueType="num">
                                      <p:cBhvr>
                                        <p:cTn id="36" dur="500" fill="hold"/>
                                        <p:tgtEl>
                                          <p:spTgt spid="305161"/>
                                        </p:tgtEl>
                                        <p:attrNameLst>
                                          <p:attrName>ppt_x</p:attrName>
                                        </p:attrNameLst>
                                      </p:cBhvr>
                                      <p:tavLst>
                                        <p:tav tm="0">
                                          <p:val>
                                            <p:strVal val="#ppt_x-#ppt_w/2"/>
                                          </p:val>
                                        </p:tav>
                                        <p:tav tm="100000">
                                          <p:val>
                                            <p:strVal val="#ppt_x"/>
                                          </p:val>
                                        </p:tav>
                                      </p:tavLst>
                                    </p:anim>
                                    <p:anim calcmode="lin" valueType="num">
                                      <p:cBhvr>
                                        <p:cTn id="37" dur="500" fill="hold"/>
                                        <p:tgtEl>
                                          <p:spTgt spid="305161"/>
                                        </p:tgtEl>
                                        <p:attrNameLst>
                                          <p:attrName>ppt_y</p:attrName>
                                        </p:attrNameLst>
                                      </p:cBhvr>
                                      <p:tavLst>
                                        <p:tav tm="0">
                                          <p:val>
                                            <p:strVal val="#ppt_y"/>
                                          </p:val>
                                        </p:tav>
                                        <p:tav tm="100000">
                                          <p:val>
                                            <p:strVal val="#ppt_y"/>
                                          </p:val>
                                        </p:tav>
                                      </p:tavLst>
                                    </p:anim>
                                    <p:anim calcmode="lin" valueType="num">
                                      <p:cBhvr>
                                        <p:cTn id="38" dur="500" fill="hold"/>
                                        <p:tgtEl>
                                          <p:spTgt spid="305161"/>
                                        </p:tgtEl>
                                        <p:attrNameLst>
                                          <p:attrName>ppt_w</p:attrName>
                                        </p:attrNameLst>
                                      </p:cBhvr>
                                      <p:tavLst>
                                        <p:tav tm="0">
                                          <p:val>
                                            <p:fltVal val="0"/>
                                          </p:val>
                                        </p:tav>
                                        <p:tav tm="100000">
                                          <p:val>
                                            <p:strVal val="#ppt_w"/>
                                          </p:val>
                                        </p:tav>
                                      </p:tavLst>
                                    </p:anim>
                                    <p:anim calcmode="lin" valueType="num">
                                      <p:cBhvr>
                                        <p:cTn id="39" dur="500" fill="hold"/>
                                        <p:tgtEl>
                                          <p:spTgt spid="305161"/>
                                        </p:tgtEl>
                                        <p:attrNameLst>
                                          <p:attrName>ppt_h</p:attrName>
                                        </p:attrNameLst>
                                      </p:cBhvr>
                                      <p:tavLst>
                                        <p:tav tm="0">
                                          <p:val>
                                            <p:strVal val="#ppt_h"/>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8" fill="hold" nodeType="clickEffect">
                                  <p:stCondLst>
                                    <p:cond delay="0"/>
                                  </p:stCondLst>
                                  <p:childTnLst>
                                    <p:set>
                                      <p:cBhvr>
                                        <p:cTn id="43" dur="1" fill="hold">
                                          <p:stCondLst>
                                            <p:cond delay="0"/>
                                          </p:stCondLst>
                                        </p:cTn>
                                        <p:tgtEl>
                                          <p:spTgt spid="305177"/>
                                        </p:tgtEl>
                                        <p:attrNameLst>
                                          <p:attrName>style.visibility</p:attrName>
                                        </p:attrNameLst>
                                      </p:cBhvr>
                                      <p:to>
                                        <p:strVal val="visible"/>
                                      </p:to>
                                    </p:set>
                                    <p:anim calcmode="lin" valueType="num">
                                      <p:cBhvr>
                                        <p:cTn id="44" dur="500" fill="hold"/>
                                        <p:tgtEl>
                                          <p:spTgt spid="305177"/>
                                        </p:tgtEl>
                                        <p:attrNameLst>
                                          <p:attrName>ppt_x</p:attrName>
                                        </p:attrNameLst>
                                      </p:cBhvr>
                                      <p:tavLst>
                                        <p:tav tm="0">
                                          <p:val>
                                            <p:strVal val="#ppt_x-#ppt_w/2"/>
                                          </p:val>
                                        </p:tav>
                                        <p:tav tm="100000">
                                          <p:val>
                                            <p:strVal val="#ppt_x"/>
                                          </p:val>
                                        </p:tav>
                                      </p:tavLst>
                                    </p:anim>
                                    <p:anim calcmode="lin" valueType="num">
                                      <p:cBhvr>
                                        <p:cTn id="45" dur="500" fill="hold"/>
                                        <p:tgtEl>
                                          <p:spTgt spid="305177"/>
                                        </p:tgtEl>
                                        <p:attrNameLst>
                                          <p:attrName>ppt_y</p:attrName>
                                        </p:attrNameLst>
                                      </p:cBhvr>
                                      <p:tavLst>
                                        <p:tav tm="0">
                                          <p:val>
                                            <p:strVal val="#ppt_y"/>
                                          </p:val>
                                        </p:tav>
                                        <p:tav tm="100000">
                                          <p:val>
                                            <p:strVal val="#ppt_y"/>
                                          </p:val>
                                        </p:tav>
                                      </p:tavLst>
                                    </p:anim>
                                    <p:anim calcmode="lin" valueType="num">
                                      <p:cBhvr>
                                        <p:cTn id="46" dur="500" fill="hold"/>
                                        <p:tgtEl>
                                          <p:spTgt spid="305177"/>
                                        </p:tgtEl>
                                        <p:attrNameLst>
                                          <p:attrName>ppt_w</p:attrName>
                                        </p:attrNameLst>
                                      </p:cBhvr>
                                      <p:tavLst>
                                        <p:tav tm="0">
                                          <p:val>
                                            <p:fltVal val="0"/>
                                          </p:val>
                                        </p:tav>
                                        <p:tav tm="100000">
                                          <p:val>
                                            <p:strVal val="#ppt_w"/>
                                          </p:val>
                                        </p:tav>
                                      </p:tavLst>
                                    </p:anim>
                                    <p:anim calcmode="lin" valueType="num">
                                      <p:cBhvr>
                                        <p:cTn id="47" dur="500" fill="hold"/>
                                        <p:tgtEl>
                                          <p:spTgt spid="305177"/>
                                        </p:tgtEl>
                                        <p:attrNameLst>
                                          <p:attrName>ppt_h</p:attrName>
                                        </p:attrNameLst>
                                      </p:cBhvr>
                                      <p:tavLst>
                                        <p:tav tm="0">
                                          <p:val>
                                            <p:strVal val="#ppt_h"/>
                                          </p:val>
                                        </p:tav>
                                        <p:tav tm="100000">
                                          <p:val>
                                            <p:strVal val="#ppt_h"/>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8" fill="hold" nodeType="clickEffect">
                                  <p:stCondLst>
                                    <p:cond delay="0"/>
                                  </p:stCondLst>
                                  <p:childTnLst>
                                    <p:set>
                                      <p:cBhvr>
                                        <p:cTn id="51" dur="1" fill="hold">
                                          <p:stCondLst>
                                            <p:cond delay="0"/>
                                          </p:stCondLst>
                                        </p:cTn>
                                        <p:tgtEl>
                                          <p:spTgt spid="305178"/>
                                        </p:tgtEl>
                                        <p:attrNameLst>
                                          <p:attrName>style.visibility</p:attrName>
                                        </p:attrNameLst>
                                      </p:cBhvr>
                                      <p:to>
                                        <p:strVal val="visible"/>
                                      </p:to>
                                    </p:set>
                                    <p:anim calcmode="lin" valueType="num">
                                      <p:cBhvr>
                                        <p:cTn id="52" dur="500" fill="hold"/>
                                        <p:tgtEl>
                                          <p:spTgt spid="305178"/>
                                        </p:tgtEl>
                                        <p:attrNameLst>
                                          <p:attrName>ppt_x</p:attrName>
                                        </p:attrNameLst>
                                      </p:cBhvr>
                                      <p:tavLst>
                                        <p:tav tm="0">
                                          <p:val>
                                            <p:strVal val="#ppt_x-#ppt_w/2"/>
                                          </p:val>
                                        </p:tav>
                                        <p:tav tm="100000">
                                          <p:val>
                                            <p:strVal val="#ppt_x"/>
                                          </p:val>
                                        </p:tav>
                                      </p:tavLst>
                                    </p:anim>
                                    <p:anim calcmode="lin" valueType="num">
                                      <p:cBhvr>
                                        <p:cTn id="53" dur="500" fill="hold"/>
                                        <p:tgtEl>
                                          <p:spTgt spid="305178"/>
                                        </p:tgtEl>
                                        <p:attrNameLst>
                                          <p:attrName>ppt_y</p:attrName>
                                        </p:attrNameLst>
                                      </p:cBhvr>
                                      <p:tavLst>
                                        <p:tav tm="0">
                                          <p:val>
                                            <p:strVal val="#ppt_y"/>
                                          </p:val>
                                        </p:tav>
                                        <p:tav tm="100000">
                                          <p:val>
                                            <p:strVal val="#ppt_y"/>
                                          </p:val>
                                        </p:tav>
                                      </p:tavLst>
                                    </p:anim>
                                    <p:anim calcmode="lin" valueType="num">
                                      <p:cBhvr>
                                        <p:cTn id="54" dur="500" fill="hold"/>
                                        <p:tgtEl>
                                          <p:spTgt spid="305178"/>
                                        </p:tgtEl>
                                        <p:attrNameLst>
                                          <p:attrName>ppt_w</p:attrName>
                                        </p:attrNameLst>
                                      </p:cBhvr>
                                      <p:tavLst>
                                        <p:tav tm="0">
                                          <p:val>
                                            <p:fltVal val="0"/>
                                          </p:val>
                                        </p:tav>
                                        <p:tav tm="100000">
                                          <p:val>
                                            <p:strVal val="#ppt_w"/>
                                          </p:val>
                                        </p:tav>
                                      </p:tavLst>
                                    </p:anim>
                                    <p:anim calcmode="lin" valueType="num">
                                      <p:cBhvr>
                                        <p:cTn id="55" dur="500" fill="hold"/>
                                        <p:tgtEl>
                                          <p:spTgt spid="305178"/>
                                        </p:tgtEl>
                                        <p:attrNameLst>
                                          <p:attrName>ppt_h</p:attrName>
                                        </p:attrNameLst>
                                      </p:cBhvr>
                                      <p:tavLst>
                                        <p:tav tm="0">
                                          <p:val>
                                            <p:strVal val="#ppt_h"/>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7" presetClass="entr" presetSubtype="8" fill="hold" nodeType="clickEffect">
                                  <p:stCondLst>
                                    <p:cond delay="0"/>
                                  </p:stCondLst>
                                  <p:childTnLst>
                                    <p:set>
                                      <p:cBhvr>
                                        <p:cTn id="59" dur="1" fill="hold">
                                          <p:stCondLst>
                                            <p:cond delay="0"/>
                                          </p:stCondLst>
                                        </p:cTn>
                                        <p:tgtEl>
                                          <p:spTgt spid="305179"/>
                                        </p:tgtEl>
                                        <p:attrNameLst>
                                          <p:attrName>style.visibility</p:attrName>
                                        </p:attrNameLst>
                                      </p:cBhvr>
                                      <p:to>
                                        <p:strVal val="visible"/>
                                      </p:to>
                                    </p:set>
                                    <p:anim calcmode="lin" valueType="num">
                                      <p:cBhvr>
                                        <p:cTn id="60" dur="500" fill="hold"/>
                                        <p:tgtEl>
                                          <p:spTgt spid="305179"/>
                                        </p:tgtEl>
                                        <p:attrNameLst>
                                          <p:attrName>ppt_x</p:attrName>
                                        </p:attrNameLst>
                                      </p:cBhvr>
                                      <p:tavLst>
                                        <p:tav tm="0">
                                          <p:val>
                                            <p:strVal val="#ppt_x-#ppt_w/2"/>
                                          </p:val>
                                        </p:tav>
                                        <p:tav tm="100000">
                                          <p:val>
                                            <p:strVal val="#ppt_x"/>
                                          </p:val>
                                        </p:tav>
                                      </p:tavLst>
                                    </p:anim>
                                    <p:anim calcmode="lin" valueType="num">
                                      <p:cBhvr>
                                        <p:cTn id="61" dur="500" fill="hold"/>
                                        <p:tgtEl>
                                          <p:spTgt spid="305179"/>
                                        </p:tgtEl>
                                        <p:attrNameLst>
                                          <p:attrName>ppt_y</p:attrName>
                                        </p:attrNameLst>
                                      </p:cBhvr>
                                      <p:tavLst>
                                        <p:tav tm="0">
                                          <p:val>
                                            <p:strVal val="#ppt_y"/>
                                          </p:val>
                                        </p:tav>
                                        <p:tav tm="100000">
                                          <p:val>
                                            <p:strVal val="#ppt_y"/>
                                          </p:val>
                                        </p:tav>
                                      </p:tavLst>
                                    </p:anim>
                                    <p:anim calcmode="lin" valueType="num">
                                      <p:cBhvr>
                                        <p:cTn id="62" dur="500" fill="hold"/>
                                        <p:tgtEl>
                                          <p:spTgt spid="305179"/>
                                        </p:tgtEl>
                                        <p:attrNameLst>
                                          <p:attrName>ppt_w</p:attrName>
                                        </p:attrNameLst>
                                      </p:cBhvr>
                                      <p:tavLst>
                                        <p:tav tm="0">
                                          <p:val>
                                            <p:fltVal val="0"/>
                                          </p:val>
                                        </p:tav>
                                        <p:tav tm="100000">
                                          <p:val>
                                            <p:strVal val="#ppt_w"/>
                                          </p:val>
                                        </p:tav>
                                      </p:tavLst>
                                    </p:anim>
                                    <p:anim calcmode="lin" valueType="num">
                                      <p:cBhvr>
                                        <p:cTn id="63" dur="500" fill="hold"/>
                                        <p:tgtEl>
                                          <p:spTgt spid="305179"/>
                                        </p:tgtEl>
                                        <p:attrNameLst>
                                          <p:attrName>ppt_h</p:attrName>
                                        </p:attrNameLst>
                                      </p:cBhvr>
                                      <p:tavLst>
                                        <p:tav tm="0">
                                          <p:val>
                                            <p:strVal val="#ppt_h"/>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8" fill="hold" grpId="0" nodeType="clickEffect">
                                  <p:stCondLst>
                                    <p:cond delay="0"/>
                                  </p:stCondLst>
                                  <p:childTnLst>
                                    <p:set>
                                      <p:cBhvr>
                                        <p:cTn id="67" dur="1" fill="hold">
                                          <p:stCondLst>
                                            <p:cond delay="0"/>
                                          </p:stCondLst>
                                        </p:cTn>
                                        <p:tgtEl>
                                          <p:spTgt spid="305180"/>
                                        </p:tgtEl>
                                        <p:attrNameLst>
                                          <p:attrName>style.visibility</p:attrName>
                                        </p:attrNameLst>
                                      </p:cBhvr>
                                      <p:to>
                                        <p:strVal val="visible"/>
                                      </p:to>
                                    </p:set>
                                    <p:anim calcmode="lin" valueType="num">
                                      <p:cBhvr>
                                        <p:cTn id="68" dur="500" fill="hold"/>
                                        <p:tgtEl>
                                          <p:spTgt spid="305180"/>
                                        </p:tgtEl>
                                        <p:attrNameLst>
                                          <p:attrName>ppt_x</p:attrName>
                                        </p:attrNameLst>
                                      </p:cBhvr>
                                      <p:tavLst>
                                        <p:tav tm="0">
                                          <p:val>
                                            <p:strVal val="#ppt_x-#ppt_w/2"/>
                                          </p:val>
                                        </p:tav>
                                        <p:tav tm="100000">
                                          <p:val>
                                            <p:strVal val="#ppt_x"/>
                                          </p:val>
                                        </p:tav>
                                      </p:tavLst>
                                    </p:anim>
                                    <p:anim calcmode="lin" valueType="num">
                                      <p:cBhvr>
                                        <p:cTn id="69" dur="500" fill="hold"/>
                                        <p:tgtEl>
                                          <p:spTgt spid="305180"/>
                                        </p:tgtEl>
                                        <p:attrNameLst>
                                          <p:attrName>ppt_y</p:attrName>
                                        </p:attrNameLst>
                                      </p:cBhvr>
                                      <p:tavLst>
                                        <p:tav tm="0">
                                          <p:val>
                                            <p:strVal val="#ppt_y"/>
                                          </p:val>
                                        </p:tav>
                                        <p:tav tm="100000">
                                          <p:val>
                                            <p:strVal val="#ppt_y"/>
                                          </p:val>
                                        </p:tav>
                                      </p:tavLst>
                                    </p:anim>
                                    <p:anim calcmode="lin" valueType="num">
                                      <p:cBhvr>
                                        <p:cTn id="70" dur="500" fill="hold"/>
                                        <p:tgtEl>
                                          <p:spTgt spid="305180"/>
                                        </p:tgtEl>
                                        <p:attrNameLst>
                                          <p:attrName>ppt_w</p:attrName>
                                        </p:attrNameLst>
                                      </p:cBhvr>
                                      <p:tavLst>
                                        <p:tav tm="0">
                                          <p:val>
                                            <p:fltVal val="0"/>
                                          </p:val>
                                        </p:tav>
                                        <p:tav tm="100000">
                                          <p:val>
                                            <p:strVal val="#ppt_w"/>
                                          </p:val>
                                        </p:tav>
                                      </p:tavLst>
                                    </p:anim>
                                    <p:anim calcmode="lin" valueType="num">
                                      <p:cBhvr>
                                        <p:cTn id="71" dur="500" fill="hold"/>
                                        <p:tgtEl>
                                          <p:spTgt spid="305180"/>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7" presetClass="entr" presetSubtype="8" fill="hold" nodeType="clickEffect">
                                  <p:stCondLst>
                                    <p:cond delay="0"/>
                                  </p:stCondLst>
                                  <p:childTnLst>
                                    <p:set>
                                      <p:cBhvr>
                                        <p:cTn id="75" dur="1" fill="hold">
                                          <p:stCondLst>
                                            <p:cond delay="0"/>
                                          </p:stCondLst>
                                        </p:cTn>
                                        <p:tgtEl>
                                          <p:spTgt spid="305181"/>
                                        </p:tgtEl>
                                        <p:attrNameLst>
                                          <p:attrName>style.visibility</p:attrName>
                                        </p:attrNameLst>
                                      </p:cBhvr>
                                      <p:to>
                                        <p:strVal val="visible"/>
                                      </p:to>
                                    </p:set>
                                    <p:anim calcmode="lin" valueType="num">
                                      <p:cBhvr>
                                        <p:cTn id="76" dur="500" fill="hold"/>
                                        <p:tgtEl>
                                          <p:spTgt spid="305181"/>
                                        </p:tgtEl>
                                        <p:attrNameLst>
                                          <p:attrName>ppt_x</p:attrName>
                                        </p:attrNameLst>
                                      </p:cBhvr>
                                      <p:tavLst>
                                        <p:tav tm="0">
                                          <p:val>
                                            <p:strVal val="#ppt_x-#ppt_w/2"/>
                                          </p:val>
                                        </p:tav>
                                        <p:tav tm="100000">
                                          <p:val>
                                            <p:strVal val="#ppt_x"/>
                                          </p:val>
                                        </p:tav>
                                      </p:tavLst>
                                    </p:anim>
                                    <p:anim calcmode="lin" valueType="num">
                                      <p:cBhvr>
                                        <p:cTn id="77" dur="500" fill="hold"/>
                                        <p:tgtEl>
                                          <p:spTgt spid="305181"/>
                                        </p:tgtEl>
                                        <p:attrNameLst>
                                          <p:attrName>ppt_y</p:attrName>
                                        </p:attrNameLst>
                                      </p:cBhvr>
                                      <p:tavLst>
                                        <p:tav tm="0">
                                          <p:val>
                                            <p:strVal val="#ppt_y"/>
                                          </p:val>
                                        </p:tav>
                                        <p:tav tm="100000">
                                          <p:val>
                                            <p:strVal val="#ppt_y"/>
                                          </p:val>
                                        </p:tav>
                                      </p:tavLst>
                                    </p:anim>
                                    <p:anim calcmode="lin" valueType="num">
                                      <p:cBhvr>
                                        <p:cTn id="78" dur="500" fill="hold"/>
                                        <p:tgtEl>
                                          <p:spTgt spid="305181"/>
                                        </p:tgtEl>
                                        <p:attrNameLst>
                                          <p:attrName>ppt_w</p:attrName>
                                        </p:attrNameLst>
                                      </p:cBhvr>
                                      <p:tavLst>
                                        <p:tav tm="0">
                                          <p:val>
                                            <p:fltVal val="0"/>
                                          </p:val>
                                        </p:tav>
                                        <p:tav tm="100000">
                                          <p:val>
                                            <p:strVal val="#ppt_w"/>
                                          </p:val>
                                        </p:tav>
                                      </p:tavLst>
                                    </p:anim>
                                    <p:anim calcmode="lin" valueType="num">
                                      <p:cBhvr>
                                        <p:cTn id="79" dur="500" fill="hold"/>
                                        <p:tgtEl>
                                          <p:spTgt spid="305181"/>
                                        </p:tgtEl>
                                        <p:attrNameLst>
                                          <p:attrName>ppt_h</p:attrName>
                                        </p:attrNameLst>
                                      </p:cBhvr>
                                      <p:tavLst>
                                        <p:tav tm="0">
                                          <p:val>
                                            <p:strVal val="#ppt_h"/>
                                          </p:val>
                                        </p:tav>
                                        <p:tav tm="100000">
                                          <p:val>
                                            <p:strVal val="#ppt_h"/>
                                          </p:val>
                                        </p:tav>
                                      </p:tavLst>
                                    </p:anim>
                                  </p:childTnLst>
                                </p:cTn>
                              </p:par>
                            </p:childTnLst>
                          </p:cTn>
                        </p:par>
                      </p:childTnLst>
                    </p:cTn>
                  </p:par>
                  <p:par>
                    <p:cTn id="80" fill="hold" nodeType="clickPar">
                      <p:stCondLst>
                        <p:cond delay="indefinite"/>
                      </p:stCondLst>
                      <p:childTnLst>
                        <p:par>
                          <p:cTn id="81" fill="hold" nodeType="withGroup">
                            <p:stCondLst>
                              <p:cond delay="0"/>
                            </p:stCondLst>
                            <p:childTnLst>
                              <p:par>
                                <p:cTn id="82" presetID="17" presetClass="entr" presetSubtype="8" fill="hold" grpId="0" nodeType="clickEffect">
                                  <p:stCondLst>
                                    <p:cond delay="0"/>
                                  </p:stCondLst>
                                  <p:childTnLst>
                                    <p:set>
                                      <p:cBhvr>
                                        <p:cTn id="83" dur="1" fill="hold">
                                          <p:stCondLst>
                                            <p:cond delay="0"/>
                                          </p:stCondLst>
                                        </p:cTn>
                                        <p:tgtEl>
                                          <p:spTgt spid="305182"/>
                                        </p:tgtEl>
                                        <p:attrNameLst>
                                          <p:attrName>style.visibility</p:attrName>
                                        </p:attrNameLst>
                                      </p:cBhvr>
                                      <p:to>
                                        <p:strVal val="visible"/>
                                      </p:to>
                                    </p:set>
                                    <p:anim calcmode="lin" valueType="num">
                                      <p:cBhvr>
                                        <p:cTn id="84" dur="500" fill="hold"/>
                                        <p:tgtEl>
                                          <p:spTgt spid="305182"/>
                                        </p:tgtEl>
                                        <p:attrNameLst>
                                          <p:attrName>ppt_x</p:attrName>
                                        </p:attrNameLst>
                                      </p:cBhvr>
                                      <p:tavLst>
                                        <p:tav tm="0">
                                          <p:val>
                                            <p:strVal val="#ppt_x-#ppt_w/2"/>
                                          </p:val>
                                        </p:tav>
                                        <p:tav tm="100000">
                                          <p:val>
                                            <p:strVal val="#ppt_x"/>
                                          </p:val>
                                        </p:tav>
                                      </p:tavLst>
                                    </p:anim>
                                    <p:anim calcmode="lin" valueType="num">
                                      <p:cBhvr>
                                        <p:cTn id="85" dur="500" fill="hold"/>
                                        <p:tgtEl>
                                          <p:spTgt spid="305182"/>
                                        </p:tgtEl>
                                        <p:attrNameLst>
                                          <p:attrName>ppt_y</p:attrName>
                                        </p:attrNameLst>
                                      </p:cBhvr>
                                      <p:tavLst>
                                        <p:tav tm="0">
                                          <p:val>
                                            <p:strVal val="#ppt_y"/>
                                          </p:val>
                                        </p:tav>
                                        <p:tav tm="100000">
                                          <p:val>
                                            <p:strVal val="#ppt_y"/>
                                          </p:val>
                                        </p:tav>
                                      </p:tavLst>
                                    </p:anim>
                                    <p:anim calcmode="lin" valueType="num">
                                      <p:cBhvr>
                                        <p:cTn id="86" dur="500" fill="hold"/>
                                        <p:tgtEl>
                                          <p:spTgt spid="305182"/>
                                        </p:tgtEl>
                                        <p:attrNameLst>
                                          <p:attrName>ppt_w</p:attrName>
                                        </p:attrNameLst>
                                      </p:cBhvr>
                                      <p:tavLst>
                                        <p:tav tm="0">
                                          <p:val>
                                            <p:fltVal val="0"/>
                                          </p:val>
                                        </p:tav>
                                        <p:tav tm="100000">
                                          <p:val>
                                            <p:strVal val="#ppt_w"/>
                                          </p:val>
                                        </p:tav>
                                      </p:tavLst>
                                    </p:anim>
                                    <p:anim calcmode="lin" valueType="num">
                                      <p:cBhvr>
                                        <p:cTn id="87" dur="500" fill="hold"/>
                                        <p:tgtEl>
                                          <p:spTgt spid="305182"/>
                                        </p:tgtEl>
                                        <p:attrNameLst>
                                          <p:attrName>ppt_h</p:attrName>
                                        </p:attrNameLst>
                                      </p:cBhvr>
                                      <p:tavLst>
                                        <p:tav tm="0">
                                          <p:val>
                                            <p:strVal val="#ppt_h"/>
                                          </p:val>
                                        </p:tav>
                                        <p:tav tm="100000">
                                          <p:val>
                                            <p:strVal val="#ppt_h"/>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17" presetClass="entr" presetSubtype="8" fill="hold" nodeType="clickEffect">
                                  <p:stCondLst>
                                    <p:cond delay="0"/>
                                  </p:stCondLst>
                                  <p:childTnLst>
                                    <p:set>
                                      <p:cBhvr>
                                        <p:cTn id="91" dur="1" fill="hold">
                                          <p:stCondLst>
                                            <p:cond delay="0"/>
                                          </p:stCondLst>
                                        </p:cTn>
                                        <p:tgtEl>
                                          <p:spTgt spid="305183"/>
                                        </p:tgtEl>
                                        <p:attrNameLst>
                                          <p:attrName>style.visibility</p:attrName>
                                        </p:attrNameLst>
                                      </p:cBhvr>
                                      <p:to>
                                        <p:strVal val="visible"/>
                                      </p:to>
                                    </p:set>
                                    <p:anim calcmode="lin" valueType="num">
                                      <p:cBhvr>
                                        <p:cTn id="92" dur="500" fill="hold"/>
                                        <p:tgtEl>
                                          <p:spTgt spid="305183"/>
                                        </p:tgtEl>
                                        <p:attrNameLst>
                                          <p:attrName>ppt_x</p:attrName>
                                        </p:attrNameLst>
                                      </p:cBhvr>
                                      <p:tavLst>
                                        <p:tav tm="0">
                                          <p:val>
                                            <p:strVal val="#ppt_x-#ppt_w/2"/>
                                          </p:val>
                                        </p:tav>
                                        <p:tav tm="100000">
                                          <p:val>
                                            <p:strVal val="#ppt_x"/>
                                          </p:val>
                                        </p:tav>
                                      </p:tavLst>
                                    </p:anim>
                                    <p:anim calcmode="lin" valueType="num">
                                      <p:cBhvr>
                                        <p:cTn id="93" dur="500" fill="hold"/>
                                        <p:tgtEl>
                                          <p:spTgt spid="305183"/>
                                        </p:tgtEl>
                                        <p:attrNameLst>
                                          <p:attrName>ppt_y</p:attrName>
                                        </p:attrNameLst>
                                      </p:cBhvr>
                                      <p:tavLst>
                                        <p:tav tm="0">
                                          <p:val>
                                            <p:strVal val="#ppt_y"/>
                                          </p:val>
                                        </p:tav>
                                        <p:tav tm="100000">
                                          <p:val>
                                            <p:strVal val="#ppt_y"/>
                                          </p:val>
                                        </p:tav>
                                      </p:tavLst>
                                    </p:anim>
                                    <p:anim calcmode="lin" valueType="num">
                                      <p:cBhvr>
                                        <p:cTn id="94" dur="500" fill="hold"/>
                                        <p:tgtEl>
                                          <p:spTgt spid="305183"/>
                                        </p:tgtEl>
                                        <p:attrNameLst>
                                          <p:attrName>ppt_w</p:attrName>
                                        </p:attrNameLst>
                                      </p:cBhvr>
                                      <p:tavLst>
                                        <p:tav tm="0">
                                          <p:val>
                                            <p:fltVal val="0"/>
                                          </p:val>
                                        </p:tav>
                                        <p:tav tm="100000">
                                          <p:val>
                                            <p:strVal val="#ppt_w"/>
                                          </p:val>
                                        </p:tav>
                                      </p:tavLst>
                                    </p:anim>
                                    <p:anim calcmode="lin" valueType="num">
                                      <p:cBhvr>
                                        <p:cTn id="95" dur="500" fill="hold"/>
                                        <p:tgtEl>
                                          <p:spTgt spid="305183"/>
                                        </p:tgtEl>
                                        <p:attrNameLst>
                                          <p:attrName>ppt_h</p:attrName>
                                        </p:attrNameLst>
                                      </p:cBhvr>
                                      <p:tavLst>
                                        <p:tav tm="0">
                                          <p:val>
                                            <p:strVal val="#ppt_h"/>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17" presetClass="entr" presetSubtype="8" fill="hold" nodeType="clickEffect">
                                  <p:stCondLst>
                                    <p:cond delay="0"/>
                                  </p:stCondLst>
                                  <p:childTnLst>
                                    <p:set>
                                      <p:cBhvr>
                                        <p:cTn id="99" dur="1" fill="hold">
                                          <p:stCondLst>
                                            <p:cond delay="0"/>
                                          </p:stCondLst>
                                        </p:cTn>
                                        <p:tgtEl>
                                          <p:spTgt spid="305184"/>
                                        </p:tgtEl>
                                        <p:attrNameLst>
                                          <p:attrName>style.visibility</p:attrName>
                                        </p:attrNameLst>
                                      </p:cBhvr>
                                      <p:to>
                                        <p:strVal val="visible"/>
                                      </p:to>
                                    </p:set>
                                    <p:anim calcmode="lin" valueType="num">
                                      <p:cBhvr>
                                        <p:cTn id="100" dur="500" fill="hold"/>
                                        <p:tgtEl>
                                          <p:spTgt spid="305184"/>
                                        </p:tgtEl>
                                        <p:attrNameLst>
                                          <p:attrName>ppt_x</p:attrName>
                                        </p:attrNameLst>
                                      </p:cBhvr>
                                      <p:tavLst>
                                        <p:tav tm="0">
                                          <p:val>
                                            <p:strVal val="#ppt_x-#ppt_w/2"/>
                                          </p:val>
                                        </p:tav>
                                        <p:tav tm="100000">
                                          <p:val>
                                            <p:strVal val="#ppt_x"/>
                                          </p:val>
                                        </p:tav>
                                      </p:tavLst>
                                    </p:anim>
                                    <p:anim calcmode="lin" valueType="num">
                                      <p:cBhvr>
                                        <p:cTn id="101" dur="500" fill="hold"/>
                                        <p:tgtEl>
                                          <p:spTgt spid="305184"/>
                                        </p:tgtEl>
                                        <p:attrNameLst>
                                          <p:attrName>ppt_y</p:attrName>
                                        </p:attrNameLst>
                                      </p:cBhvr>
                                      <p:tavLst>
                                        <p:tav tm="0">
                                          <p:val>
                                            <p:strVal val="#ppt_y"/>
                                          </p:val>
                                        </p:tav>
                                        <p:tav tm="100000">
                                          <p:val>
                                            <p:strVal val="#ppt_y"/>
                                          </p:val>
                                        </p:tav>
                                      </p:tavLst>
                                    </p:anim>
                                    <p:anim calcmode="lin" valueType="num">
                                      <p:cBhvr>
                                        <p:cTn id="102" dur="500" fill="hold"/>
                                        <p:tgtEl>
                                          <p:spTgt spid="305184"/>
                                        </p:tgtEl>
                                        <p:attrNameLst>
                                          <p:attrName>ppt_w</p:attrName>
                                        </p:attrNameLst>
                                      </p:cBhvr>
                                      <p:tavLst>
                                        <p:tav tm="0">
                                          <p:val>
                                            <p:fltVal val="0"/>
                                          </p:val>
                                        </p:tav>
                                        <p:tav tm="100000">
                                          <p:val>
                                            <p:strVal val="#ppt_w"/>
                                          </p:val>
                                        </p:tav>
                                      </p:tavLst>
                                    </p:anim>
                                    <p:anim calcmode="lin" valueType="num">
                                      <p:cBhvr>
                                        <p:cTn id="103" dur="500" fill="hold"/>
                                        <p:tgtEl>
                                          <p:spTgt spid="305184"/>
                                        </p:tgtEl>
                                        <p:attrNameLst>
                                          <p:attrName>ppt_h</p:attrName>
                                        </p:attrNameLst>
                                      </p:cBhvr>
                                      <p:tavLst>
                                        <p:tav tm="0">
                                          <p:val>
                                            <p:strVal val="#ppt_h"/>
                                          </p:val>
                                        </p:tav>
                                        <p:tav tm="100000">
                                          <p:val>
                                            <p:strVal val="#ppt_h"/>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17" presetClass="entr" presetSubtype="8" fill="hold" nodeType="clickEffect">
                                  <p:stCondLst>
                                    <p:cond delay="0"/>
                                  </p:stCondLst>
                                  <p:childTnLst>
                                    <p:set>
                                      <p:cBhvr>
                                        <p:cTn id="107" dur="1" fill="hold">
                                          <p:stCondLst>
                                            <p:cond delay="0"/>
                                          </p:stCondLst>
                                        </p:cTn>
                                        <p:tgtEl>
                                          <p:spTgt spid="305185"/>
                                        </p:tgtEl>
                                        <p:attrNameLst>
                                          <p:attrName>style.visibility</p:attrName>
                                        </p:attrNameLst>
                                      </p:cBhvr>
                                      <p:to>
                                        <p:strVal val="visible"/>
                                      </p:to>
                                    </p:set>
                                    <p:anim calcmode="lin" valueType="num">
                                      <p:cBhvr>
                                        <p:cTn id="108" dur="500" fill="hold"/>
                                        <p:tgtEl>
                                          <p:spTgt spid="305185"/>
                                        </p:tgtEl>
                                        <p:attrNameLst>
                                          <p:attrName>ppt_x</p:attrName>
                                        </p:attrNameLst>
                                      </p:cBhvr>
                                      <p:tavLst>
                                        <p:tav tm="0">
                                          <p:val>
                                            <p:strVal val="#ppt_x-#ppt_w/2"/>
                                          </p:val>
                                        </p:tav>
                                        <p:tav tm="100000">
                                          <p:val>
                                            <p:strVal val="#ppt_x"/>
                                          </p:val>
                                        </p:tav>
                                      </p:tavLst>
                                    </p:anim>
                                    <p:anim calcmode="lin" valueType="num">
                                      <p:cBhvr>
                                        <p:cTn id="109" dur="500" fill="hold"/>
                                        <p:tgtEl>
                                          <p:spTgt spid="305185"/>
                                        </p:tgtEl>
                                        <p:attrNameLst>
                                          <p:attrName>ppt_y</p:attrName>
                                        </p:attrNameLst>
                                      </p:cBhvr>
                                      <p:tavLst>
                                        <p:tav tm="0">
                                          <p:val>
                                            <p:strVal val="#ppt_y"/>
                                          </p:val>
                                        </p:tav>
                                        <p:tav tm="100000">
                                          <p:val>
                                            <p:strVal val="#ppt_y"/>
                                          </p:val>
                                        </p:tav>
                                      </p:tavLst>
                                    </p:anim>
                                    <p:anim calcmode="lin" valueType="num">
                                      <p:cBhvr>
                                        <p:cTn id="110" dur="500" fill="hold"/>
                                        <p:tgtEl>
                                          <p:spTgt spid="305185"/>
                                        </p:tgtEl>
                                        <p:attrNameLst>
                                          <p:attrName>ppt_w</p:attrName>
                                        </p:attrNameLst>
                                      </p:cBhvr>
                                      <p:tavLst>
                                        <p:tav tm="0">
                                          <p:val>
                                            <p:fltVal val="0"/>
                                          </p:val>
                                        </p:tav>
                                        <p:tav tm="100000">
                                          <p:val>
                                            <p:strVal val="#ppt_w"/>
                                          </p:val>
                                        </p:tav>
                                      </p:tavLst>
                                    </p:anim>
                                    <p:anim calcmode="lin" valueType="num">
                                      <p:cBhvr>
                                        <p:cTn id="111" dur="500" fill="hold"/>
                                        <p:tgtEl>
                                          <p:spTgt spid="30518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8" grpId="0" autoUpdateAnimBg="0"/>
      <p:bldP spid="305159" grpId="0" autoUpdateAnimBg="0"/>
      <p:bldP spid="305180" grpId="0" autoUpdateAnimBg="0"/>
      <p:bldP spid="305182"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3"/>
          <p:cNvSpPr txBox="1">
            <a:spLocks noChangeArrowheads="1"/>
          </p:cNvSpPr>
          <p:nvPr/>
        </p:nvSpPr>
        <p:spPr bwMode="auto">
          <a:xfrm>
            <a:off x="76200" y="1843088"/>
            <a:ext cx="2408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b="0">
                <a:solidFill>
                  <a:srgbClr val="0000FF"/>
                </a:solidFill>
                <a:ea typeface="华文中宋" pitchFamily="2" charset="-122"/>
              </a:rPr>
              <a:t> </a:t>
            </a:r>
            <a:r>
              <a:rPr lang="en-US" altLang="zh-CN" sz="1800">
                <a:solidFill>
                  <a:srgbClr val="0000FF"/>
                </a:solidFill>
                <a:ea typeface="华文中宋" pitchFamily="2" charset="-122"/>
              </a:rPr>
              <a:t>1</a:t>
            </a:r>
            <a:r>
              <a:rPr lang="zh-CN" altLang="en-US" sz="1800">
                <a:solidFill>
                  <a:srgbClr val="0000FF"/>
                </a:solidFill>
                <a:ea typeface="华文中宋" pitchFamily="2" charset="-122"/>
              </a:rPr>
              <a:t>、“同时”的定义</a:t>
            </a:r>
            <a:endParaRPr lang="zh-CN" altLang="en-US" sz="1800" b="0">
              <a:solidFill>
                <a:srgbClr val="0000FF"/>
              </a:solidFill>
              <a:ea typeface="华文中宋" pitchFamily="2" charset="-122"/>
            </a:endParaRPr>
          </a:p>
        </p:txBody>
      </p:sp>
      <p:sp>
        <p:nvSpPr>
          <p:cNvPr id="39940" name="Text Box 4"/>
          <p:cNvSpPr txBox="1">
            <a:spLocks noChangeArrowheads="1"/>
          </p:cNvSpPr>
          <p:nvPr/>
        </p:nvSpPr>
        <p:spPr bwMode="auto">
          <a:xfrm>
            <a:off x="193675" y="3940175"/>
            <a:ext cx="8915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这就是用光前进的路程来测量时间，而这样定义的理由就是光速不变，这样的定义适用于一切惯性系。</a:t>
            </a:r>
          </a:p>
        </p:txBody>
      </p:sp>
      <p:sp>
        <p:nvSpPr>
          <p:cNvPr id="39942" name="Text Box 6"/>
          <p:cNvSpPr txBox="1">
            <a:spLocks noChangeArrowheads="1"/>
          </p:cNvSpPr>
          <p:nvPr/>
        </p:nvSpPr>
        <p:spPr bwMode="auto">
          <a:xfrm>
            <a:off x="152400" y="1276350"/>
            <a:ext cx="8763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光速相对于所有惯性中的观测者以不变的速率传播，其惊人的结果是</a:t>
            </a:r>
            <a:r>
              <a:rPr lang="en-US" altLang="zh-CN" sz="1800">
                <a:ea typeface="华文中宋" pitchFamily="2" charset="-122"/>
              </a:rPr>
              <a:t>,</a:t>
            </a:r>
            <a:r>
              <a:rPr lang="zh-CN" altLang="en-US" sz="1800">
                <a:ea typeface="华文中宋" pitchFamily="2" charset="-122"/>
              </a:rPr>
              <a:t>时间一定是相对的。</a:t>
            </a:r>
          </a:p>
        </p:txBody>
      </p:sp>
      <p:sp>
        <p:nvSpPr>
          <p:cNvPr id="39943" name="Text Box 7"/>
          <p:cNvSpPr txBox="1">
            <a:spLocks noChangeArrowheads="1"/>
          </p:cNvSpPr>
          <p:nvPr/>
        </p:nvSpPr>
        <p:spPr bwMode="auto">
          <a:xfrm>
            <a:off x="228600" y="2111375"/>
            <a:ext cx="8686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3366FF"/>
                </a:solidFill>
                <a:ea typeface="华文中宋" pitchFamily="2" charset="-122"/>
              </a:rPr>
              <a:t>         </a:t>
            </a:r>
            <a:r>
              <a:rPr lang="zh-CN" altLang="en-US" sz="1800">
                <a:ea typeface="华文中宋" pitchFamily="2" charset="-122"/>
              </a:rPr>
              <a:t>设</a:t>
            </a:r>
            <a:r>
              <a:rPr lang="en-US" altLang="zh-CN" sz="1800">
                <a:ea typeface="华文中宋" pitchFamily="2" charset="-122"/>
              </a:rPr>
              <a:t>A</a:t>
            </a:r>
            <a:r>
              <a:rPr lang="zh-CN" altLang="en-US" sz="1800">
                <a:ea typeface="华文中宋" pitchFamily="2" charset="-122"/>
              </a:rPr>
              <a:t>、</a:t>
            </a:r>
            <a:r>
              <a:rPr lang="en-US" altLang="zh-CN" sz="1800">
                <a:ea typeface="华文中宋" pitchFamily="2" charset="-122"/>
              </a:rPr>
              <a:t>B</a:t>
            </a:r>
            <a:r>
              <a:rPr lang="zh-CN" altLang="en-US" sz="1800">
                <a:ea typeface="华文中宋" pitchFamily="2" charset="-122"/>
              </a:rPr>
              <a:t>两处发生两个事件，在事件发生的同时，发出两光信号，若在</a:t>
            </a:r>
            <a:r>
              <a:rPr lang="en-US" altLang="zh-CN" sz="1800">
                <a:ea typeface="华文中宋" pitchFamily="2" charset="-122"/>
              </a:rPr>
              <a:t>A</a:t>
            </a:r>
            <a:r>
              <a:rPr lang="zh-CN" altLang="en-US" sz="1800">
                <a:ea typeface="华文中宋" pitchFamily="2" charset="-122"/>
              </a:rPr>
              <a:t>、</a:t>
            </a:r>
            <a:r>
              <a:rPr lang="en-US" altLang="zh-CN" sz="1800">
                <a:ea typeface="华文中宋" pitchFamily="2" charset="-122"/>
              </a:rPr>
              <a:t>B</a:t>
            </a:r>
            <a:r>
              <a:rPr lang="zh-CN" altLang="en-US" sz="1800">
                <a:ea typeface="华文中宋" pitchFamily="2" charset="-122"/>
              </a:rPr>
              <a:t>的中心点同时收到两光信号，则</a:t>
            </a:r>
            <a:r>
              <a:rPr lang="en-US" altLang="zh-CN" sz="1800">
                <a:ea typeface="华文中宋" pitchFamily="2" charset="-122"/>
              </a:rPr>
              <a:t>A</a:t>
            </a:r>
            <a:r>
              <a:rPr lang="zh-CN" altLang="en-US" sz="1800">
                <a:ea typeface="华文中宋" pitchFamily="2" charset="-122"/>
              </a:rPr>
              <a:t>、</a:t>
            </a:r>
            <a:r>
              <a:rPr lang="en-US" altLang="zh-CN" sz="1800">
                <a:ea typeface="华文中宋" pitchFamily="2" charset="-122"/>
              </a:rPr>
              <a:t>B</a:t>
            </a:r>
            <a:r>
              <a:rPr lang="zh-CN" altLang="en-US" sz="1800">
                <a:ea typeface="华文中宋" pitchFamily="2" charset="-122"/>
              </a:rPr>
              <a:t>两事件是同时发生的。</a:t>
            </a:r>
          </a:p>
        </p:txBody>
      </p:sp>
      <p:sp>
        <p:nvSpPr>
          <p:cNvPr id="39945" name="Rectangle 9"/>
          <p:cNvSpPr>
            <a:spLocks noChangeArrowheads="1"/>
          </p:cNvSpPr>
          <p:nvPr/>
        </p:nvSpPr>
        <p:spPr bwMode="auto">
          <a:xfrm>
            <a:off x="1447800" y="3648075"/>
            <a:ext cx="5943600" cy="57150"/>
          </a:xfrm>
          <a:prstGeom prst="rect">
            <a:avLst/>
          </a:prstGeom>
          <a:solidFill>
            <a:srgbClr val="FFCC99"/>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CC99"/>
            </a:extrusionClr>
          </a:sp3d>
        </p:spPr>
        <p:txBody>
          <a:bodyPr wrap="none" anchor="ctr">
            <a:flatTx/>
          </a:bodyPr>
          <a:lstStyle/>
          <a:p>
            <a:endParaRPr lang="zh-CN" altLang="en-US"/>
          </a:p>
        </p:txBody>
      </p:sp>
      <p:grpSp>
        <p:nvGrpSpPr>
          <p:cNvPr id="2" name="Group 10"/>
          <p:cNvGrpSpPr>
            <a:grpSpLocks/>
          </p:cNvGrpSpPr>
          <p:nvPr/>
        </p:nvGrpSpPr>
        <p:grpSpPr bwMode="auto">
          <a:xfrm>
            <a:off x="2146300" y="2716213"/>
            <a:ext cx="4719638" cy="865187"/>
            <a:chOff x="1352" y="2562"/>
            <a:chExt cx="2973" cy="727"/>
          </a:xfrm>
        </p:grpSpPr>
        <p:grpSp>
          <p:nvGrpSpPr>
            <p:cNvPr id="42012" name="Group 11"/>
            <p:cNvGrpSpPr>
              <a:grpSpLocks/>
            </p:cNvGrpSpPr>
            <p:nvPr/>
          </p:nvGrpSpPr>
          <p:grpSpPr bwMode="auto">
            <a:xfrm>
              <a:off x="4066" y="2562"/>
              <a:ext cx="259" cy="721"/>
              <a:chOff x="4066" y="2354"/>
              <a:chExt cx="259" cy="721"/>
            </a:xfrm>
          </p:grpSpPr>
          <p:sp>
            <p:nvSpPr>
              <p:cNvPr id="42016" name="Oval 12"/>
              <p:cNvSpPr>
                <a:spLocks noChangeArrowheads="1"/>
              </p:cNvSpPr>
              <p:nvPr/>
            </p:nvSpPr>
            <p:spPr bwMode="auto">
              <a:xfrm>
                <a:off x="4066" y="2840"/>
                <a:ext cx="259" cy="235"/>
              </a:xfrm>
              <a:prstGeom prst="ellipse">
                <a:avLst/>
              </a:prstGeom>
              <a:gradFill rotWithShape="0">
                <a:gsLst>
                  <a:gs pos="0">
                    <a:srgbClr val="FFFF99"/>
                  </a:gs>
                  <a:gs pos="100000">
                    <a:srgbClr val="FF0000"/>
                  </a:gs>
                </a:gsLst>
                <a:path path="shape">
                  <a:fillToRect l="50000" t="50000" r="50000" b="50000"/>
                </a:path>
              </a:gradFill>
              <a:ln w="9525">
                <a:solidFill>
                  <a:srgbClr val="FF5050"/>
                </a:solidFill>
                <a:round/>
                <a:headEnd/>
                <a:tailEnd/>
              </a:ln>
            </p:spPr>
            <p:txBody>
              <a:bodyPr/>
              <a:lstStyle/>
              <a:p>
                <a:endParaRPr lang="zh-CN" altLang="en-US"/>
              </a:p>
            </p:txBody>
          </p:sp>
          <p:sp>
            <p:nvSpPr>
              <p:cNvPr id="42017" name="Line 13"/>
              <p:cNvSpPr>
                <a:spLocks noChangeShapeType="1"/>
              </p:cNvSpPr>
              <p:nvPr/>
            </p:nvSpPr>
            <p:spPr bwMode="auto">
              <a:xfrm>
                <a:off x="4188" y="2354"/>
                <a:ext cx="0" cy="471"/>
              </a:xfrm>
              <a:prstGeom prst="line">
                <a:avLst/>
              </a:prstGeom>
              <a:noFill/>
              <a:ln w="28575">
                <a:solidFill>
                  <a:srgbClr val="FF505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2013" name="Group 14"/>
            <p:cNvGrpSpPr>
              <a:grpSpLocks/>
            </p:cNvGrpSpPr>
            <p:nvPr/>
          </p:nvGrpSpPr>
          <p:grpSpPr bwMode="auto">
            <a:xfrm>
              <a:off x="1352" y="2568"/>
              <a:ext cx="259" cy="721"/>
              <a:chOff x="4066" y="2354"/>
              <a:chExt cx="259" cy="721"/>
            </a:xfrm>
          </p:grpSpPr>
          <p:sp>
            <p:nvSpPr>
              <p:cNvPr id="42014" name="Oval 15"/>
              <p:cNvSpPr>
                <a:spLocks noChangeArrowheads="1"/>
              </p:cNvSpPr>
              <p:nvPr/>
            </p:nvSpPr>
            <p:spPr bwMode="auto">
              <a:xfrm>
                <a:off x="4066" y="2840"/>
                <a:ext cx="259" cy="235"/>
              </a:xfrm>
              <a:prstGeom prst="ellipse">
                <a:avLst/>
              </a:prstGeom>
              <a:gradFill rotWithShape="0">
                <a:gsLst>
                  <a:gs pos="0">
                    <a:srgbClr val="FFFF99"/>
                  </a:gs>
                  <a:gs pos="100000">
                    <a:srgbClr val="FF0000"/>
                  </a:gs>
                </a:gsLst>
                <a:path path="shape">
                  <a:fillToRect l="50000" t="50000" r="50000" b="50000"/>
                </a:path>
              </a:gradFill>
              <a:ln w="9525">
                <a:solidFill>
                  <a:srgbClr val="FF5050"/>
                </a:solidFill>
                <a:round/>
                <a:headEnd/>
                <a:tailEnd/>
              </a:ln>
            </p:spPr>
            <p:txBody>
              <a:bodyPr/>
              <a:lstStyle/>
              <a:p>
                <a:endParaRPr lang="zh-CN" altLang="en-US"/>
              </a:p>
            </p:txBody>
          </p:sp>
          <p:sp>
            <p:nvSpPr>
              <p:cNvPr id="42015" name="Line 16"/>
              <p:cNvSpPr>
                <a:spLocks noChangeShapeType="1"/>
              </p:cNvSpPr>
              <p:nvPr/>
            </p:nvSpPr>
            <p:spPr bwMode="auto">
              <a:xfrm>
                <a:off x="4188" y="2354"/>
                <a:ext cx="0" cy="471"/>
              </a:xfrm>
              <a:prstGeom prst="line">
                <a:avLst/>
              </a:prstGeom>
              <a:noFill/>
              <a:ln w="28575">
                <a:solidFill>
                  <a:srgbClr val="FF505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 name="Group 17"/>
          <p:cNvGrpSpPr>
            <a:grpSpLocks/>
          </p:cNvGrpSpPr>
          <p:nvPr/>
        </p:nvGrpSpPr>
        <p:grpSpPr bwMode="auto">
          <a:xfrm>
            <a:off x="2117725" y="3625850"/>
            <a:ext cx="4741863" cy="269875"/>
            <a:chOff x="1334" y="3225"/>
            <a:chExt cx="2987" cy="226"/>
          </a:xfrm>
        </p:grpSpPr>
        <p:graphicFrame>
          <p:nvGraphicFramePr>
            <p:cNvPr id="42010" name="Object 18"/>
            <p:cNvGraphicFramePr>
              <a:graphicFrameLocks noChangeAspect="1"/>
            </p:cNvGraphicFramePr>
            <p:nvPr/>
          </p:nvGraphicFramePr>
          <p:xfrm>
            <a:off x="1334" y="3253"/>
            <a:ext cx="270" cy="198"/>
          </p:xfrm>
          <a:graphic>
            <a:graphicData uri="http://schemas.openxmlformats.org/presentationml/2006/ole">
              <mc:AlternateContent xmlns:mc="http://schemas.openxmlformats.org/markup-compatibility/2006">
                <mc:Choice xmlns:v="urn:schemas-microsoft-com:vml" Requires="v">
                  <p:oleObj spid="_x0000_s42021" name="Equation" r:id="rId5" imgW="190335" imgH="215713" progId="Equation.DSMT4">
                    <p:embed/>
                  </p:oleObj>
                </mc:Choice>
                <mc:Fallback>
                  <p:oleObj name="Equation" r:id="rId5" imgW="190335" imgH="215713"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4" y="3253"/>
                          <a:ext cx="270" cy="1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1" name="Object 19"/>
            <p:cNvGraphicFramePr>
              <a:graphicFrameLocks noChangeAspect="1"/>
            </p:cNvGraphicFramePr>
            <p:nvPr/>
          </p:nvGraphicFramePr>
          <p:xfrm>
            <a:off x="4070" y="3225"/>
            <a:ext cx="251" cy="184"/>
          </p:xfrm>
          <a:graphic>
            <a:graphicData uri="http://schemas.openxmlformats.org/presentationml/2006/ole">
              <mc:AlternateContent xmlns:mc="http://schemas.openxmlformats.org/markup-compatibility/2006">
                <mc:Choice xmlns:v="urn:schemas-microsoft-com:vml" Requires="v">
                  <p:oleObj spid="_x0000_s42022" name="公式" r:id="rId7" imgW="190335" imgH="215713" progId="Equation.3">
                    <p:embed/>
                  </p:oleObj>
                </mc:Choice>
                <mc:Fallback>
                  <p:oleObj name="公式" r:id="rId7" imgW="190335" imgH="215713"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0" y="3225"/>
                          <a:ext cx="251"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0"/>
          <p:cNvGrpSpPr>
            <a:grpSpLocks/>
          </p:cNvGrpSpPr>
          <p:nvPr/>
        </p:nvGrpSpPr>
        <p:grpSpPr bwMode="auto">
          <a:xfrm>
            <a:off x="1385888" y="3097213"/>
            <a:ext cx="6219825" cy="379412"/>
            <a:chOff x="865" y="2662"/>
            <a:chExt cx="3918" cy="319"/>
          </a:xfrm>
        </p:grpSpPr>
        <p:grpSp>
          <p:nvGrpSpPr>
            <p:cNvPr id="42000" name="Group 21"/>
            <p:cNvGrpSpPr>
              <a:grpSpLocks/>
            </p:cNvGrpSpPr>
            <p:nvPr/>
          </p:nvGrpSpPr>
          <p:grpSpPr bwMode="auto">
            <a:xfrm>
              <a:off x="3608" y="2662"/>
              <a:ext cx="1175" cy="309"/>
              <a:chOff x="3608" y="2678"/>
              <a:chExt cx="1175" cy="309"/>
            </a:xfrm>
          </p:grpSpPr>
          <p:sp>
            <p:nvSpPr>
              <p:cNvPr id="42006" name="Line 22"/>
              <p:cNvSpPr>
                <a:spLocks noChangeShapeType="1"/>
              </p:cNvSpPr>
              <p:nvPr/>
            </p:nvSpPr>
            <p:spPr bwMode="auto">
              <a:xfrm>
                <a:off x="4493" y="2987"/>
                <a:ext cx="290" cy="0"/>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Line 23"/>
              <p:cNvSpPr>
                <a:spLocks noChangeShapeType="1"/>
              </p:cNvSpPr>
              <p:nvPr/>
            </p:nvSpPr>
            <p:spPr bwMode="auto">
              <a:xfrm>
                <a:off x="3608" y="2972"/>
                <a:ext cx="290" cy="0"/>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8" name="Line 24"/>
              <p:cNvSpPr>
                <a:spLocks noChangeShapeType="1"/>
              </p:cNvSpPr>
              <p:nvPr/>
            </p:nvSpPr>
            <p:spPr bwMode="auto">
              <a:xfrm flipV="1">
                <a:off x="4402" y="2678"/>
                <a:ext cx="122" cy="147"/>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9" name="Line 25"/>
              <p:cNvSpPr>
                <a:spLocks noChangeShapeType="1"/>
              </p:cNvSpPr>
              <p:nvPr/>
            </p:nvSpPr>
            <p:spPr bwMode="auto">
              <a:xfrm flipH="1" flipV="1">
                <a:off x="3791" y="2722"/>
                <a:ext cx="183" cy="118"/>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2001" name="Group 26"/>
            <p:cNvGrpSpPr>
              <a:grpSpLocks/>
            </p:cNvGrpSpPr>
            <p:nvPr/>
          </p:nvGrpSpPr>
          <p:grpSpPr bwMode="auto">
            <a:xfrm>
              <a:off x="865" y="2672"/>
              <a:ext cx="1175" cy="309"/>
              <a:chOff x="3608" y="2678"/>
              <a:chExt cx="1175" cy="309"/>
            </a:xfrm>
          </p:grpSpPr>
          <p:sp>
            <p:nvSpPr>
              <p:cNvPr id="42002" name="Line 27"/>
              <p:cNvSpPr>
                <a:spLocks noChangeShapeType="1"/>
              </p:cNvSpPr>
              <p:nvPr/>
            </p:nvSpPr>
            <p:spPr bwMode="auto">
              <a:xfrm>
                <a:off x="4493" y="2987"/>
                <a:ext cx="290" cy="0"/>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3" name="Line 28"/>
              <p:cNvSpPr>
                <a:spLocks noChangeShapeType="1"/>
              </p:cNvSpPr>
              <p:nvPr/>
            </p:nvSpPr>
            <p:spPr bwMode="auto">
              <a:xfrm>
                <a:off x="3608" y="2972"/>
                <a:ext cx="290" cy="0"/>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29"/>
              <p:cNvSpPr>
                <a:spLocks noChangeShapeType="1"/>
              </p:cNvSpPr>
              <p:nvPr/>
            </p:nvSpPr>
            <p:spPr bwMode="auto">
              <a:xfrm flipV="1">
                <a:off x="4402" y="2678"/>
                <a:ext cx="122" cy="147"/>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30"/>
              <p:cNvSpPr>
                <a:spLocks noChangeShapeType="1"/>
              </p:cNvSpPr>
              <p:nvPr/>
            </p:nvSpPr>
            <p:spPr bwMode="auto">
              <a:xfrm flipH="1" flipV="1">
                <a:off x="3791" y="2722"/>
                <a:ext cx="183" cy="118"/>
              </a:xfrm>
              <a:prstGeom prst="line">
                <a:avLst/>
              </a:prstGeom>
              <a:noFill/>
              <a:ln w="9525">
                <a:solidFill>
                  <a:srgbClr val="FF505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9" name="Group 31"/>
          <p:cNvGrpSpPr>
            <a:grpSpLocks/>
          </p:cNvGrpSpPr>
          <p:nvPr/>
        </p:nvGrpSpPr>
        <p:grpSpPr bwMode="auto">
          <a:xfrm>
            <a:off x="2811463" y="3173413"/>
            <a:ext cx="3292475" cy="379412"/>
            <a:chOff x="1771" y="2720"/>
            <a:chExt cx="2074" cy="319"/>
          </a:xfrm>
        </p:grpSpPr>
        <p:sp>
          <p:nvSpPr>
            <p:cNvPr id="41996" name="Line 32"/>
            <p:cNvSpPr>
              <a:spLocks noChangeShapeType="1"/>
            </p:cNvSpPr>
            <p:nvPr/>
          </p:nvSpPr>
          <p:spPr bwMode="auto">
            <a:xfrm>
              <a:off x="1771" y="2977"/>
              <a:ext cx="976" cy="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7" name="Line 33"/>
            <p:cNvSpPr>
              <a:spLocks noChangeShapeType="1"/>
            </p:cNvSpPr>
            <p:nvPr/>
          </p:nvSpPr>
          <p:spPr bwMode="auto">
            <a:xfrm flipH="1">
              <a:off x="2930" y="2962"/>
              <a:ext cx="915" cy="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1998" name="Object 34"/>
            <p:cNvGraphicFramePr>
              <a:graphicFrameLocks noChangeAspect="1"/>
            </p:cNvGraphicFramePr>
            <p:nvPr/>
          </p:nvGraphicFramePr>
          <p:xfrm>
            <a:off x="2722" y="2720"/>
            <a:ext cx="263" cy="194"/>
          </p:xfrm>
          <a:graphic>
            <a:graphicData uri="http://schemas.openxmlformats.org/presentationml/2006/ole">
              <mc:AlternateContent xmlns:mc="http://schemas.openxmlformats.org/markup-compatibility/2006">
                <mc:Choice xmlns:v="urn:schemas-microsoft-com:vml" Requires="v">
                  <p:oleObj spid="_x0000_s42023" name="公式" r:id="rId9" imgW="279279" imgH="215806" progId="Equation.3">
                    <p:embed/>
                  </p:oleObj>
                </mc:Choice>
                <mc:Fallback>
                  <p:oleObj name="公式" r:id="rId9" imgW="279279" imgH="215806" progId="Equation.3">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22" y="2720"/>
                          <a:ext cx="263"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99" name="Oval 35"/>
            <p:cNvSpPr>
              <a:spLocks noChangeArrowheads="1"/>
            </p:cNvSpPr>
            <p:nvPr/>
          </p:nvSpPr>
          <p:spPr bwMode="auto">
            <a:xfrm>
              <a:off x="2823" y="2946"/>
              <a:ext cx="47" cy="93"/>
            </a:xfrm>
            <a:prstGeom prst="ellipse">
              <a:avLst/>
            </a:prstGeom>
            <a:solidFill>
              <a:srgbClr val="FFFF00"/>
            </a:solidFill>
            <a:ln w="9525">
              <a:solidFill>
                <a:schemeClr val="tx1"/>
              </a:solidFill>
              <a:round/>
              <a:headEnd/>
              <a:tailEnd/>
            </a:ln>
          </p:spPr>
          <p:txBody>
            <a:bodyPr wrap="none" anchor="ctr"/>
            <a:lstStyle/>
            <a:p>
              <a:endParaRPr lang="zh-CN" altLang="en-US"/>
            </a:p>
          </p:txBody>
        </p:sp>
      </p:grpSp>
      <p:sp>
        <p:nvSpPr>
          <p:cNvPr id="41995" name="Text Box 2"/>
          <p:cNvSpPr>
            <a:spLocks noChangeArrowheads="1"/>
          </p:cNvSpPr>
          <p:nvPr/>
        </p:nvSpPr>
        <p:spPr bwMode="auto">
          <a:xfrm>
            <a:off x="839788" y="874713"/>
            <a:ext cx="2411412" cy="401637"/>
          </a:xfrm>
          <a:prstGeom prst="homePlate">
            <a:avLst>
              <a:gd name="adj" fmla="val 49866"/>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一、同时的相对性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barn(inHorizontal)">
                                      <p:cBhvr>
                                        <p:cTn id="7" dur="500"/>
                                        <p:tgtEl>
                                          <p:spTgt spid="39942"/>
                                        </p:tgtEl>
                                      </p:cBhvr>
                                    </p:animEffect>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9939"/>
                                        </p:tgtEl>
                                        <p:attrNameLst>
                                          <p:attrName>style.visibility</p:attrName>
                                        </p:attrNameLst>
                                      </p:cBhvr>
                                      <p:to>
                                        <p:strVal val="visible"/>
                                      </p:to>
                                    </p:set>
                                    <p:animEffect transition="in" filter="barn(inHorizontal)">
                                      <p:cBhvr>
                                        <p:cTn id="12" dur="500"/>
                                        <p:tgtEl>
                                          <p:spTgt spid="39939"/>
                                        </p:tgtEl>
                                      </p:cBhvr>
                                    </p:animEffect>
                                  </p:childTnLst>
                                  <p:subTnLst>
                                    <p:audio>
                                      <p:cMediaNode>
                                        <p:cTn display="0" masterRel="sameClick">
                                          <p:stCondLst>
                                            <p:cond evt="begin" delay="0">
                                              <p:tn val="10"/>
                                            </p:cond>
                                          </p:stCondLst>
                                          <p:endCondLst>
                                            <p:cond evt="onStopAudio" delay="0">
                                              <p:tgtEl>
                                                <p:sldTgt/>
                                              </p:tgtEl>
                                            </p:cond>
                                          </p:endCondLst>
                                        </p:cTn>
                                        <p:tgtEl>
                                          <p:sndTgt r:embed="rId4" name="WHOOSH.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39943"/>
                                        </p:tgtEl>
                                        <p:attrNameLst>
                                          <p:attrName>style.visibility</p:attrName>
                                        </p:attrNameLst>
                                      </p:cBhvr>
                                      <p:to>
                                        <p:strVal val="visible"/>
                                      </p:to>
                                    </p:set>
                                    <p:animEffect transition="in" filter="barn(inHorizontal)">
                                      <p:cBhvr>
                                        <p:cTn id="17" dur="500"/>
                                        <p:tgtEl>
                                          <p:spTgt spid="39943"/>
                                        </p:tgtEl>
                                      </p:cBhvr>
                                    </p:animEffect>
                                  </p:childTnLst>
                                  <p:subTnLst>
                                    <p:audio>
                                      <p:cMediaNode>
                                        <p:cTn display="0" masterRel="sameClick">
                                          <p:stCondLst>
                                            <p:cond evt="begin" delay="0">
                                              <p:tn val="15"/>
                                            </p:cond>
                                          </p:stCondLst>
                                          <p:endCondLst>
                                            <p:cond evt="onStopAudio" delay="0">
                                              <p:tgtEl>
                                                <p:sldTgt/>
                                              </p:tgtEl>
                                            </p:cond>
                                          </p:endCondLst>
                                        </p:cTn>
                                        <p:tgtEl>
                                          <p:sndTgt r:embed="rId4" name="WHOOSH.WAV"/>
                                        </p:tgtEl>
                                      </p:cMediaNode>
                                    </p:audio>
                                  </p:subTnLst>
                                </p:cTn>
                              </p:par>
                            </p:childTnLst>
                          </p:cTn>
                        </p:par>
                        <p:par>
                          <p:cTn id="18" fill="hold" nodeType="afterGroup">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39945"/>
                                        </p:tgtEl>
                                        <p:attrNameLst>
                                          <p:attrName>style.visibility</p:attrName>
                                        </p:attrNameLst>
                                      </p:cBhvr>
                                      <p:to>
                                        <p:strVal val="visible"/>
                                      </p:to>
                                    </p:set>
                                  </p:childTnLst>
                                </p:cTn>
                              </p:par>
                            </p:childTnLst>
                          </p:cTn>
                        </p:par>
                        <p:par>
                          <p:cTn id="21" fill="hold" nodeType="afterGroup">
                            <p:stCondLst>
                              <p:cond delay="1000"/>
                            </p:stCondLst>
                            <p:childTnLst>
                              <p:par>
                                <p:cTn id="22" presetID="1" presetClass="entr" presetSubtype="0" fill="hold" nodeType="afterEffect">
                                  <p:stCondLst>
                                    <p:cond delay="0"/>
                                  </p:stCondLst>
                                  <p:childTnLst>
                                    <p:set>
                                      <p:cBhvr>
                                        <p:cTn id="23" dur="1" fill="hold">
                                          <p:stCondLst>
                                            <p:cond delay="499"/>
                                          </p:stCondLst>
                                        </p:cTn>
                                        <p:tgtEl>
                                          <p:spTgt spid="5"/>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1"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slide(fromTop)">
                                      <p:cBhvr>
                                        <p:cTn id="28" dur="500"/>
                                        <p:tgtEl>
                                          <p:spTgt spid="2"/>
                                        </p:tgtEl>
                                      </p:cBhvr>
                                    </p:animEffect>
                                  </p:childTnLst>
                                </p:cTn>
                              </p:par>
                            </p:childTnLst>
                          </p:cTn>
                        </p:par>
                        <p:par>
                          <p:cTn id="29" fill="hold" nodeType="afterGroup">
                            <p:stCondLst>
                              <p:cond delay="500"/>
                            </p:stCondLst>
                            <p:childTnLst>
                              <p:par>
                                <p:cTn id="30" presetID="23" presetClass="entr" presetSubtype="272"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strVal val="2/3*#ppt_w"/>
                                          </p:val>
                                        </p:tav>
                                        <p:tav tm="100000">
                                          <p:val>
                                            <p:strVal val="#ppt_w"/>
                                          </p:val>
                                        </p:tav>
                                      </p:tavLst>
                                    </p:anim>
                                    <p:anim calcmode="lin" valueType="num">
                                      <p:cBhvr>
                                        <p:cTn id="33" dur="500" fill="hold"/>
                                        <p:tgtEl>
                                          <p:spTgt spid="6"/>
                                        </p:tgtEl>
                                        <p:attrNameLst>
                                          <p:attrName>ppt_h</p:attrName>
                                        </p:attrNameLst>
                                      </p:cBhvr>
                                      <p:tavLst>
                                        <p:tav tm="0">
                                          <p:val>
                                            <p:strVal val="2/3*#ppt_h"/>
                                          </p:val>
                                        </p:tav>
                                        <p:tav tm="100000">
                                          <p:val>
                                            <p:strVal val="#ppt_h"/>
                                          </p:val>
                                        </p:tav>
                                      </p:tavLst>
                                    </p:anim>
                                  </p:childTnLst>
                                </p:cTn>
                              </p:par>
                            </p:childTnLst>
                          </p:cTn>
                        </p:par>
                        <p:par>
                          <p:cTn id="34" fill="hold" nodeType="afterGroup">
                            <p:stCondLst>
                              <p:cond delay="1000"/>
                            </p:stCondLst>
                            <p:childTnLst>
                              <p:par>
                                <p:cTn id="35" presetID="1" presetClass="entr" presetSubtype="0" fill="hold" nodeType="afterEffect">
                                  <p:stCondLst>
                                    <p:cond delay="0"/>
                                  </p:stCondLst>
                                  <p:childTnLst>
                                    <p:set>
                                      <p:cBhvr>
                                        <p:cTn id="36" dur="1" fill="hold">
                                          <p:stCondLst>
                                            <p:cond delay="499"/>
                                          </p:stCondLst>
                                        </p:cTn>
                                        <p:tgtEl>
                                          <p:spTgt spid="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6" presetClass="entr" presetSubtype="26" fill="hold" grpId="0" nodeType="clickEffect">
                                  <p:stCondLst>
                                    <p:cond delay="0"/>
                                  </p:stCondLst>
                                  <p:childTnLst>
                                    <p:set>
                                      <p:cBhvr>
                                        <p:cTn id="40" dur="1" fill="hold">
                                          <p:stCondLst>
                                            <p:cond delay="0"/>
                                          </p:stCondLst>
                                        </p:cTn>
                                        <p:tgtEl>
                                          <p:spTgt spid="39940"/>
                                        </p:tgtEl>
                                        <p:attrNameLst>
                                          <p:attrName>style.visibility</p:attrName>
                                        </p:attrNameLst>
                                      </p:cBhvr>
                                      <p:to>
                                        <p:strVal val="visible"/>
                                      </p:to>
                                    </p:set>
                                    <p:animEffect transition="in" filter="barn(inHorizontal)">
                                      <p:cBhvr>
                                        <p:cTn id="41" dur="500"/>
                                        <p:tgtEl>
                                          <p:spTgt spid="39940"/>
                                        </p:tgtEl>
                                      </p:cBhvr>
                                    </p:animEffect>
                                  </p:childTnLst>
                                  <p:subTnLst>
                                    <p:audio>
                                      <p:cMediaNode>
                                        <p:cTn display="0" masterRel="sameClick">
                                          <p:stCondLst>
                                            <p:cond evt="begin" delay="0">
                                              <p:tn val="39"/>
                                            </p:cond>
                                          </p:stCondLst>
                                          <p:endCondLst>
                                            <p:cond evt="onStopAudio" delay="0">
                                              <p:tgtEl>
                                                <p:sldTgt/>
                                              </p:tgtEl>
                                            </p:cond>
                                          </p:endCondLst>
                                        </p:cTn>
                                        <p:tgtEl>
                                          <p:sndTgt r:embed="rId4"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autoUpdateAnimBg="0"/>
      <p:bldP spid="39940" grpId="0" autoUpdateAnimBg="0"/>
      <p:bldP spid="39942" grpId="0" autoUpdateAnimBg="0"/>
      <p:bldP spid="39943" grpId="0" autoUpdateAnimBg="0"/>
      <p:bldP spid="3994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570"/>
          <p:cNvGrpSpPr>
            <a:grpSpLocks/>
          </p:cNvGrpSpPr>
          <p:nvPr/>
        </p:nvGrpSpPr>
        <p:grpSpPr bwMode="auto">
          <a:xfrm>
            <a:off x="2555875" y="1250950"/>
            <a:ext cx="3889375" cy="269875"/>
            <a:chOff x="1882" y="1979"/>
            <a:chExt cx="1641" cy="144"/>
          </a:xfrm>
        </p:grpSpPr>
        <p:pic>
          <p:nvPicPr>
            <p:cNvPr id="43326" name="Picture 553"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7"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27" name="Picture 554"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3"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28" name="Picture 555"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29" name="Picture 556"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2"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0" name="Picture 557"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1" name="Picture 558"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2" name="Picture 559"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8"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3" name="Picture 560"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4" name="Picture 561"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5"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5" name="Picture 562"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6" name="Picture 563"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37" name="Picture 565" descr="7P%]M@Y@LBF6C_L4Q$)LWC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9"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613"/>
          <p:cNvGrpSpPr>
            <a:grpSpLocks/>
          </p:cNvGrpSpPr>
          <p:nvPr/>
        </p:nvGrpSpPr>
        <p:grpSpPr bwMode="auto">
          <a:xfrm>
            <a:off x="1042988" y="1195388"/>
            <a:ext cx="7056437" cy="682625"/>
            <a:chOff x="657" y="436"/>
            <a:chExt cx="4445" cy="573"/>
          </a:xfrm>
        </p:grpSpPr>
        <p:grpSp>
          <p:nvGrpSpPr>
            <p:cNvPr id="43217" name="Group 3"/>
            <p:cNvGrpSpPr>
              <a:grpSpLocks/>
            </p:cNvGrpSpPr>
            <p:nvPr/>
          </p:nvGrpSpPr>
          <p:grpSpPr bwMode="auto">
            <a:xfrm>
              <a:off x="839" y="602"/>
              <a:ext cx="4191" cy="407"/>
              <a:chOff x="920" y="616"/>
              <a:chExt cx="4191" cy="407"/>
            </a:xfrm>
          </p:grpSpPr>
          <p:grpSp>
            <p:nvGrpSpPr>
              <p:cNvPr id="43255" name="Group 4"/>
              <p:cNvGrpSpPr>
                <a:grpSpLocks/>
              </p:cNvGrpSpPr>
              <p:nvPr/>
            </p:nvGrpSpPr>
            <p:grpSpPr bwMode="auto">
              <a:xfrm>
                <a:off x="920" y="616"/>
                <a:ext cx="4191" cy="334"/>
                <a:chOff x="920" y="2640"/>
                <a:chExt cx="4191" cy="334"/>
              </a:xfrm>
            </p:grpSpPr>
            <p:grpSp>
              <p:nvGrpSpPr>
                <p:cNvPr id="43258" name="Group 5"/>
                <p:cNvGrpSpPr>
                  <a:grpSpLocks/>
                </p:cNvGrpSpPr>
                <p:nvPr/>
              </p:nvGrpSpPr>
              <p:grpSpPr bwMode="auto">
                <a:xfrm>
                  <a:off x="1696" y="2842"/>
                  <a:ext cx="2429" cy="70"/>
                  <a:chOff x="1768" y="840"/>
                  <a:chExt cx="2429" cy="70"/>
                </a:xfrm>
              </p:grpSpPr>
              <p:sp>
                <p:nvSpPr>
                  <p:cNvPr id="43324" name="Oval 6"/>
                  <p:cNvSpPr>
                    <a:spLocks noChangeArrowheads="1"/>
                  </p:cNvSpPr>
                  <p:nvPr/>
                </p:nvSpPr>
                <p:spPr bwMode="auto">
                  <a:xfrm>
                    <a:off x="1768" y="856"/>
                    <a:ext cx="69" cy="5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43325" name="Oval 7"/>
                  <p:cNvSpPr>
                    <a:spLocks noChangeArrowheads="1"/>
                  </p:cNvSpPr>
                  <p:nvPr/>
                </p:nvSpPr>
                <p:spPr bwMode="auto">
                  <a:xfrm>
                    <a:off x="4128" y="840"/>
                    <a:ext cx="69" cy="5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259" name="Group 8"/>
                <p:cNvGrpSpPr>
                  <a:grpSpLocks/>
                </p:cNvGrpSpPr>
                <p:nvPr/>
              </p:nvGrpSpPr>
              <p:grpSpPr bwMode="auto">
                <a:xfrm>
                  <a:off x="1016" y="2800"/>
                  <a:ext cx="3943" cy="174"/>
                  <a:chOff x="3037" y="23020"/>
                  <a:chExt cx="5980" cy="400"/>
                </a:xfrm>
              </p:grpSpPr>
              <p:sp>
                <p:nvSpPr>
                  <p:cNvPr id="43321" name="Line 9"/>
                  <p:cNvSpPr>
                    <a:spLocks noChangeShapeType="1"/>
                  </p:cNvSpPr>
                  <p:nvPr/>
                </p:nvSpPr>
                <p:spPr bwMode="auto">
                  <a:xfrm>
                    <a:off x="3037" y="23020"/>
                    <a:ext cx="0" cy="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22" name="Line 10"/>
                  <p:cNvSpPr>
                    <a:spLocks noChangeShapeType="1"/>
                  </p:cNvSpPr>
                  <p:nvPr/>
                </p:nvSpPr>
                <p:spPr bwMode="auto">
                  <a:xfrm>
                    <a:off x="9017" y="23020"/>
                    <a:ext cx="0" cy="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23" name="Line 11"/>
                  <p:cNvSpPr>
                    <a:spLocks noChangeShapeType="1"/>
                  </p:cNvSpPr>
                  <p:nvPr/>
                </p:nvSpPr>
                <p:spPr bwMode="auto">
                  <a:xfrm>
                    <a:off x="3037" y="23060"/>
                    <a:ext cx="598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260" name="Group 12"/>
                <p:cNvGrpSpPr>
                  <a:grpSpLocks/>
                </p:cNvGrpSpPr>
                <p:nvPr/>
              </p:nvGrpSpPr>
              <p:grpSpPr bwMode="auto">
                <a:xfrm>
                  <a:off x="920" y="2640"/>
                  <a:ext cx="4191" cy="164"/>
                  <a:chOff x="936" y="1920"/>
                  <a:chExt cx="4191" cy="164"/>
                </a:xfrm>
              </p:grpSpPr>
              <p:grpSp>
                <p:nvGrpSpPr>
                  <p:cNvPr id="43261" name="Group 13"/>
                  <p:cNvGrpSpPr>
                    <a:grpSpLocks/>
                  </p:cNvGrpSpPr>
                  <p:nvPr/>
                </p:nvGrpSpPr>
                <p:grpSpPr bwMode="auto">
                  <a:xfrm>
                    <a:off x="4296" y="1928"/>
                    <a:ext cx="831" cy="156"/>
                    <a:chOff x="3696" y="1920"/>
                    <a:chExt cx="831" cy="156"/>
                  </a:xfrm>
                </p:grpSpPr>
                <p:sp>
                  <p:nvSpPr>
                    <p:cNvPr id="43312" name="Line 14"/>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313" name="Group 15"/>
                    <p:cNvGrpSpPr>
                      <a:grpSpLocks/>
                    </p:cNvGrpSpPr>
                    <p:nvPr/>
                  </p:nvGrpSpPr>
                  <p:grpSpPr bwMode="auto">
                    <a:xfrm>
                      <a:off x="3696" y="1920"/>
                      <a:ext cx="831" cy="156"/>
                      <a:chOff x="3692" y="2784"/>
                      <a:chExt cx="831" cy="156"/>
                    </a:xfrm>
                  </p:grpSpPr>
                  <p:sp>
                    <p:nvSpPr>
                      <p:cNvPr id="43314" name="Line 16"/>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15" name="Rectangle 17"/>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16" name="Rectangle 18"/>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17" name="Rectangle 19"/>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18" name="Rectangle 20"/>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19" name="Rectangle 21"/>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20" name="Rectangle 22"/>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262" name="Group 23"/>
                  <p:cNvGrpSpPr>
                    <a:grpSpLocks/>
                  </p:cNvGrpSpPr>
                  <p:nvPr/>
                </p:nvGrpSpPr>
                <p:grpSpPr bwMode="auto">
                  <a:xfrm>
                    <a:off x="3536" y="1920"/>
                    <a:ext cx="831" cy="156"/>
                    <a:chOff x="3696" y="1920"/>
                    <a:chExt cx="831" cy="156"/>
                  </a:xfrm>
                </p:grpSpPr>
                <p:sp>
                  <p:nvSpPr>
                    <p:cNvPr id="43303" name="Line 24"/>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304" name="Group 25"/>
                    <p:cNvGrpSpPr>
                      <a:grpSpLocks/>
                    </p:cNvGrpSpPr>
                    <p:nvPr/>
                  </p:nvGrpSpPr>
                  <p:grpSpPr bwMode="auto">
                    <a:xfrm>
                      <a:off x="3696" y="1920"/>
                      <a:ext cx="831" cy="156"/>
                      <a:chOff x="3692" y="2784"/>
                      <a:chExt cx="831" cy="156"/>
                    </a:xfrm>
                  </p:grpSpPr>
                  <p:sp>
                    <p:nvSpPr>
                      <p:cNvPr id="43305" name="Line 26"/>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06" name="Rectangle 27"/>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07" name="Rectangle 28"/>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08" name="Rectangle 29"/>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09" name="Rectangle 30"/>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10" name="Rectangle 31"/>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11" name="Rectangle 32"/>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263" name="Group 33"/>
                  <p:cNvGrpSpPr>
                    <a:grpSpLocks/>
                  </p:cNvGrpSpPr>
                  <p:nvPr/>
                </p:nvGrpSpPr>
                <p:grpSpPr bwMode="auto">
                  <a:xfrm>
                    <a:off x="2752" y="1920"/>
                    <a:ext cx="831" cy="156"/>
                    <a:chOff x="3696" y="1920"/>
                    <a:chExt cx="831" cy="156"/>
                  </a:xfrm>
                </p:grpSpPr>
                <p:sp>
                  <p:nvSpPr>
                    <p:cNvPr id="43294" name="Line 34"/>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295" name="Group 35"/>
                    <p:cNvGrpSpPr>
                      <a:grpSpLocks/>
                    </p:cNvGrpSpPr>
                    <p:nvPr/>
                  </p:nvGrpSpPr>
                  <p:grpSpPr bwMode="auto">
                    <a:xfrm>
                      <a:off x="3696" y="1920"/>
                      <a:ext cx="831" cy="156"/>
                      <a:chOff x="3692" y="2784"/>
                      <a:chExt cx="831" cy="156"/>
                    </a:xfrm>
                  </p:grpSpPr>
                  <p:sp>
                    <p:nvSpPr>
                      <p:cNvPr id="43296" name="Line 36"/>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97" name="Rectangle 37"/>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98" name="Rectangle 38"/>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99" name="Rectangle 39"/>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00" name="Rectangle 40"/>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01" name="Rectangle 41"/>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302" name="Rectangle 42"/>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264" name="Group 43"/>
                  <p:cNvGrpSpPr>
                    <a:grpSpLocks/>
                  </p:cNvGrpSpPr>
                  <p:nvPr/>
                </p:nvGrpSpPr>
                <p:grpSpPr bwMode="auto">
                  <a:xfrm>
                    <a:off x="1984" y="1920"/>
                    <a:ext cx="831" cy="156"/>
                    <a:chOff x="3696" y="1920"/>
                    <a:chExt cx="831" cy="156"/>
                  </a:xfrm>
                </p:grpSpPr>
                <p:sp>
                  <p:nvSpPr>
                    <p:cNvPr id="43285" name="Line 44"/>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286" name="Group 45"/>
                    <p:cNvGrpSpPr>
                      <a:grpSpLocks/>
                    </p:cNvGrpSpPr>
                    <p:nvPr/>
                  </p:nvGrpSpPr>
                  <p:grpSpPr bwMode="auto">
                    <a:xfrm>
                      <a:off x="3696" y="1920"/>
                      <a:ext cx="831" cy="156"/>
                      <a:chOff x="3692" y="2784"/>
                      <a:chExt cx="831" cy="156"/>
                    </a:xfrm>
                  </p:grpSpPr>
                  <p:sp>
                    <p:nvSpPr>
                      <p:cNvPr id="43287" name="Line 46"/>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88" name="Rectangle 47"/>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89" name="Rectangle 48"/>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90" name="Rectangle 49"/>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91" name="Rectangle 50"/>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92" name="Rectangle 51"/>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93" name="Rectangle 52"/>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265" name="Group 53"/>
                  <p:cNvGrpSpPr>
                    <a:grpSpLocks/>
                  </p:cNvGrpSpPr>
                  <p:nvPr/>
                </p:nvGrpSpPr>
                <p:grpSpPr bwMode="auto">
                  <a:xfrm>
                    <a:off x="1208" y="1920"/>
                    <a:ext cx="831" cy="156"/>
                    <a:chOff x="3696" y="1920"/>
                    <a:chExt cx="831" cy="156"/>
                  </a:xfrm>
                </p:grpSpPr>
                <p:sp>
                  <p:nvSpPr>
                    <p:cNvPr id="43276" name="Line 54"/>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277" name="Group 55"/>
                    <p:cNvGrpSpPr>
                      <a:grpSpLocks/>
                    </p:cNvGrpSpPr>
                    <p:nvPr/>
                  </p:nvGrpSpPr>
                  <p:grpSpPr bwMode="auto">
                    <a:xfrm>
                      <a:off x="3696" y="1920"/>
                      <a:ext cx="831" cy="156"/>
                      <a:chOff x="3692" y="2784"/>
                      <a:chExt cx="831" cy="156"/>
                    </a:xfrm>
                  </p:grpSpPr>
                  <p:sp>
                    <p:nvSpPr>
                      <p:cNvPr id="43278" name="Line 56"/>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79" name="Rectangle 57"/>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80" name="Rectangle 58"/>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81" name="Rectangle 59"/>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82" name="Rectangle 60"/>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83" name="Rectangle 61"/>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84" name="Rectangle 62"/>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266" name="Group 63"/>
                  <p:cNvGrpSpPr>
                    <a:grpSpLocks/>
                  </p:cNvGrpSpPr>
                  <p:nvPr/>
                </p:nvGrpSpPr>
                <p:grpSpPr bwMode="auto">
                  <a:xfrm flipH="1">
                    <a:off x="936" y="1920"/>
                    <a:ext cx="831" cy="156"/>
                    <a:chOff x="3696" y="1920"/>
                    <a:chExt cx="831" cy="156"/>
                  </a:xfrm>
                </p:grpSpPr>
                <p:sp>
                  <p:nvSpPr>
                    <p:cNvPr id="43267" name="Line 64"/>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268" name="Group 65"/>
                    <p:cNvGrpSpPr>
                      <a:grpSpLocks/>
                    </p:cNvGrpSpPr>
                    <p:nvPr/>
                  </p:nvGrpSpPr>
                  <p:grpSpPr bwMode="auto">
                    <a:xfrm>
                      <a:off x="3696" y="1920"/>
                      <a:ext cx="831" cy="156"/>
                      <a:chOff x="3692" y="2784"/>
                      <a:chExt cx="831" cy="156"/>
                    </a:xfrm>
                  </p:grpSpPr>
                  <p:sp>
                    <p:nvSpPr>
                      <p:cNvPr id="43269" name="Line 66"/>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70" name="Rectangle 67"/>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71" name="Rectangle 68"/>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72" name="Rectangle 69"/>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73" name="Rectangle 70"/>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74" name="Rectangle 71"/>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275" name="Rectangle 72"/>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grpSp>
          <p:sp>
            <p:nvSpPr>
              <p:cNvPr id="43256" name="Text Box 73"/>
              <p:cNvSpPr txBox="1">
                <a:spLocks noChangeArrowheads="1"/>
              </p:cNvSpPr>
              <p:nvPr/>
            </p:nvSpPr>
            <p:spPr bwMode="auto">
              <a:xfrm>
                <a:off x="4176" y="752"/>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A</a:t>
                </a:r>
              </a:p>
            </p:txBody>
          </p:sp>
          <p:sp>
            <p:nvSpPr>
              <p:cNvPr id="43257" name="Text Box 74"/>
              <p:cNvSpPr txBox="1">
                <a:spLocks noChangeArrowheads="1"/>
              </p:cNvSpPr>
              <p:nvPr/>
            </p:nvSpPr>
            <p:spPr bwMode="auto">
              <a:xfrm>
                <a:off x="1432" y="752"/>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B</a:t>
                </a:r>
              </a:p>
            </p:txBody>
          </p:sp>
        </p:grpSp>
        <p:grpSp>
          <p:nvGrpSpPr>
            <p:cNvPr id="43218" name="Group 612"/>
            <p:cNvGrpSpPr>
              <a:grpSpLocks/>
            </p:cNvGrpSpPr>
            <p:nvPr/>
          </p:nvGrpSpPr>
          <p:grpSpPr bwMode="auto">
            <a:xfrm>
              <a:off x="657" y="436"/>
              <a:ext cx="4445" cy="545"/>
              <a:chOff x="657" y="436"/>
              <a:chExt cx="4445" cy="545"/>
            </a:xfrm>
          </p:grpSpPr>
          <p:grpSp>
            <p:nvGrpSpPr>
              <p:cNvPr id="43250" name="Group 578"/>
              <p:cNvGrpSpPr>
                <a:grpSpLocks/>
              </p:cNvGrpSpPr>
              <p:nvPr/>
            </p:nvGrpSpPr>
            <p:grpSpPr bwMode="auto">
              <a:xfrm>
                <a:off x="657" y="935"/>
                <a:ext cx="4445" cy="46"/>
                <a:chOff x="657" y="1071"/>
                <a:chExt cx="4445" cy="46"/>
              </a:xfrm>
            </p:grpSpPr>
            <p:sp>
              <p:nvSpPr>
                <p:cNvPr id="43252" name="Line 573"/>
                <p:cNvSpPr>
                  <a:spLocks noChangeShapeType="1"/>
                </p:cNvSpPr>
                <p:nvPr/>
              </p:nvSpPr>
              <p:spPr bwMode="auto">
                <a:xfrm>
                  <a:off x="657" y="1117"/>
                  <a:ext cx="4445"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253" name="Line 576"/>
                <p:cNvSpPr>
                  <a:spLocks noChangeShapeType="1"/>
                </p:cNvSpPr>
                <p:nvPr/>
              </p:nvSpPr>
              <p:spPr bwMode="auto">
                <a:xfrm flipV="1">
                  <a:off x="1655" y="1071"/>
                  <a:ext cx="0" cy="4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54" name="Line 577"/>
                <p:cNvSpPr>
                  <a:spLocks noChangeShapeType="1"/>
                </p:cNvSpPr>
                <p:nvPr/>
              </p:nvSpPr>
              <p:spPr bwMode="auto">
                <a:xfrm flipV="1">
                  <a:off x="4014" y="1071"/>
                  <a:ext cx="0" cy="4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251" name="Line 579"/>
              <p:cNvSpPr>
                <a:spLocks noChangeShapeType="1"/>
              </p:cNvSpPr>
              <p:nvPr/>
            </p:nvSpPr>
            <p:spPr bwMode="auto">
              <a:xfrm flipV="1">
                <a:off x="657" y="436"/>
                <a:ext cx="0" cy="545"/>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3219" name="Group 610"/>
            <p:cNvGrpSpPr>
              <a:grpSpLocks/>
            </p:cNvGrpSpPr>
            <p:nvPr/>
          </p:nvGrpSpPr>
          <p:grpSpPr bwMode="auto">
            <a:xfrm>
              <a:off x="703" y="754"/>
              <a:ext cx="4173" cy="182"/>
              <a:chOff x="703" y="1570"/>
              <a:chExt cx="4173" cy="182"/>
            </a:xfrm>
          </p:grpSpPr>
          <p:sp>
            <p:nvSpPr>
              <p:cNvPr id="43220" name="Line 580"/>
              <p:cNvSpPr>
                <a:spLocks noChangeShapeType="1"/>
              </p:cNvSpPr>
              <p:nvPr/>
            </p:nvSpPr>
            <p:spPr bwMode="auto">
              <a:xfrm flipH="1">
                <a:off x="70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1" name="Line 581"/>
              <p:cNvSpPr>
                <a:spLocks noChangeShapeType="1"/>
              </p:cNvSpPr>
              <p:nvPr/>
            </p:nvSpPr>
            <p:spPr bwMode="auto">
              <a:xfrm flipH="1">
                <a:off x="83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2" name="Line 582"/>
              <p:cNvSpPr>
                <a:spLocks noChangeShapeType="1"/>
              </p:cNvSpPr>
              <p:nvPr/>
            </p:nvSpPr>
            <p:spPr bwMode="auto">
              <a:xfrm flipH="1">
                <a:off x="97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3" name="Line 583"/>
              <p:cNvSpPr>
                <a:spLocks noChangeShapeType="1"/>
              </p:cNvSpPr>
              <p:nvPr/>
            </p:nvSpPr>
            <p:spPr bwMode="auto">
              <a:xfrm flipH="1">
                <a:off x="111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4" name="Line 584"/>
              <p:cNvSpPr>
                <a:spLocks noChangeShapeType="1"/>
              </p:cNvSpPr>
              <p:nvPr/>
            </p:nvSpPr>
            <p:spPr bwMode="auto">
              <a:xfrm flipH="1">
                <a:off x="124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5" name="Line 585"/>
              <p:cNvSpPr>
                <a:spLocks noChangeShapeType="1"/>
              </p:cNvSpPr>
              <p:nvPr/>
            </p:nvSpPr>
            <p:spPr bwMode="auto">
              <a:xfrm flipH="1">
                <a:off x="138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6" name="Line 586"/>
              <p:cNvSpPr>
                <a:spLocks noChangeShapeType="1"/>
              </p:cNvSpPr>
              <p:nvPr/>
            </p:nvSpPr>
            <p:spPr bwMode="auto">
              <a:xfrm flipH="1">
                <a:off x="151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7" name="Line 587"/>
              <p:cNvSpPr>
                <a:spLocks noChangeShapeType="1"/>
              </p:cNvSpPr>
              <p:nvPr/>
            </p:nvSpPr>
            <p:spPr bwMode="auto">
              <a:xfrm flipH="1">
                <a:off x="165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8" name="Line 588"/>
              <p:cNvSpPr>
                <a:spLocks noChangeShapeType="1"/>
              </p:cNvSpPr>
              <p:nvPr/>
            </p:nvSpPr>
            <p:spPr bwMode="auto">
              <a:xfrm flipH="1">
                <a:off x="179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29" name="Line 589"/>
              <p:cNvSpPr>
                <a:spLocks noChangeShapeType="1"/>
              </p:cNvSpPr>
              <p:nvPr/>
            </p:nvSpPr>
            <p:spPr bwMode="auto">
              <a:xfrm flipH="1">
                <a:off x="192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0" name="Line 590"/>
              <p:cNvSpPr>
                <a:spLocks noChangeShapeType="1"/>
              </p:cNvSpPr>
              <p:nvPr/>
            </p:nvSpPr>
            <p:spPr bwMode="auto">
              <a:xfrm flipH="1">
                <a:off x="2064"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1" name="Line 591"/>
              <p:cNvSpPr>
                <a:spLocks noChangeShapeType="1"/>
              </p:cNvSpPr>
              <p:nvPr/>
            </p:nvSpPr>
            <p:spPr bwMode="auto">
              <a:xfrm flipH="1">
                <a:off x="2200"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2" name="Line 592"/>
              <p:cNvSpPr>
                <a:spLocks noChangeShapeType="1"/>
              </p:cNvSpPr>
              <p:nvPr/>
            </p:nvSpPr>
            <p:spPr bwMode="auto">
              <a:xfrm flipH="1">
                <a:off x="2336"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3" name="Line 593"/>
              <p:cNvSpPr>
                <a:spLocks noChangeShapeType="1"/>
              </p:cNvSpPr>
              <p:nvPr/>
            </p:nvSpPr>
            <p:spPr bwMode="auto">
              <a:xfrm flipH="1">
                <a:off x="2472"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4" name="Line 594"/>
              <p:cNvSpPr>
                <a:spLocks noChangeShapeType="1"/>
              </p:cNvSpPr>
              <p:nvPr/>
            </p:nvSpPr>
            <p:spPr bwMode="auto">
              <a:xfrm flipH="1">
                <a:off x="2608"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5" name="Line 595"/>
              <p:cNvSpPr>
                <a:spLocks noChangeShapeType="1"/>
              </p:cNvSpPr>
              <p:nvPr/>
            </p:nvSpPr>
            <p:spPr bwMode="auto">
              <a:xfrm flipH="1">
                <a:off x="2744"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6" name="Line 596"/>
              <p:cNvSpPr>
                <a:spLocks noChangeShapeType="1"/>
              </p:cNvSpPr>
              <p:nvPr/>
            </p:nvSpPr>
            <p:spPr bwMode="auto">
              <a:xfrm flipH="1">
                <a:off x="2880"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7" name="Line 597"/>
              <p:cNvSpPr>
                <a:spLocks noChangeShapeType="1"/>
              </p:cNvSpPr>
              <p:nvPr/>
            </p:nvSpPr>
            <p:spPr bwMode="auto">
              <a:xfrm flipH="1">
                <a:off x="3016"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8" name="Line 598"/>
              <p:cNvSpPr>
                <a:spLocks noChangeShapeType="1"/>
              </p:cNvSpPr>
              <p:nvPr/>
            </p:nvSpPr>
            <p:spPr bwMode="auto">
              <a:xfrm flipH="1">
                <a:off x="3152"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39" name="Line 599"/>
              <p:cNvSpPr>
                <a:spLocks noChangeShapeType="1"/>
              </p:cNvSpPr>
              <p:nvPr/>
            </p:nvSpPr>
            <p:spPr bwMode="auto">
              <a:xfrm flipH="1">
                <a:off x="3288"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0" name="Line 600"/>
              <p:cNvSpPr>
                <a:spLocks noChangeShapeType="1"/>
              </p:cNvSpPr>
              <p:nvPr/>
            </p:nvSpPr>
            <p:spPr bwMode="auto">
              <a:xfrm flipH="1">
                <a:off x="342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1" name="Line 601"/>
              <p:cNvSpPr>
                <a:spLocks noChangeShapeType="1"/>
              </p:cNvSpPr>
              <p:nvPr/>
            </p:nvSpPr>
            <p:spPr bwMode="auto">
              <a:xfrm flipH="1">
                <a:off x="356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2" name="Line 602"/>
              <p:cNvSpPr>
                <a:spLocks noChangeShapeType="1"/>
              </p:cNvSpPr>
              <p:nvPr/>
            </p:nvSpPr>
            <p:spPr bwMode="auto">
              <a:xfrm flipH="1">
                <a:off x="369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3" name="Line 603"/>
              <p:cNvSpPr>
                <a:spLocks noChangeShapeType="1"/>
              </p:cNvSpPr>
              <p:nvPr/>
            </p:nvSpPr>
            <p:spPr bwMode="auto">
              <a:xfrm flipH="1">
                <a:off x="383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4" name="Line 604"/>
              <p:cNvSpPr>
                <a:spLocks noChangeShapeType="1"/>
              </p:cNvSpPr>
              <p:nvPr/>
            </p:nvSpPr>
            <p:spPr bwMode="auto">
              <a:xfrm flipH="1">
                <a:off x="396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5" name="Line 605"/>
              <p:cNvSpPr>
                <a:spLocks noChangeShapeType="1"/>
              </p:cNvSpPr>
              <p:nvPr/>
            </p:nvSpPr>
            <p:spPr bwMode="auto">
              <a:xfrm flipH="1">
                <a:off x="410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6" name="Line 606"/>
              <p:cNvSpPr>
                <a:spLocks noChangeShapeType="1"/>
              </p:cNvSpPr>
              <p:nvPr/>
            </p:nvSpPr>
            <p:spPr bwMode="auto">
              <a:xfrm flipH="1">
                <a:off x="424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7" name="Line 607"/>
              <p:cNvSpPr>
                <a:spLocks noChangeShapeType="1"/>
              </p:cNvSpPr>
              <p:nvPr/>
            </p:nvSpPr>
            <p:spPr bwMode="auto">
              <a:xfrm flipH="1">
                <a:off x="437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8" name="Line 608"/>
              <p:cNvSpPr>
                <a:spLocks noChangeShapeType="1"/>
              </p:cNvSpPr>
              <p:nvPr/>
            </p:nvSpPr>
            <p:spPr bwMode="auto">
              <a:xfrm flipH="1">
                <a:off x="451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49" name="Line 609"/>
              <p:cNvSpPr>
                <a:spLocks noChangeShapeType="1"/>
              </p:cNvSpPr>
              <p:nvPr/>
            </p:nvSpPr>
            <p:spPr bwMode="auto">
              <a:xfrm flipH="1">
                <a:off x="464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9" name="Group 615"/>
          <p:cNvGrpSpPr>
            <a:grpSpLocks/>
          </p:cNvGrpSpPr>
          <p:nvPr/>
        </p:nvGrpSpPr>
        <p:grpSpPr bwMode="auto">
          <a:xfrm>
            <a:off x="2627313" y="1520825"/>
            <a:ext cx="3625850" cy="0"/>
            <a:chOff x="1655" y="709"/>
            <a:chExt cx="2284" cy="0"/>
          </a:xfrm>
        </p:grpSpPr>
        <p:sp>
          <p:nvSpPr>
            <p:cNvPr id="43215" name="Line 115"/>
            <p:cNvSpPr>
              <a:spLocks noChangeShapeType="1"/>
            </p:cNvSpPr>
            <p:nvPr/>
          </p:nvSpPr>
          <p:spPr bwMode="auto">
            <a:xfrm>
              <a:off x="1655" y="709"/>
              <a:ext cx="110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216" name="Line 116"/>
            <p:cNvSpPr>
              <a:spLocks noChangeShapeType="1"/>
            </p:cNvSpPr>
            <p:nvPr/>
          </p:nvSpPr>
          <p:spPr bwMode="auto">
            <a:xfrm>
              <a:off x="2835" y="709"/>
              <a:ext cx="1104" cy="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0" name="Group 614"/>
          <p:cNvGrpSpPr>
            <a:grpSpLocks/>
          </p:cNvGrpSpPr>
          <p:nvPr/>
        </p:nvGrpSpPr>
        <p:grpSpPr bwMode="auto">
          <a:xfrm>
            <a:off x="4211638" y="1466850"/>
            <a:ext cx="312737" cy="376238"/>
            <a:chOff x="2653" y="664"/>
            <a:chExt cx="197" cy="316"/>
          </a:xfrm>
        </p:grpSpPr>
        <p:sp>
          <p:nvSpPr>
            <p:cNvPr id="43213" name="Text Box 117"/>
            <p:cNvSpPr txBox="1">
              <a:spLocks noChangeArrowheads="1"/>
            </p:cNvSpPr>
            <p:nvPr/>
          </p:nvSpPr>
          <p:spPr bwMode="auto">
            <a:xfrm>
              <a:off x="2653" y="709"/>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C</a:t>
              </a:r>
            </a:p>
          </p:txBody>
        </p:sp>
        <p:sp>
          <p:nvSpPr>
            <p:cNvPr id="43214" name="Oval 118"/>
            <p:cNvSpPr>
              <a:spLocks noChangeArrowheads="1"/>
            </p:cNvSpPr>
            <p:nvPr/>
          </p:nvSpPr>
          <p:spPr bwMode="auto">
            <a:xfrm>
              <a:off x="2744" y="664"/>
              <a:ext cx="91" cy="9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b="0">
                <a:solidFill>
                  <a:srgbClr val="FFCC00"/>
                </a:solidFill>
                <a:ea typeface="宋体" pitchFamily="2" charset="-122"/>
              </a:endParaRPr>
            </a:p>
          </p:txBody>
        </p:sp>
      </p:grpSp>
      <p:sp>
        <p:nvSpPr>
          <p:cNvPr id="108050" name="Text Box 530"/>
          <p:cNvSpPr txBox="1">
            <a:spLocks noChangeArrowheads="1"/>
          </p:cNvSpPr>
          <p:nvPr/>
        </p:nvSpPr>
        <p:spPr bwMode="auto">
          <a:xfrm>
            <a:off x="288925" y="771525"/>
            <a:ext cx="6227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ea typeface="华文中宋" pitchFamily="2" charset="-122"/>
              </a:rPr>
              <a:t>2</a:t>
            </a:r>
            <a:r>
              <a:rPr lang="zh-CN" altLang="en-US" sz="1800">
                <a:solidFill>
                  <a:srgbClr val="0000FF"/>
                </a:solidFill>
                <a:ea typeface="华文中宋" pitchFamily="2" charset="-122"/>
              </a:rPr>
              <a:t>、爱因斯坦的理想“火车对钟实验”</a:t>
            </a:r>
          </a:p>
        </p:txBody>
      </p:sp>
      <p:sp>
        <p:nvSpPr>
          <p:cNvPr id="141" name="Rectangle 125"/>
          <p:cNvSpPr>
            <a:spLocks noChangeArrowheads="1"/>
          </p:cNvSpPr>
          <p:nvPr/>
        </p:nvSpPr>
        <p:spPr bwMode="auto">
          <a:xfrm>
            <a:off x="1187450" y="3292475"/>
            <a:ext cx="392906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500">
                <a:ea typeface="华文中宋" pitchFamily="2" charset="-122"/>
              </a:rPr>
              <a:t>S</a:t>
            </a:r>
            <a:r>
              <a:rPr kumimoji="0" lang="zh-CN" altLang="en-US" sz="1500">
                <a:ea typeface="华文中宋" pitchFamily="2" charset="-122"/>
              </a:rPr>
              <a:t>系中</a:t>
            </a:r>
            <a:r>
              <a:rPr kumimoji="0" lang="en-US" altLang="zh-CN" sz="1500">
                <a:ea typeface="华文中宋" pitchFamily="2" charset="-122"/>
              </a:rPr>
              <a:t>:   </a:t>
            </a:r>
            <a:r>
              <a:rPr kumimoji="0" lang="zh-CN" altLang="en-US" sz="1500">
                <a:ea typeface="华文中宋" pitchFamily="2" charset="-122"/>
              </a:rPr>
              <a:t>事件</a:t>
            </a:r>
            <a:r>
              <a:rPr kumimoji="0" lang="en-US" altLang="zh-CN" sz="1500">
                <a:ea typeface="华文中宋" pitchFamily="2" charset="-122"/>
              </a:rPr>
              <a:t>1 (</a:t>
            </a:r>
            <a:r>
              <a:rPr kumimoji="0" lang="en-US" altLang="zh-CN" sz="1500" i="1">
                <a:ea typeface="华文中宋" pitchFamily="2" charset="-122"/>
              </a:rPr>
              <a:t>x</a:t>
            </a:r>
            <a:r>
              <a:rPr kumimoji="0" lang="en-US" altLang="zh-CN" sz="1500" baseline="-25000">
                <a:ea typeface="华文中宋" pitchFamily="2" charset="-122"/>
              </a:rPr>
              <a:t>1</a:t>
            </a:r>
            <a:r>
              <a:rPr kumimoji="0" lang="zh-CN" altLang="en-US" sz="1500">
                <a:ea typeface="华文中宋" pitchFamily="2" charset="-122"/>
              </a:rPr>
              <a:t>，</a:t>
            </a:r>
            <a:r>
              <a:rPr kumimoji="0" lang="en-US" altLang="zh-CN" sz="1500" i="1">
                <a:ea typeface="华文中宋" pitchFamily="2" charset="-122"/>
              </a:rPr>
              <a:t>t</a:t>
            </a:r>
            <a:r>
              <a:rPr kumimoji="0" lang="en-US" altLang="zh-CN" sz="1500" baseline="-25000">
                <a:ea typeface="华文中宋" pitchFamily="2" charset="-122"/>
              </a:rPr>
              <a:t>1</a:t>
            </a:r>
            <a:r>
              <a:rPr kumimoji="0" lang="en-US" altLang="zh-CN" sz="1500">
                <a:ea typeface="华文中宋" pitchFamily="2" charset="-122"/>
              </a:rPr>
              <a:t>)  </a:t>
            </a:r>
            <a:r>
              <a:rPr kumimoji="0" lang="zh-CN" altLang="en-US" sz="1500">
                <a:ea typeface="华文中宋" pitchFamily="2" charset="-122"/>
              </a:rPr>
              <a:t>， 事件</a:t>
            </a:r>
            <a:r>
              <a:rPr kumimoji="0" lang="en-US" altLang="zh-CN" sz="1500">
                <a:ea typeface="华文中宋" pitchFamily="2" charset="-122"/>
              </a:rPr>
              <a:t>2 (</a:t>
            </a:r>
            <a:r>
              <a:rPr kumimoji="0" lang="en-US" altLang="zh-CN" sz="1500" i="1">
                <a:ea typeface="华文中宋" pitchFamily="2" charset="-122"/>
              </a:rPr>
              <a:t>x</a:t>
            </a:r>
            <a:r>
              <a:rPr kumimoji="0" lang="en-US" altLang="zh-CN" sz="1500" baseline="-25000">
                <a:ea typeface="华文中宋" pitchFamily="2" charset="-122"/>
              </a:rPr>
              <a:t>2</a:t>
            </a:r>
            <a:r>
              <a:rPr kumimoji="0" lang="zh-CN" altLang="en-US" sz="1500">
                <a:ea typeface="华文中宋" pitchFamily="2" charset="-122"/>
              </a:rPr>
              <a:t>，</a:t>
            </a:r>
            <a:r>
              <a:rPr kumimoji="0" lang="en-US" altLang="zh-CN" sz="1500" i="1">
                <a:ea typeface="华文中宋" pitchFamily="2" charset="-122"/>
              </a:rPr>
              <a:t>t</a:t>
            </a:r>
            <a:r>
              <a:rPr kumimoji="0" lang="en-US" altLang="zh-CN" sz="1500" baseline="-25000">
                <a:ea typeface="华文中宋" pitchFamily="2" charset="-122"/>
              </a:rPr>
              <a:t>2</a:t>
            </a:r>
            <a:r>
              <a:rPr kumimoji="0" lang="en-US" altLang="zh-CN" sz="1500">
                <a:ea typeface="华文中宋" pitchFamily="2" charset="-122"/>
              </a:rPr>
              <a:t>)</a:t>
            </a:r>
            <a:endParaRPr kumimoji="0" lang="en-US" altLang="zh-CN" sz="1500" baseline="-25000">
              <a:solidFill>
                <a:srgbClr val="0000FF"/>
              </a:solidFill>
              <a:ea typeface="华文中宋" pitchFamily="2" charset="-122"/>
            </a:endParaRPr>
          </a:p>
        </p:txBody>
      </p:sp>
      <p:sp>
        <p:nvSpPr>
          <p:cNvPr id="142" name="Rectangle 126"/>
          <p:cNvSpPr>
            <a:spLocks noChangeArrowheads="1"/>
          </p:cNvSpPr>
          <p:nvPr/>
        </p:nvSpPr>
        <p:spPr bwMode="auto">
          <a:xfrm>
            <a:off x="1187450" y="3616325"/>
            <a:ext cx="66611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en-US" altLang="zh-CN" sz="1500">
                <a:ea typeface="华文中宋" pitchFamily="2" charset="-122"/>
              </a:rPr>
              <a:t>S</a:t>
            </a:r>
            <a:r>
              <a:rPr kumimoji="0" lang="en-US" altLang="zh-CN" sz="1500" baseline="30000">
                <a:ea typeface="华文中宋" pitchFamily="2" charset="-122"/>
              </a:rPr>
              <a:t>/</a:t>
            </a:r>
            <a:r>
              <a:rPr kumimoji="0" lang="zh-CN" altLang="en-US" sz="1500">
                <a:ea typeface="华文中宋" pitchFamily="2" charset="-122"/>
              </a:rPr>
              <a:t>系中</a:t>
            </a:r>
            <a:r>
              <a:rPr kumimoji="0" lang="en-US" altLang="zh-CN" sz="1500">
                <a:ea typeface="华文中宋" pitchFamily="2" charset="-122"/>
              </a:rPr>
              <a:t>:  </a:t>
            </a:r>
            <a:r>
              <a:rPr kumimoji="0" lang="zh-CN" altLang="en-US" sz="1500">
                <a:ea typeface="华文中宋" pitchFamily="2" charset="-122"/>
              </a:rPr>
              <a:t>事件</a:t>
            </a:r>
            <a:r>
              <a:rPr kumimoji="0" lang="en-US" altLang="zh-CN" sz="1500">
                <a:ea typeface="华文中宋" pitchFamily="2" charset="-122"/>
              </a:rPr>
              <a:t>1 (</a:t>
            </a:r>
            <a:r>
              <a:rPr kumimoji="0" lang="en-US" altLang="zh-CN" sz="1500" i="1">
                <a:ea typeface="华文中宋" pitchFamily="2" charset="-122"/>
              </a:rPr>
              <a:t>x</a:t>
            </a:r>
            <a:r>
              <a:rPr kumimoji="0" lang="en-US" altLang="zh-CN" sz="1500" baseline="-25000">
                <a:ea typeface="华文中宋" pitchFamily="2" charset="-122"/>
              </a:rPr>
              <a:t>1</a:t>
            </a:r>
            <a:r>
              <a:rPr kumimoji="0" lang="en-US" altLang="zh-CN" sz="1500" baseline="30000">
                <a:ea typeface="华文中宋" pitchFamily="2" charset="-122"/>
              </a:rPr>
              <a:t>/</a:t>
            </a:r>
            <a:r>
              <a:rPr kumimoji="0" lang="zh-CN" altLang="en-US" sz="1500">
                <a:ea typeface="华文中宋" pitchFamily="2" charset="-122"/>
              </a:rPr>
              <a:t>，</a:t>
            </a:r>
            <a:r>
              <a:rPr kumimoji="0" lang="en-US" altLang="zh-CN" sz="1500" i="1">
                <a:ea typeface="华文中宋" pitchFamily="2" charset="-122"/>
              </a:rPr>
              <a:t>t</a:t>
            </a:r>
            <a:r>
              <a:rPr kumimoji="0" lang="en-US" altLang="zh-CN" sz="1500" baseline="-25000">
                <a:ea typeface="华文中宋" pitchFamily="2" charset="-122"/>
              </a:rPr>
              <a:t>1</a:t>
            </a:r>
            <a:r>
              <a:rPr kumimoji="0" lang="en-US" altLang="zh-CN" sz="1500" baseline="30000">
                <a:ea typeface="华文中宋" pitchFamily="2" charset="-122"/>
              </a:rPr>
              <a:t>/</a:t>
            </a:r>
            <a:r>
              <a:rPr kumimoji="0" lang="en-US" altLang="zh-CN" sz="1500">
                <a:ea typeface="华文中宋" pitchFamily="2" charset="-122"/>
              </a:rPr>
              <a:t>) </a:t>
            </a:r>
            <a:r>
              <a:rPr kumimoji="0" lang="zh-CN" altLang="en-US" sz="1500">
                <a:ea typeface="华文中宋" pitchFamily="2" charset="-122"/>
              </a:rPr>
              <a:t>，事件</a:t>
            </a:r>
            <a:r>
              <a:rPr kumimoji="0" lang="en-US" altLang="zh-CN" sz="1500">
                <a:ea typeface="华文中宋" pitchFamily="2" charset="-122"/>
              </a:rPr>
              <a:t>2 (</a:t>
            </a:r>
            <a:r>
              <a:rPr kumimoji="0" lang="en-US" altLang="zh-CN" sz="1500" i="1">
                <a:ea typeface="华文中宋" pitchFamily="2" charset="-122"/>
              </a:rPr>
              <a:t>x</a:t>
            </a:r>
            <a:r>
              <a:rPr kumimoji="0" lang="en-US" altLang="zh-CN" sz="1500" baseline="-25000">
                <a:ea typeface="华文中宋" pitchFamily="2" charset="-122"/>
              </a:rPr>
              <a:t>2</a:t>
            </a:r>
            <a:r>
              <a:rPr kumimoji="0" lang="en-US" altLang="zh-CN" sz="1500" baseline="30000">
                <a:ea typeface="华文中宋" pitchFamily="2" charset="-122"/>
              </a:rPr>
              <a:t>/</a:t>
            </a:r>
            <a:r>
              <a:rPr kumimoji="0" lang="zh-CN" altLang="en-US" sz="1500">
                <a:ea typeface="华文中宋" pitchFamily="2" charset="-122"/>
              </a:rPr>
              <a:t>，</a:t>
            </a:r>
            <a:r>
              <a:rPr kumimoji="0" lang="en-US" altLang="zh-CN" sz="1500" i="1">
                <a:ea typeface="华文中宋" pitchFamily="2" charset="-122"/>
              </a:rPr>
              <a:t>t</a:t>
            </a:r>
            <a:r>
              <a:rPr kumimoji="0" lang="en-US" altLang="zh-CN" sz="1500" baseline="-25000">
                <a:ea typeface="华文中宋" pitchFamily="2" charset="-122"/>
              </a:rPr>
              <a:t>2</a:t>
            </a:r>
            <a:r>
              <a:rPr kumimoji="0" lang="en-US" altLang="zh-CN" sz="1500" baseline="30000">
                <a:ea typeface="华文中宋" pitchFamily="2" charset="-122"/>
              </a:rPr>
              <a:t>/</a:t>
            </a:r>
            <a:r>
              <a:rPr kumimoji="0" lang="en-US" altLang="zh-CN" sz="1500">
                <a:ea typeface="华文中宋" pitchFamily="2" charset="-122"/>
              </a:rPr>
              <a:t>)</a:t>
            </a:r>
            <a:endParaRPr kumimoji="0" lang="en-US" altLang="zh-CN" sz="1500">
              <a:solidFill>
                <a:srgbClr val="0000FF"/>
              </a:solidFill>
              <a:ea typeface="华文中宋" pitchFamily="2" charset="-122"/>
            </a:endParaRPr>
          </a:p>
        </p:txBody>
      </p:sp>
      <p:grpSp>
        <p:nvGrpSpPr>
          <p:cNvPr id="31" name="Group 572"/>
          <p:cNvGrpSpPr>
            <a:grpSpLocks/>
          </p:cNvGrpSpPr>
          <p:nvPr/>
        </p:nvGrpSpPr>
        <p:grpSpPr bwMode="auto">
          <a:xfrm>
            <a:off x="2411413" y="1358900"/>
            <a:ext cx="4156075" cy="314325"/>
            <a:chOff x="1487" y="1261"/>
            <a:chExt cx="2618" cy="264"/>
          </a:xfrm>
        </p:grpSpPr>
        <p:grpSp>
          <p:nvGrpSpPr>
            <p:cNvPr id="43191" name="Group 91"/>
            <p:cNvGrpSpPr>
              <a:grpSpLocks/>
            </p:cNvGrpSpPr>
            <p:nvPr/>
          </p:nvGrpSpPr>
          <p:grpSpPr bwMode="auto">
            <a:xfrm>
              <a:off x="3863" y="1261"/>
              <a:ext cx="242" cy="256"/>
              <a:chOff x="3640" y="1296"/>
              <a:chExt cx="242" cy="256"/>
            </a:xfrm>
          </p:grpSpPr>
          <p:grpSp>
            <p:nvGrpSpPr>
              <p:cNvPr id="43203" name="Group 92"/>
              <p:cNvGrpSpPr>
                <a:grpSpLocks/>
              </p:cNvGrpSpPr>
              <p:nvPr/>
            </p:nvGrpSpPr>
            <p:grpSpPr bwMode="auto">
              <a:xfrm>
                <a:off x="3640" y="1304"/>
                <a:ext cx="240" cy="240"/>
                <a:chOff x="4704" y="1776"/>
                <a:chExt cx="240" cy="240"/>
              </a:xfrm>
            </p:grpSpPr>
            <p:grpSp>
              <p:nvGrpSpPr>
                <p:cNvPr id="43205" name="Group 93"/>
                <p:cNvGrpSpPr>
                  <a:grpSpLocks/>
                </p:cNvGrpSpPr>
                <p:nvPr/>
              </p:nvGrpSpPr>
              <p:grpSpPr bwMode="auto">
                <a:xfrm>
                  <a:off x="4704" y="1776"/>
                  <a:ext cx="240" cy="240"/>
                  <a:chOff x="4920" y="2472"/>
                  <a:chExt cx="240" cy="240"/>
                </a:xfrm>
              </p:grpSpPr>
              <p:sp>
                <p:nvSpPr>
                  <p:cNvPr id="43209" name="Line 94"/>
                  <p:cNvSpPr>
                    <a:spLocks noChangeShapeType="1"/>
                  </p:cNvSpPr>
                  <p:nvPr/>
                </p:nvSpPr>
                <p:spPr bwMode="auto">
                  <a:xfrm>
                    <a:off x="4920" y="2600"/>
                    <a:ext cx="240"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10" name="Line 95"/>
                  <p:cNvSpPr>
                    <a:spLocks noChangeShapeType="1"/>
                  </p:cNvSpPr>
                  <p:nvPr/>
                </p:nvSpPr>
                <p:spPr bwMode="auto">
                  <a:xfrm>
                    <a:off x="5040" y="2472"/>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11" name="Line 96"/>
                  <p:cNvSpPr>
                    <a:spLocks noChangeShapeType="1"/>
                  </p:cNvSpPr>
                  <p:nvPr/>
                </p:nvSpPr>
                <p:spPr bwMode="auto">
                  <a:xfrm>
                    <a:off x="4944" y="2496"/>
                    <a:ext cx="192" cy="192"/>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12" name="Line 97"/>
                  <p:cNvSpPr>
                    <a:spLocks noChangeShapeType="1"/>
                  </p:cNvSpPr>
                  <p:nvPr/>
                </p:nvSpPr>
                <p:spPr bwMode="auto">
                  <a:xfrm flipV="1">
                    <a:off x="4960" y="2504"/>
                    <a:ext cx="168" cy="17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206" name="Group 98"/>
                <p:cNvGrpSpPr>
                  <a:grpSpLocks/>
                </p:cNvGrpSpPr>
                <p:nvPr/>
              </p:nvGrpSpPr>
              <p:grpSpPr bwMode="auto">
                <a:xfrm rot="562520">
                  <a:off x="4744" y="1808"/>
                  <a:ext cx="144" cy="184"/>
                  <a:chOff x="4912" y="2456"/>
                  <a:chExt cx="144" cy="184"/>
                </a:xfrm>
              </p:grpSpPr>
              <p:sp>
                <p:nvSpPr>
                  <p:cNvPr id="43207" name="Line 99"/>
                  <p:cNvSpPr>
                    <a:spLocks noChangeShapeType="1"/>
                  </p:cNvSpPr>
                  <p:nvPr/>
                </p:nvSpPr>
                <p:spPr bwMode="auto">
                  <a:xfrm>
                    <a:off x="4936" y="2456"/>
                    <a:ext cx="104" cy="1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08" name="Line 100"/>
                  <p:cNvSpPr>
                    <a:spLocks noChangeShapeType="1"/>
                  </p:cNvSpPr>
                  <p:nvPr/>
                </p:nvSpPr>
                <p:spPr bwMode="auto">
                  <a:xfrm flipV="1">
                    <a:off x="4912" y="2504"/>
                    <a:ext cx="144" cy="9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43204" name="Object 101"/>
              <p:cNvGraphicFramePr>
                <a:graphicFrameLocks noChangeAspect="1"/>
              </p:cNvGraphicFramePr>
              <p:nvPr/>
            </p:nvGraphicFramePr>
            <p:xfrm>
              <a:off x="3648" y="1296"/>
              <a:ext cx="234" cy="256"/>
            </p:xfrm>
            <a:graphic>
              <a:graphicData uri="http://schemas.openxmlformats.org/presentationml/2006/ole">
                <mc:AlternateContent xmlns:mc="http://schemas.openxmlformats.org/markup-compatibility/2006">
                  <mc:Choice xmlns:v="urn:schemas-microsoft-com:vml" Requires="v">
                    <p:oleObj spid="_x0000_s43344" name="剪辑" r:id="rId6" imgW="853582" imgH="937071" progId="MS_ClipArt_Gallery.2">
                      <p:embed/>
                    </p:oleObj>
                  </mc:Choice>
                  <mc:Fallback>
                    <p:oleObj name="剪辑" r:id="rId6" imgW="853582" imgH="937071" progId="MS_ClipArt_Gallery.2">
                      <p:embed/>
                      <p:pic>
                        <p:nvPicPr>
                          <p:cNvPr id="0" name="Object 1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8" y="1296"/>
                            <a:ext cx="234" cy="256"/>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192" name="Group 102"/>
            <p:cNvGrpSpPr>
              <a:grpSpLocks/>
            </p:cNvGrpSpPr>
            <p:nvPr/>
          </p:nvGrpSpPr>
          <p:grpSpPr bwMode="auto">
            <a:xfrm>
              <a:off x="1487" y="1269"/>
              <a:ext cx="242" cy="256"/>
              <a:chOff x="3640" y="1296"/>
              <a:chExt cx="242" cy="256"/>
            </a:xfrm>
          </p:grpSpPr>
          <p:grpSp>
            <p:nvGrpSpPr>
              <p:cNvPr id="43193" name="Group 103"/>
              <p:cNvGrpSpPr>
                <a:grpSpLocks/>
              </p:cNvGrpSpPr>
              <p:nvPr/>
            </p:nvGrpSpPr>
            <p:grpSpPr bwMode="auto">
              <a:xfrm>
                <a:off x="3640" y="1304"/>
                <a:ext cx="240" cy="240"/>
                <a:chOff x="4704" y="1776"/>
                <a:chExt cx="240" cy="240"/>
              </a:xfrm>
            </p:grpSpPr>
            <p:grpSp>
              <p:nvGrpSpPr>
                <p:cNvPr id="43195" name="Group 104"/>
                <p:cNvGrpSpPr>
                  <a:grpSpLocks/>
                </p:cNvGrpSpPr>
                <p:nvPr/>
              </p:nvGrpSpPr>
              <p:grpSpPr bwMode="auto">
                <a:xfrm>
                  <a:off x="4704" y="1776"/>
                  <a:ext cx="240" cy="240"/>
                  <a:chOff x="4920" y="2472"/>
                  <a:chExt cx="240" cy="240"/>
                </a:xfrm>
              </p:grpSpPr>
              <p:sp>
                <p:nvSpPr>
                  <p:cNvPr id="43199" name="Line 105"/>
                  <p:cNvSpPr>
                    <a:spLocks noChangeShapeType="1"/>
                  </p:cNvSpPr>
                  <p:nvPr/>
                </p:nvSpPr>
                <p:spPr bwMode="auto">
                  <a:xfrm>
                    <a:off x="4920" y="2600"/>
                    <a:ext cx="240"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00" name="Line 106"/>
                  <p:cNvSpPr>
                    <a:spLocks noChangeShapeType="1"/>
                  </p:cNvSpPr>
                  <p:nvPr/>
                </p:nvSpPr>
                <p:spPr bwMode="auto">
                  <a:xfrm>
                    <a:off x="5040" y="2472"/>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01" name="Line 107"/>
                  <p:cNvSpPr>
                    <a:spLocks noChangeShapeType="1"/>
                  </p:cNvSpPr>
                  <p:nvPr/>
                </p:nvSpPr>
                <p:spPr bwMode="auto">
                  <a:xfrm>
                    <a:off x="4944" y="2496"/>
                    <a:ext cx="192" cy="192"/>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202" name="Line 108"/>
                  <p:cNvSpPr>
                    <a:spLocks noChangeShapeType="1"/>
                  </p:cNvSpPr>
                  <p:nvPr/>
                </p:nvSpPr>
                <p:spPr bwMode="auto">
                  <a:xfrm flipV="1">
                    <a:off x="4960" y="2504"/>
                    <a:ext cx="168" cy="17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196" name="Group 109"/>
                <p:cNvGrpSpPr>
                  <a:grpSpLocks/>
                </p:cNvGrpSpPr>
                <p:nvPr/>
              </p:nvGrpSpPr>
              <p:grpSpPr bwMode="auto">
                <a:xfrm rot="562520">
                  <a:off x="4744" y="1808"/>
                  <a:ext cx="144" cy="184"/>
                  <a:chOff x="4912" y="2456"/>
                  <a:chExt cx="144" cy="184"/>
                </a:xfrm>
              </p:grpSpPr>
              <p:sp>
                <p:nvSpPr>
                  <p:cNvPr id="43197" name="Line 110"/>
                  <p:cNvSpPr>
                    <a:spLocks noChangeShapeType="1"/>
                  </p:cNvSpPr>
                  <p:nvPr/>
                </p:nvSpPr>
                <p:spPr bwMode="auto">
                  <a:xfrm>
                    <a:off x="4936" y="2456"/>
                    <a:ext cx="104" cy="1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98" name="Line 111"/>
                  <p:cNvSpPr>
                    <a:spLocks noChangeShapeType="1"/>
                  </p:cNvSpPr>
                  <p:nvPr/>
                </p:nvSpPr>
                <p:spPr bwMode="auto">
                  <a:xfrm flipV="1">
                    <a:off x="4912" y="2504"/>
                    <a:ext cx="144" cy="9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43194" name="Object 112"/>
              <p:cNvGraphicFramePr>
                <a:graphicFrameLocks noChangeAspect="1"/>
              </p:cNvGraphicFramePr>
              <p:nvPr/>
            </p:nvGraphicFramePr>
            <p:xfrm>
              <a:off x="3648" y="1296"/>
              <a:ext cx="234" cy="256"/>
            </p:xfrm>
            <a:graphic>
              <a:graphicData uri="http://schemas.openxmlformats.org/presentationml/2006/ole">
                <mc:AlternateContent xmlns:mc="http://schemas.openxmlformats.org/markup-compatibility/2006">
                  <mc:Choice xmlns:v="urn:schemas-microsoft-com:vml" Requires="v">
                    <p:oleObj spid="_x0000_s43345" name="剪辑" r:id="rId8" imgW="853582" imgH="937071" progId="MS_ClipArt_Gallery.2">
                      <p:embed/>
                    </p:oleObj>
                  </mc:Choice>
                  <mc:Fallback>
                    <p:oleObj name="剪辑" r:id="rId8" imgW="853582" imgH="937071" progId="MS_ClipArt_Gallery.2">
                      <p:embed/>
                      <p:pic>
                        <p:nvPicPr>
                          <p:cNvPr id="0" name="Object 1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8" y="1296"/>
                            <a:ext cx="234" cy="256"/>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2" name="Rectangle 125"/>
          <p:cNvSpPr>
            <a:spLocks noChangeArrowheads="1"/>
          </p:cNvSpPr>
          <p:nvPr/>
        </p:nvSpPr>
        <p:spPr bwMode="auto">
          <a:xfrm>
            <a:off x="1763713" y="1779588"/>
            <a:ext cx="1655762"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kumimoji="0" lang="en-US" altLang="zh-CN" sz="1500">
                <a:ea typeface="宋体" pitchFamily="2" charset="-122"/>
              </a:rPr>
              <a:t>(</a:t>
            </a:r>
            <a:r>
              <a:rPr kumimoji="0" lang="en-US" altLang="zh-CN" sz="1500" i="1">
                <a:ea typeface="宋体" pitchFamily="2" charset="-122"/>
              </a:rPr>
              <a:t>x</a:t>
            </a:r>
            <a:r>
              <a:rPr kumimoji="0" lang="en-US" altLang="zh-CN" sz="1500" baseline="-25000">
                <a:ea typeface="宋体" pitchFamily="2" charset="-122"/>
              </a:rPr>
              <a:t>1</a:t>
            </a:r>
            <a:r>
              <a:rPr kumimoji="0" lang="en-US" altLang="zh-CN" sz="1500">
                <a:ea typeface="宋体" pitchFamily="2" charset="-122"/>
              </a:rPr>
              <a:t>, </a:t>
            </a:r>
            <a:r>
              <a:rPr kumimoji="0" lang="en-US" altLang="zh-CN" sz="1500" i="1">
                <a:ea typeface="宋体" pitchFamily="2" charset="-122"/>
              </a:rPr>
              <a:t>t</a:t>
            </a:r>
            <a:r>
              <a:rPr kumimoji="0" lang="en-US" altLang="zh-CN" sz="1500" baseline="-25000">
                <a:ea typeface="宋体" pitchFamily="2" charset="-122"/>
              </a:rPr>
              <a:t>1</a:t>
            </a:r>
            <a:r>
              <a:rPr kumimoji="0" lang="en-US" altLang="zh-CN" sz="1500">
                <a:ea typeface="宋体" pitchFamily="2" charset="-122"/>
              </a:rPr>
              <a:t>)</a:t>
            </a:r>
            <a:endParaRPr kumimoji="0" lang="en-US" altLang="zh-CN" sz="1500" baseline="-25000">
              <a:solidFill>
                <a:srgbClr val="0000FF"/>
              </a:solidFill>
              <a:ea typeface="宋体" pitchFamily="2" charset="-122"/>
            </a:endParaRPr>
          </a:p>
        </p:txBody>
      </p:sp>
      <p:sp>
        <p:nvSpPr>
          <p:cNvPr id="3" name="Rectangle 125"/>
          <p:cNvSpPr>
            <a:spLocks noChangeArrowheads="1"/>
          </p:cNvSpPr>
          <p:nvPr/>
        </p:nvSpPr>
        <p:spPr bwMode="auto">
          <a:xfrm>
            <a:off x="5580063" y="1790700"/>
            <a:ext cx="1655762"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kumimoji="0" lang="en-US" altLang="zh-CN" sz="1500">
                <a:ea typeface="宋体" pitchFamily="2" charset="-122"/>
              </a:rPr>
              <a:t>(</a:t>
            </a:r>
            <a:r>
              <a:rPr kumimoji="0" lang="en-US" altLang="zh-CN" sz="1500" i="1">
                <a:ea typeface="宋体" pitchFamily="2" charset="-122"/>
              </a:rPr>
              <a:t>x</a:t>
            </a:r>
            <a:r>
              <a:rPr kumimoji="0" lang="en-US" altLang="zh-CN" sz="1500" baseline="-25000">
                <a:ea typeface="宋体" pitchFamily="2" charset="-122"/>
              </a:rPr>
              <a:t>2</a:t>
            </a:r>
            <a:r>
              <a:rPr kumimoji="0" lang="en-US" altLang="zh-CN" sz="1500">
                <a:ea typeface="宋体" pitchFamily="2" charset="-122"/>
              </a:rPr>
              <a:t>, </a:t>
            </a:r>
            <a:r>
              <a:rPr kumimoji="0" lang="en-US" altLang="zh-CN" sz="1500" i="1">
                <a:ea typeface="宋体" pitchFamily="2" charset="-122"/>
              </a:rPr>
              <a:t>t</a:t>
            </a:r>
            <a:r>
              <a:rPr kumimoji="0" lang="en-US" altLang="zh-CN" sz="1500" baseline="-25000">
                <a:ea typeface="宋体" pitchFamily="2" charset="-122"/>
              </a:rPr>
              <a:t>2</a:t>
            </a:r>
            <a:r>
              <a:rPr kumimoji="0" lang="en-US" altLang="zh-CN" sz="1500">
                <a:ea typeface="宋体" pitchFamily="2" charset="-122"/>
              </a:rPr>
              <a:t>)</a:t>
            </a:r>
            <a:endParaRPr kumimoji="0" lang="en-US" altLang="zh-CN" sz="1500" baseline="-25000">
              <a:solidFill>
                <a:srgbClr val="0000FF"/>
              </a:solidFill>
              <a:ea typeface="宋体" pitchFamily="2" charset="-122"/>
            </a:endParaRPr>
          </a:p>
        </p:txBody>
      </p:sp>
      <p:grpSp>
        <p:nvGrpSpPr>
          <p:cNvPr id="33" name="Group 770"/>
          <p:cNvGrpSpPr>
            <a:grpSpLocks/>
          </p:cNvGrpSpPr>
          <p:nvPr/>
        </p:nvGrpSpPr>
        <p:grpSpPr bwMode="auto">
          <a:xfrm>
            <a:off x="2443163" y="2449513"/>
            <a:ext cx="4021137" cy="485775"/>
            <a:chOff x="2154" y="1842"/>
            <a:chExt cx="2533" cy="408"/>
          </a:xfrm>
        </p:grpSpPr>
        <p:sp>
          <p:nvSpPr>
            <p:cNvPr id="43175" name="Text Box 518"/>
            <p:cNvSpPr txBox="1">
              <a:spLocks noChangeArrowheads="1"/>
            </p:cNvSpPr>
            <p:nvPr/>
          </p:nvSpPr>
          <p:spPr bwMode="auto">
            <a:xfrm>
              <a:off x="4468" y="1842"/>
              <a:ext cx="2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A</a:t>
              </a:r>
              <a:r>
                <a:rPr lang="en-US" altLang="zh-CN" sz="1500" i="1" baseline="30000">
                  <a:solidFill>
                    <a:srgbClr val="0000FF"/>
                  </a:solidFill>
                  <a:ea typeface="宋体" pitchFamily="2" charset="-122"/>
                </a:rPr>
                <a:t>/</a:t>
              </a:r>
              <a:endParaRPr lang="en-US" altLang="zh-CN" sz="1500" i="1">
                <a:solidFill>
                  <a:srgbClr val="0000FF"/>
                </a:solidFill>
                <a:ea typeface="宋体" pitchFamily="2" charset="-122"/>
              </a:endParaRPr>
            </a:p>
          </p:txBody>
        </p:sp>
        <p:sp>
          <p:nvSpPr>
            <p:cNvPr id="43176" name="Text Box 519"/>
            <p:cNvSpPr txBox="1">
              <a:spLocks noChangeArrowheads="1"/>
            </p:cNvSpPr>
            <p:nvPr/>
          </p:nvSpPr>
          <p:spPr bwMode="auto">
            <a:xfrm>
              <a:off x="2154" y="1842"/>
              <a:ext cx="2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B</a:t>
              </a:r>
              <a:r>
                <a:rPr lang="en-US" altLang="zh-CN" sz="1500" i="1" baseline="30000">
                  <a:solidFill>
                    <a:srgbClr val="0000FF"/>
                  </a:solidFill>
                  <a:ea typeface="宋体" pitchFamily="2" charset="-122"/>
                </a:rPr>
                <a:t>/</a:t>
              </a:r>
              <a:endParaRPr lang="en-US" altLang="zh-CN" sz="1500" i="1">
                <a:solidFill>
                  <a:srgbClr val="0000FF"/>
                </a:solidFill>
                <a:ea typeface="宋体" pitchFamily="2" charset="-122"/>
              </a:endParaRPr>
            </a:p>
          </p:txBody>
        </p:sp>
        <p:sp>
          <p:nvSpPr>
            <p:cNvPr id="43177" name="Text Box 520"/>
            <p:cNvSpPr txBox="1">
              <a:spLocks noChangeArrowheads="1"/>
            </p:cNvSpPr>
            <p:nvPr/>
          </p:nvSpPr>
          <p:spPr bwMode="auto">
            <a:xfrm>
              <a:off x="3288" y="1842"/>
              <a:ext cx="21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C</a:t>
              </a:r>
              <a:r>
                <a:rPr lang="en-US" altLang="zh-CN" sz="1500" i="1" baseline="30000">
                  <a:solidFill>
                    <a:srgbClr val="0000FF"/>
                  </a:solidFill>
                  <a:ea typeface="宋体" pitchFamily="2" charset="-122"/>
                </a:rPr>
                <a:t>/</a:t>
              </a:r>
              <a:endParaRPr lang="en-US" altLang="zh-CN" sz="1500" i="1">
                <a:solidFill>
                  <a:srgbClr val="0000FF"/>
                </a:solidFill>
                <a:ea typeface="宋体" pitchFamily="2" charset="-122"/>
              </a:endParaRPr>
            </a:p>
          </p:txBody>
        </p:sp>
        <p:grpSp>
          <p:nvGrpSpPr>
            <p:cNvPr id="43178" name="Group 616"/>
            <p:cNvGrpSpPr>
              <a:grpSpLocks/>
            </p:cNvGrpSpPr>
            <p:nvPr/>
          </p:nvGrpSpPr>
          <p:grpSpPr bwMode="auto">
            <a:xfrm>
              <a:off x="2200" y="2024"/>
              <a:ext cx="2450" cy="226"/>
              <a:chOff x="1882" y="1979"/>
              <a:chExt cx="1641" cy="144"/>
            </a:xfrm>
          </p:grpSpPr>
          <p:pic>
            <p:nvPicPr>
              <p:cNvPr id="43179" name="Picture 617"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7"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0" name="Picture 618"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3"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1" name="Picture 619"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2" name="Picture 620"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2"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3" name="Picture 621"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6"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4" name="Picture 622"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5" name="Picture 623"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8"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6" name="Picture 624"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7" name="Picture 625"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5"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8" name="Picture 626"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89" name="Picture 627" descr="~CHQKOKDH6CG18BN(U06}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90" name="Picture 628" descr="7P%]M@Y@LBF6C_L4Q$)LWC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9" y="1979"/>
                <a:ext cx="14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5" name="Group 629"/>
          <p:cNvGrpSpPr>
            <a:grpSpLocks/>
          </p:cNvGrpSpPr>
          <p:nvPr/>
        </p:nvGrpSpPr>
        <p:grpSpPr bwMode="auto">
          <a:xfrm>
            <a:off x="1044575" y="2598738"/>
            <a:ext cx="7056438" cy="682625"/>
            <a:chOff x="657" y="436"/>
            <a:chExt cx="4445" cy="573"/>
          </a:xfrm>
        </p:grpSpPr>
        <p:grpSp>
          <p:nvGrpSpPr>
            <p:cNvPr id="43066" name="Group 630"/>
            <p:cNvGrpSpPr>
              <a:grpSpLocks/>
            </p:cNvGrpSpPr>
            <p:nvPr/>
          </p:nvGrpSpPr>
          <p:grpSpPr bwMode="auto">
            <a:xfrm>
              <a:off x="839" y="602"/>
              <a:ext cx="4191" cy="407"/>
              <a:chOff x="920" y="616"/>
              <a:chExt cx="4191" cy="407"/>
            </a:xfrm>
          </p:grpSpPr>
          <p:grpSp>
            <p:nvGrpSpPr>
              <p:cNvPr id="43104" name="Group 631"/>
              <p:cNvGrpSpPr>
                <a:grpSpLocks/>
              </p:cNvGrpSpPr>
              <p:nvPr/>
            </p:nvGrpSpPr>
            <p:grpSpPr bwMode="auto">
              <a:xfrm>
                <a:off x="920" y="616"/>
                <a:ext cx="4191" cy="334"/>
                <a:chOff x="920" y="2640"/>
                <a:chExt cx="4191" cy="334"/>
              </a:xfrm>
            </p:grpSpPr>
            <p:grpSp>
              <p:nvGrpSpPr>
                <p:cNvPr id="43107" name="Group 632"/>
                <p:cNvGrpSpPr>
                  <a:grpSpLocks/>
                </p:cNvGrpSpPr>
                <p:nvPr/>
              </p:nvGrpSpPr>
              <p:grpSpPr bwMode="auto">
                <a:xfrm>
                  <a:off x="1696" y="2842"/>
                  <a:ext cx="2429" cy="70"/>
                  <a:chOff x="1768" y="840"/>
                  <a:chExt cx="2429" cy="70"/>
                </a:xfrm>
              </p:grpSpPr>
              <p:sp>
                <p:nvSpPr>
                  <p:cNvPr id="43173" name="Oval 633"/>
                  <p:cNvSpPr>
                    <a:spLocks noChangeArrowheads="1"/>
                  </p:cNvSpPr>
                  <p:nvPr/>
                </p:nvSpPr>
                <p:spPr bwMode="auto">
                  <a:xfrm>
                    <a:off x="1768" y="856"/>
                    <a:ext cx="69" cy="5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a:p>
                </p:txBody>
              </p:sp>
              <p:sp>
                <p:nvSpPr>
                  <p:cNvPr id="43174" name="Oval 634"/>
                  <p:cNvSpPr>
                    <a:spLocks noChangeArrowheads="1"/>
                  </p:cNvSpPr>
                  <p:nvPr/>
                </p:nvSpPr>
                <p:spPr bwMode="auto">
                  <a:xfrm>
                    <a:off x="4128" y="840"/>
                    <a:ext cx="69" cy="5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43108" name="Group 635"/>
                <p:cNvGrpSpPr>
                  <a:grpSpLocks/>
                </p:cNvGrpSpPr>
                <p:nvPr/>
              </p:nvGrpSpPr>
              <p:grpSpPr bwMode="auto">
                <a:xfrm>
                  <a:off x="1016" y="2800"/>
                  <a:ext cx="3943" cy="174"/>
                  <a:chOff x="3037" y="23020"/>
                  <a:chExt cx="5980" cy="400"/>
                </a:xfrm>
              </p:grpSpPr>
              <p:sp>
                <p:nvSpPr>
                  <p:cNvPr id="43170" name="Line 636"/>
                  <p:cNvSpPr>
                    <a:spLocks noChangeShapeType="1"/>
                  </p:cNvSpPr>
                  <p:nvPr/>
                </p:nvSpPr>
                <p:spPr bwMode="auto">
                  <a:xfrm>
                    <a:off x="3037" y="23020"/>
                    <a:ext cx="0" cy="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71" name="Line 637"/>
                  <p:cNvSpPr>
                    <a:spLocks noChangeShapeType="1"/>
                  </p:cNvSpPr>
                  <p:nvPr/>
                </p:nvSpPr>
                <p:spPr bwMode="auto">
                  <a:xfrm>
                    <a:off x="9017" y="23020"/>
                    <a:ext cx="0" cy="4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72" name="Line 638"/>
                  <p:cNvSpPr>
                    <a:spLocks noChangeShapeType="1"/>
                  </p:cNvSpPr>
                  <p:nvPr/>
                </p:nvSpPr>
                <p:spPr bwMode="auto">
                  <a:xfrm>
                    <a:off x="3037" y="23060"/>
                    <a:ext cx="5980"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109" name="Group 639"/>
                <p:cNvGrpSpPr>
                  <a:grpSpLocks/>
                </p:cNvGrpSpPr>
                <p:nvPr/>
              </p:nvGrpSpPr>
              <p:grpSpPr bwMode="auto">
                <a:xfrm>
                  <a:off x="920" y="2640"/>
                  <a:ext cx="4191" cy="164"/>
                  <a:chOff x="936" y="1920"/>
                  <a:chExt cx="4191" cy="164"/>
                </a:xfrm>
              </p:grpSpPr>
              <p:grpSp>
                <p:nvGrpSpPr>
                  <p:cNvPr id="43110" name="Group 640"/>
                  <p:cNvGrpSpPr>
                    <a:grpSpLocks/>
                  </p:cNvGrpSpPr>
                  <p:nvPr/>
                </p:nvGrpSpPr>
                <p:grpSpPr bwMode="auto">
                  <a:xfrm>
                    <a:off x="4296" y="1928"/>
                    <a:ext cx="831" cy="156"/>
                    <a:chOff x="3696" y="1920"/>
                    <a:chExt cx="831" cy="156"/>
                  </a:xfrm>
                </p:grpSpPr>
                <p:sp>
                  <p:nvSpPr>
                    <p:cNvPr id="43161" name="Line 641"/>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162" name="Group 642"/>
                    <p:cNvGrpSpPr>
                      <a:grpSpLocks/>
                    </p:cNvGrpSpPr>
                    <p:nvPr/>
                  </p:nvGrpSpPr>
                  <p:grpSpPr bwMode="auto">
                    <a:xfrm>
                      <a:off x="3696" y="1920"/>
                      <a:ext cx="831" cy="156"/>
                      <a:chOff x="3692" y="2784"/>
                      <a:chExt cx="831" cy="156"/>
                    </a:xfrm>
                  </p:grpSpPr>
                  <p:sp>
                    <p:nvSpPr>
                      <p:cNvPr id="43163" name="Line 643"/>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64" name="Rectangle 644"/>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65" name="Rectangle 645"/>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66" name="Rectangle 646"/>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67" name="Rectangle 647"/>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68" name="Rectangle 648"/>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69" name="Rectangle 649"/>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111" name="Group 650"/>
                  <p:cNvGrpSpPr>
                    <a:grpSpLocks/>
                  </p:cNvGrpSpPr>
                  <p:nvPr/>
                </p:nvGrpSpPr>
                <p:grpSpPr bwMode="auto">
                  <a:xfrm>
                    <a:off x="3536" y="1920"/>
                    <a:ext cx="831" cy="156"/>
                    <a:chOff x="3696" y="1920"/>
                    <a:chExt cx="831" cy="156"/>
                  </a:xfrm>
                </p:grpSpPr>
                <p:sp>
                  <p:nvSpPr>
                    <p:cNvPr id="43152" name="Line 651"/>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153" name="Group 652"/>
                    <p:cNvGrpSpPr>
                      <a:grpSpLocks/>
                    </p:cNvGrpSpPr>
                    <p:nvPr/>
                  </p:nvGrpSpPr>
                  <p:grpSpPr bwMode="auto">
                    <a:xfrm>
                      <a:off x="3696" y="1920"/>
                      <a:ext cx="831" cy="156"/>
                      <a:chOff x="3692" y="2784"/>
                      <a:chExt cx="831" cy="156"/>
                    </a:xfrm>
                  </p:grpSpPr>
                  <p:sp>
                    <p:nvSpPr>
                      <p:cNvPr id="43154" name="Line 653"/>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55" name="Rectangle 654"/>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56" name="Rectangle 655"/>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57" name="Rectangle 656"/>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58" name="Rectangle 657"/>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59" name="Rectangle 658"/>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60" name="Rectangle 659"/>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112" name="Group 660"/>
                  <p:cNvGrpSpPr>
                    <a:grpSpLocks/>
                  </p:cNvGrpSpPr>
                  <p:nvPr/>
                </p:nvGrpSpPr>
                <p:grpSpPr bwMode="auto">
                  <a:xfrm>
                    <a:off x="2752" y="1920"/>
                    <a:ext cx="831" cy="156"/>
                    <a:chOff x="3696" y="1920"/>
                    <a:chExt cx="831" cy="156"/>
                  </a:xfrm>
                </p:grpSpPr>
                <p:sp>
                  <p:nvSpPr>
                    <p:cNvPr id="43143" name="Line 661"/>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144" name="Group 662"/>
                    <p:cNvGrpSpPr>
                      <a:grpSpLocks/>
                    </p:cNvGrpSpPr>
                    <p:nvPr/>
                  </p:nvGrpSpPr>
                  <p:grpSpPr bwMode="auto">
                    <a:xfrm>
                      <a:off x="3696" y="1920"/>
                      <a:ext cx="831" cy="156"/>
                      <a:chOff x="3692" y="2784"/>
                      <a:chExt cx="831" cy="156"/>
                    </a:xfrm>
                  </p:grpSpPr>
                  <p:sp>
                    <p:nvSpPr>
                      <p:cNvPr id="43145" name="Line 663"/>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46" name="Rectangle 664"/>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47" name="Rectangle 665"/>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48" name="Rectangle 666"/>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49" name="Rectangle 667"/>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50" name="Rectangle 668"/>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51" name="Rectangle 669"/>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113" name="Group 670"/>
                  <p:cNvGrpSpPr>
                    <a:grpSpLocks/>
                  </p:cNvGrpSpPr>
                  <p:nvPr/>
                </p:nvGrpSpPr>
                <p:grpSpPr bwMode="auto">
                  <a:xfrm>
                    <a:off x="1984" y="1920"/>
                    <a:ext cx="831" cy="156"/>
                    <a:chOff x="3696" y="1920"/>
                    <a:chExt cx="831" cy="156"/>
                  </a:xfrm>
                </p:grpSpPr>
                <p:sp>
                  <p:nvSpPr>
                    <p:cNvPr id="43134" name="Line 671"/>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135" name="Group 672"/>
                    <p:cNvGrpSpPr>
                      <a:grpSpLocks/>
                    </p:cNvGrpSpPr>
                    <p:nvPr/>
                  </p:nvGrpSpPr>
                  <p:grpSpPr bwMode="auto">
                    <a:xfrm>
                      <a:off x="3696" y="1920"/>
                      <a:ext cx="831" cy="156"/>
                      <a:chOff x="3692" y="2784"/>
                      <a:chExt cx="831" cy="156"/>
                    </a:xfrm>
                  </p:grpSpPr>
                  <p:sp>
                    <p:nvSpPr>
                      <p:cNvPr id="43136" name="Line 673"/>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37" name="Rectangle 674"/>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38" name="Rectangle 675"/>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39" name="Rectangle 676"/>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40" name="Rectangle 677"/>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41" name="Rectangle 678"/>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42" name="Rectangle 679"/>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114" name="Group 680"/>
                  <p:cNvGrpSpPr>
                    <a:grpSpLocks/>
                  </p:cNvGrpSpPr>
                  <p:nvPr/>
                </p:nvGrpSpPr>
                <p:grpSpPr bwMode="auto">
                  <a:xfrm>
                    <a:off x="1208" y="1920"/>
                    <a:ext cx="831" cy="156"/>
                    <a:chOff x="3696" y="1920"/>
                    <a:chExt cx="831" cy="156"/>
                  </a:xfrm>
                </p:grpSpPr>
                <p:sp>
                  <p:nvSpPr>
                    <p:cNvPr id="43125" name="Line 681"/>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126" name="Group 682"/>
                    <p:cNvGrpSpPr>
                      <a:grpSpLocks/>
                    </p:cNvGrpSpPr>
                    <p:nvPr/>
                  </p:nvGrpSpPr>
                  <p:grpSpPr bwMode="auto">
                    <a:xfrm>
                      <a:off x="3696" y="1920"/>
                      <a:ext cx="831" cy="156"/>
                      <a:chOff x="3692" y="2784"/>
                      <a:chExt cx="831" cy="156"/>
                    </a:xfrm>
                  </p:grpSpPr>
                  <p:sp>
                    <p:nvSpPr>
                      <p:cNvPr id="43127" name="Line 683"/>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28" name="Rectangle 684"/>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29" name="Rectangle 685"/>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30" name="Rectangle 686"/>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31" name="Rectangle 687"/>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32" name="Rectangle 688"/>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33" name="Rectangle 689"/>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nvGrpSpPr>
                  <p:cNvPr id="43115" name="Group 690"/>
                  <p:cNvGrpSpPr>
                    <a:grpSpLocks/>
                  </p:cNvGrpSpPr>
                  <p:nvPr/>
                </p:nvGrpSpPr>
                <p:grpSpPr bwMode="auto">
                  <a:xfrm flipH="1">
                    <a:off x="936" y="1920"/>
                    <a:ext cx="831" cy="156"/>
                    <a:chOff x="3696" y="1920"/>
                    <a:chExt cx="831" cy="156"/>
                  </a:xfrm>
                </p:grpSpPr>
                <p:sp>
                  <p:nvSpPr>
                    <p:cNvPr id="43116" name="Line 691"/>
                    <p:cNvSpPr>
                      <a:spLocks noChangeShapeType="1"/>
                    </p:cNvSpPr>
                    <p:nvPr/>
                  </p:nvSpPr>
                  <p:spPr bwMode="auto">
                    <a:xfrm>
                      <a:off x="3696" y="2048"/>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3117" name="Group 692"/>
                    <p:cNvGrpSpPr>
                      <a:grpSpLocks/>
                    </p:cNvGrpSpPr>
                    <p:nvPr/>
                  </p:nvGrpSpPr>
                  <p:grpSpPr bwMode="auto">
                    <a:xfrm>
                      <a:off x="3696" y="1920"/>
                      <a:ext cx="831" cy="156"/>
                      <a:chOff x="3692" y="2784"/>
                      <a:chExt cx="831" cy="156"/>
                    </a:xfrm>
                  </p:grpSpPr>
                  <p:sp>
                    <p:nvSpPr>
                      <p:cNvPr id="43118" name="Line 693"/>
                      <p:cNvSpPr>
                        <a:spLocks noChangeShapeType="1"/>
                      </p:cNvSpPr>
                      <p:nvPr/>
                    </p:nvSpPr>
                    <p:spPr bwMode="auto">
                      <a:xfrm>
                        <a:off x="3692" y="2819"/>
                        <a:ext cx="831" cy="0"/>
                      </a:xfrm>
                      <a:prstGeom prst="line">
                        <a:avLst/>
                      </a:prstGeom>
                      <a:noFill/>
                      <a:ln w="25400">
                        <a:solidFill>
                          <a:srgbClr val="33CC3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19" name="Rectangle 694"/>
                      <p:cNvSpPr>
                        <a:spLocks noChangeArrowheads="1"/>
                      </p:cNvSpPr>
                      <p:nvPr/>
                    </p:nvSpPr>
                    <p:spPr bwMode="auto">
                      <a:xfrm flipH="1">
                        <a:off x="3890"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20" name="Rectangle 695"/>
                      <p:cNvSpPr>
                        <a:spLocks noChangeArrowheads="1"/>
                      </p:cNvSpPr>
                      <p:nvPr/>
                    </p:nvSpPr>
                    <p:spPr bwMode="auto">
                      <a:xfrm flipH="1">
                        <a:off x="400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21" name="Rectangle 696"/>
                      <p:cNvSpPr>
                        <a:spLocks noChangeArrowheads="1"/>
                      </p:cNvSpPr>
                      <p:nvPr/>
                    </p:nvSpPr>
                    <p:spPr bwMode="auto">
                      <a:xfrm flipH="1">
                        <a:off x="3758"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22" name="Rectangle 697"/>
                      <p:cNvSpPr>
                        <a:spLocks noChangeArrowheads="1"/>
                      </p:cNvSpPr>
                      <p:nvPr/>
                    </p:nvSpPr>
                    <p:spPr bwMode="auto">
                      <a:xfrm flipH="1">
                        <a:off x="4417" y="2784"/>
                        <a:ext cx="40"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23" name="Rectangle 698"/>
                      <p:cNvSpPr>
                        <a:spLocks noChangeArrowheads="1"/>
                      </p:cNvSpPr>
                      <p:nvPr/>
                    </p:nvSpPr>
                    <p:spPr bwMode="auto">
                      <a:xfrm flipH="1">
                        <a:off x="4154"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sp>
                    <p:nvSpPr>
                      <p:cNvPr id="43124" name="Rectangle 699"/>
                      <p:cNvSpPr>
                        <a:spLocks noChangeArrowheads="1"/>
                      </p:cNvSpPr>
                      <p:nvPr/>
                    </p:nvSpPr>
                    <p:spPr bwMode="auto">
                      <a:xfrm flipH="1">
                        <a:off x="4299" y="2784"/>
                        <a:ext cx="39" cy="156"/>
                      </a:xfrm>
                      <a:prstGeom prst="rect">
                        <a:avLst/>
                      </a:prstGeom>
                      <a:solidFill>
                        <a:srgbClr val="FFFFFF"/>
                      </a:solidFill>
                      <a:ln w="9525">
                        <a:solidFill>
                          <a:srgbClr val="000000"/>
                        </a:solidFill>
                        <a:miter lim="800000"/>
                        <a:headEnd/>
                        <a:tailEnd/>
                      </a:ln>
                    </p:spPr>
                    <p:txBody>
                      <a:bodyPr/>
                      <a:lstStyle/>
                      <a:p>
                        <a:endParaRPr lang="zh-CN" altLang="en-US"/>
                      </a:p>
                    </p:txBody>
                  </p:sp>
                </p:grpSp>
              </p:grpSp>
            </p:grpSp>
          </p:grpSp>
          <p:sp>
            <p:nvSpPr>
              <p:cNvPr id="43105" name="Text Box 700"/>
              <p:cNvSpPr txBox="1">
                <a:spLocks noChangeArrowheads="1"/>
              </p:cNvSpPr>
              <p:nvPr/>
            </p:nvSpPr>
            <p:spPr bwMode="auto">
              <a:xfrm>
                <a:off x="4176" y="752"/>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A</a:t>
                </a:r>
              </a:p>
            </p:txBody>
          </p:sp>
          <p:sp>
            <p:nvSpPr>
              <p:cNvPr id="43106" name="Text Box 701"/>
              <p:cNvSpPr txBox="1">
                <a:spLocks noChangeArrowheads="1"/>
              </p:cNvSpPr>
              <p:nvPr/>
            </p:nvSpPr>
            <p:spPr bwMode="auto">
              <a:xfrm>
                <a:off x="1432" y="752"/>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B</a:t>
                </a:r>
              </a:p>
            </p:txBody>
          </p:sp>
        </p:grpSp>
        <p:grpSp>
          <p:nvGrpSpPr>
            <p:cNvPr id="43067" name="Group 702"/>
            <p:cNvGrpSpPr>
              <a:grpSpLocks/>
            </p:cNvGrpSpPr>
            <p:nvPr/>
          </p:nvGrpSpPr>
          <p:grpSpPr bwMode="auto">
            <a:xfrm>
              <a:off x="657" y="436"/>
              <a:ext cx="4445" cy="545"/>
              <a:chOff x="657" y="436"/>
              <a:chExt cx="4445" cy="545"/>
            </a:xfrm>
          </p:grpSpPr>
          <p:grpSp>
            <p:nvGrpSpPr>
              <p:cNvPr id="43099" name="Group 703"/>
              <p:cNvGrpSpPr>
                <a:grpSpLocks/>
              </p:cNvGrpSpPr>
              <p:nvPr/>
            </p:nvGrpSpPr>
            <p:grpSpPr bwMode="auto">
              <a:xfrm>
                <a:off x="657" y="935"/>
                <a:ext cx="4445" cy="46"/>
                <a:chOff x="657" y="1071"/>
                <a:chExt cx="4445" cy="46"/>
              </a:xfrm>
            </p:grpSpPr>
            <p:sp>
              <p:nvSpPr>
                <p:cNvPr id="43101" name="Line 704"/>
                <p:cNvSpPr>
                  <a:spLocks noChangeShapeType="1"/>
                </p:cNvSpPr>
                <p:nvPr/>
              </p:nvSpPr>
              <p:spPr bwMode="auto">
                <a:xfrm>
                  <a:off x="657" y="1117"/>
                  <a:ext cx="4445"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102" name="Line 705"/>
                <p:cNvSpPr>
                  <a:spLocks noChangeShapeType="1"/>
                </p:cNvSpPr>
                <p:nvPr/>
              </p:nvSpPr>
              <p:spPr bwMode="auto">
                <a:xfrm flipV="1">
                  <a:off x="1655" y="1071"/>
                  <a:ext cx="0" cy="4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103" name="Line 706"/>
                <p:cNvSpPr>
                  <a:spLocks noChangeShapeType="1"/>
                </p:cNvSpPr>
                <p:nvPr/>
              </p:nvSpPr>
              <p:spPr bwMode="auto">
                <a:xfrm flipV="1">
                  <a:off x="4014" y="1071"/>
                  <a:ext cx="0" cy="4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100" name="Line 707"/>
              <p:cNvSpPr>
                <a:spLocks noChangeShapeType="1"/>
              </p:cNvSpPr>
              <p:nvPr/>
            </p:nvSpPr>
            <p:spPr bwMode="auto">
              <a:xfrm flipV="1">
                <a:off x="657" y="436"/>
                <a:ext cx="0" cy="545"/>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3068" name="Group 708"/>
            <p:cNvGrpSpPr>
              <a:grpSpLocks/>
            </p:cNvGrpSpPr>
            <p:nvPr/>
          </p:nvGrpSpPr>
          <p:grpSpPr bwMode="auto">
            <a:xfrm>
              <a:off x="703" y="754"/>
              <a:ext cx="4173" cy="182"/>
              <a:chOff x="703" y="1570"/>
              <a:chExt cx="4173" cy="182"/>
            </a:xfrm>
          </p:grpSpPr>
          <p:sp>
            <p:nvSpPr>
              <p:cNvPr id="43069" name="Line 709"/>
              <p:cNvSpPr>
                <a:spLocks noChangeShapeType="1"/>
              </p:cNvSpPr>
              <p:nvPr/>
            </p:nvSpPr>
            <p:spPr bwMode="auto">
              <a:xfrm flipH="1">
                <a:off x="70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0" name="Line 710"/>
              <p:cNvSpPr>
                <a:spLocks noChangeShapeType="1"/>
              </p:cNvSpPr>
              <p:nvPr/>
            </p:nvSpPr>
            <p:spPr bwMode="auto">
              <a:xfrm flipH="1">
                <a:off x="83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1" name="Line 711"/>
              <p:cNvSpPr>
                <a:spLocks noChangeShapeType="1"/>
              </p:cNvSpPr>
              <p:nvPr/>
            </p:nvSpPr>
            <p:spPr bwMode="auto">
              <a:xfrm flipH="1">
                <a:off x="97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2" name="Line 712"/>
              <p:cNvSpPr>
                <a:spLocks noChangeShapeType="1"/>
              </p:cNvSpPr>
              <p:nvPr/>
            </p:nvSpPr>
            <p:spPr bwMode="auto">
              <a:xfrm flipH="1">
                <a:off x="111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3" name="Line 713"/>
              <p:cNvSpPr>
                <a:spLocks noChangeShapeType="1"/>
              </p:cNvSpPr>
              <p:nvPr/>
            </p:nvSpPr>
            <p:spPr bwMode="auto">
              <a:xfrm flipH="1">
                <a:off x="124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4" name="Line 714"/>
              <p:cNvSpPr>
                <a:spLocks noChangeShapeType="1"/>
              </p:cNvSpPr>
              <p:nvPr/>
            </p:nvSpPr>
            <p:spPr bwMode="auto">
              <a:xfrm flipH="1">
                <a:off x="138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5" name="Line 715"/>
              <p:cNvSpPr>
                <a:spLocks noChangeShapeType="1"/>
              </p:cNvSpPr>
              <p:nvPr/>
            </p:nvSpPr>
            <p:spPr bwMode="auto">
              <a:xfrm flipH="1">
                <a:off x="151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6" name="Line 716"/>
              <p:cNvSpPr>
                <a:spLocks noChangeShapeType="1"/>
              </p:cNvSpPr>
              <p:nvPr/>
            </p:nvSpPr>
            <p:spPr bwMode="auto">
              <a:xfrm flipH="1">
                <a:off x="165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7" name="Line 717"/>
              <p:cNvSpPr>
                <a:spLocks noChangeShapeType="1"/>
              </p:cNvSpPr>
              <p:nvPr/>
            </p:nvSpPr>
            <p:spPr bwMode="auto">
              <a:xfrm flipH="1">
                <a:off x="179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8" name="Line 718"/>
              <p:cNvSpPr>
                <a:spLocks noChangeShapeType="1"/>
              </p:cNvSpPr>
              <p:nvPr/>
            </p:nvSpPr>
            <p:spPr bwMode="auto">
              <a:xfrm flipH="1">
                <a:off x="192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79" name="Line 719"/>
              <p:cNvSpPr>
                <a:spLocks noChangeShapeType="1"/>
              </p:cNvSpPr>
              <p:nvPr/>
            </p:nvSpPr>
            <p:spPr bwMode="auto">
              <a:xfrm flipH="1">
                <a:off x="2064"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0" name="Line 720"/>
              <p:cNvSpPr>
                <a:spLocks noChangeShapeType="1"/>
              </p:cNvSpPr>
              <p:nvPr/>
            </p:nvSpPr>
            <p:spPr bwMode="auto">
              <a:xfrm flipH="1">
                <a:off x="2200"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1" name="Line 721"/>
              <p:cNvSpPr>
                <a:spLocks noChangeShapeType="1"/>
              </p:cNvSpPr>
              <p:nvPr/>
            </p:nvSpPr>
            <p:spPr bwMode="auto">
              <a:xfrm flipH="1">
                <a:off x="2336"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2" name="Line 722"/>
              <p:cNvSpPr>
                <a:spLocks noChangeShapeType="1"/>
              </p:cNvSpPr>
              <p:nvPr/>
            </p:nvSpPr>
            <p:spPr bwMode="auto">
              <a:xfrm flipH="1">
                <a:off x="2472"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3" name="Line 723"/>
              <p:cNvSpPr>
                <a:spLocks noChangeShapeType="1"/>
              </p:cNvSpPr>
              <p:nvPr/>
            </p:nvSpPr>
            <p:spPr bwMode="auto">
              <a:xfrm flipH="1">
                <a:off x="2608"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4" name="Line 724"/>
              <p:cNvSpPr>
                <a:spLocks noChangeShapeType="1"/>
              </p:cNvSpPr>
              <p:nvPr/>
            </p:nvSpPr>
            <p:spPr bwMode="auto">
              <a:xfrm flipH="1">
                <a:off x="2744"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5" name="Line 725"/>
              <p:cNvSpPr>
                <a:spLocks noChangeShapeType="1"/>
              </p:cNvSpPr>
              <p:nvPr/>
            </p:nvSpPr>
            <p:spPr bwMode="auto">
              <a:xfrm flipH="1">
                <a:off x="2880"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6" name="Line 726"/>
              <p:cNvSpPr>
                <a:spLocks noChangeShapeType="1"/>
              </p:cNvSpPr>
              <p:nvPr/>
            </p:nvSpPr>
            <p:spPr bwMode="auto">
              <a:xfrm flipH="1">
                <a:off x="3016"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7" name="Line 727"/>
              <p:cNvSpPr>
                <a:spLocks noChangeShapeType="1"/>
              </p:cNvSpPr>
              <p:nvPr/>
            </p:nvSpPr>
            <p:spPr bwMode="auto">
              <a:xfrm flipH="1">
                <a:off x="3152"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8" name="Line 728"/>
              <p:cNvSpPr>
                <a:spLocks noChangeShapeType="1"/>
              </p:cNvSpPr>
              <p:nvPr/>
            </p:nvSpPr>
            <p:spPr bwMode="auto">
              <a:xfrm flipH="1">
                <a:off x="3288"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89" name="Line 729"/>
              <p:cNvSpPr>
                <a:spLocks noChangeShapeType="1"/>
              </p:cNvSpPr>
              <p:nvPr/>
            </p:nvSpPr>
            <p:spPr bwMode="auto">
              <a:xfrm flipH="1">
                <a:off x="342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0" name="Line 730"/>
              <p:cNvSpPr>
                <a:spLocks noChangeShapeType="1"/>
              </p:cNvSpPr>
              <p:nvPr/>
            </p:nvSpPr>
            <p:spPr bwMode="auto">
              <a:xfrm flipH="1">
                <a:off x="356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1" name="Line 731"/>
              <p:cNvSpPr>
                <a:spLocks noChangeShapeType="1"/>
              </p:cNvSpPr>
              <p:nvPr/>
            </p:nvSpPr>
            <p:spPr bwMode="auto">
              <a:xfrm flipH="1">
                <a:off x="369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2" name="Line 732"/>
              <p:cNvSpPr>
                <a:spLocks noChangeShapeType="1"/>
              </p:cNvSpPr>
              <p:nvPr/>
            </p:nvSpPr>
            <p:spPr bwMode="auto">
              <a:xfrm flipH="1">
                <a:off x="383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3" name="Line 733"/>
              <p:cNvSpPr>
                <a:spLocks noChangeShapeType="1"/>
              </p:cNvSpPr>
              <p:nvPr/>
            </p:nvSpPr>
            <p:spPr bwMode="auto">
              <a:xfrm flipH="1">
                <a:off x="396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4" name="Line 734"/>
              <p:cNvSpPr>
                <a:spLocks noChangeShapeType="1"/>
              </p:cNvSpPr>
              <p:nvPr/>
            </p:nvSpPr>
            <p:spPr bwMode="auto">
              <a:xfrm flipH="1">
                <a:off x="4105"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5" name="Line 735"/>
              <p:cNvSpPr>
                <a:spLocks noChangeShapeType="1"/>
              </p:cNvSpPr>
              <p:nvPr/>
            </p:nvSpPr>
            <p:spPr bwMode="auto">
              <a:xfrm flipH="1">
                <a:off x="4241"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6" name="Line 736"/>
              <p:cNvSpPr>
                <a:spLocks noChangeShapeType="1"/>
              </p:cNvSpPr>
              <p:nvPr/>
            </p:nvSpPr>
            <p:spPr bwMode="auto">
              <a:xfrm flipH="1">
                <a:off x="4377"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7" name="Line 737"/>
              <p:cNvSpPr>
                <a:spLocks noChangeShapeType="1"/>
              </p:cNvSpPr>
              <p:nvPr/>
            </p:nvSpPr>
            <p:spPr bwMode="auto">
              <a:xfrm flipH="1">
                <a:off x="4513"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98" name="Line 738"/>
              <p:cNvSpPr>
                <a:spLocks noChangeShapeType="1"/>
              </p:cNvSpPr>
              <p:nvPr/>
            </p:nvSpPr>
            <p:spPr bwMode="auto">
              <a:xfrm flipH="1">
                <a:off x="4649" y="1570"/>
                <a:ext cx="227" cy="182"/>
              </a:xfrm>
              <a:prstGeom prst="line">
                <a:avLst/>
              </a:prstGeom>
              <a:noFill/>
              <a:ln w="9525" cap="rnd">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6" name="Group 739"/>
          <p:cNvGrpSpPr>
            <a:grpSpLocks/>
          </p:cNvGrpSpPr>
          <p:nvPr/>
        </p:nvGrpSpPr>
        <p:grpSpPr bwMode="auto">
          <a:xfrm>
            <a:off x="2555875" y="2924175"/>
            <a:ext cx="3625850" cy="0"/>
            <a:chOff x="1655" y="709"/>
            <a:chExt cx="2284" cy="0"/>
          </a:xfrm>
        </p:grpSpPr>
        <p:sp>
          <p:nvSpPr>
            <p:cNvPr id="43064" name="Line 740"/>
            <p:cNvSpPr>
              <a:spLocks noChangeShapeType="1"/>
            </p:cNvSpPr>
            <p:nvPr/>
          </p:nvSpPr>
          <p:spPr bwMode="auto">
            <a:xfrm>
              <a:off x="1655" y="709"/>
              <a:ext cx="1104"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65" name="Line 741"/>
            <p:cNvSpPr>
              <a:spLocks noChangeShapeType="1"/>
            </p:cNvSpPr>
            <p:nvPr/>
          </p:nvSpPr>
          <p:spPr bwMode="auto">
            <a:xfrm>
              <a:off x="2835" y="709"/>
              <a:ext cx="1104" cy="0"/>
            </a:xfrm>
            <a:prstGeom prst="line">
              <a:avLst/>
            </a:prstGeom>
            <a:noFill/>
            <a:ln w="28575">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7" name="Group 742"/>
          <p:cNvGrpSpPr>
            <a:grpSpLocks/>
          </p:cNvGrpSpPr>
          <p:nvPr/>
        </p:nvGrpSpPr>
        <p:grpSpPr bwMode="auto">
          <a:xfrm>
            <a:off x="4140200" y="2870200"/>
            <a:ext cx="312738" cy="376238"/>
            <a:chOff x="2653" y="664"/>
            <a:chExt cx="197" cy="316"/>
          </a:xfrm>
        </p:grpSpPr>
        <p:sp>
          <p:nvSpPr>
            <p:cNvPr id="43062" name="Text Box 743"/>
            <p:cNvSpPr txBox="1">
              <a:spLocks noChangeArrowheads="1"/>
            </p:cNvSpPr>
            <p:nvPr/>
          </p:nvSpPr>
          <p:spPr bwMode="auto">
            <a:xfrm>
              <a:off x="2653" y="709"/>
              <a:ext cx="19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solidFill>
                    <a:srgbClr val="0000FF"/>
                  </a:solidFill>
                  <a:ea typeface="宋体" pitchFamily="2" charset="-122"/>
                </a:rPr>
                <a:t>C</a:t>
              </a:r>
            </a:p>
          </p:txBody>
        </p:sp>
        <p:sp>
          <p:nvSpPr>
            <p:cNvPr id="43063" name="Oval 744"/>
            <p:cNvSpPr>
              <a:spLocks noChangeArrowheads="1"/>
            </p:cNvSpPr>
            <p:nvPr/>
          </p:nvSpPr>
          <p:spPr bwMode="auto">
            <a:xfrm>
              <a:off x="2744" y="664"/>
              <a:ext cx="91" cy="9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zh-CN" b="0">
                <a:solidFill>
                  <a:srgbClr val="FFCC00"/>
                </a:solidFill>
                <a:ea typeface="宋体" pitchFamily="2" charset="-122"/>
              </a:endParaRPr>
            </a:p>
          </p:txBody>
        </p:sp>
      </p:grpSp>
      <p:grpSp>
        <p:nvGrpSpPr>
          <p:cNvPr id="58" name="Group 745"/>
          <p:cNvGrpSpPr>
            <a:grpSpLocks/>
          </p:cNvGrpSpPr>
          <p:nvPr/>
        </p:nvGrpSpPr>
        <p:grpSpPr bwMode="auto">
          <a:xfrm>
            <a:off x="2339975" y="2762250"/>
            <a:ext cx="4156075" cy="314325"/>
            <a:chOff x="1487" y="1261"/>
            <a:chExt cx="2618" cy="264"/>
          </a:xfrm>
        </p:grpSpPr>
        <p:grpSp>
          <p:nvGrpSpPr>
            <p:cNvPr id="43040" name="Group 746"/>
            <p:cNvGrpSpPr>
              <a:grpSpLocks/>
            </p:cNvGrpSpPr>
            <p:nvPr/>
          </p:nvGrpSpPr>
          <p:grpSpPr bwMode="auto">
            <a:xfrm>
              <a:off x="3863" y="1261"/>
              <a:ext cx="242" cy="256"/>
              <a:chOff x="3640" y="1296"/>
              <a:chExt cx="242" cy="256"/>
            </a:xfrm>
          </p:grpSpPr>
          <p:grpSp>
            <p:nvGrpSpPr>
              <p:cNvPr id="43052" name="Group 747"/>
              <p:cNvGrpSpPr>
                <a:grpSpLocks/>
              </p:cNvGrpSpPr>
              <p:nvPr/>
            </p:nvGrpSpPr>
            <p:grpSpPr bwMode="auto">
              <a:xfrm>
                <a:off x="3640" y="1304"/>
                <a:ext cx="240" cy="240"/>
                <a:chOff x="4704" y="1776"/>
                <a:chExt cx="240" cy="240"/>
              </a:xfrm>
            </p:grpSpPr>
            <p:grpSp>
              <p:nvGrpSpPr>
                <p:cNvPr id="43054" name="Group 748"/>
                <p:cNvGrpSpPr>
                  <a:grpSpLocks/>
                </p:cNvGrpSpPr>
                <p:nvPr/>
              </p:nvGrpSpPr>
              <p:grpSpPr bwMode="auto">
                <a:xfrm>
                  <a:off x="4704" y="1776"/>
                  <a:ext cx="240" cy="240"/>
                  <a:chOff x="4920" y="2472"/>
                  <a:chExt cx="240" cy="240"/>
                </a:xfrm>
              </p:grpSpPr>
              <p:sp>
                <p:nvSpPr>
                  <p:cNvPr id="43058" name="Line 749"/>
                  <p:cNvSpPr>
                    <a:spLocks noChangeShapeType="1"/>
                  </p:cNvSpPr>
                  <p:nvPr/>
                </p:nvSpPr>
                <p:spPr bwMode="auto">
                  <a:xfrm>
                    <a:off x="4920" y="2600"/>
                    <a:ext cx="240"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9" name="Line 750"/>
                  <p:cNvSpPr>
                    <a:spLocks noChangeShapeType="1"/>
                  </p:cNvSpPr>
                  <p:nvPr/>
                </p:nvSpPr>
                <p:spPr bwMode="auto">
                  <a:xfrm>
                    <a:off x="5040" y="2472"/>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60" name="Line 751"/>
                  <p:cNvSpPr>
                    <a:spLocks noChangeShapeType="1"/>
                  </p:cNvSpPr>
                  <p:nvPr/>
                </p:nvSpPr>
                <p:spPr bwMode="auto">
                  <a:xfrm>
                    <a:off x="4944" y="2496"/>
                    <a:ext cx="192" cy="192"/>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61" name="Line 752"/>
                  <p:cNvSpPr>
                    <a:spLocks noChangeShapeType="1"/>
                  </p:cNvSpPr>
                  <p:nvPr/>
                </p:nvSpPr>
                <p:spPr bwMode="auto">
                  <a:xfrm flipV="1">
                    <a:off x="4960" y="2504"/>
                    <a:ext cx="168" cy="17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055" name="Group 753"/>
                <p:cNvGrpSpPr>
                  <a:grpSpLocks/>
                </p:cNvGrpSpPr>
                <p:nvPr/>
              </p:nvGrpSpPr>
              <p:grpSpPr bwMode="auto">
                <a:xfrm rot="562520">
                  <a:off x="4744" y="1808"/>
                  <a:ext cx="144" cy="184"/>
                  <a:chOff x="4912" y="2456"/>
                  <a:chExt cx="144" cy="184"/>
                </a:xfrm>
              </p:grpSpPr>
              <p:sp>
                <p:nvSpPr>
                  <p:cNvPr id="43056" name="Line 754"/>
                  <p:cNvSpPr>
                    <a:spLocks noChangeShapeType="1"/>
                  </p:cNvSpPr>
                  <p:nvPr/>
                </p:nvSpPr>
                <p:spPr bwMode="auto">
                  <a:xfrm>
                    <a:off x="4936" y="2456"/>
                    <a:ext cx="104" cy="1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7" name="Line 755"/>
                  <p:cNvSpPr>
                    <a:spLocks noChangeShapeType="1"/>
                  </p:cNvSpPr>
                  <p:nvPr/>
                </p:nvSpPr>
                <p:spPr bwMode="auto">
                  <a:xfrm flipV="1">
                    <a:off x="4912" y="2504"/>
                    <a:ext cx="144" cy="9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43053" name="Object 756"/>
              <p:cNvGraphicFramePr>
                <a:graphicFrameLocks noChangeAspect="1"/>
              </p:cNvGraphicFramePr>
              <p:nvPr/>
            </p:nvGraphicFramePr>
            <p:xfrm>
              <a:off x="3648" y="1296"/>
              <a:ext cx="234" cy="256"/>
            </p:xfrm>
            <a:graphic>
              <a:graphicData uri="http://schemas.openxmlformats.org/presentationml/2006/ole">
                <mc:AlternateContent xmlns:mc="http://schemas.openxmlformats.org/markup-compatibility/2006">
                  <mc:Choice xmlns:v="urn:schemas-microsoft-com:vml" Requires="v">
                    <p:oleObj spid="_x0000_s43346" name="剪辑" r:id="rId10" imgW="853582" imgH="937071" progId="MS_ClipArt_Gallery.2">
                      <p:embed/>
                    </p:oleObj>
                  </mc:Choice>
                  <mc:Fallback>
                    <p:oleObj name="剪辑" r:id="rId10" imgW="853582" imgH="937071" progId="MS_ClipArt_Gallery.2">
                      <p:embed/>
                      <p:pic>
                        <p:nvPicPr>
                          <p:cNvPr id="0" name="Object 75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48" y="1296"/>
                            <a:ext cx="234" cy="256"/>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3041" name="Group 757"/>
            <p:cNvGrpSpPr>
              <a:grpSpLocks/>
            </p:cNvGrpSpPr>
            <p:nvPr/>
          </p:nvGrpSpPr>
          <p:grpSpPr bwMode="auto">
            <a:xfrm>
              <a:off x="1487" y="1269"/>
              <a:ext cx="242" cy="256"/>
              <a:chOff x="3640" y="1296"/>
              <a:chExt cx="242" cy="256"/>
            </a:xfrm>
          </p:grpSpPr>
          <p:grpSp>
            <p:nvGrpSpPr>
              <p:cNvPr id="43042" name="Group 758"/>
              <p:cNvGrpSpPr>
                <a:grpSpLocks/>
              </p:cNvGrpSpPr>
              <p:nvPr/>
            </p:nvGrpSpPr>
            <p:grpSpPr bwMode="auto">
              <a:xfrm>
                <a:off x="3640" y="1304"/>
                <a:ext cx="240" cy="240"/>
                <a:chOff x="4704" y="1776"/>
                <a:chExt cx="240" cy="240"/>
              </a:xfrm>
            </p:grpSpPr>
            <p:grpSp>
              <p:nvGrpSpPr>
                <p:cNvPr id="43044" name="Group 759"/>
                <p:cNvGrpSpPr>
                  <a:grpSpLocks/>
                </p:cNvGrpSpPr>
                <p:nvPr/>
              </p:nvGrpSpPr>
              <p:grpSpPr bwMode="auto">
                <a:xfrm>
                  <a:off x="4704" y="1776"/>
                  <a:ext cx="240" cy="240"/>
                  <a:chOff x="4920" y="2472"/>
                  <a:chExt cx="240" cy="240"/>
                </a:xfrm>
              </p:grpSpPr>
              <p:sp>
                <p:nvSpPr>
                  <p:cNvPr id="43048" name="Line 760"/>
                  <p:cNvSpPr>
                    <a:spLocks noChangeShapeType="1"/>
                  </p:cNvSpPr>
                  <p:nvPr/>
                </p:nvSpPr>
                <p:spPr bwMode="auto">
                  <a:xfrm>
                    <a:off x="4920" y="2600"/>
                    <a:ext cx="240" cy="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9" name="Line 761"/>
                  <p:cNvSpPr>
                    <a:spLocks noChangeShapeType="1"/>
                  </p:cNvSpPr>
                  <p:nvPr/>
                </p:nvSpPr>
                <p:spPr bwMode="auto">
                  <a:xfrm>
                    <a:off x="5040" y="2472"/>
                    <a:ext cx="0" cy="240"/>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0" name="Line 762"/>
                  <p:cNvSpPr>
                    <a:spLocks noChangeShapeType="1"/>
                  </p:cNvSpPr>
                  <p:nvPr/>
                </p:nvSpPr>
                <p:spPr bwMode="auto">
                  <a:xfrm>
                    <a:off x="4944" y="2496"/>
                    <a:ext cx="192" cy="192"/>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51" name="Line 763"/>
                  <p:cNvSpPr>
                    <a:spLocks noChangeShapeType="1"/>
                  </p:cNvSpPr>
                  <p:nvPr/>
                </p:nvSpPr>
                <p:spPr bwMode="auto">
                  <a:xfrm flipV="1">
                    <a:off x="4960" y="2504"/>
                    <a:ext cx="168" cy="17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3045" name="Group 764"/>
                <p:cNvGrpSpPr>
                  <a:grpSpLocks/>
                </p:cNvGrpSpPr>
                <p:nvPr/>
              </p:nvGrpSpPr>
              <p:grpSpPr bwMode="auto">
                <a:xfrm rot="562520">
                  <a:off x="4744" y="1808"/>
                  <a:ext cx="144" cy="184"/>
                  <a:chOff x="4912" y="2456"/>
                  <a:chExt cx="144" cy="184"/>
                </a:xfrm>
              </p:grpSpPr>
              <p:sp>
                <p:nvSpPr>
                  <p:cNvPr id="43046" name="Line 765"/>
                  <p:cNvSpPr>
                    <a:spLocks noChangeShapeType="1"/>
                  </p:cNvSpPr>
                  <p:nvPr/>
                </p:nvSpPr>
                <p:spPr bwMode="auto">
                  <a:xfrm>
                    <a:off x="4936" y="2456"/>
                    <a:ext cx="104" cy="184"/>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47" name="Line 766"/>
                  <p:cNvSpPr>
                    <a:spLocks noChangeShapeType="1"/>
                  </p:cNvSpPr>
                  <p:nvPr/>
                </p:nvSpPr>
                <p:spPr bwMode="auto">
                  <a:xfrm flipV="1">
                    <a:off x="4912" y="2504"/>
                    <a:ext cx="144" cy="96"/>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43043" name="Object 767"/>
              <p:cNvGraphicFramePr>
                <a:graphicFrameLocks noChangeAspect="1"/>
              </p:cNvGraphicFramePr>
              <p:nvPr/>
            </p:nvGraphicFramePr>
            <p:xfrm>
              <a:off x="3648" y="1296"/>
              <a:ext cx="234" cy="256"/>
            </p:xfrm>
            <a:graphic>
              <a:graphicData uri="http://schemas.openxmlformats.org/presentationml/2006/ole">
                <mc:AlternateContent xmlns:mc="http://schemas.openxmlformats.org/markup-compatibility/2006">
                  <mc:Choice xmlns:v="urn:schemas-microsoft-com:vml" Requires="v">
                    <p:oleObj spid="_x0000_s43347" name="剪辑" r:id="rId12" imgW="853582" imgH="937071" progId="MS_ClipArt_Gallery.2">
                      <p:embed/>
                    </p:oleObj>
                  </mc:Choice>
                  <mc:Fallback>
                    <p:oleObj name="剪辑" r:id="rId12" imgW="853582" imgH="937071" progId="MS_ClipArt_Gallery.2">
                      <p:embed/>
                      <p:pic>
                        <p:nvPicPr>
                          <p:cNvPr id="0" name="Object 76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48" y="1296"/>
                            <a:ext cx="234" cy="256"/>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08266" name="Group 773"/>
          <p:cNvGrpSpPr>
            <a:grpSpLocks/>
          </p:cNvGrpSpPr>
          <p:nvPr/>
        </p:nvGrpSpPr>
        <p:grpSpPr bwMode="auto">
          <a:xfrm>
            <a:off x="2627313" y="2827338"/>
            <a:ext cx="3600450" cy="0"/>
            <a:chOff x="1655" y="1525"/>
            <a:chExt cx="2268" cy="0"/>
          </a:xfrm>
        </p:grpSpPr>
        <p:sp>
          <p:nvSpPr>
            <p:cNvPr id="43038" name="Line 771"/>
            <p:cNvSpPr>
              <a:spLocks noChangeShapeType="1"/>
            </p:cNvSpPr>
            <p:nvPr/>
          </p:nvSpPr>
          <p:spPr bwMode="auto">
            <a:xfrm flipH="1">
              <a:off x="3515" y="1525"/>
              <a:ext cx="408"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39" name="Line 772"/>
            <p:cNvSpPr>
              <a:spLocks noChangeShapeType="1"/>
            </p:cNvSpPr>
            <p:nvPr/>
          </p:nvSpPr>
          <p:spPr bwMode="auto">
            <a:xfrm>
              <a:off x="1655" y="1525"/>
              <a:ext cx="1860" cy="0"/>
            </a:xfrm>
            <a:prstGeom prst="line">
              <a:avLst/>
            </a:prstGeom>
            <a:noFill/>
            <a:ln w="38100">
              <a:solidFill>
                <a:srgbClr val="00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08267" name="Group 886"/>
          <p:cNvGrpSpPr>
            <a:grpSpLocks/>
          </p:cNvGrpSpPr>
          <p:nvPr/>
        </p:nvGrpSpPr>
        <p:grpSpPr bwMode="auto">
          <a:xfrm>
            <a:off x="1979613" y="2058988"/>
            <a:ext cx="7056437" cy="649287"/>
            <a:chOff x="1247" y="1161"/>
            <a:chExt cx="4445" cy="545"/>
          </a:xfrm>
        </p:grpSpPr>
        <p:grpSp>
          <p:nvGrpSpPr>
            <p:cNvPr id="43030" name="Group 848"/>
            <p:cNvGrpSpPr>
              <a:grpSpLocks/>
            </p:cNvGrpSpPr>
            <p:nvPr/>
          </p:nvGrpSpPr>
          <p:grpSpPr bwMode="auto">
            <a:xfrm>
              <a:off x="1247" y="1161"/>
              <a:ext cx="4445" cy="545"/>
              <a:chOff x="657" y="436"/>
              <a:chExt cx="4445" cy="545"/>
            </a:xfrm>
          </p:grpSpPr>
          <p:grpSp>
            <p:nvGrpSpPr>
              <p:cNvPr id="43033" name="Group 849"/>
              <p:cNvGrpSpPr>
                <a:grpSpLocks/>
              </p:cNvGrpSpPr>
              <p:nvPr/>
            </p:nvGrpSpPr>
            <p:grpSpPr bwMode="auto">
              <a:xfrm>
                <a:off x="657" y="935"/>
                <a:ext cx="4445" cy="46"/>
                <a:chOff x="657" y="1071"/>
                <a:chExt cx="4445" cy="46"/>
              </a:xfrm>
            </p:grpSpPr>
            <p:sp>
              <p:nvSpPr>
                <p:cNvPr id="43035" name="Line 850"/>
                <p:cNvSpPr>
                  <a:spLocks noChangeShapeType="1"/>
                </p:cNvSpPr>
                <p:nvPr/>
              </p:nvSpPr>
              <p:spPr bwMode="auto">
                <a:xfrm>
                  <a:off x="657" y="1117"/>
                  <a:ext cx="4445" cy="0"/>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36" name="Line 851"/>
                <p:cNvSpPr>
                  <a:spLocks noChangeShapeType="1"/>
                </p:cNvSpPr>
                <p:nvPr/>
              </p:nvSpPr>
              <p:spPr bwMode="auto">
                <a:xfrm flipV="1">
                  <a:off x="1655" y="1071"/>
                  <a:ext cx="0" cy="4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37" name="Line 852"/>
                <p:cNvSpPr>
                  <a:spLocks noChangeShapeType="1"/>
                </p:cNvSpPr>
                <p:nvPr/>
              </p:nvSpPr>
              <p:spPr bwMode="auto">
                <a:xfrm flipV="1">
                  <a:off x="4014" y="1071"/>
                  <a:ext cx="0" cy="4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034" name="Line 853"/>
              <p:cNvSpPr>
                <a:spLocks noChangeShapeType="1"/>
              </p:cNvSpPr>
              <p:nvPr/>
            </p:nvSpPr>
            <p:spPr bwMode="auto">
              <a:xfrm flipV="1">
                <a:off x="657" y="436"/>
                <a:ext cx="0" cy="545"/>
              </a:xfrm>
              <a:prstGeom prst="line">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grpSp>
        <p:sp>
          <p:nvSpPr>
            <p:cNvPr id="43031" name="Rectangle 126"/>
            <p:cNvSpPr>
              <a:spLocks noChangeArrowheads="1"/>
            </p:cNvSpPr>
            <p:nvPr/>
          </p:nvSpPr>
          <p:spPr bwMode="auto">
            <a:xfrm>
              <a:off x="1837" y="1253"/>
              <a:ext cx="81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kumimoji="0" lang="en-US" altLang="zh-CN" sz="1500">
                  <a:ea typeface="宋体" pitchFamily="2" charset="-122"/>
                </a:rPr>
                <a:t>(</a:t>
              </a:r>
              <a:r>
                <a:rPr kumimoji="0" lang="en-US" altLang="zh-CN" sz="1500" i="1">
                  <a:ea typeface="宋体" pitchFamily="2" charset="-122"/>
                </a:rPr>
                <a:t>x</a:t>
              </a:r>
              <a:r>
                <a:rPr kumimoji="0" lang="en-US" altLang="zh-CN" sz="1500" baseline="-25000">
                  <a:ea typeface="宋体" pitchFamily="2" charset="-122"/>
                </a:rPr>
                <a:t>1</a:t>
              </a:r>
              <a:r>
                <a:rPr kumimoji="0" lang="en-US" altLang="zh-CN" sz="1500" baseline="30000">
                  <a:ea typeface="宋体" pitchFamily="2" charset="-122"/>
                </a:rPr>
                <a:t>/</a:t>
              </a:r>
              <a:r>
                <a:rPr kumimoji="0" lang="en-US" altLang="zh-CN" sz="1500">
                  <a:ea typeface="宋体" pitchFamily="2" charset="-122"/>
                </a:rPr>
                <a:t>, </a:t>
              </a:r>
              <a:r>
                <a:rPr kumimoji="0" lang="en-US" altLang="zh-CN" sz="1500" i="1">
                  <a:ea typeface="宋体" pitchFamily="2" charset="-122"/>
                </a:rPr>
                <a:t>t</a:t>
              </a:r>
              <a:r>
                <a:rPr kumimoji="0" lang="en-US" altLang="zh-CN" sz="1500" baseline="-25000">
                  <a:ea typeface="宋体" pitchFamily="2" charset="-122"/>
                </a:rPr>
                <a:t>1</a:t>
              </a:r>
              <a:r>
                <a:rPr kumimoji="0" lang="en-US" altLang="zh-CN" sz="1500" baseline="30000">
                  <a:ea typeface="宋体" pitchFamily="2" charset="-122"/>
                </a:rPr>
                <a:t>/</a:t>
              </a:r>
              <a:r>
                <a:rPr kumimoji="0" lang="en-US" altLang="zh-CN" sz="1500">
                  <a:ea typeface="宋体" pitchFamily="2" charset="-122"/>
                </a:rPr>
                <a:t>)</a:t>
              </a:r>
              <a:endParaRPr kumimoji="0" lang="en-US" altLang="zh-CN" sz="1500">
                <a:solidFill>
                  <a:srgbClr val="0000FF"/>
                </a:solidFill>
                <a:ea typeface="宋体" pitchFamily="2" charset="-122"/>
              </a:endParaRPr>
            </a:p>
          </p:txBody>
        </p:sp>
        <p:sp>
          <p:nvSpPr>
            <p:cNvPr id="43032" name="Rectangle 126"/>
            <p:cNvSpPr>
              <a:spLocks noChangeArrowheads="1"/>
            </p:cNvSpPr>
            <p:nvPr/>
          </p:nvSpPr>
          <p:spPr bwMode="auto">
            <a:xfrm>
              <a:off x="4150" y="1253"/>
              <a:ext cx="86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kumimoji="0" lang="en-US" altLang="zh-CN" sz="1500">
                  <a:ea typeface="宋体" pitchFamily="2" charset="-122"/>
                </a:rPr>
                <a:t>(</a:t>
              </a:r>
              <a:r>
                <a:rPr kumimoji="0" lang="en-US" altLang="zh-CN" sz="1500" i="1">
                  <a:ea typeface="宋体" pitchFamily="2" charset="-122"/>
                </a:rPr>
                <a:t>x</a:t>
              </a:r>
              <a:r>
                <a:rPr kumimoji="0" lang="en-US" altLang="zh-CN" sz="1500" baseline="-25000">
                  <a:ea typeface="宋体" pitchFamily="2" charset="-122"/>
                </a:rPr>
                <a:t>2</a:t>
              </a:r>
              <a:r>
                <a:rPr kumimoji="0" lang="en-US" altLang="zh-CN" sz="1500" baseline="30000">
                  <a:ea typeface="宋体" pitchFamily="2" charset="-122"/>
                </a:rPr>
                <a:t>/</a:t>
              </a:r>
              <a:r>
                <a:rPr kumimoji="0" lang="en-US" altLang="zh-CN" sz="1500">
                  <a:ea typeface="宋体" pitchFamily="2" charset="-122"/>
                </a:rPr>
                <a:t>, </a:t>
              </a:r>
              <a:r>
                <a:rPr kumimoji="0" lang="en-US" altLang="zh-CN" sz="1500" i="1">
                  <a:ea typeface="宋体" pitchFamily="2" charset="-122"/>
                </a:rPr>
                <a:t>t</a:t>
              </a:r>
              <a:r>
                <a:rPr kumimoji="0" lang="en-US" altLang="zh-CN" sz="1500" baseline="-25000">
                  <a:ea typeface="宋体" pitchFamily="2" charset="-122"/>
                </a:rPr>
                <a:t>2</a:t>
              </a:r>
              <a:r>
                <a:rPr kumimoji="0" lang="en-US" altLang="zh-CN" sz="1500" baseline="30000">
                  <a:ea typeface="宋体" pitchFamily="2" charset="-122"/>
                </a:rPr>
                <a:t>/</a:t>
              </a:r>
              <a:r>
                <a:rPr kumimoji="0" lang="en-US" altLang="zh-CN" sz="1500">
                  <a:ea typeface="宋体" pitchFamily="2" charset="-122"/>
                </a:rPr>
                <a:t>)</a:t>
              </a:r>
              <a:endParaRPr kumimoji="0" lang="en-US" altLang="zh-CN" sz="1500">
                <a:solidFill>
                  <a:srgbClr val="0000FF"/>
                </a:solidFill>
                <a:ea typeface="宋体" pitchFamily="2" charset="-122"/>
              </a:endParaRPr>
            </a:p>
          </p:txBody>
        </p:sp>
      </p:grpSp>
      <p:sp>
        <p:nvSpPr>
          <p:cNvPr id="143" name="Text Box 4"/>
          <p:cNvSpPr txBox="1">
            <a:spLocks noChangeArrowheads="1"/>
          </p:cNvSpPr>
          <p:nvPr/>
        </p:nvSpPr>
        <p:spPr bwMode="auto">
          <a:xfrm>
            <a:off x="1042988" y="4049713"/>
            <a:ext cx="1825625"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500">
                <a:ea typeface="华文中宋" pitchFamily="2" charset="-122"/>
              </a:rPr>
              <a:t>根据洛仑兹变换：</a:t>
            </a:r>
          </a:p>
        </p:txBody>
      </p:sp>
      <p:graphicFrame>
        <p:nvGraphicFramePr>
          <p:cNvPr id="5" name="对象 4"/>
          <p:cNvGraphicFramePr>
            <a:graphicFrameLocks noChangeAspect="1"/>
          </p:cNvGraphicFramePr>
          <p:nvPr/>
        </p:nvGraphicFramePr>
        <p:xfrm>
          <a:off x="3225800" y="3905250"/>
          <a:ext cx="1982788" cy="682625"/>
        </p:xfrm>
        <a:graphic>
          <a:graphicData uri="http://schemas.openxmlformats.org/presentationml/2006/ole">
            <mc:AlternateContent xmlns:mc="http://schemas.openxmlformats.org/markup-compatibility/2006">
              <mc:Choice xmlns:v="urn:schemas-microsoft-com:vml" Requires="v">
                <p:oleObj spid="_x0000_s43348" name="公式" r:id="rId14" imgW="1079032" imgH="495085" progId="Equation.3">
                  <p:embed/>
                </p:oleObj>
              </mc:Choice>
              <mc:Fallback>
                <p:oleObj name="公式" r:id="rId14" imgW="1079032" imgH="495085" progId="Equation.3">
                  <p:embed/>
                  <p:pic>
                    <p:nvPicPr>
                      <p:cNvPr id="0" name="对象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25800" y="3905250"/>
                        <a:ext cx="1982788"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对象 60"/>
          <p:cNvGraphicFramePr>
            <a:graphicFrameLocks noChangeAspect="1"/>
          </p:cNvGraphicFramePr>
          <p:nvPr/>
        </p:nvGraphicFramePr>
        <p:xfrm>
          <a:off x="5478463" y="3911600"/>
          <a:ext cx="1901825" cy="654050"/>
        </p:xfrm>
        <a:graphic>
          <a:graphicData uri="http://schemas.openxmlformats.org/presentationml/2006/ole">
            <mc:AlternateContent xmlns:mc="http://schemas.openxmlformats.org/markup-compatibility/2006">
              <mc:Choice xmlns:v="urn:schemas-microsoft-com:vml" Requires="v">
                <p:oleObj spid="_x0000_s43349" name="公式" r:id="rId16" imgW="1079032" imgH="495085" progId="Equation.3">
                  <p:embed/>
                </p:oleObj>
              </mc:Choice>
              <mc:Fallback>
                <p:oleObj name="公式" r:id="rId16" imgW="1079032" imgH="495085" progId="Equation.3">
                  <p:embed/>
                  <p:pic>
                    <p:nvPicPr>
                      <p:cNvPr id="0" name="对象 6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478463" y="3911600"/>
                        <a:ext cx="1901825"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8050"/>
                                        </p:tgtEl>
                                        <p:attrNameLst>
                                          <p:attrName>style.visibility</p:attrName>
                                        </p:attrNameLst>
                                      </p:cBhvr>
                                      <p:to>
                                        <p:strVal val="visible"/>
                                      </p:to>
                                    </p:set>
                                    <p:animEffect transition="in" filter="box(in)">
                                      <p:cBhvr>
                                        <p:cTn id="7" dur="500"/>
                                        <p:tgtEl>
                                          <p:spTgt spid="108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blinds(horizontal)">
                                      <p:cBhvr>
                                        <p:cTn id="23" dur="500"/>
                                        <p:tgtEl>
                                          <p:spTgt spid="3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slide(fromBottom)">
                                      <p:cBhvr>
                                        <p:cTn id="28" dur="500"/>
                                        <p:tgtEl>
                                          <p:spTgt spid="2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blinds(horizontal)">
                                      <p:cBhvr>
                                        <p:cTn id="33" dur="500"/>
                                        <p:tgtEl>
                                          <p:spTgt spid="3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
                                            <p:txEl>
                                              <p:pRg st="0" end="0"/>
                                            </p:txEl>
                                          </p:spTgt>
                                        </p:tgtEl>
                                        <p:attrNameLst>
                                          <p:attrName>style.visibility</p:attrName>
                                        </p:attrNameLst>
                                      </p:cBhvr>
                                      <p:to>
                                        <p:strVal val="visible"/>
                                      </p:to>
                                    </p:set>
                                    <p:animEffect transition="in" filter="wipe(left)">
                                      <p:cBhvr>
                                        <p:cTn id="38" dur="500"/>
                                        <p:tgtEl>
                                          <p:spTgt spid="2">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0" end="0"/>
                                            </p:txEl>
                                          </p:spTgt>
                                        </p:tgtEl>
                                        <p:attrNameLst>
                                          <p:attrName>style.visibility</p:attrName>
                                        </p:attrNameLst>
                                      </p:cBhvr>
                                      <p:to>
                                        <p:strVal val="visible"/>
                                      </p:to>
                                    </p:set>
                                    <p:animEffect transition="in" filter="wipe(left)">
                                      <p:cBhvr>
                                        <p:cTn id="43" dur="500"/>
                                        <p:tgtEl>
                                          <p:spTgt spid="3">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blinds(horizontal)">
                                      <p:cBhvr>
                                        <p:cTn id="48" dur="500"/>
                                        <p:tgtEl>
                                          <p:spTgt spid="35"/>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3" presetClass="entr" presetSubtype="10" fill="hold" nodeType="click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blinds(horizontal)">
                                      <p:cBhvr>
                                        <p:cTn id="53" dur="500"/>
                                        <p:tgtEl>
                                          <p:spTgt spid="5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slide(fromBottom)">
                                      <p:cBhvr>
                                        <p:cTn id="58" dur="500"/>
                                        <p:tgtEl>
                                          <p:spTgt spid="5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57"/>
                                        </p:tgtEl>
                                        <p:attrNameLst>
                                          <p:attrName>style.visibility</p:attrName>
                                        </p:attrNameLst>
                                      </p:cBhvr>
                                      <p:to>
                                        <p:strVal val="visible"/>
                                      </p:to>
                                    </p:set>
                                    <p:animEffect transition="in" filter="blinds(horizontal)">
                                      <p:cBhvr>
                                        <p:cTn id="63" dur="500"/>
                                        <p:tgtEl>
                                          <p:spTgt spid="5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blinds(horizontal)">
                                      <p:cBhvr>
                                        <p:cTn id="68" dur="500"/>
                                        <p:tgtEl>
                                          <p:spTgt spid="3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63" presetClass="path" presetSubtype="0" accel="50000" decel="50000" fill="hold" nodeType="clickEffect">
                                  <p:stCondLst>
                                    <p:cond delay="0"/>
                                  </p:stCondLst>
                                  <p:childTnLst>
                                    <p:animMotion origin="layout" path="M 0.00226 -0.00509 L 0.12031 -0.00509 " pathEditMode="relative" rAng="0" ptsTypes="AA">
                                      <p:cBhvr>
                                        <p:cTn id="72" dur="2000" fill="hold"/>
                                        <p:tgtEl>
                                          <p:spTgt spid="33"/>
                                        </p:tgtEl>
                                        <p:attrNameLst>
                                          <p:attrName>ppt_x</p:attrName>
                                          <p:attrName>ppt_y</p:attrName>
                                        </p:attrNameLst>
                                      </p:cBhvr>
                                      <p:rCtr x="5903" y="0"/>
                                    </p:animMotion>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108266"/>
                                        </p:tgtEl>
                                        <p:attrNameLst>
                                          <p:attrName>style.visibility</p:attrName>
                                        </p:attrNameLst>
                                      </p:cBhvr>
                                      <p:to>
                                        <p:strVal val="visible"/>
                                      </p:to>
                                    </p:set>
                                    <p:animEffect transition="in" filter="blinds(horizontal)">
                                      <p:cBhvr>
                                        <p:cTn id="77" dur="500"/>
                                        <p:tgtEl>
                                          <p:spTgt spid="10826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108267"/>
                                        </p:tgtEl>
                                        <p:attrNameLst>
                                          <p:attrName>style.visibility</p:attrName>
                                        </p:attrNameLst>
                                      </p:cBhvr>
                                      <p:to>
                                        <p:strVal val="visible"/>
                                      </p:to>
                                    </p:set>
                                    <p:animEffect transition="in" filter="blinds(horizontal)">
                                      <p:cBhvr>
                                        <p:cTn id="82" dur="500"/>
                                        <p:tgtEl>
                                          <p:spTgt spid="10826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41">
                                            <p:txEl>
                                              <p:pRg st="0" end="0"/>
                                            </p:txEl>
                                          </p:spTgt>
                                        </p:tgtEl>
                                        <p:attrNameLst>
                                          <p:attrName>style.visibility</p:attrName>
                                        </p:attrNameLst>
                                      </p:cBhvr>
                                      <p:to>
                                        <p:strVal val="visible"/>
                                      </p:to>
                                    </p:set>
                                    <p:animEffect transition="in" filter="wipe(left)">
                                      <p:cBhvr>
                                        <p:cTn id="87" dur="500"/>
                                        <p:tgtEl>
                                          <p:spTgt spid="141">
                                            <p:txEl>
                                              <p:pRg st="0" end="0"/>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42">
                                            <p:txEl>
                                              <p:pRg st="0" end="0"/>
                                            </p:txEl>
                                          </p:spTgt>
                                        </p:tgtEl>
                                        <p:attrNameLst>
                                          <p:attrName>style.visibility</p:attrName>
                                        </p:attrNameLst>
                                      </p:cBhvr>
                                      <p:to>
                                        <p:strVal val="visible"/>
                                      </p:to>
                                    </p:set>
                                    <p:animEffect transition="in" filter="wipe(left)">
                                      <p:cBhvr>
                                        <p:cTn id="92" dur="500"/>
                                        <p:tgtEl>
                                          <p:spTgt spid="142">
                                            <p:txEl>
                                              <p:pRg st="0" end="0"/>
                                            </p:txEl>
                                          </p:spTgt>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43"/>
                                        </p:tgtEl>
                                        <p:attrNameLst>
                                          <p:attrName>style.visibility</p:attrName>
                                        </p:attrNameLst>
                                      </p:cBhvr>
                                      <p:to>
                                        <p:strVal val="visible"/>
                                      </p:to>
                                    </p:set>
                                    <p:animEffect transition="in" filter="wipe(left)">
                                      <p:cBhvr>
                                        <p:cTn id="97" dur="500"/>
                                        <p:tgtEl>
                                          <p:spTgt spid="143"/>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5"/>
                                        </p:tgtEl>
                                        <p:attrNameLst>
                                          <p:attrName>style.visibility</p:attrName>
                                        </p:attrNameLst>
                                      </p:cBhvr>
                                      <p:to>
                                        <p:strVal val="visible"/>
                                      </p:to>
                                    </p:set>
                                    <p:animEffect transition="in" filter="wipe(left)">
                                      <p:cBhvr>
                                        <p:cTn id="102" dur="500"/>
                                        <p:tgtEl>
                                          <p:spTgt spid="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61"/>
                                        </p:tgtEl>
                                        <p:attrNameLst>
                                          <p:attrName>style.visibility</p:attrName>
                                        </p:attrNameLst>
                                      </p:cBhvr>
                                      <p:to>
                                        <p:strVal val="visible"/>
                                      </p:to>
                                    </p:set>
                                    <p:animEffect transition="in" filter="wipe(left)">
                                      <p:cBhvr>
                                        <p:cTn id="10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050" grpId="0" autoUpdateAnimBg="0"/>
      <p:bldP spid="141" grpId="0" build="p" autoUpdateAnimBg="0"/>
      <p:bldP spid="142" grpId="0" build="p" autoUpdateAnimBg="0"/>
      <p:bldP spid="2" grpId="0" build="p" autoUpdateAnimBg="0"/>
      <p:bldP spid="3" grpId="0" build="p" autoUpdateAnimBg="0"/>
      <p:bldP spid="14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2433638" y="776288"/>
          <a:ext cx="3803650" cy="560387"/>
        </p:xfrm>
        <a:graphic>
          <a:graphicData uri="http://schemas.openxmlformats.org/presentationml/2006/ole">
            <mc:AlternateContent xmlns:mc="http://schemas.openxmlformats.org/markup-compatibility/2006">
              <mc:Choice xmlns:v="urn:schemas-microsoft-com:vml" Requires="v">
                <p:oleObj spid="_x0000_s44043" name="公式" r:id="rId3" imgW="2070100" imgH="406400" progId="Equation.3">
                  <p:embed/>
                </p:oleObj>
              </mc:Choice>
              <mc:Fallback>
                <p:oleObj name="公式" r:id="rId3" imgW="2070100" imgH="4064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3638" y="776288"/>
                        <a:ext cx="380365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2849563" y="1363663"/>
          <a:ext cx="2730500" cy="560387"/>
        </p:xfrm>
        <a:graphic>
          <a:graphicData uri="http://schemas.openxmlformats.org/presentationml/2006/ole">
            <mc:AlternateContent xmlns:mc="http://schemas.openxmlformats.org/markup-compatibility/2006">
              <mc:Choice xmlns:v="urn:schemas-microsoft-com:vml" Requires="v">
                <p:oleObj spid="_x0000_s44044" name="公式" r:id="rId5" imgW="1485255" imgH="406224" progId="Equation.3">
                  <p:embed/>
                </p:oleObj>
              </mc:Choice>
              <mc:Fallback>
                <p:oleObj name="公式" r:id="rId5" imgW="1485255" imgH="406224" progId="Equation.3">
                  <p:embed/>
                  <p:pic>
                    <p:nvPicPr>
                      <p:cNvPr id="0"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9563" y="1363663"/>
                        <a:ext cx="273050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15"/>
          <p:cNvSpPr txBox="1">
            <a:spLocks noChangeArrowheads="1"/>
          </p:cNvSpPr>
          <p:nvPr/>
        </p:nvSpPr>
        <p:spPr bwMode="auto">
          <a:xfrm>
            <a:off x="742950" y="1709738"/>
            <a:ext cx="68008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solidFill>
                  <a:srgbClr val="FF0000"/>
                </a:solidFill>
                <a:ea typeface="华文中宋" pitchFamily="2" charset="-122"/>
              </a:rPr>
              <a:t>说明：</a:t>
            </a:r>
          </a:p>
          <a:p>
            <a:pPr algn="just"/>
            <a:r>
              <a:rPr kumimoji="0" lang="zh-CN" altLang="en-US" sz="1800">
                <a:ea typeface="华文中宋" pitchFamily="2" charset="-122"/>
              </a:rPr>
              <a:t> </a:t>
            </a:r>
            <a:r>
              <a:rPr kumimoji="0" lang="en-US" altLang="zh-CN" sz="1800">
                <a:ea typeface="华文中宋" pitchFamily="2" charset="-122"/>
              </a:rPr>
              <a:t>(1)  </a:t>
            </a:r>
            <a:r>
              <a:rPr kumimoji="0" lang="zh-CN" altLang="en-US" sz="1800">
                <a:ea typeface="华文中宋" pitchFamily="2" charset="-122"/>
              </a:rPr>
              <a:t>若</a:t>
            </a:r>
            <a:r>
              <a:rPr kumimoji="0" lang="en-US" altLang="zh-CN" sz="1800" i="1">
                <a:ea typeface="华文中宋" pitchFamily="2" charset="-122"/>
              </a:rPr>
              <a:t>x</a:t>
            </a:r>
            <a:r>
              <a:rPr kumimoji="0" lang="en-US" altLang="zh-CN" sz="1800" baseline="-25000">
                <a:ea typeface="华文中宋" pitchFamily="2" charset="-122"/>
              </a:rPr>
              <a:t>2 </a:t>
            </a:r>
            <a:r>
              <a:rPr kumimoji="0" lang="en-US" altLang="zh-CN" sz="1800">
                <a:ea typeface="华文中宋" pitchFamily="2" charset="-122"/>
                <a:sym typeface="Symbol" pitchFamily="18" charset="2"/>
              </a:rPr>
              <a:t></a:t>
            </a:r>
            <a:r>
              <a:rPr kumimoji="0" lang="en-US" altLang="zh-CN" sz="1800">
                <a:ea typeface="华文中宋" pitchFamily="2" charset="-122"/>
              </a:rPr>
              <a:t> </a:t>
            </a:r>
            <a:r>
              <a:rPr kumimoji="0" lang="en-US" altLang="zh-CN" sz="1800" i="1">
                <a:ea typeface="华文中宋" pitchFamily="2" charset="-122"/>
              </a:rPr>
              <a:t>x</a:t>
            </a:r>
            <a:r>
              <a:rPr kumimoji="0" lang="en-US" altLang="zh-CN" sz="1800" baseline="-25000">
                <a:ea typeface="华文中宋" pitchFamily="2" charset="-122"/>
              </a:rPr>
              <a:t>1</a:t>
            </a:r>
            <a:r>
              <a:rPr kumimoji="0" lang="zh-CN" altLang="en-US" sz="1800">
                <a:ea typeface="华文中宋" pitchFamily="2" charset="-122"/>
              </a:rPr>
              <a:t>，因为 </a:t>
            </a:r>
            <a:r>
              <a:rPr kumimoji="0" lang="en-US" altLang="zh-CN" sz="1800" i="1">
                <a:ea typeface="华文中宋" pitchFamily="2" charset="-122"/>
              </a:rPr>
              <a:t>u </a:t>
            </a:r>
            <a:r>
              <a:rPr kumimoji="0" lang="en-US" altLang="zh-CN" sz="1800">
                <a:ea typeface="华文中宋" pitchFamily="2" charset="-122"/>
                <a:sym typeface="Symbol" pitchFamily="18" charset="2"/>
              </a:rPr>
              <a:t></a:t>
            </a:r>
            <a:r>
              <a:rPr kumimoji="0" lang="en-US" altLang="zh-CN" sz="1800">
                <a:ea typeface="华文中宋" pitchFamily="2" charset="-122"/>
              </a:rPr>
              <a:t> 0</a:t>
            </a:r>
            <a:r>
              <a:rPr kumimoji="0" lang="zh-CN" altLang="en-US" sz="1800">
                <a:ea typeface="华文中宋" pitchFamily="2" charset="-122"/>
              </a:rPr>
              <a:t>，则 </a:t>
            </a:r>
            <a:r>
              <a:rPr kumimoji="0" lang="en-US" altLang="zh-CN" sz="1800" i="1">
                <a:ea typeface="华文中宋" pitchFamily="2" charset="-122"/>
              </a:rPr>
              <a:t>t</a:t>
            </a:r>
            <a:r>
              <a:rPr kumimoji="0" lang="en-US" altLang="zh-CN" sz="1800" baseline="-25000">
                <a:ea typeface="华文中宋" pitchFamily="2" charset="-122"/>
              </a:rPr>
              <a:t>1</a:t>
            </a:r>
            <a:r>
              <a:rPr kumimoji="0" lang="en-US" altLang="zh-CN" sz="1800" baseline="30000">
                <a:ea typeface="华文中宋" pitchFamily="2" charset="-122"/>
              </a:rPr>
              <a:t>/ </a:t>
            </a:r>
            <a:r>
              <a:rPr kumimoji="0" lang="en-US" altLang="zh-CN" sz="1800">
                <a:ea typeface="华文中宋" pitchFamily="2" charset="-122"/>
                <a:sym typeface="Symbol" pitchFamily="18" charset="2"/>
              </a:rPr>
              <a:t></a:t>
            </a:r>
            <a:r>
              <a:rPr kumimoji="0" lang="en-US" altLang="zh-CN" sz="1800">
                <a:ea typeface="华文中宋" pitchFamily="2" charset="-122"/>
              </a:rPr>
              <a:t> </a:t>
            </a:r>
            <a:r>
              <a:rPr kumimoji="0" lang="en-US" altLang="zh-CN" sz="1800" i="1">
                <a:ea typeface="华文中宋" pitchFamily="2" charset="-122"/>
              </a:rPr>
              <a:t>t</a:t>
            </a:r>
            <a:r>
              <a:rPr kumimoji="0" lang="en-US" altLang="zh-CN" sz="1800" baseline="-25000">
                <a:ea typeface="华文中宋" pitchFamily="2" charset="-122"/>
              </a:rPr>
              <a:t>2</a:t>
            </a:r>
            <a:r>
              <a:rPr kumimoji="0" lang="en-US" altLang="zh-CN" sz="1800" baseline="30000">
                <a:ea typeface="华文中宋" pitchFamily="2" charset="-122"/>
              </a:rPr>
              <a:t>/</a:t>
            </a:r>
          </a:p>
        </p:txBody>
      </p:sp>
      <p:sp>
        <p:nvSpPr>
          <p:cNvPr id="9" name="Text Box 15"/>
          <p:cNvSpPr txBox="1">
            <a:spLocks noChangeArrowheads="1"/>
          </p:cNvSpPr>
          <p:nvPr/>
        </p:nvSpPr>
        <p:spPr bwMode="auto">
          <a:xfrm>
            <a:off x="755650" y="2344738"/>
            <a:ext cx="7594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在两个惯性系</a:t>
            </a:r>
            <a:r>
              <a:rPr lang="zh-CN" altLang="en-US" sz="1800">
                <a:solidFill>
                  <a:srgbClr val="FF0000"/>
                </a:solidFill>
                <a:ea typeface="华文中宋" pitchFamily="2" charset="-122"/>
              </a:rPr>
              <a:t>相对运动的方向上</a:t>
            </a:r>
            <a:r>
              <a:rPr kumimoji="0" lang="zh-CN" altLang="en-US" sz="1800">
                <a:ea typeface="华文中宋" pitchFamily="2" charset="-122"/>
              </a:rPr>
              <a:t>，一个惯性系中的</a:t>
            </a:r>
            <a:r>
              <a:rPr kumimoji="0" lang="zh-CN" altLang="en-US" sz="1800">
                <a:solidFill>
                  <a:srgbClr val="FF0000"/>
                </a:solidFill>
                <a:ea typeface="华文中宋" pitchFamily="2" charset="-122"/>
              </a:rPr>
              <a:t>两个异地同时</a:t>
            </a:r>
            <a:r>
              <a:rPr kumimoji="0" lang="zh-CN" altLang="en-US" sz="1800">
                <a:ea typeface="华文中宋" pitchFamily="2" charset="-122"/>
              </a:rPr>
              <a:t>发生的事件，另一个惯性系中观测一定不是同时发生的事件</a:t>
            </a:r>
            <a:r>
              <a:rPr lang="zh-CN" altLang="en-US" sz="1800">
                <a:ea typeface="华文中宋" pitchFamily="2" charset="-122"/>
              </a:rPr>
              <a:t>。</a:t>
            </a:r>
            <a:endParaRPr kumimoji="0" lang="zh-CN" altLang="en-US" sz="1800">
              <a:ea typeface="华文中宋" pitchFamily="2" charset="-122"/>
            </a:endParaRPr>
          </a:p>
        </p:txBody>
      </p:sp>
      <p:sp>
        <p:nvSpPr>
          <p:cNvPr id="11" name="Rectangle 5"/>
          <p:cNvSpPr>
            <a:spLocks noChangeArrowheads="1"/>
          </p:cNvSpPr>
          <p:nvPr/>
        </p:nvSpPr>
        <p:spPr bwMode="auto">
          <a:xfrm>
            <a:off x="822325" y="2981325"/>
            <a:ext cx="4860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kumimoji="0" lang="en-US" altLang="zh-CN" sz="1800">
                <a:ea typeface="华文中宋" pitchFamily="2" charset="-122"/>
              </a:rPr>
              <a:t>(2)  </a:t>
            </a:r>
            <a:r>
              <a:rPr kumimoji="0" lang="zh-CN" altLang="en-US" sz="1800">
                <a:ea typeface="华文中宋" pitchFamily="2" charset="-122"/>
              </a:rPr>
              <a:t>若 </a:t>
            </a:r>
            <a:r>
              <a:rPr kumimoji="0" lang="en-US" altLang="zh-CN" sz="1800" i="1">
                <a:ea typeface="华文中宋" pitchFamily="2" charset="-122"/>
              </a:rPr>
              <a:t>x</a:t>
            </a:r>
            <a:r>
              <a:rPr kumimoji="0" lang="en-US" altLang="zh-CN" sz="1800" baseline="-25000">
                <a:ea typeface="华文中宋" pitchFamily="2" charset="-122"/>
              </a:rPr>
              <a:t>1</a:t>
            </a:r>
            <a:r>
              <a:rPr kumimoji="0" lang="en-US" altLang="zh-CN" sz="1800">
                <a:ea typeface="华文中宋" pitchFamily="2" charset="-122"/>
              </a:rPr>
              <a:t>=</a:t>
            </a:r>
            <a:r>
              <a:rPr kumimoji="0" lang="en-US" altLang="zh-CN" sz="1800" i="1">
                <a:ea typeface="华文中宋" pitchFamily="2" charset="-122"/>
              </a:rPr>
              <a:t>x</a:t>
            </a:r>
            <a:r>
              <a:rPr kumimoji="0" lang="en-US" altLang="zh-CN" sz="1800" baseline="-25000">
                <a:ea typeface="华文中宋" pitchFamily="2" charset="-122"/>
              </a:rPr>
              <a:t>2</a:t>
            </a:r>
            <a:r>
              <a:rPr kumimoji="0" lang="en-US" altLang="zh-CN" sz="1800">
                <a:ea typeface="华文中宋" pitchFamily="2" charset="-122"/>
              </a:rPr>
              <a:t> </a:t>
            </a:r>
            <a:r>
              <a:rPr kumimoji="0" lang="zh-CN" altLang="en-US" sz="1800">
                <a:ea typeface="华文中宋" pitchFamily="2" charset="-122"/>
              </a:rPr>
              <a:t>，则有 </a:t>
            </a:r>
            <a:r>
              <a:rPr kumimoji="0" lang="en-US" altLang="zh-CN" sz="1800" i="1">
                <a:ea typeface="华文中宋" pitchFamily="2" charset="-122"/>
              </a:rPr>
              <a:t>t</a:t>
            </a:r>
            <a:r>
              <a:rPr kumimoji="0" lang="en-US" altLang="zh-CN" sz="1800" baseline="-25000">
                <a:ea typeface="华文中宋" pitchFamily="2" charset="-122"/>
              </a:rPr>
              <a:t>1</a:t>
            </a:r>
            <a:r>
              <a:rPr kumimoji="0" lang="en-US" altLang="zh-CN" sz="1800" baseline="30000">
                <a:ea typeface="华文中宋" pitchFamily="2" charset="-122"/>
              </a:rPr>
              <a:t>/</a:t>
            </a:r>
            <a:r>
              <a:rPr kumimoji="0" lang="en-US" altLang="zh-CN" sz="1800">
                <a:ea typeface="华文中宋" pitchFamily="2" charset="-122"/>
              </a:rPr>
              <a:t>=</a:t>
            </a:r>
            <a:r>
              <a:rPr kumimoji="0" lang="en-US" altLang="zh-CN" sz="1800" i="1">
                <a:ea typeface="华文中宋" pitchFamily="2" charset="-122"/>
              </a:rPr>
              <a:t>t</a:t>
            </a:r>
            <a:r>
              <a:rPr kumimoji="0" lang="en-US" altLang="zh-CN" sz="1800" baseline="-25000">
                <a:ea typeface="华文中宋" pitchFamily="2" charset="-122"/>
              </a:rPr>
              <a:t>2</a:t>
            </a:r>
            <a:r>
              <a:rPr kumimoji="0" lang="en-US" altLang="zh-CN" sz="1800" baseline="30000">
                <a:ea typeface="华文中宋" pitchFamily="2" charset="-122"/>
              </a:rPr>
              <a:t>/</a:t>
            </a:r>
            <a:r>
              <a:rPr kumimoji="0" lang="en-US" altLang="zh-CN" sz="1800">
                <a:ea typeface="华文中宋" pitchFamily="2" charset="-122"/>
              </a:rPr>
              <a:t>     </a:t>
            </a:r>
          </a:p>
        </p:txBody>
      </p:sp>
      <p:sp>
        <p:nvSpPr>
          <p:cNvPr id="12" name="Rectangle 6"/>
          <p:cNvSpPr>
            <a:spLocks noChangeArrowheads="1"/>
          </p:cNvSpPr>
          <p:nvPr/>
        </p:nvSpPr>
        <p:spPr bwMode="auto">
          <a:xfrm>
            <a:off x="900113" y="3340100"/>
            <a:ext cx="74882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kumimoji="0" lang="en-US" altLang="zh-CN" sz="1800">
                <a:ea typeface="华文中宋" pitchFamily="2" charset="-122"/>
              </a:rPr>
              <a:t>    </a:t>
            </a:r>
            <a:r>
              <a:rPr kumimoji="0" lang="zh-CN" altLang="en-US" sz="1800">
                <a:ea typeface="华文中宋" pitchFamily="2" charset="-122"/>
              </a:rPr>
              <a:t>一个惯性系中</a:t>
            </a:r>
            <a:r>
              <a:rPr kumimoji="0" lang="zh-CN" altLang="en-US" sz="1800">
                <a:solidFill>
                  <a:srgbClr val="FF0000"/>
                </a:solidFill>
                <a:ea typeface="华文中宋" pitchFamily="2" charset="-122"/>
              </a:rPr>
              <a:t>同地同时</a:t>
            </a:r>
            <a:r>
              <a:rPr kumimoji="0" lang="zh-CN" altLang="en-US" sz="1800">
                <a:ea typeface="华文中宋" pitchFamily="2" charset="-122"/>
              </a:rPr>
              <a:t>发生事件，在其他惯性系测量，也是</a:t>
            </a:r>
            <a:r>
              <a:rPr kumimoji="0" lang="zh-CN" altLang="en-US" sz="1800">
                <a:solidFill>
                  <a:srgbClr val="FF0000"/>
                </a:solidFill>
                <a:ea typeface="华文中宋" pitchFamily="2" charset="-122"/>
              </a:rPr>
              <a:t>同时</a:t>
            </a:r>
            <a:r>
              <a:rPr kumimoji="0" lang="zh-CN" altLang="en-US" sz="1800">
                <a:ea typeface="华文中宋" pitchFamily="2" charset="-122"/>
              </a:rPr>
              <a:t>发生的；</a:t>
            </a:r>
          </a:p>
        </p:txBody>
      </p:sp>
      <p:sp>
        <p:nvSpPr>
          <p:cNvPr id="2" name="Text Box 7"/>
          <p:cNvSpPr txBox="1">
            <a:spLocks noChangeArrowheads="1"/>
          </p:cNvSpPr>
          <p:nvPr/>
        </p:nvSpPr>
        <p:spPr bwMode="auto">
          <a:xfrm>
            <a:off x="827088" y="3975100"/>
            <a:ext cx="74342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(3)  </a:t>
            </a:r>
            <a:r>
              <a:rPr lang="zh-CN" altLang="en-US" sz="1800">
                <a:ea typeface="华文中宋" pitchFamily="2" charset="-122"/>
              </a:rPr>
              <a:t>沿</a:t>
            </a:r>
            <a:r>
              <a:rPr lang="zh-CN" altLang="en-US" sz="1800">
                <a:solidFill>
                  <a:srgbClr val="0000FF"/>
                </a:solidFill>
                <a:ea typeface="华文中宋" pitchFamily="2" charset="-122"/>
              </a:rPr>
              <a:t>垂直于相对运动方向</a:t>
            </a:r>
            <a:r>
              <a:rPr lang="zh-CN" altLang="en-US" sz="1800">
                <a:ea typeface="华文中宋" pitchFamily="2" charset="-122"/>
              </a:rPr>
              <a:t>发生的两个</a:t>
            </a:r>
            <a:r>
              <a:rPr kumimoji="0" lang="zh-CN" altLang="en-US" sz="1800">
                <a:solidFill>
                  <a:srgbClr val="FF0000"/>
                </a:solidFill>
                <a:ea typeface="华文中宋" pitchFamily="2" charset="-122"/>
              </a:rPr>
              <a:t>异地同时</a:t>
            </a:r>
            <a:r>
              <a:rPr lang="zh-CN" altLang="en-US" sz="1800">
                <a:ea typeface="华文中宋" pitchFamily="2" charset="-122"/>
              </a:rPr>
              <a:t>件事，不具有同时的相对性。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left)">
                                      <p:cBhvr>
                                        <p:cTn id="17" dur="500"/>
                                        <p:tgtEl>
                                          <p:spTgt spid="8">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wipe(left)">
                                      <p:cBhvr>
                                        <p:cTn id="22" dur="500"/>
                                        <p:tgtEl>
                                          <p:spTgt spid="8">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wipe(left)">
                                      <p:cBhvr>
                                        <p:cTn id="27" dur="500"/>
                                        <p:tgtEl>
                                          <p:spTgt spid="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P spid="11" grpId="0" autoUpdateAnimBg="0"/>
      <p:bldP spid="12" grpId="0" autoUpdateAnimBg="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2659" name="Group 35"/>
          <p:cNvGraphicFramePr>
            <a:graphicFrameLocks noGrp="1"/>
          </p:cNvGraphicFramePr>
          <p:nvPr/>
        </p:nvGraphicFramePr>
        <p:xfrm>
          <a:off x="1042988" y="1366838"/>
          <a:ext cx="6792912" cy="844550"/>
        </p:xfrm>
        <a:graphic>
          <a:graphicData uri="http://schemas.openxmlformats.org/drawingml/2006/table">
            <a:tbl>
              <a:tblPr/>
              <a:tblGrid>
                <a:gridCol w="887412"/>
                <a:gridCol w="1439863"/>
                <a:gridCol w="1441450"/>
                <a:gridCol w="1584325"/>
                <a:gridCol w="1439862"/>
              </a:tblGrid>
              <a:tr h="433011">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华文中宋" pitchFamily="2" charset="-122"/>
                        </a:rPr>
                        <a:t>S</a:t>
                      </a: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系</a:t>
                      </a:r>
                    </a:p>
                  </a:txBody>
                  <a:tcPr marL="90000" marR="90000" marT="35166" marB="3516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同时同地</a:t>
                      </a:r>
                    </a:p>
                  </a:txBody>
                  <a:tcPr marL="90000" marR="90000" marT="35166" marB="3516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同时异地</a:t>
                      </a:r>
                    </a:p>
                  </a:txBody>
                  <a:tcPr marL="90000" marR="90000" marT="35166" marB="3516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异时同地</a:t>
                      </a:r>
                    </a:p>
                  </a:txBody>
                  <a:tcPr marL="90000" marR="90000" marT="35166" marB="3516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异时异地</a:t>
                      </a:r>
                    </a:p>
                  </a:txBody>
                  <a:tcPr marL="90000" marR="90000" marT="35166" marB="3516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53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华文中宋" pitchFamily="2" charset="-122"/>
                        </a:rPr>
                        <a:t>S’</a:t>
                      </a:r>
                      <a:r>
                        <a:rPr kumimoji="1" lang="zh-CN" altLang="en-US" sz="1500" b="1" i="0" u="none" strike="noStrike" cap="none" normalizeH="0" baseline="0" smtClean="0">
                          <a:ln>
                            <a:noFill/>
                          </a:ln>
                          <a:solidFill>
                            <a:schemeClr val="tx1"/>
                          </a:solidFill>
                          <a:effectLst/>
                          <a:latin typeface="Times New Roman" pitchFamily="18" charset="0"/>
                          <a:ea typeface="华文中宋" pitchFamily="2" charset="-122"/>
                        </a:rPr>
                        <a:t>系</a:t>
                      </a:r>
                    </a:p>
                  </a:txBody>
                  <a:tcPr marL="90000" marR="90000" marT="35166" marB="3516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smtClean="0">
                          <a:ln>
                            <a:noFill/>
                          </a:ln>
                          <a:solidFill>
                            <a:schemeClr val="tx1"/>
                          </a:solidFill>
                          <a:effectLst/>
                          <a:latin typeface="Times New Roman" pitchFamily="18" charset="0"/>
                          <a:ea typeface="华文中宋" pitchFamily="2" charset="-122"/>
                        </a:rPr>
                        <a:t>同时</a:t>
                      </a:r>
                    </a:p>
                  </a:txBody>
                  <a:tcPr marL="90000" marR="90000" marT="35166" marB="3516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smtClean="0">
                          <a:ln>
                            <a:noFill/>
                          </a:ln>
                          <a:solidFill>
                            <a:schemeClr val="tx1"/>
                          </a:solidFill>
                          <a:effectLst/>
                          <a:latin typeface="Times New Roman" pitchFamily="18" charset="0"/>
                          <a:ea typeface="华文中宋" pitchFamily="2" charset="-122"/>
                        </a:rPr>
                        <a:t>不同时</a:t>
                      </a:r>
                    </a:p>
                  </a:txBody>
                  <a:tcPr marL="90000" marR="90000" marT="35166" marB="3516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smtClean="0">
                          <a:ln>
                            <a:noFill/>
                          </a:ln>
                          <a:solidFill>
                            <a:schemeClr val="tx1"/>
                          </a:solidFill>
                          <a:effectLst/>
                          <a:latin typeface="Times New Roman" pitchFamily="18" charset="0"/>
                          <a:ea typeface="华文中宋" pitchFamily="2" charset="-122"/>
                        </a:rPr>
                        <a:t>不同时</a:t>
                      </a:r>
                    </a:p>
                  </a:txBody>
                  <a:tcPr marL="90000" marR="90000" marT="35166" marB="3516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不能确定</a:t>
                      </a:r>
                    </a:p>
                  </a:txBody>
                  <a:tcPr marL="90000" marR="90000" marT="35166" marB="3516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5078" name="Rectangle 31"/>
          <p:cNvSpPr>
            <a:spLocks noChangeArrowheads="1"/>
          </p:cNvSpPr>
          <p:nvPr/>
        </p:nvSpPr>
        <p:spPr bwMode="auto">
          <a:xfrm>
            <a:off x="611188" y="954088"/>
            <a:ext cx="51847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在两个惯性系</a:t>
            </a:r>
            <a:r>
              <a:rPr lang="zh-CN" altLang="en-US" sz="1800">
                <a:solidFill>
                  <a:srgbClr val="FF0000"/>
                </a:solidFill>
                <a:ea typeface="华文中宋" pitchFamily="2" charset="-122"/>
              </a:rPr>
              <a:t>相对运动的方向上</a:t>
            </a:r>
          </a:p>
        </p:txBody>
      </p:sp>
      <p:sp>
        <p:nvSpPr>
          <p:cNvPr id="282656" name="Rectangle 32"/>
          <p:cNvSpPr>
            <a:spLocks noChangeArrowheads="1"/>
          </p:cNvSpPr>
          <p:nvPr/>
        </p:nvSpPr>
        <p:spPr bwMode="auto">
          <a:xfrm>
            <a:off x="395288" y="2452688"/>
            <a:ext cx="83820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000FF"/>
                </a:solidFill>
                <a:ea typeface="华文中宋" pitchFamily="2" charset="-122"/>
              </a:rPr>
              <a:t>例 关于同时性有人提出以下一些结论，其中哪个是正确的？ </a:t>
            </a:r>
            <a:endParaRPr lang="en-US" altLang="zh-CN" sz="1800">
              <a:solidFill>
                <a:srgbClr val="0000FF"/>
              </a:solidFill>
              <a:ea typeface="华文中宋" pitchFamily="2" charset="-122"/>
            </a:endParaRPr>
          </a:p>
          <a:p>
            <a:endParaRPr lang="zh-CN" altLang="en-US" sz="1800">
              <a:solidFill>
                <a:srgbClr val="0000FF"/>
              </a:solidFill>
              <a:ea typeface="华文中宋" pitchFamily="2" charset="-122"/>
            </a:endParaRPr>
          </a:p>
          <a:p>
            <a:r>
              <a:rPr lang="zh-CN" altLang="en-US" sz="1600">
                <a:ea typeface="华文中宋" pitchFamily="2" charset="-122"/>
              </a:rPr>
              <a:t>（Ａ）在一惯性系同时发生的两个事件，在另一惯性系一定不同时发生； </a:t>
            </a:r>
          </a:p>
          <a:p>
            <a:r>
              <a:rPr lang="zh-CN" altLang="en-US" sz="1600">
                <a:ea typeface="华文中宋" pitchFamily="2" charset="-122"/>
              </a:rPr>
              <a:t>（Ｂ）在一惯性系不同地点同时发生的两个事件，在另一惯性系一定同时发生；</a:t>
            </a:r>
          </a:p>
          <a:p>
            <a:r>
              <a:rPr lang="zh-CN" altLang="en-US" sz="1600">
                <a:ea typeface="华文中宋" pitchFamily="2" charset="-122"/>
              </a:rPr>
              <a:t>（Ｃ）在一惯性系同一地点同时发生的两个事件，在另一惯性系一定同时发生；</a:t>
            </a:r>
          </a:p>
          <a:p>
            <a:r>
              <a:rPr lang="zh-CN" altLang="en-US" sz="1600">
                <a:ea typeface="华文中宋" pitchFamily="2" charset="-122"/>
              </a:rPr>
              <a:t>（Ｄ）在一惯性系不同地点不同时发生的两个事件，在另一惯性系一定不同时发生。</a:t>
            </a:r>
          </a:p>
        </p:txBody>
      </p:sp>
      <p:sp>
        <p:nvSpPr>
          <p:cNvPr id="282657" name="Rectangle 33"/>
          <p:cNvSpPr>
            <a:spLocks noChangeArrowheads="1"/>
          </p:cNvSpPr>
          <p:nvPr/>
        </p:nvSpPr>
        <p:spPr bwMode="auto">
          <a:xfrm>
            <a:off x="3665538" y="4217988"/>
            <a:ext cx="1411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答：选 </a:t>
            </a:r>
            <a:r>
              <a:rPr lang="en-US" altLang="zh-CN" sz="1800">
                <a:ea typeface="华文中宋" pitchFamily="2" charset="-122"/>
              </a:rPr>
              <a: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82659"/>
                                        </p:tgtEl>
                                        <p:attrNameLst>
                                          <p:attrName>style.visibility</p:attrName>
                                        </p:attrNameLst>
                                      </p:cBhvr>
                                      <p:to>
                                        <p:strVal val="visible"/>
                                      </p:to>
                                    </p:set>
                                    <p:animEffect transition="in" filter="blinds(horizontal)">
                                      <p:cBhvr>
                                        <p:cTn id="7" dur="500"/>
                                        <p:tgtEl>
                                          <p:spTgt spid="2826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82656"/>
                                        </p:tgtEl>
                                        <p:attrNameLst>
                                          <p:attrName>style.visibility</p:attrName>
                                        </p:attrNameLst>
                                      </p:cBhvr>
                                      <p:to>
                                        <p:strVal val="visible"/>
                                      </p:to>
                                    </p:set>
                                    <p:animEffect transition="in" filter="slide(fromBottom)">
                                      <p:cBhvr>
                                        <p:cTn id="12" dur="500"/>
                                        <p:tgtEl>
                                          <p:spTgt spid="282656"/>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82657"/>
                                        </p:tgtEl>
                                        <p:attrNameLst>
                                          <p:attrName>style.visibility</p:attrName>
                                        </p:attrNameLst>
                                      </p:cBhvr>
                                      <p:to>
                                        <p:strVal val="visible"/>
                                      </p:to>
                                    </p:set>
                                    <p:animEffect transition="in" filter="slide(fromBottom)">
                                      <p:cBhvr>
                                        <p:cTn id="17" dur="500"/>
                                        <p:tgtEl>
                                          <p:spTgt spid="282657"/>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56" grpId="0" autoUpdateAnimBg="0"/>
      <p:bldP spid="28265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Text Box 3"/>
          <p:cNvSpPr txBox="1">
            <a:spLocks noChangeArrowheads="1"/>
          </p:cNvSpPr>
          <p:nvPr/>
        </p:nvSpPr>
        <p:spPr bwMode="auto">
          <a:xfrm>
            <a:off x="1116013" y="1706563"/>
            <a:ext cx="595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S’</a:t>
            </a:r>
            <a:r>
              <a:rPr lang="zh-CN" altLang="en-US" sz="1800">
                <a:ea typeface="华文中宋" pitchFamily="2" charset="-122"/>
              </a:rPr>
              <a:t>系中，尺静止，测得静止时的</a:t>
            </a:r>
            <a:r>
              <a:rPr lang="zh-CN" altLang="en-US" sz="1800">
                <a:solidFill>
                  <a:srgbClr val="FF0000"/>
                </a:solidFill>
                <a:ea typeface="华文中宋" pitchFamily="2" charset="-122"/>
              </a:rPr>
              <a:t>固有长度</a:t>
            </a:r>
            <a:r>
              <a:rPr lang="zh-CN" altLang="en-US" sz="1800">
                <a:ea typeface="华文中宋" pitchFamily="2" charset="-122"/>
              </a:rPr>
              <a:t>：</a:t>
            </a:r>
          </a:p>
        </p:txBody>
      </p:sp>
      <p:graphicFrame>
        <p:nvGraphicFramePr>
          <p:cNvPr id="47108" name="Object 4"/>
          <p:cNvGraphicFramePr>
            <a:graphicFrameLocks noChangeAspect="1"/>
          </p:cNvGraphicFramePr>
          <p:nvPr/>
        </p:nvGraphicFramePr>
        <p:xfrm>
          <a:off x="3419475" y="2016125"/>
          <a:ext cx="1765300" cy="411163"/>
        </p:xfrm>
        <a:graphic>
          <a:graphicData uri="http://schemas.openxmlformats.org/presentationml/2006/ole">
            <mc:AlternateContent xmlns:mc="http://schemas.openxmlformats.org/markup-compatibility/2006">
              <mc:Choice xmlns:v="urn:schemas-microsoft-com:vml" Requires="v">
                <p:oleObj spid="_x0000_s46139" name="公式" r:id="rId5" imgW="545626" imgH="177646" progId="Equation.3">
                  <p:embed/>
                </p:oleObj>
              </mc:Choice>
              <mc:Fallback>
                <p:oleObj name="公式" r:id="rId5" imgW="545626" imgH="17764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2016125"/>
                        <a:ext cx="1765300" cy="411163"/>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09" name="Object 5"/>
          <p:cNvGraphicFramePr>
            <a:graphicFrameLocks noChangeAspect="1"/>
          </p:cNvGraphicFramePr>
          <p:nvPr/>
        </p:nvGraphicFramePr>
        <p:xfrm>
          <a:off x="2268538" y="3159125"/>
          <a:ext cx="1522412" cy="685800"/>
        </p:xfrm>
        <a:graphic>
          <a:graphicData uri="http://schemas.openxmlformats.org/presentationml/2006/ole">
            <mc:AlternateContent xmlns:mc="http://schemas.openxmlformats.org/markup-compatibility/2006">
              <mc:Choice xmlns:v="urn:schemas-microsoft-com:vml" Requires="v">
                <p:oleObj spid="_x0000_s46140" name="公式" r:id="rId7" imgW="634725" imgH="380835" progId="Equation.3">
                  <p:embed/>
                </p:oleObj>
              </mc:Choice>
              <mc:Fallback>
                <p:oleObj name="公式" r:id="rId7" imgW="634725" imgH="38083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3159125"/>
                        <a:ext cx="1522412" cy="68580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10" name="Object 6"/>
          <p:cNvGraphicFramePr>
            <a:graphicFrameLocks noChangeAspect="1"/>
          </p:cNvGraphicFramePr>
          <p:nvPr/>
        </p:nvGraphicFramePr>
        <p:xfrm>
          <a:off x="4367213" y="3148013"/>
          <a:ext cx="1546225" cy="679450"/>
        </p:xfrm>
        <a:graphic>
          <a:graphicData uri="http://schemas.openxmlformats.org/presentationml/2006/ole">
            <mc:AlternateContent xmlns:mc="http://schemas.openxmlformats.org/markup-compatibility/2006">
              <mc:Choice xmlns:v="urn:schemas-microsoft-com:vml" Requires="v">
                <p:oleObj spid="_x0000_s46141" name="公式" r:id="rId9" imgW="647700" imgH="381000" progId="Equation.3">
                  <p:embed/>
                </p:oleObj>
              </mc:Choice>
              <mc:Fallback>
                <p:oleObj name="公式" r:id="rId9" imgW="647700" imgH="3810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67213" y="3148013"/>
                        <a:ext cx="1546225" cy="67945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1" name="Rectangle 7"/>
          <p:cNvSpPr>
            <a:spLocks noChangeArrowheads="1"/>
          </p:cNvSpPr>
          <p:nvPr/>
        </p:nvSpPr>
        <p:spPr bwMode="auto">
          <a:xfrm>
            <a:off x="395288" y="3292475"/>
            <a:ext cx="1873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由洛仑兹变换有</a:t>
            </a:r>
          </a:p>
        </p:txBody>
      </p:sp>
      <p:grpSp>
        <p:nvGrpSpPr>
          <p:cNvPr id="2" name="Group 56"/>
          <p:cNvGrpSpPr>
            <a:grpSpLocks/>
          </p:cNvGrpSpPr>
          <p:nvPr/>
        </p:nvGrpSpPr>
        <p:grpSpPr bwMode="auto">
          <a:xfrm>
            <a:off x="3406775" y="700088"/>
            <a:ext cx="5486400" cy="982662"/>
            <a:chOff x="1020" y="482"/>
            <a:chExt cx="3456" cy="826"/>
          </a:xfrm>
        </p:grpSpPr>
        <p:graphicFrame>
          <p:nvGraphicFramePr>
            <p:cNvPr id="46108" name="Object 21"/>
            <p:cNvGraphicFramePr>
              <a:graphicFrameLocks noChangeAspect="1"/>
            </p:cNvGraphicFramePr>
            <p:nvPr/>
          </p:nvGraphicFramePr>
          <p:xfrm>
            <a:off x="1376" y="540"/>
            <a:ext cx="130" cy="168"/>
          </p:xfrm>
          <a:graphic>
            <a:graphicData uri="http://schemas.openxmlformats.org/presentationml/2006/ole">
              <mc:AlternateContent xmlns:mc="http://schemas.openxmlformats.org/markup-compatibility/2006">
                <mc:Choice xmlns:v="urn:schemas-microsoft-com:vml" Requires="v">
                  <p:oleObj spid="_x0000_s46142" name="公式" r:id="rId11" imgW="177646" imgH="228402" progId="Equation.3">
                    <p:embed/>
                  </p:oleObj>
                </mc:Choice>
                <mc:Fallback>
                  <p:oleObj name="公式" r:id="rId11" imgW="177646" imgH="228402"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76" y="540"/>
                          <a:ext cx="130" cy="168"/>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109" name="Group 44"/>
            <p:cNvGrpSpPr>
              <a:grpSpLocks/>
            </p:cNvGrpSpPr>
            <p:nvPr/>
          </p:nvGrpSpPr>
          <p:grpSpPr bwMode="auto">
            <a:xfrm>
              <a:off x="1020" y="482"/>
              <a:ext cx="3456" cy="826"/>
              <a:chOff x="1079" y="346"/>
              <a:chExt cx="3456" cy="826"/>
            </a:xfrm>
          </p:grpSpPr>
          <p:grpSp>
            <p:nvGrpSpPr>
              <p:cNvPr id="46110" name="Group 12"/>
              <p:cNvGrpSpPr>
                <a:grpSpLocks/>
              </p:cNvGrpSpPr>
              <p:nvPr/>
            </p:nvGrpSpPr>
            <p:grpSpPr bwMode="auto">
              <a:xfrm>
                <a:off x="1079" y="418"/>
                <a:ext cx="3384" cy="754"/>
                <a:chOff x="2517" y="10240"/>
                <a:chExt cx="2980" cy="1100"/>
              </a:xfrm>
            </p:grpSpPr>
            <p:sp>
              <p:nvSpPr>
                <p:cNvPr id="46122" name="Line 13"/>
                <p:cNvSpPr>
                  <a:spLocks noChangeShapeType="1"/>
                </p:cNvSpPr>
                <p:nvPr/>
              </p:nvSpPr>
              <p:spPr bwMode="auto">
                <a:xfrm flipV="1">
                  <a:off x="2977" y="10240"/>
                  <a:ext cx="0" cy="78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23" name="Line 14"/>
                <p:cNvSpPr>
                  <a:spLocks noChangeShapeType="1"/>
                </p:cNvSpPr>
                <p:nvPr/>
              </p:nvSpPr>
              <p:spPr bwMode="auto">
                <a:xfrm>
                  <a:off x="2957" y="11020"/>
                  <a:ext cx="254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24" name="Line 15"/>
                <p:cNvSpPr>
                  <a:spLocks noChangeShapeType="1"/>
                </p:cNvSpPr>
                <p:nvPr/>
              </p:nvSpPr>
              <p:spPr bwMode="auto">
                <a:xfrm flipH="1">
                  <a:off x="2517" y="11020"/>
                  <a:ext cx="460" cy="32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6111" name="Group 16"/>
              <p:cNvGrpSpPr>
                <a:grpSpLocks/>
              </p:cNvGrpSpPr>
              <p:nvPr/>
            </p:nvGrpSpPr>
            <p:grpSpPr bwMode="auto">
              <a:xfrm>
                <a:off x="1383" y="356"/>
                <a:ext cx="3152" cy="754"/>
                <a:chOff x="2517" y="10240"/>
                <a:chExt cx="2980" cy="1100"/>
              </a:xfrm>
            </p:grpSpPr>
            <p:sp>
              <p:nvSpPr>
                <p:cNvPr id="46119" name="Line 17"/>
                <p:cNvSpPr>
                  <a:spLocks noChangeShapeType="1"/>
                </p:cNvSpPr>
                <p:nvPr/>
              </p:nvSpPr>
              <p:spPr bwMode="auto">
                <a:xfrm flipV="1">
                  <a:off x="2977" y="10240"/>
                  <a:ext cx="0" cy="78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20" name="Line 18"/>
                <p:cNvSpPr>
                  <a:spLocks noChangeShapeType="1"/>
                </p:cNvSpPr>
                <p:nvPr/>
              </p:nvSpPr>
              <p:spPr bwMode="auto">
                <a:xfrm>
                  <a:off x="2957" y="11020"/>
                  <a:ext cx="2540" cy="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21" name="Line 19"/>
                <p:cNvSpPr>
                  <a:spLocks noChangeShapeType="1"/>
                </p:cNvSpPr>
                <p:nvPr/>
              </p:nvSpPr>
              <p:spPr bwMode="auto">
                <a:xfrm flipH="1">
                  <a:off x="2517" y="11020"/>
                  <a:ext cx="460" cy="320"/>
                </a:xfrm>
                <a:prstGeom prst="line">
                  <a:avLst/>
                </a:prstGeom>
                <a:noFill/>
                <a:ln w="1905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6112" name="Rectangle 20"/>
              <p:cNvSpPr>
                <a:spLocks noChangeArrowheads="1"/>
              </p:cNvSpPr>
              <p:nvPr/>
            </p:nvSpPr>
            <p:spPr bwMode="auto">
              <a:xfrm>
                <a:off x="2341" y="788"/>
                <a:ext cx="1777" cy="89"/>
              </a:xfrm>
              <a:prstGeom prst="rect">
                <a:avLst/>
              </a:prstGeom>
              <a:solidFill>
                <a:srgbClr val="FF9900"/>
              </a:solidFill>
              <a:ln w="9525">
                <a:solidFill>
                  <a:srgbClr val="000000"/>
                </a:solidFill>
                <a:miter lim="800000"/>
                <a:headEnd/>
                <a:tailEnd/>
              </a:ln>
            </p:spPr>
            <p:txBody>
              <a:bodyPr/>
              <a:lstStyle/>
              <a:p>
                <a:endParaRPr lang="zh-CN" altLang="en-US"/>
              </a:p>
            </p:txBody>
          </p:sp>
          <p:graphicFrame>
            <p:nvGraphicFramePr>
              <p:cNvPr id="46113" name="Object 22"/>
              <p:cNvGraphicFramePr>
                <a:graphicFrameLocks noChangeAspect="1"/>
              </p:cNvGraphicFramePr>
              <p:nvPr/>
            </p:nvGraphicFramePr>
            <p:xfrm>
              <a:off x="1891" y="404"/>
              <a:ext cx="173" cy="182"/>
            </p:xfrm>
            <a:graphic>
              <a:graphicData uri="http://schemas.openxmlformats.org/presentationml/2006/ole">
                <mc:AlternateContent xmlns:mc="http://schemas.openxmlformats.org/markup-compatibility/2006">
                  <mc:Choice xmlns:v="urn:schemas-microsoft-com:vml" Requires="v">
                    <p:oleObj spid="_x0000_s46143" name="公式" r:id="rId13" imgW="241195" imgH="253890" progId="Equation.3">
                      <p:embed/>
                    </p:oleObj>
                  </mc:Choice>
                  <mc:Fallback>
                    <p:oleObj name="公式" r:id="rId13" imgW="241195" imgH="253890"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1" y="404"/>
                            <a:ext cx="173" cy="182"/>
                          </a:xfrm>
                          <a:prstGeom prst="rect">
                            <a:avLst/>
                          </a:prstGeom>
                          <a:noFill/>
                          <a:ln>
                            <a:noFill/>
                          </a:ln>
                          <a:effectLst/>
                          <a:extLst>
                            <a:ext uri="{909E8E84-426E-40DD-AFC4-6F175D3DCCD1}">
                              <a14:hiddenFill xmlns:a14="http://schemas.microsoft.com/office/drawing/2010/main">
                                <a:solidFill>
                                  <a:srgbClr val="33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14" name="Object 23"/>
              <p:cNvGraphicFramePr>
                <a:graphicFrameLocks noChangeAspect="1"/>
              </p:cNvGraphicFramePr>
              <p:nvPr/>
            </p:nvGraphicFramePr>
            <p:xfrm>
              <a:off x="2200" y="475"/>
              <a:ext cx="363" cy="279"/>
            </p:xfrm>
            <a:graphic>
              <a:graphicData uri="http://schemas.openxmlformats.org/presentationml/2006/ole">
                <mc:AlternateContent xmlns:mc="http://schemas.openxmlformats.org/markup-compatibility/2006">
                  <mc:Choice xmlns:v="urn:schemas-microsoft-com:vml" Requires="v">
                    <p:oleObj spid="_x0000_s46144" name="公式" r:id="rId15" imgW="152268" imgH="164957" progId="Equation.3">
                      <p:embed/>
                    </p:oleObj>
                  </mc:Choice>
                  <mc:Fallback>
                    <p:oleObj name="公式" r:id="rId15" imgW="152268" imgH="164957"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00" y="475"/>
                            <a:ext cx="363"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15" name="Object 24"/>
              <p:cNvGraphicFramePr>
                <a:graphicFrameLocks noChangeAspect="1"/>
              </p:cNvGraphicFramePr>
              <p:nvPr/>
            </p:nvGraphicFramePr>
            <p:xfrm>
              <a:off x="3923" y="493"/>
              <a:ext cx="363" cy="261"/>
            </p:xfrm>
            <a:graphic>
              <a:graphicData uri="http://schemas.openxmlformats.org/presentationml/2006/ole">
                <mc:AlternateContent xmlns:mc="http://schemas.openxmlformats.org/markup-compatibility/2006">
                  <mc:Choice xmlns:v="urn:schemas-microsoft-com:vml" Requires="v">
                    <p:oleObj spid="_x0000_s46145" name="Equation" r:id="rId17" imgW="152268" imgH="164957" progId="Equation.DSMT4">
                      <p:embed/>
                    </p:oleObj>
                  </mc:Choice>
                  <mc:Fallback>
                    <p:oleObj name="Equation" r:id="rId17" imgW="152268" imgH="164957" progId="Equation.DSMT4">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23" y="493"/>
                            <a:ext cx="363" cy="2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6116" name="Group 25"/>
              <p:cNvGrpSpPr>
                <a:grpSpLocks/>
              </p:cNvGrpSpPr>
              <p:nvPr/>
            </p:nvGrpSpPr>
            <p:grpSpPr bwMode="auto">
              <a:xfrm>
                <a:off x="2744" y="346"/>
                <a:ext cx="1000" cy="272"/>
                <a:chOff x="2112" y="1120"/>
                <a:chExt cx="1000" cy="272"/>
              </a:xfrm>
            </p:grpSpPr>
            <p:sp>
              <p:nvSpPr>
                <p:cNvPr id="46117" name="Line 26"/>
                <p:cNvSpPr>
                  <a:spLocks noChangeShapeType="1"/>
                </p:cNvSpPr>
                <p:nvPr/>
              </p:nvSpPr>
              <p:spPr bwMode="auto">
                <a:xfrm>
                  <a:off x="2112" y="1296"/>
                  <a:ext cx="72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118" name="Text Box 27"/>
                <p:cNvSpPr txBox="1">
                  <a:spLocks noChangeArrowheads="1"/>
                </p:cNvSpPr>
                <p:nvPr/>
              </p:nvSpPr>
              <p:spPr bwMode="auto">
                <a:xfrm>
                  <a:off x="2928" y="1120"/>
                  <a:ext cx="18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ea typeface="宋体" pitchFamily="2" charset="-122"/>
                    </a:rPr>
                    <a:t>u</a:t>
                  </a:r>
                </a:p>
              </p:txBody>
            </p:sp>
          </p:grpSp>
        </p:grpSp>
      </p:grpSp>
      <p:graphicFrame>
        <p:nvGraphicFramePr>
          <p:cNvPr id="47133" name="Object 29"/>
          <p:cNvGraphicFramePr>
            <a:graphicFrameLocks noChangeAspect="1"/>
          </p:cNvGraphicFramePr>
          <p:nvPr/>
        </p:nvGraphicFramePr>
        <p:xfrm>
          <a:off x="1724025" y="3957638"/>
          <a:ext cx="1514475" cy="395287"/>
        </p:xfrm>
        <a:graphic>
          <a:graphicData uri="http://schemas.openxmlformats.org/presentationml/2006/ole">
            <mc:AlternateContent xmlns:mc="http://schemas.openxmlformats.org/markup-compatibility/2006">
              <mc:Choice xmlns:v="urn:schemas-microsoft-com:vml" Requires="v">
                <p:oleObj spid="_x0000_s46146" name="公式" r:id="rId19" imgW="545626" imgH="177646" progId="Equation.3">
                  <p:embed/>
                </p:oleObj>
              </mc:Choice>
              <mc:Fallback>
                <p:oleObj name="公式" r:id="rId19" imgW="545626" imgH="177646" progId="Equation.3">
                  <p:embed/>
                  <p:pic>
                    <p:nvPicPr>
                      <p:cNvPr id="0" name="Object 2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24025" y="3957638"/>
                        <a:ext cx="1514475" cy="395287"/>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Group 45"/>
          <p:cNvGrpSpPr>
            <a:grpSpLocks/>
          </p:cNvGrpSpPr>
          <p:nvPr/>
        </p:nvGrpSpPr>
        <p:grpSpPr bwMode="auto">
          <a:xfrm>
            <a:off x="5257800" y="1401763"/>
            <a:ext cx="3143250" cy="377825"/>
            <a:chOff x="2245" y="1162"/>
            <a:chExt cx="1980" cy="317"/>
          </a:xfrm>
        </p:grpSpPr>
        <p:grpSp>
          <p:nvGrpSpPr>
            <p:cNvPr id="46102" name="Group 38"/>
            <p:cNvGrpSpPr>
              <a:grpSpLocks/>
            </p:cNvGrpSpPr>
            <p:nvPr/>
          </p:nvGrpSpPr>
          <p:grpSpPr bwMode="auto">
            <a:xfrm>
              <a:off x="2344" y="1162"/>
              <a:ext cx="1784" cy="48"/>
              <a:chOff x="2344" y="920"/>
              <a:chExt cx="1784" cy="48"/>
            </a:xfrm>
          </p:grpSpPr>
          <p:sp>
            <p:nvSpPr>
              <p:cNvPr id="46106" name="Line 31"/>
              <p:cNvSpPr>
                <a:spLocks noChangeShapeType="1"/>
              </p:cNvSpPr>
              <p:nvPr/>
            </p:nvSpPr>
            <p:spPr bwMode="auto">
              <a:xfrm>
                <a:off x="2344" y="920"/>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107" name="Line 32"/>
              <p:cNvSpPr>
                <a:spLocks noChangeShapeType="1"/>
              </p:cNvSpPr>
              <p:nvPr/>
            </p:nvSpPr>
            <p:spPr bwMode="auto">
              <a:xfrm>
                <a:off x="4128" y="920"/>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6103" name="Group 37"/>
            <p:cNvGrpSpPr>
              <a:grpSpLocks/>
            </p:cNvGrpSpPr>
            <p:nvPr/>
          </p:nvGrpSpPr>
          <p:grpSpPr bwMode="auto">
            <a:xfrm>
              <a:off x="2245" y="1207"/>
              <a:ext cx="1980" cy="272"/>
              <a:chOff x="2256" y="1050"/>
              <a:chExt cx="1980" cy="272"/>
            </a:xfrm>
          </p:grpSpPr>
          <p:graphicFrame>
            <p:nvGraphicFramePr>
              <p:cNvPr id="46104" name="Object 35"/>
              <p:cNvGraphicFramePr>
                <a:graphicFrameLocks noChangeAspect="1"/>
              </p:cNvGraphicFramePr>
              <p:nvPr/>
            </p:nvGraphicFramePr>
            <p:xfrm>
              <a:off x="2256" y="1050"/>
              <a:ext cx="252" cy="272"/>
            </p:xfrm>
            <a:graphic>
              <a:graphicData uri="http://schemas.openxmlformats.org/presentationml/2006/ole">
                <mc:AlternateContent xmlns:mc="http://schemas.openxmlformats.org/markup-compatibility/2006">
                  <mc:Choice xmlns:v="urn:schemas-microsoft-com:vml" Requires="v">
                    <p:oleObj spid="_x0000_s46147" name="公式" r:id="rId21" imgW="152268" imgH="164957" progId="Equation.3">
                      <p:embed/>
                    </p:oleObj>
                  </mc:Choice>
                  <mc:Fallback>
                    <p:oleObj name="公式" r:id="rId21" imgW="152268" imgH="164957" progId="Equation.3">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256" y="1050"/>
                            <a:ext cx="25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05" name="Object 36"/>
              <p:cNvGraphicFramePr>
                <a:graphicFrameLocks noChangeAspect="1"/>
              </p:cNvGraphicFramePr>
              <p:nvPr/>
            </p:nvGraphicFramePr>
            <p:xfrm>
              <a:off x="3984" y="1050"/>
              <a:ext cx="252" cy="272"/>
            </p:xfrm>
            <a:graphic>
              <a:graphicData uri="http://schemas.openxmlformats.org/presentationml/2006/ole">
                <mc:AlternateContent xmlns:mc="http://schemas.openxmlformats.org/markup-compatibility/2006">
                  <mc:Choice xmlns:v="urn:schemas-microsoft-com:vml" Requires="v">
                    <p:oleObj spid="_x0000_s46148" name="公式" r:id="rId23" imgW="152268" imgH="164957" progId="Equation.3">
                      <p:embed/>
                    </p:oleObj>
                  </mc:Choice>
                  <mc:Fallback>
                    <p:oleObj name="公式" r:id="rId23" imgW="152268" imgH="164957" progId="Equation.3">
                      <p:embed/>
                      <p:pic>
                        <p:nvPicPr>
                          <p:cNvPr id="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84" y="1050"/>
                            <a:ext cx="25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aphicFrame>
        <p:nvGraphicFramePr>
          <p:cNvPr id="47146" name="Object 42"/>
          <p:cNvGraphicFramePr>
            <a:graphicFrameLocks noChangeAspect="1"/>
          </p:cNvGraphicFramePr>
          <p:nvPr/>
        </p:nvGraphicFramePr>
        <p:xfrm>
          <a:off x="3167063" y="3867150"/>
          <a:ext cx="1273175" cy="765175"/>
        </p:xfrm>
        <a:graphic>
          <a:graphicData uri="http://schemas.openxmlformats.org/presentationml/2006/ole">
            <mc:AlternateContent xmlns:mc="http://schemas.openxmlformats.org/markup-compatibility/2006">
              <mc:Choice xmlns:v="urn:schemas-microsoft-com:vml" Requires="v">
                <p:oleObj spid="_x0000_s46149" name="公式" r:id="rId25" imgW="508000" imgH="381000" progId="Equation.3">
                  <p:embed/>
                </p:oleObj>
              </mc:Choice>
              <mc:Fallback>
                <p:oleObj name="公式" r:id="rId25" imgW="508000" imgH="381000" progId="Equation.3">
                  <p:embed/>
                  <p:pic>
                    <p:nvPicPr>
                      <p:cNvPr id="0" name="Object 4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67063" y="3867150"/>
                        <a:ext cx="1273175" cy="765175"/>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47" name="Object 43"/>
          <p:cNvGraphicFramePr>
            <a:graphicFrameLocks noChangeAspect="1"/>
          </p:cNvGraphicFramePr>
          <p:nvPr/>
        </p:nvGraphicFramePr>
        <p:xfrm>
          <a:off x="4391025" y="3867150"/>
          <a:ext cx="1333500" cy="798513"/>
        </p:xfrm>
        <a:graphic>
          <a:graphicData uri="http://schemas.openxmlformats.org/presentationml/2006/ole">
            <mc:AlternateContent xmlns:mc="http://schemas.openxmlformats.org/markup-compatibility/2006">
              <mc:Choice xmlns:v="urn:schemas-microsoft-com:vml" Requires="v">
                <p:oleObj spid="_x0000_s46150" name="公式" r:id="rId27" imgW="508000" imgH="381000" progId="Equation.3">
                  <p:embed/>
                </p:oleObj>
              </mc:Choice>
              <mc:Fallback>
                <p:oleObj name="公式" r:id="rId27" imgW="508000" imgH="381000" progId="Equation.3">
                  <p:embed/>
                  <p:pic>
                    <p:nvPicPr>
                      <p:cNvPr id="0" name="Object 4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91025" y="3867150"/>
                        <a:ext cx="1333500" cy="798513"/>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52" name="Object 48"/>
          <p:cNvGraphicFramePr>
            <a:graphicFrameLocks noChangeAspect="1"/>
          </p:cNvGraphicFramePr>
          <p:nvPr/>
        </p:nvGraphicFramePr>
        <p:xfrm>
          <a:off x="3492500" y="2730500"/>
          <a:ext cx="1643063" cy="382588"/>
        </p:xfrm>
        <a:graphic>
          <a:graphicData uri="http://schemas.openxmlformats.org/presentationml/2006/ole">
            <mc:AlternateContent xmlns:mc="http://schemas.openxmlformats.org/markup-compatibility/2006">
              <mc:Choice xmlns:v="urn:schemas-microsoft-com:vml" Requires="v">
                <p:oleObj spid="_x0000_s46151" name="公式" r:id="rId29" imgW="507780" imgH="165028" progId="Equation.3">
                  <p:embed/>
                </p:oleObj>
              </mc:Choice>
              <mc:Fallback>
                <p:oleObj name="公式" r:id="rId29" imgW="507780" imgH="165028" progId="Equation.3">
                  <p:embed/>
                  <p:pic>
                    <p:nvPicPr>
                      <p:cNvPr id="0" name="Object 4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492500" y="2730500"/>
                        <a:ext cx="1643063" cy="382588"/>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0" name="Group 50"/>
          <p:cNvGrpSpPr>
            <a:grpSpLocks/>
          </p:cNvGrpSpPr>
          <p:nvPr/>
        </p:nvGrpSpPr>
        <p:grpSpPr bwMode="auto">
          <a:xfrm>
            <a:off x="1116013" y="2409825"/>
            <a:ext cx="5240337" cy="368300"/>
            <a:chOff x="748" y="2024"/>
            <a:chExt cx="3301" cy="310"/>
          </a:xfrm>
        </p:grpSpPr>
        <p:sp>
          <p:nvSpPr>
            <p:cNvPr id="46100" name="Text Box 47"/>
            <p:cNvSpPr txBox="1">
              <a:spLocks noChangeArrowheads="1"/>
            </p:cNvSpPr>
            <p:nvPr/>
          </p:nvSpPr>
          <p:spPr bwMode="auto">
            <a:xfrm>
              <a:off x="748" y="2024"/>
              <a:ext cx="330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S</a:t>
              </a:r>
              <a:r>
                <a:rPr lang="zh-CN" altLang="en-US" sz="1800">
                  <a:ea typeface="华文中宋" pitchFamily="2" charset="-122"/>
                </a:rPr>
                <a:t>系中，尺运动，要求测量要同时，即</a:t>
              </a:r>
            </a:p>
          </p:txBody>
        </p:sp>
        <p:graphicFrame>
          <p:nvGraphicFramePr>
            <p:cNvPr id="46101" name="Object 49"/>
            <p:cNvGraphicFramePr>
              <a:graphicFrameLocks noChangeAspect="1"/>
            </p:cNvGraphicFramePr>
            <p:nvPr/>
          </p:nvGraphicFramePr>
          <p:xfrm>
            <a:off x="3243" y="2024"/>
            <a:ext cx="544" cy="306"/>
          </p:xfrm>
          <a:graphic>
            <a:graphicData uri="http://schemas.openxmlformats.org/presentationml/2006/ole">
              <mc:AlternateContent xmlns:mc="http://schemas.openxmlformats.org/markup-compatibility/2006">
                <mc:Choice xmlns:v="urn:schemas-microsoft-com:vml" Requires="v">
                  <p:oleObj spid="_x0000_s46152" name="Equation" r:id="rId31" imgW="406224" imgH="228501" progId="Equation.DSMT4">
                    <p:embed/>
                  </p:oleObj>
                </mc:Choice>
                <mc:Fallback>
                  <p:oleObj name="Equation" r:id="rId31" imgW="406224" imgH="228501" progId="Equation.DSMT4">
                    <p:embed/>
                    <p:pic>
                      <p:nvPicPr>
                        <p:cNvPr id="0" name="Object 4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243" y="2024"/>
                          <a:ext cx="544"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 name="Group 55"/>
          <p:cNvGrpSpPr>
            <a:grpSpLocks/>
          </p:cNvGrpSpPr>
          <p:nvPr/>
        </p:nvGrpSpPr>
        <p:grpSpPr bwMode="auto">
          <a:xfrm>
            <a:off x="6011863" y="2139950"/>
            <a:ext cx="3024187" cy="2160588"/>
            <a:chOff x="3470" y="2341"/>
            <a:chExt cx="2177" cy="1988"/>
          </a:xfrm>
        </p:grpSpPr>
        <p:grpSp>
          <p:nvGrpSpPr>
            <p:cNvPr id="46096" name="Group 54"/>
            <p:cNvGrpSpPr>
              <a:grpSpLocks/>
            </p:cNvGrpSpPr>
            <p:nvPr/>
          </p:nvGrpSpPr>
          <p:grpSpPr bwMode="auto">
            <a:xfrm>
              <a:off x="3470" y="2341"/>
              <a:ext cx="2177" cy="1724"/>
              <a:chOff x="3470" y="2341"/>
              <a:chExt cx="2177" cy="1724"/>
            </a:xfrm>
          </p:grpSpPr>
          <p:pic>
            <p:nvPicPr>
              <p:cNvPr id="46098" name="Picture 5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3470" y="2341"/>
                <a:ext cx="2162" cy="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9" name="Picture 5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470" y="3203"/>
                <a:ext cx="2177" cy="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6097" name="Rectangle 53"/>
            <p:cNvSpPr>
              <a:spLocks noChangeArrowheads="1"/>
            </p:cNvSpPr>
            <p:nvPr/>
          </p:nvSpPr>
          <p:spPr bwMode="auto">
            <a:xfrm>
              <a:off x="3651" y="4032"/>
              <a:ext cx="1920"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a:ea typeface="华文中宋" pitchFamily="2" charset="-122"/>
                </a:rPr>
                <a:t>刻舟求剑</a:t>
              </a:r>
            </a:p>
          </p:txBody>
        </p:sp>
      </p:grpSp>
      <p:sp>
        <p:nvSpPr>
          <p:cNvPr id="46095" name="Text Box 2"/>
          <p:cNvSpPr>
            <a:spLocks noChangeArrowheads="1"/>
          </p:cNvSpPr>
          <p:nvPr/>
        </p:nvSpPr>
        <p:spPr bwMode="auto">
          <a:xfrm>
            <a:off x="439738" y="936625"/>
            <a:ext cx="3411537" cy="339725"/>
          </a:xfrm>
          <a:prstGeom prst="homePlate">
            <a:avLst>
              <a:gd name="adj" fmla="val 49699"/>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solidFill>
                  <a:schemeClr val="bg1"/>
                </a:solidFill>
                <a:latin typeface="华文中宋" pitchFamily="2" charset="-122"/>
                <a:ea typeface="华文中宋" pitchFamily="2" charset="-122"/>
              </a:rPr>
              <a:t>二、长度的相对性（“动尺缩短”）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07"/>
                                        </p:tgtEl>
                                        <p:attrNameLst>
                                          <p:attrName>style.visibility</p:attrName>
                                        </p:attrNameLst>
                                      </p:cBhvr>
                                      <p:to>
                                        <p:strVal val="visible"/>
                                      </p:to>
                                    </p:set>
                                    <p:animEffect transition="in" filter="blinds(horizontal)">
                                      <p:cBhvr>
                                        <p:cTn id="12" dur="500"/>
                                        <p:tgtEl>
                                          <p:spTgt spid="47107"/>
                                        </p:tgtEl>
                                      </p:cBhvr>
                                    </p:animEffect>
                                  </p:childTnLst>
                                </p:cTn>
                              </p:par>
                              <p:par>
                                <p:cTn id="13" presetID="3" presetClass="entr" presetSubtype="10" fill="hold" nodeType="withEffect">
                                  <p:stCondLst>
                                    <p:cond delay="0"/>
                                  </p:stCondLst>
                                  <p:childTnLst>
                                    <p:set>
                                      <p:cBhvr>
                                        <p:cTn id="14" dur="1" fill="hold">
                                          <p:stCondLst>
                                            <p:cond delay="0"/>
                                          </p:stCondLst>
                                        </p:cTn>
                                        <p:tgtEl>
                                          <p:spTgt spid="47108"/>
                                        </p:tgtEl>
                                        <p:attrNameLst>
                                          <p:attrName>style.visibility</p:attrName>
                                        </p:attrNameLst>
                                      </p:cBhvr>
                                      <p:to>
                                        <p:strVal val="visible"/>
                                      </p:to>
                                    </p:set>
                                    <p:animEffect transition="in" filter="blinds(horizontal)">
                                      <p:cBhvr>
                                        <p:cTn id="15" dur="500"/>
                                        <p:tgtEl>
                                          <p:spTgt spid="4710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linds(horizontal)">
                                      <p:cBhvr>
                                        <p:cTn id="30" dur="500"/>
                                        <p:tgtEl>
                                          <p:spTgt spid="1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7152"/>
                                        </p:tgtEl>
                                        <p:attrNameLst>
                                          <p:attrName>style.visibility</p:attrName>
                                        </p:attrNameLst>
                                      </p:cBhvr>
                                      <p:to>
                                        <p:strVal val="visible"/>
                                      </p:to>
                                    </p:set>
                                    <p:animEffect transition="in" filter="blinds(horizontal)">
                                      <p:cBhvr>
                                        <p:cTn id="35" dur="500"/>
                                        <p:tgtEl>
                                          <p:spTgt spid="4715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47111"/>
                                        </p:tgtEl>
                                        <p:attrNameLst>
                                          <p:attrName>style.visibility</p:attrName>
                                        </p:attrNameLst>
                                      </p:cBhvr>
                                      <p:to>
                                        <p:strVal val="visible"/>
                                      </p:to>
                                    </p:set>
                                    <p:anim calcmode="lin" valueType="num">
                                      <p:cBhvr>
                                        <p:cTn id="40" dur="500" fill="hold"/>
                                        <p:tgtEl>
                                          <p:spTgt spid="47111"/>
                                        </p:tgtEl>
                                        <p:attrNameLst>
                                          <p:attrName>ppt_w</p:attrName>
                                        </p:attrNameLst>
                                      </p:cBhvr>
                                      <p:tavLst>
                                        <p:tav tm="0">
                                          <p:val>
                                            <p:fltVal val="0"/>
                                          </p:val>
                                        </p:tav>
                                        <p:tav tm="100000">
                                          <p:val>
                                            <p:strVal val="#ppt_w"/>
                                          </p:val>
                                        </p:tav>
                                      </p:tavLst>
                                    </p:anim>
                                    <p:anim calcmode="lin" valueType="num">
                                      <p:cBhvr>
                                        <p:cTn id="41" dur="500" fill="hold"/>
                                        <p:tgtEl>
                                          <p:spTgt spid="471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4" name="TYPE.WAV"/>
                                        </p:tgtEl>
                                      </p:cMediaNode>
                                    </p:audio>
                                  </p:subTnLst>
                                </p:cTn>
                              </p:par>
                            </p:childTnLst>
                          </p:cTn>
                        </p:par>
                      </p:childTnLst>
                    </p:cTn>
                  </p:par>
                  <p:par>
                    <p:cTn id="42" fill="hold" nodeType="clickPar">
                      <p:stCondLst>
                        <p:cond delay="indefinite"/>
                      </p:stCondLst>
                      <p:childTnLst>
                        <p:par>
                          <p:cTn id="43" fill="hold" nodeType="withGroup">
                            <p:stCondLst>
                              <p:cond delay="0"/>
                            </p:stCondLst>
                            <p:childTnLst>
                              <p:par>
                                <p:cTn id="44" presetID="17" presetClass="entr" presetSubtype="10" fill="hold" nodeType="clickEffect">
                                  <p:stCondLst>
                                    <p:cond delay="0"/>
                                  </p:stCondLst>
                                  <p:childTnLst>
                                    <p:set>
                                      <p:cBhvr>
                                        <p:cTn id="45" dur="1" fill="hold">
                                          <p:stCondLst>
                                            <p:cond delay="0"/>
                                          </p:stCondLst>
                                        </p:cTn>
                                        <p:tgtEl>
                                          <p:spTgt spid="47109"/>
                                        </p:tgtEl>
                                        <p:attrNameLst>
                                          <p:attrName>style.visibility</p:attrName>
                                        </p:attrNameLst>
                                      </p:cBhvr>
                                      <p:to>
                                        <p:strVal val="visible"/>
                                      </p:to>
                                    </p:set>
                                    <p:anim calcmode="lin" valueType="num">
                                      <p:cBhvr>
                                        <p:cTn id="46" dur="500" fill="hold"/>
                                        <p:tgtEl>
                                          <p:spTgt spid="47109"/>
                                        </p:tgtEl>
                                        <p:attrNameLst>
                                          <p:attrName>ppt_w</p:attrName>
                                        </p:attrNameLst>
                                      </p:cBhvr>
                                      <p:tavLst>
                                        <p:tav tm="0">
                                          <p:val>
                                            <p:fltVal val="0"/>
                                          </p:val>
                                        </p:tav>
                                        <p:tav tm="100000">
                                          <p:val>
                                            <p:strVal val="#ppt_w"/>
                                          </p:val>
                                        </p:tav>
                                      </p:tavLst>
                                    </p:anim>
                                    <p:anim calcmode="lin" valueType="num">
                                      <p:cBhvr>
                                        <p:cTn id="47" dur="500" fill="hold"/>
                                        <p:tgtEl>
                                          <p:spTgt spid="47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4" name="TYPE.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17" presetClass="entr" presetSubtype="10" fill="hold" nodeType="clickEffect">
                                  <p:stCondLst>
                                    <p:cond delay="0"/>
                                  </p:stCondLst>
                                  <p:childTnLst>
                                    <p:set>
                                      <p:cBhvr>
                                        <p:cTn id="51" dur="1" fill="hold">
                                          <p:stCondLst>
                                            <p:cond delay="0"/>
                                          </p:stCondLst>
                                        </p:cTn>
                                        <p:tgtEl>
                                          <p:spTgt spid="47110"/>
                                        </p:tgtEl>
                                        <p:attrNameLst>
                                          <p:attrName>style.visibility</p:attrName>
                                        </p:attrNameLst>
                                      </p:cBhvr>
                                      <p:to>
                                        <p:strVal val="visible"/>
                                      </p:to>
                                    </p:set>
                                    <p:anim calcmode="lin" valueType="num">
                                      <p:cBhvr>
                                        <p:cTn id="52" dur="500" fill="hold"/>
                                        <p:tgtEl>
                                          <p:spTgt spid="47110"/>
                                        </p:tgtEl>
                                        <p:attrNameLst>
                                          <p:attrName>ppt_w</p:attrName>
                                        </p:attrNameLst>
                                      </p:cBhvr>
                                      <p:tavLst>
                                        <p:tav tm="0">
                                          <p:val>
                                            <p:fltVal val="0"/>
                                          </p:val>
                                        </p:tav>
                                        <p:tav tm="100000">
                                          <p:val>
                                            <p:strVal val="#ppt_w"/>
                                          </p:val>
                                        </p:tav>
                                      </p:tavLst>
                                    </p:anim>
                                    <p:anim calcmode="lin" valueType="num">
                                      <p:cBhvr>
                                        <p:cTn id="53" dur="500" fill="hold"/>
                                        <p:tgtEl>
                                          <p:spTgt spid="471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TYPE.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10" fill="hold" nodeType="clickEffect">
                                  <p:stCondLst>
                                    <p:cond delay="0"/>
                                  </p:stCondLst>
                                  <p:childTnLst>
                                    <p:set>
                                      <p:cBhvr>
                                        <p:cTn id="57" dur="1" fill="hold">
                                          <p:stCondLst>
                                            <p:cond delay="0"/>
                                          </p:stCondLst>
                                        </p:cTn>
                                        <p:tgtEl>
                                          <p:spTgt spid="47133"/>
                                        </p:tgtEl>
                                        <p:attrNameLst>
                                          <p:attrName>style.visibility</p:attrName>
                                        </p:attrNameLst>
                                      </p:cBhvr>
                                      <p:to>
                                        <p:strVal val="visible"/>
                                      </p:to>
                                    </p:set>
                                    <p:anim calcmode="lin" valueType="num">
                                      <p:cBhvr>
                                        <p:cTn id="58" dur="500" fill="hold"/>
                                        <p:tgtEl>
                                          <p:spTgt spid="47133"/>
                                        </p:tgtEl>
                                        <p:attrNameLst>
                                          <p:attrName>ppt_w</p:attrName>
                                        </p:attrNameLst>
                                      </p:cBhvr>
                                      <p:tavLst>
                                        <p:tav tm="0">
                                          <p:val>
                                            <p:fltVal val="0"/>
                                          </p:val>
                                        </p:tav>
                                        <p:tav tm="100000">
                                          <p:val>
                                            <p:strVal val="#ppt_w"/>
                                          </p:val>
                                        </p:tav>
                                      </p:tavLst>
                                    </p:anim>
                                    <p:anim calcmode="lin" valueType="num">
                                      <p:cBhvr>
                                        <p:cTn id="59" dur="500" fill="hold"/>
                                        <p:tgtEl>
                                          <p:spTgt spid="47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4" name="TYPE.WAV"/>
                                        </p:tgtEl>
                                      </p:cMediaNode>
                                    </p:audio>
                                  </p:sub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10" fill="hold" nodeType="clickEffect">
                                  <p:stCondLst>
                                    <p:cond delay="0"/>
                                  </p:stCondLst>
                                  <p:childTnLst>
                                    <p:set>
                                      <p:cBhvr>
                                        <p:cTn id="63" dur="1" fill="hold">
                                          <p:stCondLst>
                                            <p:cond delay="0"/>
                                          </p:stCondLst>
                                        </p:cTn>
                                        <p:tgtEl>
                                          <p:spTgt spid="47146"/>
                                        </p:tgtEl>
                                        <p:attrNameLst>
                                          <p:attrName>style.visibility</p:attrName>
                                        </p:attrNameLst>
                                      </p:cBhvr>
                                      <p:to>
                                        <p:strVal val="visible"/>
                                      </p:to>
                                    </p:set>
                                    <p:anim calcmode="lin" valueType="num">
                                      <p:cBhvr>
                                        <p:cTn id="64" dur="500" fill="hold"/>
                                        <p:tgtEl>
                                          <p:spTgt spid="47146"/>
                                        </p:tgtEl>
                                        <p:attrNameLst>
                                          <p:attrName>ppt_w</p:attrName>
                                        </p:attrNameLst>
                                      </p:cBhvr>
                                      <p:tavLst>
                                        <p:tav tm="0">
                                          <p:val>
                                            <p:fltVal val="0"/>
                                          </p:val>
                                        </p:tav>
                                        <p:tav tm="100000">
                                          <p:val>
                                            <p:strVal val="#ppt_w"/>
                                          </p:val>
                                        </p:tav>
                                      </p:tavLst>
                                    </p:anim>
                                    <p:anim calcmode="lin" valueType="num">
                                      <p:cBhvr>
                                        <p:cTn id="65" dur="500" fill="hold"/>
                                        <p:tgtEl>
                                          <p:spTgt spid="4714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TYPE.WAV"/>
                                        </p:tgtEl>
                                      </p:cMediaNode>
                                    </p:audio>
                                  </p:subTnLst>
                                </p:cTn>
                              </p:par>
                            </p:childTnLst>
                          </p:cTn>
                        </p:par>
                      </p:childTnLst>
                    </p:cTn>
                  </p:par>
                  <p:par>
                    <p:cTn id="66" fill="hold" nodeType="clickPar">
                      <p:stCondLst>
                        <p:cond delay="indefinite"/>
                      </p:stCondLst>
                      <p:childTnLst>
                        <p:par>
                          <p:cTn id="67" fill="hold" nodeType="withGroup">
                            <p:stCondLst>
                              <p:cond delay="0"/>
                            </p:stCondLst>
                            <p:childTnLst>
                              <p:par>
                                <p:cTn id="68" presetID="17" presetClass="entr" presetSubtype="10" fill="hold" nodeType="clickEffect">
                                  <p:stCondLst>
                                    <p:cond delay="0"/>
                                  </p:stCondLst>
                                  <p:childTnLst>
                                    <p:set>
                                      <p:cBhvr>
                                        <p:cTn id="69" dur="1" fill="hold">
                                          <p:stCondLst>
                                            <p:cond delay="0"/>
                                          </p:stCondLst>
                                        </p:cTn>
                                        <p:tgtEl>
                                          <p:spTgt spid="47147"/>
                                        </p:tgtEl>
                                        <p:attrNameLst>
                                          <p:attrName>style.visibility</p:attrName>
                                        </p:attrNameLst>
                                      </p:cBhvr>
                                      <p:to>
                                        <p:strVal val="visible"/>
                                      </p:to>
                                    </p:set>
                                    <p:anim calcmode="lin" valueType="num">
                                      <p:cBhvr>
                                        <p:cTn id="70" dur="500" fill="hold"/>
                                        <p:tgtEl>
                                          <p:spTgt spid="47147"/>
                                        </p:tgtEl>
                                        <p:attrNameLst>
                                          <p:attrName>ppt_w</p:attrName>
                                        </p:attrNameLst>
                                      </p:cBhvr>
                                      <p:tavLst>
                                        <p:tav tm="0">
                                          <p:val>
                                            <p:fltVal val="0"/>
                                          </p:val>
                                        </p:tav>
                                        <p:tav tm="100000">
                                          <p:val>
                                            <p:strVal val="#ppt_w"/>
                                          </p:val>
                                        </p:tav>
                                      </p:tavLst>
                                    </p:anim>
                                    <p:anim calcmode="lin" valueType="num">
                                      <p:cBhvr>
                                        <p:cTn id="71" dur="500" fill="hold"/>
                                        <p:tgtEl>
                                          <p:spTgt spid="4714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p:bldP spid="47111"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nvGraphicFramePr>
        <p:xfrm>
          <a:off x="3373438" y="838200"/>
          <a:ext cx="1846262" cy="509588"/>
        </p:xfrm>
        <a:graphic>
          <a:graphicData uri="http://schemas.openxmlformats.org/presentationml/2006/ole">
            <mc:AlternateContent xmlns:mc="http://schemas.openxmlformats.org/markup-compatibility/2006">
              <mc:Choice xmlns:v="urn:schemas-microsoft-com:vml" Requires="v">
                <p:oleObj spid="_x0000_s47165" name="公式" r:id="rId5" imgW="634725" imgH="241195" progId="Equation.3">
                  <p:embed/>
                </p:oleObj>
              </mc:Choice>
              <mc:Fallback>
                <p:oleObj name="公式" r:id="rId5" imgW="634725" imgH="241195"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3438" y="838200"/>
                        <a:ext cx="1846262" cy="5095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2" name="Rectangle 4"/>
          <p:cNvSpPr>
            <a:spLocks noChangeArrowheads="1"/>
          </p:cNvSpPr>
          <p:nvPr/>
        </p:nvSpPr>
        <p:spPr bwMode="auto">
          <a:xfrm>
            <a:off x="381000" y="2049463"/>
            <a:ext cx="8439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1600">
                <a:ea typeface="华文中宋" pitchFamily="2" charset="-122"/>
              </a:rPr>
              <a:t>（</a:t>
            </a:r>
            <a:r>
              <a:rPr lang="en-US" altLang="zh-CN" sz="1600">
                <a:ea typeface="华文中宋" pitchFamily="2" charset="-122"/>
              </a:rPr>
              <a:t>2</a:t>
            </a:r>
            <a:r>
              <a:rPr lang="zh-CN" altLang="en-US" sz="1600">
                <a:ea typeface="华文中宋" pitchFamily="2" charset="-122"/>
              </a:rPr>
              <a:t>）这种效应仅发生在运动方向上，在其他方向上没有这种效应；</a:t>
            </a:r>
          </a:p>
        </p:txBody>
      </p:sp>
      <p:sp>
        <p:nvSpPr>
          <p:cNvPr id="48133" name="Rectangle 5"/>
          <p:cNvSpPr>
            <a:spLocks noChangeArrowheads="1"/>
          </p:cNvSpPr>
          <p:nvPr/>
        </p:nvSpPr>
        <p:spPr bwMode="auto">
          <a:xfrm>
            <a:off x="354013" y="1449388"/>
            <a:ext cx="8610600" cy="585787"/>
          </a:xfrm>
          <a:prstGeom prst="rect">
            <a:avLst/>
          </a:prstGeom>
          <a:noFill/>
          <a:ln w="9525">
            <a:noFill/>
            <a:miter lim="800000"/>
            <a:headEnd/>
            <a:tailEnd/>
          </a:ln>
          <a:effectLst/>
        </p:spPr>
        <p:txBody>
          <a:bodyPr>
            <a:spAutoFit/>
          </a:bodyPr>
          <a:lstStyle/>
          <a:p>
            <a:pPr>
              <a:defRPr/>
            </a:pPr>
            <a:r>
              <a:rPr lang="zh-CN" altLang="en-US" sz="1600" dirty="0">
                <a:ea typeface="华文中宋" pitchFamily="2" charset="-122"/>
              </a:rPr>
              <a:t>（</a:t>
            </a:r>
            <a:r>
              <a:rPr lang="en-US" altLang="zh-CN" sz="1600" dirty="0">
                <a:ea typeface="华文中宋" pitchFamily="2" charset="-122"/>
              </a:rPr>
              <a:t>1</a:t>
            </a:r>
            <a:r>
              <a:rPr lang="zh-CN" altLang="en-US" sz="1600" dirty="0">
                <a:ea typeface="华文中宋" pitchFamily="2" charset="-122"/>
              </a:rPr>
              <a:t>）式中</a:t>
            </a:r>
            <a:r>
              <a:rPr lang="en-US" altLang="zh-CN" sz="1600" i="1" dirty="0">
                <a:ea typeface="华文中宋" pitchFamily="2" charset="-122"/>
              </a:rPr>
              <a:t>l</a:t>
            </a:r>
            <a:r>
              <a:rPr lang="en-US" altLang="zh-CN" sz="1600" baseline="-25000" dirty="0">
                <a:ea typeface="华文中宋" pitchFamily="2" charset="-122"/>
              </a:rPr>
              <a:t>0</a:t>
            </a:r>
            <a:r>
              <a:rPr lang="en-US" altLang="zh-CN" sz="1600" i="1" dirty="0">
                <a:ea typeface="华文中宋" pitchFamily="2" charset="-122"/>
              </a:rPr>
              <a:t> </a:t>
            </a:r>
            <a:r>
              <a:rPr lang="zh-CN" altLang="en-US" sz="1600" dirty="0">
                <a:ea typeface="华文中宋" pitchFamily="2" charset="-122"/>
              </a:rPr>
              <a:t>是相对于物体静止的观察者测得的物体的长度，我们称之为物体的</a:t>
            </a:r>
            <a:r>
              <a:rPr lang="zh-CN" altLang="en-US" sz="1600" dirty="0">
                <a:solidFill>
                  <a:srgbClr val="FF0000"/>
                </a:solidFill>
                <a:effectLst>
                  <a:outerShdw blurRad="38100" dist="38100" dir="2700000" algn="tl">
                    <a:srgbClr val="C0C0C0"/>
                  </a:outerShdw>
                </a:effectLst>
                <a:ea typeface="华文中宋" pitchFamily="2" charset="-122"/>
              </a:rPr>
              <a:t>本征长度</a:t>
            </a:r>
            <a:r>
              <a:rPr lang="zh-CN" altLang="en-US" sz="1600" dirty="0">
                <a:solidFill>
                  <a:srgbClr val="0000FF"/>
                </a:solidFill>
                <a:ea typeface="华文中宋" pitchFamily="2" charset="-122"/>
              </a:rPr>
              <a:t>（或称</a:t>
            </a:r>
            <a:r>
              <a:rPr lang="zh-CN" altLang="en-US" sz="1600" dirty="0">
                <a:solidFill>
                  <a:srgbClr val="FF0000"/>
                </a:solidFill>
                <a:ea typeface="华文中宋" pitchFamily="2" charset="-122"/>
              </a:rPr>
              <a:t>固有长度</a:t>
            </a:r>
            <a:r>
              <a:rPr lang="zh-CN" altLang="en-US" sz="1600" dirty="0">
                <a:solidFill>
                  <a:srgbClr val="0000FF"/>
                </a:solidFill>
                <a:ea typeface="华文中宋" pitchFamily="2" charset="-122"/>
              </a:rPr>
              <a:t>）</a:t>
            </a:r>
            <a:r>
              <a:rPr lang="zh-CN" altLang="en-US" sz="1600" dirty="0">
                <a:ea typeface="华文中宋" pitchFamily="2" charset="-122"/>
              </a:rPr>
              <a:t>；</a:t>
            </a:r>
            <a:r>
              <a:rPr lang="zh-CN" altLang="en-US" sz="1600" b="0" dirty="0">
                <a:ea typeface="华文中宋" pitchFamily="2" charset="-122"/>
              </a:rPr>
              <a:t> </a:t>
            </a:r>
          </a:p>
        </p:txBody>
      </p:sp>
      <p:sp>
        <p:nvSpPr>
          <p:cNvPr id="48134" name="Text Box 6"/>
          <p:cNvSpPr txBox="1">
            <a:spLocks noChangeArrowheads="1"/>
          </p:cNvSpPr>
          <p:nvPr/>
        </p:nvSpPr>
        <p:spPr bwMode="auto">
          <a:xfrm>
            <a:off x="395288" y="2403475"/>
            <a:ext cx="8683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ea typeface="华文中宋" pitchFamily="2" charset="-122"/>
              </a:rPr>
              <a:t>（</a:t>
            </a:r>
            <a:r>
              <a:rPr lang="en-US" altLang="zh-CN" sz="1600">
                <a:ea typeface="华文中宋" pitchFamily="2" charset="-122"/>
              </a:rPr>
              <a:t>3</a:t>
            </a:r>
            <a:r>
              <a:rPr lang="zh-CN" altLang="en-US" sz="1600">
                <a:ea typeface="华文中宋" pitchFamily="2" charset="-122"/>
              </a:rPr>
              <a:t>）如果把运动的长棒本身看成参照系，则“动尺缩短”效应，说明空间是物质的属性，空间的性质与物质的运动状况有关；</a:t>
            </a:r>
          </a:p>
        </p:txBody>
      </p:sp>
      <p:sp>
        <p:nvSpPr>
          <p:cNvPr id="48139" name="Rectangle 11"/>
          <p:cNvSpPr>
            <a:spLocks noChangeArrowheads="1"/>
          </p:cNvSpPr>
          <p:nvPr/>
        </p:nvSpPr>
        <p:spPr bwMode="auto">
          <a:xfrm>
            <a:off x="395288" y="3003550"/>
            <a:ext cx="74501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1600">
                <a:ea typeface="华文中宋" pitchFamily="2" charset="-122"/>
              </a:rPr>
              <a:t>（</a:t>
            </a:r>
            <a:r>
              <a:rPr lang="en-US" altLang="zh-CN" sz="1600">
                <a:ea typeface="华文中宋" pitchFamily="2" charset="-122"/>
              </a:rPr>
              <a:t>4</a:t>
            </a:r>
            <a:r>
              <a:rPr lang="zh-CN" altLang="en-US" sz="1600">
                <a:ea typeface="华文中宋" pitchFamily="2" charset="-122"/>
              </a:rPr>
              <a:t>）这种效应是相对的：</a:t>
            </a:r>
          </a:p>
        </p:txBody>
      </p:sp>
      <p:sp>
        <p:nvSpPr>
          <p:cNvPr id="48140" name="Rectangle 12"/>
          <p:cNvSpPr>
            <a:spLocks noChangeArrowheads="1"/>
          </p:cNvSpPr>
          <p:nvPr/>
        </p:nvSpPr>
        <p:spPr bwMode="auto">
          <a:xfrm>
            <a:off x="323850" y="1065213"/>
            <a:ext cx="24495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solidFill>
                  <a:srgbClr val="FF0000"/>
                </a:solidFill>
                <a:ea typeface="华文中宋" pitchFamily="2" charset="-122"/>
              </a:rPr>
              <a:t>说明： </a:t>
            </a:r>
          </a:p>
        </p:txBody>
      </p:sp>
      <p:grpSp>
        <p:nvGrpSpPr>
          <p:cNvPr id="2" name="Group 374"/>
          <p:cNvGrpSpPr>
            <a:grpSpLocks/>
          </p:cNvGrpSpPr>
          <p:nvPr/>
        </p:nvGrpSpPr>
        <p:grpSpPr bwMode="auto">
          <a:xfrm>
            <a:off x="261938" y="3232150"/>
            <a:ext cx="2503487" cy="1022350"/>
            <a:chOff x="1907" y="2135"/>
            <a:chExt cx="1577" cy="860"/>
          </a:xfrm>
        </p:grpSpPr>
        <p:sp>
          <p:nvSpPr>
            <p:cNvPr id="47150" name="Line 314"/>
            <p:cNvSpPr>
              <a:spLocks noChangeShapeType="1"/>
            </p:cNvSpPr>
            <p:nvPr/>
          </p:nvSpPr>
          <p:spPr bwMode="auto">
            <a:xfrm>
              <a:off x="2209" y="2467"/>
              <a:ext cx="1230"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1" name="Rectangle 315" descr="栎木"/>
            <p:cNvSpPr>
              <a:spLocks noChangeArrowheads="1"/>
            </p:cNvSpPr>
            <p:nvPr/>
          </p:nvSpPr>
          <p:spPr bwMode="auto">
            <a:xfrm>
              <a:off x="2451" y="2349"/>
              <a:ext cx="716" cy="90"/>
            </a:xfrm>
            <a:prstGeom prst="rect">
              <a:avLst/>
            </a:prstGeom>
            <a:blipFill dpi="0" rotWithShape="1">
              <a:blip r:embed="rId7"/>
              <a:srcRect/>
              <a:tile tx="0" ty="0" sx="100000" sy="100000" flip="none" algn="tl"/>
            </a:blipFill>
            <a:ln w="9525">
              <a:solidFill>
                <a:schemeClr val="tx1"/>
              </a:solidFill>
              <a:miter lim="800000"/>
              <a:headEnd/>
              <a:tailEnd/>
            </a:ln>
          </p:spPr>
          <p:txBody>
            <a:bodyPr wrap="none" anchor="ctr"/>
            <a:lstStyle/>
            <a:p>
              <a:endParaRPr kumimoji="0" lang="zh-CN" altLang="zh-CN" sz="1800">
                <a:ea typeface="宋体" pitchFamily="2" charset="-122"/>
              </a:endParaRPr>
            </a:p>
          </p:txBody>
        </p:sp>
        <p:sp>
          <p:nvSpPr>
            <p:cNvPr id="47152" name="Text Box 317"/>
            <p:cNvSpPr txBox="1">
              <a:spLocks noChangeArrowheads="1"/>
            </p:cNvSpPr>
            <p:nvPr/>
          </p:nvSpPr>
          <p:spPr bwMode="auto">
            <a:xfrm>
              <a:off x="2398" y="2160"/>
              <a:ext cx="24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i="1" baseline="30000">
                  <a:ea typeface="宋体" pitchFamily="2" charset="-122"/>
                </a:rPr>
                <a:t>/</a:t>
              </a:r>
              <a:r>
                <a:rPr kumimoji="0" lang="en-US" altLang="zh-CN" sz="1500" baseline="-25000">
                  <a:ea typeface="宋体" pitchFamily="2" charset="-122"/>
                </a:rPr>
                <a:t>1</a:t>
              </a:r>
            </a:p>
          </p:txBody>
        </p:sp>
        <p:sp>
          <p:nvSpPr>
            <p:cNvPr id="47153" name="Text Box 318"/>
            <p:cNvSpPr txBox="1">
              <a:spLocks noChangeArrowheads="1"/>
            </p:cNvSpPr>
            <p:nvPr/>
          </p:nvSpPr>
          <p:spPr bwMode="auto">
            <a:xfrm>
              <a:off x="3022" y="2156"/>
              <a:ext cx="24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i="1" baseline="30000">
                  <a:ea typeface="宋体" pitchFamily="2" charset="-122"/>
                </a:rPr>
                <a:t>/</a:t>
              </a:r>
              <a:r>
                <a:rPr kumimoji="0" lang="en-US" altLang="zh-CN" sz="1500" baseline="-25000">
                  <a:ea typeface="宋体" pitchFamily="2" charset="-122"/>
                </a:rPr>
                <a:t>2</a:t>
              </a:r>
              <a:endParaRPr kumimoji="0" lang="en-US" altLang="zh-CN" sz="1500">
                <a:ea typeface="宋体" pitchFamily="2" charset="-122"/>
              </a:endParaRPr>
            </a:p>
          </p:txBody>
        </p:sp>
        <p:sp>
          <p:nvSpPr>
            <p:cNvPr id="47154" name="Line 320"/>
            <p:cNvSpPr>
              <a:spLocks noChangeShapeType="1"/>
            </p:cNvSpPr>
            <p:nvPr/>
          </p:nvSpPr>
          <p:spPr bwMode="auto">
            <a:xfrm>
              <a:off x="2070" y="2758"/>
              <a:ext cx="1414"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5" name="Text Box 322"/>
            <p:cNvSpPr txBox="1">
              <a:spLocks noChangeArrowheads="1"/>
            </p:cNvSpPr>
            <p:nvPr/>
          </p:nvSpPr>
          <p:spPr bwMode="auto">
            <a:xfrm>
              <a:off x="2343" y="2723"/>
              <a:ext cx="21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baseline="-25000">
                  <a:ea typeface="宋体" pitchFamily="2" charset="-122"/>
                </a:rPr>
                <a:t>1</a:t>
              </a:r>
              <a:endParaRPr kumimoji="0" lang="en-US" altLang="zh-CN" sz="1500">
                <a:ea typeface="宋体" pitchFamily="2" charset="-122"/>
              </a:endParaRPr>
            </a:p>
          </p:txBody>
        </p:sp>
        <p:sp>
          <p:nvSpPr>
            <p:cNvPr id="47156" name="Text Box 323"/>
            <p:cNvSpPr txBox="1">
              <a:spLocks noChangeArrowheads="1"/>
            </p:cNvSpPr>
            <p:nvPr/>
          </p:nvSpPr>
          <p:spPr bwMode="auto">
            <a:xfrm>
              <a:off x="3075" y="2723"/>
              <a:ext cx="217"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baseline="-25000">
                  <a:ea typeface="宋体" pitchFamily="2" charset="-122"/>
                </a:rPr>
                <a:t>2</a:t>
              </a:r>
              <a:endParaRPr kumimoji="0" lang="en-US" altLang="zh-CN" sz="1500">
                <a:ea typeface="宋体" pitchFamily="2" charset="-122"/>
              </a:endParaRPr>
            </a:p>
          </p:txBody>
        </p:sp>
        <p:sp>
          <p:nvSpPr>
            <p:cNvPr id="47157" name="Line 325"/>
            <p:cNvSpPr>
              <a:spLocks noChangeShapeType="1"/>
            </p:cNvSpPr>
            <p:nvPr/>
          </p:nvSpPr>
          <p:spPr bwMode="auto">
            <a:xfrm flipV="1">
              <a:off x="2207" y="2174"/>
              <a:ext cx="0" cy="289"/>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8" name="Text Box 326"/>
            <p:cNvSpPr txBox="1">
              <a:spLocks noChangeArrowheads="1"/>
            </p:cNvSpPr>
            <p:nvPr/>
          </p:nvSpPr>
          <p:spPr bwMode="auto">
            <a:xfrm>
              <a:off x="1992" y="2135"/>
              <a:ext cx="20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S</a:t>
              </a:r>
              <a:r>
                <a:rPr kumimoji="0" lang="en-US" altLang="zh-CN" sz="1500" i="1" baseline="30000">
                  <a:ea typeface="宋体" pitchFamily="2" charset="-122"/>
                </a:rPr>
                <a:t>/</a:t>
              </a:r>
            </a:p>
          </p:txBody>
        </p:sp>
        <p:sp>
          <p:nvSpPr>
            <p:cNvPr id="47159" name="Line 327"/>
            <p:cNvSpPr>
              <a:spLocks noChangeShapeType="1"/>
            </p:cNvSpPr>
            <p:nvPr/>
          </p:nvSpPr>
          <p:spPr bwMode="auto">
            <a:xfrm flipV="1">
              <a:off x="2070" y="2495"/>
              <a:ext cx="0" cy="264"/>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0" name="Line 328"/>
            <p:cNvSpPr>
              <a:spLocks noChangeShapeType="1"/>
            </p:cNvSpPr>
            <p:nvPr/>
          </p:nvSpPr>
          <p:spPr bwMode="auto">
            <a:xfrm>
              <a:off x="2449" y="2463"/>
              <a:ext cx="0" cy="29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1" name="Line 329"/>
            <p:cNvSpPr>
              <a:spLocks noChangeShapeType="1"/>
            </p:cNvSpPr>
            <p:nvPr/>
          </p:nvSpPr>
          <p:spPr bwMode="auto">
            <a:xfrm>
              <a:off x="3165" y="2441"/>
              <a:ext cx="0" cy="31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2" name="Text Box 330"/>
            <p:cNvSpPr txBox="1">
              <a:spLocks noChangeArrowheads="1"/>
            </p:cNvSpPr>
            <p:nvPr/>
          </p:nvSpPr>
          <p:spPr bwMode="auto">
            <a:xfrm>
              <a:off x="1907" y="2393"/>
              <a:ext cx="18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S</a:t>
              </a:r>
              <a:endParaRPr kumimoji="0" lang="en-US" altLang="zh-CN" sz="1500" i="1" baseline="30000">
                <a:ea typeface="宋体" pitchFamily="2" charset="-122"/>
              </a:endParaRPr>
            </a:p>
          </p:txBody>
        </p:sp>
        <p:sp>
          <p:nvSpPr>
            <p:cNvPr id="47163" name="Rectangle 333" descr="栎木"/>
            <p:cNvSpPr>
              <a:spLocks noChangeArrowheads="1"/>
            </p:cNvSpPr>
            <p:nvPr/>
          </p:nvSpPr>
          <p:spPr bwMode="auto">
            <a:xfrm>
              <a:off x="2451" y="2657"/>
              <a:ext cx="716" cy="89"/>
            </a:xfrm>
            <a:prstGeom prst="rect">
              <a:avLst/>
            </a:prstGeom>
            <a:blipFill dpi="0" rotWithShape="1">
              <a:blip r:embed="rId7"/>
              <a:srcRect/>
              <a:tile tx="0" ty="0" sx="100000" sy="100000" flip="none" algn="tl"/>
            </a:blipFill>
            <a:ln w="9525">
              <a:solidFill>
                <a:schemeClr val="tx1"/>
              </a:solidFill>
              <a:miter lim="800000"/>
              <a:headEnd/>
              <a:tailEnd/>
            </a:ln>
          </p:spPr>
          <p:txBody>
            <a:bodyPr wrap="none" anchor="ctr"/>
            <a:lstStyle/>
            <a:p>
              <a:endParaRPr kumimoji="0" lang="zh-CN" altLang="zh-CN" sz="1800">
                <a:ea typeface="宋体" pitchFamily="2" charset="-122"/>
              </a:endParaRPr>
            </a:p>
          </p:txBody>
        </p:sp>
      </p:grpSp>
      <p:sp>
        <p:nvSpPr>
          <p:cNvPr id="48156" name="Rectangle 28"/>
          <p:cNvSpPr>
            <a:spLocks noChangeArrowheads="1"/>
          </p:cNvSpPr>
          <p:nvPr/>
        </p:nvSpPr>
        <p:spPr bwMode="auto">
          <a:xfrm>
            <a:off x="692150" y="4241800"/>
            <a:ext cx="165735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500">
                <a:solidFill>
                  <a:srgbClr val="0000FF"/>
                </a:solidFill>
                <a:ea typeface="华文中宋" pitchFamily="2" charset="-122"/>
              </a:rPr>
              <a:t>相对静止</a:t>
            </a:r>
          </a:p>
        </p:txBody>
      </p:sp>
      <p:grpSp>
        <p:nvGrpSpPr>
          <p:cNvPr id="3" name="Group 391"/>
          <p:cNvGrpSpPr>
            <a:grpSpLocks/>
          </p:cNvGrpSpPr>
          <p:nvPr/>
        </p:nvGrpSpPr>
        <p:grpSpPr bwMode="auto">
          <a:xfrm>
            <a:off x="3141663" y="3503613"/>
            <a:ext cx="2058987" cy="719137"/>
            <a:chOff x="645" y="3231"/>
            <a:chExt cx="1297" cy="604"/>
          </a:xfrm>
        </p:grpSpPr>
        <p:sp>
          <p:nvSpPr>
            <p:cNvPr id="47142" name="Text Box 392"/>
            <p:cNvSpPr txBox="1">
              <a:spLocks noChangeArrowheads="1"/>
            </p:cNvSpPr>
            <p:nvPr/>
          </p:nvSpPr>
          <p:spPr bwMode="auto">
            <a:xfrm>
              <a:off x="645" y="3231"/>
              <a:ext cx="18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S</a:t>
              </a:r>
              <a:endParaRPr kumimoji="0" lang="en-US" altLang="zh-CN" sz="1500" i="1" baseline="30000">
                <a:ea typeface="宋体" pitchFamily="2" charset="-122"/>
              </a:endParaRPr>
            </a:p>
          </p:txBody>
        </p:sp>
        <p:grpSp>
          <p:nvGrpSpPr>
            <p:cNvPr id="47143" name="Group 393"/>
            <p:cNvGrpSpPr>
              <a:grpSpLocks/>
            </p:cNvGrpSpPr>
            <p:nvPr/>
          </p:nvGrpSpPr>
          <p:grpSpPr bwMode="auto">
            <a:xfrm>
              <a:off x="667" y="3349"/>
              <a:ext cx="1275" cy="486"/>
              <a:chOff x="706" y="3302"/>
              <a:chExt cx="1275" cy="486"/>
            </a:xfrm>
          </p:grpSpPr>
          <p:sp>
            <p:nvSpPr>
              <p:cNvPr id="47144" name="Line 394"/>
              <p:cNvSpPr>
                <a:spLocks noChangeShapeType="1"/>
              </p:cNvSpPr>
              <p:nvPr/>
            </p:nvSpPr>
            <p:spPr bwMode="auto">
              <a:xfrm>
                <a:off x="706" y="3583"/>
                <a:ext cx="1275"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5" name="Text Box 396"/>
              <p:cNvSpPr txBox="1">
                <a:spLocks noChangeArrowheads="1"/>
              </p:cNvSpPr>
              <p:nvPr/>
            </p:nvSpPr>
            <p:spPr bwMode="auto">
              <a:xfrm>
                <a:off x="840" y="3517"/>
                <a:ext cx="2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baseline="-25000">
                    <a:ea typeface="宋体" pitchFamily="2" charset="-122"/>
                  </a:rPr>
                  <a:t>1</a:t>
                </a:r>
                <a:endParaRPr kumimoji="0" lang="en-US" altLang="zh-CN" sz="1500">
                  <a:ea typeface="宋体" pitchFamily="2" charset="-122"/>
                </a:endParaRPr>
              </a:p>
            </p:txBody>
          </p:sp>
          <p:sp>
            <p:nvSpPr>
              <p:cNvPr id="47146" name="Text Box 397"/>
              <p:cNvSpPr txBox="1">
                <a:spLocks noChangeArrowheads="1"/>
              </p:cNvSpPr>
              <p:nvPr/>
            </p:nvSpPr>
            <p:spPr bwMode="auto">
              <a:xfrm>
                <a:off x="1572" y="3517"/>
                <a:ext cx="2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baseline="-25000">
                    <a:ea typeface="宋体" pitchFamily="2" charset="-122"/>
                  </a:rPr>
                  <a:t>2</a:t>
                </a:r>
                <a:endParaRPr kumimoji="0" lang="en-US" altLang="zh-CN" sz="1500">
                  <a:ea typeface="宋体" pitchFamily="2" charset="-122"/>
                </a:endParaRPr>
              </a:p>
            </p:txBody>
          </p:sp>
          <p:sp>
            <p:nvSpPr>
              <p:cNvPr id="47147" name="Line 399"/>
              <p:cNvSpPr>
                <a:spLocks noChangeShapeType="1"/>
              </p:cNvSpPr>
              <p:nvPr/>
            </p:nvSpPr>
            <p:spPr bwMode="auto">
              <a:xfrm flipV="1">
                <a:off x="712" y="3302"/>
                <a:ext cx="0" cy="287"/>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8" name="Rectangle 400" descr="栎木"/>
              <p:cNvSpPr>
                <a:spLocks noChangeArrowheads="1"/>
              </p:cNvSpPr>
              <p:nvPr/>
            </p:nvSpPr>
            <p:spPr bwMode="auto">
              <a:xfrm>
                <a:off x="948" y="3463"/>
                <a:ext cx="716" cy="89"/>
              </a:xfrm>
              <a:prstGeom prst="rect">
                <a:avLst/>
              </a:prstGeom>
              <a:blipFill dpi="0" rotWithShape="1">
                <a:blip r:embed="rId7"/>
                <a:srcRect/>
                <a:tile tx="0" ty="0" sx="100000" sy="100000" flip="none" algn="tl"/>
              </a:blipFill>
              <a:ln w="9525">
                <a:solidFill>
                  <a:schemeClr val="tx1"/>
                </a:solidFill>
                <a:miter lim="800000"/>
                <a:headEnd/>
                <a:tailEnd/>
              </a:ln>
            </p:spPr>
            <p:txBody>
              <a:bodyPr wrap="none" anchor="ctr"/>
              <a:lstStyle/>
              <a:p>
                <a:endParaRPr kumimoji="0" lang="zh-CN" altLang="zh-CN" sz="1800">
                  <a:ea typeface="宋体" pitchFamily="2" charset="-122"/>
                </a:endParaRPr>
              </a:p>
            </p:txBody>
          </p:sp>
          <p:sp>
            <p:nvSpPr>
              <p:cNvPr id="47149" name="Text Box 397"/>
              <p:cNvSpPr txBox="1">
                <a:spLocks noChangeArrowheads="1"/>
              </p:cNvSpPr>
              <p:nvPr/>
            </p:nvSpPr>
            <p:spPr bwMode="auto">
              <a:xfrm>
                <a:off x="1738" y="3345"/>
                <a:ext cx="2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baseline="-25000">
                    <a:ea typeface="宋体" pitchFamily="2" charset="-122"/>
                  </a:rPr>
                  <a:t>2</a:t>
                </a:r>
                <a:endParaRPr kumimoji="0" lang="en-US" altLang="zh-CN" sz="1500">
                  <a:ea typeface="宋体" pitchFamily="2" charset="-122"/>
                </a:endParaRPr>
              </a:p>
            </p:txBody>
          </p:sp>
        </p:grpSp>
      </p:grpSp>
      <p:sp>
        <p:nvSpPr>
          <p:cNvPr id="34" name="Text Box 401"/>
          <p:cNvSpPr txBox="1">
            <a:spLocks noChangeArrowheads="1"/>
          </p:cNvSpPr>
          <p:nvPr/>
        </p:nvSpPr>
        <p:spPr bwMode="auto">
          <a:xfrm>
            <a:off x="2709863" y="4256088"/>
            <a:ext cx="31496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a:lnSpc>
                <a:spcPct val="95000"/>
              </a:lnSpc>
            </a:pPr>
            <a:r>
              <a:rPr lang="zh-CN" altLang="en-US" sz="1500">
                <a:solidFill>
                  <a:srgbClr val="0000FF"/>
                </a:solidFill>
                <a:ea typeface="华文中宋" pitchFamily="2" charset="-122"/>
              </a:rPr>
              <a:t>在</a:t>
            </a:r>
            <a:r>
              <a:rPr lang="en-US" altLang="zh-CN" sz="1500" i="1">
                <a:solidFill>
                  <a:srgbClr val="0000FF"/>
                </a:solidFill>
                <a:ea typeface="华文中宋" pitchFamily="2" charset="-122"/>
              </a:rPr>
              <a:t>S</a:t>
            </a:r>
            <a:r>
              <a:rPr lang="zh-CN" altLang="en-US" sz="1500">
                <a:solidFill>
                  <a:srgbClr val="0000FF"/>
                </a:solidFill>
                <a:ea typeface="华文中宋" pitchFamily="2" charset="-122"/>
              </a:rPr>
              <a:t>中的观察者</a:t>
            </a:r>
            <a:r>
              <a:rPr kumimoji="0" lang="zh-CN" altLang="en-US" sz="1500">
                <a:solidFill>
                  <a:srgbClr val="0000FF"/>
                </a:solidFill>
                <a:ea typeface="华文中宋" pitchFamily="2" charset="-122"/>
              </a:rPr>
              <a:t>测量</a:t>
            </a:r>
          </a:p>
        </p:txBody>
      </p:sp>
      <p:grpSp>
        <p:nvGrpSpPr>
          <p:cNvPr id="5" name="Group 402"/>
          <p:cNvGrpSpPr>
            <a:grpSpLocks/>
          </p:cNvGrpSpPr>
          <p:nvPr/>
        </p:nvGrpSpPr>
        <p:grpSpPr bwMode="auto">
          <a:xfrm>
            <a:off x="3357563" y="3076575"/>
            <a:ext cx="2276475" cy="588963"/>
            <a:chOff x="807" y="2794"/>
            <a:chExt cx="1434" cy="496"/>
          </a:xfrm>
        </p:grpSpPr>
        <p:sp>
          <p:nvSpPr>
            <p:cNvPr id="47134" name="Line 403"/>
            <p:cNvSpPr>
              <a:spLocks noChangeShapeType="1"/>
            </p:cNvSpPr>
            <p:nvPr/>
          </p:nvSpPr>
          <p:spPr bwMode="auto">
            <a:xfrm>
              <a:off x="1011" y="3290"/>
              <a:ext cx="1230"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5" name="Rectangle 404" descr="栎木"/>
            <p:cNvSpPr>
              <a:spLocks noChangeArrowheads="1"/>
            </p:cNvSpPr>
            <p:nvPr/>
          </p:nvSpPr>
          <p:spPr bwMode="auto">
            <a:xfrm>
              <a:off x="1321" y="3181"/>
              <a:ext cx="482" cy="85"/>
            </a:xfrm>
            <a:prstGeom prst="rect">
              <a:avLst/>
            </a:prstGeom>
            <a:blipFill dpi="0" rotWithShape="1">
              <a:blip r:embed="rId7"/>
              <a:srcRect/>
              <a:tile tx="0" ty="0" sx="100000" sy="100000" flip="none" algn="tl"/>
            </a:blipFill>
            <a:ln w="9525">
              <a:solidFill>
                <a:schemeClr val="tx1"/>
              </a:solidFill>
              <a:miter lim="800000"/>
              <a:headEnd/>
              <a:tailEnd/>
            </a:ln>
          </p:spPr>
          <p:txBody>
            <a:bodyPr wrap="none" anchor="ctr"/>
            <a:lstStyle/>
            <a:p>
              <a:endParaRPr kumimoji="0" lang="zh-CN" altLang="zh-CN" sz="1800">
                <a:ea typeface="宋体" pitchFamily="2" charset="-122"/>
              </a:endParaRPr>
            </a:p>
          </p:txBody>
        </p:sp>
        <p:sp>
          <p:nvSpPr>
            <p:cNvPr id="47136" name="Text Box 406"/>
            <p:cNvSpPr txBox="1">
              <a:spLocks noChangeArrowheads="1"/>
            </p:cNvSpPr>
            <p:nvPr/>
          </p:nvSpPr>
          <p:spPr bwMode="auto">
            <a:xfrm>
              <a:off x="1230" y="2984"/>
              <a:ext cx="24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i="1" baseline="30000">
                  <a:ea typeface="宋体" pitchFamily="2" charset="-122"/>
                </a:rPr>
                <a:t>/</a:t>
              </a:r>
              <a:r>
                <a:rPr kumimoji="0" lang="en-US" altLang="zh-CN" sz="1500" baseline="-25000">
                  <a:ea typeface="宋体" pitchFamily="2" charset="-122"/>
                </a:rPr>
                <a:t>1</a:t>
              </a:r>
            </a:p>
          </p:txBody>
        </p:sp>
        <p:sp>
          <p:nvSpPr>
            <p:cNvPr id="47137" name="Text Box 407"/>
            <p:cNvSpPr txBox="1">
              <a:spLocks noChangeArrowheads="1"/>
            </p:cNvSpPr>
            <p:nvPr/>
          </p:nvSpPr>
          <p:spPr bwMode="auto">
            <a:xfrm>
              <a:off x="1699" y="2990"/>
              <a:ext cx="24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i="1" baseline="30000">
                  <a:ea typeface="宋体" pitchFamily="2" charset="-122"/>
                </a:rPr>
                <a:t>/</a:t>
              </a:r>
              <a:r>
                <a:rPr kumimoji="0" lang="en-US" altLang="zh-CN" sz="1500" baseline="-25000">
                  <a:ea typeface="宋体" pitchFamily="2" charset="-122"/>
                </a:rPr>
                <a:t>2</a:t>
              </a:r>
              <a:endParaRPr kumimoji="0" lang="en-US" altLang="zh-CN" sz="1500">
                <a:ea typeface="宋体" pitchFamily="2" charset="-122"/>
              </a:endParaRPr>
            </a:p>
          </p:txBody>
        </p:sp>
        <p:sp>
          <p:nvSpPr>
            <p:cNvPr id="47138" name="Line 409"/>
            <p:cNvSpPr>
              <a:spLocks noChangeShapeType="1"/>
            </p:cNvSpPr>
            <p:nvPr/>
          </p:nvSpPr>
          <p:spPr bwMode="auto">
            <a:xfrm flipV="1">
              <a:off x="1009" y="2856"/>
              <a:ext cx="0" cy="434"/>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9" name="Text Box 410"/>
            <p:cNvSpPr txBox="1">
              <a:spLocks noChangeArrowheads="1"/>
            </p:cNvSpPr>
            <p:nvPr/>
          </p:nvSpPr>
          <p:spPr bwMode="auto">
            <a:xfrm>
              <a:off x="807" y="2858"/>
              <a:ext cx="20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S</a:t>
              </a:r>
              <a:r>
                <a:rPr kumimoji="0" lang="en-US" altLang="zh-CN" sz="1500" i="1" baseline="30000">
                  <a:ea typeface="宋体" pitchFamily="2" charset="-122"/>
                </a:rPr>
                <a:t>/</a:t>
              </a:r>
            </a:p>
          </p:txBody>
        </p:sp>
        <p:sp>
          <p:nvSpPr>
            <p:cNvPr id="47140" name="Line 411"/>
            <p:cNvSpPr>
              <a:spLocks noChangeShapeType="1"/>
            </p:cNvSpPr>
            <p:nvPr/>
          </p:nvSpPr>
          <p:spPr bwMode="auto">
            <a:xfrm>
              <a:off x="1015" y="2973"/>
              <a:ext cx="268" cy="0"/>
            </a:xfrm>
            <a:prstGeom prst="line">
              <a:avLst/>
            </a:prstGeom>
            <a:noFill/>
            <a:ln w="1905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1" name="Text Box 412"/>
            <p:cNvSpPr txBox="1">
              <a:spLocks noChangeArrowheads="1"/>
            </p:cNvSpPr>
            <p:nvPr/>
          </p:nvSpPr>
          <p:spPr bwMode="auto">
            <a:xfrm>
              <a:off x="1028" y="2794"/>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a:t>
              </a:r>
            </a:p>
          </p:txBody>
        </p:sp>
      </p:grpSp>
      <p:grpSp>
        <p:nvGrpSpPr>
          <p:cNvPr id="6" name="Group 413"/>
          <p:cNvGrpSpPr>
            <a:grpSpLocks/>
          </p:cNvGrpSpPr>
          <p:nvPr/>
        </p:nvGrpSpPr>
        <p:grpSpPr bwMode="auto">
          <a:xfrm>
            <a:off x="6178550" y="3251200"/>
            <a:ext cx="2265363" cy="415925"/>
            <a:chOff x="3224" y="3024"/>
            <a:chExt cx="1427" cy="349"/>
          </a:xfrm>
        </p:grpSpPr>
        <p:sp>
          <p:nvSpPr>
            <p:cNvPr id="47128" name="Line 414"/>
            <p:cNvSpPr>
              <a:spLocks noChangeShapeType="1"/>
            </p:cNvSpPr>
            <p:nvPr/>
          </p:nvSpPr>
          <p:spPr bwMode="auto">
            <a:xfrm>
              <a:off x="3421" y="3373"/>
              <a:ext cx="1230"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9" name="Rectangle 415" descr="栎木"/>
            <p:cNvSpPr>
              <a:spLocks noChangeArrowheads="1"/>
            </p:cNvSpPr>
            <p:nvPr/>
          </p:nvSpPr>
          <p:spPr bwMode="auto">
            <a:xfrm>
              <a:off x="3663" y="3256"/>
              <a:ext cx="716" cy="90"/>
            </a:xfrm>
            <a:prstGeom prst="rect">
              <a:avLst/>
            </a:prstGeom>
            <a:blipFill dpi="0" rotWithShape="1">
              <a:blip r:embed="rId7"/>
              <a:srcRect/>
              <a:tile tx="0" ty="0" sx="100000" sy="100000" flip="none" algn="tl"/>
            </a:blipFill>
            <a:ln w="9525">
              <a:solidFill>
                <a:schemeClr val="tx1"/>
              </a:solidFill>
              <a:miter lim="800000"/>
              <a:headEnd/>
              <a:tailEnd/>
            </a:ln>
          </p:spPr>
          <p:txBody>
            <a:bodyPr wrap="none" anchor="ctr"/>
            <a:lstStyle/>
            <a:p>
              <a:endParaRPr kumimoji="0" lang="zh-CN" altLang="zh-CN">
                <a:ea typeface="宋体" pitchFamily="2" charset="-122"/>
              </a:endParaRPr>
            </a:p>
          </p:txBody>
        </p:sp>
        <p:sp>
          <p:nvSpPr>
            <p:cNvPr id="47130" name="Text Box 417"/>
            <p:cNvSpPr txBox="1">
              <a:spLocks noChangeArrowheads="1"/>
            </p:cNvSpPr>
            <p:nvPr/>
          </p:nvSpPr>
          <p:spPr bwMode="auto">
            <a:xfrm>
              <a:off x="3610" y="3063"/>
              <a:ext cx="2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i="1" baseline="30000">
                  <a:ea typeface="宋体" pitchFamily="2" charset="-122"/>
                </a:rPr>
                <a:t>/</a:t>
              </a:r>
              <a:r>
                <a:rPr kumimoji="0" lang="en-US" altLang="zh-CN" sz="1500" baseline="-25000">
                  <a:ea typeface="宋体" pitchFamily="2" charset="-122"/>
                </a:rPr>
                <a:t>1</a:t>
              </a:r>
            </a:p>
          </p:txBody>
        </p:sp>
        <p:sp>
          <p:nvSpPr>
            <p:cNvPr id="47131" name="Text Box 418"/>
            <p:cNvSpPr txBox="1">
              <a:spLocks noChangeArrowheads="1"/>
            </p:cNvSpPr>
            <p:nvPr/>
          </p:nvSpPr>
          <p:spPr bwMode="auto">
            <a:xfrm>
              <a:off x="4234" y="3071"/>
              <a:ext cx="24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i="1" baseline="30000">
                  <a:ea typeface="宋体" pitchFamily="2" charset="-122"/>
                </a:rPr>
                <a:t>/</a:t>
              </a:r>
              <a:r>
                <a:rPr kumimoji="0" lang="en-US" altLang="zh-CN" sz="1500" baseline="-25000">
                  <a:ea typeface="宋体" pitchFamily="2" charset="-122"/>
                </a:rPr>
                <a:t>2</a:t>
              </a:r>
              <a:endParaRPr kumimoji="0" lang="en-US" altLang="zh-CN" sz="1500">
                <a:ea typeface="宋体" pitchFamily="2" charset="-122"/>
              </a:endParaRPr>
            </a:p>
          </p:txBody>
        </p:sp>
        <p:sp>
          <p:nvSpPr>
            <p:cNvPr id="47132" name="Line 420"/>
            <p:cNvSpPr>
              <a:spLocks noChangeShapeType="1"/>
            </p:cNvSpPr>
            <p:nvPr/>
          </p:nvSpPr>
          <p:spPr bwMode="auto">
            <a:xfrm flipV="1">
              <a:off x="3419" y="3103"/>
              <a:ext cx="0" cy="27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3" name="Text Box 421"/>
            <p:cNvSpPr txBox="1">
              <a:spLocks noChangeArrowheads="1"/>
            </p:cNvSpPr>
            <p:nvPr/>
          </p:nvSpPr>
          <p:spPr bwMode="auto">
            <a:xfrm>
              <a:off x="3224" y="3024"/>
              <a:ext cx="206"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S</a:t>
              </a:r>
              <a:r>
                <a:rPr kumimoji="0" lang="en-US" altLang="zh-CN" sz="1500" i="1" baseline="30000">
                  <a:ea typeface="宋体" pitchFamily="2" charset="-122"/>
                </a:rPr>
                <a:t>/</a:t>
              </a:r>
            </a:p>
          </p:txBody>
        </p:sp>
      </p:grpSp>
      <p:sp>
        <p:nvSpPr>
          <p:cNvPr id="51" name="Text Box 422"/>
          <p:cNvSpPr txBox="1">
            <a:spLocks noChangeArrowheads="1"/>
          </p:cNvSpPr>
          <p:nvPr/>
        </p:nvSpPr>
        <p:spPr bwMode="auto">
          <a:xfrm>
            <a:off x="5795963" y="4260850"/>
            <a:ext cx="24733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a:lnSpc>
                <a:spcPct val="95000"/>
              </a:lnSpc>
            </a:pPr>
            <a:r>
              <a:rPr lang="zh-CN" altLang="en-US" sz="1500">
                <a:solidFill>
                  <a:srgbClr val="0000FF"/>
                </a:solidFill>
                <a:ea typeface="华文中宋" pitchFamily="2" charset="-122"/>
              </a:rPr>
              <a:t>在</a:t>
            </a:r>
            <a:r>
              <a:rPr lang="en-US" altLang="zh-CN" sz="1500" i="1">
                <a:solidFill>
                  <a:srgbClr val="0000FF"/>
                </a:solidFill>
                <a:ea typeface="华文中宋" pitchFamily="2" charset="-122"/>
              </a:rPr>
              <a:t>S</a:t>
            </a:r>
            <a:r>
              <a:rPr lang="en-US" altLang="zh-CN" sz="1500">
                <a:solidFill>
                  <a:srgbClr val="0000FF"/>
                </a:solidFill>
                <a:ea typeface="华文中宋" pitchFamily="2" charset="-122"/>
                <a:cs typeface="Times New Roman" pitchFamily="18" charset="0"/>
              </a:rPr>
              <a:t>'</a:t>
            </a:r>
            <a:r>
              <a:rPr lang="zh-CN" altLang="en-US" sz="1500">
                <a:solidFill>
                  <a:srgbClr val="0000FF"/>
                </a:solidFill>
                <a:ea typeface="华文中宋" pitchFamily="2" charset="-122"/>
              </a:rPr>
              <a:t>中的观察者</a:t>
            </a:r>
            <a:r>
              <a:rPr kumimoji="0" lang="zh-CN" altLang="en-US" sz="1500">
                <a:solidFill>
                  <a:srgbClr val="0000FF"/>
                </a:solidFill>
                <a:ea typeface="华文中宋" pitchFamily="2" charset="-122"/>
              </a:rPr>
              <a:t>测量</a:t>
            </a:r>
          </a:p>
        </p:txBody>
      </p:sp>
      <p:grpSp>
        <p:nvGrpSpPr>
          <p:cNvPr id="7" name="Group 423"/>
          <p:cNvGrpSpPr>
            <a:grpSpLocks/>
          </p:cNvGrpSpPr>
          <p:nvPr/>
        </p:nvGrpSpPr>
        <p:grpSpPr bwMode="auto">
          <a:xfrm>
            <a:off x="5748338" y="3451225"/>
            <a:ext cx="2433637" cy="801688"/>
            <a:chOff x="2858" y="3199"/>
            <a:chExt cx="1533" cy="674"/>
          </a:xfrm>
        </p:grpSpPr>
        <p:sp>
          <p:nvSpPr>
            <p:cNvPr id="47120" name="Line 424"/>
            <p:cNvSpPr>
              <a:spLocks noChangeShapeType="1"/>
            </p:cNvSpPr>
            <p:nvPr/>
          </p:nvSpPr>
          <p:spPr bwMode="auto">
            <a:xfrm>
              <a:off x="3116" y="3656"/>
              <a:ext cx="1275"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1" name="Text Box 426"/>
            <p:cNvSpPr txBox="1">
              <a:spLocks noChangeArrowheads="1"/>
            </p:cNvSpPr>
            <p:nvPr/>
          </p:nvSpPr>
          <p:spPr bwMode="auto">
            <a:xfrm>
              <a:off x="3250" y="3602"/>
              <a:ext cx="2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baseline="-25000">
                  <a:ea typeface="宋体" pitchFamily="2" charset="-122"/>
                </a:rPr>
                <a:t>1</a:t>
              </a:r>
              <a:endParaRPr kumimoji="0" lang="en-US" altLang="zh-CN" sz="1500">
                <a:ea typeface="宋体" pitchFamily="2" charset="-122"/>
              </a:endParaRPr>
            </a:p>
          </p:txBody>
        </p:sp>
        <p:sp>
          <p:nvSpPr>
            <p:cNvPr id="47122" name="Text Box 427"/>
            <p:cNvSpPr txBox="1">
              <a:spLocks noChangeArrowheads="1"/>
            </p:cNvSpPr>
            <p:nvPr/>
          </p:nvSpPr>
          <p:spPr bwMode="auto">
            <a:xfrm>
              <a:off x="3783" y="3577"/>
              <a:ext cx="21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x</a:t>
              </a:r>
              <a:r>
                <a:rPr kumimoji="0" lang="en-US" altLang="zh-CN" sz="1500" baseline="-25000">
                  <a:ea typeface="宋体" pitchFamily="2" charset="-122"/>
                </a:rPr>
                <a:t>2</a:t>
              </a:r>
              <a:endParaRPr kumimoji="0" lang="en-US" altLang="zh-CN" sz="1500">
                <a:ea typeface="宋体" pitchFamily="2" charset="-122"/>
              </a:endParaRPr>
            </a:p>
          </p:txBody>
        </p:sp>
        <p:sp>
          <p:nvSpPr>
            <p:cNvPr id="47123" name="Line 429"/>
            <p:cNvSpPr>
              <a:spLocks noChangeShapeType="1"/>
            </p:cNvSpPr>
            <p:nvPr/>
          </p:nvSpPr>
          <p:spPr bwMode="auto">
            <a:xfrm flipV="1">
              <a:off x="3116" y="3329"/>
              <a:ext cx="0" cy="327"/>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4" name="Text Box 430"/>
            <p:cNvSpPr txBox="1">
              <a:spLocks noChangeArrowheads="1"/>
            </p:cNvSpPr>
            <p:nvPr/>
          </p:nvSpPr>
          <p:spPr bwMode="auto">
            <a:xfrm>
              <a:off x="3066" y="3199"/>
              <a:ext cx="18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500" i="1">
                  <a:ea typeface="宋体" pitchFamily="2" charset="-122"/>
                </a:rPr>
                <a:t>S</a:t>
              </a:r>
              <a:endParaRPr kumimoji="0" lang="en-US" altLang="zh-CN" sz="1500" i="1" baseline="30000">
                <a:ea typeface="宋体" pitchFamily="2" charset="-122"/>
              </a:endParaRPr>
            </a:p>
          </p:txBody>
        </p:sp>
        <p:sp>
          <p:nvSpPr>
            <p:cNvPr id="47125" name="Line 431"/>
            <p:cNvSpPr>
              <a:spLocks noChangeShapeType="1"/>
            </p:cNvSpPr>
            <p:nvPr/>
          </p:nvSpPr>
          <p:spPr bwMode="auto">
            <a:xfrm>
              <a:off x="2858" y="3498"/>
              <a:ext cx="268" cy="0"/>
            </a:xfrm>
            <a:prstGeom prst="line">
              <a:avLst/>
            </a:prstGeom>
            <a:noFill/>
            <a:ln w="19050">
              <a:solidFill>
                <a:srgbClr val="FF00FF"/>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7126" name="Text Box 432"/>
            <p:cNvSpPr txBox="1">
              <a:spLocks noChangeArrowheads="1"/>
            </p:cNvSpPr>
            <p:nvPr/>
          </p:nvSpPr>
          <p:spPr bwMode="auto">
            <a:xfrm>
              <a:off x="2897" y="3299"/>
              <a:ext cx="19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u</a:t>
              </a:r>
            </a:p>
          </p:txBody>
        </p:sp>
        <p:sp>
          <p:nvSpPr>
            <p:cNvPr id="47127" name="Rectangle 433" descr="栎木"/>
            <p:cNvSpPr>
              <a:spLocks noChangeArrowheads="1"/>
            </p:cNvSpPr>
            <p:nvPr/>
          </p:nvSpPr>
          <p:spPr bwMode="auto">
            <a:xfrm>
              <a:off x="3358" y="3548"/>
              <a:ext cx="510" cy="86"/>
            </a:xfrm>
            <a:prstGeom prst="rect">
              <a:avLst/>
            </a:prstGeom>
            <a:blipFill dpi="0" rotWithShape="1">
              <a:blip r:embed="rId7"/>
              <a:srcRect/>
              <a:tile tx="0" ty="0" sx="100000" sy="100000" flip="none" algn="tl"/>
            </a:blipFill>
            <a:ln w="9525">
              <a:solidFill>
                <a:schemeClr val="tx1"/>
              </a:solidFill>
              <a:miter lim="800000"/>
              <a:headEnd/>
              <a:tailEnd/>
            </a:ln>
          </p:spPr>
          <p:txBody>
            <a:bodyPr wrap="none" anchor="ctr"/>
            <a:lstStyle/>
            <a:p>
              <a:endParaRPr kumimoji="0" lang="zh-CN" altLang="zh-CN">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 calcmode="lin" valueType="num">
                                      <p:cBhvr>
                                        <p:cTn id="7" dur="500" fill="hold"/>
                                        <p:tgtEl>
                                          <p:spTgt spid="48130"/>
                                        </p:tgtEl>
                                        <p:attrNameLst>
                                          <p:attrName>ppt_w</p:attrName>
                                        </p:attrNameLst>
                                      </p:cBhvr>
                                      <p:tavLst>
                                        <p:tav tm="0">
                                          <p:val>
                                            <p:fltVal val="0"/>
                                          </p:val>
                                        </p:tav>
                                        <p:tav tm="100000">
                                          <p:val>
                                            <p:strVal val="#ppt_w"/>
                                          </p:val>
                                        </p:tav>
                                      </p:tavLst>
                                    </p:anim>
                                    <p:anim calcmode="lin" valueType="num">
                                      <p:cBhvr>
                                        <p:cTn id="8" dur="500" fill="hold"/>
                                        <p:tgtEl>
                                          <p:spTgt spid="48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8140"/>
                                        </p:tgtEl>
                                        <p:attrNameLst>
                                          <p:attrName>style.visibility</p:attrName>
                                        </p:attrNameLst>
                                      </p:cBhvr>
                                      <p:to>
                                        <p:strVal val="visible"/>
                                      </p:to>
                                    </p:set>
                                    <p:anim calcmode="lin" valueType="num">
                                      <p:cBhvr>
                                        <p:cTn id="13" dur="500" fill="hold"/>
                                        <p:tgtEl>
                                          <p:spTgt spid="48140"/>
                                        </p:tgtEl>
                                        <p:attrNameLst>
                                          <p:attrName>ppt_w</p:attrName>
                                        </p:attrNameLst>
                                      </p:cBhvr>
                                      <p:tavLst>
                                        <p:tav tm="0">
                                          <p:val>
                                            <p:fltVal val="0"/>
                                          </p:val>
                                        </p:tav>
                                        <p:tav tm="100000">
                                          <p:val>
                                            <p:strVal val="#ppt_w"/>
                                          </p:val>
                                        </p:tav>
                                      </p:tavLst>
                                    </p:anim>
                                    <p:anim calcmode="lin" valueType="num">
                                      <p:cBhvr>
                                        <p:cTn id="14" dur="500" fill="hold"/>
                                        <p:tgtEl>
                                          <p:spTgt spid="4814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4" name="TYP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48133"/>
                                        </p:tgtEl>
                                        <p:attrNameLst>
                                          <p:attrName>style.visibility</p:attrName>
                                        </p:attrNameLst>
                                      </p:cBhvr>
                                      <p:to>
                                        <p:strVal val="visible"/>
                                      </p:to>
                                    </p:set>
                                    <p:anim calcmode="lin" valueType="num">
                                      <p:cBhvr>
                                        <p:cTn id="19" dur="500" fill="hold"/>
                                        <p:tgtEl>
                                          <p:spTgt spid="48133"/>
                                        </p:tgtEl>
                                        <p:attrNameLst>
                                          <p:attrName>ppt_w</p:attrName>
                                        </p:attrNameLst>
                                      </p:cBhvr>
                                      <p:tavLst>
                                        <p:tav tm="0">
                                          <p:val>
                                            <p:fltVal val="0"/>
                                          </p:val>
                                        </p:tav>
                                        <p:tav tm="100000">
                                          <p:val>
                                            <p:strVal val="#ppt_w"/>
                                          </p:val>
                                        </p:tav>
                                      </p:tavLst>
                                    </p:anim>
                                    <p:anim calcmode="lin" valueType="num">
                                      <p:cBhvr>
                                        <p:cTn id="20" dur="500" fill="hold"/>
                                        <p:tgtEl>
                                          <p:spTgt spid="48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4" name="TYP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48132"/>
                                        </p:tgtEl>
                                        <p:attrNameLst>
                                          <p:attrName>style.visibility</p:attrName>
                                        </p:attrNameLst>
                                      </p:cBhvr>
                                      <p:to>
                                        <p:strVal val="visible"/>
                                      </p:to>
                                    </p:set>
                                    <p:anim calcmode="lin" valueType="num">
                                      <p:cBhvr>
                                        <p:cTn id="25" dur="500" fill="hold"/>
                                        <p:tgtEl>
                                          <p:spTgt spid="48132"/>
                                        </p:tgtEl>
                                        <p:attrNameLst>
                                          <p:attrName>ppt_w</p:attrName>
                                        </p:attrNameLst>
                                      </p:cBhvr>
                                      <p:tavLst>
                                        <p:tav tm="0">
                                          <p:val>
                                            <p:fltVal val="0"/>
                                          </p:val>
                                        </p:tav>
                                        <p:tav tm="100000">
                                          <p:val>
                                            <p:strVal val="#ppt_w"/>
                                          </p:val>
                                        </p:tav>
                                      </p:tavLst>
                                    </p:anim>
                                    <p:anim calcmode="lin" valueType="num">
                                      <p:cBhvr>
                                        <p:cTn id="26" dur="500" fill="hold"/>
                                        <p:tgtEl>
                                          <p:spTgt spid="48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
                                            </p:cond>
                                          </p:stCondLst>
                                          <p:endCondLst>
                                            <p:cond evt="onStopAudio" delay="0">
                                              <p:tgtEl>
                                                <p:sldTgt/>
                                              </p:tgtEl>
                                            </p:cond>
                                          </p:endCondLst>
                                        </p:cTn>
                                        <p:tgtEl>
                                          <p:sndTgt r:embed="rId4" name="TYP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48134"/>
                                        </p:tgtEl>
                                        <p:attrNameLst>
                                          <p:attrName>style.visibility</p:attrName>
                                        </p:attrNameLst>
                                      </p:cBhvr>
                                      <p:to>
                                        <p:strVal val="visible"/>
                                      </p:to>
                                    </p:set>
                                    <p:anim calcmode="lin" valueType="num">
                                      <p:cBhvr>
                                        <p:cTn id="31" dur="500" fill="hold"/>
                                        <p:tgtEl>
                                          <p:spTgt spid="48134"/>
                                        </p:tgtEl>
                                        <p:attrNameLst>
                                          <p:attrName>ppt_w</p:attrName>
                                        </p:attrNameLst>
                                      </p:cBhvr>
                                      <p:tavLst>
                                        <p:tav tm="0">
                                          <p:val>
                                            <p:fltVal val="0"/>
                                          </p:val>
                                        </p:tav>
                                        <p:tav tm="100000">
                                          <p:val>
                                            <p:strVal val="#ppt_w"/>
                                          </p:val>
                                        </p:tav>
                                      </p:tavLst>
                                    </p:anim>
                                    <p:anim calcmode="lin" valueType="num">
                                      <p:cBhvr>
                                        <p:cTn id="32" dur="500" fill="hold"/>
                                        <p:tgtEl>
                                          <p:spTgt spid="48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48139"/>
                                        </p:tgtEl>
                                        <p:attrNameLst>
                                          <p:attrName>style.visibility</p:attrName>
                                        </p:attrNameLst>
                                      </p:cBhvr>
                                      <p:to>
                                        <p:strVal val="visible"/>
                                      </p:to>
                                    </p:set>
                                    <p:anim calcmode="lin" valueType="num">
                                      <p:cBhvr>
                                        <p:cTn id="37" dur="500" fill="hold"/>
                                        <p:tgtEl>
                                          <p:spTgt spid="48139"/>
                                        </p:tgtEl>
                                        <p:attrNameLst>
                                          <p:attrName>ppt_w</p:attrName>
                                        </p:attrNameLst>
                                      </p:cBhvr>
                                      <p:tavLst>
                                        <p:tav tm="0">
                                          <p:val>
                                            <p:fltVal val="0"/>
                                          </p:val>
                                        </p:tav>
                                        <p:tav tm="100000">
                                          <p:val>
                                            <p:strVal val="#ppt_w"/>
                                          </p:val>
                                        </p:tav>
                                      </p:tavLst>
                                    </p:anim>
                                    <p:anim calcmode="lin" valueType="num">
                                      <p:cBhvr>
                                        <p:cTn id="38" dur="500" fill="hold"/>
                                        <p:tgtEl>
                                          <p:spTgt spid="4813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4" name="TYP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p:cTn id="43" dur="500" fill="hold"/>
                                        <p:tgtEl>
                                          <p:spTgt spid="2"/>
                                        </p:tgtEl>
                                        <p:attrNameLst>
                                          <p:attrName>ppt_w</p:attrName>
                                        </p:attrNameLst>
                                      </p:cBhvr>
                                      <p:tavLst>
                                        <p:tav tm="0">
                                          <p:val>
                                            <p:fltVal val="0"/>
                                          </p:val>
                                        </p:tav>
                                        <p:tav tm="100000">
                                          <p:val>
                                            <p:strVal val="#ppt_w"/>
                                          </p:val>
                                        </p:tav>
                                      </p:tavLst>
                                    </p:anim>
                                    <p:anim calcmode="lin" valueType="num">
                                      <p:cBhvr>
                                        <p:cTn id="4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48156"/>
                                        </p:tgtEl>
                                        <p:attrNameLst>
                                          <p:attrName>style.visibility</p:attrName>
                                        </p:attrNameLst>
                                      </p:cBhvr>
                                      <p:to>
                                        <p:strVal val="visible"/>
                                      </p:to>
                                    </p:set>
                                    <p:anim calcmode="lin" valueType="num">
                                      <p:cBhvr>
                                        <p:cTn id="49" dur="500" fill="hold"/>
                                        <p:tgtEl>
                                          <p:spTgt spid="48156"/>
                                        </p:tgtEl>
                                        <p:attrNameLst>
                                          <p:attrName>ppt_w</p:attrName>
                                        </p:attrNameLst>
                                      </p:cBhvr>
                                      <p:tavLst>
                                        <p:tav tm="0">
                                          <p:val>
                                            <p:fltVal val="0"/>
                                          </p:val>
                                        </p:tav>
                                        <p:tav tm="100000">
                                          <p:val>
                                            <p:strVal val="#ppt_w"/>
                                          </p:val>
                                        </p:tav>
                                      </p:tavLst>
                                    </p:anim>
                                    <p:anim calcmode="lin" valueType="num">
                                      <p:cBhvr>
                                        <p:cTn id="50" dur="500" fill="hold"/>
                                        <p:tgtEl>
                                          <p:spTgt spid="481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4" name="TYPE.WAV"/>
                                        </p:tgtEl>
                                      </p:cMediaNode>
                                    </p:audio>
                                  </p:sub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16"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p:cTn id="55" dur="500" fill="hold"/>
                                        <p:tgtEl>
                                          <p:spTgt spid="3"/>
                                        </p:tgtEl>
                                        <p:attrNameLst>
                                          <p:attrName>ppt_w</p:attrName>
                                        </p:attrNameLst>
                                      </p:cBhvr>
                                      <p:tavLst>
                                        <p:tav tm="0">
                                          <p:val>
                                            <p:fltVal val="0"/>
                                          </p:val>
                                        </p:tav>
                                        <p:tav tm="100000">
                                          <p:val>
                                            <p:strVal val="#ppt_w"/>
                                          </p:val>
                                        </p:tav>
                                      </p:tavLst>
                                    </p:anim>
                                    <p:anim calcmode="lin" valueType="num">
                                      <p:cBhvr>
                                        <p:cTn id="56"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2" presetClass="entr" presetSubtype="8" fill="hold"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slide(fromLeft)">
                                      <p:cBhvr>
                                        <p:cTn id="61" dur="500"/>
                                        <p:tgtEl>
                                          <p:spTgt spid="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left)">
                                      <p:cBhvr>
                                        <p:cTn id="66" dur="500"/>
                                        <p:tgtEl>
                                          <p:spTgt spid="3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3" presetClass="entr" presetSubtype="16"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anim calcmode="lin" valueType="num">
                                      <p:cBhvr>
                                        <p:cTn id="71" dur="500" fill="hold"/>
                                        <p:tgtEl>
                                          <p:spTgt spid="6"/>
                                        </p:tgtEl>
                                        <p:attrNameLst>
                                          <p:attrName>ppt_w</p:attrName>
                                        </p:attrNameLst>
                                      </p:cBhvr>
                                      <p:tavLst>
                                        <p:tav tm="0">
                                          <p:val>
                                            <p:fltVal val="0"/>
                                          </p:val>
                                        </p:tav>
                                        <p:tav tm="100000">
                                          <p:val>
                                            <p:strVal val="#ppt_w"/>
                                          </p:val>
                                        </p:tav>
                                      </p:tavLst>
                                    </p:anim>
                                    <p:anim calcmode="lin" valueType="num">
                                      <p:cBhvr>
                                        <p:cTn id="72"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2" presetClass="entr" presetSubtype="2"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slide(fromRight)">
                                      <p:cBhvr>
                                        <p:cTn id="77" dur="500"/>
                                        <p:tgtEl>
                                          <p:spTgt spid="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wipe(left)">
                                      <p:cBhvr>
                                        <p:cTn id="8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autoUpdateAnimBg="0"/>
      <p:bldP spid="48133" grpId="0" autoUpdateAnimBg="0"/>
      <p:bldP spid="48134" grpId="0" autoUpdateAnimBg="0"/>
      <p:bldP spid="48139" grpId="0" autoUpdateAnimBg="0"/>
      <p:bldP spid="48140" grpId="0" autoUpdateAnimBg="0"/>
      <p:bldP spid="48156" grpId="0" autoUpdateAnimBg="0"/>
      <p:bldP spid="34" grpId="0" autoUpdateAnimBg="0"/>
      <p:bldP spid="51"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Text Box 3"/>
          <p:cNvSpPr txBox="1">
            <a:spLocks noChangeArrowheads="1"/>
          </p:cNvSpPr>
          <p:nvPr/>
        </p:nvSpPr>
        <p:spPr bwMode="auto">
          <a:xfrm>
            <a:off x="323850" y="835025"/>
            <a:ext cx="8683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ea typeface="华文中宋" pitchFamily="2" charset="-122"/>
              </a:rPr>
              <a:t>（</a:t>
            </a:r>
            <a:r>
              <a:rPr lang="en-US" altLang="zh-CN" sz="1600">
                <a:ea typeface="华文中宋" pitchFamily="2" charset="-122"/>
              </a:rPr>
              <a:t>5</a:t>
            </a:r>
            <a:r>
              <a:rPr lang="zh-CN" altLang="en-US" sz="1600">
                <a:ea typeface="华文中宋" pitchFamily="2" charset="-122"/>
              </a:rPr>
              <a:t>）“动尺缩短效应” 是归因于光速不变引起的同时的相对性问题，因为在 </a:t>
            </a:r>
            <a:r>
              <a:rPr lang="en-US" altLang="zh-CN" sz="1600">
                <a:ea typeface="华文中宋" pitchFamily="2" charset="-122"/>
              </a:rPr>
              <a:t>S</a:t>
            </a:r>
            <a:r>
              <a:rPr lang="en-US" altLang="zh-CN" sz="1600" baseline="30000">
                <a:ea typeface="华文中宋" pitchFamily="2" charset="-122"/>
              </a:rPr>
              <a:t>/</a:t>
            </a:r>
            <a:r>
              <a:rPr lang="zh-CN" altLang="en-US" sz="1600">
                <a:ea typeface="华文中宋" pitchFamily="2" charset="-122"/>
              </a:rPr>
              <a:t>中看，</a:t>
            </a:r>
            <a:r>
              <a:rPr lang="en-US" altLang="zh-CN" sz="1600">
                <a:ea typeface="华文中宋" pitchFamily="2" charset="-122"/>
              </a:rPr>
              <a:t>S</a:t>
            </a:r>
            <a:r>
              <a:rPr lang="zh-CN" altLang="en-US" sz="1600">
                <a:ea typeface="华文中宋" pitchFamily="2" charset="-122"/>
              </a:rPr>
              <a:t>系的测量动作不是同时的，故有</a:t>
            </a:r>
          </a:p>
        </p:txBody>
      </p:sp>
      <p:graphicFrame>
        <p:nvGraphicFramePr>
          <p:cNvPr id="49156" name="Object 4"/>
          <p:cNvGraphicFramePr>
            <a:graphicFrameLocks noChangeAspect="1"/>
          </p:cNvGraphicFramePr>
          <p:nvPr/>
        </p:nvGraphicFramePr>
        <p:xfrm>
          <a:off x="3511550" y="1377950"/>
          <a:ext cx="1208088" cy="330200"/>
        </p:xfrm>
        <a:graphic>
          <a:graphicData uri="http://schemas.openxmlformats.org/presentationml/2006/ole">
            <mc:AlternateContent xmlns:mc="http://schemas.openxmlformats.org/markup-compatibility/2006">
              <mc:Choice xmlns:v="urn:schemas-microsoft-com:vml" Requires="v">
                <p:oleObj spid="_x0000_s48140" name="公式" r:id="rId5" imgW="380835" imgH="139639" progId="Equation.3">
                  <p:embed/>
                </p:oleObj>
              </mc:Choice>
              <mc:Fallback>
                <p:oleObj name="公式" r:id="rId5" imgW="380835" imgH="139639"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1550" y="1377950"/>
                        <a:ext cx="1208088" cy="33020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7" name="Object 5"/>
          <p:cNvGraphicFramePr>
            <a:graphicFrameLocks noChangeAspect="1"/>
          </p:cNvGraphicFramePr>
          <p:nvPr/>
        </p:nvGraphicFramePr>
        <p:xfrm>
          <a:off x="1692275" y="2084388"/>
          <a:ext cx="2016125" cy="1125537"/>
        </p:xfrm>
        <a:graphic>
          <a:graphicData uri="http://schemas.openxmlformats.org/presentationml/2006/ole">
            <mc:AlternateContent xmlns:mc="http://schemas.openxmlformats.org/markup-compatibility/2006">
              <mc:Choice xmlns:v="urn:schemas-microsoft-com:vml" Requires="v">
                <p:oleObj spid="_x0000_s48141" name="公式" r:id="rId7" imgW="698500" imgH="520700" progId="Equation.3">
                  <p:embed/>
                </p:oleObj>
              </mc:Choice>
              <mc:Fallback>
                <p:oleObj name="公式" r:id="rId7" imgW="698500" imgH="5207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2084388"/>
                        <a:ext cx="2016125" cy="1125537"/>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8" name="Object 6"/>
          <p:cNvGraphicFramePr>
            <a:graphicFrameLocks noChangeAspect="1"/>
          </p:cNvGraphicFramePr>
          <p:nvPr/>
        </p:nvGraphicFramePr>
        <p:xfrm>
          <a:off x="4787900" y="2143125"/>
          <a:ext cx="1693863" cy="1022350"/>
        </p:xfrm>
        <a:graphic>
          <a:graphicData uri="http://schemas.openxmlformats.org/presentationml/2006/ole">
            <mc:AlternateContent xmlns:mc="http://schemas.openxmlformats.org/markup-compatibility/2006">
              <mc:Choice xmlns:v="urn:schemas-microsoft-com:vml" Requires="v">
                <p:oleObj spid="_x0000_s48142" name="公式" r:id="rId9" imgW="647700" imgH="520700" progId="Equation.3">
                  <p:embed/>
                </p:oleObj>
              </mc:Choice>
              <mc:Fallback>
                <p:oleObj name="公式" r:id="rId9" imgW="647700" imgH="5207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7900" y="2143125"/>
                        <a:ext cx="1693863" cy="1022350"/>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60" name="Rectangle 8"/>
          <p:cNvSpPr>
            <a:spLocks noChangeArrowheads="1"/>
          </p:cNvSpPr>
          <p:nvPr/>
        </p:nvSpPr>
        <p:spPr bwMode="auto">
          <a:xfrm>
            <a:off x="827088" y="3219450"/>
            <a:ext cx="2895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ea typeface="华文中宋" pitchFamily="2" charset="-122"/>
              </a:rPr>
              <a:t>虽有</a:t>
            </a:r>
            <a:r>
              <a:rPr lang="en-US" altLang="zh-CN" sz="1600" i="1">
                <a:ea typeface="华文中宋" pitchFamily="2" charset="-122"/>
              </a:rPr>
              <a:t>t</a:t>
            </a:r>
            <a:r>
              <a:rPr lang="en-US" altLang="zh-CN" sz="1600" baseline="-25000">
                <a:ea typeface="华文中宋" pitchFamily="2" charset="-122"/>
              </a:rPr>
              <a:t>1</a:t>
            </a:r>
            <a:r>
              <a:rPr lang="en-US" altLang="zh-CN" sz="1600">
                <a:ea typeface="华文中宋" pitchFamily="2" charset="-122"/>
              </a:rPr>
              <a:t>=</a:t>
            </a:r>
            <a:r>
              <a:rPr lang="en-US" altLang="zh-CN" sz="1600" i="1">
                <a:ea typeface="华文中宋" pitchFamily="2" charset="-122"/>
              </a:rPr>
              <a:t>t</a:t>
            </a:r>
            <a:r>
              <a:rPr lang="en-US" altLang="zh-CN" sz="1600" baseline="-25000">
                <a:ea typeface="华文中宋" pitchFamily="2" charset="-122"/>
              </a:rPr>
              <a:t>2</a:t>
            </a:r>
            <a:r>
              <a:rPr lang="zh-CN" altLang="en-US" sz="1600">
                <a:ea typeface="华文中宋" pitchFamily="2" charset="-122"/>
              </a:rPr>
              <a:t>，但： </a:t>
            </a:r>
          </a:p>
        </p:txBody>
      </p:sp>
      <p:graphicFrame>
        <p:nvGraphicFramePr>
          <p:cNvPr id="49161" name="Object 9"/>
          <p:cNvGraphicFramePr>
            <a:graphicFrameLocks noChangeAspect="1"/>
          </p:cNvGraphicFramePr>
          <p:nvPr/>
        </p:nvGraphicFramePr>
        <p:xfrm>
          <a:off x="2411413" y="3597275"/>
          <a:ext cx="3506787" cy="919163"/>
        </p:xfrm>
        <a:graphic>
          <a:graphicData uri="http://schemas.openxmlformats.org/presentationml/2006/ole">
            <mc:AlternateContent xmlns:mc="http://schemas.openxmlformats.org/markup-compatibility/2006">
              <mc:Choice xmlns:v="urn:schemas-microsoft-com:vml" Requires="v">
                <p:oleObj spid="_x0000_s48143" name="公式" r:id="rId11" imgW="1206500" imgH="419100" progId="Equation.3">
                  <p:embed/>
                </p:oleObj>
              </mc:Choice>
              <mc:Fallback>
                <p:oleObj name="公式" r:id="rId11" imgW="1206500" imgH="4191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11413" y="3597275"/>
                        <a:ext cx="3506787"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9155"/>
                                        </p:tgtEl>
                                        <p:attrNameLst>
                                          <p:attrName>style.visibility</p:attrName>
                                        </p:attrNameLst>
                                      </p:cBhvr>
                                      <p:to>
                                        <p:strVal val="visible"/>
                                      </p:to>
                                    </p:set>
                                    <p:anim calcmode="lin" valueType="num">
                                      <p:cBhvr>
                                        <p:cTn id="7" dur="500" fill="hold"/>
                                        <p:tgtEl>
                                          <p:spTgt spid="49155"/>
                                        </p:tgtEl>
                                        <p:attrNameLst>
                                          <p:attrName>ppt_w</p:attrName>
                                        </p:attrNameLst>
                                      </p:cBhvr>
                                      <p:tavLst>
                                        <p:tav tm="0">
                                          <p:val>
                                            <p:fltVal val="0"/>
                                          </p:val>
                                        </p:tav>
                                        <p:tav tm="100000">
                                          <p:val>
                                            <p:strVal val="#ppt_w"/>
                                          </p:val>
                                        </p:tav>
                                      </p:tavLst>
                                    </p:anim>
                                    <p:anim calcmode="lin" valueType="num">
                                      <p:cBhvr>
                                        <p:cTn id="8" dur="500" fill="hold"/>
                                        <p:tgtEl>
                                          <p:spTgt spid="49155"/>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49156"/>
                                        </p:tgtEl>
                                        <p:attrNameLst>
                                          <p:attrName>style.visibility</p:attrName>
                                        </p:attrNameLst>
                                      </p:cBhvr>
                                      <p:to>
                                        <p:strVal val="visible"/>
                                      </p:to>
                                    </p:set>
                                    <p:anim calcmode="lin" valueType="num">
                                      <p:cBhvr>
                                        <p:cTn id="13" dur="500" fill="hold"/>
                                        <p:tgtEl>
                                          <p:spTgt spid="49156"/>
                                        </p:tgtEl>
                                        <p:attrNameLst>
                                          <p:attrName>ppt_w</p:attrName>
                                        </p:attrNameLst>
                                      </p:cBhvr>
                                      <p:tavLst>
                                        <p:tav tm="0">
                                          <p:val>
                                            <p:fltVal val="0"/>
                                          </p:val>
                                        </p:tav>
                                        <p:tav tm="100000">
                                          <p:val>
                                            <p:strVal val="#ppt_w"/>
                                          </p:val>
                                        </p:tav>
                                      </p:tavLst>
                                    </p:anim>
                                    <p:anim calcmode="lin" valueType="num">
                                      <p:cBhvr>
                                        <p:cTn id="14" dur="500" fill="hold"/>
                                        <p:tgtEl>
                                          <p:spTgt spid="49156"/>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49157"/>
                                        </p:tgtEl>
                                        <p:attrNameLst>
                                          <p:attrName>style.visibility</p:attrName>
                                        </p:attrNameLst>
                                      </p:cBhvr>
                                      <p:to>
                                        <p:strVal val="visible"/>
                                      </p:to>
                                    </p:set>
                                    <p:anim calcmode="lin" valueType="num">
                                      <p:cBhvr>
                                        <p:cTn id="19" dur="500" fill="hold"/>
                                        <p:tgtEl>
                                          <p:spTgt spid="49157"/>
                                        </p:tgtEl>
                                        <p:attrNameLst>
                                          <p:attrName>ppt_w</p:attrName>
                                        </p:attrNameLst>
                                      </p:cBhvr>
                                      <p:tavLst>
                                        <p:tav tm="0">
                                          <p:val>
                                            <p:fltVal val="0"/>
                                          </p:val>
                                        </p:tav>
                                        <p:tav tm="100000">
                                          <p:val>
                                            <p:strVal val="#ppt_w"/>
                                          </p:val>
                                        </p:tav>
                                      </p:tavLst>
                                    </p:anim>
                                    <p:anim calcmode="lin" valueType="num">
                                      <p:cBhvr>
                                        <p:cTn id="20" dur="500" fill="hold"/>
                                        <p:tgtEl>
                                          <p:spTgt spid="4915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4" name="TYP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nodeType="clickEffect">
                                  <p:stCondLst>
                                    <p:cond delay="0"/>
                                  </p:stCondLst>
                                  <p:childTnLst>
                                    <p:set>
                                      <p:cBhvr>
                                        <p:cTn id="24" dur="1" fill="hold">
                                          <p:stCondLst>
                                            <p:cond delay="0"/>
                                          </p:stCondLst>
                                        </p:cTn>
                                        <p:tgtEl>
                                          <p:spTgt spid="49158"/>
                                        </p:tgtEl>
                                        <p:attrNameLst>
                                          <p:attrName>style.visibility</p:attrName>
                                        </p:attrNameLst>
                                      </p:cBhvr>
                                      <p:to>
                                        <p:strVal val="visible"/>
                                      </p:to>
                                    </p:set>
                                    <p:anim calcmode="lin" valueType="num">
                                      <p:cBhvr>
                                        <p:cTn id="25" dur="500" fill="hold"/>
                                        <p:tgtEl>
                                          <p:spTgt spid="49158"/>
                                        </p:tgtEl>
                                        <p:attrNameLst>
                                          <p:attrName>ppt_w</p:attrName>
                                        </p:attrNameLst>
                                      </p:cBhvr>
                                      <p:tavLst>
                                        <p:tav tm="0">
                                          <p:val>
                                            <p:fltVal val="0"/>
                                          </p:val>
                                        </p:tav>
                                        <p:tav tm="100000">
                                          <p:val>
                                            <p:strVal val="#ppt_w"/>
                                          </p:val>
                                        </p:tav>
                                      </p:tavLst>
                                    </p:anim>
                                    <p:anim calcmode="lin" valueType="num">
                                      <p:cBhvr>
                                        <p:cTn id="26" dur="500" fill="hold"/>
                                        <p:tgtEl>
                                          <p:spTgt spid="4915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
                                            </p:cond>
                                          </p:stCondLst>
                                          <p:endCondLst>
                                            <p:cond evt="onStopAudio" delay="0">
                                              <p:tgtEl>
                                                <p:sldTgt/>
                                              </p:tgtEl>
                                            </p:cond>
                                          </p:endCondLst>
                                        </p:cTn>
                                        <p:tgtEl>
                                          <p:sndTgt r:embed="rId4" name="TYPE.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49160"/>
                                        </p:tgtEl>
                                        <p:attrNameLst>
                                          <p:attrName>style.visibility</p:attrName>
                                        </p:attrNameLst>
                                      </p:cBhvr>
                                      <p:to>
                                        <p:strVal val="visible"/>
                                      </p:to>
                                    </p:set>
                                    <p:anim calcmode="lin" valueType="num">
                                      <p:cBhvr>
                                        <p:cTn id="31" dur="500" fill="hold"/>
                                        <p:tgtEl>
                                          <p:spTgt spid="49160"/>
                                        </p:tgtEl>
                                        <p:attrNameLst>
                                          <p:attrName>ppt_w</p:attrName>
                                        </p:attrNameLst>
                                      </p:cBhvr>
                                      <p:tavLst>
                                        <p:tav tm="0">
                                          <p:val>
                                            <p:fltVal val="0"/>
                                          </p:val>
                                        </p:tav>
                                        <p:tav tm="100000">
                                          <p:val>
                                            <p:strVal val="#ppt_w"/>
                                          </p:val>
                                        </p:tav>
                                      </p:tavLst>
                                    </p:anim>
                                    <p:anim calcmode="lin" valueType="num">
                                      <p:cBhvr>
                                        <p:cTn id="32" dur="500" fill="hold"/>
                                        <p:tgtEl>
                                          <p:spTgt spid="49160"/>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nodeType="clickEffect">
                                  <p:stCondLst>
                                    <p:cond delay="0"/>
                                  </p:stCondLst>
                                  <p:childTnLst>
                                    <p:set>
                                      <p:cBhvr>
                                        <p:cTn id="36" dur="1" fill="hold">
                                          <p:stCondLst>
                                            <p:cond delay="0"/>
                                          </p:stCondLst>
                                        </p:cTn>
                                        <p:tgtEl>
                                          <p:spTgt spid="49161"/>
                                        </p:tgtEl>
                                        <p:attrNameLst>
                                          <p:attrName>style.visibility</p:attrName>
                                        </p:attrNameLst>
                                      </p:cBhvr>
                                      <p:to>
                                        <p:strVal val="visible"/>
                                      </p:to>
                                    </p:set>
                                    <p:anim calcmode="lin" valueType="num">
                                      <p:cBhvr>
                                        <p:cTn id="37" dur="500" fill="hold"/>
                                        <p:tgtEl>
                                          <p:spTgt spid="49161"/>
                                        </p:tgtEl>
                                        <p:attrNameLst>
                                          <p:attrName>ppt_w</p:attrName>
                                        </p:attrNameLst>
                                      </p:cBhvr>
                                      <p:tavLst>
                                        <p:tav tm="0">
                                          <p:val>
                                            <p:fltVal val="0"/>
                                          </p:val>
                                        </p:tav>
                                        <p:tav tm="100000">
                                          <p:val>
                                            <p:strVal val="#ppt_w"/>
                                          </p:val>
                                        </p:tav>
                                      </p:tavLst>
                                    </p:anim>
                                    <p:anim calcmode="lin" valueType="num">
                                      <p:cBhvr>
                                        <p:cTn id="38" dur="500" fill="hold"/>
                                        <p:tgtEl>
                                          <p:spTgt spid="4916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autoUpdateAnimBg="0"/>
      <p:bldP spid="49160"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395288" y="842963"/>
            <a:ext cx="8642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 一宇航员要到离地球为５光年的星球去旅行，如果宇航员希望把这路程缩短为３光年，则他所乘的火箭相对于地球的速度应是；</a:t>
            </a:r>
          </a:p>
        </p:txBody>
      </p:sp>
      <p:sp>
        <p:nvSpPr>
          <p:cNvPr id="51204" name="Text Box 4"/>
          <p:cNvSpPr txBox="1">
            <a:spLocks noChangeArrowheads="1"/>
          </p:cNvSpPr>
          <p:nvPr/>
        </p:nvSpPr>
        <p:spPr bwMode="auto">
          <a:xfrm>
            <a:off x="381000" y="2346325"/>
            <a:ext cx="7359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解：此处本征长度</a:t>
            </a:r>
            <a:r>
              <a:rPr lang="en-US" altLang="zh-CN" sz="1800" i="1">
                <a:ea typeface="华文中宋" pitchFamily="2" charset="-122"/>
              </a:rPr>
              <a:t>L</a:t>
            </a:r>
            <a:r>
              <a:rPr lang="en-US" altLang="zh-CN" sz="1800" baseline="-25000">
                <a:ea typeface="华文中宋" pitchFamily="2" charset="-122"/>
              </a:rPr>
              <a:t>0</a:t>
            </a:r>
            <a:r>
              <a:rPr lang="en-US" altLang="zh-CN" sz="1800">
                <a:ea typeface="华文中宋" pitchFamily="2" charset="-122"/>
              </a:rPr>
              <a:t>=5</a:t>
            </a:r>
            <a:r>
              <a:rPr lang="zh-CN" altLang="en-US" sz="1800">
                <a:ea typeface="华文中宋" pitchFamily="2" charset="-122"/>
              </a:rPr>
              <a:t>光年，“动尺”长度是</a:t>
            </a:r>
            <a:r>
              <a:rPr lang="en-US" altLang="zh-CN" sz="1800" i="1">
                <a:ea typeface="华文中宋" pitchFamily="2" charset="-122"/>
              </a:rPr>
              <a:t>L</a:t>
            </a:r>
            <a:r>
              <a:rPr lang="en-US" altLang="zh-CN" sz="1800">
                <a:ea typeface="华文中宋" pitchFamily="2" charset="-122"/>
              </a:rPr>
              <a:t>=3</a:t>
            </a:r>
            <a:r>
              <a:rPr lang="zh-CN" altLang="en-US" sz="1800">
                <a:ea typeface="华文中宋" pitchFamily="2" charset="-122"/>
              </a:rPr>
              <a:t>光年</a:t>
            </a:r>
          </a:p>
        </p:txBody>
      </p:sp>
      <p:graphicFrame>
        <p:nvGraphicFramePr>
          <p:cNvPr id="51205" name="Object 5"/>
          <p:cNvGraphicFramePr>
            <a:graphicFrameLocks noChangeAspect="1"/>
          </p:cNvGraphicFramePr>
          <p:nvPr/>
        </p:nvGraphicFramePr>
        <p:xfrm>
          <a:off x="1547813" y="2844800"/>
          <a:ext cx="2303462" cy="762000"/>
        </p:xfrm>
        <a:graphic>
          <a:graphicData uri="http://schemas.openxmlformats.org/presentationml/2006/ole">
            <mc:AlternateContent xmlns:mc="http://schemas.openxmlformats.org/markup-compatibility/2006">
              <mc:Choice xmlns:v="urn:schemas-microsoft-com:vml" Requires="v">
                <p:oleObj spid="_x0000_s49181" name="公式" r:id="rId5" imgW="812447" imgH="406224" progId="Equation.3">
                  <p:embed/>
                </p:oleObj>
              </mc:Choice>
              <mc:Fallback>
                <p:oleObj name="公式" r:id="rId5" imgW="812447" imgH="406224"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2844800"/>
                        <a:ext cx="23034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6" name="Object 6"/>
          <p:cNvGraphicFramePr>
            <a:graphicFrameLocks noChangeAspect="1"/>
          </p:cNvGraphicFramePr>
          <p:nvPr/>
        </p:nvGraphicFramePr>
        <p:xfrm>
          <a:off x="4643438" y="2795588"/>
          <a:ext cx="2376487" cy="855662"/>
        </p:xfrm>
        <a:graphic>
          <a:graphicData uri="http://schemas.openxmlformats.org/presentationml/2006/ole">
            <mc:AlternateContent xmlns:mc="http://schemas.openxmlformats.org/markup-compatibility/2006">
              <mc:Choice xmlns:v="urn:schemas-microsoft-com:vml" Requires="v">
                <p:oleObj spid="_x0000_s49182" name="公式" r:id="rId7" imgW="952500" imgH="457200" progId="Equation.3">
                  <p:embed/>
                </p:oleObj>
              </mc:Choice>
              <mc:Fallback>
                <p:oleObj name="公式" r:id="rId7" imgW="952500" imgH="4572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2795588"/>
                        <a:ext cx="2376487"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7" name="Object 7"/>
          <p:cNvGraphicFramePr>
            <a:graphicFrameLocks noChangeAspect="1"/>
          </p:cNvGraphicFramePr>
          <p:nvPr/>
        </p:nvGraphicFramePr>
        <p:xfrm>
          <a:off x="2632075" y="3651250"/>
          <a:ext cx="2663825" cy="1041400"/>
        </p:xfrm>
        <a:graphic>
          <a:graphicData uri="http://schemas.openxmlformats.org/presentationml/2006/ole">
            <mc:AlternateContent xmlns:mc="http://schemas.openxmlformats.org/markup-compatibility/2006">
              <mc:Choice xmlns:v="urn:schemas-microsoft-com:vml" Requires="v">
                <p:oleObj spid="_x0000_s49183" name="公式" r:id="rId9" imgW="952087" imgH="495085" progId="Equation.3">
                  <p:embed/>
                </p:oleObj>
              </mc:Choice>
              <mc:Fallback>
                <p:oleObj name="公式" r:id="rId9" imgW="952087" imgH="495085"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32075" y="3651250"/>
                        <a:ext cx="2663825" cy="1041400"/>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08" name="Object 8"/>
          <p:cNvGraphicFramePr>
            <a:graphicFrameLocks noChangeAspect="1"/>
          </p:cNvGraphicFramePr>
          <p:nvPr/>
        </p:nvGraphicFramePr>
        <p:xfrm>
          <a:off x="5224463" y="3868738"/>
          <a:ext cx="787400" cy="647700"/>
        </p:xfrm>
        <a:graphic>
          <a:graphicData uri="http://schemas.openxmlformats.org/presentationml/2006/ole">
            <mc:AlternateContent xmlns:mc="http://schemas.openxmlformats.org/markup-compatibility/2006">
              <mc:Choice xmlns:v="urn:schemas-microsoft-com:vml" Requires="v">
                <p:oleObj spid="_x0000_s49184" name="公式" r:id="rId11" imgW="266469" imgH="291847" progId="Equation.3">
                  <p:embed/>
                </p:oleObj>
              </mc:Choice>
              <mc:Fallback>
                <p:oleObj name="公式" r:id="rId11" imgW="266469" imgH="291847"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24463" y="3868738"/>
                        <a:ext cx="787400" cy="647700"/>
                      </a:xfrm>
                      <a:prstGeom prst="rect">
                        <a:avLst/>
                      </a:prstGeom>
                      <a:noFill/>
                      <a:ln>
                        <a:noFill/>
                      </a:ln>
                      <a:effectLst/>
                      <a:extLst>
                        <a:ext uri="{909E8E84-426E-40DD-AFC4-6F175D3DCCD1}">
                          <a14:hiddenFill xmlns:a14="http://schemas.microsoft.com/office/drawing/2010/main">
                            <a:solidFill>
                              <a:srgbClr val="FF99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21"/>
          <p:cNvGrpSpPr>
            <a:grpSpLocks/>
          </p:cNvGrpSpPr>
          <p:nvPr/>
        </p:nvGrpSpPr>
        <p:grpSpPr bwMode="auto">
          <a:xfrm>
            <a:off x="1476375" y="1438275"/>
            <a:ext cx="4608513" cy="846138"/>
            <a:chOff x="930" y="890"/>
            <a:chExt cx="3583" cy="952"/>
          </a:xfrm>
        </p:grpSpPr>
        <p:grpSp>
          <p:nvGrpSpPr>
            <p:cNvPr id="49161" name="Group 20"/>
            <p:cNvGrpSpPr>
              <a:grpSpLocks/>
            </p:cNvGrpSpPr>
            <p:nvPr/>
          </p:nvGrpSpPr>
          <p:grpSpPr bwMode="auto">
            <a:xfrm>
              <a:off x="930" y="890"/>
              <a:ext cx="1316" cy="459"/>
              <a:chOff x="2154" y="2439"/>
              <a:chExt cx="1316" cy="459"/>
            </a:xfrm>
          </p:grpSpPr>
          <p:graphicFrame>
            <p:nvGraphicFramePr>
              <p:cNvPr id="49171" name="Object 9"/>
              <p:cNvGraphicFramePr>
                <a:graphicFrameLocks noChangeAspect="1"/>
              </p:cNvGraphicFramePr>
              <p:nvPr/>
            </p:nvGraphicFramePr>
            <p:xfrm>
              <a:off x="2925" y="2439"/>
              <a:ext cx="545" cy="459"/>
            </p:xfrm>
            <a:graphic>
              <a:graphicData uri="http://schemas.openxmlformats.org/presentationml/2006/ole">
                <mc:AlternateContent xmlns:mc="http://schemas.openxmlformats.org/markup-compatibility/2006">
                  <mc:Choice xmlns:v="urn:schemas-microsoft-com:vml" Requires="v">
                    <p:oleObj spid="_x0000_s49185" name="Equation" r:id="rId13" imgW="482391" imgH="406224" progId="Equation.DSMT4">
                      <p:embed/>
                    </p:oleObj>
                  </mc:Choice>
                  <mc:Fallback>
                    <p:oleObj name="Equation" r:id="rId13" imgW="482391" imgH="406224" progId="Equation.DSMT4">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5" y="2439"/>
                            <a:ext cx="545"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72" name="Rectangle 13"/>
              <p:cNvSpPr>
                <a:spLocks noChangeArrowheads="1"/>
              </p:cNvSpPr>
              <p:nvPr/>
            </p:nvSpPr>
            <p:spPr bwMode="auto">
              <a:xfrm>
                <a:off x="2154" y="2522"/>
                <a:ext cx="79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1800"/>
                  <a:t>(A)</a:t>
                </a:r>
              </a:p>
            </p:txBody>
          </p:sp>
        </p:grpSp>
        <p:grpSp>
          <p:nvGrpSpPr>
            <p:cNvPr id="49162" name="Group 19"/>
            <p:cNvGrpSpPr>
              <a:grpSpLocks/>
            </p:cNvGrpSpPr>
            <p:nvPr/>
          </p:nvGrpSpPr>
          <p:grpSpPr bwMode="auto">
            <a:xfrm>
              <a:off x="3152" y="890"/>
              <a:ext cx="1315" cy="458"/>
              <a:chOff x="2472" y="2750"/>
              <a:chExt cx="1315" cy="458"/>
            </a:xfrm>
          </p:grpSpPr>
          <p:graphicFrame>
            <p:nvGraphicFramePr>
              <p:cNvPr id="49169" name="Object 10"/>
              <p:cNvGraphicFramePr>
                <a:graphicFrameLocks noChangeAspect="1"/>
              </p:cNvGraphicFramePr>
              <p:nvPr/>
            </p:nvGraphicFramePr>
            <p:xfrm>
              <a:off x="3243" y="2750"/>
              <a:ext cx="544" cy="458"/>
            </p:xfrm>
            <a:graphic>
              <a:graphicData uri="http://schemas.openxmlformats.org/presentationml/2006/ole">
                <mc:AlternateContent xmlns:mc="http://schemas.openxmlformats.org/markup-compatibility/2006">
                  <mc:Choice xmlns:v="urn:schemas-microsoft-com:vml" Requires="v">
                    <p:oleObj spid="_x0000_s49186" name="Equation" r:id="rId15" imgW="482391" imgH="406224" progId="Equation.DSMT4">
                      <p:embed/>
                    </p:oleObj>
                  </mc:Choice>
                  <mc:Fallback>
                    <p:oleObj name="Equation" r:id="rId15" imgW="482391" imgH="406224"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43" y="2750"/>
                            <a:ext cx="544" cy="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70" name="Rectangle 14"/>
              <p:cNvSpPr>
                <a:spLocks noChangeArrowheads="1"/>
              </p:cNvSpPr>
              <p:nvPr/>
            </p:nvSpPr>
            <p:spPr bwMode="auto">
              <a:xfrm>
                <a:off x="2472" y="2840"/>
                <a:ext cx="79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1800"/>
                  <a:t>(B)</a:t>
                </a:r>
              </a:p>
            </p:txBody>
          </p:sp>
        </p:grpSp>
        <p:grpSp>
          <p:nvGrpSpPr>
            <p:cNvPr id="49163" name="Group 18"/>
            <p:cNvGrpSpPr>
              <a:grpSpLocks/>
            </p:cNvGrpSpPr>
            <p:nvPr/>
          </p:nvGrpSpPr>
          <p:grpSpPr bwMode="auto">
            <a:xfrm>
              <a:off x="930" y="1344"/>
              <a:ext cx="1337" cy="496"/>
              <a:chOff x="3312" y="2432"/>
              <a:chExt cx="1337" cy="496"/>
            </a:xfrm>
          </p:grpSpPr>
          <p:graphicFrame>
            <p:nvGraphicFramePr>
              <p:cNvPr id="49167" name="Object 11"/>
              <p:cNvGraphicFramePr>
                <a:graphicFrameLocks noChangeAspect="1"/>
              </p:cNvGraphicFramePr>
              <p:nvPr/>
            </p:nvGraphicFramePr>
            <p:xfrm>
              <a:off x="4059" y="2432"/>
              <a:ext cx="590" cy="496"/>
            </p:xfrm>
            <a:graphic>
              <a:graphicData uri="http://schemas.openxmlformats.org/presentationml/2006/ole">
                <mc:AlternateContent xmlns:mc="http://schemas.openxmlformats.org/markup-compatibility/2006">
                  <mc:Choice xmlns:v="urn:schemas-microsoft-com:vml" Requires="v">
                    <p:oleObj spid="_x0000_s49187" name="Equation" r:id="rId17" imgW="482391" imgH="406224" progId="Equation.DSMT4">
                      <p:embed/>
                    </p:oleObj>
                  </mc:Choice>
                  <mc:Fallback>
                    <p:oleObj name="Equation" r:id="rId17" imgW="482391" imgH="406224"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59" y="2432"/>
                            <a:ext cx="59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68" name="Rectangle 15"/>
              <p:cNvSpPr>
                <a:spLocks noChangeArrowheads="1"/>
              </p:cNvSpPr>
              <p:nvPr/>
            </p:nvSpPr>
            <p:spPr bwMode="auto">
              <a:xfrm>
                <a:off x="3312" y="2523"/>
                <a:ext cx="79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1800"/>
                  <a:t>(C)</a:t>
                </a:r>
              </a:p>
            </p:txBody>
          </p:sp>
        </p:grpSp>
        <p:grpSp>
          <p:nvGrpSpPr>
            <p:cNvPr id="49164" name="Group 17"/>
            <p:cNvGrpSpPr>
              <a:grpSpLocks/>
            </p:cNvGrpSpPr>
            <p:nvPr/>
          </p:nvGrpSpPr>
          <p:grpSpPr bwMode="auto">
            <a:xfrm>
              <a:off x="3152" y="1344"/>
              <a:ext cx="1361" cy="498"/>
              <a:chOff x="3243" y="2704"/>
              <a:chExt cx="1406" cy="507"/>
            </a:xfrm>
          </p:grpSpPr>
          <p:graphicFrame>
            <p:nvGraphicFramePr>
              <p:cNvPr id="49165" name="Object 12"/>
              <p:cNvGraphicFramePr>
                <a:graphicFrameLocks noChangeAspect="1"/>
              </p:cNvGraphicFramePr>
              <p:nvPr/>
            </p:nvGraphicFramePr>
            <p:xfrm>
              <a:off x="3968" y="2704"/>
              <a:ext cx="681" cy="507"/>
            </p:xfrm>
            <a:graphic>
              <a:graphicData uri="http://schemas.openxmlformats.org/presentationml/2006/ole">
                <mc:AlternateContent xmlns:mc="http://schemas.openxmlformats.org/markup-compatibility/2006">
                  <mc:Choice xmlns:v="urn:schemas-microsoft-com:vml" Requires="v">
                    <p:oleObj spid="_x0000_s49188" name="Equation" r:id="rId19" imgW="545626" imgH="406048" progId="Equation.DSMT4">
                      <p:embed/>
                    </p:oleObj>
                  </mc:Choice>
                  <mc:Fallback>
                    <p:oleObj name="Equation" r:id="rId19" imgW="545626" imgH="406048" progId="Equation.DSMT4">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68" y="2704"/>
                            <a:ext cx="681" cy="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66" name="Rectangle 16"/>
              <p:cNvSpPr>
                <a:spLocks noChangeArrowheads="1"/>
              </p:cNvSpPr>
              <p:nvPr/>
            </p:nvSpPr>
            <p:spPr bwMode="auto">
              <a:xfrm>
                <a:off x="3243" y="2795"/>
                <a:ext cx="793"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1800"/>
                  <a:t>(D)</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1202"/>
                                        </p:tgtEl>
                                        <p:attrNameLst>
                                          <p:attrName>style.visibility</p:attrName>
                                        </p:attrNameLst>
                                      </p:cBhvr>
                                      <p:to>
                                        <p:strVal val="visible"/>
                                      </p:to>
                                    </p:set>
                                    <p:anim calcmode="lin" valueType="num">
                                      <p:cBhvr>
                                        <p:cTn id="7" dur="500" fill="hold"/>
                                        <p:tgtEl>
                                          <p:spTgt spid="51202"/>
                                        </p:tgtEl>
                                        <p:attrNameLst>
                                          <p:attrName>ppt_w</p:attrName>
                                        </p:attrNameLst>
                                      </p:cBhvr>
                                      <p:tavLst>
                                        <p:tav tm="0">
                                          <p:val>
                                            <p:fltVal val="0"/>
                                          </p:val>
                                        </p:tav>
                                        <p:tav tm="100000">
                                          <p:val>
                                            <p:strVal val="#ppt_w"/>
                                          </p:val>
                                        </p:tav>
                                      </p:tavLst>
                                    </p:anim>
                                    <p:anim calcmode="lin" valueType="num">
                                      <p:cBhvr>
                                        <p:cTn id="8" dur="500" fill="hold"/>
                                        <p:tgtEl>
                                          <p:spTgt spid="51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4" name="CAMERA.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51204"/>
                                        </p:tgtEl>
                                        <p:attrNameLst>
                                          <p:attrName>style.visibility</p:attrName>
                                        </p:attrNameLst>
                                      </p:cBhvr>
                                      <p:to>
                                        <p:strVal val="visible"/>
                                      </p:to>
                                    </p:set>
                                    <p:anim calcmode="lin" valueType="num">
                                      <p:cBhvr>
                                        <p:cTn id="18" dur="500" fill="hold"/>
                                        <p:tgtEl>
                                          <p:spTgt spid="51204"/>
                                        </p:tgtEl>
                                        <p:attrNameLst>
                                          <p:attrName>ppt_w</p:attrName>
                                        </p:attrNameLst>
                                      </p:cBhvr>
                                      <p:tavLst>
                                        <p:tav tm="0">
                                          <p:val>
                                            <p:fltVal val="0"/>
                                          </p:val>
                                        </p:tav>
                                        <p:tav tm="100000">
                                          <p:val>
                                            <p:strVal val="#ppt_w"/>
                                          </p:val>
                                        </p:tav>
                                      </p:tavLst>
                                    </p:anim>
                                    <p:anim calcmode="lin" valueType="num">
                                      <p:cBhvr>
                                        <p:cTn id="19" dur="500" fill="hold"/>
                                        <p:tgtEl>
                                          <p:spTgt spid="51204"/>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nodeType="clickEffect">
                                  <p:stCondLst>
                                    <p:cond delay="0"/>
                                  </p:stCondLst>
                                  <p:childTnLst>
                                    <p:set>
                                      <p:cBhvr>
                                        <p:cTn id="23" dur="1" fill="hold">
                                          <p:stCondLst>
                                            <p:cond delay="0"/>
                                          </p:stCondLst>
                                        </p:cTn>
                                        <p:tgtEl>
                                          <p:spTgt spid="51205"/>
                                        </p:tgtEl>
                                        <p:attrNameLst>
                                          <p:attrName>style.visibility</p:attrName>
                                        </p:attrNameLst>
                                      </p:cBhvr>
                                      <p:to>
                                        <p:strVal val="visible"/>
                                      </p:to>
                                    </p:set>
                                    <p:anim calcmode="lin" valueType="num">
                                      <p:cBhvr>
                                        <p:cTn id="24" dur="500" fill="hold"/>
                                        <p:tgtEl>
                                          <p:spTgt spid="51205"/>
                                        </p:tgtEl>
                                        <p:attrNameLst>
                                          <p:attrName>ppt_w</p:attrName>
                                        </p:attrNameLst>
                                      </p:cBhvr>
                                      <p:tavLst>
                                        <p:tav tm="0">
                                          <p:val>
                                            <p:fltVal val="0"/>
                                          </p:val>
                                        </p:tav>
                                        <p:tav tm="100000">
                                          <p:val>
                                            <p:strVal val="#ppt_w"/>
                                          </p:val>
                                        </p:tav>
                                      </p:tavLst>
                                    </p:anim>
                                    <p:anim calcmode="lin" valueType="num">
                                      <p:cBhvr>
                                        <p:cTn id="25" dur="500" fill="hold"/>
                                        <p:tgtEl>
                                          <p:spTgt spid="51205"/>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0" fill="hold" nodeType="clickEffect">
                                  <p:stCondLst>
                                    <p:cond delay="0"/>
                                  </p:stCondLst>
                                  <p:childTnLst>
                                    <p:set>
                                      <p:cBhvr>
                                        <p:cTn id="29" dur="1" fill="hold">
                                          <p:stCondLst>
                                            <p:cond delay="0"/>
                                          </p:stCondLst>
                                        </p:cTn>
                                        <p:tgtEl>
                                          <p:spTgt spid="51206"/>
                                        </p:tgtEl>
                                        <p:attrNameLst>
                                          <p:attrName>style.visibility</p:attrName>
                                        </p:attrNameLst>
                                      </p:cBhvr>
                                      <p:to>
                                        <p:strVal val="visible"/>
                                      </p:to>
                                    </p:set>
                                    <p:anim calcmode="lin" valueType="num">
                                      <p:cBhvr>
                                        <p:cTn id="30" dur="500" fill="hold"/>
                                        <p:tgtEl>
                                          <p:spTgt spid="51206"/>
                                        </p:tgtEl>
                                        <p:attrNameLst>
                                          <p:attrName>ppt_w</p:attrName>
                                        </p:attrNameLst>
                                      </p:cBhvr>
                                      <p:tavLst>
                                        <p:tav tm="0">
                                          <p:val>
                                            <p:fltVal val="0"/>
                                          </p:val>
                                        </p:tav>
                                        <p:tav tm="100000">
                                          <p:val>
                                            <p:strVal val="#ppt_w"/>
                                          </p:val>
                                        </p:tav>
                                      </p:tavLst>
                                    </p:anim>
                                    <p:anim calcmode="lin" valueType="num">
                                      <p:cBhvr>
                                        <p:cTn id="31" dur="500" fill="hold"/>
                                        <p:tgtEl>
                                          <p:spTgt spid="51206"/>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0" fill="hold" nodeType="clickEffect">
                                  <p:stCondLst>
                                    <p:cond delay="0"/>
                                  </p:stCondLst>
                                  <p:childTnLst>
                                    <p:set>
                                      <p:cBhvr>
                                        <p:cTn id="35" dur="1" fill="hold">
                                          <p:stCondLst>
                                            <p:cond delay="0"/>
                                          </p:stCondLst>
                                        </p:cTn>
                                        <p:tgtEl>
                                          <p:spTgt spid="51207"/>
                                        </p:tgtEl>
                                        <p:attrNameLst>
                                          <p:attrName>style.visibility</p:attrName>
                                        </p:attrNameLst>
                                      </p:cBhvr>
                                      <p:to>
                                        <p:strVal val="visible"/>
                                      </p:to>
                                    </p:set>
                                    <p:anim calcmode="lin" valueType="num">
                                      <p:cBhvr>
                                        <p:cTn id="36" dur="500" fill="hold"/>
                                        <p:tgtEl>
                                          <p:spTgt spid="51207"/>
                                        </p:tgtEl>
                                        <p:attrNameLst>
                                          <p:attrName>ppt_w</p:attrName>
                                        </p:attrNameLst>
                                      </p:cBhvr>
                                      <p:tavLst>
                                        <p:tav tm="0">
                                          <p:val>
                                            <p:fltVal val="0"/>
                                          </p:val>
                                        </p:tav>
                                        <p:tav tm="100000">
                                          <p:val>
                                            <p:strVal val="#ppt_w"/>
                                          </p:val>
                                        </p:tav>
                                      </p:tavLst>
                                    </p:anim>
                                    <p:anim calcmode="lin" valueType="num">
                                      <p:cBhvr>
                                        <p:cTn id="37" dur="500" fill="hold"/>
                                        <p:tgtEl>
                                          <p:spTgt spid="51207"/>
                                        </p:tgtEl>
                                        <p:attrNameLst>
                                          <p:attrName>ppt_h</p:attrName>
                                        </p:attrNameLst>
                                      </p:cBhvr>
                                      <p:tavLst>
                                        <p:tav tm="0">
                                          <p:val>
                                            <p:strVal val="#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nodeType="clickEffect">
                                  <p:stCondLst>
                                    <p:cond delay="0"/>
                                  </p:stCondLst>
                                  <p:childTnLst>
                                    <p:set>
                                      <p:cBhvr>
                                        <p:cTn id="41" dur="1" fill="hold">
                                          <p:stCondLst>
                                            <p:cond delay="0"/>
                                          </p:stCondLst>
                                        </p:cTn>
                                        <p:tgtEl>
                                          <p:spTgt spid="51208"/>
                                        </p:tgtEl>
                                        <p:attrNameLst>
                                          <p:attrName>style.visibility</p:attrName>
                                        </p:attrNameLst>
                                      </p:cBhvr>
                                      <p:to>
                                        <p:strVal val="visible"/>
                                      </p:to>
                                    </p:set>
                                    <p:anim calcmode="lin" valueType="num">
                                      <p:cBhvr>
                                        <p:cTn id="42" dur="500" fill="hold"/>
                                        <p:tgtEl>
                                          <p:spTgt spid="51208"/>
                                        </p:tgtEl>
                                        <p:attrNameLst>
                                          <p:attrName>ppt_w</p:attrName>
                                        </p:attrNameLst>
                                      </p:cBhvr>
                                      <p:tavLst>
                                        <p:tav tm="0">
                                          <p:val>
                                            <p:fltVal val="0"/>
                                          </p:val>
                                        </p:tav>
                                        <p:tav tm="100000">
                                          <p:val>
                                            <p:strVal val="#ppt_w"/>
                                          </p:val>
                                        </p:tav>
                                      </p:tavLst>
                                    </p:anim>
                                    <p:anim calcmode="lin" valueType="num">
                                      <p:cBhvr>
                                        <p:cTn id="43" dur="500" fill="hold"/>
                                        <p:tgtEl>
                                          <p:spTgt spid="5120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04"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5"/>
          <p:cNvSpPr txBox="1">
            <a:spLocks noChangeArrowheads="1"/>
          </p:cNvSpPr>
          <p:nvPr/>
        </p:nvSpPr>
        <p:spPr bwMode="auto">
          <a:xfrm>
            <a:off x="393700" y="771525"/>
            <a:ext cx="86423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solidFill>
                  <a:srgbClr val="0000FF"/>
                </a:solidFill>
                <a:ea typeface="华文中宋" pitchFamily="2" charset="-122"/>
              </a:rPr>
              <a:t>例  在 </a:t>
            </a:r>
            <a:r>
              <a:rPr kumimoji="0" lang="en-US" altLang="zh-CN" sz="1800" i="1">
                <a:solidFill>
                  <a:srgbClr val="0000FF"/>
                </a:solidFill>
                <a:ea typeface="华文中宋" pitchFamily="2" charset="-122"/>
              </a:rPr>
              <a:t>O </a:t>
            </a:r>
            <a:r>
              <a:rPr kumimoji="0" lang="zh-CN" altLang="en-US" sz="1800">
                <a:solidFill>
                  <a:srgbClr val="0000FF"/>
                </a:solidFill>
                <a:ea typeface="华文中宋" pitchFamily="2" charset="-122"/>
              </a:rPr>
              <a:t>参考系中，有一个静止的正方形，其面积为 </a:t>
            </a:r>
            <a:r>
              <a:rPr kumimoji="0" lang="en-US" altLang="zh-CN" sz="1800">
                <a:solidFill>
                  <a:srgbClr val="0000FF"/>
                </a:solidFill>
                <a:ea typeface="华文中宋" pitchFamily="2" charset="-122"/>
              </a:rPr>
              <a:t>100 cm</a:t>
            </a:r>
            <a:r>
              <a:rPr kumimoji="0" lang="en-US" altLang="zh-CN" sz="1800" baseline="30000">
                <a:solidFill>
                  <a:srgbClr val="0000FF"/>
                </a:solidFill>
                <a:ea typeface="华文中宋" pitchFamily="2" charset="-122"/>
              </a:rPr>
              <a:t>2</a:t>
            </a:r>
            <a:r>
              <a:rPr kumimoji="0" lang="zh-CN" altLang="en-US" sz="1800">
                <a:solidFill>
                  <a:srgbClr val="0000FF"/>
                </a:solidFill>
                <a:ea typeface="华文中宋" pitchFamily="2" charset="-122"/>
              </a:rPr>
              <a:t>。观测者 </a:t>
            </a:r>
            <a:r>
              <a:rPr kumimoji="0" lang="en-US" altLang="zh-CN" sz="1800" i="1">
                <a:solidFill>
                  <a:srgbClr val="0000FF"/>
                </a:solidFill>
                <a:ea typeface="华文中宋" pitchFamily="2" charset="-122"/>
              </a:rPr>
              <a:t>O</a:t>
            </a:r>
            <a:r>
              <a:rPr kumimoji="0" lang="en-US" altLang="zh-CN" sz="1800" baseline="30000">
                <a:solidFill>
                  <a:srgbClr val="0000FF"/>
                </a:solidFill>
                <a:ea typeface="华文中宋" pitchFamily="2" charset="-122"/>
              </a:rPr>
              <a:t>/ </a:t>
            </a:r>
            <a:r>
              <a:rPr kumimoji="0" lang="zh-CN" altLang="en-US" sz="1800">
                <a:solidFill>
                  <a:srgbClr val="0000FF"/>
                </a:solidFill>
                <a:ea typeface="华文中宋" pitchFamily="2" charset="-122"/>
              </a:rPr>
              <a:t>以 的匀速度沿正方形的对角线运动。求 </a:t>
            </a:r>
            <a:r>
              <a:rPr kumimoji="0" lang="en-US" altLang="zh-CN" sz="1800" i="1">
                <a:solidFill>
                  <a:srgbClr val="0000FF"/>
                </a:solidFill>
                <a:ea typeface="华文中宋" pitchFamily="2" charset="-122"/>
              </a:rPr>
              <a:t>O</a:t>
            </a:r>
            <a:r>
              <a:rPr kumimoji="0" lang="en-US" altLang="zh-CN" sz="1800" baseline="30000">
                <a:solidFill>
                  <a:srgbClr val="0000FF"/>
                </a:solidFill>
                <a:ea typeface="华文中宋" pitchFamily="2" charset="-122"/>
              </a:rPr>
              <a:t>/ </a:t>
            </a:r>
            <a:r>
              <a:rPr kumimoji="0" lang="zh-CN" altLang="en-US" sz="1800">
                <a:solidFill>
                  <a:srgbClr val="0000FF"/>
                </a:solidFill>
                <a:ea typeface="华文中宋" pitchFamily="2" charset="-122"/>
              </a:rPr>
              <a:t>所测得的该图形的面积。 </a:t>
            </a:r>
          </a:p>
        </p:txBody>
      </p:sp>
      <p:sp>
        <p:nvSpPr>
          <p:cNvPr id="4" name="Text Box 6"/>
          <p:cNvSpPr txBox="1">
            <a:spLocks noChangeArrowheads="1"/>
          </p:cNvSpPr>
          <p:nvPr/>
        </p:nvSpPr>
        <p:spPr bwMode="auto">
          <a:xfrm>
            <a:off x="452438" y="1563688"/>
            <a:ext cx="30765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ea typeface="华文中宋" pitchFamily="2" charset="-122"/>
              </a:rPr>
              <a:t>解：</a:t>
            </a:r>
            <a:r>
              <a:rPr kumimoji="0" lang="en-US" altLang="zh-CN" sz="1800" i="1">
                <a:solidFill>
                  <a:srgbClr val="FF0000"/>
                </a:solidFill>
                <a:ea typeface="华文中宋" pitchFamily="2" charset="-122"/>
              </a:rPr>
              <a:t>O</a:t>
            </a:r>
            <a:r>
              <a:rPr kumimoji="0" lang="zh-CN" altLang="en-US" sz="1800">
                <a:solidFill>
                  <a:srgbClr val="FF0000"/>
                </a:solidFill>
                <a:ea typeface="华文中宋" pitchFamily="2" charset="-122"/>
              </a:rPr>
              <a:t>系：</a:t>
            </a:r>
            <a:r>
              <a:rPr kumimoji="0" lang="zh-CN" altLang="en-US" sz="1800">
                <a:ea typeface="华文中宋" pitchFamily="2" charset="-122"/>
              </a:rPr>
              <a:t>设正方形边长为</a:t>
            </a:r>
            <a:r>
              <a:rPr kumimoji="0" lang="en-US" altLang="zh-CN" sz="1800" i="1">
                <a:ea typeface="华文中宋" pitchFamily="2" charset="-122"/>
              </a:rPr>
              <a:t>a</a:t>
            </a:r>
            <a:r>
              <a:rPr kumimoji="0" lang="zh-CN" altLang="en-US" sz="1800">
                <a:ea typeface="华文中宋" pitchFamily="2" charset="-122"/>
              </a:rPr>
              <a:t>，</a:t>
            </a:r>
            <a:endParaRPr kumimoji="0" lang="en-US" altLang="zh-CN" sz="1800" i="1">
              <a:ea typeface="华文中宋" pitchFamily="2" charset="-122"/>
            </a:endParaRPr>
          </a:p>
        </p:txBody>
      </p:sp>
      <p:sp>
        <p:nvSpPr>
          <p:cNvPr id="7" name="Rectangle 17"/>
          <p:cNvSpPr>
            <a:spLocks noChangeArrowheads="1"/>
          </p:cNvSpPr>
          <p:nvPr/>
        </p:nvSpPr>
        <p:spPr bwMode="auto">
          <a:xfrm>
            <a:off x="7889875" y="1479550"/>
            <a:ext cx="792163" cy="595313"/>
          </a:xfrm>
          <a:prstGeom prst="rect">
            <a:avLst/>
          </a:prstGeom>
          <a:solidFill>
            <a:schemeClr val="accent6">
              <a:lumMod val="20000"/>
              <a:lumOff val="80000"/>
            </a:schemeClr>
          </a:solidFill>
          <a:ln w="19050">
            <a:solidFill>
              <a:schemeClr val="accent6">
                <a:lumMod val="75000"/>
              </a:schemeClr>
            </a:solidFill>
            <a:miter lim="800000"/>
            <a:headEnd/>
            <a:tailEnd/>
          </a:ln>
          <a:extLst/>
        </p:spPr>
        <p:txBody>
          <a:bodyPr wrap="none" anchor="ctr"/>
          <a:lstStyle/>
          <a:p>
            <a:pPr>
              <a:defRPr/>
            </a:pPr>
            <a:endParaRPr kumimoji="0" lang="zh-CN" altLang="en-US" sz="1800">
              <a:ea typeface="宋体" pitchFamily="2" charset="-122"/>
            </a:endParaRPr>
          </a:p>
        </p:txBody>
      </p:sp>
      <p:grpSp>
        <p:nvGrpSpPr>
          <p:cNvPr id="5" name="组合 19"/>
          <p:cNvGrpSpPr>
            <a:grpSpLocks/>
          </p:cNvGrpSpPr>
          <p:nvPr/>
        </p:nvGrpSpPr>
        <p:grpSpPr bwMode="auto">
          <a:xfrm>
            <a:off x="7256463" y="1373188"/>
            <a:ext cx="1708150" cy="1025525"/>
            <a:chOff x="1872034" y="4231438"/>
            <a:chExt cx="1708599" cy="1365428"/>
          </a:xfrm>
        </p:grpSpPr>
        <p:sp>
          <p:nvSpPr>
            <p:cNvPr id="50193" name="Line 18"/>
            <p:cNvSpPr>
              <a:spLocks noChangeShapeType="1"/>
            </p:cNvSpPr>
            <p:nvPr/>
          </p:nvSpPr>
          <p:spPr bwMode="auto">
            <a:xfrm flipV="1">
              <a:off x="2492322" y="4243121"/>
              <a:ext cx="923533" cy="923533"/>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4" name="Line 19"/>
            <p:cNvSpPr>
              <a:spLocks noChangeShapeType="1"/>
            </p:cNvSpPr>
            <p:nvPr/>
          </p:nvSpPr>
          <p:spPr bwMode="auto">
            <a:xfrm flipH="1" flipV="1">
              <a:off x="1872034" y="4544779"/>
              <a:ext cx="1052087" cy="1052087"/>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5" name="Line 20"/>
            <p:cNvSpPr>
              <a:spLocks noChangeShapeType="1"/>
            </p:cNvSpPr>
            <p:nvPr/>
          </p:nvSpPr>
          <p:spPr bwMode="auto">
            <a:xfrm>
              <a:off x="2492322" y="4374492"/>
              <a:ext cx="792163" cy="7921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6" name="Line 21"/>
            <p:cNvSpPr>
              <a:spLocks noChangeShapeType="1"/>
            </p:cNvSpPr>
            <p:nvPr/>
          </p:nvSpPr>
          <p:spPr bwMode="auto">
            <a:xfrm flipH="1">
              <a:off x="2924122" y="5166655"/>
              <a:ext cx="360363" cy="3603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7" name="Line 22"/>
            <p:cNvSpPr>
              <a:spLocks noChangeShapeType="1"/>
            </p:cNvSpPr>
            <p:nvPr/>
          </p:nvSpPr>
          <p:spPr bwMode="auto">
            <a:xfrm flipH="1">
              <a:off x="2131960" y="4374492"/>
              <a:ext cx="360363" cy="3603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8" name="Text Box 23"/>
            <p:cNvSpPr txBox="1">
              <a:spLocks noChangeArrowheads="1"/>
            </p:cNvSpPr>
            <p:nvPr/>
          </p:nvSpPr>
          <p:spPr bwMode="auto">
            <a:xfrm>
              <a:off x="3280480" y="4231438"/>
              <a:ext cx="300153" cy="49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x</a:t>
              </a:r>
            </a:p>
          </p:txBody>
        </p:sp>
        <p:sp>
          <p:nvSpPr>
            <p:cNvPr id="50199" name="Text Box 24"/>
            <p:cNvSpPr txBox="1">
              <a:spLocks noChangeArrowheads="1"/>
            </p:cNvSpPr>
            <p:nvPr/>
          </p:nvSpPr>
          <p:spPr bwMode="auto">
            <a:xfrm>
              <a:off x="1912802" y="4279864"/>
              <a:ext cx="287326" cy="49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y</a:t>
              </a:r>
            </a:p>
          </p:txBody>
        </p:sp>
        <p:sp>
          <p:nvSpPr>
            <p:cNvPr id="50200" name="Text Box 25"/>
            <p:cNvSpPr txBox="1">
              <a:spLocks noChangeArrowheads="1"/>
            </p:cNvSpPr>
            <p:nvPr/>
          </p:nvSpPr>
          <p:spPr bwMode="auto">
            <a:xfrm>
              <a:off x="2235658" y="5049107"/>
              <a:ext cx="351461" cy="49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O</a:t>
              </a:r>
            </a:p>
          </p:txBody>
        </p:sp>
        <p:sp>
          <p:nvSpPr>
            <p:cNvPr id="50201" name="Text Box 26"/>
            <p:cNvSpPr txBox="1">
              <a:spLocks noChangeArrowheads="1"/>
            </p:cNvSpPr>
            <p:nvPr/>
          </p:nvSpPr>
          <p:spPr bwMode="auto">
            <a:xfrm>
              <a:off x="2759657" y="5049107"/>
              <a:ext cx="300153" cy="49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a</a:t>
              </a:r>
            </a:p>
          </p:txBody>
        </p:sp>
        <p:sp>
          <p:nvSpPr>
            <p:cNvPr id="50202" name="Text Box 27"/>
            <p:cNvSpPr txBox="1">
              <a:spLocks noChangeArrowheads="1"/>
            </p:cNvSpPr>
            <p:nvPr/>
          </p:nvSpPr>
          <p:spPr bwMode="auto">
            <a:xfrm>
              <a:off x="2262652" y="4544216"/>
              <a:ext cx="300153" cy="49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ea typeface="宋体" pitchFamily="2" charset="-122"/>
                </a:rPr>
                <a:t>a</a:t>
              </a:r>
            </a:p>
          </p:txBody>
        </p:sp>
      </p:grpSp>
      <p:sp>
        <p:nvSpPr>
          <p:cNvPr id="26" name="Rectangle 29"/>
          <p:cNvSpPr>
            <a:spLocks noChangeArrowheads="1"/>
          </p:cNvSpPr>
          <p:nvPr/>
        </p:nvSpPr>
        <p:spPr bwMode="auto">
          <a:xfrm>
            <a:off x="3025775" y="1554163"/>
            <a:ext cx="3706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kumimoji="0" lang="zh-CN" altLang="en-US" sz="1800">
                <a:ea typeface="华文中宋" pitchFamily="2" charset="-122"/>
              </a:rPr>
              <a:t>其在坐标轴上投影的大小为</a:t>
            </a:r>
          </a:p>
        </p:txBody>
      </p:sp>
      <p:graphicFrame>
        <p:nvGraphicFramePr>
          <p:cNvPr id="10" name="对象 9"/>
          <p:cNvGraphicFramePr>
            <a:graphicFrameLocks noChangeAspect="1"/>
          </p:cNvGraphicFramePr>
          <p:nvPr/>
        </p:nvGraphicFramePr>
        <p:xfrm>
          <a:off x="2411413" y="1868488"/>
          <a:ext cx="1204912" cy="581025"/>
        </p:xfrm>
        <a:graphic>
          <a:graphicData uri="http://schemas.openxmlformats.org/presentationml/2006/ole">
            <mc:AlternateContent xmlns:mc="http://schemas.openxmlformats.org/markup-compatibility/2006">
              <mc:Choice xmlns:v="urn:schemas-microsoft-com:vml" Requires="v">
                <p:oleObj spid="_x0000_s50210" name="Equation" r:id="rId3" imgW="672808" imgH="431613" progId="Equation.DSMT4">
                  <p:embed/>
                </p:oleObj>
              </mc:Choice>
              <mc:Fallback>
                <p:oleObj name="Equation" r:id="rId3" imgW="672808" imgH="431613" progId="Equation.DSMT4">
                  <p:embed/>
                  <p:pic>
                    <p:nvPicPr>
                      <p:cNvPr id="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868488"/>
                        <a:ext cx="120491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3851275" y="1868488"/>
          <a:ext cx="1204913" cy="581025"/>
        </p:xfrm>
        <a:graphic>
          <a:graphicData uri="http://schemas.openxmlformats.org/presentationml/2006/ole">
            <mc:AlternateContent xmlns:mc="http://schemas.openxmlformats.org/markup-compatibility/2006">
              <mc:Choice xmlns:v="urn:schemas-microsoft-com:vml" Requires="v">
                <p:oleObj spid="_x0000_s50211" name="公式" r:id="rId5" imgW="672808" imgH="431613" progId="Equation.3">
                  <p:embed/>
                </p:oleObj>
              </mc:Choice>
              <mc:Fallback>
                <p:oleObj name="公式" r:id="rId5" imgW="672808" imgH="431613" progId="Equation.3">
                  <p:embed/>
                  <p:pic>
                    <p:nvPicPr>
                      <p:cNvPr id="0"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275" y="1868488"/>
                        <a:ext cx="12049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Rectangle 35"/>
          <p:cNvSpPr>
            <a:spLocks noChangeArrowheads="1"/>
          </p:cNvSpPr>
          <p:nvPr/>
        </p:nvSpPr>
        <p:spPr bwMode="auto">
          <a:xfrm>
            <a:off x="1263650" y="2493963"/>
            <a:ext cx="1716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kumimoji="0" lang="zh-CN" altLang="en-US" sz="1800">
                <a:ea typeface="华文中宋" pitchFamily="2" charset="-122"/>
              </a:rPr>
              <a:t>则面积为：</a:t>
            </a:r>
          </a:p>
        </p:txBody>
      </p:sp>
      <p:graphicFrame>
        <p:nvGraphicFramePr>
          <p:cNvPr id="28" name="对象 27"/>
          <p:cNvGraphicFramePr>
            <a:graphicFrameLocks noChangeAspect="1"/>
          </p:cNvGraphicFramePr>
          <p:nvPr/>
        </p:nvGraphicFramePr>
        <p:xfrm>
          <a:off x="2900363" y="2455863"/>
          <a:ext cx="1816100" cy="439737"/>
        </p:xfrm>
        <a:graphic>
          <a:graphicData uri="http://schemas.openxmlformats.org/presentationml/2006/ole">
            <mc:AlternateContent xmlns:mc="http://schemas.openxmlformats.org/markup-compatibility/2006">
              <mc:Choice xmlns:v="urn:schemas-microsoft-com:vml" Requires="v">
                <p:oleObj spid="_x0000_s50212" name="公式" r:id="rId7" imgW="711200" imgH="228600" progId="Equation.3">
                  <p:embed/>
                </p:oleObj>
              </mc:Choice>
              <mc:Fallback>
                <p:oleObj name="公式" r:id="rId7" imgW="711200" imgH="228600" progId="Equation.3">
                  <p:embed/>
                  <p:pic>
                    <p:nvPicPr>
                      <p:cNvPr id="0" name="对象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0363" y="2455863"/>
                        <a:ext cx="181610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37"/>
          <p:cNvSpPr>
            <a:spLocks noChangeArrowheads="1"/>
          </p:cNvSpPr>
          <p:nvPr/>
        </p:nvSpPr>
        <p:spPr bwMode="auto">
          <a:xfrm>
            <a:off x="1441450" y="2841625"/>
            <a:ext cx="5651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en-US" altLang="zh-CN" sz="1800" i="1">
                <a:solidFill>
                  <a:srgbClr val="FF0000"/>
                </a:solidFill>
                <a:ea typeface="华文中宋" pitchFamily="2" charset="-122"/>
              </a:rPr>
              <a:t>O</a:t>
            </a:r>
            <a:r>
              <a:rPr kumimoji="0" lang="en-US" altLang="zh-CN" sz="1800" baseline="30000">
                <a:solidFill>
                  <a:srgbClr val="FF0000"/>
                </a:solidFill>
                <a:ea typeface="华文中宋" pitchFamily="2" charset="-122"/>
              </a:rPr>
              <a:t>/ </a:t>
            </a:r>
            <a:r>
              <a:rPr kumimoji="0" lang="zh-CN" altLang="en-US" sz="1800">
                <a:solidFill>
                  <a:srgbClr val="FF0000"/>
                </a:solidFill>
                <a:ea typeface="华文中宋" pitchFamily="2" charset="-122"/>
              </a:rPr>
              <a:t>系：</a:t>
            </a:r>
            <a:r>
              <a:rPr kumimoji="0" lang="zh-CN" altLang="en-US" sz="1800">
                <a:ea typeface="华文中宋" pitchFamily="2" charset="-122"/>
              </a:rPr>
              <a:t>以速度</a:t>
            </a:r>
            <a:r>
              <a:rPr kumimoji="0" lang="en-US" altLang="zh-CN" sz="1800" i="1">
                <a:ea typeface="华文中宋" pitchFamily="2" charset="-122"/>
                <a:sym typeface="Symbol" pitchFamily="18" charset="2"/>
              </a:rPr>
              <a:t>u</a:t>
            </a:r>
            <a:r>
              <a:rPr kumimoji="0" lang="zh-CN" altLang="en-US" sz="1800">
                <a:ea typeface="华文中宋" pitchFamily="2" charset="-122"/>
              </a:rPr>
              <a:t>相对于</a:t>
            </a:r>
            <a:r>
              <a:rPr kumimoji="0" lang="en-US" altLang="zh-CN" sz="1800" i="1">
                <a:ea typeface="华文中宋" pitchFamily="2" charset="-122"/>
              </a:rPr>
              <a:t>O</a:t>
            </a:r>
            <a:r>
              <a:rPr kumimoji="0" lang="zh-CN" altLang="en-US" sz="1800">
                <a:ea typeface="华文中宋" pitchFamily="2" charset="-122"/>
              </a:rPr>
              <a:t>系沿</a:t>
            </a:r>
            <a:r>
              <a:rPr kumimoji="0" lang="en-US" altLang="zh-CN" sz="1800" i="1">
                <a:ea typeface="华文中宋" pitchFamily="2" charset="-122"/>
              </a:rPr>
              <a:t>x</a:t>
            </a:r>
            <a:r>
              <a:rPr kumimoji="0" lang="zh-CN" altLang="en-US" sz="1800">
                <a:ea typeface="华文中宋" pitchFamily="2" charset="-122"/>
              </a:rPr>
              <a:t>正方向运动</a:t>
            </a:r>
          </a:p>
        </p:txBody>
      </p:sp>
      <p:graphicFrame>
        <p:nvGraphicFramePr>
          <p:cNvPr id="30" name="对象 29"/>
          <p:cNvGraphicFramePr>
            <a:graphicFrameLocks noChangeAspect="1"/>
          </p:cNvGraphicFramePr>
          <p:nvPr/>
        </p:nvGraphicFramePr>
        <p:xfrm>
          <a:off x="2555875" y="3165475"/>
          <a:ext cx="1749425" cy="581025"/>
        </p:xfrm>
        <a:graphic>
          <a:graphicData uri="http://schemas.openxmlformats.org/presentationml/2006/ole">
            <mc:AlternateContent xmlns:mc="http://schemas.openxmlformats.org/markup-compatibility/2006">
              <mc:Choice xmlns:v="urn:schemas-microsoft-com:vml" Requires="v">
                <p:oleObj spid="_x0000_s50213" name="公式" r:id="rId9" imgW="977900" imgH="431800" progId="Equation.3">
                  <p:embed/>
                </p:oleObj>
              </mc:Choice>
              <mc:Fallback>
                <p:oleObj name="公式" r:id="rId9" imgW="977900" imgH="431800" progId="Equation.3">
                  <p:embed/>
                  <p:pic>
                    <p:nvPicPr>
                      <p:cNvPr id="0" name="对象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5875" y="3165475"/>
                        <a:ext cx="17494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4"/>
          <p:cNvGraphicFramePr>
            <a:graphicFrameLocks noChangeAspect="1"/>
          </p:cNvGraphicFramePr>
          <p:nvPr/>
        </p:nvGraphicFramePr>
        <p:xfrm>
          <a:off x="4637088" y="3062288"/>
          <a:ext cx="2814637" cy="763587"/>
        </p:xfrm>
        <a:graphic>
          <a:graphicData uri="http://schemas.openxmlformats.org/presentationml/2006/ole">
            <mc:AlternateContent xmlns:mc="http://schemas.openxmlformats.org/markup-compatibility/2006">
              <mc:Choice xmlns:v="urn:schemas-microsoft-com:vml" Requires="v">
                <p:oleObj spid="_x0000_s50214" name="公式" r:id="rId11" imgW="1091726" imgH="393529" progId="Equation.3">
                  <p:embed/>
                </p:oleObj>
              </mc:Choice>
              <mc:Fallback>
                <p:oleObj name="公式" r:id="rId11" imgW="1091726" imgH="393529" progId="Equation.3">
                  <p:embed/>
                  <p:pic>
                    <p:nvPicPr>
                      <p:cNvPr id="0" name="对象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37088" y="3062288"/>
                        <a:ext cx="2814637"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Rectangle 42"/>
          <p:cNvSpPr>
            <a:spLocks noChangeArrowheads="1"/>
          </p:cNvSpPr>
          <p:nvPr/>
        </p:nvSpPr>
        <p:spPr bwMode="auto">
          <a:xfrm>
            <a:off x="1258888" y="3741738"/>
            <a:ext cx="6985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1800">
                <a:ea typeface="华文中宋" pitchFamily="2" charset="-122"/>
              </a:rPr>
              <a:t>在 </a:t>
            </a:r>
            <a:r>
              <a:rPr kumimoji="0" lang="en-US" altLang="zh-CN" sz="1800" i="1">
                <a:ea typeface="华文中宋" pitchFamily="2" charset="-122"/>
              </a:rPr>
              <a:t>O</a:t>
            </a:r>
            <a:r>
              <a:rPr kumimoji="0" lang="en-US" altLang="zh-CN" sz="1800" baseline="30000">
                <a:ea typeface="华文中宋" pitchFamily="2" charset="-122"/>
              </a:rPr>
              <a:t>/ </a:t>
            </a:r>
            <a:r>
              <a:rPr kumimoji="0" lang="zh-CN" altLang="en-US" sz="1800">
                <a:ea typeface="华文中宋" pitchFamily="2" charset="-122"/>
              </a:rPr>
              <a:t>系中测得的图形为菱形，其面积亦可表示为</a:t>
            </a:r>
          </a:p>
        </p:txBody>
      </p:sp>
      <p:graphicFrame>
        <p:nvGraphicFramePr>
          <p:cNvPr id="6" name="对象 10"/>
          <p:cNvGraphicFramePr>
            <a:graphicFrameLocks noChangeAspect="1"/>
          </p:cNvGraphicFramePr>
          <p:nvPr/>
        </p:nvGraphicFramePr>
        <p:xfrm>
          <a:off x="3059113" y="4184650"/>
          <a:ext cx="2449512" cy="385763"/>
        </p:xfrm>
        <a:graphic>
          <a:graphicData uri="http://schemas.openxmlformats.org/presentationml/2006/ole">
            <mc:AlternateContent xmlns:mc="http://schemas.openxmlformats.org/markup-compatibility/2006">
              <mc:Choice xmlns:v="urn:schemas-microsoft-com:vml" Requires="v">
                <p:oleObj spid="_x0000_s50215" name="公式" r:id="rId13" imgW="1218671" imgH="253890" progId="Equation.3">
                  <p:embed/>
                </p:oleObj>
              </mc:Choice>
              <mc:Fallback>
                <p:oleObj name="公式" r:id="rId13" imgW="1218671" imgH="253890" progId="Equation.3">
                  <p:embed/>
                  <p:pic>
                    <p:nvPicPr>
                      <p:cNvPr id="0" name="对象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59113" y="4184650"/>
                        <a:ext cx="2449512"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3492500" y="4586288"/>
          <a:ext cx="1530350" cy="307975"/>
        </p:xfrm>
        <a:graphic>
          <a:graphicData uri="http://schemas.openxmlformats.org/presentationml/2006/ole">
            <mc:AlternateContent xmlns:mc="http://schemas.openxmlformats.org/markup-compatibility/2006">
              <mc:Choice xmlns:v="urn:schemas-microsoft-com:vml" Requires="v">
                <p:oleObj spid="_x0000_s50216" name="Equation" r:id="rId15" imgW="761669" imgH="203112" progId="Equation.3">
                  <p:embed/>
                </p:oleObj>
              </mc:Choice>
              <mc:Fallback>
                <p:oleObj name="Equation" r:id="rId15" imgW="761669" imgH="203112" progId="Equation.3">
                  <p:embed/>
                  <p:pic>
                    <p:nvPicPr>
                      <p:cNvPr id="0" name="对象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2500" y="4586288"/>
                        <a:ext cx="15303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left)">
                                      <p:cBhvr>
                                        <p:cTn id="44" dur="500"/>
                                        <p:tgtEl>
                                          <p:spTgt spid="2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left)">
                                      <p:cBhvr>
                                        <p:cTn id="49" dur="500"/>
                                        <p:tgtEl>
                                          <p:spTgt spid="2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wipe(left)">
                                      <p:cBhvr>
                                        <p:cTn id="54" dur="500"/>
                                        <p:tgtEl>
                                          <p:spTgt spid="2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left)">
                                      <p:cBhvr>
                                        <p:cTn id="59" dur="500"/>
                                        <p:tgtEl>
                                          <p:spTgt spid="3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left)">
                                      <p:cBhvr>
                                        <p:cTn id="64" dur="500"/>
                                        <p:tgtEl>
                                          <p:spTgt spid="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wipe(left)">
                                      <p:cBhvr>
                                        <p:cTn id="69" dur="500"/>
                                        <p:tgtEl>
                                          <p:spTgt spid="3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6"/>
                                        </p:tgtEl>
                                        <p:attrNameLst>
                                          <p:attrName>style.visibility</p:attrName>
                                        </p:attrNameLst>
                                      </p:cBhvr>
                                      <p:to>
                                        <p:strVal val="visible"/>
                                      </p:to>
                                    </p:set>
                                    <p:animEffect transition="in" filter="wipe(left)">
                                      <p:cBhvr>
                                        <p:cTn id="74" dur="500"/>
                                        <p:tgtEl>
                                          <p:spTgt spid="6"/>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wipe(left)">
                                      <p:cBhvr>
                                        <p:cTn id="7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animBg="1"/>
      <p:bldP spid="26" grpId="0"/>
      <p:bldP spid="27" grpId="0"/>
      <p:bldP spid="29" grpId="0"/>
      <p:bldP spid="3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76"/>
          <p:cNvGrpSpPr>
            <a:grpSpLocks/>
          </p:cNvGrpSpPr>
          <p:nvPr/>
        </p:nvGrpSpPr>
        <p:grpSpPr bwMode="auto">
          <a:xfrm>
            <a:off x="3203575" y="1687513"/>
            <a:ext cx="5888038" cy="1093787"/>
            <a:chOff x="1485540" y="4212865"/>
            <a:chExt cx="5889018" cy="1456677"/>
          </a:xfrm>
        </p:grpSpPr>
        <p:sp>
          <p:nvSpPr>
            <p:cNvPr id="51230" name="Text Box 22"/>
            <p:cNvSpPr txBox="1">
              <a:spLocks noChangeArrowheads="1"/>
            </p:cNvSpPr>
            <p:nvPr/>
          </p:nvSpPr>
          <p:spPr bwMode="auto">
            <a:xfrm>
              <a:off x="2390777" y="4254902"/>
              <a:ext cx="301736" cy="43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t</a:t>
              </a:r>
              <a:r>
                <a:rPr kumimoji="0" lang="en-US" altLang="zh-CN" sz="1500" baseline="-25000">
                  <a:ea typeface="宋体" pitchFamily="2" charset="-122"/>
                </a:rPr>
                <a:t>1</a:t>
              </a:r>
              <a:endParaRPr kumimoji="0" lang="en-US" altLang="zh-CN" sz="1500">
                <a:ea typeface="宋体" pitchFamily="2" charset="-122"/>
              </a:endParaRPr>
            </a:p>
          </p:txBody>
        </p:sp>
        <p:sp>
          <p:nvSpPr>
            <p:cNvPr id="51231" name="Line 23"/>
            <p:cNvSpPr>
              <a:spLocks noChangeShapeType="1"/>
            </p:cNvSpPr>
            <p:nvPr/>
          </p:nvSpPr>
          <p:spPr bwMode="auto">
            <a:xfrm>
              <a:off x="1756183" y="5154613"/>
              <a:ext cx="5618375" cy="0"/>
            </a:xfrm>
            <a:prstGeom prst="line">
              <a:avLst/>
            </a:prstGeom>
            <a:noFill/>
            <a:ln w="1270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2" name="Line 24"/>
            <p:cNvSpPr>
              <a:spLocks noChangeShapeType="1"/>
            </p:cNvSpPr>
            <p:nvPr/>
          </p:nvSpPr>
          <p:spPr bwMode="auto">
            <a:xfrm flipV="1">
              <a:off x="1768506" y="4265367"/>
              <a:ext cx="0" cy="889246"/>
            </a:xfrm>
            <a:prstGeom prst="line">
              <a:avLst/>
            </a:prstGeom>
            <a:noFill/>
            <a:ln w="1270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33" name="Line 25"/>
            <p:cNvSpPr>
              <a:spLocks noChangeShapeType="1"/>
            </p:cNvSpPr>
            <p:nvPr/>
          </p:nvSpPr>
          <p:spPr bwMode="auto">
            <a:xfrm>
              <a:off x="2533650" y="5108575"/>
              <a:ext cx="0" cy="7620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4" name="Text Box 26"/>
            <p:cNvSpPr txBox="1">
              <a:spLocks noChangeArrowheads="1"/>
            </p:cNvSpPr>
            <p:nvPr/>
          </p:nvSpPr>
          <p:spPr bwMode="auto">
            <a:xfrm>
              <a:off x="2197100" y="5049838"/>
              <a:ext cx="397932" cy="532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2000" i="1">
                  <a:ea typeface="宋体" pitchFamily="2" charset="-122"/>
                </a:rPr>
                <a:t>x</a:t>
              </a:r>
              <a:r>
                <a:rPr kumimoji="0" lang="en-US" altLang="zh-CN" sz="2000" baseline="-25000">
                  <a:ea typeface="宋体" pitchFamily="2" charset="-122"/>
                </a:rPr>
                <a:t>1</a:t>
              </a:r>
              <a:endParaRPr kumimoji="0" lang="en-US" altLang="zh-CN" sz="2000">
                <a:ea typeface="宋体" pitchFamily="2" charset="-122"/>
              </a:endParaRPr>
            </a:p>
          </p:txBody>
        </p:sp>
        <p:sp>
          <p:nvSpPr>
            <p:cNvPr id="51235" name="Text Box 27"/>
            <p:cNvSpPr txBox="1">
              <a:spLocks noChangeArrowheads="1"/>
            </p:cNvSpPr>
            <p:nvPr/>
          </p:nvSpPr>
          <p:spPr bwMode="auto">
            <a:xfrm>
              <a:off x="1485540" y="4212865"/>
              <a:ext cx="292117" cy="43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a:ea typeface="宋体" pitchFamily="2" charset="-122"/>
                </a:rPr>
                <a:t>S</a:t>
              </a:r>
            </a:p>
          </p:txBody>
        </p:sp>
        <p:sp>
          <p:nvSpPr>
            <p:cNvPr id="51236" name="Text Box 28"/>
            <p:cNvSpPr txBox="1">
              <a:spLocks noChangeArrowheads="1"/>
            </p:cNvSpPr>
            <p:nvPr/>
          </p:nvSpPr>
          <p:spPr bwMode="auto">
            <a:xfrm>
              <a:off x="5832475" y="5057774"/>
              <a:ext cx="397932" cy="532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2000" i="1">
                  <a:ea typeface="宋体" pitchFamily="2" charset="-122"/>
                </a:rPr>
                <a:t>x</a:t>
              </a:r>
              <a:r>
                <a:rPr kumimoji="0" lang="en-US" altLang="zh-CN" sz="2000" baseline="-25000">
                  <a:ea typeface="宋体" pitchFamily="2" charset="-122"/>
                </a:rPr>
                <a:t>2</a:t>
              </a:r>
              <a:endParaRPr kumimoji="0" lang="en-US" altLang="zh-CN" sz="2000">
                <a:ea typeface="宋体" pitchFamily="2" charset="-122"/>
              </a:endParaRPr>
            </a:p>
          </p:txBody>
        </p:sp>
        <p:sp>
          <p:nvSpPr>
            <p:cNvPr id="51237" name="Line 32"/>
            <p:cNvSpPr>
              <a:spLocks noChangeShapeType="1"/>
            </p:cNvSpPr>
            <p:nvPr/>
          </p:nvSpPr>
          <p:spPr bwMode="auto">
            <a:xfrm>
              <a:off x="6175375" y="5108575"/>
              <a:ext cx="0" cy="7620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38" name="Rectangle 13"/>
            <p:cNvSpPr>
              <a:spLocks noChangeArrowheads="1"/>
            </p:cNvSpPr>
            <p:nvPr/>
          </p:nvSpPr>
          <p:spPr bwMode="auto">
            <a:xfrm>
              <a:off x="2136523" y="4411108"/>
              <a:ext cx="801957" cy="122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5400">
                  <a:solidFill>
                    <a:srgbClr val="C00000"/>
                  </a:solidFill>
                  <a:ea typeface="宋体" pitchFamily="2" charset="-122"/>
                  <a:sym typeface="Wingdings" pitchFamily="2" charset="2"/>
                </a:rPr>
                <a:t></a:t>
              </a:r>
            </a:p>
          </p:txBody>
        </p:sp>
        <p:sp>
          <p:nvSpPr>
            <p:cNvPr id="51239" name="Rectangle 13"/>
            <p:cNvSpPr>
              <a:spLocks noChangeArrowheads="1"/>
            </p:cNvSpPr>
            <p:nvPr/>
          </p:nvSpPr>
          <p:spPr bwMode="auto">
            <a:xfrm>
              <a:off x="5772504" y="4439653"/>
              <a:ext cx="801957" cy="1229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5400">
                  <a:solidFill>
                    <a:srgbClr val="C00000"/>
                  </a:solidFill>
                  <a:ea typeface="宋体" pitchFamily="2" charset="-122"/>
                  <a:sym typeface="Wingdings" pitchFamily="2" charset="2"/>
                </a:rPr>
                <a:t></a:t>
              </a:r>
            </a:p>
          </p:txBody>
        </p:sp>
      </p:grpSp>
      <p:grpSp>
        <p:nvGrpSpPr>
          <p:cNvPr id="4" name="组合 77"/>
          <p:cNvGrpSpPr>
            <a:grpSpLocks/>
          </p:cNvGrpSpPr>
          <p:nvPr/>
        </p:nvGrpSpPr>
        <p:grpSpPr bwMode="auto">
          <a:xfrm>
            <a:off x="3421063" y="798513"/>
            <a:ext cx="1409700" cy="1052512"/>
            <a:chOff x="5656683" y="2655579"/>
            <a:chExt cx="1410854" cy="1404300"/>
          </a:xfrm>
        </p:grpSpPr>
        <p:sp>
          <p:nvSpPr>
            <p:cNvPr id="51223" name="Line 15"/>
            <p:cNvSpPr>
              <a:spLocks noChangeShapeType="1"/>
            </p:cNvSpPr>
            <p:nvPr/>
          </p:nvSpPr>
          <p:spPr bwMode="auto">
            <a:xfrm>
              <a:off x="5955280" y="3585363"/>
              <a:ext cx="1112257" cy="0"/>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4" name="Line 16"/>
            <p:cNvSpPr>
              <a:spLocks noChangeShapeType="1"/>
            </p:cNvSpPr>
            <p:nvPr/>
          </p:nvSpPr>
          <p:spPr bwMode="auto">
            <a:xfrm flipV="1">
              <a:off x="5941266" y="2839077"/>
              <a:ext cx="0" cy="755711"/>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25" name="Text Box 18"/>
            <p:cNvSpPr txBox="1">
              <a:spLocks noChangeArrowheads="1"/>
            </p:cNvSpPr>
            <p:nvPr/>
          </p:nvSpPr>
          <p:spPr bwMode="auto">
            <a:xfrm>
              <a:off x="6362773" y="2655579"/>
              <a:ext cx="337228" cy="43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t</a:t>
              </a:r>
              <a:r>
                <a:rPr kumimoji="0" lang="en-US" altLang="zh-CN" sz="1500" baseline="-25000">
                  <a:ea typeface="宋体" pitchFamily="2" charset="-122"/>
                </a:rPr>
                <a:t>1</a:t>
              </a:r>
              <a:r>
                <a:rPr kumimoji="0" lang="en-US" altLang="zh-CN" sz="1500" baseline="30000">
                  <a:ea typeface="宋体" pitchFamily="2" charset="-122"/>
                </a:rPr>
                <a:t>/</a:t>
              </a:r>
              <a:endParaRPr kumimoji="0" lang="en-US" altLang="zh-CN" sz="1500">
                <a:ea typeface="宋体" pitchFamily="2" charset="-122"/>
              </a:endParaRPr>
            </a:p>
          </p:txBody>
        </p:sp>
        <p:sp>
          <p:nvSpPr>
            <p:cNvPr id="51226" name="Text Box 19"/>
            <p:cNvSpPr txBox="1">
              <a:spLocks noChangeArrowheads="1"/>
            </p:cNvSpPr>
            <p:nvPr/>
          </p:nvSpPr>
          <p:spPr bwMode="auto">
            <a:xfrm>
              <a:off x="5656683" y="2800095"/>
              <a:ext cx="540192" cy="43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a:ea typeface="宋体" pitchFamily="2" charset="-122"/>
                </a:rPr>
                <a:t>S</a:t>
              </a:r>
              <a:r>
                <a:rPr kumimoji="0" lang="en-US" altLang="zh-CN" sz="1500" baseline="30000">
                  <a:ea typeface="宋体" pitchFamily="2" charset="-122"/>
                </a:rPr>
                <a:t>/</a:t>
              </a:r>
              <a:endParaRPr kumimoji="0" lang="en-US" altLang="zh-CN" sz="1500">
                <a:ea typeface="宋体" pitchFamily="2" charset="-122"/>
              </a:endParaRPr>
            </a:p>
          </p:txBody>
        </p:sp>
        <p:sp>
          <p:nvSpPr>
            <p:cNvPr id="51227" name="Rectangle 13"/>
            <p:cNvSpPr>
              <a:spLocks noChangeArrowheads="1"/>
            </p:cNvSpPr>
            <p:nvPr/>
          </p:nvSpPr>
          <p:spPr bwMode="auto">
            <a:xfrm>
              <a:off x="6125379" y="2825504"/>
              <a:ext cx="802479" cy="123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5400">
                  <a:solidFill>
                    <a:srgbClr val="008000"/>
                  </a:solidFill>
                  <a:ea typeface="宋体" pitchFamily="2" charset="-122"/>
                  <a:sym typeface="Wingdings" pitchFamily="2" charset="2"/>
                </a:rPr>
                <a:t></a:t>
              </a:r>
            </a:p>
          </p:txBody>
        </p:sp>
        <p:sp>
          <p:nvSpPr>
            <p:cNvPr id="51228" name="Text Box 11"/>
            <p:cNvSpPr txBox="1">
              <a:spLocks noChangeArrowheads="1"/>
            </p:cNvSpPr>
            <p:nvPr/>
          </p:nvSpPr>
          <p:spPr bwMode="auto">
            <a:xfrm>
              <a:off x="6444145" y="3628914"/>
              <a:ext cx="380543" cy="430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x</a:t>
              </a:r>
              <a:r>
                <a:rPr kumimoji="0" lang="en-US" altLang="zh-CN" sz="1500" baseline="-25000">
                  <a:ea typeface="宋体" pitchFamily="2" charset="-122"/>
                </a:rPr>
                <a:t>1</a:t>
              </a:r>
              <a:r>
                <a:rPr kumimoji="0" lang="en-US" altLang="zh-CN" sz="1500" baseline="30000">
                  <a:ea typeface="宋体" pitchFamily="2" charset="-122"/>
                </a:rPr>
                <a:t>/</a:t>
              </a:r>
              <a:endParaRPr kumimoji="0" lang="en-US" altLang="zh-CN" sz="1500">
                <a:ea typeface="宋体" pitchFamily="2" charset="-122"/>
              </a:endParaRPr>
            </a:p>
          </p:txBody>
        </p:sp>
        <p:sp>
          <p:nvSpPr>
            <p:cNvPr id="51229" name="Line 17"/>
            <p:cNvSpPr>
              <a:spLocks noChangeShapeType="1"/>
            </p:cNvSpPr>
            <p:nvPr/>
          </p:nvSpPr>
          <p:spPr bwMode="auto">
            <a:xfrm>
              <a:off x="6524057" y="3546630"/>
              <a:ext cx="0" cy="152400"/>
            </a:xfrm>
            <a:prstGeom prst="line">
              <a:avLst/>
            </a:prstGeom>
            <a:noFill/>
            <a:ln w="38100">
              <a:solidFill>
                <a:srgbClr val="00B0F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组合 85"/>
          <p:cNvGrpSpPr>
            <a:grpSpLocks/>
          </p:cNvGrpSpPr>
          <p:nvPr/>
        </p:nvGrpSpPr>
        <p:grpSpPr bwMode="auto">
          <a:xfrm>
            <a:off x="6977063" y="919163"/>
            <a:ext cx="1568450" cy="923925"/>
            <a:chOff x="5618872" y="2816935"/>
            <a:chExt cx="1568727" cy="1232265"/>
          </a:xfrm>
        </p:grpSpPr>
        <p:sp>
          <p:nvSpPr>
            <p:cNvPr id="51216" name="Line 15"/>
            <p:cNvSpPr>
              <a:spLocks noChangeShapeType="1"/>
            </p:cNvSpPr>
            <p:nvPr/>
          </p:nvSpPr>
          <p:spPr bwMode="auto">
            <a:xfrm>
              <a:off x="5933964" y="3585363"/>
              <a:ext cx="1253635" cy="0"/>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7" name="Line 16"/>
            <p:cNvSpPr>
              <a:spLocks noChangeShapeType="1"/>
            </p:cNvSpPr>
            <p:nvPr/>
          </p:nvSpPr>
          <p:spPr bwMode="auto">
            <a:xfrm flipV="1">
              <a:off x="5922314" y="2875812"/>
              <a:ext cx="0" cy="718981"/>
            </a:xfrm>
            <a:prstGeom prst="line">
              <a:avLst/>
            </a:prstGeom>
            <a:noFill/>
            <a:ln w="9525">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8" name="Text Box 18"/>
            <p:cNvSpPr txBox="1">
              <a:spLocks noChangeArrowheads="1"/>
            </p:cNvSpPr>
            <p:nvPr/>
          </p:nvSpPr>
          <p:spPr bwMode="auto">
            <a:xfrm>
              <a:off x="6744608" y="3007614"/>
              <a:ext cx="337012" cy="43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t</a:t>
              </a:r>
              <a:r>
                <a:rPr kumimoji="0" lang="en-US" altLang="zh-CN" sz="1500" baseline="-25000">
                  <a:ea typeface="宋体" pitchFamily="2" charset="-122"/>
                </a:rPr>
                <a:t>2</a:t>
              </a:r>
              <a:r>
                <a:rPr kumimoji="0" lang="en-US" altLang="zh-CN" sz="1500" baseline="30000">
                  <a:ea typeface="宋体" pitchFamily="2" charset="-122"/>
                </a:rPr>
                <a:t>/</a:t>
              </a:r>
              <a:endParaRPr kumimoji="0" lang="en-US" altLang="zh-CN" sz="1500">
                <a:ea typeface="宋体" pitchFamily="2" charset="-122"/>
              </a:endParaRPr>
            </a:p>
          </p:txBody>
        </p:sp>
        <p:sp>
          <p:nvSpPr>
            <p:cNvPr id="51219" name="Text Box 19"/>
            <p:cNvSpPr txBox="1">
              <a:spLocks noChangeArrowheads="1"/>
            </p:cNvSpPr>
            <p:nvPr/>
          </p:nvSpPr>
          <p:spPr bwMode="auto">
            <a:xfrm>
              <a:off x="5618872" y="2829647"/>
              <a:ext cx="390594" cy="43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a:ea typeface="宋体" pitchFamily="2" charset="-122"/>
                </a:rPr>
                <a:t>S</a:t>
              </a:r>
              <a:r>
                <a:rPr kumimoji="0" lang="en-US" altLang="zh-CN" sz="1500" baseline="30000">
                  <a:ea typeface="宋体" pitchFamily="2" charset="-122"/>
                </a:rPr>
                <a:t>/</a:t>
              </a:r>
              <a:endParaRPr kumimoji="0" lang="en-US" altLang="zh-CN" sz="1500">
                <a:ea typeface="宋体" pitchFamily="2" charset="-122"/>
              </a:endParaRPr>
            </a:p>
          </p:txBody>
        </p:sp>
        <p:sp>
          <p:nvSpPr>
            <p:cNvPr id="51220" name="Rectangle 13"/>
            <p:cNvSpPr>
              <a:spLocks noChangeArrowheads="1"/>
            </p:cNvSpPr>
            <p:nvPr/>
          </p:nvSpPr>
          <p:spPr bwMode="auto">
            <a:xfrm>
              <a:off x="6115847" y="2816935"/>
              <a:ext cx="801965" cy="1232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5400">
                  <a:solidFill>
                    <a:srgbClr val="008000"/>
                  </a:solidFill>
                  <a:ea typeface="宋体" pitchFamily="2" charset="-122"/>
                  <a:sym typeface="Wingdings" pitchFamily="2" charset="2"/>
                </a:rPr>
                <a:t></a:t>
              </a:r>
            </a:p>
          </p:txBody>
        </p:sp>
        <p:sp>
          <p:nvSpPr>
            <p:cNvPr id="51221" name="Text Box 11"/>
            <p:cNvSpPr txBox="1">
              <a:spLocks noChangeArrowheads="1"/>
            </p:cNvSpPr>
            <p:nvPr/>
          </p:nvSpPr>
          <p:spPr bwMode="auto">
            <a:xfrm>
              <a:off x="6519354" y="3489453"/>
              <a:ext cx="380299" cy="431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x</a:t>
              </a:r>
              <a:r>
                <a:rPr kumimoji="0" lang="en-US" altLang="zh-CN" sz="1500" baseline="-25000">
                  <a:ea typeface="宋体" pitchFamily="2" charset="-122"/>
                </a:rPr>
                <a:t>1</a:t>
              </a:r>
              <a:r>
                <a:rPr kumimoji="0" lang="en-US" altLang="zh-CN" sz="1500" baseline="30000">
                  <a:ea typeface="宋体" pitchFamily="2" charset="-122"/>
                </a:rPr>
                <a:t>/</a:t>
              </a:r>
              <a:endParaRPr kumimoji="0" lang="en-US" altLang="zh-CN" sz="1500">
                <a:ea typeface="宋体" pitchFamily="2" charset="-122"/>
              </a:endParaRPr>
            </a:p>
          </p:txBody>
        </p:sp>
        <p:sp>
          <p:nvSpPr>
            <p:cNvPr id="51222" name="Line 17"/>
            <p:cNvSpPr>
              <a:spLocks noChangeShapeType="1"/>
            </p:cNvSpPr>
            <p:nvPr/>
          </p:nvSpPr>
          <p:spPr bwMode="auto">
            <a:xfrm>
              <a:off x="6524057" y="3546630"/>
              <a:ext cx="0" cy="152400"/>
            </a:xfrm>
            <a:prstGeom prst="line">
              <a:avLst/>
            </a:prstGeom>
            <a:noFill/>
            <a:ln w="38100">
              <a:solidFill>
                <a:srgbClr val="00B0F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6" name="Rectangle 7"/>
          <p:cNvSpPr>
            <a:spLocks noChangeArrowheads="1"/>
          </p:cNvSpPr>
          <p:nvPr/>
        </p:nvSpPr>
        <p:spPr bwMode="auto">
          <a:xfrm>
            <a:off x="812800" y="2627313"/>
            <a:ext cx="74310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a:solidFill>
                  <a:srgbClr val="0000FF"/>
                </a:solidFill>
                <a:ea typeface="华文中宋" pitchFamily="2" charset="-122"/>
              </a:rPr>
              <a:t>S</a:t>
            </a:r>
            <a:r>
              <a:rPr kumimoji="0" lang="en-US" altLang="zh-CN" sz="1800" baseline="30000">
                <a:solidFill>
                  <a:srgbClr val="0000FF"/>
                </a:solidFill>
                <a:ea typeface="华文中宋" pitchFamily="2" charset="-122"/>
              </a:rPr>
              <a:t>‘</a:t>
            </a:r>
            <a:r>
              <a:rPr kumimoji="0" lang="zh-CN" altLang="en-US" sz="1800">
                <a:solidFill>
                  <a:srgbClr val="0000FF"/>
                </a:solidFill>
                <a:ea typeface="华文中宋" pitchFamily="2" charset="-122"/>
              </a:rPr>
              <a:t>系中</a:t>
            </a:r>
            <a:r>
              <a:rPr kumimoji="0" lang="zh-CN" altLang="en-US" sz="1800">
                <a:ea typeface="华文中宋" pitchFamily="2" charset="-122"/>
              </a:rPr>
              <a:t>同地发生的两个事件为</a:t>
            </a:r>
            <a:r>
              <a:rPr kumimoji="0" lang="en-US" altLang="zh-CN" sz="1800">
                <a:ea typeface="华文中宋" pitchFamily="2" charset="-122"/>
              </a:rPr>
              <a:t>(</a:t>
            </a:r>
            <a:r>
              <a:rPr kumimoji="0" lang="en-US" altLang="zh-CN" sz="1800" i="1">
                <a:ea typeface="华文中宋" pitchFamily="2" charset="-122"/>
              </a:rPr>
              <a:t>x</a:t>
            </a:r>
            <a:r>
              <a:rPr kumimoji="0" lang="en-US" altLang="zh-CN" sz="1800" baseline="-25000">
                <a:ea typeface="华文中宋" pitchFamily="2" charset="-122"/>
              </a:rPr>
              <a:t>1</a:t>
            </a:r>
            <a:r>
              <a:rPr kumimoji="0" lang="en-US" altLang="zh-CN" sz="1800" baseline="30000">
                <a:ea typeface="华文中宋" pitchFamily="2" charset="-122"/>
              </a:rPr>
              <a:t>’</a:t>
            </a:r>
            <a:r>
              <a:rPr kumimoji="0" lang="en-US" altLang="zh-CN" sz="1800">
                <a:ea typeface="华文中宋" pitchFamily="2" charset="-122"/>
              </a:rPr>
              <a:t>,  </a:t>
            </a:r>
            <a:r>
              <a:rPr kumimoji="0" lang="en-US" altLang="zh-CN" sz="1800" i="1">
                <a:ea typeface="华文中宋" pitchFamily="2" charset="-122"/>
              </a:rPr>
              <a:t>t</a:t>
            </a:r>
            <a:r>
              <a:rPr kumimoji="0" lang="en-US" altLang="zh-CN" sz="1800" baseline="-25000">
                <a:ea typeface="华文中宋" pitchFamily="2" charset="-122"/>
              </a:rPr>
              <a:t>1</a:t>
            </a:r>
            <a:r>
              <a:rPr kumimoji="0" lang="en-US" altLang="zh-CN" sz="1800" baseline="30000">
                <a:ea typeface="华文中宋" pitchFamily="2" charset="-122"/>
              </a:rPr>
              <a:t>‘</a:t>
            </a:r>
            <a:r>
              <a:rPr kumimoji="0" lang="en-US" altLang="zh-CN" sz="1800">
                <a:ea typeface="华文中宋" pitchFamily="2" charset="-122"/>
              </a:rPr>
              <a:t>) </a:t>
            </a:r>
            <a:r>
              <a:rPr kumimoji="0" lang="zh-CN" altLang="en-US" sz="1800">
                <a:ea typeface="华文中宋" pitchFamily="2" charset="-122"/>
              </a:rPr>
              <a:t>和 </a:t>
            </a:r>
            <a:r>
              <a:rPr kumimoji="0" lang="en-US" altLang="zh-CN" sz="1800">
                <a:ea typeface="华文中宋" pitchFamily="2" charset="-122"/>
              </a:rPr>
              <a:t>(</a:t>
            </a:r>
            <a:r>
              <a:rPr kumimoji="0" lang="en-US" altLang="zh-CN" sz="1800" i="1">
                <a:ea typeface="华文中宋" pitchFamily="2" charset="-122"/>
              </a:rPr>
              <a:t>x</a:t>
            </a:r>
            <a:r>
              <a:rPr kumimoji="0" lang="en-US" altLang="zh-CN" sz="1800" baseline="-25000">
                <a:ea typeface="华文中宋" pitchFamily="2" charset="-122"/>
              </a:rPr>
              <a:t>2</a:t>
            </a:r>
            <a:r>
              <a:rPr kumimoji="0" lang="en-US" altLang="zh-CN" sz="1800" baseline="30000">
                <a:ea typeface="华文中宋" pitchFamily="2" charset="-122"/>
              </a:rPr>
              <a:t>’</a:t>
            </a:r>
            <a:r>
              <a:rPr kumimoji="0" lang="en-US" altLang="zh-CN" sz="1800">
                <a:ea typeface="华文中宋" pitchFamily="2" charset="-122"/>
              </a:rPr>
              <a:t>,  </a:t>
            </a:r>
            <a:r>
              <a:rPr kumimoji="0" lang="en-US" altLang="zh-CN" sz="1800" i="1">
                <a:ea typeface="华文中宋" pitchFamily="2" charset="-122"/>
              </a:rPr>
              <a:t>t</a:t>
            </a:r>
            <a:r>
              <a:rPr kumimoji="0" lang="en-US" altLang="zh-CN" sz="1800" baseline="-25000">
                <a:ea typeface="华文中宋" pitchFamily="2" charset="-122"/>
              </a:rPr>
              <a:t>2</a:t>
            </a:r>
            <a:r>
              <a:rPr kumimoji="0" lang="en-US" altLang="zh-CN" sz="1800" baseline="30000">
                <a:ea typeface="华文中宋" pitchFamily="2" charset="-122"/>
              </a:rPr>
              <a:t>‘</a:t>
            </a:r>
            <a:r>
              <a:rPr kumimoji="0" lang="en-US" altLang="zh-CN" sz="1800">
                <a:ea typeface="华文中宋" pitchFamily="2" charset="-122"/>
              </a:rPr>
              <a:t>)</a:t>
            </a:r>
            <a:r>
              <a:rPr kumimoji="0" lang="en-US" altLang="zh-CN" sz="1800">
                <a:solidFill>
                  <a:srgbClr val="CC00CC"/>
                </a:solidFill>
                <a:ea typeface="华文中宋" pitchFamily="2" charset="-122"/>
              </a:rPr>
              <a:t> </a:t>
            </a:r>
            <a:endParaRPr kumimoji="0" lang="en-US" altLang="zh-CN" sz="1800">
              <a:ea typeface="华文中宋" pitchFamily="2" charset="-122"/>
            </a:endParaRPr>
          </a:p>
        </p:txBody>
      </p:sp>
      <p:sp>
        <p:nvSpPr>
          <p:cNvPr id="38" name="Rectangle 9"/>
          <p:cNvSpPr>
            <a:spLocks noChangeArrowheads="1"/>
          </p:cNvSpPr>
          <p:nvPr/>
        </p:nvSpPr>
        <p:spPr bwMode="auto">
          <a:xfrm>
            <a:off x="3419475" y="3057525"/>
            <a:ext cx="2205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a:solidFill>
                  <a:srgbClr val="0000FF"/>
                </a:solidFill>
              </a:rPr>
              <a:t>Δ</a:t>
            </a:r>
            <a:r>
              <a:rPr kumimoji="0" lang="en-US" altLang="zh-CN" sz="1800" i="1">
                <a:solidFill>
                  <a:srgbClr val="0000FF"/>
                </a:solidFill>
              </a:rPr>
              <a:t>t</a:t>
            </a:r>
            <a:r>
              <a:rPr kumimoji="0" lang="en-US" altLang="zh-CN" sz="1800" baseline="30000">
                <a:solidFill>
                  <a:srgbClr val="0000FF"/>
                </a:solidFill>
              </a:rPr>
              <a:t>/ </a:t>
            </a:r>
            <a:r>
              <a:rPr kumimoji="0" lang="en-US" altLang="zh-CN" sz="1800">
                <a:solidFill>
                  <a:srgbClr val="0000FF"/>
                </a:solidFill>
              </a:rPr>
              <a:t>= </a:t>
            </a:r>
            <a:r>
              <a:rPr kumimoji="0" lang="en-US" altLang="zh-CN" sz="1800" i="1">
                <a:solidFill>
                  <a:srgbClr val="0000FF"/>
                </a:solidFill>
              </a:rPr>
              <a:t>t</a:t>
            </a:r>
            <a:r>
              <a:rPr kumimoji="0" lang="en-US" altLang="zh-CN" sz="1800" baseline="-25000">
                <a:solidFill>
                  <a:srgbClr val="0000FF"/>
                </a:solidFill>
              </a:rPr>
              <a:t>2</a:t>
            </a:r>
            <a:r>
              <a:rPr kumimoji="0" lang="en-US" altLang="zh-CN" sz="1800" baseline="30000">
                <a:solidFill>
                  <a:srgbClr val="0000FF"/>
                </a:solidFill>
              </a:rPr>
              <a:t>/</a:t>
            </a:r>
            <a:r>
              <a:rPr kumimoji="0" lang="zh-CN" altLang="en-US" sz="1800">
                <a:solidFill>
                  <a:srgbClr val="0000FF"/>
                </a:solidFill>
              </a:rPr>
              <a:t>－</a:t>
            </a:r>
            <a:r>
              <a:rPr kumimoji="0" lang="en-US" altLang="zh-CN" sz="1800" i="1">
                <a:solidFill>
                  <a:srgbClr val="0000FF"/>
                </a:solidFill>
              </a:rPr>
              <a:t>t</a:t>
            </a:r>
            <a:r>
              <a:rPr kumimoji="0" lang="en-US" altLang="zh-CN" sz="1800" baseline="-25000">
                <a:solidFill>
                  <a:srgbClr val="0000FF"/>
                </a:solidFill>
              </a:rPr>
              <a:t>1</a:t>
            </a:r>
            <a:r>
              <a:rPr kumimoji="0" lang="en-US" altLang="zh-CN" sz="1800" baseline="30000">
                <a:solidFill>
                  <a:srgbClr val="0000FF"/>
                </a:solidFill>
              </a:rPr>
              <a:t>/</a:t>
            </a:r>
          </a:p>
        </p:txBody>
      </p:sp>
      <p:sp>
        <p:nvSpPr>
          <p:cNvPr id="44" name="Rectangle 8"/>
          <p:cNvSpPr>
            <a:spLocks noChangeArrowheads="1"/>
          </p:cNvSpPr>
          <p:nvPr/>
        </p:nvSpPr>
        <p:spPr bwMode="auto">
          <a:xfrm>
            <a:off x="539750" y="3489325"/>
            <a:ext cx="84248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a:solidFill>
                  <a:srgbClr val="FF0000"/>
                </a:solidFill>
                <a:ea typeface="华文中宋" pitchFamily="2" charset="-122"/>
              </a:rPr>
              <a:t>固有</a:t>
            </a:r>
            <a:r>
              <a:rPr kumimoji="0" lang="en-US" altLang="zh-CN" sz="1800">
                <a:solidFill>
                  <a:srgbClr val="FF0000"/>
                </a:solidFill>
                <a:ea typeface="华文中宋" pitchFamily="2" charset="-122"/>
              </a:rPr>
              <a:t>(</a:t>
            </a:r>
            <a:r>
              <a:rPr lang="zh-CN" altLang="en-US" sz="1800">
                <a:solidFill>
                  <a:srgbClr val="FF0000"/>
                </a:solidFill>
                <a:ea typeface="华文中宋" pitchFamily="2" charset="-122"/>
              </a:rPr>
              <a:t>本征</a:t>
            </a:r>
            <a:r>
              <a:rPr kumimoji="0" lang="en-US" altLang="zh-CN" sz="1800">
                <a:solidFill>
                  <a:srgbClr val="FF0000"/>
                </a:solidFill>
                <a:ea typeface="华文中宋" pitchFamily="2" charset="-122"/>
              </a:rPr>
              <a:t>)</a:t>
            </a:r>
            <a:r>
              <a:rPr kumimoji="0" lang="zh-CN" altLang="en-US" sz="1800">
                <a:solidFill>
                  <a:srgbClr val="FF0000"/>
                </a:solidFill>
                <a:ea typeface="华文中宋" pitchFamily="2" charset="-122"/>
              </a:rPr>
              <a:t>时间</a:t>
            </a:r>
            <a:r>
              <a:rPr kumimoji="0" lang="en-US" altLang="zh-CN" sz="1800">
                <a:solidFill>
                  <a:srgbClr val="FF0000"/>
                </a:solidFill>
                <a:ea typeface="华文中宋" pitchFamily="2" charset="-122"/>
              </a:rPr>
              <a:t>: </a:t>
            </a:r>
            <a:r>
              <a:rPr kumimoji="0" lang="zh-CN" altLang="en-US" sz="1800">
                <a:ea typeface="华文中宋" pitchFamily="2" charset="-122"/>
              </a:rPr>
              <a:t>同地</a:t>
            </a:r>
            <a:r>
              <a:rPr kumimoji="0" lang="en-US" altLang="zh-CN" sz="1800">
                <a:ea typeface="华文中宋" pitchFamily="2" charset="-122"/>
              </a:rPr>
              <a:t>( </a:t>
            </a:r>
            <a:r>
              <a:rPr kumimoji="0" lang="en-US" altLang="zh-CN" sz="1800" i="1">
                <a:ea typeface="华文中宋" pitchFamily="2" charset="-122"/>
              </a:rPr>
              <a:t>x</a:t>
            </a:r>
            <a:r>
              <a:rPr kumimoji="0" lang="en-US" altLang="zh-CN" sz="1800" baseline="-25000">
                <a:ea typeface="华文中宋" pitchFamily="2" charset="-122"/>
              </a:rPr>
              <a:t>1</a:t>
            </a:r>
            <a:r>
              <a:rPr kumimoji="0" lang="en-US" altLang="zh-CN" sz="1800" baseline="30000">
                <a:ea typeface="华文中宋" pitchFamily="2" charset="-122"/>
              </a:rPr>
              <a:t>/</a:t>
            </a:r>
            <a:r>
              <a:rPr kumimoji="0" lang="en-US" altLang="zh-CN" sz="1800">
                <a:ea typeface="华文中宋" pitchFamily="2" charset="-122"/>
              </a:rPr>
              <a:t>=</a:t>
            </a:r>
            <a:r>
              <a:rPr kumimoji="0" lang="en-US" altLang="zh-CN" sz="1800" i="1">
                <a:ea typeface="华文中宋" pitchFamily="2" charset="-122"/>
              </a:rPr>
              <a:t>x</a:t>
            </a:r>
            <a:r>
              <a:rPr kumimoji="0" lang="en-US" altLang="zh-CN" sz="1800" baseline="-25000">
                <a:ea typeface="华文中宋" pitchFamily="2" charset="-122"/>
              </a:rPr>
              <a:t>2</a:t>
            </a:r>
            <a:r>
              <a:rPr kumimoji="0" lang="en-US" altLang="zh-CN" sz="1800" baseline="30000">
                <a:ea typeface="华文中宋" pitchFamily="2" charset="-122"/>
              </a:rPr>
              <a:t>/ </a:t>
            </a:r>
            <a:r>
              <a:rPr kumimoji="0" lang="en-US" altLang="zh-CN" sz="1800">
                <a:ea typeface="华文中宋" pitchFamily="2" charset="-122"/>
              </a:rPr>
              <a:t>) </a:t>
            </a:r>
            <a:r>
              <a:rPr kumimoji="0" lang="zh-CN" altLang="en-US" sz="1800">
                <a:ea typeface="华文中宋" pitchFamily="2" charset="-122"/>
              </a:rPr>
              <a:t>发生的两个事件的时间间隔。</a:t>
            </a:r>
          </a:p>
        </p:txBody>
      </p:sp>
      <p:sp>
        <p:nvSpPr>
          <p:cNvPr id="45" name="Rectangle 23"/>
          <p:cNvSpPr>
            <a:spLocks noChangeArrowheads="1"/>
          </p:cNvSpPr>
          <p:nvPr/>
        </p:nvSpPr>
        <p:spPr bwMode="auto">
          <a:xfrm>
            <a:off x="841375" y="3922713"/>
            <a:ext cx="6126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a:solidFill>
                  <a:srgbClr val="0000FF"/>
                </a:solidFill>
                <a:ea typeface="华文中宋" pitchFamily="2" charset="-122"/>
              </a:rPr>
              <a:t>S </a:t>
            </a:r>
            <a:r>
              <a:rPr kumimoji="0" lang="zh-CN" altLang="en-US" sz="1800">
                <a:solidFill>
                  <a:srgbClr val="0000FF"/>
                </a:solidFill>
                <a:ea typeface="华文中宋" pitchFamily="2" charset="-122"/>
              </a:rPr>
              <a:t>系中，</a:t>
            </a:r>
            <a:r>
              <a:rPr kumimoji="0" lang="zh-CN" altLang="en-US" sz="1800">
                <a:ea typeface="华文中宋" pitchFamily="2" charset="-122"/>
              </a:rPr>
              <a:t>两个事件是</a:t>
            </a:r>
            <a:r>
              <a:rPr kumimoji="0" lang="en-US" altLang="zh-CN" sz="1800">
                <a:ea typeface="华文中宋" pitchFamily="2" charset="-122"/>
              </a:rPr>
              <a:t>(</a:t>
            </a:r>
            <a:r>
              <a:rPr kumimoji="0" lang="en-US" altLang="zh-CN" sz="1800" i="1">
                <a:ea typeface="华文中宋" pitchFamily="2" charset="-122"/>
              </a:rPr>
              <a:t>x</a:t>
            </a:r>
            <a:r>
              <a:rPr kumimoji="0" lang="en-US" altLang="zh-CN" sz="1800" baseline="-25000">
                <a:ea typeface="华文中宋" pitchFamily="2" charset="-122"/>
              </a:rPr>
              <a:t>1</a:t>
            </a:r>
            <a:r>
              <a:rPr kumimoji="0" lang="en-US" altLang="zh-CN" sz="1800">
                <a:ea typeface="华文中宋" pitchFamily="2" charset="-122"/>
              </a:rPr>
              <a:t>, </a:t>
            </a:r>
            <a:r>
              <a:rPr kumimoji="0" lang="en-US" altLang="zh-CN" sz="1800" i="1">
                <a:ea typeface="华文中宋" pitchFamily="2" charset="-122"/>
              </a:rPr>
              <a:t>t</a:t>
            </a:r>
            <a:r>
              <a:rPr kumimoji="0" lang="en-US" altLang="zh-CN" sz="1800" baseline="-25000">
                <a:ea typeface="华文中宋" pitchFamily="2" charset="-122"/>
              </a:rPr>
              <a:t>1</a:t>
            </a:r>
            <a:r>
              <a:rPr kumimoji="0" lang="en-US" altLang="zh-CN" sz="1800">
                <a:ea typeface="华文中宋" pitchFamily="2" charset="-122"/>
              </a:rPr>
              <a:t>)</a:t>
            </a:r>
            <a:r>
              <a:rPr kumimoji="0" lang="zh-CN" altLang="en-US" sz="1800">
                <a:ea typeface="华文中宋" pitchFamily="2" charset="-122"/>
              </a:rPr>
              <a:t>，</a:t>
            </a:r>
            <a:r>
              <a:rPr kumimoji="0" lang="en-US" altLang="zh-CN" sz="1800">
                <a:ea typeface="华文中宋" pitchFamily="2" charset="-122"/>
              </a:rPr>
              <a:t>(</a:t>
            </a:r>
            <a:r>
              <a:rPr kumimoji="0" lang="en-US" altLang="zh-CN" sz="1800" i="1">
                <a:ea typeface="华文中宋" pitchFamily="2" charset="-122"/>
              </a:rPr>
              <a:t>x</a:t>
            </a:r>
            <a:r>
              <a:rPr kumimoji="0" lang="en-US" altLang="zh-CN" sz="1800" baseline="-25000">
                <a:ea typeface="华文中宋" pitchFamily="2" charset="-122"/>
              </a:rPr>
              <a:t>2</a:t>
            </a:r>
            <a:r>
              <a:rPr kumimoji="0" lang="en-US" altLang="zh-CN" sz="1800">
                <a:ea typeface="华文中宋" pitchFamily="2" charset="-122"/>
              </a:rPr>
              <a:t>, </a:t>
            </a:r>
            <a:r>
              <a:rPr kumimoji="0" lang="en-US" altLang="zh-CN" sz="1800" i="1">
                <a:ea typeface="华文中宋" pitchFamily="2" charset="-122"/>
              </a:rPr>
              <a:t>t</a:t>
            </a:r>
            <a:r>
              <a:rPr kumimoji="0" lang="en-US" altLang="zh-CN" sz="1800" baseline="-25000">
                <a:ea typeface="华文中宋" pitchFamily="2" charset="-122"/>
              </a:rPr>
              <a:t>2</a:t>
            </a:r>
            <a:r>
              <a:rPr kumimoji="0" lang="en-US" altLang="zh-CN" sz="1800">
                <a:ea typeface="华文中宋" pitchFamily="2" charset="-122"/>
              </a:rPr>
              <a:t>)</a:t>
            </a:r>
          </a:p>
        </p:txBody>
      </p:sp>
      <p:grpSp>
        <p:nvGrpSpPr>
          <p:cNvPr id="6" name="组合 98"/>
          <p:cNvGrpSpPr>
            <a:grpSpLocks/>
          </p:cNvGrpSpPr>
          <p:nvPr/>
        </p:nvGrpSpPr>
        <p:grpSpPr bwMode="auto">
          <a:xfrm>
            <a:off x="3857625" y="1828800"/>
            <a:ext cx="4576763" cy="958850"/>
            <a:chOff x="2009731" y="4194085"/>
            <a:chExt cx="4574978" cy="1277492"/>
          </a:xfrm>
        </p:grpSpPr>
        <p:sp>
          <p:nvSpPr>
            <p:cNvPr id="51212" name="Text Box 63"/>
            <p:cNvSpPr txBox="1">
              <a:spLocks noChangeArrowheads="1"/>
            </p:cNvSpPr>
            <p:nvPr/>
          </p:nvSpPr>
          <p:spPr bwMode="auto">
            <a:xfrm>
              <a:off x="2607311" y="4611578"/>
              <a:ext cx="301591" cy="430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t</a:t>
              </a:r>
              <a:r>
                <a:rPr kumimoji="0" lang="en-US" altLang="zh-CN" sz="1500" baseline="-25000">
                  <a:ea typeface="宋体" pitchFamily="2" charset="-122"/>
                </a:rPr>
                <a:t>2</a:t>
              </a:r>
              <a:endParaRPr kumimoji="0" lang="en-US" altLang="zh-CN" sz="1500">
                <a:ea typeface="宋体" pitchFamily="2" charset="-122"/>
              </a:endParaRPr>
            </a:p>
          </p:txBody>
        </p:sp>
        <p:sp>
          <p:nvSpPr>
            <p:cNvPr id="51213" name="Rectangle 13"/>
            <p:cNvSpPr>
              <a:spLocks noChangeArrowheads="1"/>
            </p:cNvSpPr>
            <p:nvPr/>
          </p:nvSpPr>
          <p:spPr bwMode="auto">
            <a:xfrm>
              <a:off x="2009731" y="4194085"/>
              <a:ext cx="801519" cy="122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5400">
                  <a:solidFill>
                    <a:srgbClr val="C00000"/>
                  </a:solidFill>
                  <a:ea typeface="宋体" pitchFamily="2" charset="-122"/>
                  <a:sym typeface="Wingdings" pitchFamily="2" charset="2"/>
                </a:rPr>
                <a:t></a:t>
              </a:r>
            </a:p>
          </p:txBody>
        </p:sp>
        <p:sp>
          <p:nvSpPr>
            <p:cNvPr id="51214" name="Rectangle 13"/>
            <p:cNvSpPr>
              <a:spLocks noChangeArrowheads="1"/>
            </p:cNvSpPr>
            <p:nvPr/>
          </p:nvSpPr>
          <p:spPr bwMode="auto">
            <a:xfrm>
              <a:off x="5645313" y="4241662"/>
              <a:ext cx="801519" cy="1229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5400">
                  <a:solidFill>
                    <a:srgbClr val="C00000"/>
                  </a:solidFill>
                  <a:ea typeface="宋体" pitchFamily="2" charset="-122"/>
                  <a:sym typeface="Wingdings" pitchFamily="2" charset="2"/>
                </a:rPr>
                <a:t></a:t>
              </a:r>
            </a:p>
          </p:txBody>
        </p:sp>
        <p:sp>
          <p:nvSpPr>
            <p:cNvPr id="51215" name="Text Box 63"/>
            <p:cNvSpPr txBox="1">
              <a:spLocks noChangeArrowheads="1"/>
            </p:cNvSpPr>
            <p:nvPr/>
          </p:nvSpPr>
          <p:spPr bwMode="auto">
            <a:xfrm>
              <a:off x="6283118" y="4526724"/>
              <a:ext cx="301591" cy="430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t</a:t>
              </a:r>
              <a:r>
                <a:rPr kumimoji="0" lang="en-US" altLang="zh-CN" sz="1500" baseline="-25000">
                  <a:ea typeface="宋体" pitchFamily="2" charset="-122"/>
                </a:rPr>
                <a:t>2</a:t>
              </a:r>
              <a:endParaRPr kumimoji="0" lang="en-US" altLang="zh-CN" sz="1500">
                <a:ea typeface="宋体" pitchFamily="2" charset="-122"/>
              </a:endParaRPr>
            </a:p>
          </p:txBody>
        </p:sp>
      </p:grpSp>
      <p:sp>
        <p:nvSpPr>
          <p:cNvPr id="51" name="Rectangle 67"/>
          <p:cNvSpPr>
            <a:spLocks noChangeArrowheads="1"/>
          </p:cNvSpPr>
          <p:nvPr/>
        </p:nvSpPr>
        <p:spPr bwMode="auto">
          <a:xfrm>
            <a:off x="3492500" y="4227513"/>
            <a:ext cx="1914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a:solidFill>
                  <a:srgbClr val="0000FF"/>
                </a:solidFill>
              </a:rPr>
              <a:t>Δ</a:t>
            </a:r>
            <a:r>
              <a:rPr kumimoji="0" lang="en-US" altLang="zh-CN" sz="1800" i="1">
                <a:solidFill>
                  <a:srgbClr val="0000FF"/>
                </a:solidFill>
              </a:rPr>
              <a:t>t</a:t>
            </a:r>
            <a:r>
              <a:rPr kumimoji="0" lang="en-US" altLang="zh-CN" sz="1800" i="1" baseline="30000">
                <a:solidFill>
                  <a:srgbClr val="0000FF"/>
                </a:solidFill>
              </a:rPr>
              <a:t> </a:t>
            </a:r>
            <a:r>
              <a:rPr kumimoji="0" lang="en-US" altLang="zh-CN" sz="1800">
                <a:solidFill>
                  <a:srgbClr val="0000FF"/>
                </a:solidFill>
              </a:rPr>
              <a:t>= </a:t>
            </a:r>
            <a:r>
              <a:rPr kumimoji="0" lang="en-US" altLang="zh-CN" sz="1800" i="1">
                <a:solidFill>
                  <a:srgbClr val="0000FF"/>
                </a:solidFill>
              </a:rPr>
              <a:t>t</a:t>
            </a:r>
            <a:r>
              <a:rPr kumimoji="0" lang="en-US" altLang="zh-CN" sz="1800" baseline="-25000">
                <a:solidFill>
                  <a:srgbClr val="0000FF"/>
                </a:solidFill>
              </a:rPr>
              <a:t>2</a:t>
            </a:r>
            <a:r>
              <a:rPr kumimoji="0" lang="zh-CN" altLang="en-US" sz="1800">
                <a:solidFill>
                  <a:srgbClr val="0000FF"/>
                </a:solidFill>
              </a:rPr>
              <a:t>－</a:t>
            </a:r>
            <a:r>
              <a:rPr kumimoji="0" lang="en-US" altLang="zh-CN" sz="1800" i="1">
                <a:solidFill>
                  <a:srgbClr val="0000FF"/>
                </a:solidFill>
              </a:rPr>
              <a:t>t</a:t>
            </a:r>
            <a:r>
              <a:rPr kumimoji="0" lang="en-US" altLang="zh-CN" sz="1800" baseline="-25000">
                <a:solidFill>
                  <a:srgbClr val="0000FF"/>
                </a:solidFill>
              </a:rPr>
              <a:t>1</a:t>
            </a:r>
          </a:p>
        </p:txBody>
      </p:sp>
      <p:sp>
        <p:nvSpPr>
          <p:cNvPr id="51211" name="Text Box 2"/>
          <p:cNvSpPr>
            <a:spLocks noChangeArrowheads="1"/>
          </p:cNvSpPr>
          <p:nvPr/>
        </p:nvSpPr>
        <p:spPr bwMode="auto">
          <a:xfrm>
            <a:off x="582613" y="874713"/>
            <a:ext cx="2765425" cy="401637"/>
          </a:xfrm>
          <a:prstGeom prst="homePlate">
            <a:avLst>
              <a:gd name="adj" fmla="val 49696"/>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三</a:t>
            </a:r>
            <a:r>
              <a:rPr lang="en-US" altLang="zh-CN" sz="2000">
                <a:solidFill>
                  <a:schemeClr val="bg1"/>
                </a:solidFill>
                <a:latin typeface="华文中宋" pitchFamily="2" charset="-122"/>
                <a:ea typeface="华文中宋" pitchFamily="2" charset="-122"/>
              </a:rPr>
              <a:t>. </a:t>
            </a:r>
            <a:r>
              <a:rPr lang="zh-CN" altLang="en-US" sz="2000">
                <a:solidFill>
                  <a:schemeClr val="bg1"/>
                </a:solidFill>
                <a:latin typeface="华文中宋" pitchFamily="2" charset="-122"/>
                <a:ea typeface="华文中宋" pitchFamily="2" charset="-122"/>
              </a:rPr>
              <a:t>时间间隔的相对性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slide(fromLeft)">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left)">
                                      <p:cBhvr>
                                        <p:cTn id="23" dur="500"/>
                                        <p:tgtEl>
                                          <p:spTgt spid="3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wipe(left)">
                                      <p:cBhvr>
                                        <p:cTn id="28" dur="500"/>
                                        <p:tgtEl>
                                          <p:spTgt spid="4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wipe(left)">
                                      <p:cBhvr>
                                        <p:cTn id="33" dur="500"/>
                                        <p:tgtEl>
                                          <p:spTgt spid="4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p:cTn id="38" dur="500" fill="hold"/>
                                        <p:tgtEl>
                                          <p:spTgt spid="3"/>
                                        </p:tgtEl>
                                        <p:attrNameLst>
                                          <p:attrName>ppt_w</p:attrName>
                                        </p:attrNameLst>
                                      </p:cBhvr>
                                      <p:tavLst>
                                        <p:tav tm="0">
                                          <p:val>
                                            <p:fltVal val="0"/>
                                          </p:val>
                                        </p:tav>
                                        <p:tav tm="100000">
                                          <p:val>
                                            <p:strVal val="#ppt_w"/>
                                          </p:val>
                                        </p:tav>
                                      </p:tavLst>
                                    </p:anim>
                                    <p:anim calcmode="lin" valueType="num">
                                      <p:cBhvr>
                                        <p:cTn id="39"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up)">
                                      <p:cBhvr>
                                        <p:cTn id="44" dur="500"/>
                                        <p:tgtEl>
                                          <p:spTgt spid="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animEffect transition="in" filter="wipe(left)">
                                      <p:cBhvr>
                                        <p:cTn id="4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utoUpdateAnimBg="0"/>
      <p:bldP spid="38" grpId="0" autoUpdateAnimBg="0"/>
      <p:bldP spid="44" grpId="0" autoUpdateAnimBg="0"/>
      <p:bldP spid="45" grpId="0" autoUpdateAnimBg="0"/>
      <p:bldP spid="51"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Box 71"/>
          <p:cNvSpPr txBox="1">
            <a:spLocks noChangeArrowheads="1"/>
          </p:cNvSpPr>
          <p:nvPr/>
        </p:nvSpPr>
        <p:spPr bwMode="auto">
          <a:xfrm>
            <a:off x="611188" y="906463"/>
            <a:ext cx="2482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zh-CN" altLang="en-US" sz="1800">
                <a:ea typeface="华文中宋" pitchFamily="2" charset="-122"/>
              </a:rPr>
              <a:t>根据洛仑兹变换 </a:t>
            </a:r>
          </a:p>
        </p:txBody>
      </p:sp>
      <p:graphicFrame>
        <p:nvGraphicFramePr>
          <p:cNvPr id="17" name="对象 16"/>
          <p:cNvGraphicFramePr>
            <a:graphicFrameLocks noChangeAspect="1"/>
          </p:cNvGraphicFramePr>
          <p:nvPr/>
        </p:nvGraphicFramePr>
        <p:xfrm>
          <a:off x="2887663" y="842963"/>
          <a:ext cx="1984375" cy="992187"/>
        </p:xfrm>
        <a:graphic>
          <a:graphicData uri="http://schemas.openxmlformats.org/presentationml/2006/ole">
            <mc:AlternateContent xmlns:mc="http://schemas.openxmlformats.org/markup-compatibility/2006">
              <mc:Choice xmlns:v="urn:schemas-microsoft-com:vml" Requires="v">
                <p:oleObj spid="_x0000_s52242" name="公式" r:id="rId3" imgW="825500" imgH="673100" progId="Equation.3">
                  <p:embed/>
                </p:oleObj>
              </mc:Choice>
              <mc:Fallback>
                <p:oleObj name="公式" r:id="rId3" imgW="825500" imgH="673100" progId="Equation.3">
                  <p:embed/>
                  <p:pic>
                    <p:nvPicPr>
                      <p:cNvPr id="0" name="对象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7663" y="842963"/>
                        <a:ext cx="1984375"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5207000" y="852488"/>
          <a:ext cx="2049463" cy="993775"/>
        </p:xfrm>
        <a:graphic>
          <a:graphicData uri="http://schemas.openxmlformats.org/presentationml/2006/ole">
            <mc:AlternateContent xmlns:mc="http://schemas.openxmlformats.org/markup-compatibility/2006">
              <mc:Choice xmlns:v="urn:schemas-microsoft-com:vml" Requires="v">
                <p:oleObj spid="_x0000_s52243" name="公式" r:id="rId5" imgW="850531" imgH="672808" progId="Equation.3">
                  <p:embed/>
                </p:oleObj>
              </mc:Choice>
              <mc:Fallback>
                <p:oleObj name="公式" r:id="rId5" imgW="850531" imgH="672808" progId="Equation.3">
                  <p:embed/>
                  <p:pic>
                    <p:nvPicPr>
                      <p:cNvPr id="0"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07000" y="852488"/>
                        <a:ext cx="20494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76"/>
          <p:cNvGraphicFramePr>
            <a:graphicFrameLocks noChangeAspect="1"/>
          </p:cNvGraphicFramePr>
          <p:nvPr/>
        </p:nvGraphicFramePr>
        <p:xfrm>
          <a:off x="2419350" y="1870075"/>
          <a:ext cx="5969000" cy="706438"/>
        </p:xfrm>
        <a:graphic>
          <a:graphicData uri="http://schemas.openxmlformats.org/presentationml/2006/ole">
            <mc:AlternateContent xmlns:mc="http://schemas.openxmlformats.org/markup-compatibility/2006">
              <mc:Choice xmlns:v="urn:schemas-microsoft-com:vml" Requires="v">
                <p:oleObj spid="_x0000_s52244" name="公式" r:id="rId7" imgW="2832100" imgH="482600" progId="Equation.3">
                  <p:embed/>
                </p:oleObj>
              </mc:Choice>
              <mc:Fallback>
                <p:oleObj name="公式" r:id="rId7" imgW="2832100" imgH="482600" progId="Equation.3">
                  <p:embed/>
                  <p:pic>
                    <p:nvPicPr>
                      <p:cNvPr id="0" name="Object 7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19350" y="1870075"/>
                        <a:ext cx="5969000" cy="706438"/>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77"/>
          <p:cNvGraphicFramePr>
            <a:graphicFrameLocks noChangeAspect="1"/>
          </p:cNvGraphicFramePr>
          <p:nvPr/>
        </p:nvGraphicFramePr>
        <p:xfrm>
          <a:off x="4140200" y="2573338"/>
          <a:ext cx="2309813" cy="725487"/>
        </p:xfrm>
        <a:graphic>
          <a:graphicData uri="http://schemas.openxmlformats.org/presentationml/2006/ole">
            <mc:AlternateContent xmlns:mc="http://schemas.openxmlformats.org/markup-compatibility/2006">
              <mc:Choice xmlns:v="urn:schemas-microsoft-com:vml" Requires="v">
                <p:oleObj spid="_x0000_s52245" name="公式" r:id="rId9" imgW="875920" imgH="495085" progId="Equation.3">
                  <p:embed/>
                </p:oleObj>
              </mc:Choice>
              <mc:Fallback>
                <p:oleObj name="公式" r:id="rId9" imgW="875920" imgH="495085" progId="Equation.3">
                  <p:embed/>
                  <p:pic>
                    <p:nvPicPr>
                      <p:cNvPr id="0" name="Object 7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0200" y="2573338"/>
                        <a:ext cx="2309813" cy="725487"/>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nvGraphicFramePr>
        <p:xfrm>
          <a:off x="4622800" y="3305175"/>
          <a:ext cx="1462088" cy="419100"/>
        </p:xfrm>
        <a:graphic>
          <a:graphicData uri="http://schemas.openxmlformats.org/presentationml/2006/ole">
            <mc:AlternateContent xmlns:mc="http://schemas.openxmlformats.org/markup-compatibility/2006">
              <mc:Choice xmlns:v="urn:schemas-microsoft-com:vml" Requires="v">
                <p:oleObj spid="_x0000_s52246" name="公式" r:id="rId11" imgW="596900" imgH="228600" progId="Equation.3">
                  <p:embed/>
                </p:oleObj>
              </mc:Choice>
              <mc:Fallback>
                <p:oleObj name="公式" r:id="rId11" imgW="596900" imgH="228600" progId="Equation.3">
                  <p:embed/>
                  <p:pic>
                    <p:nvPicPr>
                      <p:cNvPr id="0" name="对象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22800" y="3305175"/>
                        <a:ext cx="1462088" cy="419100"/>
                      </a:xfrm>
                      <a:prstGeom prst="rect">
                        <a:avLst/>
                      </a:prstGeom>
                      <a:noFill/>
                      <a:ln w="28575">
                        <a:solidFill>
                          <a:srgbClr val="FF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7"/>
          <p:cNvSpPr>
            <a:spLocks noChangeArrowheads="1"/>
          </p:cNvSpPr>
          <p:nvPr/>
        </p:nvSpPr>
        <p:spPr bwMode="auto">
          <a:xfrm>
            <a:off x="395288" y="3532188"/>
            <a:ext cx="8137525" cy="646112"/>
          </a:xfrm>
          <a:prstGeom prst="rect">
            <a:avLst/>
          </a:prstGeom>
          <a:noFill/>
          <a:ln w="9525">
            <a:noFill/>
            <a:miter lim="800000"/>
            <a:headEnd/>
            <a:tailEnd/>
          </a:ln>
          <a:effectLst/>
        </p:spPr>
        <p:txBody>
          <a:bodyPr>
            <a:spAutoFit/>
          </a:bodyPr>
          <a:lstStyle/>
          <a:p>
            <a:pPr eaLnBrk="0" hangingPunct="0">
              <a:defRPr/>
            </a:pPr>
            <a:r>
              <a:rPr kumimoji="0" lang="zh-CN" altLang="en-US" sz="1800" dirty="0">
                <a:solidFill>
                  <a:srgbClr val="FF0000"/>
                </a:solidFill>
                <a:effectLst>
                  <a:outerShdw blurRad="38100" dist="38100" dir="2700000" algn="tl">
                    <a:srgbClr val="C0C0C0"/>
                  </a:outerShdw>
                </a:effectLst>
                <a:ea typeface="华文中宋" pitchFamily="2" charset="-122"/>
              </a:rPr>
              <a:t>说明：</a:t>
            </a:r>
          </a:p>
          <a:p>
            <a:pPr eaLnBrk="0" hangingPunct="0">
              <a:defRPr/>
            </a:pPr>
            <a:r>
              <a:rPr kumimoji="0" lang="en-US" altLang="zh-CN" sz="1800" dirty="0">
                <a:ea typeface="华文中宋" pitchFamily="2" charset="-122"/>
              </a:rPr>
              <a:t>(1)  </a:t>
            </a:r>
            <a:r>
              <a:rPr kumimoji="0" lang="en-US" altLang="zh-CN" sz="1800" i="1" dirty="0">
                <a:ea typeface="华文中宋" pitchFamily="2" charset="-122"/>
                <a:sym typeface="Symbol" pitchFamily="18" charset="2"/>
              </a:rPr>
              <a:t> </a:t>
            </a:r>
            <a:r>
              <a:rPr kumimoji="0" lang="en-US" altLang="zh-CN" sz="1800" dirty="0">
                <a:ea typeface="华文中宋" pitchFamily="2" charset="-122"/>
              </a:rPr>
              <a:t>&gt;1 ,  </a:t>
            </a:r>
            <a:r>
              <a:rPr kumimoji="0" lang="en-US" altLang="zh-CN" sz="1800" i="1" dirty="0">
                <a:ea typeface="华文中宋" pitchFamily="2" charset="-122"/>
                <a:sym typeface="Symbol" pitchFamily="18" charset="2"/>
              </a:rPr>
              <a:t></a:t>
            </a:r>
            <a:r>
              <a:rPr kumimoji="0" lang="en-US" altLang="zh-CN" sz="1800" i="1" dirty="0">
                <a:ea typeface="华文中宋" pitchFamily="2" charset="-122"/>
              </a:rPr>
              <a:t>t  </a:t>
            </a:r>
            <a:r>
              <a:rPr kumimoji="0" lang="en-US" altLang="zh-CN" sz="1800" dirty="0">
                <a:ea typeface="华文中宋" pitchFamily="2" charset="-122"/>
              </a:rPr>
              <a:t>&gt; </a:t>
            </a:r>
            <a:r>
              <a:rPr kumimoji="0" lang="en-US" altLang="zh-CN" sz="1800" i="1" dirty="0">
                <a:ea typeface="华文中宋" pitchFamily="2" charset="-122"/>
                <a:sym typeface="Symbol" pitchFamily="18" charset="2"/>
              </a:rPr>
              <a:t></a:t>
            </a:r>
            <a:r>
              <a:rPr kumimoji="0" lang="en-US" altLang="zh-CN" sz="1800" i="1" dirty="0">
                <a:ea typeface="华文中宋" pitchFamily="2" charset="-122"/>
              </a:rPr>
              <a:t>t</a:t>
            </a:r>
            <a:r>
              <a:rPr kumimoji="0" lang="en-US" altLang="zh-CN" sz="1800" baseline="30000" dirty="0">
                <a:ea typeface="华文中宋" pitchFamily="2" charset="-122"/>
              </a:rPr>
              <a:t>/</a:t>
            </a:r>
            <a:r>
              <a:rPr kumimoji="0" lang="zh-CN" altLang="en-US" sz="1800" dirty="0">
                <a:ea typeface="华文中宋" pitchFamily="2" charset="-122"/>
              </a:rPr>
              <a:t>，表示</a:t>
            </a:r>
            <a:r>
              <a:rPr kumimoji="0" lang="zh-CN" altLang="en-US" sz="1800" dirty="0">
                <a:solidFill>
                  <a:srgbClr val="0000FF"/>
                </a:solidFill>
                <a:ea typeface="华文中宋" pitchFamily="2" charset="-122"/>
              </a:rPr>
              <a:t>时间膨胀</a:t>
            </a:r>
            <a:r>
              <a:rPr kumimoji="0" lang="zh-CN" altLang="en-US" sz="1800" dirty="0">
                <a:ea typeface="华文中宋" pitchFamily="2" charset="-122"/>
              </a:rPr>
              <a:t>了，</a:t>
            </a:r>
            <a:r>
              <a:rPr lang="zh-CN" altLang="en-US" sz="1800" dirty="0">
                <a:ea typeface="华文中宋" pitchFamily="2" charset="-122"/>
              </a:rPr>
              <a:t>相对于观察者</a:t>
            </a:r>
            <a:r>
              <a:rPr lang="zh-CN" altLang="en-US" sz="1800" dirty="0">
                <a:solidFill>
                  <a:srgbClr val="0000FF"/>
                </a:solidFill>
                <a:ea typeface="华文中宋" pitchFamily="2" charset="-122"/>
              </a:rPr>
              <a:t>运动的时钟变慢</a:t>
            </a:r>
            <a:r>
              <a:rPr lang="zh-CN" altLang="en-US" sz="1800" dirty="0">
                <a:ea typeface="华文中宋" pitchFamily="2" charset="-122"/>
              </a:rPr>
              <a:t>了。</a:t>
            </a:r>
          </a:p>
        </p:txBody>
      </p:sp>
      <p:grpSp>
        <p:nvGrpSpPr>
          <p:cNvPr id="6" name="Group 14"/>
          <p:cNvGrpSpPr>
            <a:grpSpLocks/>
          </p:cNvGrpSpPr>
          <p:nvPr/>
        </p:nvGrpSpPr>
        <p:grpSpPr bwMode="auto">
          <a:xfrm>
            <a:off x="2771775" y="4227513"/>
            <a:ext cx="2447925" cy="369887"/>
            <a:chOff x="1565" y="3566"/>
            <a:chExt cx="2647" cy="310"/>
          </a:xfrm>
        </p:grpSpPr>
        <p:sp>
          <p:nvSpPr>
            <p:cNvPr id="52234" name="Rectangle 8"/>
            <p:cNvSpPr>
              <a:spLocks noChangeArrowheads="1"/>
            </p:cNvSpPr>
            <p:nvPr/>
          </p:nvSpPr>
          <p:spPr bwMode="auto">
            <a:xfrm>
              <a:off x="1701" y="3566"/>
              <a:ext cx="2511"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zh-CN" altLang="en-US" sz="1800">
                  <a:ea typeface="华文中宋" pitchFamily="2" charset="-122"/>
                </a:rPr>
                <a:t>称为时间延缓因子</a:t>
              </a:r>
            </a:p>
          </p:txBody>
        </p:sp>
        <p:graphicFrame>
          <p:nvGraphicFramePr>
            <p:cNvPr id="52235" name="Object 77"/>
            <p:cNvGraphicFramePr>
              <a:graphicFrameLocks noChangeAspect="1"/>
            </p:cNvGraphicFramePr>
            <p:nvPr/>
          </p:nvGraphicFramePr>
          <p:xfrm>
            <a:off x="1565" y="3612"/>
            <a:ext cx="272" cy="225"/>
          </p:xfrm>
          <a:graphic>
            <a:graphicData uri="http://schemas.openxmlformats.org/presentationml/2006/ole">
              <mc:AlternateContent xmlns:mc="http://schemas.openxmlformats.org/markup-compatibility/2006">
                <mc:Choice xmlns:v="urn:schemas-microsoft-com:vml" Requires="v">
                  <p:oleObj spid="_x0000_s52247" name="公式" r:id="rId13" imgW="114102" imgH="126780" progId="Equation.3">
                    <p:embed/>
                  </p:oleObj>
                </mc:Choice>
                <mc:Fallback>
                  <p:oleObj name="公式" r:id="rId13" imgW="114102" imgH="126780" progId="Equation.3">
                    <p:embed/>
                    <p:pic>
                      <p:nvPicPr>
                        <p:cNvPr id="0" name="Object 7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65" y="3612"/>
                          <a:ext cx="272" cy="225"/>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5"/>
          <p:cNvSpPr>
            <a:spLocks noChangeArrowheads="1"/>
          </p:cNvSpPr>
          <p:nvPr/>
        </p:nvSpPr>
        <p:spPr bwMode="auto">
          <a:xfrm>
            <a:off x="600075" y="771525"/>
            <a:ext cx="83105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800">
                <a:solidFill>
                  <a:srgbClr val="0000FF"/>
                </a:solidFill>
                <a:ea typeface="华文中宋" pitchFamily="2" charset="-122"/>
              </a:rPr>
              <a:t>(2)  </a:t>
            </a:r>
            <a:r>
              <a:rPr lang="zh-CN" altLang="en-US" sz="1800">
                <a:solidFill>
                  <a:srgbClr val="0000FF"/>
                </a:solidFill>
                <a:ea typeface="华文中宋" pitchFamily="2" charset="-122"/>
              </a:rPr>
              <a:t>运动时钟变慢是相对的。</a:t>
            </a:r>
          </a:p>
          <a:p>
            <a:pPr eaLnBrk="0" hangingPunct="0"/>
            <a:r>
              <a:rPr lang="zh-CN" altLang="en-US" sz="1800">
                <a:solidFill>
                  <a:srgbClr val="0000FF"/>
                </a:solidFill>
                <a:ea typeface="华文中宋" pitchFamily="2" charset="-122"/>
              </a:rPr>
              <a:t>  　</a:t>
            </a:r>
            <a:r>
              <a:rPr lang="zh-CN" altLang="en-US" sz="1800">
                <a:ea typeface="华文中宋" pitchFamily="2" charset="-122"/>
              </a:rPr>
              <a:t>与钟一起运动的观测者是感受不到钟变慢效应的。</a:t>
            </a:r>
          </a:p>
        </p:txBody>
      </p:sp>
      <p:sp>
        <p:nvSpPr>
          <p:cNvPr id="8" name="Rectangle 18"/>
          <p:cNvSpPr>
            <a:spLocks noChangeArrowheads="1"/>
          </p:cNvSpPr>
          <p:nvPr/>
        </p:nvSpPr>
        <p:spPr bwMode="auto">
          <a:xfrm>
            <a:off x="593725" y="1339850"/>
            <a:ext cx="8010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kumimoji="0" lang="en-US" altLang="zh-CN" sz="1800">
                <a:solidFill>
                  <a:srgbClr val="0000FF"/>
                </a:solidFill>
                <a:ea typeface="华文中宋" pitchFamily="2" charset="-122"/>
              </a:rPr>
              <a:t>(3) </a:t>
            </a:r>
            <a:r>
              <a:rPr kumimoji="0" lang="zh-CN" altLang="en-US" sz="1800">
                <a:solidFill>
                  <a:srgbClr val="0000FF"/>
                </a:solidFill>
                <a:ea typeface="华文中宋" pitchFamily="2" charset="-122"/>
              </a:rPr>
              <a:t>时间膨胀效应是一种普遍的时空属性。</a:t>
            </a:r>
          </a:p>
          <a:p>
            <a:pPr eaLnBrk="0" hangingPunct="0"/>
            <a:r>
              <a:rPr lang="zh-CN" altLang="en-US" sz="1800">
                <a:ea typeface="华文中宋" pitchFamily="2" charset="-122"/>
              </a:rPr>
              <a:t>　  时间与参考系有关，也就是</a:t>
            </a:r>
            <a:r>
              <a:rPr kumimoji="0" lang="zh-CN" altLang="en-US" sz="1800">
                <a:ea typeface="华文中宋" pitchFamily="2" charset="-122"/>
              </a:rPr>
              <a:t>与运动状态有关</a:t>
            </a:r>
            <a:r>
              <a:rPr kumimoji="0" lang="en-US" altLang="zh-CN" sz="1800">
                <a:ea typeface="华文中宋" pitchFamily="2" charset="-122"/>
              </a:rPr>
              <a:t>.</a:t>
            </a:r>
            <a:endParaRPr lang="en-US" altLang="zh-CN" sz="1800">
              <a:ea typeface="华文中宋" pitchFamily="2" charset="-122"/>
            </a:endParaRPr>
          </a:p>
        </p:txBody>
      </p:sp>
      <p:sp>
        <p:nvSpPr>
          <p:cNvPr id="9" name="Rectangle 6"/>
          <p:cNvSpPr>
            <a:spLocks noChangeArrowheads="1"/>
          </p:cNvSpPr>
          <p:nvPr/>
        </p:nvSpPr>
        <p:spPr bwMode="auto">
          <a:xfrm>
            <a:off x="574675" y="1958975"/>
            <a:ext cx="8101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eaLnBrk="0" hangingPunct="0"/>
            <a:r>
              <a:rPr lang="en-US" altLang="zh-CN" sz="1800">
                <a:solidFill>
                  <a:srgbClr val="0000FF"/>
                </a:solidFill>
                <a:ea typeface="华文中宋" pitchFamily="2" charset="-122"/>
              </a:rPr>
              <a:t>(4) </a:t>
            </a:r>
            <a:r>
              <a:rPr lang="zh-CN" altLang="en-US" sz="1800">
                <a:solidFill>
                  <a:srgbClr val="0000FF"/>
                </a:solidFill>
                <a:ea typeface="华文中宋" pitchFamily="2" charset="-122"/>
              </a:rPr>
              <a:t>时间延缓早已被高能粒子的许多实验所证实。</a:t>
            </a:r>
          </a:p>
        </p:txBody>
      </p:sp>
      <p:sp>
        <p:nvSpPr>
          <p:cNvPr id="2" name="Text Box 6"/>
          <p:cNvSpPr txBox="1">
            <a:spLocks noChangeArrowheads="1"/>
          </p:cNvSpPr>
          <p:nvPr/>
        </p:nvSpPr>
        <p:spPr bwMode="auto">
          <a:xfrm>
            <a:off x="3346450" y="2346325"/>
            <a:ext cx="5402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例</a:t>
            </a:r>
            <a:r>
              <a:rPr lang="en-US" altLang="zh-CN" sz="1800">
                <a:ea typeface="华文中宋" pitchFamily="2" charset="-122"/>
              </a:rPr>
              <a:t>: 1971</a:t>
            </a:r>
            <a:r>
              <a:rPr lang="zh-CN" altLang="en-US" sz="1800">
                <a:ea typeface="华文中宋" pitchFamily="2" charset="-122"/>
              </a:rPr>
              <a:t>年，美空军用两组</a:t>
            </a:r>
            <a:r>
              <a:rPr lang="en-US" altLang="zh-CN" sz="1800">
                <a:ea typeface="华文中宋" pitchFamily="2" charset="-122"/>
              </a:rPr>
              <a:t>Cs</a:t>
            </a:r>
            <a:r>
              <a:rPr lang="zh-CN" altLang="en-US" sz="1800">
                <a:ea typeface="华文中宋" pitchFamily="2" charset="-122"/>
              </a:rPr>
              <a:t>（铯）原子钟作实验。  </a:t>
            </a:r>
          </a:p>
        </p:txBody>
      </p:sp>
      <p:graphicFrame>
        <p:nvGraphicFramePr>
          <p:cNvPr id="10" name="Object 7"/>
          <p:cNvGraphicFramePr>
            <a:graphicFrameLocks noChangeAspect="1"/>
          </p:cNvGraphicFramePr>
          <p:nvPr/>
        </p:nvGraphicFramePr>
        <p:xfrm>
          <a:off x="755650" y="2392363"/>
          <a:ext cx="2592388" cy="2163762"/>
        </p:xfrm>
        <a:graphic>
          <a:graphicData uri="http://schemas.openxmlformats.org/presentationml/2006/ole">
            <mc:AlternateContent xmlns:mc="http://schemas.openxmlformats.org/markup-compatibility/2006">
              <mc:Choice xmlns:v="urn:schemas-microsoft-com:vml" Requires="v">
                <p:oleObj spid="_x0000_s53259" name="Photo Editor 照片" r:id="rId3" imgW="3134162" imgH="3486637" progId="">
                  <p:embed/>
                </p:oleObj>
              </mc:Choice>
              <mc:Fallback>
                <p:oleObj name="Photo Editor 照片" r:id="rId3" imgW="3134162" imgH="3486637" progId="">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392363"/>
                        <a:ext cx="2592388" cy="216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8"/>
          <p:cNvSpPr txBox="1">
            <a:spLocks noChangeArrowheads="1"/>
          </p:cNvSpPr>
          <p:nvPr/>
        </p:nvSpPr>
        <p:spPr bwMode="auto">
          <a:xfrm>
            <a:off x="3797300" y="2973388"/>
            <a:ext cx="5095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400">
                <a:ea typeface="华文中宋" pitchFamily="2" charset="-122"/>
              </a:rPr>
              <a:t> </a:t>
            </a:r>
            <a:r>
              <a:rPr lang="zh-CN" altLang="en-US" sz="1800">
                <a:solidFill>
                  <a:srgbClr val="FF3300"/>
                </a:solidFill>
                <a:ea typeface="华文中宋" pitchFamily="2" charset="-122"/>
              </a:rPr>
              <a:t>实验值：</a:t>
            </a:r>
            <a:r>
              <a:rPr lang="zh-CN" altLang="en-US" sz="1800">
                <a:ea typeface="华文中宋" pitchFamily="2" charset="-122"/>
              </a:rPr>
              <a:t> 绕地球一周的运动钟变慢</a:t>
            </a:r>
            <a:r>
              <a:rPr lang="en-US" altLang="zh-CN" sz="1800">
                <a:ea typeface="华文中宋" pitchFamily="2" charset="-122"/>
              </a:rPr>
              <a:t>: 203±10ns</a:t>
            </a:r>
          </a:p>
        </p:txBody>
      </p:sp>
      <p:sp>
        <p:nvSpPr>
          <p:cNvPr id="12" name="Text Box 9"/>
          <p:cNvSpPr txBox="1">
            <a:spLocks noChangeArrowheads="1"/>
          </p:cNvSpPr>
          <p:nvPr/>
        </p:nvSpPr>
        <p:spPr bwMode="auto">
          <a:xfrm>
            <a:off x="3897313" y="3579813"/>
            <a:ext cx="3987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3300"/>
                </a:solidFill>
                <a:ea typeface="华文中宋" pitchFamily="2" charset="-122"/>
              </a:rPr>
              <a:t>理论值：</a:t>
            </a:r>
            <a:r>
              <a:rPr lang="zh-CN" altLang="en-US" sz="1800">
                <a:ea typeface="华文中宋" pitchFamily="2" charset="-122"/>
              </a:rPr>
              <a:t>运动钟变慢：</a:t>
            </a:r>
            <a:r>
              <a:rPr lang="zh-CN" altLang="en-US" sz="1800">
                <a:solidFill>
                  <a:srgbClr val="FF3300"/>
                </a:solidFill>
                <a:ea typeface="华文中宋" pitchFamily="2" charset="-122"/>
              </a:rPr>
              <a:t> </a:t>
            </a:r>
            <a:r>
              <a:rPr lang="en-US" altLang="zh-CN" sz="1800">
                <a:ea typeface="华文中宋" pitchFamily="2" charset="-122"/>
              </a:rPr>
              <a:t>184 ± 23 ns</a:t>
            </a:r>
          </a:p>
        </p:txBody>
      </p:sp>
      <p:sp>
        <p:nvSpPr>
          <p:cNvPr id="13" name="Text Box 10"/>
          <p:cNvSpPr txBox="1">
            <a:spLocks noChangeArrowheads="1"/>
          </p:cNvSpPr>
          <p:nvPr/>
        </p:nvSpPr>
        <p:spPr bwMode="auto">
          <a:xfrm>
            <a:off x="3924300" y="4217988"/>
            <a:ext cx="43926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实验值和理论值在误差范围内是一致的。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left)">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wipe(left)">
                                      <p:cBhvr>
                                        <p:cTn id="17" dur="500"/>
                                        <p:tgtEl>
                                          <p:spTgt spid="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wipe(left)">
                                      <p:cBhvr>
                                        <p:cTn id="22" dur="500"/>
                                        <p:tgtEl>
                                          <p:spTgt spid="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left)">
                                      <p:cBhvr>
                                        <p:cTn id="4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build="p" autoUpdateAnimBg="0"/>
      <p:bldP spid="9" grpId="0" build="p" autoUpdateAnimBg="0"/>
      <p:bldP spid="2" grpId="0" autoUpdateAnimBg="0"/>
      <p:bldP spid="11" grpId="0" autoUpdateAnimBg="0"/>
      <p:bldP spid="12" grpId="0" autoUpdateAnimBg="0"/>
      <p:bldP spid="13"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323850" y="844550"/>
            <a:ext cx="86407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  在宇宙中有一种叫做 </a:t>
            </a:r>
            <a:r>
              <a:rPr lang="zh-CN" altLang="en-US" sz="1800" i="1">
                <a:solidFill>
                  <a:srgbClr val="0000FF"/>
                </a:solidFill>
                <a:ea typeface="华文中宋" pitchFamily="2" charset="-122"/>
                <a:sym typeface="Symbol" pitchFamily="18" charset="2"/>
              </a:rPr>
              <a:t></a:t>
            </a:r>
            <a:r>
              <a:rPr lang="zh-CN" altLang="en-US" sz="1800">
                <a:solidFill>
                  <a:srgbClr val="0000FF"/>
                </a:solidFill>
                <a:ea typeface="华文中宋" pitchFamily="2" charset="-122"/>
              </a:rPr>
              <a:t>介子的高能射线</a:t>
            </a:r>
            <a:r>
              <a:rPr lang="en-US" altLang="zh-CN" sz="1800">
                <a:solidFill>
                  <a:srgbClr val="0000FF"/>
                </a:solidFill>
                <a:ea typeface="华文中宋" pitchFamily="2" charset="-122"/>
              </a:rPr>
              <a:t>, </a:t>
            </a:r>
            <a:r>
              <a:rPr lang="zh-CN" altLang="en-US" sz="1800">
                <a:solidFill>
                  <a:srgbClr val="0000FF"/>
                </a:solidFill>
                <a:ea typeface="华文中宋" pitchFamily="2" charset="-122"/>
              </a:rPr>
              <a:t>很不稳定。</a:t>
            </a:r>
            <a:r>
              <a:rPr lang="zh-CN" altLang="en-US" sz="1800" i="1">
                <a:solidFill>
                  <a:srgbClr val="0000FF"/>
                </a:solidFill>
                <a:ea typeface="华文中宋" pitchFamily="2" charset="-122"/>
                <a:sym typeface="Symbol" pitchFamily="18" charset="2"/>
              </a:rPr>
              <a:t></a:t>
            </a:r>
            <a:r>
              <a:rPr lang="zh-CN" altLang="en-US" sz="1800">
                <a:solidFill>
                  <a:srgbClr val="0000FF"/>
                </a:solidFill>
                <a:ea typeface="华文中宋" pitchFamily="2" charset="-122"/>
              </a:rPr>
              <a:t>介子平均</a:t>
            </a:r>
            <a:r>
              <a:rPr kumimoji="0" lang="zh-CN" altLang="en-US" sz="1800">
                <a:solidFill>
                  <a:srgbClr val="0000FF"/>
                </a:solidFill>
                <a:ea typeface="华文中宋" pitchFamily="2" charset="-122"/>
              </a:rPr>
              <a:t>固有</a:t>
            </a:r>
            <a:r>
              <a:rPr lang="zh-CN" altLang="en-US" sz="1800">
                <a:solidFill>
                  <a:srgbClr val="0000FF"/>
                </a:solidFill>
                <a:ea typeface="华文中宋" pitchFamily="2" charset="-122"/>
              </a:rPr>
              <a:t>寿命  </a:t>
            </a:r>
            <a:r>
              <a:rPr lang="zh-CN" altLang="en-US" sz="1800" i="1">
                <a:solidFill>
                  <a:srgbClr val="0000FF"/>
                </a:solidFill>
                <a:ea typeface="华文中宋" pitchFamily="2" charset="-122"/>
                <a:sym typeface="Symbol" pitchFamily="18" charset="2"/>
              </a:rPr>
              <a:t></a:t>
            </a:r>
            <a:r>
              <a:rPr lang="en-US" altLang="zh-CN" sz="1800" baseline="-25000">
                <a:solidFill>
                  <a:srgbClr val="0000FF"/>
                </a:solidFill>
                <a:ea typeface="华文中宋" pitchFamily="2" charset="-122"/>
                <a:sym typeface="Symbol" pitchFamily="18" charset="2"/>
              </a:rPr>
              <a:t>0</a:t>
            </a:r>
            <a:r>
              <a:rPr lang="en-US" altLang="zh-CN" sz="1800">
                <a:solidFill>
                  <a:srgbClr val="0000FF"/>
                </a:solidFill>
                <a:ea typeface="华文中宋" pitchFamily="2" charset="-122"/>
                <a:sym typeface="Symbol" pitchFamily="18" charset="2"/>
              </a:rPr>
              <a:t>=2.210</a:t>
            </a:r>
            <a:r>
              <a:rPr lang="en-US" altLang="zh-CN" sz="1800" baseline="30000">
                <a:solidFill>
                  <a:srgbClr val="0000FF"/>
                </a:solidFill>
                <a:ea typeface="华文中宋" pitchFamily="2" charset="-122"/>
                <a:sym typeface="Symbol" pitchFamily="18" charset="2"/>
              </a:rPr>
              <a:t>-6</a:t>
            </a:r>
            <a:r>
              <a:rPr lang="en-US" altLang="zh-CN" sz="1800">
                <a:solidFill>
                  <a:srgbClr val="0000FF"/>
                </a:solidFill>
                <a:ea typeface="华文中宋" pitchFamily="2" charset="-122"/>
                <a:sym typeface="Symbol" pitchFamily="18" charset="2"/>
              </a:rPr>
              <a:t>s</a:t>
            </a:r>
            <a:r>
              <a:rPr lang="en-US" altLang="zh-CN" sz="1800">
                <a:solidFill>
                  <a:srgbClr val="0000FF"/>
                </a:solidFill>
                <a:ea typeface="华文中宋" pitchFamily="2" charset="-122"/>
              </a:rPr>
              <a:t> </a:t>
            </a:r>
            <a:r>
              <a:rPr lang="zh-CN" altLang="en-US" sz="1800">
                <a:solidFill>
                  <a:srgbClr val="0000FF"/>
                </a:solidFill>
                <a:ea typeface="华文中宋" pitchFamily="2" charset="-122"/>
              </a:rPr>
              <a:t>。</a:t>
            </a:r>
          </a:p>
        </p:txBody>
      </p:sp>
      <p:sp>
        <p:nvSpPr>
          <p:cNvPr id="6" name="Text Box 7"/>
          <p:cNvSpPr txBox="1">
            <a:spLocks noChangeArrowheads="1"/>
          </p:cNvSpPr>
          <p:nvPr/>
        </p:nvSpPr>
        <p:spPr bwMode="auto">
          <a:xfrm>
            <a:off x="876300" y="1493838"/>
            <a:ext cx="72405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ea typeface="华文中宋" pitchFamily="2" charset="-122"/>
              </a:rPr>
              <a:t>      </a:t>
            </a:r>
            <a:r>
              <a:rPr lang="zh-CN" altLang="en-US" sz="1800">
                <a:solidFill>
                  <a:srgbClr val="0000FF"/>
                </a:solidFill>
                <a:ea typeface="华文中宋" pitchFamily="2" charset="-122"/>
              </a:rPr>
              <a:t>按</a:t>
            </a:r>
            <a:r>
              <a:rPr lang="zh-CN" altLang="en-US" sz="1800" i="1">
                <a:solidFill>
                  <a:srgbClr val="0000FF"/>
                </a:solidFill>
                <a:ea typeface="华文中宋" pitchFamily="2" charset="-122"/>
                <a:sym typeface="Symbol" pitchFamily="18" charset="2"/>
              </a:rPr>
              <a:t></a:t>
            </a:r>
            <a:r>
              <a:rPr lang="zh-CN" altLang="en-US" sz="1800">
                <a:solidFill>
                  <a:srgbClr val="0000FF"/>
                </a:solidFill>
                <a:ea typeface="华文中宋" pitchFamily="2" charset="-122"/>
              </a:rPr>
              <a:t> 介子自身的“钟“计算，</a:t>
            </a:r>
            <a:r>
              <a:rPr lang="zh-CN" altLang="en-US" sz="1800" i="1">
                <a:solidFill>
                  <a:srgbClr val="0000FF"/>
                </a:solidFill>
                <a:ea typeface="华文中宋" pitchFamily="2" charset="-122"/>
                <a:sym typeface="Symbol" pitchFamily="18" charset="2"/>
              </a:rPr>
              <a:t></a:t>
            </a:r>
            <a:r>
              <a:rPr lang="zh-CN" altLang="en-US" sz="1800">
                <a:solidFill>
                  <a:srgbClr val="0000FF"/>
                </a:solidFill>
                <a:ea typeface="华文中宋" pitchFamily="2" charset="-122"/>
              </a:rPr>
              <a:t> 介子即使以光速运动，也只能飞行 </a:t>
            </a:r>
          </a:p>
          <a:p>
            <a:pPr eaLnBrk="1" hangingPunct="1"/>
            <a:r>
              <a:rPr lang="zh-CN" altLang="en-US" sz="1800">
                <a:solidFill>
                  <a:srgbClr val="0000FF"/>
                </a:solidFill>
                <a:ea typeface="华文中宋" pitchFamily="2" charset="-122"/>
              </a:rPr>
              <a:t>            </a:t>
            </a:r>
            <a:r>
              <a:rPr lang="en-US" altLang="zh-CN" sz="1800" i="1">
                <a:solidFill>
                  <a:srgbClr val="0000FF"/>
                </a:solidFill>
                <a:ea typeface="华文中宋" pitchFamily="2" charset="-122"/>
              </a:rPr>
              <a:t>l </a:t>
            </a:r>
            <a:r>
              <a:rPr lang="en-US" altLang="zh-CN" sz="1800">
                <a:solidFill>
                  <a:srgbClr val="0000FF"/>
                </a:solidFill>
                <a:ea typeface="华文中宋" pitchFamily="2" charset="-122"/>
              </a:rPr>
              <a:t>= </a:t>
            </a:r>
            <a:r>
              <a:rPr lang="en-US" altLang="zh-CN" sz="1800" i="1">
                <a:solidFill>
                  <a:srgbClr val="0000FF"/>
                </a:solidFill>
                <a:ea typeface="华文中宋" pitchFamily="2" charset="-122"/>
              </a:rPr>
              <a:t>c</a:t>
            </a:r>
            <a:r>
              <a:rPr lang="en-US" altLang="zh-CN" sz="1800">
                <a:solidFill>
                  <a:srgbClr val="0000FF"/>
                </a:solidFill>
                <a:ea typeface="华文中宋" pitchFamily="2" charset="-122"/>
                <a:sym typeface="Symbol" pitchFamily="18" charset="2"/>
              </a:rPr>
              <a:t> </a:t>
            </a:r>
            <a:r>
              <a:rPr lang="en-US" altLang="zh-CN" sz="1800" i="1">
                <a:solidFill>
                  <a:srgbClr val="0000FF"/>
                </a:solidFill>
                <a:ea typeface="华文中宋" pitchFamily="2" charset="-122"/>
                <a:sym typeface="Symbol" pitchFamily="18" charset="2"/>
              </a:rPr>
              <a:t></a:t>
            </a:r>
            <a:r>
              <a:rPr lang="en-US" altLang="zh-CN" sz="1800" baseline="-25000">
                <a:solidFill>
                  <a:srgbClr val="0000FF"/>
                </a:solidFill>
                <a:ea typeface="华文中宋" pitchFamily="2" charset="-122"/>
                <a:sym typeface="Symbol" pitchFamily="18" charset="2"/>
              </a:rPr>
              <a:t>0 </a:t>
            </a:r>
            <a:r>
              <a:rPr lang="en-US" altLang="zh-CN" sz="1800">
                <a:solidFill>
                  <a:srgbClr val="0000FF"/>
                </a:solidFill>
                <a:ea typeface="华文中宋" pitchFamily="2" charset="-122"/>
                <a:sym typeface="Symbol" pitchFamily="18" charset="2"/>
              </a:rPr>
              <a:t>=</a:t>
            </a:r>
            <a:r>
              <a:rPr lang="en-US" altLang="zh-CN" sz="1800">
                <a:solidFill>
                  <a:srgbClr val="0000FF"/>
                </a:solidFill>
                <a:ea typeface="华文中宋" pitchFamily="2" charset="-122"/>
              </a:rPr>
              <a:t> 3</a:t>
            </a:r>
            <a:r>
              <a:rPr lang="en-US" altLang="zh-CN" sz="1800">
                <a:solidFill>
                  <a:srgbClr val="0000FF"/>
                </a:solidFill>
                <a:ea typeface="华文中宋" pitchFamily="2" charset="-122"/>
                <a:sym typeface="Symbol" pitchFamily="18" charset="2"/>
              </a:rPr>
              <a:t>10</a:t>
            </a:r>
            <a:r>
              <a:rPr lang="en-US" altLang="zh-CN" sz="1800" baseline="30000">
                <a:solidFill>
                  <a:srgbClr val="0000FF"/>
                </a:solidFill>
                <a:ea typeface="华文中宋" pitchFamily="2" charset="-122"/>
                <a:sym typeface="Symbol" pitchFamily="18" charset="2"/>
              </a:rPr>
              <a:t>8 </a:t>
            </a:r>
            <a:r>
              <a:rPr lang="en-US" altLang="zh-CN" sz="1800">
                <a:solidFill>
                  <a:srgbClr val="0000FF"/>
                </a:solidFill>
                <a:ea typeface="华文中宋" pitchFamily="2" charset="-122"/>
                <a:sym typeface="Symbol" pitchFamily="18" charset="2"/>
              </a:rPr>
              <a:t>2.2 10</a:t>
            </a:r>
            <a:r>
              <a:rPr lang="en-US" altLang="zh-CN" sz="1800" baseline="30000">
                <a:solidFill>
                  <a:srgbClr val="0000FF"/>
                </a:solidFill>
                <a:ea typeface="华文中宋" pitchFamily="2" charset="-122"/>
                <a:sym typeface="Symbol" pitchFamily="18" charset="2"/>
              </a:rPr>
              <a:t>-6</a:t>
            </a:r>
            <a:r>
              <a:rPr lang="en-US" altLang="zh-CN" sz="1800">
                <a:solidFill>
                  <a:srgbClr val="0000FF"/>
                </a:solidFill>
                <a:ea typeface="华文中宋" pitchFamily="2" charset="-122"/>
                <a:sym typeface="Symbol" pitchFamily="18" charset="2"/>
              </a:rPr>
              <a:t>=660 m</a:t>
            </a:r>
            <a:endParaRPr lang="en-US" altLang="zh-CN" sz="1800">
              <a:solidFill>
                <a:srgbClr val="0000FF"/>
              </a:solidFill>
              <a:ea typeface="华文中宋" pitchFamily="2" charset="-122"/>
            </a:endParaRPr>
          </a:p>
        </p:txBody>
      </p:sp>
      <p:sp>
        <p:nvSpPr>
          <p:cNvPr id="7" name="Text Box 7"/>
          <p:cNvSpPr txBox="1">
            <a:spLocks noChangeArrowheads="1"/>
          </p:cNvSpPr>
          <p:nvPr/>
        </p:nvSpPr>
        <p:spPr bwMode="auto">
          <a:xfrm>
            <a:off x="395288" y="2201863"/>
            <a:ext cx="8280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ea typeface="华文中宋" pitchFamily="2" charset="-122"/>
              </a:rPr>
              <a:t>      </a:t>
            </a:r>
            <a:r>
              <a:rPr lang="zh-CN" altLang="en-US" sz="1800">
                <a:solidFill>
                  <a:srgbClr val="0000FF"/>
                </a:solidFill>
                <a:ea typeface="华文中宋" pitchFamily="2" charset="-122"/>
              </a:rPr>
              <a:t>可是，地面能观察发现穿透几千米而达到地面</a:t>
            </a:r>
            <a:r>
              <a:rPr lang="zh-CN" altLang="en-US" sz="1800" i="1">
                <a:solidFill>
                  <a:srgbClr val="0000FF"/>
                </a:solidFill>
                <a:ea typeface="华文中宋" pitchFamily="2" charset="-122"/>
                <a:sym typeface="Symbol" pitchFamily="18" charset="2"/>
              </a:rPr>
              <a:t></a:t>
            </a:r>
            <a:r>
              <a:rPr lang="zh-CN" altLang="en-US" sz="1800">
                <a:solidFill>
                  <a:srgbClr val="0000FF"/>
                </a:solidFill>
                <a:ea typeface="华文中宋" pitchFamily="2" charset="-122"/>
              </a:rPr>
              <a:t> 介子，这是什么原因？</a:t>
            </a:r>
          </a:p>
        </p:txBody>
      </p:sp>
      <p:sp>
        <p:nvSpPr>
          <p:cNvPr id="8" name="Text Box 7"/>
          <p:cNvSpPr txBox="1">
            <a:spLocks noChangeArrowheads="1"/>
          </p:cNvSpPr>
          <p:nvPr/>
        </p:nvSpPr>
        <p:spPr bwMode="auto">
          <a:xfrm>
            <a:off x="684213" y="2635250"/>
            <a:ext cx="792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若设 </a:t>
            </a:r>
            <a:r>
              <a:rPr lang="zh-CN" altLang="en-US" sz="1800" i="1">
                <a:ea typeface="华文中宋" pitchFamily="2" charset="-122"/>
                <a:sym typeface="Symbol" pitchFamily="18" charset="2"/>
              </a:rPr>
              <a:t></a:t>
            </a:r>
            <a:r>
              <a:rPr lang="zh-CN" altLang="en-US" sz="1800">
                <a:ea typeface="华文中宋" pitchFamily="2" charset="-122"/>
              </a:rPr>
              <a:t> 介子的速度  </a:t>
            </a:r>
            <a:r>
              <a:rPr lang="zh-CN" altLang="en-US" sz="1800" i="1">
                <a:ea typeface="华文中宋" pitchFamily="2" charset="-122"/>
                <a:sym typeface="Symbol" pitchFamily="18" charset="2"/>
              </a:rPr>
              <a:t></a:t>
            </a:r>
            <a:r>
              <a:rPr lang="en-US" altLang="zh-CN" sz="1800">
                <a:ea typeface="华文中宋" pitchFamily="2" charset="-122"/>
              </a:rPr>
              <a:t>=0.99</a:t>
            </a:r>
            <a:r>
              <a:rPr lang="en-US" altLang="zh-CN" sz="1800" i="1">
                <a:ea typeface="华文中宋" pitchFamily="2" charset="-122"/>
              </a:rPr>
              <a:t>c</a:t>
            </a:r>
            <a:r>
              <a:rPr lang="zh-CN" altLang="en-US" sz="1800">
                <a:ea typeface="华文中宋" pitchFamily="2" charset="-122"/>
              </a:rPr>
              <a:t>，地面观者测得的时间应为：</a:t>
            </a:r>
          </a:p>
        </p:txBody>
      </p:sp>
      <p:graphicFrame>
        <p:nvGraphicFramePr>
          <p:cNvPr id="10" name="Object 9"/>
          <p:cNvGraphicFramePr>
            <a:graphicFrameLocks noChangeAspect="1"/>
          </p:cNvGraphicFramePr>
          <p:nvPr/>
        </p:nvGraphicFramePr>
        <p:xfrm>
          <a:off x="2200275" y="3151188"/>
          <a:ext cx="1354138" cy="612775"/>
        </p:xfrm>
        <a:graphic>
          <a:graphicData uri="http://schemas.openxmlformats.org/presentationml/2006/ole">
            <mc:AlternateContent xmlns:mc="http://schemas.openxmlformats.org/markup-compatibility/2006">
              <mc:Choice xmlns:v="urn:schemas-microsoft-com:vml" Requires="v">
                <p:oleObj spid="_x0000_s54286" name="公式" r:id="rId3" imgW="799753" imgH="482391" progId="Equation.3">
                  <p:embed/>
                </p:oleObj>
              </mc:Choice>
              <mc:Fallback>
                <p:oleObj name="公式" r:id="rId3" imgW="799753" imgH="482391"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0275" y="3151188"/>
                        <a:ext cx="135413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0"/>
          <p:cNvGraphicFramePr>
            <a:graphicFrameLocks noChangeAspect="1"/>
          </p:cNvGraphicFramePr>
          <p:nvPr/>
        </p:nvGraphicFramePr>
        <p:xfrm>
          <a:off x="3559175" y="3151188"/>
          <a:ext cx="3284538" cy="671512"/>
        </p:xfrm>
        <a:graphic>
          <a:graphicData uri="http://schemas.openxmlformats.org/presentationml/2006/ole">
            <mc:AlternateContent xmlns:mc="http://schemas.openxmlformats.org/markup-compatibility/2006">
              <mc:Choice xmlns:v="urn:schemas-microsoft-com:vml" Requires="v">
                <p:oleObj spid="_x0000_s54287" name="公式" r:id="rId5" imgW="1815312" imgH="495085" progId="Equation.3">
                  <p:embed/>
                </p:oleObj>
              </mc:Choice>
              <mc:Fallback>
                <p:oleObj name="公式" r:id="rId5" imgW="1815312" imgH="495085"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9175" y="3151188"/>
                        <a:ext cx="3284538"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
          <p:cNvGraphicFramePr>
            <a:graphicFrameLocks noChangeAspect="1"/>
          </p:cNvGraphicFramePr>
          <p:nvPr/>
        </p:nvGraphicFramePr>
        <p:xfrm>
          <a:off x="1690688" y="3930650"/>
          <a:ext cx="1395412" cy="369888"/>
        </p:xfrm>
        <a:graphic>
          <a:graphicData uri="http://schemas.openxmlformats.org/presentationml/2006/ole">
            <mc:AlternateContent xmlns:mc="http://schemas.openxmlformats.org/markup-compatibility/2006">
              <mc:Choice xmlns:v="urn:schemas-microsoft-com:vml" Requires="v">
                <p:oleObj spid="_x0000_s54288" name="Equation" r:id="rId7" imgW="583947" imgH="203112" progId="Equation.DSMT4">
                  <p:embed/>
                </p:oleObj>
              </mc:Choice>
              <mc:Fallback>
                <p:oleObj name="Equation" r:id="rId7" imgW="583947" imgH="203112"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0688" y="3930650"/>
                        <a:ext cx="1395412" cy="369888"/>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5"/>
          <p:cNvGraphicFramePr>
            <a:graphicFrameLocks noChangeAspect="1"/>
          </p:cNvGraphicFramePr>
          <p:nvPr/>
        </p:nvGraphicFramePr>
        <p:xfrm>
          <a:off x="3028950" y="3930650"/>
          <a:ext cx="4568825" cy="315913"/>
        </p:xfrm>
        <a:graphic>
          <a:graphicData uri="http://schemas.openxmlformats.org/presentationml/2006/ole">
            <mc:AlternateContent xmlns:mc="http://schemas.openxmlformats.org/markup-compatibility/2006">
              <mc:Choice xmlns:v="urn:schemas-microsoft-com:vml" Requires="v">
                <p:oleObj spid="_x0000_s54289" name="公式" r:id="rId9" imgW="2438400" imgH="203200" progId="Equation.3">
                  <p:embed/>
                </p:oleObj>
              </mc:Choice>
              <mc:Fallback>
                <p:oleObj name="公式" r:id="rId9" imgW="2438400" imgH="2032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8950" y="3930650"/>
                        <a:ext cx="456882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left)">
                                      <p:cBhvr>
                                        <p:cTn id="17" dur="500"/>
                                        <p:tgtEl>
                                          <p:spTgt spid="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wipe(left)">
                                      <p:cBhvr>
                                        <p:cTn id="22" dur="500"/>
                                        <p:tgtEl>
                                          <p:spTgt spid="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wipe(left)">
                                      <p:cBhvr>
                                        <p:cTn id="27" dur="500"/>
                                        <p:tgtEl>
                                          <p:spTgt spid="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build="p" autoUpdateAnimBg="0"/>
      <p:bldP spid="7" grpId="0" build="p" autoUpdateAnimBg="0"/>
      <p:bldP spid="8"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250825" y="898525"/>
            <a:ext cx="8424863"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kumimoji="1" sz="2800" b="1">
                <a:solidFill>
                  <a:schemeClr val="tx1"/>
                </a:solidFill>
                <a:latin typeface="Times New Roman" pitchFamily="18" charset="0"/>
                <a:ea typeface="楷体_GB2312" pitchFamily="49" charset="-122"/>
              </a:defRPr>
            </a:lvl1pPr>
            <a:lvl2pPr marL="742950" indent="-285750" defTabSz="762000" eaLnBrk="0" hangingPunct="0">
              <a:defRPr kumimoji="1" sz="2800" b="1">
                <a:solidFill>
                  <a:schemeClr val="tx1"/>
                </a:solidFill>
                <a:latin typeface="Times New Roman" pitchFamily="18" charset="0"/>
                <a:ea typeface="楷体_GB2312" pitchFamily="49" charset="-122"/>
              </a:defRPr>
            </a:lvl2pPr>
            <a:lvl3pPr marL="1143000" indent="-228600" defTabSz="762000" eaLnBrk="0" hangingPunct="0">
              <a:defRPr kumimoji="1" sz="2800" b="1">
                <a:solidFill>
                  <a:schemeClr val="tx1"/>
                </a:solidFill>
                <a:latin typeface="Times New Roman" pitchFamily="18" charset="0"/>
                <a:ea typeface="楷体_GB2312" pitchFamily="49" charset="-122"/>
              </a:defRPr>
            </a:lvl3pPr>
            <a:lvl4pPr marL="1600200" indent="-228600" defTabSz="762000" eaLnBrk="0" hangingPunct="0">
              <a:defRPr kumimoji="1" sz="2800" b="1">
                <a:solidFill>
                  <a:schemeClr val="tx1"/>
                </a:solidFill>
                <a:latin typeface="Times New Roman" pitchFamily="18" charset="0"/>
                <a:ea typeface="楷体_GB2312" pitchFamily="49" charset="-122"/>
              </a:defRPr>
            </a:lvl4pPr>
            <a:lvl5pPr marL="2057400" indent="-228600" defTabSz="762000" eaLnBrk="0" hangingPunct="0">
              <a:defRPr kumimoji="1" sz="2800" b="1">
                <a:solidFill>
                  <a:schemeClr val="tx1"/>
                </a:solidFill>
                <a:latin typeface="Times New Roman" pitchFamily="18" charset="0"/>
                <a:ea typeface="楷体_GB2312" pitchFamily="49" charset="-122"/>
              </a:defRPr>
            </a:lvl5pPr>
            <a:lvl6pPr marL="25146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just" eaLnBrk="1" hangingPunct="1">
              <a:lnSpc>
                <a:spcPct val="105000"/>
              </a:lnSpc>
            </a:pPr>
            <a:r>
              <a:rPr lang="zh-CN" altLang="en-US" sz="1800">
                <a:solidFill>
                  <a:srgbClr val="0000FF"/>
                </a:solidFill>
                <a:ea typeface="华文中宋" pitchFamily="2" charset="-122"/>
              </a:rPr>
              <a:t>例  飞船以 </a:t>
            </a:r>
            <a:r>
              <a:rPr lang="en-US" altLang="zh-CN" sz="1800" i="1">
                <a:solidFill>
                  <a:srgbClr val="0000FF"/>
                </a:solidFill>
                <a:ea typeface="华文中宋" pitchFamily="2" charset="-122"/>
              </a:rPr>
              <a:t>u </a:t>
            </a:r>
            <a:r>
              <a:rPr lang="en-US" altLang="zh-CN" sz="1800">
                <a:solidFill>
                  <a:srgbClr val="0000FF"/>
                </a:solidFill>
                <a:ea typeface="华文中宋" pitchFamily="2" charset="-122"/>
              </a:rPr>
              <a:t>=9</a:t>
            </a:r>
            <a:r>
              <a:rPr lang="en-US" altLang="en-US" sz="1800">
                <a:solidFill>
                  <a:srgbClr val="0000FF"/>
                </a:solidFill>
                <a:ea typeface="华文中宋" pitchFamily="2" charset="-122"/>
              </a:rPr>
              <a:t>×</a:t>
            </a:r>
            <a:r>
              <a:rPr lang="en-US" altLang="zh-CN" sz="1800">
                <a:solidFill>
                  <a:srgbClr val="0000FF"/>
                </a:solidFill>
                <a:ea typeface="华文中宋" pitchFamily="2" charset="-122"/>
              </a:rPr>
              <a:t>10</a:t>
            </a:r>
            <a:r>
              <a:rPr lang="en-US" altLang="zh-CN" sz="1800" baseline="30000">
                <a:solidFill>
                  <a:srgbClr val="0000FF"/>
                </a:solidFill>
                <a:ea typeface="华文中宋" pitchFamily="2" charset="-122"/>
              </a:rPr>
              <a:t>3</a:t>
            </a:r>
            <a:r>
              <a:rPr lang="en-US" altLang="zh-CN" sz="1800">
                <a:solidFill>
                  <a:srgbClr val="0000FF"/>
                </a:solidFill>
                <a:ea typeface="华文中宋" pitchFamily="2" charset="-122"/>
              </a:rPr>
              <a:t>m∙s</a:t>
            </a:r>
            <a:r>
              <a:rPr lang="en-US" altLang="zh-CN" sz="1800" baseline="30000">
                <a:solidFill>
                  <a:srgbClr val="0000FF"/>
                </a:solidFill>
                <a:ea typeface="华文中宋" pitchFamily="2" charset="-122"/>
              </a:rPr>
              <a:t>-1</a:t>
            </a:r>
            <a:r>
              <a:rPr lang="en-US" altLang="zh-CN" sz="1800">
                <a:solidFill>
                  <a:srgbClr val="0000FF"/>
                </a:solidFill>
                <a:ea typeface="华文中宋" pitchFamily="2" charset="-122"/>
              </a:rPr>
              <a:t> (32400km/h)</a:t>
            </a:r>
            <a:r>
              <a:rPr lang="zh-CN" altLang="en-US" sz="1800">
                <a:solidFill>
                  <a:srgbClr val="0000FF"/>
                </a:solidFill>
                <a:ea typeface="华文中宋" pitchFamily="2" charset="-122"/>
              </a:rPr>
              <a:t>的速率相对地面飞行。飞船上的钟走了 </a:t>
            </a:r>
            <a:r>
              <a:rPr lang="en-US" altLang="zh-CN" sz="1800">
                <a:solidFill>
                  <a:srgbClr val="0000FF"/>
                </a:solidFill>
                <a:ea typeface="华文中宋" pitchFamily="2" charset="-122"/>
              </a:rPr>
              <a:t>5s</a:t>
            </a:r>
            <a:r>
              <a:rPr lang="zh-CN" altLang="en-US" sz="1800">
                <a:solidFill>
                  <a:srgbClr val="0000FF"/>
                </a:solidFill>
                <a:ea typeface="华文中宋" pitchFamily="2" charset="-122"/>
              </a:rPr>
              <a:t>，问用地面上的钟测量经过了几秒？</a:t>
            </a:r>
          </a:p>
        </p:txBody>
      </p:sp>
      <p:sp>
        <p:nvSpPr>
          <p:cNvPr id="4" name="Text Box 3"/>
          <p:cNvSpPr txBox="1">
            <a:spLocks noChangeArrowheads="1"/>
          </p:cNvSpPr>
          <p:nvPr/>
        </p:nvSpPr>
        <p:spPr bwMode="auto">
          <a:xfrm>
            <a:off x="1293813" y="1717675"/>
            <a:ext cx="58705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解</a:t>
            </a:r>
            <a:r>
              <a:rPr lang="en-US" altLang="zh-CN" sz="1800">
                <a:ea typeface="华文中宋" pitchFamily="2" charset="-122"/>
              </a:rPr>
              <a:t>: </a:t>
            </a:r>
            <a:r>
              <a:rPr kumimoji="0" lang="zh-CN" altLang="en-US" sz="1800">
                <a:solidFill>
                  <a:srgbClr val="CC0066"/>
                </a:solidFill>
                <a:ea typeface="华文中宋" pitchFamily="2" charset="-122"/>
              </a:rPr>
              <a:t>固有时间 ∆</a:t>
            </a:r>
            <a:r>
              <a:rPr kumimoji="0" lang="en-US" altLang="zh-CN" sz="1800" i="1">
                <a:solidFill>
                  <a:srgbClr val="CC0066"/>
                </a:solidFill>
                <a:ea typeface="华文中宋" pitchFamily="2" charset="-122"/>
              </a:rPr>
              <a:t>t</a:t>
            </a:r>
            <a:r>
              <a:rPr kumimoji="0" lang="en-US" altLang="zh-CN" sz="1800" baseline="30000">
                <a:solidFill>
                  <a:srgbClr val="CC0066"/>
                </a:solidFill>
                <a:ea typeface="华文中宋" pitchFamily="2" charset="-122"/>
              </a:rPr>
              <a:t>/</a:t>
            </a:r>
            <a:r>
              <a:rPr kumimoji="0" lang="en-US" altLang="zh-CN" sz="1800">
                <a:solidFill>
                  <a:srgbClr val="CC0066"/>
                </a:solidFill>
                <a:ea typeface="华文中宋" pitchFamily="2" charset="-122"/>
              </a:rPr>
              <a:t> =5s</a:t>
            </a:r>
            <a:r>
              <a:rPr kumimoji="0" lang="zh-CN" altLang="en-US" sz="1800">
                <a:solidFill>
                  <a:srgbClr val="CC0066"/>
                </a:solidFill>
                <a:ea typeface="华文中宋" pitchFamily="2" charset="-122"/>
              </a:rPr>
              <a:t>，</a:t>
            </a:r>
            <a:r>
              <a:rPr lang="zh-CN" altLang="en-US" sz="1800">
                <a:solidFill>
                  <a:srgbClr val="0033CC"/>
                </a:solidFill>
                <a:ea typeface="华文中宋" pitchFamily="2" charset="-122"/>
              </a:rPr>
              <a:t>测量时间</a:t>
            </a:r>
            <a:r>
              <a:rPr lang="en-US" altLang="zh-CN" sz="1800">
                <a:solidFill>
                  <a:srgbClr val="0033CC"/>
                </a:solidFill>
                <a:ea typeface="华文中宋" pitchFamily="2" charset="-122"/>
              </a:rPr>
              <a:t>=?</a:t>
            </a:r>
          </a:p>
        </p:txBody>
      </p:sp>
      <p:graphicFrame>
        <p:nvGraphicFramePr>
          <p:cNvPr id="6" name="Object 5"/>
          <p:cNvGraphicFramePr>
            <a:graphicFrameLocks noChangeAspect="1"/>
          </p:cNvGraphicFramePr>
          <p:nvPr/>
        </p:nvGraphicFramePr>
        <p:xfrm>
          <a:off x="2827338" y="2149475"/>
          <a:ext cx="1673225" cy="585788"/>
        </p:xfrm>
        <a:graphic>
          <a:graphicData uri="http://schemas.openxmlformats.org/presentationml/2006/ole">
            <mc:AlternateContent xmlns:mc="http://schemas.openxmlformats.org/markup-compatibility/2006">
              <mc:Choice xmlns:v="urn:schemas-microsoft-com:vml" Requires="v">
                <p:oleObj spid="_x0000_s55306" name="公式" r:id="rId3" imgW="1409700" imgH="685800" progId="Equation.3">
                  <p:embed/>
                </p:oleObj>
              </mc:Choice>
              <mc:Fallback>
                <p:oleObj name="公式" r:id="rId3" imgW="1409700" imgH="685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7338" y="2149475"/>
                        <a:ext cx="16732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nvGraphicFramePr>
        <p:xfrm>
          <a:off x="2586038" y="2797175"/>
          <a:ext cx="1914525" cy="787400"/>
        </p:xfrm>
        <a:graphic>
          <a:graphicData uri="http://schemas.openxmlformats.org/presentationml/2006/ole">
            <mc:AlternateContent xmlns:mc="http://schemas.openxmlformats.org/markup-compatibility/2006">
              <mc:Choice xmlns:v="urn:schemas-microsoft-com:vml" Requires="v">
                <p:oleObj spid="_x0000_s55307" name="公式" r:id="rId5" imgW="1689100" imgH="965200" progId="Equation.3">
                  <p:embed/>
                </p:oleObj>
              </mc:Choice>
              <mc:Fallback>
                <p:oleObj name="公式" r:id="rId5" imgW="1689100" imgH="965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6038" y="2797175"/>
                        <a:ext cx="19145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7"/>
          <p:cNvSpPr txBox="1">
            <a:spLocks noChangeArrowheads="1"/>
          </p:cNvSpPr>
          <p:nvPr/>
        </p:nvSpPr>
        <p:spPr bwMode="auto">
          <a:xfrm>
            <a:off x="4500563" y="2876550"/>
            <a:ext cx="1954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000">
                <a:ea typeface="华文中宋" pitchFamily="2" charset="-122"/>
              </a:rPr>
              <a:t>=5.000000002s</a:t>
            </a:r>
          </a:p>
        </p:txBody>
      </p:sp>
      <p:sp>
        <p:nvSpPr>
          <p:cNvPr id="9" name="Text Box 8"/>
          <p:cNvSpPr txBox="1">
            <a:spLocks noChangeArrowheads="1"/>
          </p:cNvSpPr>
          <p:nvPr/>
        </p:nvSpPr>
        <p:spPr bwMode="auto">
          <a:xfrm>
            <a:off x="1700213" y="3714750"/>
            <a:ext cx="4679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kumimoji="1" sz="2800" b="1">
                <a:solidFill>
                  <a:schemeClr val="tx1"/>
                </a:solidFill>
                <a:latin typeface="Times New Roman" pitchFamily="18" charset="0"/>
                <a:ea typeface="楷体_GB2312" pitchFamily="49" charset="-122"/>
              </a:defRPr>
            </a:lvl1pPr>
            <a:lvl2pPr marL="742950" indent="-285750" defTabSz="762000" eaLnBrk="0" hangingPunct="0">
              <a:defRPr kumimoji="1" sz="2800" b="1">
                <a:solidFill>
                  <a:schemeClr val="tx1"/>
                </a:solidFill>
                <a:latin typeface="Times New Roman" pitchFamily="18" charset="0"/>
                <a:ea typeface="楷体_GB2312" pitchFamily="49" charset="-122"/>
              </a:defRPr>
            </a:lvl2pPr>
            <a:lvl3pPr marL="1143000" indent="-228600" defTabSz="762000" eaLnBrk="0" hangingPunct="0">
              <a:defRPr kumimoji="1" sz="2800" b="1">
                <a:solidFill>
                  <a:schemeClr val="tx1"/>
                </a:solidFill>
                <a:latin typeface="Times New Roman" pitchFamily="18" charset="0"/>
                <a:ea typeface="楷体_GB2312" pitchFamily="49" charset="-122"/>
              </a:defRPr>
            </a:lvl3pPr>
            <a:lvl4pPr marL="1600200" indent="-228600" defTabSz="762000" eaLnBrk="0" hangingPunct="0">
              <a:defRPr kumimoji="1" sz="2800" b="1">
                <a:solidFill>
                  <a:schemeClr val="tx1"/>
                </a:solidFill>
                <a:latin typeface="Times New Roman" pitchFamily="18" charset="0"/>
                <a:ea typeface="楷体_GB2312" pitchFamily="49" charset="-122"/>
              </a:defRPr>
            </a:lvl4pPr>
            <a:lvl5pPr marL="2057400" indent="-228600" defTabSz="762000" eaLnBrk="0" hangingPunct="0">
              <a:defRPr kumimoji="1" sz="2800" b="1">
                <a:solidFill>
                  <a:schemeClr val="tx1"/>
                </a:solidFill>
                <a:latin typeface="Times New Roman" pitchFamily="18" charset="0"/>
                <a:ea typeface="楷体_GB2312" pitchFamily="49" charset="-122"/>
              </a:defRPr>
            </a:lvl5pPr>
            <a:lvl6pPr marL="25146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defTabSz="7620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spcBef>
                <a:spcPct val="50000"/>
              </a:spcBef>
            </a:pPr>
            <a:r>
              <a:rPr lang="zh-CN" altLang="en-US" sz="1800">
                <a:ea typeface="华文中宋" pitchFamily="2" charset="-122"/>
              </a:rPr>
              <a:t>时间延缓效应也很难测出。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Text Box 3"/>
          <p:cNvSpPr txBox="1">
            <a:spLocks noChangeArrowheads="1"/>
          </p:cNvSpPr>
          <p:nvPr/>
        </p:nvSpPr>
        <p:spPr bwMode="auto">
          <a:xfrm>
            <a:off x="395288" y="1349375"/>
            <a:ext cx="8137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ea typeface="华文中宋" pitchFamily="2" charset="-122"/>
              </a:rPr>
              <a:t>         </a:t>
            </a:r>
            <a:r>
              <a:rPr lang="zh-CN" altLang="en-US" sz="1800">
                <a:solidFill>
                  <a:srgbClr val="0000FF"/>
                </a:solidFill>
                <a:ea typeface="华文中宋" pitchFamily="2" charset="-122"/>
              </a:rPr>
              <a:t>有因果关系的两事件，发生的先后次序</a:t>
            </a:r>
            <a:r>
              <a:rPr lang="en-US" altLang="zh-CN" sz="1800">
                <a:solidFill>
                  <a:srgbClr val="0000FF"/>
                </a:solidFill>
                <a:ea typeface="华文中宋" pitchFamily="2" charset="-122"/>
              </a:rPr>
              <a:t>(</a:t>
            </a:r>
            <a:r>
              <a:rPr lang="zh-CN" altLang="en-US" sz="1800">
                <a:solidFill>
                  <a:srgbClr val="0000FF"/>
                </a:solidFill>
                <a:ea typeface="华文中宋" pitchFamily="2" charset="-122"/>
              </a:rPr>
              <a:t>因果性</a:t>
            </a:r>
            <a:r>
              <a:rPr lang="en-US" altLang="zh-CN" sz="1800">
                <a:solidFill>
                  <a:srgbClr val="0000FF"/>
                </a:solidFill>
                <a:ea typeface="华文中宋" pitchFamily="2" charset="-122"/>
              </a:rPr>
              <a:t>)</a:t>
            </a:r>
            <a:r>
              <a:rPr lang="zh-CN" altLang="en-US" sz="1800">
                <a:solidFill>
                  <a:srgbClr val="0000FF"/>
                </a:solidFill>
                <a:ea typeface="华文中宋" pitchFamily="2" charset="-122"/>
              </a:rPr>
              <a:t>是绝对的，在所有</a:t>
            </a:r>
            <a:r>
              <a:rPr kumimoji="0" lang="zh-CN" altLang="en-US" sz="1800">
                <a:solidFill>
                  <a:srgbClr val="0000FF"/>
                </a:solidFill>
                <a:ea typeface="华文中宋" pitchFamily="2" charset="-122"/>
              </a:rPr>
              <a:t>惯性系都成立。</a:t>
            </a:r>
            <a:r>
              <a:rPr lang="zh-CN" altLang="en-US" sz="1800">
                <a:ea typeface="华文中宋" pitchFamily="2" charset="-122"/>
              </a:rPr>
              <a:t>无因果关系的两事件，时序可能颠倒。</a:t>
            </a:r>
          </a:p>
        </p:txBody>
      </p:sp>
      <p:sp>
        <p:nvSpPr>
          <p:cNvPr id="187398" name="Text Box 6"/>
          <p:cNvSpPr txBox="1">
            <a:spLocks noChangeArrowheads="1"/>
          </p:cNvSpPr>
          <p:nvPr/>
        </p:nvSpPr>
        <p:spPr bwMode="auto">
          <a:xfrm>
            <a:off x="2016125" y="2201863"/>
            <a:ext cx="50768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FF"/>
                </a:solidFill>
                <a:ea typeface="华文中宋" pitchFamily="2" charset="-122"/>
              </a:rPr>
              <a:t>S</a:t>
            </a:r>
            <a:r>
              <a:rPr kumimoji="0" lang="zh-CN" altLang="en-US" sz="1800">
                <a:solidFill>
                  <a:srgbClr val="0000FF"/>
                </a:solidFill>
                <a:ea typeface="华文中宋" pitchFamily="2" charset="-122"/>
              </a:rPr>
              <a:t>中</a:t>
            </a:r>
            <a:r>
              <a:rPr kumimoji="0" lang="zh-CN" altLang="en-US" sz="1800">
                <a:ea typeface="华文中宋" pitchFamily="2" charset="-122"/>
              </a:rPr>
              <a:t>： </a:t>
            </a:r>
            <a:r>
              <a:rPr lang="zh-CN" altLang="en-US" sz="1800">
                <a:ea typeface="华文中宋" pitchFamily="2" charset="-122"/>
              </a:rPr>
              <a:t>有因果关系的两事件   </a:t>
            </a:r>
            <a:r>
              <a:rPr lang="en-US" altLang="zh-CN" sz="1800" i="1">
                <a:ea typeface="华文中宋" pitchFamily="2" charset="-122"/>
              </a:rPr>
              <a:t>∆t</a:t>
            </a:r>
            <a:r>
              <a:rPr lang="en-US" altLang="zh-CN" sz="1800">
                <a:ea typeface="华文中宋" pitchFamily="2" charset="-122"/>
              </a:rPr>
              <a:t> = </a:t>
            </a:r>
            <a:r>
              <a:rPr lang="en-US" altLang="zh-CN" sz="1800" i="1">
                <a:ea typeface="华文中宋" pitchFamily="2" charset="-122"/>
              </a:rPr>
              <a:t>t</a:t>
            </a:r>
            <a:r>
              <a:rPr lang="en-US" altLang="zh-CN" sz="1800" baseline="-25000">
                <a:ea typeface="华文中宋" pitchFamily="2" charset="-122"/>
              </a:rPr>
              <a:t>2</a:t>
            </a:r>
            <a:r>
              <a:rPr lang="en-US" altLang="zh-CN" sz="1800">
                <a:ea typeface="华文中宋" pitchFamily="2" charset="-122"/>
              </a:rPr>
              <a:t>-</a:t>
            </a:r>
            <a:r>
              <a:rPr lang="en-US" altLang="zh-CN" sz="1800" i="1">
                <a:ea typeface="华文中宋" pitchFamily="2" charset="-122"/>
              </a:rPr>
              <a:t>t</a:t>
            </a:r>
            <a:r>
              <a:rPr lang="en-US" altLang="zh-CN" sz="1800" baseline="-25000">
                <a:ea typeface="华文中宋" pitchFamily="2" charset="-122"/>
              </a:rPr>
              <a:t>1 </a:t>
            </a:r>
            <a:r>
              <a:rPr lang="en-US" altLang="zh-CN" sz="1800">
                <a:ea typeface="华文中宋" pitchFamily="2" charset="-122"/>
              </a:rPr>
              <a:t>&gt; 0</a:t>
            </a:r>
          </a:p>
        </p:txBody>
      </p:sp>
      <p:sp>
        <p:nvSpPr>
          <p:cNvPr id="187399" name="Text Box 7"/>
          <p:cNvSpPr txBox="1">
            <a:spLocks noChangeArrowheads="1"/>
          </p:cNvSpPr>
          <p:nvPr/>
        </p:nvSpPr>
        <p:spPr bwMode="auto">
          <a:xfrm>
            <a:off x="1974850" y="2706688"/>
            <a:ext cx="1084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i="1">
                <a:solidFill>
                  <a:srgbClr val="0000FF"/>
                </a:solidFill>
                <a:ea typeface="华文中宋" pitchFamily="2" charset="-122"/>
              </a:rPr>
              <a:t>S</a:t>
            </a:r>
            <a:r>
              <a:rPr kumimoji="0" lang="en-US" altLang="zh-CN" sz="1800" baseline="30000">
                <a:solidFill>
                  <a:srgbClr val="0000FF"/>
                </a:solidFill>
                <a:ea typeface="华文中宋" pitchFamily="2" charset="-122"/>
              </a:rPr>
              <a:t>/</a:t>
            </a:r>
            <a:r>
              <a:rPr kumimoji="0" lang="zh-CN" altLang="en-US" sz="1800">
                <a:solidFill>
                  <a:srgbClr val="0000FF"/>
                </a:solidFill>
                <a:ea typeface="华文中宋" pitchFamily="2" charset="-122"/>
              </a:rPr>
              <a:t>中</a:t>
            </a:r>
            <a:r>
              <a:rPr lang="en-US" altLang="zh-CN" sz="1800">
                <a:solidFill>
                  <a:srgbClr val="0000FF"/>
                </a:solidFill>
                <a:ea typeface="华文中宋" pitchFamily="2" charset="-122"/>
              </a:rPr>
              <a:t>:</a:t>
            </a:r>
          </a:p>
        </p:txBody>
      </p:sp>
      <p:graphicFrame>
        <p:nvGraphicFramePr>
          <p:cNvPr id="187400" name="Object 8"/>
          <p:cNvGraphicFramePr>
            <a:graphicFrameLocks noChangeAspect="1"/>
          </p:cNvGraphicFramePr>
          <p:nvPr/>
        </p:nvGraphicFramePr>
        <p:xfrm>
          <a:off x="2627313" y="2625725"/>
          <a:ext cx="3494087" cy="611188"/>
        </p:xfrm>
        <a:graphic>
          <a:graphicData uri="http://schemas.openxmlformats.org/presentationml/2006/ole">
            <mc:AlternateContent xmlns:mc="http://schemas.openxmlformats.org/markup-compatibility/2006">
              <mc:Choice xmlns:v="urn:schemas-microsoft-com:vml" Requires="v">
                <p:oleObj spid="_x0000_s56332" name="公式" r:id="rId3" imgW="2362200" imgH="482600" progId="Equation.3">
                  <p:embed/>
                </p:oleObj>
              </mc:Choice>
              <mc:Fallback>
                <p:oleObj name="公式" r:id="rId3" imgW="2362200" imgH="482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2625725"/>
                        <a:ext cx="3494087" cy="61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401" name="Object 9"/>
          <p:cNvGraphicFramePr>
            <a:graphicFrameLocks noChangeAspect="1"/>
          </p:cNvGraphicFramePr>
          <p:nvPr/>
        </p:nvGraphicFramePr>
        <p:xfrm>
          <a:off x="2954338" y="3292475"/>
          <a:ext cx="2986087" cy="608013"/>
        </p:xfrm>
        <a:graphic>
          <a:graphicData uri="http://schemas.openxmlformats.org/presentationml/2006/ole">
            <mc:AlternateContent xmlns:mc="http://schemas.openxmlformats.org/markup-compatibility/2006">
              <mc:Choice xmlns:v="urn:schemas-microsoft-com:vml" Requires="v">
                <p:oleObj spid="_x0000_s56333" name="公式" r:id="rId5" imgW="1651000" imgH="482600" progId="Equation.3">
                  <p:embed/>
                </p:oleObj>
              </mc:Choice>
              <mc:Fallback>
                <p:oleObj name="公式" r:id="rId5" imgW="1651000" imgH="482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4338" y="3292475"/>
                        <a:ext cx="2986087"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402" name="Object 10"/>
          <p:cNvGraphicFramePr>
            <a:graphicFrameLocks noChangeAspect="1"/>
          </p:cNvGraphicFramePr>
          <p:nvPr/>
        </p:nvGraphicFramePr>
        <p:xfrm>
          <a:off x="3059113" y="3940175"/>
          <a:ext cx="2868612" cy="584200"/>
        </p:xfrm>
        <a:graphic>
          <a:graphicData uri="http://schemas.openxmlformats.org/presentationml/2006/ole">
            <mc:AlternateContent xmlns:mc="http://schemas.openxmlformats.org/markup-compatibility/2006">
              <mc:Choice xmlns:v="urn:schemas-microsoft-com:vml" Requires="v">
                <p:oleObj spid="_x0000_s56334" name="公式" r:id="rId7" imgW="1625600" imgH="482600" progId="Equation.3">
                  <p:embed/>
                </p:oleObj>
              </mc:Choice>
              <mc:Fallback>
                <p:oleObj name="公式" r:id="rId7" imgW="1625600" imgH="482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113" y="3940175"/>
                        <a:ext cx="28686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6328" name="Text Box 2"/>
          <p:cNvSpPr>
            <a:spLocks noChangeArrowheads="1"/>
          </p:cNvSpPr>
          <p:nvPr/>
        </p:nvSpPr>
        <p:spPr bwMode="auto">
          <a:xfrm>
            <a:off x="582613" y="874713"/>
            <a:ext cx="1973262" cy="401637"/>
          </a:xfrm>
          <a:prstGeom prst="homePlate">
            <a:avLst>
              <a:gd name="adj" fmla="val 49699"/>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四、因果关系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395"/>
                                        </p:tgtEl>
                                        <p:attrNameLst>
                                          <p:attrName>style.visibility</p:attrName>
                                        </p:attrNameLst>
                                      </p:cBhvr>
                                      <p:to>
                                        <p:strVal val="visible"/>
                                      </p:to>
                                    </p:set>
                                    <p:animEffect transition="in" filter="wipe(left)">
                                      <p:cBhvr>
                                        <p:cTn id="7" dur="500"/>
                                        <p:tgtEl>
                                          <p:spTgt spid="1873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7398"/>
                                        </p:tgtEl>
                                        <p:attrNameLst>
                                          <p:attrName>style.visibility</p:attrName>
                                        </p:attrNameLst>
                                      </p:cBhvr>
                                      <p:to>
                                        <p:strVal val="visible"/>
                                      </p:to>
                                    </p:set>
                                    <p:animEffect transition="in" filter="wipe(left)">
                                      <p:cBhvr>
                                        <p:cTn id="12" dur="500"/>
                                        <p:tgtEl>
                                          <p:spTgt spid="1873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7399"/>
                                        </p:tgtEl>
                                        <p:attrNameLst>
                                          <p:attrName>style.visibility</p:attrName>
                                        </p:attrNameLst>
                                      </p:cBhvr>
                                      <p:to>
                                        <p:strVal val="visible"/>
                                      </p:to>
                                    </p:set>
                                    <p:animEffect transition="in" filter="wipe(left)">
                                      <p:cBhvr>
                                        <p:cTn id="17" dur="500"/>
                                        <p:tgtEl>
                                          <p:spTgt spid="1873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7400"/>
                                        </p:tgtEl>
                                        <p:attrNameLst>
                                          <p:attrName>style.visibility</p:attrName>
                                        </p:attrNameLst>
                                      </p:cBhvr>
                                      <p:to>
                                        <p:strVal val="visible"/>
                                      </p:to>
                                    </p:set>
                                    <p:animEffect transition="in" filter="wipe(left)">
                                      <p:cBhvr>
                                        <p:cTn id="22" dur="500"/>
                                        <p:tgtEl>
                                          <p:spTgt spid="1874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7401"/>
                                        </p:tgtEl>
                                        <p:attrNameLst>
                                          <p:attrName>style.visibility</p:attrName>
                                        </p:attrNameLst>
                                      </p:cBhvr>
                                      <p:to>
                                        <p:strVal val="visible"/>
                                      </p:to>
                                    </p:set>
                                    <p:animEffect transition="in" filter="wipe(left)">
                                      <p:cBhvr>
                                        <p:cTn id="27" dur="500"/>
                                        <p:tgtEl>
                                          <p:spTgt spid="18740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7402"/>
                                        </p:tgtEl>
                                        <p:attrNameLst>
                                          <p:attrName>style.visibility</p:attrName>
                                        </p:attrNameLst>
                                      </p:cBhvr>
                                      <p:to>
                                        <p:strVal val="visible"/>
                                      </p:to>
                                    </p:set>
                                    <p:animEffect transition="in" filter="wipe(left)">
                                      <p:cBhvr>
                                        <p:cTn id="32" dur="500"/>
                                        <p:tgtEl>
                                          <p:spTgt spid="187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p:bldP spid="187398" grpId="0"/>
      <p:bldP spid="18739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ChangeArrowheads="1"/>
          </p:cNvSpPr>
          <p:nvPr/>
        </p:nvSpPr>
        <p:spPr bwMode="auto">
          <a:xfrm>
            <a:off x="950913" y="1131888"/>
            <a:ext cx="76533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solidFill>
                  <a:schemeClr val="accent2"/>
                </a:solidFill>
                <a:ea typeface="华文中宋" pitchFamily="2" charset="-122"/>
              </a:rPr>
              <a:t>        </a:t>
            </a:r>
            <a:r>
              <a:rPr lang="zh-CN" altLang="en-US" sz="1800">
                <a:solidFill>
                  <a:schemeClr val="accent2"/>
                </a:solidFill>
                <a:ea typeface="华文中宋" pitchFamily="2" charset="-122"/>
              </a:rPr>
              <a:t>有因果关系的两事件，</a:t>
            </a:r>
            <a:r>
              <a:rPr lang="zh-CN" altLang="en-US" sz="1800">
                <a:ea typeface="华文中宋" pitchFamily="2" charset="-122"/>
              </a:rPr>
              <a:t>必须通过某种物质或信息相联系，则  </a:t>
            </a:r>
            <a:r>
              <a:rPr lang="en-US" altLang="zh-CN" sz="1800" i="1">
                <a:solidFill>
                  <a:srgbClr val="0000FF"/>
                </a:solidFill>
                <a:ea typeface="华文中宋" pitchFamily="2" charset="-122"/>
              </a:rPr>
              <a:t>u</a:t>
            </a:r>
            <a:r>
              <a:rPr lang="en-US" altLang="zh-CN" sz="1800" baseline="-25000">
                <a:solidFill>
                  <a:srgbClr val="0000FF"/>
                </a:solidFill>
                <a:ea typeface="华文中宋" pitchFamily="2" charset="-122"/>
              </a:rPr>
              <a:t>S</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c</a:t>
            </a:r>
          </a:p>
        </p:txBody>
      </p:sp>
      <p:graphicFrame>
        <p:nvGraphicFramePr>
          <p:cNvPr id="188419" name="Object 3"/>
          <p:cNvGraphicFramePr>
            <a:graphicFrameLocks noChangeAspect="1"/>
          </p:cNvGraphicFramePr>
          <p:nvPr/>
        </p:nvGraphicFramePr>
        <p:xfrm>
          <a:off x="3436938" y="1738313"/>
          <a:ext cx="1719262" cy="598487"/>
        </p:xfrm>
        <a:graphic>
          <a:graphicData uri="http://schemas.openxmlformats.org/presentationml/2006/ole">
            <mc:AlternateContent xmlns:mc="http://schemas.openxmlformats.org/markup-compatibility/2006">
              <mc:Choice xmlns:v="urn:schemas-microsoft-com:vml" Requires="v">
                <p:oleObj spid="_x0000_s57354" name="公式" r:id="rId3" imgW="774364" imgH="406224" progId="Equation.3">
                  <p:embed/>
                </p:oleObj>
              </mc:Choice>
              <mc:Fallback>
                <p:oleObj name="公式" r:id="rId3" imgW="774364" imgH="40622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6938" y="1738313"/>
                        <a:ext cx="1719262"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8423" name="Object 7"/>
          <p:cNvGraphicFramePr>
            <a:graphicFrameLocks noChangeAspect="1"/>
          </p:cNvGraphicFramePr>
          <p:nvPr/>
        </p:nvGraphicFramePr>
        <p:xfrm>
          <a:off x="3036888" y="2452688"/>
          <a:ext cx="3119437" cy="671512"/>
        </p:xfrm>
        <a:graphic>
          <a:graphicData uri="http://schemas.openxmlformats.org/presentationml/2006/ole">
            <mc:AlternateContent xmlns:mc="http://schemas.openxmlformats.org/markup-compatibility/2006">
              <mc:Choice xmlns:v="urn:schemas-microsoft-com:vml" Requires="v">
                <p:oleObj spid="_x0000_s57355" name="公式" r:id="rId5" imgW="1549400" imgH="457200" progId="Equation.3">
                  <p:embed/>
                </p:oleObj>
              </mc:Choice>
              <mc:Fallback>
                <p:oleObj name="公式" r:id="rId5" imgW="1549400" imgH="457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6888" y="2452688"/>
                        <a:ext cx="3119437"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8424" name="Text Box 8"/>
          <p:cNvSpPr txBox="1">
            <a:spLocks noChangeArrowheads="1"/>
          </p:cNvSpPr>
          <p:nvPr/>
        </p:nvSpPr>
        <p:spPr bwMode="auto">
          <a:xfrm>
            <a:off x="3495675" y="3209925"/>
            <a:ext cx="2339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ea typeface="华文中宋" pitchFamily="2" charset="-122"/>
                <a:sym typeface="Symbol" pitchFamily="18" charset="2"/>
              </a:rPr>
              <a:t></a:t>
            </a:r>
            <a:r>
              <a:rPr lang="en-US" altLang="zh-CN" sz="1800" i="1">
                <a:solidFill>
                  <a:srgbClr val="0000FF"/>
                </a:solidFill>
                <a:ea typeface="华文中宋" pitchFamily="2" charset="-122"/>
                <a:sym typeface="Symbol" pitchFamily="18" charset="2"/>
              </a:rPr>
              <a:t>t</a:t>
            </a:r>
            <a:r>
              <a:rPr lang="en-US" altLang="zh-CN" sz="1800" baseline="30000">
                <a:solidFill>
                  <a:srgbClr val="0000FF"/>
                </a:solidFill>
                <a:ea typeface="华文中宋" pitchFamily="2" charset="-122"/>
                <a:sym typeface="Symbol" pitchFamily="18" charset="2"/>
              </a:rPr>
              <a:t>/</a:t>
            </a:r>
            <a:r>
              <a:rPr lang="zh-CN" altLang="en-US" sz="1800">
                <a:solidFill>
                  <a:srgbClr val="0000FF"/>
                </a:solidFill>
                <a:ea typeface="华文中宋" pitchFamily="2" charset="-122"/>
                <a:sym typeface="Symbol" pitchFamily="18" charset="2"/>
              </a:rPr>
              <a:t>与 </a:t>
            </a:r>
            <a:r>
              <a:rPr lang="en-US" altLang="zh-CN" sz="1800" i="1">
                <a:solidFill>
                  <a:srgbClr val="0000FF"/>
                </a:solidFill>
                <a:ea typeface="华文中宋" pitchFamily="2" charset="-122"/>
                <a:sym typeface="Symbol" pitchFamily="18" charset="2"/>
              </a:rPr>
              <a:t>t</a:t>
            </a:r>
            <a:r>
              <a:rPr lang="zh-CN" altLang="en-US" sz="1800">
                <a:solidFill>
                  <a:srgbClr val="0000FF"/>
                </a:solidFill>
                <a:ea typeface="华文中宋" pitchFamily="2" charset="-122"/>
                <a:sym typeface="Symbol" pitchFamily="18" charset="2"/>
              </a:rPr>
              <a:t>同号</a:t>
            </a:r>
          </a:p>
        </p:txBody>
      </p:sp>
      <p:sp>
        <p:nvSpPr>
          <p:cNvPr id="188425" name="Rectangle 9"/>
          <p:cNvSpPr>
            <a:spLocks noChangeArrowheads="1"/>
          </p:cNvSpPr>
          <p:nvPr/>
        </p:nvSpPr>
        <p:spPr bwMode="auto">
          <a:xfrm>
            <a:off x="1160463" y="3668713"/>
            <a:ext cx="7299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defTabSz="762000" eaLnBrk="0" hangingPunct="0"/>
            <a:r>
              <a:rPr lang="en-US" altLang="zh-CN" sz="1800">
                <a:ea typeface="华文中宋" pitchFamily="2" charset="-122"/>
              </a:rPr>
              <a:t>        </a:t>
            </a:r>
            <a:r>
              <a:rPr lang="zh-CN" altLang="en-US" sz="1800">
                <a:ea typeface="华文中宋" pitchFamily="2" charset="-122"/>
              </a:rPr>
              <a:t>但是，无因果的两个事件发生的先后次序在不同惯性系可能颠倒。</a:t>
            </a:r>
          </a:p>
        </p:txBody>
      </p:sp>
      <p:sp>
        <p:nvSpPr>
          <p:cNvPr id="188426" name="Rectangle 10"/>
          <p:cNvSpPr>
            <a:spLocks noChangeArrowheads="1"/>
          </p:cNvSpPr>
          <p:nvPr/>
        </p:nvSpPr>
        <p:spPr bwMode="auto">
          <a:xfrm>
            <a:off x="1763713" y="4075113"/>
            <a:ext cx="4422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0033CC"/>
                </a:solidFill>
                <a:ea typeface="华文中宋" pitchFamily="2" charset="-122"/>
              </a:rPr>
              <a:t>因为无信息联系，</a:t>
            </a:r>
            <a:r>
              <a:rPr lang="en-US" altLang="zh-CN" sz="1800" i="1">
                <a:solidFill>
                  <a:srgbClr val="0033CC"/>
                </a:solidFill>
                <a:ea typeface="华文中宋" pitchFamily="2" charset="-122"/>
              </a:rPr>
              <a:t>u</a:t>
            </a:r>
            <a:r>
              <a:rPr lang="en-US" altLang="zh-CN" sz="1800" i="1" baseline="-25000">
                <a:solidFill>
                  <a:srgbClr val="0033CC"/>
                </a:solidFill>
                <a:ea typeface="华文中宋" pitchFamily="2" charset="-122"/>
              </a:rPr>
              <a:t>s</a:t>
            </a:r>
            <a:r>
              <a:rPr lang="zh-CN" altLang="en-US" sz="1800">
                <a:solidFill>
                  <a:srgbClr val="0033CC"/>
                </a:solidFill>
                <a:ea typeface="华文中宋" pitchFamily="2" charset="-122"/>
              </a:rPr>
              <a:t>可取任意值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8418"/>
                                        </p:tgtEl>
                                        <p:attrNameLst>
                                          <p:attrName>style.visibility</p:attrName>
                                        </p:attrNameLst>
                                      </p:cBhvr>
                                      <p:to>
                                        <p:strVal val="visible"/>
                                      </p:to>
                                    </p:set>
                                    <p:animEffect transition="in" filter="wipe(left)">
                                      <p:cBhvr>
                                        <p:cTn id="7" dur="500"/>
                                        <p:tgtEl>
                                          <p:spTgt spid="188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8419"/>
                                        </p:tgtEl>
                                        <p:attrNameLst>
                                          <p:attrName>style.visibility</p:attrName>
                                        </p:attrNameLst>
                                      </p:cBhvr>
                                      <p:to>
                                        <p:strVal val="visible"/>
                                      </p:to>
                                    </p:set>
                                    <p:animEffect transition="in" filter="wipe(left)">
                                      <p:cBhvr>
                                        <p:cTn id="12" dur="500"/>
                                        <p:tgtEl>
                                          <p:spTgt spid="1884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8423"/>
                                        </p:tgtEl>
                                        <p:attrNameLst>
                                          <p:attrName>style.visibility</p:attrName>
                                        </p:attrNameLst>
                                      </p:cBhvr>
                                      <p:to>
                                        <p:strVal val="visible"/>
                                      </p:to>
                                    </p:set>
                                    <p:animEffect transition="in" filter="wipe(left)">
                                      <p:cBhvr>
                                        <p:cTn id="17" dur="500"/>
                                        <p:tgtEl>
                                          <p:spTgt spid="1884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8424"/>
                                        </p:tgtEl>
                                        <p:attrNameLst>
                                          <p:attrName>style.visibility</p:attrName>
                                        </p:attrNameLst>
                                      </p:cBhvr>
                                      <p:to>
                                        <p:strVal val="visible"/>
                                      </p:to>
                                    </p:set>
                                    <p:animEffect transition="in" filter="wipe(left)">
                                      <p:cBhvr>
                                        <p:cTn id="22" dur="500"/>
                                        <p:tgtEl>
                                          <p:spTgt spid="18842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8425"/>
                                        </p:tgtEl>
                                        <p:attrNameLst>
                                          <p:attrName>style.visibility</p:attrName>
                                        </p:attrNameLst>
                                      </p:cBhvr>
                                      <p:to>
                                        <p:strVal val="visible"/>
                                      </p:to>
                                    </p:set>
                                    <p:animEffect transition="in" filter="wipe(left)">
                                      <p:cBhvr>
                                        <p:cTn id="27" dur="500"/>
                                        <p:tgtEl>
                                          <p:spTgt spid="1884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8426"/>
                                        </p:tgtEl>
                                        <p:attrNameLst>
                                          <p:attrName>style.visibility</p:attrName>
                                        </p:attrNameLst>
                                      </p:cBhvr>
                                      <p:to>
                                        <p:strVal val="visible"/>
                                      </p:to>
                                    </p:set>
                                    <p:animEffect transition="in" filter="wipe(left)">
                                      <p:cBhvr>
                                        <p:cTn id="32" dur="500"/>
                                        <p:tgtEl>
                                          <p:spTgt spid="188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p:bldP spid="188424" grpId="0"/>
      <p:bldP spid="188425" grpId="0"/>
      <p:bldP spid="18842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Text Box 2"/>
          <p:cNvSpPr txBox="1">
            <a:spLocks noChangeArrowheads="1"/>
          </p:cNvSpPr>
          <p:nvPr/>
        </p:nvSpPr>
        <p:spPr bwMode="auto">
          <a:xfrm>
            <a:off x="730250" y="788988"/>
            <a:ext cx="7875588"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  </a:t>
            </a:r>
            <a:r>
              <a:rPr lang="en-US" altLang="zh-CN" sz="1800" i="1">
                <a:solidFill>
                  <a:srgbClr val="0000FF"/>
                </a:solidFill>
                <a:ea typeface="华文中宋" pitchFamily="2" charset="-122"/>
              </a:rPr>
              <a:t>p</a:t>
            </a:r>
            <a:r>
              <a:rPr lang="en-US" altLang="zh-CN" sz="1800" baseline="-25000">
                <a:solidFill>
                  <a:srgbClr val="0000FF"/>
                </a:solidFill>
                <a:ea typeface="华文中宋" pitchFamily="2" charset="-122"/>
              </a:rPr>
              <a:t>1</a:t>
            </a:r>
            <a:r>
              <a:rPr lang="en-US" altLang="zh-CN" sz="1800">
                <a:solidFill>
                  <a:srgbClr val="0000FF"/>
                </a:solidFill>
                <a:ea typeface="华文中宋" pitchFamily="2" charset="-122"/>
              </a:rPr>
              <a:t>: </a:t>
            </a:r>
            <a:r>
              <a:rPr lang="zh-CN" altLang="en-US" sz="1800">
                <a:solidFill>
                  <a:srgbClr val="0000FF"/>
                </a:solidFill>
                <a:ea typeface="华文中宋" pitchFamily="2" charset="-122"/>
              </a:rPr>
              <a:t>张家生了个小</a:t>
            </a:r>
            <a:r>
              <a:rPr lang="en-US" altLang="zh-CN" sz="1800">
                <a:solidFill>
                  <a:srgbClr val="0000FF"/>
                </a:solidFill>
                <a:ea typeface="华文中宋" pitchFamily="2" charset="-122"/>
              </a:rPr>
              <a:t>A;       </a:t>
            </a:r>
            <a:r>
              <a:rPr lang="en-US" altLang="zh-CN" sz="1800" i="1">
                <a:solidFill>
                  <a:srgbClr val="0000FF"/>
                </a:solidFill>
                <a:ea typeface="华文中宋" pitchFamily="2" charset="-122"/>
              </a:rPr>
              <a:t>p</a:t>
            </a:r>
            <a:r>
              <a:rPr lang="en-US" altLang="zh-CN" sz="1800" baseline="-25000">
                <a:solidFill>
                  <a:srgbClr val="0000FF"/>
                </a:solidFill>
                <a:ea typeface="华文中宋" pitchFamily="2" charset="-122"/>
              </a:rPr>
              <a:t>2</a:t>
            </a:r>
            <a:r>
              <a:rPr lang="en-US" altLang="zh-CN" sz="1800">
                <a:solidFill>
                  <a:srgbClr val="0000FF"/>
                </a:solidFill>
                <a:ea typeface="华文中宋" pitchFamily="2" charset="-122"/>
              </a:rPr>
              <a:t>: </a:t>
            </a:r>
            <a:r>
              <a:rPr lang="zh-CN" altLang="en-US" sz="1800">
                <a:solidFill>
                  <a:srgbClr val="0000FF"/>
                </a:solidFill>
                <a:ea typeface="华文中宋" pitchFamily="2" charset="-122"/>
              </a:rPr>
              <a:t>李家生了个小</a:t>
            </a:r>
            <a:r>
              <a:rPr lang="en-US" altLang="zh-CN" sz="1800">
                <a:solidFill>
                  <a:srgbClr val="0000FF"/>
                </a:solidFill>
                <a:ea typeface="华文中宋" pitchFamily="2" charset="-122"/>
              </a:rPr>
              <a:t>B</a:t>
            </a:r>
          </a:p>
          <a:p>
            <a:pPr eaLnBrk="1" hangingPunct="1"/>
            <a:r>
              <a:rPr lang="zh-CN" altLang="en-US" sz="1800">
                <a:solidFill>
                  <a:srgbClr val="0000FF"/>
                </a:solidFill>
                <a:ea typeface="华文中宋" pitchFamily="2" charset="-122"/>
              </a:rPr>
              <a:t>在地面</a:t>
            </a:r>
            <a:r>
              <a:rPr lang="en-US" altLang="zh-CN" sz="1800">
                <a:solidFill>
                  <a:srgbClr val="0000FF"/>
                </a:solidFill>
                <a:ea typeface="华文中宋" pitchFamily="2" charset="-122"/>
              </a:rPr>
              <a:t>S</a:t>
            </a:r>
            <a:r>
              <a:rPr lang="zh-CN" altLang="en-US" sz="1800">
                <a:solidFill>
                  <a:srgbClr val="0000FF"/>
                </a:solidFill>
                <a:ea typeface="华文中宋" pitchFamily="2" charset="-122"/>
              </a:rPr>
              <a:t>系</a:t>
            </a:r>
            <a:r>
              <a:rPr lang="en-US" altLang="zh-CN" sz="1800">
                <a:solidFill>
                  <a:srgbClr val="0000FF"/>
                </a:solidFill>
                <a:ea typeface="华文中宋" pitchFamily="2" charset="-122"/>
              </a:rPr>
              <a:t>:     </a:t>
            </a:r>
            <a:r>
              <a:rPr lang="en-US" altLang="zh-CN" sz="1800" i="1">
                <a:solidFill>
                  <a:srgbClr val="0000FF"/>
                </a:solidFill>
                <a:ea typeface="华文中宋" pitchFamily="2" charset="-122"/>
              </a:rPr>
              <a:t>p</a:t>
            </a:r>
            <a:r>
              <a:rPr lang="en-US" altLang="zh-CN" sz="1800" baseline="-25000">
                <a:solidFill>
                  <a:srgbClr val="0000FF"/>
                </a:solidFill>
                <a:ea typeface="华文中宋" pitchFamily="2" charset="-122"/>
              </a:rPr>
              <a:t>1</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x</a:t>
            </a:r>
            <a:r>
              <a:rPr lang="en-US" altLang="zh-CN" sz="1800" baseline="-25000">
                <a:solidFill>
                  <a:srgbClr val="0000FF"/>
                </a:solidFill>
                <a:ea typeface="华文中宋" pitchFamily="2" charset="-122"/>
              </a:rPr>
              <a:t>1</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t</a:t>
            </a:r>
            <a:r>
              <a:rPr lang="en-US" altLang="zh-CN" sz="1800" baseline="-25000">
                <a:solidFill>
                  <a:srgbClr val="0000FF"/>
                </a:solidFill>
                <a:ea typeface="华文中宋" pitchFamily="2" charset="-122"/>
              </a:rPr>
              <a:t>1</a:t>
            </a:r>
            <a:r>
              <a:rPr lang="en-US" altLang="zh-CN" sz="1800">
                <a:solidFill>
                  <a:srgbClr val="0000FF"/>
                </a:solidFill>
                <a:ea typeface="华文中宋" pitchFamily="2" charset="-122"/>
              </a:rPr>
              <a:t>)                     </a:t>
            </a:r>
            <a:r>
              <a:rPr lang="en-US" altLang="zh-CN" sz="1800" i="1">
                <a:solidFill>
                  <a:srgbClr val="0000FF"/>
                </a:solidFill>
                <a:ea typeface="华文中宋" pitchFamily="2" charset="-122"/>
              </a:rPr>
              <a:t>p</a:t>
            </a:r>
            <a:r>
              <a:rPr lang="en-US" altLang="zh-CN" sz="1800" baseline="-25000">
                <a:solidFill>
                  <a:srgbClr val="0000FF"/>
                </a:solidFill>
                <a:ea typeface="华文中宋" pitchFamily="2" charset="-122"/>
              </a:rPr>
              <a:t>2</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x</a:t>
            </a:r>
            <a:r>
              <a:rPr lang="en-US" altLang="zh-CN" sz="1800" baseline="-25000">
                <a:solidFill>
                  <a:srgbClr val="0000FF"/>
                </a:solidFill>
                <a:ea typeface="华文中宋" pitchFamily="2" charset="-122"/>
              </a:rPr>
              <a:t>2</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t</a:t>
            </a:r>
            <a:r>
              <a:rPr lang="en-US" altLang="zh-CN" sz="1800" baseline="-25000">
                <a:solidFill>
                  <a:srgbClr val="0000FF"/>
                </a:solidFill>
                <a:ea typeface="华文中宋" pitchFamily="2" charset="-122"/>
              </a:rPr>
              <a:t>2</a:t>
            </a:r>
            <a:r>
              <a:rPr lang="en-US" altLang="zh-CN" sz="1800">
                <a:solidFill>
                  <a:srgbClr val="0000FF"/>
                </a:solidFill>
                <a:ea typeface="华文中宋" pitchFamily="2" charset="-122"/>
              </a:rPr>
              <a:t>) </a:t>
            </a:r>
          </a:p>
          <a:p>
            <a:pPr eaLnBrk="1" hangingPunct="1"/>
            <a:r>
              <a:rPr lang="zh-CN" altLang="en-US" sz="1800">
                <a:solidFill>
                  <a:srgbClr val="0000FF"/>
                </a:solidFill>
                <a:ea typeface="华文中宋" pitchFamily="2" charset="-122"/>
              </a:rPr>
              <a:t>在飞船</a:t>
            </a:r>
            <a:r>
              <a:rPr lang="en-US" altLang="zh-CN" sz="1800">
                <a:solidFill>
                  <a:srgbClr val="0000FF"/>
                </a:solidFill>
                <a:ea typeface="华文中宋" pitchFamily="2" charset="-122"/>
              </a:rPr>
              <a:t>S</a:t>
            </a:r>
            <a:r>
              <a:rPr lang="en-US" altLang="zh-CN" sz="1800" baseline="30000">
                <a:solidFill>
                  <a:srgbClr val="0000FF"/>
                </a:solidFill>
                <a:ea typeface="华文中宋" pitchFamily="2" charset="-122"/>
              </a:rPr>
              <a:t>/</a:t>
            </a:r>
            <a:r>
              <a:rPr lang="zh-CN" altLang="en-US" sz="1800">
                <a:solidFill>
                  <a:srgbClr val="0000FF"/>
                </a:solidFill>
                <a:ea typeface="华文中宋" pitchFamily="2" charset="-122"/>
              </a:rPr>
              <a:t>系</a:t>
            </a:r>
            <a:r>
              <a:rPr lang="en-US" altLang="zh-CN" sz="1800">
                <a:solidFill>
                  <a:srgbClr val="0000FF"/>
                </a:solidFill>
                <a:ea typeface="华文中宋" pitchFamily="2" charset="-122"/>
              </a:rPr>
              <a:t>:    </a:t>
            </a:r>
            <a:r>
              <a:rPr lang="en-US" altLang="zh-CN" sz="1800" i="1">
                <a:solidFill>
                  <a:srgbClr val="0000FF"/>
                </a:solidFill>
                <a:ea typeface="华文中宋" pitchFamily="2" charset="-122"/>
              </a:rPr>
              <a:t>p</a:t>
            </a:r>
            <a:r>
              <a:rPr lang="en-US" altLang="zh-CN" sz="1800" baseline="30000">
                <a:solidFill>
                  <a:srgbClr val="0000FF"/>
                </a:solidFill>
                <a:ea typeface="华文中宋" pitchFamily="2" charset="-122"/>
              </a:rPr>
              <a:t>/</a:t>
            </a:r>
            <a:r>
              <a:rPr lang="en-US" altLang="zh-CN" sz="1800" baseline="-25000">
                <a:solidFill>
                  <a:srgbClr val="0000FF"/>
                </a:solidFill>
                <a:ea typeface="华文中宋" pitchFamily="2" charset="-122"/>
              </a:rPr>
              <a:t>1</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x</a:t>
            </a:r>
            <a:r>
              <a:rPr lang="en-US" altLang="zh-CN" sz="1800" baseline="-25000">
                <a:solidFill>
                  <a:srgbClr val="0000FF"/>
                </a:solidFill>
                <a:ea typeface="华文中宋" pitchFamily="2" charset="-122"/>
              </a:rPr>
              <a:t>1</a:t>
            </a:r>
            <a:r>
              <a:rPr lang="en-US" altLang="zh-CN" sz="1800" baseline="30000">
                <a:solidFill>
                  <a:srgbClr val="0000FF"/>
                </a:solidFill>
                <a:ea typeface="华文中宋" pitchFamily="2" charset="-122"/>
              </a:rPr>
              <a:t>/</a:t>
            </a:r>
            <a:r>
              <a:rPr lang="en-US" altLang="zh-CN" sz="1800" baseline="-25000">
                <a:solidFill>
                  <a:srgbClr val="0000FF"/>
                </a:solidFill>
                <a:ea typeface="华文中宋" pitchFamily="2" charset="-122"/>
              </a:rPr>
              <a:t> </a:t>
            </a:r>
            <a:r>
              <a:rPr lang="en-US" altLang="zh-CN" sz="1800">
                <a:solidFill>
                  <a:srgbClr val="0000FF"/>
                </a:solidFill>
                <a:ea typeface="华文中宋" pitchFamily="2" charset="-122"/>
              </a:rPr>
              <a:t>,t</a:t>
            </a:r>
            <a:r>
              <a:rPr lang="en-US" altLang="zh-CN" sz="1800" baseline="-25000">
                <a:solidFill>
                  <a:srgbClr val="0000FF"/>
                </a:solidFill>
                <a:ea typeface="华文中宋" pitchFamily="2" charset="-122"/>
              </a:rPr>
              <a:t>1 </a:t>
            </a:r>
            <a:r>
              <a:rPr lang="en-US" altLang="zh-CN" sz="1800" baseline="30000">
                <a:solidFill>
                  <a:srgbClr val="0000FF"/>
                </a:solidFill>
                <a:ea typeface="华文中宋" pitchFamily="2" charset="-122"/>
              </a:rPr>
              <a:t>/</a:t>
            </a:r>
            <a:r>
              <a:rPr lang="en-US" altLang="zh-CN" sz="1800">
                <a:solidFill>
                  <a:srgbClr val="0000FF"/>
                </a:solidFill>
                <a:ea typeface="华文中宋" pitchFamily="2" charset="-122"/>
              </a:rPr>
              <a:t>)                 </a:t>
            </a:r>
            <a:r>
              <a:rPr lang="en-US" altLang="zh-CN" sz="1800" i="1">
                <a:solidFill>
                  <a:srgbClr val="0000FF"/>
                </a:solidFill>
                <a:ea typeface="华文中宋" pitchFamily="2" charset="-122"/>
              </a:rPr>
              <a:t>p</a:t>
            </a:r>
            <a:r>
              <a:rPr lang="en-US" altLang="zh-CN" sz="1800" baseline="30000">
                <a:solidFill>
                  <a:srgbClr val="0000FF"/>
                </a:solidFill>
                <a:ea typeface="华文中宋" pitchFamily="2" charset="-122"/>
              </a:rPr>
              <a:t>/</a:t>
            </a:r>
            <a:r>
              <a:rPr lang="en-US" altLang="zh-CN" sz="1800" baseline="-25000">
                <a:solidFill>
                  <a:srgbClr val="0000FF"/>
                </a:solidFill>
                <a:ea typeface="华文中宋" pitchFamily="2" charset="-122"/>
              </a:rPr>
              <a:t>2</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x</a:t>
            </a:r>
            <a:r>
              <a:rPr lang="en-US" altLang="zh-CN" sz="1800" baseline="-25000">
                <a:solidFill>
                  <a:srgbClr val="0000FF"/>
                </a:solidFill>
                <a:ea typeface="华文中宋" pitchFamily="2" charset="-122"/>
              </a:rPr>
              <a:t>2</a:t>
            </a:r>
            <a:r>
              <a:rPr lang="en-US" altLang="zh-CN" sz="1800" baseline="30000">
                <a:solidFill>
                  <a:srgbClr val="0000FF"/>
                </a:solidFill>
                <a:ea typeface="华文中宋" pitchFamily="2" charset="-122"/>
              </a:rPr>
              <a:t>/</a:t>
            </a:r>
            <a:r>
              <a:rPr lang="en-US" altLang="zh-CN" sz="1800" baseline="-25000">
                <a:solidFill>
                  <a:srgbClr val="0000FF"/>
                </a:solidFill>
                <a:ea typeface="华文中宋" pitchFamily="2" charset="-122"/>
              </a:rPr>
              <a:t> </a:t>
            </a:r>
            <a:r>
              <a:rPr lang="en-US" altLang="zh-CN" sz="1800">
                <a:solidFill>
                  <a:srgbClr val="0000FF"/>
                </a:solidFill>
                <a:ea typeface="华文中宋" pitchFamily="2" charset="-122"/>
              </a:rPr>
              <a:t>,</a:t>
            </a:r>
            <a:r>
              <a:rPr lang="en-US" altLang="zh-CN" sz="1800" i="1">
                <a:solidFill>
                  <a:srgbClr val="0000FF"/>
                </a:solidFill>
                <a:ea typeface="华文中宋" pitchFamily="2" charset="-122"/>
              </a:rPr>
              <a:t>t</a:t>
            </a:r>
            <a:r>
              <a:rPr lang="en-US" altLang="zh-CN" sz="1800" baseline="-25000">
                <a:solidFill>
                  <a:srgbClr val="0000FF"/>
                </a:solidFill>
                <a:ea typeface="华文中宋" pitchFamily="2" charset="-122"/>
              </a:rPr>
              <a:t>2 </a:t>
            </a:r>
            <a:r>
              <a:rPr lang="en-US" altLang="zh-CN" sz="1800" baseline="30000">
                <a:solidFill>
                  <a:srgbClr val="0000FF"/>
                </a:solidFill>
                <a:ea typeface="华文中宋" pitchFamily="2" charset="-122"/>
              </a:rPr>
              <a:t>/</a:t>
            </a:r>
            <a:r>
              <a:rPr lang="en-US" altLang="zh-CN" sz="1800">
                <a:solidFill>
                  <a:srgbClr val="0000FF"/>
                </a:solidFill>
                <a:ea typeface="华文中宋" pitchFamily="2" charset="-122"/>
              </a:rPr>
              <a:t>)</a:t>
            </a:r>
          </a:p>
        </p:txBody>
      </p:sp>
      <p:grpSp>
        <p:nvGrpSpPr>
          <p:cNvPr id="2" name="组合 24"/>
          <p:cNvGrpSpPr>
            <a:grpSpLocks/>
          </p:cNvGrpSpPr>
          <p:nvPr/>
        </p:nvGrpSpPr>
        <p:grpSpPr bwMode="auto">
          <a:xfrm>
            <a:off x="2201863" y="2579688"/>
            <a:ext cx="4413250" cy="900112"/>
            <a:chOff x="1708167" y="4215573"/>
            <a:chExt cx="4413394" cy="1200445"/>
          </a:xfrm>
        </p:grpSpPr>
        <p:sp>
          <p:nvSpPr>
            <p:cNvPr id="58384" name="Line 5"/>
            <p:cNvSpPr>
              <a:spLocks noChangeShapeType="1"/>
            </p:cNvSpPr>
            <p:nvPr/>
          </p:nvSpPr>
          <p:spPr bwMode="auto">
            <a:xfrm>
              <a:off x="1730983" y="4960938"/>
              <a:ext cx="4166689"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5" name="Line 6"/>
            <p:cNvSpPr>
              <a:spLocks noChangeShapeType="1"/>
            </p:cNvSpPr>
            <p:nvPr/>
          </p:nvSpPr>
          <p:spPr bwMode="auto">
            <a:xfrm flipV="1">
              <a:off x="1732081" y="4362130"/>
              <a:ext cx="0" cy="598807"/>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6" name="Line 7"/>
            <p:cNvSpPr>
              <a:spLocks noChangeShapeType="1"/>
            </p:cNvSpPr>
            <p:nvPr/>
          </p:nvSpPr>
          <p:spPr bwMode="auto">
            <a:xfrm>
              <a:off x="2657475" y="4960938"/>
              <a:ext cx="0" cy="76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7" name="Text Box 8"/>
            <p:cNvSpPr txBox="1">
              <a:spLocks noChangeArrowheads="1"/>
            </p:cNvSpPr>
            <p:nvPr/>
          </p:nvSpPr>
          <p:spPr bwMode="auto">
            <a:xfrm>
              <a:off x="1708167" y="4215573"/>
              <a:ext cx="292078" cy="431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S</a:t>
              </a:r>
            </a:p>
          </p:txBody>
        </p:sp>
        <p:sp>
          <p:nvSpPr>
            <p:cNvPr id="58388" name="Line 9"/>
            <p:cNvSpPr>
              <a:spLocks noChangeShapeType="1"/>
            </p:cNvSpPr>
            <p:nvPr/>
          </p:nvSpPr>
          <p:spPr bwMode="auto">
            <a:xfrm>
              <a:off x="4781801" y="4913313"/>
              <a:ext cx="0" cy="76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9" name="Rectangle 16"/>
            <p:cNvSpPr>
              <a:spLocks noChangeArrowheads="1"/>
            </p:cNvSpPr>
            <p:nvPr/>
          </p:nvSpPr>
          <p:spPr bwMode="auto">
            <a:xfrm>
              <a:off x="2499760" y="4984935"/>
              <a:ext cx="2566812" cy="431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500" i="1">
                  <a:ea typeface="宋体" pitchFamily="2" charset="-122"/>
                </a:rPr>
                <a:t>p</a:t>
              </a:r>
              <a:r>
                <a:rPr lang="en-US" altLang="zh-CN" sz="1500" baseline="-25000">
                  <a:ea typeface="宋体" pitchFamily="2" charset="-122"/>
                </a:rPr>
                <a:t>1</a:t>
              </a:r>
              <a:r>
                <a:rPr lang="en-US" altLang="zh-CN" sz="1500">
                  <a:ea typeface="宋体" pitchFamily="2" charset="-122"/>
                </a:rPr>
                <a:t>(</a:t>
              </a:r>
              <a:r>
                <a:rPr lang="en-US" altLang="zh-CN" sz="1500" i="1">
                  <a:ea typeface="宋体" pitchFamily="2" charset="-122"/>
                </a:rPr>
                <a:t>x</a:t>
              </a:r>
              <a:r>
                <a:rPr lang="en-US" altLang="zh-CN" sz="1500" baseline="-25000">
                  <a:ea typeface="宋体" pitchFamily="2" charset="-122"/>
                </a:rPr>
                <a:t>1</a:t>
              </a:r>
              <a:r>
                <a:rPr lang="en-US" altLang="zh-CN" sz="1500">
                  <a:ea typeface="宋体" pitchFamily="2" charset="-122"/>
                </a:rPr>
                <a:t>,</a:t>
              </a:r>
              <a:r>
                <a:rPr lang="en-US" altLang="zh-CN" sz="1500" i="1">
                  <a:ea typeface="宋体" pitchFamily="2" charset="-122"/>
                </a:rPr>
                <a:t>t</a:t>
              </a:r>
              <a:r>
                <a:rPr lang="en-US" altLang="zh-CN" sz="1500" baseline="-25000">
                  <a:ea typeface="宋体" pitchFamily="2" charset="-122"/>
                </a:rPr>
                <a:t>1</a:t>
              </a:r>
              <a:r>
                <a:rPr lang="en-US" altLang="zh-CN" sz="1500">
                  <a:ea typeface="宋体" pitchFamily="2" charset="-122"/>
                </a:rPr>
                <a:t>)                        </a:t>
              </a:r>
              <a:r>
                <a:rPr lang="en-US" altLang="zh-CN" sz="1500" i="1">
                  <a:ea typeface="宋体" pitchFamily="2" charset="-122"/>
                </a:rPr>
                <a:t>p</a:t>
              </a:r>
              <a:r>
                <a:rPr lang="en-US" altLang="zh-CN" sz="1500" baseline="-25000">
                  <a:ea typeface="宋体" pitchFamily="2" charset="-122"/>
                </a:rPr>
                <a:t>2</a:t>
              </a:r>
              <a:r>
                <a:rPr lang="en-US" altLang="zh-CN" sz="1500">
                  <a:ea typeface="宋体" pitchFamily="2" charset="-122"/>
                </a:rPr>
                <a:t>(</a:t>
              </a:r>
              <a:r>
                <a:rPr lang="en-US" altLang="zh-CN" sz="1500" i="1">
                  <a:ea typeface="宋体" pitchFamily="2" charset="-122"/>
                </a:rPr>
                <a:t>x</a:t>
              </a:r>
              <a:r>
                <a:rPr lang="en-US" altLang="zh-CN" sz="1500" baseline="-25000">
                  <a:ea typeface="宋体" pitchFamily="2" charset="-122"/>
                </a:rPr>
                <a:t>2</a:t>
              </a:r>
              <a:r>
                <a:rPr lang="en-US" altLang="zh-CN" sz="1500">
                  <a:ea typeface="宋体" pitchFamily="2" charset="-122"/>
                </a:rPr>
                <a:t>,</a:t>
              </a:r>
              <a:r>
                <a:rPr lang="en-US" altLang="zh-CN" sz="1500" i="1">
                  <a:ea typeface="宋体" pitchFamily="2" charset="-122"/>
                </a:rPr>
                <a:t>t</a:t>
              </a:r>
              <a:r>
                <a:rPr lang="en-US" altLang="zh-CN" sz="1500" baseline="-25000">
                  <a:ea typeface="宋体" pitchFamily="2" charset="-122"/>
                </a:rPr>
                <a:t>2</a:t>
              </a:r>
              <a:r>
                <a:rPr lang="en-US" altLang="zh-CN" sz="1500">
                  <a:ea typeface="宋体" pitchFamily="2" charset="-122"/>
                </a:rPr>
                <a:t>)</a:t>
              </a:r>
            </a:p>
          </p:txBody>
        </p:sp>
        <p:sp>
          <p:nvSpPr>
            <p:cNvPr id="58390" name="Rectangle 18"/>
            <p:cNvSpPr>
              <a:spLocks noChangeArrowheads="1"/>
            </p:cNvSpPr>
            <p:nvPr/>
          </p:nvSpPr>
          <p:spPr bwMode="auto">
            <a:xfrm>
              <a:off x="2255365" y="4598988"/>
              <a:ext cx="708871" cy="431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500">
                  <a:ea typeface="宋体" pitchFamily="2" charset="-122"/>
                </a:rPr>
                <a:t>张小</a:t>
              </a:r>
              <a:r>
                <a:rPr lang="en-US" altLang="zh-CN" sz="1500">
                  <a:ea typeface="宋体" pitchFamily="2" charset="-122"/>
                </a:rPr>
                <a:t>A</a:t>
              </a:r>
            </a:p>
          </p:txBody>
        </p:sp>
        <p:sp>
          <p:nvSpPr>
            <p:cNvPr id="58391" name="Rectangle 19"/>
            <p:cNvSpPr>
              <a:spLocks noChangeArrowheads="1"/>
            </p:cNvSpPr>
            <p:nvPr/>
          </p:nvSpPr>
          <p:spPr bwMode="auto">
            <a:xfrm>
              <a:off x="4376719" y="4542387"/>
              <a:ext cx="697650" cy="431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500">
                  <a:ea typeface="宋体" pitchFamily="2" charset="-122"/>
                </a:rPr>
                <a:t>李小</a:t>
              </a:r>
              <a:r>
                <a:rPr lang="en-US" altLang="zh-CN" sz="1500">
                  <a:ea typeface="宋体" pitchFamily="2" charset="-122"/>
                </a:rPr>
                <a:t>B</a:t>
              </a:r>
            </a:p>
          </p:txBody>
        </p:sp>
        <p:sp>
          <p:nvSpPr>
            <p:cNvPr id="58392" name="Text Box 20"/>
            <p:cNvSpPr txBox="1">
              <a:spLocks noChangeArrowheads="1"/>
            </p:cNvSpPr>
            <p:nvPr/>
          </p:nvSpPr>
          <p:spPr bwMode="auto">
            <a:xfrm>
              <a:off x="5821469" y="4754774"/>
              <a:ext cx="300092" cy="49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i="1">
                  <a:ea typeface="宋体" pitchFamily="2" charset="-122"/>
                </a:rPr>
                <a:t>x</a:t>
              </a:r>
            </a:p>
          </p:txBody>
        </p:sp>
      </p:grpSp>
      <p:sp>
        <p:nvSpPr>
          <p:cNvPr id="25" name="Text Box 3"/>
          <p:cNvSpPr txBox="1">
            <a:spLocks noChangeArrowheads="1"/>
          </p:cNvSpPr>
          <p:nvPr/>
        </p:nvSpPr>
        <p:spPr bwMode="auto">
          <a:xfrm>
            <a:off x="838200" y="3703638"/>
            <a:ext cx="57610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在地面</a:t>
            </a:r>
            <a:r>
              <a:rPr lang="en-US" altLang="zh-CN" sz="1800">
                <a:solidFill>
                  <a:srgbClr val="0000FF"/>
                </a:solidFill>
                <a:ea typeface="华文中宋" pitchFamily="2" charset="-122"/>
              </a:rPr>
              <a:t>S</a:t>
            </a:r>
            <a:r>
              <a:rPr lang="zh-CN" altLang="en-US" sz="1800">
                <a:solidFill>
                  <a:srgbClr val="0000FF"/>
                </a:solidFill>
                <a:ea typeface="华文中宋" pitchFamily="2" charset="-122"/>
              </a:rPr>
              <a:t>系看：</a:t>
            </a:r>
            <a:r>
              <a:rPr lang="zh-CN" altLang="en-US" sz="1800">
                <a:ea typeface="华文中宋" pitchFamily="2" charset="-122"/>
              </a:rPr>
              <a:t>如果张家小</a:t>
            </a:r>
            <a:r>
              <a:rPr lang="en-US" altLang="zh-CN" sz="1800">
                <a:ea typeface="华文中宋" pitchFamily="2" charset="-122"/>
              </a:rPr>
              <a:t>A</a:t>
            </a:r>
            <a:r>
              <a:rPr lang="zh-CN" altLang="en-US" sz="1800">
                <a:ea typeface="华文中宋" pitchFamily="2" charset="-122"/>
              </a:rPr>
              <a:t>先出生：</a:t>
            </a:r>
            <a:endParaRPr lang="zh-CN" altLang="en-US" sz="1800" b="0">
              <a:ea typeface="华文中宋" pitchFamily="2" charset="-122"/>
            </a:endParaRPr>
          </a:p>
        </p:txBody>
      </p:sp>
      <p:grpSp>
        <p:nvGrpSpPr>
          <p:cNvPr id="3" name="组合 25"/>
          <p:cNvGrpSpPr>
            <a:grpSpLocks/>
          </p:cNvGrpSpPr>
          <p:nvPr/>
        </p:nvGrpSpPr>
        <p:grpSpPr bwMode="auto">
          <a:xfrm>
            <a:off x="2260600" y="1971675"/>
            <a:ext cx="4341813" cy="941388"/>
            <a:chOff x="1691757" y="3438804"/>
            <a:chExt cx="4342310" cy="1255646"/>
          </a:xfrm>
        </p:grpSpPr>
        <p:sp>
          <p:nvSpPr>
            <p:cNvPr id="58376" name="Line 10"/>
            <p:cNvSpPr>
              <a:spLocks noChangeShapeType="1"/>
            </p:cNvSpPr>
            <p:nvPr/>
          </p:nvSpPr>
          <p:spPr bwMode="auto">
            <a:xfrm>
              <a:off x="2051050" y="4440238"/>
              <a:ext cx="3696881" cy="0"/>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7" name="Line 11"/>
            <p:cNvSpPr>
              <a:spLocks noChangeShapeType="1"/>
            </p:cNvSpPr>
            <p:nvPr/>
          </p:nvSpPr>
          <p:spPr bwMode="auto">
            <a:xfrm flipV="1">
              <a:off x="2051050" y="3464480"/>
              <a:ext cx="0" cy="975757"/>
            </a:xfrm>
            <a:prstGeom prst="line">
              <a:avLst/>
            </a:prstGeom>
            <a:noFill/>
            <a:ln w="19050">
              <a:solidFill>
                <a:srgbClr val="00B0F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78" name="Line 12"/>
            <p:cNvSpPr>
              <a:spLocks noChangeShapeType="1"/>
            </p:cNvSpPr>
            <p:nvPr/>
          </p:nvSpPr>
          <p:spPr bwMode="auto">
            <a:xfrm>
              <a:off x="2616200" y="4373563"/>
              <a:ext cx="0" cy="152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79" name="Text Box 13"/>
            <p:cNvSpPr txBox="1">
              <a:spLocks noChangeArrowheads="1"/>
            </p:cNvSpPr>
            <p:nvPr/>
          </p:nvSpPr>
          <p:spPr bwMode="auto">
            <a:xfrm>
              <a:off x="2125896" y="3438804"/>
              <a:ext cx="312944" cy="49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800" i="1">
                  <a:ea typeface="宋体" pitchFamily="2" charset="-122"/>
                </a:rPr>
                <a:t>u</a:t>
              </a:r>
            </a:p>
          </p:txBody>
        </p:sp>
        <p:sp>
          <p:nvSpPr>
            <p:cNvPr id="58380" name="Text Box 14"/>
            <p:cNvSpPr txBox="1">
              <a:spLocks noChangeArrowheads="1"/>
            </p:cNvSpPr>
            <p:nvPr/>
          </p:nvSpPr>
          <p:spPr bwMode="auto">
            <a:xfrm>
              <a:off x="1691757" y="3446469"/>
              <a:ext cx="327371" cy="43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r>
                <a:rPr kumimoji="0" lang="en-US" altLang="zh-CN" sz="1500" i="1">
                  <a:ea typeface="宋体" pitchFamily="2" charset="-122"/>
                </a:rPr>
                <a:t>S</a:t>
              </a:r>
              <a:r>
                <a:rPr kumimoji="0" lang="en-US" altLang="zh-CN" sz="1500" baseline="30000">
                  <a:ea typeface="宋体" pitchFamily="2" charset="-122"/>
                </a:rPr>
                <a:t>/</a:t>
              </a:r>
              <a:endParaRPr kumimoji="0" lang="en-US" altLang="zh-CN" sz="1500">
                <a:ea typeface="宋体" pitchFamily="2" charset="-122"/>
              </a:endParaRPr>
            </a:p>
          </p:txBody>
        </p:sp>
        <p:sp>
          <p:nvSpPr>
            <p:cNvPr id="58381" name="Line 15"/>
            <p:cNvSpPr>
              <a:spLocks noChangeShapeType="1"/>
            </p:cNvSpPr>
            <p:nvPr/>
          </p:nvSpPr>
          <p:spPr bwMode="auto">
            <a:xfrm>
              <a:off x="2038735" y="3740926"/>
              <a:ext cx="534987" cy="0"/>
            </a:xfrm>
            <a:prstGeom prst="line">
              <a:avLst/>
            </a:prstGeom>
            <a:noFill/>
            <a:ln w="1905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382" name="AutoShape 17"/>
            <p:cNvSpPr>
              <a:spLocks noChangeArrowheads="1"/>
            </p:cNvSpPr>
            <p:nvPr/>
          </p:nvSpPr>
          <p:spPr bwMode="auto">
            <a:xfrm>
              <a:off x="2185988" y="4067797"/>
              <a:ext cx="855707" cy="351803"/>
            </a:xfrm>
            <a:prstGeom prst="flowChartDelay">
              <a:avLst/>
            </a:prstGeom>
            <a:gradFill rotWithShape="1">
              <a:gsLst>
                <a:gs pos="0">
                  <a:srgbClr val="76765E"/>
                </a:gs>
                <a:gs pos="50000">
                  <a:srgbClr val="FFFFCC"/>
                </a:gs>
                <a:gs pos="100000">
                  <a:srgbClr val="76765E"/>
                </a:gs>
              </a:gsLst>
              <a:lin ang="5400000" scaled="1"/>
            </a:gradFill>
            <a:ln w="28575">
              <a:solidFill>
                <a:srgbClr val="0070C0"/>
              </a:solidFill>
              <a:miter lim="800000"/>
              <a:headEnd/>
              <a:tailEnd/>
            </a:ln>
          </p:spPr>
          <p:txBody>
            <a:bodyPr wrap="none" anchor="ctr"/>
            <a:lstStyle/>
            <a:p>
              <a:endParaRPr kumimoji="0" lang="zh-CN" altLang="zh-CN" sz="1800">
                <a:ea typeface="宋体" pitchFamily="2" charset="-122"/>
              </a:endParaRPr>
            </a:p>
          </p:txBody>
        </p:sp>
        <p:sp>
          <p:nvSpPr>
            <p:cNvPr id="58383" name="Text Box 21"/>
            <p:cNvSpPr txBox="1">
              <a:spLocks noChangeArrowheads="1"/>
            </p:cNvSpPr>
            <p:nvPr/>
          </p:nvSpPr>
          <p:spPr bwMode="auto">
            <a:xfrm>
              <a:off x="5690661" y="4201811"/>
              <a:ext cx="343406" cy="492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i="1">
                  <a:ea typeface="宋体" pitchFamily="2" charset="-122"/>
                </a:rPr>
                <a:t>x</a:t>
              </a:r>
              <a:r>
                <a:rPr lang="en-US" altLang="zh-CN" sz="1800" baseline="30000">
                  <a:ea typeface="宋体" pitchFamily="2" charset="-122"/>
                </a:rPr>
                <a:t>/</a:t>
              </a:r>
              <a:endParaRPr lang="en-US" altLang="zh-CN" sz="1800">
                <a:ea typeface="宋体" pitchFamily="2" charset="-122"/>
              </a:endParaRPr>
            </a:p>
          </p:txBody>
        </p:sp>
      </p:grpSp>
      <p:sp>
        <p:nvSpPr>
          <p:cNvPr id="37" name="Text Box 22"/>
          <p:cNvSpPr txBox="1">
            <a:spLocks noChangeArrowheads="1"/>
          </p:cNvSpPr>
          <p:nvPr/>
        </p:nvSpPr>
        <p:spPr bwMode="auto">
          <a:xfrm>
            <a:off x="841375" y="4146550"/>
            <a:ext cx="7200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在飞船</a:t>
            </a:r>
            <a:r>
              <a:rPr lang="en-US" altLang="zh-CN" sz="1800">
                <a:solidFill>
                  <a:srgbClr val="0000FF"/>
                </a:solidFill>
                <a:ea typeface="华文中宋" pitchFamily="2" charset="-122"/>
              </a:rPr>
              <a:t>S</a:t>
            </a:r>
            <a:r>
              <a:rPr lang="en-US" altLang="zh-CN" sz="1800" baseline="30000">
                <a:solidFill>
                  <a:srgbClr val="0000FF"/>
                </a:solidFill>
                <a:ea typeface="华文中宋" pitchFamily="2" charset="-122"/>
              </a:rPr>
              <a:t>/</a:t>
            </a:r>
            <a:r>
              <a:rPr lang="zh-CN" altLang="zh-CN" sz="1800">
                <a:solidFill>
                  <a:srgbClr val="0000FF"/>
                </a:solidFill>
                <a:ea typeface="华文中宋" pitchFamily="2" charset="-122"/>
              </a:rPr>
              <a:t>系</a:t>
            </a:r>
            <a:r>
              <a:rPr lang="zh-CN" altLang="en-US" sz="1800">
                <a:solidFill>
                  <a:srgbClr val="0000FF"/>
                </a:solidFill>
                <a:ea typeface="华文中宋" pitchFamily="2" charset="-122"/>
              </a:rPr>
              <a:t>看</a:t>
            </a:r>
            <a:r>
              <a:rPr lang="en-US" altLang="zh-CN" sz="1800">
                <a:solidFill>
                  <a:srgbClr val="0000FF"/>
                </a:solidFill>
                <a:ea typeface="华文中宋" pitchFamily="2" charset="-122"/>
              </a:rPr>
              <a:t>:  </a:t>
            </a:r>
            <a:r>
              <a:rPr lang="zh-CN" altLang="en-US" sz="1800">
                <a:ea typeface="华文中宋" pitchFamily="2" charset="-122"/>
              </a:rPr>
              <a:t>必然也是张家小</a:t>
            </a:r>
            <a:r>
              <a:rPr lang="en-US" altLang="zh-CN" sz="1800">
                <a:ea typeface="华文中宋" pitchFamily="2" charset="-122"/>
              </a:rPr>
              <a:t>A</a:t>
            </a:r>
            <a:r>
              <a:rPr lang="zh-CN" altLang="en-US" sz="1800">
                <a:ea typeface="华文中宋" pitchFamily="2" charset="-122"/>
              </a:rPr>
              <a:t>先出生吗？</a:t>
            </a:r>
            <a:endParaRPr lang="zh-CN" altLang="en-US" sz="1800" b="0">
              <a:ea typeface="华文中宋" pitchFamily="2" charset="-122"/>
            </a:endParaRPr>
          </a:p>
        </p:txBody>
      </p:sp>
      <p:graphicFrame>
        <p:nvGraphicFramePr>
          <p:cNvPr id="188419" name="Object 3"/>
          <p:cNvGraphicFramePr>
            <a:graphicFrameLocks noChangeAspect="1"/>
          </p:cNvGraphicFramePr>
          <p:nvPr/>
        </p:nvGraphicFramePr>
        <p:xfrm>
          <a:off x="4716463" y="3709988"/>
          <a:ext cx="2232025" cy="361950"/>
        </p:xfrm>
        <a:graphic>
          <a:graphicData uri="http://schemas.openxmlformats.org/presentationml/2006/ole">
            <mc:AlternateContent xmlns:mc="http://schemas.openxmlformats.org/markup-compatibility/2006">
              <mc:Choice xmlns:v="urn:schemas-microsoft-com:vml" Requires="v">
                <p:oleObj spid="_x0000_s58394" name="公式" r:id="rId3" imgW="672808" imgH="165028" progId="Equation.3">
                  <p:embed/>
                </p:oleObj>
              </mc:Choice>
              <mc:Fallback>
                <p:oleObj name="公式" r:id="rId3" imgW="672808" imgH="165028"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3709988"/>
                        <a:ext cx="2232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2">
                                            <p:txEl>
                                              <p:pRg st="0" end="0"/>
                                            </p:txEl>
                                          </p:spTgt>
                                        </p:tgtEl>
                                        <p:attrNameLst>
                                          <p:attrName>style.visibility</p:attrName>
                                        </p:attrNameLst>
                                      </p:cBhvr>
                                      <p:to>
                                        <p:strVal val="visible"/>
                                      </p:to>
                                    </p:set>
                                    <p:animEffect transition="in" filter="wipe(left)">
                                      <p:cBhvr>
                                        <p:cTn id="7" dur="500"/>
                                        <p:tgtEl>
                                          <p:spTgt spid="2252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5282">
                                            <p:txEl>
                                              <p:pRg st="1" end="1"/>
                                            </p:txEl>
                                          </p:spTgt>
                                        </p:tgtEl>
                                        <p:attrNameLst>
                                          <p:attrName>style.visibility</p:attrName>
                                        </p:attrNameLst>
                                      </p:cBhvr>
                                      <p:to>
                                        <p:strVal val="visible"/>
                                      </p:to>
                                    </p:set>
                                    <p:animEffect transition="in" filter="wipe(left)">
                                      <p:cBhvr>
                                        <p:cTn id="12" dur="500"/>
                                        <p:tgtEl>
                                          <p:spTgt spid="2252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282">
                                            <p:txEl>
                                              <p:pRg st="2" end="2"/>
                                            </p:txEl>
                                          </p:spTgt>
                                        </p:tgtEl>
                                        <p:attrNameLst>
                                          <p:attrName>style.visibility</p:attrName>
                                        </p:attrNameLst>
                                      </p:cBhvr>
                                      <p:to>
                                        <p:strVal val="visible"/>
                                      </p:to>
                                    </p:set>
                                    <p:animEffect transition="in" filter="wipe(left)">
                                      <p:cBhvr>
                                        <p:cTn id="17" dur="500"/>
                                        <p:tgtEl>
                                          <p:spTgt spid="22528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wipe(left)">
                                      <p:cBhvr>
                                        <p:cTn id="37" dur="500"/>
                                        <p:tgtEl>
                                          <p:spTgt spid="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8419"/>
                                        </p:tgtEl>
                                        <p:attrNameLst>
                                          <p:attrName>style.visibility</p:attrName>
                                        </p:attrNameLst>
                                      </p:cBhvr>
                                      <p:to>
                                        <p:strVal val="visible"/>
                                      </p:to>
                                    </p:set>
                                    <p:animEffect transition="in" filter="wipe(left)">
                                      <p:cBhvr>
                                        <p:cTn id="42" dur="500"/>
                                        <p:tgtEl>
                                          <p:spTgt spid="188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2" grpId="0" build="p" autoUpdateAnimBg="0"/>
      <p:bldP spid="25" grpId="0" autoUpdateAnimBg="0"/>
      <p:bldP spid="37"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Box 2"/>
          <p:cNvSpPr txBox="1">
            <a:spLocks noChangeArrowheads="1"/>
          </p:cNvSpPr>
          <p:nvPr/>
        </p:nvSpPr>
        <p:spPr bwMode="auto">
          <a:xfrm>
            <a:off x="468313" y="906463"/>
            <a:ext cx="2055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根据洛仑兹变换</a:t>
            </a:r>
            <a:endParaRPr lang="zh-CN" altLang="en-US" sz="1800" b="0">
              <a:ea typeface="华文中宋" pitchFamily="2" charset="-122"/>
            </a:endParaRPr>
          </a:p>
        </p:txBody>
      </p:sp>
      <p:graphicFrame>
        <p:nvGraphicFramePr>
          <p:cNvPr id="5" name="对象 4"/>
          <p:cNvGraphicFramePr>
            <a:graphicFrameLocks noChangeAspect="1"/>
          </p:cNvGraphicFramePr>
          <p:nvPr/>
        </p:nvGraphicFramePr>
        <p:xfrm>
          <a:off x="2298700" y="1427163"/>
          <a:ext cx="3630613" cy="649287"/>
        </p:xfrm>
        <a:graphic>
          <a:graphicData uri="http://schemas.openxmlformats.org/presentationml/2006/ole">
            <mc:AlternateContent xmlns:mc="http://schemas.openxmlformats.org/markup-compatibility/2006">
              <mc:Choice xmlns:v="urn:schemas-microsoft-com:vml" Requires="v">
                <p:oleObj spid="_x0000_s59401" name="公式" r:id="rId3" imgW="1879600" imgH="482600" progId="Equation.3">
                  <p:embed/>
                </p:oleObj>
              </mc:Choice>
              <mc:Fallback>
                <p:oleObj name="公式" r:id="rId3" imgW="1879600" imgH="4826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8700" y="1427163"/>
                        <a:ext cx="3630613"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 name="Text Box 5"/>
          <p:cNvSpPr txBox="1">
            <a:spLocks noChangeArrowheads="1"/>
          </p:cNvSpPr>
          <p:nvPr/>
        </p:nvSpPr>
        <p:spPr bwMode="auto">
          <a:xfrm>
            <a:off x="690563" y="2227263"/>
            <a:ext cx="78422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buFontTx/>
              <a:buChar char="•"/>
            </a:pPr>
            <a:r>
              <a:rPr lang="en-US" altLang="zh-CN" sz="1800">
                <a:ea typeface="华文中宋" pitchFamily="2" charset="-122"/>
              </a:rPr>
              <a:t> </a:t>
            </a:r>
            <a:r>
              <a:rPr lang="zh-CN" altLang="en-US" sz="1800">
                <a:ea typeface="华文中宋" pitchFamily="2" charset="-122"/>
              </a:rPr>
              <a:t>若这两个事件无因果关系，虽然 </a:t>
            </a:r>
            <a:r>
              <a:rPr lang="en-US" altLang="zh-CN" sz="1800" i="1">
                <a:ea typeface="华文中宋" pitchFamily="2" charset="-122"/>
              </a:rPr>
              <a:t>t</a:t>
            </a:r>
            <a:r>
              <a:rPr lang="en-US" altLang="zh-CN" sz="1800" baseline="-25000">
                <a:ea typeface="华文中宋" pitchFamily="2" charset="-122"/>
              </a:rPr>
              <a:t>2</a:t>
            </a:r>
            <a:r>
              <a:rPr lang="en-US" altLang="zh-CN" sz="1800" i="1" baseline="-25000">
                <a:ea typeface="华文中宋" pitchFamily="2" charset="-122"/>
              </a:rPr>
              <a:t> </a:t>
            </a:r>
            <a:r>
              <a:rPr lang="en-US" altLang="zh-CN" sz="1800" i="1">
                <a:ea typeface="华文中宋" pitchFamily="2" charset="-122"/>
              </a:rPr>
              <a:t>- t</a:t>
            </a:r>
            <a:r>
              <a:rPr lang="en-US" altLang="zh-CN" sz="1800" baseline="-25000">
                <a:ea typeface="华文中宋" pitchFamily="2" charset="-122"/>
              </a:rPr>
              <a:t>1 </a:t>
            </a:r>
            <a:r>
              <a:rPr lang="en-US" altLang="zh-CN" sz="1800">
                <a:ea typeface="华文中宋" pitchFamily="2" charset="-122"/>
              </a:rPr>
              <a:t>&gt; 0, </a:t>
            </a:r>
            <a:r>
              <a:rPr lang="zh-CN" altLang="en-US" sz="1800">
                <a:ea typeface="华文中宋" pitchFamily="2" charset="-122"/>
              </a:rPr>
              <a:t>但是</a:t>
            </a:r>
            <a:r>
              <a:rPr lang="en-US" altLang="zh-CN" sz="1800">
                <a:ea typeface="华文中宋" pitchFamily="2" charset="-122"/>
              </a:rPr>
              <a:t>, </a:t>
            </a:r>
            <a:r>
              <a:rPr lang="en-US" altLang="zh-CN" sz="1800" i="1">
                <a:ea typeface="华文中宋" pitchFamily="2" charset="-122"/>
              </a:rPr>
              <a:t>x</a:t>
            </a:r>
            <a:r>
              <a:rPr lang="en-US" altLang="zh-CN" sz="1800" baseline="-25000">
                <a:ea typeface="华文中宋" pitchFamily="2" charset="-122"/>
              </a:rPr>
              <a:t>1</a:t>
            </a:r>
            <a:r>
              <a:rPr lang="zh-CN" altLang="en-US" sz="1800" i="1" baseline="-25000">
                <a:ea typeface="华文中宋" pitchFamily="2" charset="-122"/>
              </a:rPr>
              <a:t>、</a:t>
            </a:r>
            <a:r>
              <a:rPr lang="en-US" altLang="zh-CN" sz="1800" i="1">
                <a:ea typeface="华文中宋" pitchFamily="2" charset="-122"/>
              </a:rPr>
              <a:t>x</a:t>
            </a:r>
            <a:r>
              <a:rPr lang="en-US" altLang="zh-CN" sz="1800" baseline="-25000">
                <a:ea typeface="华文中宋" pitchFamily="2" charset="-122"/>
              </a:rPr>
              <a:t>2 </a:t>
            </a:r>
            <a:r>
              <a:rPr lang="zh-CN" altLang="en-US" sz="1800">
                <a:ea typeface="华文中宋" pitchFamily="2" charset="-122"/>
              </a:rPr>
              <a:t>是可以取各种数值的</a:t>
            </a:r>
            <a:r>
              <a:rPr lang="en-US" altLang="zh-CN" sz="1800">
                <a:ea typeface="华文中宋" pitchFamily="2" charset="-122"/>
              </a:rPr>
              <a:t>,</a:t>
            </a:r>
          </a:p>
        </p:txBody>
      </p:sp>
      <p:sp>
        <p:nvSpPr>
          <p:cNvPr id="31" name="Text Box 6"/>
          <p:cNvSpPr txBox="1">
            <a:spLocks noChangeArrowheads="1"/>
          </p:cNvSpPr>
          <p:nvPr/>
        </p:nvSpPr>
        <p:spPr bwMode="auto">
          <a:xfrm>
            <a:off x="1420813" y="2840038"/>
            <a:ext cx="5875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完全可以有 </a:t>
            </a:r>
            <a:r>
              <a:rPr lang="zh-CN" altLang="en-US" sz="1800">
                <a:solidFill>
                  <a:srgbClr val="0000FF"/>
                </a:solidFill>
                <a:ea typeface="华文中宋" pitchFamily="2" charset="-122"/>
                <a:sym typeface="Symbol" pitchFamily="18" charset="2"/>
              </a:rPr>
              <a:t></a:t>
            </a:r>
            <a:r>
              <a:rPr lang="zh-CN" altLang="en-US" sz="1800" i="1">
                <a:solidFill>
                  <a:srgbClr val="0000FF"/>
                </a:solidFill>
                <a:ea typeface="华文中宋" pitchFamily="2" charset="-122"/>
                <a:sym typeface="Symbol" pitchFamily="18" charset="2"/>
              </a:rPr>
              <a:t> </a:t>
            </a:r>
            <a:r>
              <a:rPr lang="en-US" altLang="zh-CN" sz="1800" i="1">
                <a:solidFill>
                  <a:srgbClr val="0000FF"/>
                </a:solidFill>
                <a:ea typeface="华文中宋" pitchFamily="2" charset="-122"/>
              </a:rPr>
              <a:t>t</a:t>
            </a:r>
            <a:r>
              <a:rPr lang="en-US" altLang="zh-CN" sz="1800" i="1" baseline="30000">
                <a:solidFill>
                  <a:srgbClr val="0000FF"/>
                </a:solidFill>
                <a:ea typeface="华文中宋" pitchFamily="2" charset="-122"/>
              </a:rPr>
              <a:t>/ </a:t>
            </a:r>
            <a:r>
              <a:rPr lang="en-US" altLang="zh-CN" sz="1800">
                <a:solidFill>
                  <a:srgbClr val="0000FF"/>
                </a:solidFill>
                <a:ea typeface="华文中宋" pitchFamily="2" charset="-122"/>
                <a:sym typeface="Symbol" pitchFamily="18" charset="2"/>
              </a:rPr>
              <a:t></a:t>
            </a:r>
            <a:r>
              <a:rPr lang="en-US" altLang="zh-CN" sz="1800">
                <a:solidFill>
                  <a:srgbClr val="0000FF"/>
                </a:solidFill>
                <a:ea typeface="华文中宋" pitchFamily="2" charset="-122"/>
              </a:rPr>
              <a:t>0</a:t>
            </a:r>
            <a:r>
              <a:rPr lang="zh-CN" altLang="en-US" sz="1800">
                <a:solidFill>
                  <a:srgbClr val="0000FF"/>
                </a:solidFill>
                <a:ea typeface="华文中宋" pitchFamily="2" charset="-122"/>
              </a:rPr>
              <a:t>；</a:t>
            </a:r>
            <a:r>
              <a:rPr lang="zh-CN" altLang="en-US" sz="1800">
                <a:solidFill>
                  <a:srgbClr val="0000FF"/>
                </a:solidFill>
                <a:ea typeface="华文中宋" pitchFamily="2" charset="-122"/>
                <a:sym typeface="Symbol" pitchFamily="18" charset="2"/>
              </a:rPr>
              <a:t></a:t>
            </a:r>
            <a:r>
              <a:rPr lang="zh-CN" altLang="en-US" sz="1800" i="1">
                <a:solidFill>
                  <a:srgbClr val="0000FF"/>
                </a:solidFill>
                <a:ea typeface="华文中宋" pitchFamily="2" charset="-122"/>
                <a:sym typeface="Symbol" pitchFamily="18" charset="2"/>
              </a:rPr>
              <a:t> </a:t>
            </a:r>
            <a:r>
              <a:rPr lang="en-US" altLang="zh-CN" sz="1800" i="1">
                <a:solidFill>
                  <a:srgbClr val="0000FF"/>
                </a:solidFill>
                <a:ea typeface="华文中宋" pitchFamily="2" charset="-122"/>
              </a:rPr>
              <a:t>t</a:t>
            </a:r>
            <a:r>
              <a:rPr lang="en-US" altLang="zh-CN" sz="1800" i="1" baseline="30000">
                <a:solidFill>
                  <a:srgbClr val="0000FF"/>
                </a:solidFill>
                <a:ea typeface="华文中宋" pitchFamily="2" charset="-122"/>
              </a:rPr>
              <a:t>/</a:t>
            </a:r>
            <a:r>
              <a:rPr lang="en-US" altLang="zh-CN" sz="1800">
                <a:solidFill>
                  <a:srgbClr val="0000FF"/>
                </a:solidFill>
                <a:ea typeface="华文中宋" pitchFamily="2" charset="-122"/>
                <a:sym typeface="Symbol" pitchFamily="18" charset="2"/>
              </a:rPr>
              <a:t></a:t>
            </a:r>
            <a:r>
              <a:rPr lang="en-US" altLang="zh-CN" sz="1800">
                <a:solidFill>
                  <a:srgbClr val="0000FF"/>
                </a:solidFill>
                <a:ea typeface="华文中宋" pitchFamily="2" charset="-122"/>
              </a:rPr>
              <a:t>0</a:t>
            </a:r>
            <a:r>
              <a:rPr lang="zh-CN" altLang="en-US" sz="1800">
                <a:solidFill>
                  <a:srgbClr val="0000FF"/>
                </a:solidFill>
                <a:ea typeface="华文中宋" pitchFamily="2" charset="-122"/>
              </a:rPr>
              <a:t>；</a:t>
            </a:r>
            <a:r>
              <a:rPr lang="zh-CN" altLang="en-US" sz="1800">
                <a:solidFill>
                  <a:srgbClr val="0000FF"/>
                </a:solidFill>
                <a:ea typeface="华文中宋" pitchFamily="2" charset="-122"/>
                <a:sym typeface="Symbol" pitchFamily="18" charset="2"/>
              </a:rPr>
              <a:t></a:t>
            </a:r>
            <a:r>
              <a:rPr lang="zh-CN" altLang="en-US" sz="1800" i="1">
                <a:solidFill>
                  <a:srgbClr val="0000FF"/>
                </a:solidFill>
                <a:ea typeface="华文中宋" pitchFamily="2" charset="-122"/>
                <a:sym typeface="Symbol" pitchFamily="18" charset="2"/>
              </a:rPr>
              <a:t> </a:t>
            </a:r>
            <a:r>
              <a:rPr lang="en-US" altLang="zh-CN" sz="1800" i="1">
                <a:solidFill>
                  <a:srgbClr val="0000FF"/>
                </a:solidFill>
                <a:ea typeface="华文中宋" pitchFamily="2" charset="-122"/>
              </a:rPr>
              <a:t>t</a:t>
            </a:r>
            <a:r>
              <a:rPr lang="en-US" altLang="zh-CN" sz="1800" i="1" baseline="30000">
                <a:solidFill>
                  <a:srgbClr val="0000FF"/>
                </a:solidFill>
                <a:ea typeface="华文中宋" pitchFamily="2" charset="-122"/>
              </a:rPr>
              <a:t>/</a:t>
            </a:r>
            <a:r>
              <a:rPr lang="en-US" altLang="zh-CN" sz="1800">
                <a:solidFill>
                  <a:srgbClr val="0000FF"/>
                </a:solidFill>
                <a:ea typeface="华文中宋" pitchFamily="2" charset="-122"/>
                <a:sym typeface="Symbol" pitchFamily="18" charset="2"/>
              </a:rPr>
              <a:t></a:t>
            </a:r>
            <a:r>
              <a:rPr lang="en-US" altLang="zh-CN" sz="1800">
                <a:solidFill>
                  <a:srgbClr val="0000FF"/>
                </a:solidFill>
                <a:ea typeface="华文中宋" pitchFamily="2" charset="-122"/>
              </a:rPr>
              <a:t>0 </a:t>
            </a:r>
            <a:r>
              <a:rPr lang="zh-CN" altLang="en-US" sz="1800">
                <a:ea typeface="华文中宋" pitchFamily="2" charset="-122"/>
              </a:rPr>
              <a:t>。</a:t>
            </a:r>
            <a:endParaRPr lang="zh-CN" altLang="en-US" sz="1800" b="0">
              <a:ea typeface="华文中宋" pitchFamily="2" charset="-122"/>
            </a:endParaRPr>
          </a:p>
        </p:txBody>
      </p:sp>
      <p:sp>
        <p:nvSpPr>
          <p:cNvPr id="32" name="Text Box 7"/>
          <p:cNvSpPr txBox="1">
            <a:spLocks noChangeArrowheads="1"/>
          </p:cNvSpPr>
          <p:nvPr/>
        </p:nvSpPr>
        <p:spPr bwMode="auto">
          <a:xfrm>
            <a:off x="1504950" y="3454400"/>
            <a:ext cx="54467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即两事件的时序完全可能颠倒。</a:t>
            </a:r>
            <a:endParaRPr lang="zh-CN" altLang="en-US" sz="1800" b="0">
              <a:ea typeface="华文中宋" pitchFamily="2" charset="-122"/>
            </a:endParaRPr>
          </a:p>
        </p:txBody>
      </p:sp>
      <p:sp>
        <p:nvSpPr>
          <p:cNvPr id="33" name="Text Box 8"/>
          <p:cNvSpPr txBox="1">
            <a:spLocks noChangeArrowheads="1"/>
          </p:cNvSpPr>
          <p:nvPr/>
        </p:nvSpPr>
        <p:spPr bwMode="auto">
          <a:xfrm>
            <a:off x="755650" y="4067175"/>
            <a:ext cx="5226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buFontTx/>
              <a:buChar char="•"/>
            </a:pPr>
            <a:r>
              <a:rPr lang="zh-CN" altLang="en-US" sz="1800">
                <a:ea typeface="华文中宋" pitchFamily="2" charset="-122"/>
              </a:rPr>
              <a:t> 假若小</a:t>
            </a:r>
            <a:r>
              <a:rPr lang="en-US" altLang="zh-CN" sz="1800">
                <a:ea typeface="华文中宋" pitchFamily="2" charset="-122"/>
              </a:rPr>
              <a:t>A</a:t>
            </a:r>
            <a:r>
              <a:rPr lang="zh-CN" altLang="en-US" sz="1800">
                <a:ea typeface="华文中宋" pitchFamily="2" charset="-122"/>
              </a:rPr>
              <a:t>，小</a:t>
            </a:r>
            <a:r>
              <a:rPr lang="en-US" altLang="zh-CN" sz="1800">
                <a:ea typeface="华文中宋" pitchFamily="2" charset="-122"/>
              </a:rPr>
              <a:t>B</a:t>
            </a:r>
            <a:r>
              <a:rPr lang="zh-CN" altLang="en-US" sz="1800">
                <a:ea typeface="华文中宋" pitchFamily="2" charset="-122"/>
              </a:rPr>
              <a:t>是一母所生呢？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
                                            <p:txEl>
                                              <p:pRg st="0" end="0"/>
                                            </p:txEl>
                                          </p:spTgt>
                                        </p:tgtEl>
                                        <p:attrNameLst>
                                          <p:attrName>style.visibility</p:attrName>
                                        </p:attrNameLst>
                                      </p:cBhvr>
                                      <p:to>
                                        <p:strVal val="visible"/>
                                      </p:to>
                                    </p:set>
                                    <p:animEffect transition="in" filter="wipe(left)">
                                      <p:cBhvr>
                                        <p:cTn id="17" dur="500"/>
                                        <p:tgtEl>
                                          <p:spTgt spid="30">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P spid="30" grpId="0" build="p" autoUpdateAnimBg="0"/>
      <p:bldP spid="31" grpId="0" autoUpdateAnimBg="0"/>
      <p:bldP spid="32" grpId="0" autoUpdateAnimBg="0"/>
      <p:bldP spid="3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
          <p:cNvSpPr txBox="1">
            <a:spLocks noChangeArrowheads="1"/>
          </p:cNvSpPr>
          <p:nvPr/>
        </p:nvSpPr>
        <p:spPr bwMode="auto">
          <a:xfrm>
            <a:off x="1766888" y="793750"/>
            <a:ext cx="59007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lnSpc>
                <a:spcPct val="110000"/>
              </a:lnSpc>
            </a:pPr>
            <a:r>
              <a:rPr lang="zh-CN" altLang="en-US" sz="1800">
                <a:ea typeface="华文中宋" pitchFamily="2" charset="-122"/>
              </a:rPr>
              <a:t>而且母亲是位旅行家</a:t>
            </a:r>
            <a:r>
              <a:rPr lang="en-US" altLang="zh-CN" sz="1800">
                <a:ea typeface="华文中宋" pitchFamily="2" charset="-122"/>
              </a:rPr>
              <a:t>,</a:t>
            </a:r>
          </a:p>
          <a:p>
            <a:pPr eaLnBrk="1" hangingPunct="1">
              <a:lnSpc>
                <a:spcPct val="110000"/>
              </a:lnSpc>
            </a:pPr>
            <a:r>
              <a:rPr lang="en-US" altLang="zh-CN" sz="1800">
                <a:ea typeface="华文中宋" pitchFamily="2" charset="-122"/>
              </a:rPr>
              <a:t>                   </a:t>
            </a:r>
            <a:r>
              <a:rPr lang="zh-CN" altLang="en-US" sz="1800">
                <a:ea typeface="华文中宋" pitchFamily="2" charset="-122"/>
              </a:rPr>
              <a:t>在</a:t>
            </a:r>
            <a:r>
              <a:rPr lang="en-US" altLang="zh-CN" sz="1800">
                <a:ea typeface="华文中宋" pitchFamily="2" charset="-122"/>
              </a:rPr>
              <a:t>( </a:t>
            </a:r>
            <a:r>
              <a:rPr lang="en-US" altLang="zh-CN" sz="1800" i="1">
                <a:ea typeface="华文中宋" pitchFamily="2" charset="-122"/>
              </a:rPr>
              <a:t>x</a:t>
            </a:r>
            <a:r>
              <a:rPr lang="en-US" altLang="zh-CN" sz="1800" baseline="-25000">
                <a:ea typeface="华文中宋" pitchFamily="2" charset="-122"/>
              </a:rPr>
              <a:t>1</a:t>
            </a:r>
            <a:r>
              <a:rPr lang="zh-CN" altLang="en-US" sz="1800" baseline="-25000">
                <a:ea typeface="华文中宋" pitchFamily="2" charset="-122"/>
              </a:rPr>
              <a:t>，</a:t>
            </a:r>
            <a:r>
              <a:rPr lang="en-US" altLang="zh-CN" sz="1800" i="1">
                <a:ea typeface="华文中宋" pitchFamily="2" charset="-122"/>
              </a:rPr>
              <a:t>t</a:t>
            </a:r>
            <a:r>
              <a:rPr lang="en-US" altLang="zh-CN" sz="1800" baseline="-25000">
                <a:ea typeface="华文中宋" pitchFamily="2" charset="-122"/>
              </a:rPr>
              <a:t>1</a:t>
            </a:r>
            <a:r>
              <a:rPr lang="en-US" altLang="zh-CN" sz="1800">
                <a:ea typeface="华文中宋" pitchFamily="2" charset="-122"/>
              </a:rPr>
              <a:t>) </a:t>
            </a:r>
            <a:r>
              <a:rPr lang="zh-CN" altLang="en-US" sz="1800">
                <a:ea typeface="华文中宋" pitchFamily="2" charset="-122"/>
              </a:rPr>
              <a:t>生了</a:t>
            </a:r>
            <a:r>
              <a:rPr lang="zh-CN" altLang="en-US" sz="1800">
                <a:solidFill>
                  <a:srgbClr val="FF0000"/>
                </a:solidFill>
                <a:ea typeface="华文中宋" pitchFamily="2" charset="-122"/>
              </a:rPr>
              <a:t>小</a:t>
            </a:r>
            <a:r>
              <a:rPr lang="en-US" altLang="zh-CN" sz="1800">
                <a:solidFill>
                  <a:srgbClr val="FF0000"/>
                </a:solidFill>
                <a:ea typeface="华文中宋" pitchFamily="2" charset="-122"/>
              </a:rPr>
              <a:t>A</a:t>
            </a:r>
            <a:r>
              <a:rPr lang="zh-CN" altLang="en-US" sz="1800">
                <a:solidFill>
                  <a:srgbClr val="FF0000"/>
                </a:solidFill>
                <a:ea typeface="华文中宋" pitchFamily="2" charset="-122"/>
              </a:rPr>
              <a:t>，</a:t>
            </a:r>
            <a:r>
              <a:rPr lang="zh-CN" altLang="en-US" sz="1800">
                <a:ea typeface="华文中宋" pitchFamily="2" charset="-122"/>
              </a:rPr>
              <a:t> </a:t>
            </a:r>
          </a:p>
          <a:p>
            <a:pPr eaLnBrk="1" hangingPunct="1">
              <a:lnSpc>
                <a:spcPct val="110000"/>
              </a:lnSpc>
            </a:pPr>
            <a:r>
              <a:rPr lang="zh-CN" altLang="en-US" sz="1800">
                <a:ea typeface="华文中宋" pitchFamily="2" charset="-122"/>
              </a:rPr>
              <a:t>                   在 </a:t>
            </a:r>
            <a:r>
              <a:rPr lang="en-US" altLang="zh-CN" sz="1800">
                <a:ea typeface="华文中宋" pitchFamily="2" charset="-122"/>
              </a:rPr>
              <a:t>(</a:t>
            </a:r>
            <a:r>
              <a:rPr lang="en-US" altLang="zh-CN" sz="1800" i="1">
                <a:ea typeface="华文中宋" pitchFamily="2" charset="-122"/>
              </a:rPr>
              <a:t>x</a:t>
            </a:r>
            <a:r>
              <a:rPr lang="en-US" altLang="zh-CN" sz="1800" baseline="-25000">
                <a:ea typeface="华文中宋" pitchFamily="2" charset="-122"/>
              </a:rPr>
              <a:t>2</a:t>
            </a:r>
            <a:r>
              <a:rPr lang="zh-CN" altLang="en-US" sz="1800" baseline="-25000">
                <a:ea typeface="华文中宋" pitchFamily="2" charset="-122"/>
              </a:rPr>
              <a:t>，</a:t>
            </a:r>
            <a:r>
              <a:rPr lang="en-US" altLang="zh-CN" sz="1800" i="1">
                <a:ea typeface="华文中宋" pitchFamily="2" charset="-122"/>
              </a:rPr>
              <a:t>t</a:t>
            </a:r>
            <a:r>
              <a:rPr lang="en-US" altLang="zh-CN" sz="1800" baseline="-25000">
                <a:ea typeface="华文中宋" pitchFamily="2" charset="-122"/>
              </a:rPr>
              <a:t>2 </a:t>
            </a:r>
            <a:r>
              <a:rPr lang="en-US" altLang="zh-CN" sz="1800">
                <a:ea typeface="华文中宋" pitchFamily="2" charset="-122"/>
              </a:rPr>
              <a:t>)</a:t>
            </a:r>
            <a:r>
              <a:rPr lang="zh-CN" altLang="en-US" sz="1800">
                <a:ea typeface="华文中宋" pitchFamily="2" charset="-122"/>
              </a:rPr>
              <a:t>生了</a:t>
            </a:r>
            <a:r>
              <a:rPr lang="zh-CN" altLang="en-US" sz="1800">
                <a:solidFill>
                  <a:srgbClr val="FF0000"/>
                </a:solidFill>
                <a:ea typeface="华文中宋" pitchFamily="2" charset="-122"/>
              </a:rPr>
              <a:t>小</a:t>
            </a:r>
            <a:r>
              <a:rPr lang="en-US" altLang="zh-CN" sz="1800">
                <a:solidFill>
                  <a:srgbClr val="FF0000"/>
                </a:solidFill>
                <a:ea typeface="华文中宋" pitchFamily="2" charset="-122"/>
              </a:rPr>
              <a:t>B</a:t>
            </a:r>
            <a:r>
              <a:rPr lang="zh-CN" altLang="en-US" sz="1800">
                <a:solidFill>
                  <a:srgbClr val="FF0000"/>
                </a:solidFill>
                <a:ea typeface="华文中宋" pitchFamily="2" charset="-122"/>
              </a:rPr>
              <a:t>。</a:t>
            </a:r>
            <a:endParaRPr lang="zh-CN" altLang="en-US" sz="1800" b="0">
              <a:ea typeface="华文中宋" pitchFamily="2" charset="-122"/>
            </a:endParaRPr>
          </a:p>
        </p:txBody>
      </p:sp>
      <p:sp>
        <p:nvSpPr>
          <p:cNvPr id="11" name="Text Box 3"/>
          <p:cNvSpPr txBox="1">
            <a:spLocks noChangeArrowheads="1"/>
          </p:cNvSpPr>
          <p:nvPr/>
        </p:nvSpPr>
        <p:spPr bwMode="auto">
          <a:xfrm>
            <a:off x="2041525" y="1914525"/>
            <a:ext cx="3554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0000"/>
                </a:solidFill>
                <a:ea typeface="华文中宋" pitchFamily="2" charset="-122"/>
              </a:rPr>
              <a:t>这时时序就不应颠倒了！</a:t>
            </a:r>
            <a:endParaRPr lang="zh-CN" altLang="en-US" sz="1800" b="0">
              <a:solidFill>
                <a:srgbClr val="FF0000"/>
              </a:solidFill>
              <a:ea typeface="华文中宋" pitchFamily="2" charset="-122"/>
            </a:endParaRPr>
          </a:p>
        </p:txBody>
      </p:sp>
      <p:graphicFrame>
        <p:nvGraphicFramePr>
          <p:cNvPr id="2" name="对象 1"/>
          <p:cNvGraphicFramePr>
            <a:graphicFrameLocks noChangeAspect="1"/>
          </p:cNvGraphicFramePr>
          <p:nvPr/>
        </p:nvGraphicFramePr>
        <p:xfrm>
          <a:off x="2847975" y="2316163"/>
          <a:ext cx="3630613" cy="649287"/>
        </p:xfrm>
        <a:graphic>
          <a:graphicData uri="http://schemas.openxmlformats.org/presentationml/2006/ole">
            <mc:AlternateContent xmlns:mc="http://schemas.openxmlformats.org/markup-compatibility/2006">
              <mc:Choice xmlns:v="urn:schemas-microsoft-com:vml" Requires="v">
                <p:oleObj spid="_x0000_s60427" name="公式" r:id="rId3" imgW="1879600" imgH="482600" progId="Equation.3">
                  <p:embed/>
                </p:oleObj>
              </mc:Choice>
              <mc:Fallback>
                <p:oleObj name="公式" r:id="rId3" imgW="1879600" imgH="482600" progId="Equation.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7975" y="2316163"/>
                        <a:ext cx="3630613"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10"/>
          <p:cNvGrpSpPr>
            <a:grpSpLocks/>
          </p:cNvGrpSpPr>
          <p:nvPr/>
        </p:nvGrpSpPr>
        <p:grpSpPr bwMode="auto">
          <a:xfrm>
            <a:off x="2797175" y="3141663"/>
            <a:ext cx="3717925" cy="620712"/>
            <a:chOff x="1309" y="2424"/>
            <a:chExt cx="2342" cy="521"/>
          </a:xfrm>
        </p:grpSpPr>
        <p:sp>
          <p:nvSpPr>
            <p:cNvPr id="60423" name="Text Box 5"/>
            <p:cNvSpPr txBox="1">
              <a:spLocks noChangeArrowheads="1"/>
            </p:cNvSpPr>
            <p:nvPr/>
          </p:nvSpPr>
          <p:spPr bwMode="auto">
            <a:xfrm>
              <a:off x="1309" y="2544"/>
              <a:ext cx="2342"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将上式中的                 记作</a:t>
              </a:r>
              <a:r>
                <a:rPr lang="en-US" altLang="zh-CN" sz="1800" i="1">
                  <a:ea typeface="华文中宋" pitchFamily="2" charset="-122"/>
                </a:rPr>
                <a:t>u</a:t>
              </a:r>
              <a:r>
                <a:rPr lang="en-US" altLang="zh-CN" sz="1800" i="1" baseline="-25000">
                  <a:ea typeface="华文中宋" pitchFamily="2" charset="-122"/>
                </a:rPr>
                <a:t>x </a:t>
              </a:r>
              <a:r>
                <a:rPr lang="en-US" altLang="zh-CN" sz="1800" i="1">
                  <a:ea typeface="华文中宋" pitchFamily="2" charset="-122"/>
                </a:rPr>
                <a:t>,</a:t>
              </a:r>
              <a:endParaRPr lang="en-US" altLang="zh-CN" sz="1800">
                <a:ea typeface="华文中宋" pitchFamily="2" charset="-122"/>
              </a:endParaRPr>
            </a:p>
          </p:txBody>
        </p:sp>
        <p:graphicFrame>
          <p:nvGraphicFramePr>
            <p:cNvPr id="60424" name="对象 2"/>
            <p:cNvGraphicFramePr>
              <a:graphicFrameLocks noChangeAspect="1"/>
            </p:cNvGraphicFramePr>
            <p:nvPr/>
          </p:nvGraphicFramePr>
          <p:xfrm>
            <a:off x="2103" y="2424"/>
            <a:ext cx="596" cy="521"/>
          </p:xfrm>
          <a:graphic>
            <a:graphicData uri="http://schemas.openxmlformats.org/presentationml/2006/ole">
              <mc:AlternateContent xmlns:mc="http://schemas.openxmlformats.org/markup-compatibility/2006">
                <mc:Choice xmlns:v="urn:schemas-microsoft-com:vml" Requires="v">
                  <p:oleObj spid="_x0000_s60428" name="公式" r:id="rId5" imgW="507780" imgH="444307" progId="Equation.3">
                    <p:embed/>
                  </p:oleObj>
                </mc:Choice>
                <mc:Fallback>
                  <p:oleObj name="公式" r:id="rId5" imgW="507780" imgH="444307" progId="Equation.3">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3" y="2424"/>
                          <a:ext cx="596" cy="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 name="Text Box 7"/>
          <p:cNvSpPr txBox="1">
            <a:spLocks noChangeArrowheads="1"/>
          </p:cNvSpPr>
          <p:nvPr/>
        </p:nvSpPr>
        <p:spPr bwMode="auto">
          <a:xfrm>
            <a:off x="2378075" y="3867150"/>
            <a:ext cx="4138613" cy="703263"/>
          </a:xfrm>
          <a:prstGeom prst="rect">
            <a:avLst/>
          </a:prstGeom>
          <a:noFill/>
          <a:ln w="19050">
            <a:solidFill>
              <a:srgbClr val="FF0000"/>
            </a:solidFill>
            <a:prstDash val="sys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lnSpc>
                <a:spcPct val="110000"/>
              </a:lnSpc>
            </a:pPr>
            <a:r>
              <a:rPr lang="zh-CN" altLang="en-US" sz="1800">
                <a:ea typeface="华文中宋" pitchFamily="2" charset="-122"/>
              </a:rPr>
              <a:t>这时，它是有物理意义的：</a:t>
            </a:r>
          </a:p>
          <a:p>
            <a:pPr eaLnBrk="1" hangingPunct="1">
              <a:lnSpc>
                <a:spcPct val="110000"/>
              </a:lnSpc>
            </a:pPr>
            <a:r>
              <a:rPr lang="zh-CN" altLang="en-US" sz="1800">
                <a:ea typeface="华文中宋" pitchFamily="2" charset="-122"/>
              </a:rPr>
              <a:t>                  </a:t>
            </a:r>
            <a:r>
              <a:rPr lang="en-US" altLang="zh-CN" sz="1800">
                <a:ea typeface="华文中宋" pitchFamily="2" charset="-122"/>
              </a:rPr>
              <a:t>——</a:t>
            </a:r>
            <a:r>
              <a:rPr lang="zh-CN" altLang="en-US" sz="1800">
                <a:ea typeface="华文中宋" pitchFamily="2" charset="-122"/>
              </a:rPr>
              <a:t>母亲旅行的平均速度。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1" grpId="0" autoUpdateAnimBg="0"/>
      <p:bldP spid="12"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116013" y="1266825"/>
            <a:ext cx="18272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00FF"/>
                </a:solidFill>
                <a:ea typeface="华文中宋" pitchFamily="2" charset="-122"/>
              </a:rPr>
              <a:t>1</a:t>
            </a:r>
            <a:r>
              <a:rPr lang="zh-CN" altLang="en-US" sz="1800">
                <a:solidFill>
                  <a:srgbClr val="0000FF"/>
                </a:solidFill>
                <a:ea typeface="华文中宋" pitchFamily="2" charset="-122"/>
              </a:rPr>
              <a:t>、质速关系</a:t>
            </a:r>
          </a:p>
        </p:txBody>
      </p:sp>
      <p:sp>
        <p:nvSpPr>
          <p:cNvPr id="60419" name="Text Box 3"/>
          <p:cNvSpPr txBox="1">
            <a:spLocks noChangeArrowheads="1"/>
          </p:cNvSpPr>
          <p:nvPr/>
        </p:nvSpPr>
        <p:spPr bwMode="auto">
          <a:xfrm>
            <a:off x="203200" y="1493838"/>
            <a:ext cx="8636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在</a:t>
            </a:r>
            <a:r>
              <a:rPr lang="en-US" altLang="zh-CN" sz="1800" i="1">
                <a:ea typeface="华文中宋" pitchFamily="2" charset="-122"/>
              </a:rPr>
              <a:t>S</a:t>
            </a:r>
            <a:r>
              <a:rPr lang="en-US" altLang="zh-CN" sz="1800">
                <a:ea typeface="华文中宋" pitchFamily="2" charset="-122"/>
              </a:rPr>
              <a:t>’</a:t>
            </a:r>
            <a:r>
              <a:rPr lang="zh-CN" altLang="en-US" sz="1800">
                <a:ea typeface="华文中宋" pitchFamily="2" charset="-122"/>
              </a:rPr>
              <a:t>系中有两个</a:t>
            </a:r>
            <a:r>
              <a:rPr lang="zh-CN" altLang="en-US" sz="1800">
                <a:solidFill>
                  <a:srgbClr val="FF0000"/>
                </a:solidFill>
                <a:ea typeface="华文中宋" pitchFamily="2" charset="-122"/>
              </a:rPr>
              <a:t>全同粒子</a:t>
            </a:r>
            <a:r>
              <a:rPr lang="en-US" altLang="zh-CN" sz="1800">
                <a:solidFill>
                  <a:srgbClr val="FF0000"/>
                </a:solidFill>
                <a:ea typeface="华文中宋" pitchFamily="2" charset="-122"/>
              </a:rPr>
              <a:t>A</a:t>
            </a:r>
            <a:r>
              <a:rPr lang="zh-CN" altLang="en-US" sz="1800">
                <a:solidFill>
                  <a:srgbClr val="FF0000"/>
                </a:solidFill>
                <a:ea typeface="华文中宋" pitchFamily="2" charset="-122"/>
              </a:rPr>
              <a:t>、</a:t>
            </a:r>
            <a:r>
              <a:rPr lang="en-US" altLang="zh-CN" sz="1800">
                <a:solidFill>
                  <a:srgbClr val="FF0000"/>
                </a:solidFill>
                <a:ea typeface="华文中宋" pitchFamily="2" charset="-122"/>
              </a:rPr>
              <a:t>B</a:t>
            </a:r>
            <a:r>
              <a:rPr lang="zh-CN" altLang="en-US" sz="1800">
                <a:ea typeface="华文中宋" pitchFamily="2" charset="-122"/>
              </a:rPr>
              <a:t>，分别沿</a:t>
            </a:r>
            <a:r>
              <a:rPr lang="en-US" altLang="zh-CN" sz="1800" i="1">
                <a:ea typeface="华文中宋" pitchFamily="2" charset="-122"/>
              </a:rPr>
              <a:t>X</a:t>
            </a:r>
            <a:r>
              <a:rPr lang="en-US" altLang="zh-CN" sz="1800">
                <a:ea typeface="华文中宋" pitchFamily="2" charset="-122"/>
              </a:rPr>
              <a:t>’</a:t>
            </a:r>
            <a:r>
              <a:rPr lang="zh-CN" altLang="en-US" sz="1800">
                <a:ea typeface="华文中宋" pitchFamily="2" charset="-122"/>
              </a:rPr>
              <a:t>轴以相对于</a:t>
            </a:r>
            <a:r>
              <a:rPr lang="en-US" altLang="zh-CN" sz="1800" i="1">
                <a:ea typeface="华文中宋" pitchFamily="2" charset="-122"/>
              </a:rPr>
              <a:t>S</a:t>
            </a:r>
            <a:r>
              <a:rPr lang="en-US" altLang="zh-CN" sz="1800">
                <a:ea typeface="华文中宋" pitchFamily="2" charset="-122"/>
              </a:rPr>
              <a:t> ’</a:t>
            </a:r>
            <a:r>
              <a:rPr lang="zh-CN" altLang="en-US" sz="1800">
                <a:ea typeface="华文中宋" pitchFamily="2" charset="-122"/>
              </a:rPr>
              <a:t>系速度为</a:t>
            </a:r>
            <a:r>
              <a:rPr lang="en-US" altLang="zh-CN" sz="1800" i="1">
                <a:ea typeface="华文中宋" pitchFamily="2" charset="-122"/>
              </a:rPr>
              <a:t>u</a:t>
            </a:r>
            <a:r>
              <a:rPr lang="zh-CN" altLang="en-US" sz="1800">
                <a:ea typeface="华文中宋" pitchFamily="2" charset="-122"/>
              </a:rPr>
              <a:t>和</a:t>
            </a:r>
            <a:r>
              <a:rPr lang="en-US" altLang="zh-CN" sz="1800">
                <a:ea typeface="华文中宋" pitchFamily="2" charset="-122"/>
              </a:rPr>
              <a:t>-</a:t>
            </a:r>
            <a:r>
              <a:rPr lang="en-US" altLang="zh-CN" sz="1800" i="1">
                <a:ea typeface="华文中宋" pitchFamily="2" charset="-122"/>
              </a:rPr>
              <a:t>u</a:t>
            </a:r>
            <a:r>
              <a:rPr lang="zh-CN" altLang="en-US" sz="1800">
                <a:ea typeface="华文中宋" pitchFamily="2" charset="-122"/>
              </a:rPr>
              <a:t>相向运动并发生完全非弹性碰撞形成一复合粒子。</a:t>
            </a:r>
          </a:p>
        </p:txBody>
      </p:sp>
      <p:sp>
        <p:nvSpPr>
          <p:cNvPr id="60420" name="Text Box 4"/>
          <p:cNvSpPr txBox="1">
            <a:spLocks noChangeArrowheads="1"/>
          </p:cNvSpPr>
          <p:nvPr/>
        </p:nvSpPr>
        <p:spPr bwMode="auto">
          <a:xfrm>
            <a:off x="755650" y="3200400"/>
            <a:ext cx="4270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在</a:t>
            </a:r>
            <a:r>
              <a:rPr lang="en-US" altLang="zh-CN" sz="1800" i="1">
                <a:ea typeface="华文中宋" pitchFamily="2" charset="-122"/>
              </a:rPr>
              <a:t>S</a:t>
            </a:r>
            <a:r>
              <a:rPr lang="en-US" altLang="zh-CN" sz="1800">
                <a:ea typeface="华文中宋" pitchFamily="2" charset="-122"/>
              </a:rPr>
              <a:t> ’</a:t>
            </a:r>
            <a:r>
              <a:rPr lang="zh-CN" altLang="en-US" sz="1800">
                <a:ea typeface="华文中宋" pitchFamily="2" charset="-122"/>
              </a:rPr>
              <a:t>系中，运用动量守恒有：</a:t>
            </a:r>
          </a:p>
        </p:txBody>
      </p:sp>
      <p:graphicFrame>
        <p:nvGraphicFramePr>
          <p:cNvPr id="60421" name="Object 5"/>
          <p:cNvGraphicFramePr>
            <a:graphicFrameLocks noChangeAspect="1"/>
          </p:cNvGraphicFramePr>
          <p:nvPr/>
        </p:nvGraphicFramePr>
        <p:xfrm>
          <a:off x="3930650" y="3148013"/>
          <a:ext cx="4241800" cy="407987"/>
        </p:xfrm>
        <a:graphic>
          <a:graphicData uri="http://schemas.openxmlformats.org/presentationml/2006/ole">
            <mc:AlternateContent xmlns:mc="http://schemas.openxmlformats.org/markup-compatibility/2006">
              <mc:Choice xmlns:v="urn:schemas-microsoft-com:vml" Requires="v">
                <p:oleObj spid="_x0000_s61483" name="公式" r:id="rId5" imgW="1282700" imgH="165100" progId="Equation.3">
                  <p:embed/>
                </p:oleObj>
              </mc:Choice>
              <mc:Fallback>
                <p:oleObj name="公式" r:id="rId5" imgW="1282700" imgH="165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0650" y="3148013"/>
                        <a:ext cx="4241800" cy="407987"/>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2" name="Text Box 6"/>
          <p:cNvSpPr txBox="1">
            <a:spLocks noChangeArrowheads="1"/>
          </p:cNvSpPr>
          <p:nvPr/>
        </p:nvSpPr>
        <p:spPr bwMode="auto">
          <a:xfrm>
            <a:off x="827088" y="3579813"/>
            <a:ext cx="4889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en-US" altLang="zh-CN" sz="1800" i="1">
                <a:ea typeface="华文中宋" pitchFamily="2" charset="-122"/>
              </a:rPr>
              <a:t>v</a:t>
            </a:r>
            <a:r>
              <a:rPr lang="en-US" altLang="zh-CN" sz="1800" i="1" baseline="30000">
                <a:ea typeface="华文中宋" pitchFamily="2" charset="-122"/>
              </a:rPr>
              <a:t>’</a:t>
            </a:r>
            <a:r>
              <a:rPr lang="en-US" altLang="zh-CN" sz="1800" i="1">
                <a:ea typeface="华文中宋" pitchFamily="2" charset="-122"/>
              </a:rPr>
              <a:t>=</a:t>
            </a:r>
            <a:r>
              <a:rPr lang="en-US" altLang="zh-CN" sz="1800">
                <a:ea typeface="华文中宋" pitchFamily="2" charset="-122"/>
              </a:rPr>
              <a:t>0</a:t>
            </a:r>
            <a:r>
              <a:rPr lang="en-US" altLang="zh-CN" sz="1800" i="1">
                <a:ea typeface="华文中宋" pitchFamily="2" charset="-122"/>
              </a:rPr>
              <a:t>  </a:t>
            </a:r>
            <a:r>
              <a:rPr lang="zh-CN" altLang="en-US" sz="1800">
                <a:ea typeface="华文中宋" pitchFamily="2" charset="-122"/>
              </a:rPr>
              <a:t>即复合粒子相对于</a:t>
            </a:r>
            <a:r>
              <a:rPr lang="en-US" altLang="zh-CN" sz="1800" i="1">
                <a:ea typeface="华文中宋" pitchFamily="2" charset="-122"/>
              </a:rPr>
              <a:t>S</a:t>
            </a:r>
            <a:r>
              <a:rPr lang="en-US" altLang="zh-CN" sz="1800">
                <a:ea typeface="华文中宋" pitchFamily="2" charset="-122"/>
              </a:rPr>
              <a:t>’</a:t>
            </a:r>
            <a:r>
              <a:rPr lang="zh-CN" altLang="en-US" sz="1800">
                <a:ea typeface="华文中宋" pitchFamily="2" charset="-122"/>
              </a:rPr>
              <a:t>系静止。</a:t>
            </a:r>
          </a:p>
        </p:txBody>
      </p:sp>
      <p:grpSp>
        <p:nvGrpSpPr>
          <p:cNvPr id="2" name="Group 7"/>
          <p:cNvGrpSpPr>
            <a:grpSpLocks/>
          </p:cNvGrpSpPr>
          <p:nvPr/>
        </p:nvGrpSpPr>
        <p:grpSpPr bwMode="auto">
          <a:xfrm>
            <a:off x="3563938" y="2103438"/>
            <a:ext cx="4752975" cy="1031875"/>
            <a:chOff x="1202" y="1695"/>
            <a:chExt cx="3433" cy="1002"/>
          </a:xfrm>
        </p:grpSpPr>
        <p:graphicFrame>
          <p:nvGraphicFramePr>
            <p:cNvPr id="61451" name="Object 29"/>
            <p:cNvGraphicFramePr>
              <a:graphicFrameLocks noChangeAspect="1"/>
            </p:cNvGraphicFramePr>
            <p:nvPr/>
          </p:nvGraphicFramePr>
          <p:xfrm>
            <a:off x="2976" y="1706"/>
            <a:ext cx="231" cy="273"/>
          </p:xfrm>
          <a:graphic>
            <a:graphicData uri="http://schemas.openxmlformats.org/presentationml/2006/ole">
              <mc:AlternateContent xmlns:mc="http://schemas.openxmlformats.org/markup-compatibility/2006">
                <mc:Choice xmlns:v="urn:schemas-microsoft-com:vml" Requires="v">
                  <p:oleObj spid="_x0000_s61484" name="公式" r:id="rId7" imgW="114151" imgH="152202" progId="Equation.3">
                    <p:embed/>
                  </p:oleObj>
                </mc:Choice>
                <mc:Fallback>
                  <p:oleObj name="公式" r:id="rId7" imgW="114151" imgH="152202"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6" y="1706"/>
                          <a:ext cx="231"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2" name="Object 30"/>
            <p:cNvGraphicFramePr>
              <a:graphicFrameLocks noChangeAspect="1"/>
            </p:cNvGraphicFramePr>
            <p:nvPr/>
          </p:nvGraphicFramePr>
          <p:xfrm>
            <a:off x="3651" y="1706"/>
            <a:ext cx="318" cy="255"/>
          </p:xfrm>
          <a:graphic>
            <a:graphicData uri="http://schemas.openxmlformats.org/presentationml/2006/ole">
              <mc:AlternateContent xmlns:mc="http://schemas.openxmlformats.org/markup-compatibility/2006">
                <mc:Choice xmlns:v="urn:schemas-microsoft-com:vml" Requires="v">
                  <p:oleObj spid="_x0000_s61485" name="公式" r:id="rId9" imgW="164957" imgH="152268" progId="Equation.3">
                    <p:embed/>
                  </p:oleObj>
                </mc:Choice>
                <mc:Fallback>
                  <p:oleObj name="公式" r:id="rId9" imgW="164957" imgH="152268" progId="Equation.3">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1" y="1706"/>
                          <a:ext cx="318" cy="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3" name="Object 31"/>
            <p:cNvGraphicFramePr>
              <a:graphicFrameLocks noChangeAspect="1"/>
            </p:cNvGraphicFramePr>
            <p:nvPr/>
          </p:nvGraphicFramePr>
          <p:xfrm>
            <a:off x="2558" y="2042"/>
            <a:ext cx="322" cy="292"/>
          </p:xfrm>
          <a:graphic>
            <a:graphicData uri="http://schemas.openxmlformats.org/presentationml/2006/ole">
              <mc:AlternateContent xmlns:mc="http://schemas.openxmlformats.org/markup-compatibility/2006">
                <mc:Choice xmlns:v="urn:schemas-microsoft-com:vml" Requires="v">
                  <p:oleObj spid="_x0000_s61486" name="公式" r:id="rId11" imgW="203024" imgH="164957" progId="Equation.3">
                    <p:embed/>
                  </p:oleObj>
                </mc:Choice>
                <mc:Fallback>
                  <p:oleObj name="公式" r:id="rId11" imgW="203024" imgH="164957" progId="Equation.3">
                    <p:embed/>
                    <p:pic>
                      <p:nvPicPr>
                        <p:cNvPr id="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8" y="2042"/>
                          <a:ext cx="322"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4" name="Object 32"/>
            <p:cNvGraphicFramePr>
              <a:graphicFrameLocks noChangeAspect="1"/>
            </p:cNvGraphicFramePr>
            <p:nvPr/>
          </p:nvGraphicFramePr>
          <p:xfrm>
            <a:off x="4014" y="2069"/>
            <a:ext cx="286" cy="267"/>
          </p:xfrm>
          <a:graphic>
            <a:graphicData uri="http://schemas.openxmlformats.org/presentationml/2006/ole">
              <mc:AlternateContent xmlns:mc="http://schemas.openxmlformats.org/markup-compatibility/2006">
                <mc:Choice xmlns:v="urn:schemas-microsoft-com:vml" Requires="v">
                  <p:oleObj spid="_x0000_s61487" name="公式" r:id="rId13" imgW="203024" imgH="164957" progId="Equation.3">
                    <p:embed/>
                  </p:oleObj>
                </mc:Choice>
                <mc:Fallback>
                  <p:oleObj name="公式" r:id="rId13" imgW="203024" imgH="164957"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14" y="2069"/>
                          <a:ext cx="28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55" name="Group 6"/>
            <p:cNvGrpSpPr>
              <a:grpSpLocks/>
            </p:cNvGrpSpPr>
            <p:nvPr/>
          </p:nvGrpSpPr>
          <p:grpSpPr bwMode="auto">
            <a:xfrm>
              <a:off x="1202" y="1695"/>
              <a:ext cx="3433" cy="1002"/>
              <a:chOff x="1202" y="1695"/>
              <a:chExt cx="3433" cy="1002"/>
            </a:xfrm>
          </p:grpSpPr>
          <p:graphicFrame>
            <p:nvGraphicFramePr>
              <p:cNvPr id="61456" name="Object 27"/>
              <p:cNvGraphicFramePr>
                <a:graphicFrameLocks noChangeAspect="1"/>
              </p:cNvGraphicFramePr>
              <p:nvPr/>
            </p:nvGraphicFramePr>
            <p:xfrm>
              <a:off x="1338" y="1706"/>
              <a:ext cx="243" cy="260"/>
            </p:xfrm>
            <a:graphic>
              <a:graphicData uri="http://schemas.openxmlformats.org/presentationml/2006/ole">
                <mc:AlternateContent xmlns:mc="http://schemas.openxmlformats.org/markup-compatibility/2006">
                  <mc:Choice xmlns:v="urn:schemas-microsoft-com:vml" Requires="v">
                    <p:oleObj spid="_x0000_s61488" name="公式" r:id="rId15" imgW="114201" imgH="139579" progId="Equation.3">
                      <p:embed/>
                    </p:oleObj>
                  </mc:Choice>
                  <mc:Fallback>
                    <p:oleObj name="公式" r:id="rId15" imgW="114201" imgH="139579" progId="Equation.3">
                      <p:embed/>
                      <p:pic>
                        <p:nvPicPr>
                          <p:cNvPr id="0"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8" y="1706"/>
                            <a:ext cx="243" cy="26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7" name="Object 28"/>
              <p:cNvGraphicFramePr>
                <a:graphicFrameLocks noChangeAspect="1"/>
              </p:cNvGraphicFramePr>
              <p:nvPr/>
            </p:nvGraphicFramePr>
            <p:xfrm>
              <a:off x="1927" y="1695"/>
              <a:ext cx="273" cy="238"/>
            </p:xfrm>
            <a:graphic>
              <a:graphicData uri="http://schemas.openxmlformats.org/presentationml/2006/ole">
                <mc:AlternateContent xmlns:mc="http://schemas.openxmlformats.org/markup-compatibility/2006">
                  <mc:Choice xmlns:v="urn:schemas-microsoft-com:vml" Requires="v">
                    <p:oleObj spid="_x0000_s61489" name="公式" r:id="rId17" imgW="139700" imgH="139700" progId="Equation.3">
                      <p:embed/>
                    </p:oleObj>
                  </mc:Choice>
                  <mc:Fallback>
                    <p:oleObj name="公式" r:id="rId17" imgW="139700" imgH="139700" progId="Equation.3">
                      <p:embed/>
                      <p:pic>
                        <p:nvPicPr>
                          <p:cNvPr id="0" name="Object 2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27" y="1695"/>
                            <a:ext cx="273" cy="2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1458" name="Group 12"/>
              <p:cNvGrpSpPr>
                <a:grpSpLocks/>
              </p:cNvGrpSpPr>
              <p:nvPr/>
            </p:nvGrpSpPr>
            <p:grpSpPr bwMode="auto">
              <a:xfrm>
                <a:off x="1202" y="1752"/>
                <a:ext cx="3433" cy="945"/>
                <a:chOff x="2837" y="5264"/>
                <a:chExt cx="3320" cy="1080"/>
              </a:xfrm>
            </p:grpSpPr>
            <p:grpSp>
              <p:nvGrpSpPr>
                <p:cNvPr id="61461" name="Group 13"/>
                <p:cNvGrpSpPr>
                  <a:grpSpLocks/>
                </p:cNvGrpSpPr>
                <p:nvPr/>
              </p:nvGrpSpPr>
              <p:grpSpPr bwMode="auto">
                <a:xfrm>
                  <a:off x="2837" y="5264"/>
                  <a:ext cx="2720" cy="1080"/>
                  <a:chOff x="2197" y="3960"/>
                  <a:chExt cx="2720" cy="1080"/>
                </a:xfrm>
              </p:grpSpPr>
              <p:sp>
                <p:nvSpPr>
                  <p:cNvPr id="61472" name="Line 14"/>
                  <p:cNvSpPr>
                    <a:spLocks noChangeShapeType="1"/>
                  </p:cNvSpPr>
                  <p:nvPr/>
                </p:nvSpPr>
                <p:spPr bwMode="auto">
                  <a:xfrm flipV="1">
                    <a:off x="2557" y="3960"/>
                    <a:ext cx="0" cy="80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3" name="Line 15"/>
                  <p:cNvSpPr>
                    <a:spLocks noChangeShapeType="1"/>
                  </p:cNvSpPr>
                  <p:nvPr/>
                </p:nvSpPr>
                <p:spPr bwMode="auto">
                  <a:xfrm>
                    <a:off x="2557" y="4760"/>
                    <a:ext cx="236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4" name="Line 16"/>
                  <p:cNvSpPr>
                    <a:spLocks noChangeShapeType="1"/>
                  </p:cNvSpPr>
                  <p:nvPr/>
                </p:nvSpPr>
                <p:spPr bwMode="auto">
                  <a:xfrm flipH="1">
                    <a:off x="2197" y="4760"/>
                    <a:ext cx="360" cy="28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462" name="Group 17"/>
                <p:cNvGrpSpPr>
                  <a:grpSpLocks/>
                </p:cNvGrpSpPr>
                <p:nvPr/>
              </p:nvGrpSpPr>
              <p:grpSpPr bwMode="auto">
                <a:xfrm>
                  <a:off x="3437" y="5264"/>
                  <a:ext cx="2720" cy="1080"/>
                  <a:chOff x="2197" y="3960"/>
                  <a:chExt cx="2720" cy="1080"/>
                </a:xfrm>
              </p:grpSpPr>
              <p:sp>
                <p:nvSpPr>
                  <p:cNvPr id="61469" name="Line 18"/>
                  <p:cNvSpPr>
                    <a:spLocks noChangeShapeType="1"/>
                  </p:cNvSpPr>
                  <p:nvPr/>
                </p:nvSpPr>
                <p:spPr bwMode="auto">
                  <a:xfrm flipV="1">
                    <a:off x="2557" y="3960"/>
                    <a:ext cx="0" cy="800"/>
                  </a:xfrm>
                  <a:prstGeom prst="line">
                    <a:avLst/>
                  </a:prstGeom>
                  <a:noFill/>
                  <a:ln w="2857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0" name="Line 19"/>
                  <p:cNvSpPr>
                    <a:spLocks noChangeShapeType="1"/>
                  </p:cNvSpPr>
                  <p:nvPr/>
                </p:nvSpPr>
                <p:spPr bwMode="auto">
                  <a:xfrm>
                    <a:off x="2557" y="4760"/>
                    <a:ext cx="2360" cy="0"/>
                  </a:xfrm>
                  <a:prstGeom prst="line">
                    <a:avLst/>
                  </a:prstGeom>
                  <a:noFill/>
                  <a:ln w="2857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1" name="Line 20"/>
                  <p:cNvSpPr>
                    <a:spLocks noChangeShapeType="1"/>
                  </p:cNvSpPr>
                  <p:nvPr/>
                </p:nvSpPr>
                <p:spPr bwMode="auto">
                  <a:xfrm flipH="1">
                    <a:off x="2197" y="4760"/>
                    <a:ext cx="360" cy="280"/>
                  </a:xfrm>
                  <a:prstGeom prst="line">
                    <a:avLst/>
                  </a:prstGeom>
                  <a:noFill/>
                  <a:ln w="28575">
                    <a:solidFill>
                      <a:srgbClr val="3366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463" name="Group 21"/>
                <p:cNvGrpSpPr>
                  <a:grpSpLocks/>
                </p:cNvGrpSpPr>
                <p:nvPr/>
              </p:nvGrpSpPr>
              <p:grpSpPr bwMode="auto">
                <a:xfrm>
                  <a:off x="4217" y="5444"/>
                  <a:ext cx="680" cy="180"/>
                  <a:chOff x="3637" y="4120"/>
                  <a:chExt cx="680" cy="180"/>
                </a:xfrm>
              </p:grpSpPr>
              <p:sp>
                <p:nvSpPr>
                  <p:cNvPr id="61467" name="Oval 22"/>
                  <p:cNvSpPr>
                    <a:spLocks noChangeArrowheads="1"/>
                  </p:cNvSpPr>
                  <p:nvPr/>
                </p:nvSpPr>
                <p:spPr bwMode="auto">
                  <a:xfrm>
                    <a:off x="3637" y="4120"/>
                    <a:ext cx="160" cy="180"/>
                  </a:xfrm>
                  <a:prstGeom prst="ellipse">
                    <a:avLst/>
                  </a:prstGeom>
                  <a:solidFill>
                    <a:srgbClr val="FF0000"/>
                  </a:solidFill>
                  <a:ln w="9525">
                    <a:solidFill>
                      <a:srgbClr val="000000"/>
                    </a:solidFill>
                    <a:round/>
                    <a:headEnd/>
                    <a:tailEnd/>
                  </a:ln>
                </p:spPr>
                <p:txBody>
                  <a:bodyPr/>
                  <a:lstStyle/>
                  <a:p>
                    <a:endParaRPr lang="zh-CN" altLang="en-US"/>
                  </a:p>
                </p:txBody>
              </p:sp>
              <p:sp>
                <p:nvSpPr>
                  <p:cNvPr id="61468" name="Line 23"/>
                  <p:cNvSpPr>
                    <a:spLocks noChangeShapeType="1"/>
                  </p:cNvSpPr>
                  <p:nvPr/>
                </p:nvSpPr>
                <p:spPr bwMode="auto">
                  <a:xfrm>
                    <a:off x="3797" y="4200"/>
                    <a:ext cx="52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1464" name="Group 24"/>
                <p:cNvGrpSpPr>
                  <a:grpSpLocks/>
                </p:cNvGrpSpPr>
                <p:nvPr/>
              </p:nvGrpSpPr>
              <p:grpSpPr bwMode="auto">
                <a:xfrm>
                  <a:off x="5057" y="5444"/>
                  <a:ext cx="720" cy="180"/>
                  <a:chOff x="4337" y="4140"/>
                  <a:chExt cx="720" cy="180"/>
                </a:xfrm>
              </p:grpSpPr>
              <p:sp>
                <p:nvSpPr>
                  <p:cNvPr id="61465" name="Oval 25"/>
                  <p:cNvSpPr>
                    <a:spLocks noChangeArrowheads="1"/>
                  </p:cNvSpPr>
                  <p:nvPr/>
                </p:nvSpPr>
                <p:spPr bwMode="auto">
                  <a:xfrm>
                    <a:off x="4897" y="4140"/>
                    <a:ext cx="160" cy="180"/>
                  </a:xfrm>
                  <a:prstGeom prst="ellipse">
                    <a:avLst/>
                  </a:prstGeom>
                  <a:solidFill>
                    <a:srgbClr val="0000FF"/>
                  </a:solidFill>
                  <a:ln w="9525">
                    <a:solidFill>
                      <a:srgbClr val="000000"/>
                    </a:solidFill>
                    <a:round/>
                    <a:headEnd/>
                    <a:tailEnd/>
                  </a:ln>
                </p:spPr>
                <p:txBody>
                  <a:bodyPr/>
                  <a:lstStyle/>
                  <a:p>
                    <a:endParaRPr lang="zh-CN" altLang="en-US"/>
                  </a:p>
                </p:txBody>
              </p:sp>
              <p:sp>
                <p:nvSpPr>
                  <p:cNvPr id="61466" name="Line 26"/>
                  <p:cNvSpPr>
                    <a:spLocks noChangeShapeType="1"/>
                  </p:cNvSpPr>
                  <p:nvPr/>
                </p:nvSpPr>
                <p:spPr bwMode="auto">
                  <a:xfrm flipH="1">
                    <a:off x="4337" y="4220"/>
                    <a:ext cx="56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61459" name="Line 33"/>
              <p:cNvSpPr>
                <a:spLocks noChangeShapeType="1"/>
              </p:cNvSpPr>
              <p:nvPr/>
            </p:nvSpPr>
            <p:spPr bwMode="auto">
              <a:xfrm>
                <a:off x="2247" y="1784"/>
                <a:ext cx="5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0" name="Text Box 34"/>
              <p:cNvSpPr txBox="1">
                <a:spLocks noChangeArrowheads="1"/>
              </p:cNvSpPr>
              <p:nvPr/>
            </p:nvSpPr>
            <p:spPr bwMode="auto">
              <a:xfrm>
                <a:off x="2367" y="1697"/>
                <a:ext cx="18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500" i="1">
                    <a:ea typeface="宋体" pitchFamily="2" charset="-122"/>
                  </a:rPr>
                  <a:t>u</a:t>
                </a:r>
              </a:p>
            </p:txBody>
          </p:sp>
        </p:grpSp>
      </p:grpSp>
      <p:sp>
        <p:nvSpPr>
          <p:cNvPr id="221192" name="Text Box 8"/>
          <p:cNvSpPr txBox="1">
            <a:spLocks noChangeArrowheads="1"/>
          </p:cNvSpPr>
          <p:nvPr/>
        </p:nvSpPr>
        <p:spPr bwMode="auto">
          <a:xfrm>
            <a:off x="827088" y="3940175"/>
            <a:ext cx="4178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这一过程在</a:t>
            </a:r>
            <a:r>
              <a:rPr lang="en-US" altLang="zh-CN" sz="1800" i="1">
                <a:ea typeface="华文中宋" pitchFamily="2" charset="-122"/>
              </a:rPr>
              <a:t>S</a:t>
            </a:r>
            <a:r>
              <a:rPr lang="zh-CN" altLang="en-US" sz="1800">
                <a:ea typeface="华文中宋" pitchFamily="2" charset="-122"/>
              </a:rPr>
              <a:t>系同样遵从动量守恒，即： </a:t>
            </a:r>
          </a:p>
        </p:txBody>
      </p:sp>
      <p:graphicFrame>
        <p:nvGraphicFramePr>
          <p:cNvPr id="221193" name="Object 9"/>
          <p:cNvGraphicFramePr>
            <a:graphicFrameLocks noChangeAspect="1"/>
          </p:cNvGraphicFramePr>
          <p:nvPr/>
        </p:nvGraphicFramePr>
        <p:xfrm>
          <a:off x="2555875" y="4227513"/>
          <a:ext cx="4464050" cy="412750"/>
        </p:xfrm>
        <a:graphic>
          <a:graphicData uri="http://schemas.openxmlformats.org/presentationml/2006/ole">
            <mc:AlternateContent xmlns:mc="http://schemas.openxmlformats.org/markup-compatibility/2006">
              <mc:Choice xmlns:v="urn:schemas-microsoft-com:vml" Requires="v">
                <p:oleObj spid="_x0000_s61490" name="公式" r:id="rId19" imgW="1333500" imgH="165100" progId="Equation.3">
                  <p:embed/>
                </p:oleObj>
              </mc:Choice>
              <mc:Fallback>
                <p:oleObj name="公式" r:id="rId19" imgW="1333500" imgH="165100" progId="Equation.3">
                  <p:embed/>
                  <p:pic>
                    <p:nvPicPr>
                      <p:cNvPr id="0" name="Object 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555875" y="4227513"/>
                        <a:ext cx="4464050" cy="41275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50" name="Text Box 2"/>
          <p:cNvSpPr>
            <a:spLocks noChangeArrowheads="1"/>
          </p:cNvSpPr>
          <p:nvPr/>
        </p:nvSpPr>
        <p:spPr bwMode="auto">
          <a:xfrm>
            <a:off x="582613" y="874713"/>
            <a:ext cx="2901950" cy="401637"/>
          </a:xfrm>
          <a:prstGeom prst="homePlate">
            <a:avLst>
              <a:gd name="adj" fmla="val 4970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一、相对论的质速关系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barn(inVertical)">
                                      <p:cBhvr>
                                        <p:cTn id="7" dur="500"/>
                                        <p:tgtEl>
                                          <p:spTgt spid="60418"/>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0419"/>
                                        </p:tgtEl>
                                        <p:attrNameLst>
                                          <p:attrName>style.visibility</p:attrName>
                                        </p:attrNameLst>
                                      </p:cBhvr>
                                      <p:to>
                                        <p:strVal val="visible"/>
                                      </p:to>
                                    </p:set>
                                    <p:animEffect transition="in" filter="barn(inVertical)">
                                      <p:cBhvr>
                                        <p:cTn id="12" dur="500"/>
                                        <p:tgtEl>
                                          <p:spTgt spid="60419"/>
                                        </p:tgtEl>
                                      </p:cBhvr>
                                    </p:animEffect>
                                  </p:childTnLst>
                                  <p:subTnLst>
                                    <p:audio>
                                      <p:cMediaNode>
                                        <p:cTn display="0" masterRel="sameClick">
                                          <p:stCondLst>
                                            <p:cond evt="begin" delay="0">
                                              <p:tn val="10"/>
                                            </p:cond>
                                          </p:stCondLst>
                                          <p:endCondLst>
                                            <p:cond evt="onStopAudio" delay="0">
                                              <p:tgtEl>
                                                <p:sldTgt/>
                                              </p:tgtEl>
                                            </p:cond>
                                          </p:endCondLst>
                                        </p:cTn>
                                        <p:tgtEl>
                                          <p:sndTgt r:embed="rId4"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0420"/>
                                        </p:tgtEl>
                                        <p:attrNameLst>
                                          <p:attrName>style.visibility</p:attrName>
                                        </p:attrNameLst>
                                      </p:cBhvr>
                                      <p:to>
                                        <p:strVal val="visible"/>
                                      </p:to>
                                    </p:set>
                                    <p:animEffect transition="in" filter="barn(inVertical)">
                                      <p:cBhvr>
                                        <p:cTn id="22" dur="500"/>
                                        <p:tgtEl>
                                          <p:spTgt spid="60420"/>
                                        </p:tgtEl>
                                      </p:cBhvr>
                                    </p:animEffect>
                                  </p:childTnLst>
                                  <p:subTnLst>
                                    <p:audio>
                                      <p:cMediaNode>
                                        <p:cTn display="0" masterRel="sameClick">
                                          <p:stCondLst>
                                            <p:cond evt="begin" delay="0">
                                              <p:tn val="20"/>
                                            </p:cond>
                                          </p:stCondLst>
                                          <p:endCondLst>
                                            <p:cond evt="onStopAudio" delay="0">
                                              <p:tgtEl>
                                                <p:sldTgt/>
                                              </p:tgtEl>
                                            </p:cond>
                                          </p:endCondLst>
                                        </p:cTn>
                                        <p:tgtEl>
                                          <p:sndTgt r:embed="rId4"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60421"/>
                                        </p:tgtEl>
                                        <p:attrNameLst>
                                          <p:attrName>style.visibility</p:attrName>
                                        </p:attrNameLst>
                                      </p:cBhvr>
                                      <p:to>
                                        <p:strVal val="visible"/>
                                      </p:to>
                                    </p:set>
                                    <p:animEffect transition="in" filter="barn(inVertical)">
                                      <p:cBhvr>
                                        <p:cTn id="27" dur="500"/>
                                        <p:tgtEl>
                                          <p:spTgt spid="60421"/>
                                        </p:tgtEl>
                                      </p:cBhvr>
                                    </p:animEffect>
                                  </p:childTnLst>
                                  <p:subTnLst>
                                    <p:audio>
                                      <p:cMediaNode>
                                        <p:cTn display="0" masterRel="sameClick">
                                          <p:stCondLst>
                                            <p:cond evt="begin" delay="0">
                                              <p:tn val="25"/>
                                            </p:cond>
                                          </p:stCondLst>
                                          <p:endCondLst>
                                            <p:cond evt="onStopAudio" delay="0">
                                              <p:tgtEl>
                                                <p:sldTgt/>
                                              </p:tgtEl>
                                            </p:cond>
                                          </p:endCondLst>
                                        </p:cTn>
                                        <p:tgtEl>
                                          <p:sndTgt r:embed="rId4"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60422"/>
                                        </p:tgtEl>
                                        <p:attrNameLst>
                                          <p:attrName>style.visibility</p:attrName>
                                        </p:attrNameLst>
                                      </p:cBhvr>
                                      <p:to>
                                        <p:strVal val="visible"/>
                                      </p:to>
                                    </p:set>
                                    <p:animEffect transition="in" filter="barn(inVertical)">
                                      <p:cBhvr>
                                        <p:cTn id="32" dur="500"/>
                                        <p:tgtEl>
                                          <p:spTgt spid="60422"/>
                                        </p:tgtEl>
                                      </p:cBhvr>
                                    </p:animEffect>
                                  </p:childTnLst>
                                  <p:subTnLst>
                                    <p:audio>
                                      <p:cMediaNode>
                                        <p:cTn display="0" masterRel="sameClick">
                                          <p:stCondLst>
                                            <p:cond evt="begin" delay="0">
                                              <p:tn val="30"/>
                                            </p:cond>
                                          </p:stCondLst>
                                          <p:endCondLst>
                                            <p:cond evt="onStopAudio" delay="0">
                                              <p:tgtEl>
                                                <p:sldTgt/>
                                              </p:tgtEl>
                                            </p:cond>
                                          </p:endCondLst>
                                        </p:cTn>
                                        <p:tgtEl>
                                          <p:sndTgt r:embed="rId4"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221192"/>
                                        </p:tgtEl>
                                        <p:attrNameLst>
                                          <p:attrName>style.visibility</p:attrName>
                                        </p:attrNameLst>
                                      </p:cBhvr>
                                      <p:to>
                                        <p:strVal val="visible"/>
                                      </p:to>
                                    </p:set>
                                    <p:anim calcmode="lin" valueType="num">
                                      <p:cBhvr>
                                        <p:cTn id="37" dur="500" fill="hold"/>
                                        <p:tgtEl>
                                          <p:spTgt spid="221192"/>
                                        </p:tgtEl>
                                        <p:attrNameLst>
                                          <p:attrName>ppt_w</p:attrName>
                                        </p:attrNameLst>
                                      </p:cBhvr>
                                      <p:tavLst>
                                        <p:tav tm="0">
                                          <p:val>
                                            <p:fltVal val="0"/>
                                          </p:val>
                                        </p:tav>
                                        <p:tav tm="100000">
                                          <p:val>
                                            <p:strVal val="#ppt_w"/>
                                          </p:val>
                                        </p:tav>
                                      </p:tavLst>
                                    </p:anim>
                                    <p:anim calcmode="lin" valueType="num">
                                      <p:cBhvr>
                                        <p:cTn id="38" dur="500" fill="hold"/>
                                        <p:tgtEl>
                                          <p:spTgt spid="22119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4" name="TYP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17" presetClass="entr" presetSubtype="10" fill="hold" nodeType="clickEffect">
                                  <p:stCondLst>
                                    <p:cond delay="0"/>
                                  </p:stCondLst>
                                  <p:childTnLst>
                                    <p:set>
                                      <p:cBhvr>
                                        <p:cTn id="42" dur="1" fill="hold">
                                          <p:stCondLst>
                                            <p:cond delay="0"/>
                                          </p:stCondLst>
                                        </p:cTn>
                                        <p:tgtEl>
                                          <p:spTgt spid="221193"/>
                                        </p:tgtEl>
                                        <p:attrNameLst>
                                          <p:attrName>style.visibility</p:attrName>
                                        </p:attrNameLst>
                                      </p:cBhvr>
                                      <p:to>
                                        <p:strVal val="visible"/>
                                      </p:to>
                                    </p:set>
                                    <p:anim calcmode="lin" valueType="num">
                                      <p:cBhvr>
                                        <p:cTn id="43" dur="500" fill="hold"/>
                                        <p:tgtEl>
                                          <p:spTgt spid="221193"/>
                                        </p:tgtEl>
                                        <p:attrNameLst>
                                          <p:attrName>ppt_w</p:attrName>
                                        </p:attrNameLst>
                                      </p:cBhvr>
                                      <p:tavLst>
                                        <p:tav tm="0">
                                          <p:val>
                                            <p:fltVal val="0"/>
                                          </p:val>
                                        </p:tav>
                                        <p:tav tm="100000">
                                          <p:val>
                                            <p:strVal val="#ppt_w"/>
                                          </p:val>
                                        </p:tav>
                                      </p:tavLst>
                                    </p:anim>
                                    <p:anim calcmode="lin" valueType="num">
                                      <p:cBhvr>
                                        <p:cTn id="44" dur="500" fill="hold"/>
                                        <p:tgtEl>
                                          <p:spTgt spid="22119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utoUpdateAnimBg="0"/>
      <p:bldP spid="60419" grpId="0" autoUpdateAnimBg="0"/>
      <p:bldP spid="60420" grpId="0" autoUpdateAnimBg="0"/>
      <p:bldP spid="60422" grpId="0" autoUpdateAnimBg="0"/>
      <p:bldP spid="221192"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3" name="Object 3"/>
          <p:cNvGraphicFramePr>
            <a:graphicFrameLocks noChangeAspect="1"/>
          </p:cNvGraphicFramePr>
          <p:nvPr/>
        </p:nvGraphicFramePr>
        <p:xfrm>
          <a:off x="971550" y="2409825"/>
          <a:ext cx="6726238" cy="719138"/>
        </p:xfrm>
        <a:graphic>
          <a:graphicData uri="http://schemas.openxmlformats.org/presentationml/2006/ole">
            <mc:AlternateContent xmlns:mc="http://schemas.openxmlformats.org/markup-compatibility/2006">
              <mc:Choice xmlns:v="urn:schemas-microsoft-com:vml" Requires="v">
                <p:oleObj spid="_x0000_s62493" name="公式" r:id="rId5" imgW="2819400" imgH="381000" progId="Equation.3">
                  <p:embed/>
                </p:oleObj>
              </mc:Choice>
              <mc:Fallback>
                <p:oleObj name="公式" r:id="rId5" imgW="2819400" imgH="381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2409825"/>
                        <a:ext cx="6726238" cy="71913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7"/>
          <p:cNvGrpSpPr>
            <a:grpSpLocks/>
          </p:cNvGrpSpPr>
          <p:nvPr/>
        </p:nvGrpSpPr>
        <p:grpSpPr bwMode="auto">
          <a:xfrm>
            <a:off x="4575175" y="3992563"/>
            <a:ext cx="4371975" cy="523875"/>
            <a:chOff x="521" y="2664"/>
            <a:chExt cx="2754" cy="440"/>
          </a:xfrm>
        </p:grpSpPr>
        <p:sp>
          <p:nvSpPr>
            <p:cNvPr id="62482" name="Text Box 5"/>
            <p:cNvSpPr txBox="1">
              <a:spLocks noChangeArrowheads="1"/>
            </p:cNvSpPr>
            <p:nvPr/>
          </p:nvSpPr>
          <p:spPr bwMode="auto">
            <a:xfrm>
              <a:off x="521" y="2701"/>
              <a:ext cx="2239" cy="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600">
                  <a:ea typeface="华文中宋" pitchFamily="2" charset="-122"/>
                </a:rPr>
                <a:t>碰后复合粒子的速度为：</a:t>
              </a:r>
            </a:p>
          </p:txBody>
        </p:sp>
        <p:graphicFrame>
          <p:nvGraphicFramePr>
            <p:cNvPr id="62483" name="Object 6"/>
            <p:cNvGraphicFramePr>
              <a:graphicFrameLocks noChangeAspect="1"/>
            </p:cNvGraphicFramePr>
            <p:nvPr/>
          </p:nvGraphicFramePr>
          <p:xfrm>
            <a:off x="1971" y="2664"/>
            <a:ext cx="1304" cy="440"/>
          </p:xfrm>
          <a:graphic>
            <a:graphicData uri="http://schemas.openxmlformats.org/presentationml/2006/ole">
              <mc:AlternateContent xmlns:mc="http://schemas.openxmlformats.org/markup-compatibility/2006">
                <mc:Choice xmlns:v="urn:schemas-microsoft-com:vml" Requires="v">
                  <p:oleObj spid="_x0000_s62494" name="公式" r:id="rId7" imgW="850531" imgH="330057" progId="Equation.3">
                    <p:embed/>
                  </p:oleObj>
                </mc:Choice>
                <mc:Fallback>
                  <p:oleObj name="公式" r:id="rId7" imgW="850531" imgH="330057"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1" y="2664"/>
                          <a:ext cx="1304"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61449" name="Object 9"/>
          <p:cNvGraphicFramePr>
            <a:graphicFrameLocks noChangeAspect="1"/>
          </p:cNvGraphicFramePr>
          <p:nvPr/>
        </p:nvGraphicFramePr>
        <p:xfrm>
          <a:off x="1476375" y="914400"/>
          <a:ext cx="5810250" cy="619125"/>
        </p:xfrm>
        <a:graphic>
          <a:graphicData uri="http://schemas.openxmlformats.org/presentationml/2006/ole">
            <mc:AlternateContent xmlns:mc="http://schemas.openxmlformats.org/markup-compatibility/2006">
              <mc:Choice xmlns:v="urn:schemas-microsoft-com:vml" Requires="v">
                <p:oleObj spid="_x0000_s62495" name="Equation" r:id="rId9" imgW="4711680" imgH="431640" progId="Equation.DSMT4">
                  <p:embed/>
                </p:oleObj>
              </mc:Choice>
              <mc:Fallback>
                <p:oleObj name="Equation" r:id="rId9" imgW="4711680" imgH="43164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914400"/>
                        <a:ext cx="5810250"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Group 16"/>
          <p:cNvGrpSpPr>
            <a:grpSpLocks/>
          </p:cNvGrpSpPr>
          <p:nvPr/>
        </p:nvGrpSpPr>
        <p:grpSpPr bwMode="auto">
          <a:xfrm>
            <a:off x="611188" y="1492250"/>
            <a:ext cx="5487987" cy="661988"/>
            <a:chOff x="385" y="1253"/>
            <a:chExt cx="3457" cy="556"/>
          </a:xfrm>
        </p:grpSpPr>
        <p:sp>
          <p:nvSpPr>
            <p:cNvPr id="62479" name="Text Box 2"/>
            <p:cNvSpPr txBox="1">
              <a:spLocks noChangeArrowheads="1"/>
            </p:cNvSpPr>
            <p:nvPr/>
          </p:nvSpPr>
          <p:spPr bwMode="auto">
            <a:xfrm>
              <a:off x="385" y="1266"/>
              <a:ext cx="3199"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buFont typeface="宋体" pitchFamily="2" charset="-122"/>
                <a:buNone/>
              </a:pPr>
              <a:r>
                <a:rPr lang="zh-CN" altLang="en-US" sz="1800">
                  <a:ea typeface="华文中宋" pitchFamily="2" charset="-122"/>
                </a:rPr>
                <a:t>在</a:t>
              </a:r>
              <a:r>
                <a:rPr lang="en-US" altLang="zh-CN" sz="1800" i="1">
                  <a:ea typeface="华文中宋" pitchFamily="2" charset="-122"/>
                </a:rPr>
                <a:t>S</a:t>
              </a:r>
              <a:r>
                <a:rPr lang="en-US" altLang="zh-CN" sz="1800">
                  <a:ea typeface="华文中宋" pitchFamily="2" charset="-122"/>
                </a:rPr>
                <a:t>’</a:t>
              </a:r>
              <a:r>
                <a:rPr lang="zh-CN" altLang="en-US" sz="1800">
                  <a:ea typeface="华文中宋" pitchFamily="2" charset="-122"/>
                </a:rPr>
                <a:t>系中，碰前两粒子的速度为：</a:t>
              </a:r>
            </a:p>
            <a:p>
              <a:pPr eaLnBrk="1" hangingPunct="1">
                <a:buFont typeface="宋体" pitchFamily="2" charset="-122"/>
                <a:buNone/>
              </a:pPr>
              <a:r>
                <a:rPr lang="zh-CN" altLang="en-US" sz="1800">
                  <a:ea typeface="华文中宋" pitchFamily="2" charset="-122"/>
                </a:rPr>
                <a:t>                    碰后复合粒子的速度为：</a:t>
              </a:r>
            </a:p>
          </p:txBody>
        </p:sp>
        <p:graphicFrame>
          <p:nvGraphicFramePr>
            <p:cNvPr id="62480" name="Object 12"/>
            <p:cNvGraphicFramePr>
              <a:graphicFrameLocks noChangeAspect="1"/>
            </p:cNvGraphicFramePr>
            <p:nvPr/>
          </p:nvGraphicFramePr>
          <p:xfrm>
            <a:off x="2562" y="1253"/>
            <a:ext cx="1280" cy="269"/>
          </p:xfrm>
          <a:graphic>
            <a:graphicData uri="http://schemas.openxmlformats.org/presentationml/2006/ole">
              <mc:AlternateContent xmlns:mc="http://schemas.openxmlformats.org/markup-compatibility/2006">
                <mc:Choice xmlns:v="urn:schemas-microsoft-com:vml" Requires="v">
                  <p:oleObj spid="_x0000_s62496" name="公式" r:id="rId11" imgW="787058" imgH="165028" progId="Equation.3">
                    <p:embed/>
                  </p:oleObj>
                </mc:Choice>
                <mc:Fallback>
                  <p:oleObj name="公式" r:id="rId11" imgW="787058" imgH="165028"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62" y="1253"/>
                          <a:ext cx="1280" cy="2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81" name="Object 13"/>
            <p:cNvGraphicFramePr>
              <a:graphicFrameLocks noChangeAspect="1"/>
            </p:cNvGraphicFramePr>
            <p:nvPr/>
          </p:nvGraphicFramePr>
          <p:xfrm>
            <a:off x="2871" y="1525"/>
            <a:ext cx="508" cy="242"/>
          </p:xfrm>
          <a:graphic>
            <a:graphicData uri="http://schemas.openxmlformats.org/presentationml/2006/ole">
              <mc:AlternateContent xmlns:mc="http://schemas.openxmlformats.org/markup-compatibility/2006">
                <mc:Choice xmlns:v="urn:schemas-microsoft-com:vml" Requires="v">
                  <p:oleObj spid="_x0000_s62497" name="公式" r:id="rId13" imgW="291973" imgH="139639" progId="Equation.3">
                    <p:embed/>
                  </p:oleObj>
                </mc:Choice>
                <mc:Fallback>
                  <p:oleObj name="公式" r:id="rId13" imgW="291973" imgH="139639"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71" y="1525"/>
                          <a:ext cx="508"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455" name="Text Box 15"/>
          <p:cNvSpPr txBox="1">
            <a:spLocks noChangeArrowheads="1"/>
          </p:cNvSpPr>
          <p:nvPr/>
        </p:nvSpPr>
        <p:spPr bwMode="auto">
          <a:xfrm>
            <a:off x="611188" y="2120900"/>
            <a:ext cx="7008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buFont typeface="宋体" pitchFamily="2" charset="-122"/>
              <a:buNone/>
            </a:pPr>
            <a:r>
              <a:rPr lang="zh-CN" altLang="en-US" sz="1800">
                <a:ea typeface="华文中宋" pitchFamily="2" charset="-122"/>
              </a:rPr>
              <a:t>在</a:t>
            </a:r>
            <a:r>
              <a:rPr lang="en-US" altLang="zh-CN" sz="1800" i="1">
                <a:ea typeface="华文中宋" pitchFamily="2" charset="-122"/>
              </a:rPr>
              <a:t>S</a:t>
            </a:r>
            <a:r>
              <a:rPr lang="zh-CN" altLang="en-US" sz="1800">
                <a:ea typeface="华文中宋" pitchFamily="2" charset="-122"/>
              </a:rPr>
              <a:t>系中，依据洛仑兹变换，碰前</a:t>
            </a:r>
            <a:r>
              <a:rPr lang="en-US" altLang="zh-CN" sz="1800">
                <a:ea typeface="华文中宋" pitchFamily="2" charset="-122"/>
              </a:rPr>
              <a:t>A</a:t>
            </a:r>
            <a:r>
              <a:rPr lang="zh-CN" altLang="en-US" sz="1800">
                <a:ea typeface="华文中宋" pitchFamily="2" charset="-122"/>
              </a:rPr>
              <a:t>粒子的速度为：</a:t>
            </a:r>
          </a:p>
        </p:txBody>
      </p:sp>
      <p:graphicFrame>
        <p:nvGraphicFramePr>
          <p:cNvPr id="61458" name="Object 18"/>
          <p:cNvGraphicFramePr>
            <a:graphicFrameLocks noChangeAspect="1"/>
          </p:cNvGraphicFramePr>
          <p:nvPr/>
        </p:nvGraphicFramePr>
        <p:xfrm>
          <a:off x="5330825" y="3117850"/>
          <a:ext cx="2513013" cy="750888"/>
        </p:xfrm>
        <a:graphic>
          <a:graphicData uri="http://schemas.openxmlformats.org/presentationml/2006/ole">
            <mc:AlternateContent xmlns:mc="http://schemas.openxmlformats.org/markup-compatibility/2006">
              <mc:Choice xmlns:v="urn:schemas-microsoft-com:vml" Requires="v">
                <p:oleObj spid="_x0000_s62498" name="公式" r:id="rId15" imgW="965200" imgH="393700" progId="Equation.3">
                  <p:embed/>
                </p:oleObj>
              </mc:Choice>
              <mc:Fallback>
                <p:oleObj name="公式" r:id="rId15" imgW="965200" imgH="39370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30825" y="3117850"/>
                        <a:ext cx="2513013" cy="75088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59" name="Object 19"/>
          <p:cNvGraphicFramePr>
            <a:graphicFrameLocks noChangeAspect="1"/>
          </p:cNvGraphicFramePr>
          <p:nvPr/>
        </p:nvGraphicFramePr>
        <p:xfrm>
          <a:off x="1077913" y="3113088"/>
          <a:ext cx="3025775" cy="860425"/>
        </p:xfrm>
        <a:graphic>
          <a:graphicData uri="http://schemas.openxmlformats.org/presentationml/2006/ole">
            <mc:AlternateContent xmlns:mc="http://schemas.openxmlformats.org/markup-compatibility/2006">
              <mc:Choice xmlns:v="urn:schemas-microsoft-com:vml" Requires="v">
                <p:oleObj spid="_x0000_s62499" name="公式" r:id="rId17" imgW="1104900" imgH="419100" progId="Equation.3">
                  <p:embed/>
                </p:oleObj>
              </mc:Choice>
              <mc:Fallback>
                <p:oleObj name="公式" r:id="rId17" imgW="1104900" imgH="419100" progId="Equation.3">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77913" y="3113088"/>
                        <a:ext cx="3025775" cy="860425"/>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Group 22"/>
          <p:cNvGrpSpPr>
            <a:grpSpLocks/>
          </p:cNvGrpSpPr>
          <p:nvPr/>
        </p:nvGrpSpPr>
        <p:grpSpPr bwMode="auto">
          <a:xfrm>
            <a:off x="4211638" y="3219450"/>
            <a:ext cx="1081087" cy="604838"/>
            <a:chOff x="2653" y="2704"/>
            <a:chExt cx="681" cy="508"/>
          </a:xfrm>
        </p:grpSpPr>
        <p:sp>
          <p:nvSpPr>
            <p:cNvPr id="62477" name="Line 20"/>
            <p:cNvSpPr>
              <a:spLocks noChangeShapeType="1"/>
            </p:cNvSpPr>
            <p:nvPr/>
          </p:nvSpPr>
          <p:spPr bwMode="auto">
            <a:xfrm>
              <a:off x="2653" y="2976"/>
              <a:ext cx="68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2478" name="Object 21"/>
            <p:cNvGraphicFramePr>
              <a:graphicFrameLocks noChangeAspect="1"/>
            </p:cNvGraphicFramePr>
            <p:nvPr/>
          </p:nvGraphicFramePr>
          <p:xfrm>
            <a:off x="2699" y="2704"/>
            <a:ext cx="541" cy="508"/>
          </p:xfrm>
          <a:graphic>
            <a:graphicData uri="http://schemas.openxmlformats.org/presentationml/2006/ole">
              <mc:AlternateContent xmlns:mc="http://schemas.openxmlformats.org/markup-compatibility/2006">
                <mc:Choice xmlns:v="urn:schemas-microsoft-com:vml" Requires="v">
                  <p:oleObj spid="_x0000_s62500" name="公式" r:id="rId19" imgW="330057" imgH="317362" progId="Equation.3">
                    <p:embed/>
                  </p:oleObj>
                </mc:Choice>
                <mc:Fallback>
                  <p:oleObj name="公式" r:id="rId19" imgW="330057" imgH="317362" progId="Equation.3">
                    <p:embed/>
                    <p:pic>
                      <p:nvPicPr>
                        <p:cNvPr id="0" name="Object 2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99" y="2704"/>
                          <a:ext cx="541" cy="50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 name="Group 24"/>
          <p:cNvGrpSpPr>
            <a:grpSpLocks/>
          </p:cNvGrpSpPr>
          <p:nvPr/>
        </p:nvGrpSpPr>
        <p:grpSpPr bwMode="auto">
          <a:xfrm>
            <a:off x="179388" y="3976688"/>
            <a:ext cx="4252912" cy="539750"/>
            <a:chOff x="616" y="3288"/>
            <a:chExt cx="2785" cy="472"/>
          </a:xfrm>
        </p:grpSpPr>
        <p:graphicFrame>
          <p:nvGraphicFramePr>
            <p:cNvPr id="62475" name="Object 4"/>
            <p:cNvGraphicFramePr>
              <a:graphicFrameLocks noChangeAspect="1"/>
            </p:cNvGraphicFramePr>
            <p:nvPr/>
          </p:nvGraphicFramePr>
          <p:xfrm>
            <a:off x="1936" y="3288"/>
            <a:ext cx="1465" cy="472"/>
          </p:xfrm>
          <a:graphic>
            <a:graphicData uri="http://schemas.openxmlformats.org/presentationml/2006/ole">
              <mc:AlternateContent xmlns:mc="http://schemas.openxmlformats.org/markup-compatibility/2006">
                <mc:Choice xmlns:v="urn:schemas-microsoft-com:vml" Requires="v">
                  <p:oleObj spid="_x0000_s62501" name="Equation" r:id="rId21" imgW="1218960" imgH="431640" progId="Equation.DSMT4">
                    <p:embed/>
                  </p:oleObj>
                </mc:Choice>
                <mc:Fallback>
                  <p:oleObj name="Equation" r:id="rId21" imgW="1218960" imgH="431640" progId="Equation.DSMT4">
                    <p:embed/>
                    <p:pic>
                      <p:nvPicPr>
                        <p:cNvPr id="0" name="Object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36" y="3288"/>
                          <a:ext cx="1465"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6" name="Rectangle 23"/>
            <p:cNvSpPr>
              <a:spLocks noChangeArrowheads="1"/>
            </p:cNvSpPr>
            <p:nvPr/>
          </p:nvSpPr>
          <p:spPr bwMode="auto">
            <a:xfrm>
              <a:off x="616" y="3339"/>
              <a:ext cx="198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a:ea typeface="华文中宋" pitchFamily="2" charset="-122"/>
                </a:rPr>
                <a:t>碰前</a:t>
              </a:r>
              <a:r>
                <a:rPr lang="en-US" altLang="zh-CN" sz="1600">
                  <a:ea typeface="华文中宋" pitchFamily="2" charset="-122"/>
                </a:rPr>
                <a:t>B</a:t>
              </a:r>
              <a:r>
                <a:rPr lang="zh-CN" altLang="en-US" sz="1600">
                  <a:ea typeface="华文中宋" pitchFamily="2" charset="-122"/>
                </a:rPr>
                <a:t>粒子的速度为：</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61449"/>
                                        </p:tgtEl>
                                        <p:attrNameLst>
                                          <p:attrName>style.visibility</p:attrName>
                                        </p:attrNameLst>
                                      </p:cBhvr>
                                      <p:to>
                                        <p:strVal val="visible"/>
                                      </p:to>
                                    </p:set>
                                    <p:anim calcmode="lin" valueType="num">
                                      <p:cBhvr>
                                        <p:cTn id="7" dur="500" fill="hold"/>
                                        <p:tgtEl>
                                          <p:spTgt spid="61449"/>
                                        </p:tgtEl>
                                        <p:attrNameLst>
                                          <p:attrName>ppt_w</p:attrName>
                                        </p:attrNameLst>
                                      </p:cBhvr>
                                      <p:tavLst>
                                        <p:tav tm="0">
                                          <p:val>
                                            <p:fltVal val="0"/>
                                          </p:val>
                                        </p:tav>
                                        <p:tav tm="100000">
                                          <p:val>
                                            <p:strVal val="#ppt_w"/>
                                          </p:val>
                                        </p:tav>
                                      </p:tavLst>
                                    </p:anim>
                                    <p:anim calcmode="lin" valueType="num">
                                      <p:cBhvr>
                                        <p:cTn id="8" dur="500" fill="hold"/>
                                        <p:tgtEl>
                                          <p:spTgt spid="6144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61455"/>
                                        </p:tgtEl>
                                        <p:attrNameLst>
                                          <p:attrName>style.visibility</p:attrName>
                                        </p:attrNameLst>
                                      </p:cBhvr>
                                      <p:to>
                                        <p:strVal val="visible"/>
                                      </p:to>
                                    </p:set>
                                    <p:anim calcmode="lin" valueType="num">
                                      <p:cBhvr>
                                        <p:cTn id="18" dur="500" fill="hold"/>
                                        <p:tgtEl>
                                          <p:spTgt spid="61455"/>
                                        </p:tgtEl>
                                        <p:attrNameLst>
                                          <p:attrName>ppt_w</p:attrName>
                                        </p:attrNameLst>
                                      </p:cBhvr>
                                      <p:tavLst>
                                        <p:tav tm="0">
                                          <p:val>
                                            <p:fltVal val="0"/>
                                          </p:val>
                                        </p:tav>
                                        <p:tav tm="100000">
                                          <p:val>
                                            <p:strVal val="#ppt_w"/>
                                          </p:val>
                                        </p:tav>
                                      </p:tavLst>
                                    </p:anim>
                                    <p:anim calcmode="lin" valueType="num">
                                      <p:cBhvr>
                                        <p:cTn id="19" dur="500" fill="hold"/>
                                        <p:tgtEl>
                                          <p:spTgt spid="6145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
                                            </p:cond>
                                          </p:stCondLst>
                                          <p:endCondLst>
                                            <p:cond evt="onStopAudio" delay="0">
                                              <p:tgtEl>
                                                <p:sldTgt/>
                                              </p:tgtEl>
                                            </p:cond>
                                          </p:endCondLst>
                                        </p:cTn>
                                        <p:tgtEl>
                                          <p:sndTgt r:embed="rId4" name="TYPE.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nodeType="clickEffect">
                                  <p:stCondLst>
                                    <p:cond delay="0"/>
                                  </p:stCondLst>
                                  <p:childTnLst>
                                    <p:set>
                                      <p:cBhvr>
                                        <p:cTn id="23" dur="1" fill="hold">
                                          <p:stCondLst>
                                            <p:cond delay="0"/>
                                          </p:stCondLst>
                                        </p:cTn>
                                        <p:tgtEl>
                                          <p:spTgt spid="61443"/>
                                        </p:tgtEl>
                                        <p:attrNameLst>
                                          <p:attrName>style.visibility</p:attrName>
                                        </p:attrNameLst>
                                      </p:cBhvr>
                                      <p:to>
                                        <p:strVal val="visible"/>
                                      </p:to>
                                    </p:set>
                                    <p:anim calcmode="lin" valueType="num">
                                      <p:cBhvr>
                                        <p:cTn id="24" dur="500" fill="hold"/>
                                        <p:tgtEl>
                                          <p:spTgt spid="61443"/>
                                        </p:tgtEl>
                                        <p:attrNameLst>
                                          <p:attrName>ppt_w</p:attrName>
                                        </p:attrNameLst>
                                      </p:cBhvr>
                                      <p:tavLst>
                                        <p:tav tm="0">
                                          <p:val>
                                            <p:fltVal val="0"/>
                                          </p:val>
                                        </p:tav>
                                        <p:tav tm="100000">
                                          <p:val>
                                            <p:strVal val="#ppt_w"/>
                                          </p:val>
                                        </p:tav>
                                      </p:tavLst>
                                    </p:anim>
                                    <p:anim calcmode="lin" valueType="num">
                                      <p:cBhvr>
                                        <p:cTn id="25" dur="500" fill="hold"/>
                                        <p:tgtEl>
                                          <p:spTgt spid="6144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4" name="TYPE.WAV"/>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61459"/>
                                        </p:tgtEl>
                                        <p:attrNameLst>
                                          <p:attrName>style.visibility</p:attrName>
                                        </p:attrNameLst>
                                      </p:cBhvr>
                                      <p:to>
                                        <p:strVal val="visible"/>
                                      </p:to>
                                    </p:set>
                                    <p:anim calcmode="lin" valueType="num">
                                      <p:cBhvr additive="base">
                                        <p:cTn id="30" dur="500" fill="hold"/>
                                        <p:tgtEl>
                                          <p:spTgt spid="61459"/>
                                        </p:tgtEl>
                                        <p:attrNameLst>
                                          <p:attrName>ppt_x</p:attrName>
                                        </p:attrNameLst>
                                      </p:cBhvr>
                                      <p:tavLst>
                                        <p:tav tm="0">
                                          <p:val>
                                            <p:strVal val="0-#ppt_w/2"/>
                                          </p:val>
                                        </p:tav>
                                        <p:tav tm="100000">
                                          <p:val>
                                            <p:strVal val="#ppt_x"/>
                                          </p:val>
                                        </p:tav>
                                      </p:tavLst>
                                    </p:anim>
                                    <p:anim calcmode="lin" valueType="num">
                                      <p:cBhvr additive="base">
                                        <p:cTn id="31" dur="500" fill="hold"/>
                                        <p:tgtEl>
                                          <p:spTgt spid="614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4" name="TYPE.WAV"/>
                                        </p:tgtEl>
                                      </p:cMediaNode>
                                    </p:audio>
                                  </p:sub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linds(horizontal)">
                                      <p:cBhvr>
                                        <p:cTn id="36" dur="500"/>
                                        <p:tgtEl>
                                          <p:spTgt spid="4"/>
                                        </p:tgtEl>
                                      </p:cBhvr>
                                    </p:animEffect>
                                  </p:childTnLst>
                                </p:cTn>
                              </p:par>
                              <p:par>
                                <p:cTn id="37" presetID="3" presetClass="entr" presetSubtype="10" fill="hold" nodeType="withEffect">
                                  <p:stCondLst>
                                    <p:cond delay="0"/>
                                  </p:stCondLst>
                                  <p:childTnLst>
                                    <p:set>
                                      <p:cBhvr>
                                        <p:cTn id="38" dur="1" fill="hold">
                                          <p:stCondLst>
                                            <p:cond delay="0"/>
                                          </p:stCondLst>
                                        </p:cTn>
                                        <p:tgtEl>
                                          <p:spTgt spid="61458"/>
                                        </p:tgtEl>
                                        <p:attrNameLst>
                                          <p:attrName>style.visibility</p:attrName>
                                        </p:attrNameLst>
                                      </p:cBhvr>
                                      <p:to>
                                        <p:strVal val="visible"/>
                                      </p:to>
                                    </p:set>
                                    <p:animEffect transition="in" filter="blinds(horizontal)">
                                      <p:cBhvr>
                                        <p:cTn id="39" dur="500"/>
                                        <p:tgtEl>
                                          <p:spTgt spid="6145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blinds(horizontal)">
                                      <p:cBhvr>
                                        <p:cTn id="44" dur="500"/>
                                        <p:tgtEl>
                                          <p:spTgt spid="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Effect transition="in" filter="blinds(horizontal)">
                                      <p:cBhvr>
                                        <p:cTn id="4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5"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5" name="Text Box 11"/>
          <p:cNvSpPr txBox="1">
            <a:spLocks noChangeArrowheads="1"/>
          </p:cNvSpPr>
          <p:nvPr/>
        </p:nvSpPr>
        <p:spPr bwMode="auto">
          <a:xfrm>
            <a:off x="323850" y="987425"/>
            <a:ext cx="2303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将以上结果代入得： </a:t>
            </a:r>
          </a:p>
        </p:txBody>
      </p:sp>
      <p:graphicFrame>
        <p:nvGraphicFramePr>
          <p:cNvPr id="62476" name="Object 12"/>
          <p:cNvGraphicFramePr>
            <a:graphicFrameLocks noChangeAspect="1"/>
          </p:cNvGraphicFramePr>
          <p:nvPr/>
        </p:nvGraphicFramePr>
        <p:xfrm>
          <a:off x="2771775" y="842963"/>
          <a:ext cx="5976938" cy="2368550"/>
        </p:xfrm>
        <a:graphic>
          <a:graphicData uri="http://schemas.openxmlformats.org/presentationml/2006/ole">
            <mc:AlternateContent xmlns:mc="http://schemas.openxmlformats.org/markup-compatibility/2006">
              <mc:Choice xmlns:v="urn:schemas-microsoft-com:vml" Requires="v">
                <p:oleObj spid="_x0000_s63508" name="Equation" r:id="rId5" imgW="2781300" imgH="1473200" progId="Equation.DSMT4">
                  <p:embed/>
                </p:oleObj>
              </mc:Choice>
              <mc:Fallback>
                <p:oleObj name="Equation" r:id="rId5" imgW="2781300" imgH="14732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1775" y="842963"/>
                        <a:ext cx="5976938"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7"/>
          <p:cNvGrpSpPr>
            <a:grpSpLocks/>
          </p:cNvGrpSpPr>
          <p:nvPr/>
        </p:nvGrpSpPr>
        <p:grpSpPr bwMode="auto">
          <a:xfrm>
            <a:off x="1187450" y="3178175"/>
            <a:ext cx="5113338" cy="555625"/>
            <a:chOff x="748" y="2942"/>
            <a:chExt cx="3221" cy="466"/>
          </a:xfrm>
        </p:grpSpPr>
        <p:graphicFrame>
          <p:nvGraphicFramePr>
            <p:cNvPr id="63498" name="Object 9"/>
            <p:cNvGraphicFramePr>
              <a:graphicFrameLocks noChangeAspect="1"/>
            </p:cNvGraphicFramePr>
            <p:nvPr/>
          </p:nvGraphicFramePr>
          <p:xfrm>
            <a:off x="3168" y="3060"/>
            <a:ext cx="801" cy="279"/>
          </p:xfrm>
          <a:graphic>
            <a:graphicData uri="http://schemas.openxmlformats.org/presentationml/2006/ole">
              <mc:AlternateContent xmlns:mc="http://schemas.openxmlformats.org/markup-compatibility/2006">
                <mc:Choice xmlns:v="urn:schemas-microsoft-com:vml" Requires="v">
                  <p:oleObj spid="_x0000_s63509" name="公式" r:id="rId7" imgW="507780" imgH="177723" progId="Equation.3">
                    <p:embed/>
                  </p:oleObj>
                </mc:Choice>
                <mc:Fallback>
                  <p:oleObj name="公式" r:id="rId7" imgW="507780" imgH="177723"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68" y="3060"/>
                          <a:ext cx="801" cy="27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3499" name="Rectangle 10"/>
            <p:cNvSpPr>
              <a:spLocks noChangeArrowheads="1"/>
            </p:cNvSpPr>
            <p:nvPr/>
          </p:nvSpPr>
          <p:spPr bwMode="auto">
            <a:xfrm>
              <a:off x="2744" y="3029"/>
              <a:ext cx="499"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r>
                <a:rPr lang="zh-CN" altLang="en-US" sz="1800">
                  <a:ea typeface="华文中宋" pitchFamily="2" charset="-122"/>
                </a:rPr>
                <a:t>所以：</a:t>
              </a:r>
            </a:p>
          </p:txBody>
        </p:sp>
        <p:graphicFrame>
          <p:nvGraphicFramePr>
            <p:cNvPr id="63500" name="Object 14"/>
            <p:cNvGraphicFramePr>
              <a:graphicFrameLocks noChangeAspect="1"/>
            </p:cNvGraphicFramePr>
            <p:nvPr/>
          </p:nvGraphicFramePr>
          <p:xfrm>
            <a:off x="1248" y="2942"/>
            <a:ext cx="1496" cy="466"/>
          </p:xfrm>
          <a:graphic>
            <a:graphicData uri="http://schemas.openxmlformats.org/presentationml/2006/ole">
              <mc:AlternateContent xmlns:mc="http://schemas.openxmlformats.org/markup-compatibility/2006">
                <mc:Choice xmlns:v="urn:schemas-microsoft-com:vml" Requires="v">
                  <p:oleObj spid="_x0000_s63510" name="Equation" r:id="rId9" imgW="945022" imgH="319851" progId="Equation.DSMT4">
                    <p:embed/>
                  </p:oleObj>
                </mc:Choice>
                <mc:Fallback>
                  <p:oleObj name="Equation" r:id="rId9" imgW="945022" imgH="319851"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8" y="2942"/>
                          <a:ext cx="1496" cy="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501" name="Rectangle 15"/>
            <p:cNvSpPr>
              <a:spLocks noChangeArrowheads="1"/>
            </p:cNvSpPr>
            <p:nvPr/>
          </p:nvSpPr>
          <p:spPr bwMode="auto">
            <a:xfrm>
              <a:off x="748" y="2976"/>
              <a:ext cx="69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因为：</a:t>
              </a:r>
            </a:p>
          </p:txBody>
        </p:sp>
      </p:grpSp>
      <p:grpSp>
        <p:nvGrpSpPr>
          <p:cNvPr id="3" name="Group 19"/>
          <p:cNvGrpSpPr>
            <a:grpSpLocks/>
          </p:cNvGrpSpPr>
          <p:nvPr/>
        </p:nvGrpSpPr>
        <p:grpSpPr bwMode="auto">
          <a:xfrm>
            <a:off x="179388" y="3884613"/>
            <a:ext cx="4032250" cy="415925"/>
            <a:chOff x="748" y="3142"/>
            <a:chExt cx="2540" cy="348"/>
          </a:xfrm>
        </p:grpSpPr>
        <p:sp>
          <p:nvSpPr>
            <p:cNvPr id="63496" name="Rectangle 16"/>
            <p:cNvSpPr>
              <a:spLocks noChangeArrowheads="1"/>
            </p:cNvSpPr>
            <p:nvPr/>
          </p:nvSpPr>
          <p:spPr bwMode="auto">
            <a:xfrm>
              <a:off x="748" y="3142"/>
              <a:ext cx="2313"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ea typeface="华文中宋" pitchFamily="2" charset="-122"/>
                </a:rPr>
                <a:t>A</a:t>
              </a:r>
              <a:r>
                <a:rPr lang="zh-CN" altLang="en-US" sz="1800">
                  <a:ea typeface="华文中宋" pitchFamily="2" charset="-122"/>
                </a:rPr>
                <a:t>、</a:t>
              </a:r>
              <a:r>
                <a:rPr lang="en-US" altLang="zh-CN" sz="1800">
                  <a:ea typeface="华文中宋" pitchFamily="2" charset="-122"/>
                </a:rPr>
                <a:t>B</a:t>
              </a:r>
              <a:r>
                <a:rPr lang="zh-CN" altLang="en-US" sz="1800">
                  <a:ea typeface="华文中宋" pitchFamily="2" charset="-122"/>
                </a:rPr>
                <a:t>是全同粒子，故有：</a:t>
              </a:r>
            </a:p>
          </p:txBody>
        </p:sp>
        <p:graphicFrame>
          <p:nvGraphicFramePr>
            <p:cNvPr id="63497" name="Object 18"/>
            <p:cNvGraphicFramePr>
              <a:graphicFrameLocks noChangeAspect="1"/>
            </p:cNvGraphicFramePr>
            <p:nvPr/>
          </p:nvGraphicFramePr>
          <p:xfrm>
            <a:off x="2471" y="3164"/>
            <a:ext cx="817" cy="326"/>
          </p:xfrm>
          <a:graphic>
            <a:graphicData uri="http://schemas.openxmlformats.org/presentationml/2006/ole">
              <mc:AlternateContent xmlns:mc="http://schemas.openxmlformats.org/markup-compatibility/2006">
                <mc:Choice xmlns:v="urn:schemas-microsoft-com:vml" Requires="v">
                  <p:oleObj spid="_x0000_s63511" name="Equation" r:id="rId11" imgW="545626" imgH="177646" progId="Equation.DSMT4">
                    <p:embed/>
                  </p:oleObj>
                </mc:Choice>
                <mc:Fallback>
                  <p:oleObj name="Equation" r:id="rId11" imgW="545626" imgH="177646" progId="Equation.DSMT4">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71" y="3164"/>
                          <a:ext cx="817" cy="326"/>
                        </a:xfrm>
                        <a:prstGeom prst="rect">
                          <a:avLst/>
                        </a:prstGeom>
                        <a:noFill/>
                        <a:ln>
                          <a:noFill/>
                        </a:ln>
                        <a:effectLst/>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62484" name="Object 20"/>
          <p:cNvGraphicFramePr>
            <a:graphicFrameLocks noChangeAspect="1"/>
          </p:cNvGraphicFramePr>
          <p:nvPr/>
        </p:nvGraphicFramePr>
        <p:xfrm>
          <a:off x="4344988" y="3665538"/>
          <a:ext cx="2243137" cy="920750"/>
        </p:xfrm>
        <a:graphic>
          <a:graphicData uri="http://schemas.openxmlformats.org/presentationml/2006/ole">
            <mc:AlternateContent xmlns:mc="http://schemas.openxmlformats.org/markup-compatibility/2006">
              <mc:Choice xmlns:v="urn:schemas-microsoft-com:vml" Requires="v">
                <p:oleObj spid="_x0000_s63512" name="公式" r:id="rId13" imgW="952087" imgH="520474" progId="Equation.3">
                  <p:embed/>
                </p:oleObj>
              </mc:Choice>
              <mc:Fallback>
                <p:oleObj name="公式" r:id="rId13" imgW="952087" imgH="520474"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4988" y="3665538"/>
                        <a:ext cx="2243137" cy="920750"/>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2485" name="Object 21"/>
          <p:cNvGraphicFramePr>
            <a:graphicFrameLocks noChangeAspect="1"/>
          </p:cNvGraphicFramePr>
          <p:nvPr/>
        </p:nvGraphicFramePr>
        <p:xfrm>
          <a:off x="6588125" y="3651250"/>
          <a:ext cx="1984375" cy="949325"/>
        </p:xfrm>
        <a:graphic>
          <a:graphicData uri="http://schemas.openxmlformats.org/presentationml/2006/ole">
            <mc:AlternateContent xmlns:mc="http://schemas.openxmlformats.org/markup-compatibility/2006">
              <mc:Choice xmlns:v="urn:schemas-microsoft-com:vml" Requires="v">
                <p:oleObj spid="_x0000_s63513" name="公式" r:id="rId15" imgW="622030" imgH="520474" progId="Equation.3">
                  <p:embed/>
                </p:oleObj>
              </mc:Choice>
              <mc:Fallback>
                <p:oleObj name="公式" r:id="rId15" imgW="622030" imgH="520474" progId="Equation.3">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88125" y="3651250"/>
                        <a:ext cx="1984375" cy="9493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2475"/>
                                        </p:tgtEl>
                                        <p:attrNameLst>
                                          <p:attrName>style.visibility</p:attrName>
                                        </p:attrNameLst>
                                      </p:cBhvr>
                                      <p:to>
                                        <p:strVal val="visible"/>
                                      </p:to>
                                    </p:set>
                                    <p:anim calcmode="lin" valueType="num">
                                      <p:cBhvr>
                                        <p:cTn id="7" dur="500" fill="hold"/>
                                        <p:tgtEl>
                                          <p:spTgt spid="62475"/>
                                        </p:tgtEl>
                                        <p:attrNameLst>
                                          <p:attrName>ppt_w</p:attrName>
                                        </p:attrNameLst>
                                      </p:cBhvr>
                                      <p:tavLst>
                                        <p:tav tm="0">
                                          <p:val>
                                            <p:fltVal val="0"/>
                                          </p:val>
                                        </p:tav>
                                        <p:tav tm="100000">
                                          <p:val>
                                            <p:strVal val="#ppt_w"/>
                                          </p:val>
                                        </p:tav>
                                      </p:tavLst>
                                    </p:anim>
                                    <p:anim calcmode="lin" valueType="num">
                                      <p:cBhvr>
                                        <p:cTn id="8" dur="500" fill="hold"/>
                                        <p:tgtEl>
                                          <p:spTgt spid="624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62476"/>
                                        </p:tgtEl>
                                        <p:attrNameLst>
                                          <p:attrName>style.visibility</p:attrName>
                                        </p:attrNameLst>
                                      </p:cBhvr>
                                      <p:to>
                                        <p:strVal val="visible"/>
                                      </p:to>
                                    </p:set>
                                    <p:anim calcmode="lin" valueType="num">
                                      <p:cBhvr>
                                        <p:cTn id="13" dur="500" fill="hold"/>
                                        <p:tgtEl>
                                          <p:spTgt spid="62476"/>
                                        </p:tgtEl>
                                        <p:attrNameLst>
                                          <p:attrName>ppt_w</p:attrName>
                                        </p:attrNameLst>
                                      </p:cBhvr>
                                      <p:tavLst>
                                        <p:tav tm="0">
                                          <p:val>
                                            <p:fltVal val="0"/>
                                          </p:val>
                                        </p:tav>
                                        <p:tav tm="100000">
                                          <p:val>
                                            <p:strVal val="#ppt_w"/>
                                          </p:val>
                                        </p:tav>
                                      </p:tavLst>
                                    </p:anim>
                                    <p:anim calcmode="lin" valueType="num">
                                      <p:cBhvr>
                                        <p:cTn id="14" dur="500" fill="hold"/>
                                        <p:tgtEl>
                                          <p:spTgt spid="624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
                                            </p:cond>
                                          </p:stCondLst>
                                          <p:endCondLst>
                                            <p:cond evt="onStopAudio" delay="0">
                                              <p:tgtEl>
                                                <p:sldTgt/>
                                              </p:tgtEl>
                                            </p:cond>
                                          </p:endCondLst>
                                        </p:cTn>
                                        <p:tgtEl>
                                          <p:sndTgt r:embed="rId4" name="TYPE.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linds(horizontal)">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9" presetClass="entr" presetSubtype="0" fill="hold" nodeType="clickEffect">
                                  <p:stCondLst>
                                    <p:cond delay="0"/>
                                  </p:stCondLst>
                                  <p:childTnLst>
                                    <p:set>
                                      <p:cBhvr>
                                        <p:cTn id="28" dur="1" fill="hold">
                                          <p:stCondLst>
                                            <p:cond delay="0"/>
                                          </p:stCondLst>
                                        </p:cTn>
                                        <p:tgtEl>
                                          <p:spTgt spid="62484"/>
                                        </p:tgtEl>
                                        <p:attrNameLst>
                                          <p:attrName>style.visibility</p:attrName>
                                        </p:attrNameLst>
                                      </p:cBhvr>
                                      <p:to>
                                        <p:strVal val="visible"/>
                                      </p:to>
                                    </p:set>
                                    <p:animEffect transition="in" filter="dissolve">
                                      <p:cBhvr>
                                        <p:cTn id="29" dur="500"/>
                                        <p:tgtEl>
                                          <p:spTgt spid="62484"/>
                                        </p:tgtEl>
                                      </p:cBhvr>
                                    </p:animEffect>
                                  </p:childTnLst>
                                  <p:subTnLst>
                                    <p:audio>
                                      <p:cMediaNode>
                                        <p:cTn display="0" masterRel="sameClick">
                                          <p:stCondLst>
                                            <p:cond evt="begin" delay="0">
                                              <p:tn val="27"/>
                                            </p:cond>
                                          </p:stCondLst>
                                          <p:endCondLst>
                                            <p:cond evt="onStopAudio" delay="0">
                                              <p:tgtEl>
                                                <p:sldTgt/>
                                              </p:tgtEl>
                                            </p:cond>
                                          </p:endCondLst>
                                        </p:cTn>
                                        <p:tgtEl>
                                          <p:sndTgt r:embed="rId4" name="TYPE.WAV"/>
                                        </p:tgtEl>
                                      </p:cMediaNode>
                                    </p:audio>
                                  </p:sub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62485"/>
                                        </p:tgtEl>
                                        <p:attrNameLst>
                                          <p:attrName>style.visibility</p:attrName>
                                        </p:attrNameLst>
                                      </p:cBhvr>
                                      <p:to>
                                        <p:strVal val="visible"/>
                                      </p:to>
                                    </p:set>
                                    <p:animEffect transition="in" filter="dissolve">
                                      <p:cBhvr>
                                        <p:cTn id="34" dur="500"/>
                                        <p:tgtEl>
                                          <p:spTgt spid="62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5"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914400" y="1914525"/>
            <a:ext cx="7042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chemeClr val="accent2"/>
                </a:solidFill>
                <a:ea typeface="华文中宋" pitchFamily="2" charset="-122"/>
              </a:rPr>
              <a:t>2</a:t>
            </a:r>
            <a:r>
              <a:rPr lang="zh-CN" altLang="en-US" sz="1800">
                <a:solidFill>
                  <a:schemeClr val="accent2"/>
                </a:solidFill>
                <a:ea typeface="华文中宋" pitchFamily="2" charset="-122"/>
              </a:rPr>
              <a:t>、可定性地说明物质运动速度的极限为</a:t>
            </a:r>
            <a:r>
              <a:rPr lang="en-US" altLang="zh-CN" sz="1800" i="1">
                <a:solidFill>
                  <a:schemeClr val="accent2"/>
                </a:solidFill>
                <a:ea typeface="华文中宋" pitchFamily="2" charset="-122"/>
              </a:rPr>
              <a:t>c</a:t>
            </a:r>
          </a:p>
        </p:txBody>
      </p:sp>
      <p:graphicFrame>
        <p:nvGraphicFramePr>
          <p:cNvPr id="65539" name="Object 3"/>
          <p:cNvGraphicFramePr>
            <a:graphicFrameLocks noChangeAspect="1"/>
          </p:cNvGraphicFramePr>
          <p:nvPr/>
        </p:nvGraphicFramePr>
        <p:xfrm>
          <a:off x="900113" y="2398713"/>
          <a:ext cx="2763837" cy="749300"/>
        </p:xfrm>
        <a:graphic>
          <a:graphicData uri="http://schemas.openxmlformats.org/presentationml/2006/ole">
            <mc:AlternateContent xmlns:mc="http://schemas.openxmlformats.org/markup-compatibility/2006">
              <mc:Choice xmlns:v="urn:schemas-microsoft-com:vml" Requires="v">
                <p:oleObj spid="_x0000_s64529" name="公式" r:id="rId6" imgW="1002865" imgH="393529" progId="Equation.3">
                  <p:embed/>
                </p:oleObj>
              </mc:Choice>
              <mc:Fallback>
                <p:oleObj name="公式" r:id="rId6" imgW="1002865" imgH="39352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2398713"/>
                        <a:ext cx="2763837" cy="749300"/>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0" name="Object 4"/>
          <p:cNvGraphicFramePr>
            <a:graphicFrameLocks noChangeAspect="1"/>
          </p:cNvGraphicFramePr>
          <p:nvPr/>
        </p:nvGraphicFramePr>
        <p:xfrm>
          <a:off x="3779838" y="2613025"/>
          <a:ext cx="2205037" cy="320675"/>
        </p:xfrm>
        <a:graphic>
          <a:graphicData uri="http://schemas.openxmlformats.org/presentationml/2006/ole">
            <mc:AlternateContent xmlns:mc="http://schemas.openxmlformats.org/markup-compatibility/2006">
              <mc:Choice xmlns:v="urn:schemas-microsoft-com:vml" Requires="v">
                <p:oleObj spid="_x0000_s64530" name="公式" r:id="rId8" imgW="850531" imgH="165028" progId="Equation.3">
                  <p:embed/>
                </p:oleObj>
              </mc:Choice>
              <mc:Fallback>
                <p:oleObj name="公式" r:id="rId8" imgW="850531" imgH="165028"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9838" y="2613025"/>
                        <a:ext cx="2205037" cy="320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5541" name="Object 5"/>
          <p:cNvGraphicFramePr>
            <a:graphicFrameLocks noChangeAspect="1"/>
          </p:cNvGraphicFramePr>
          <p:nvPr/>
        </p:nvGraphicFramePr>
        <p:xfrm>
          <a:off x="6300788" y="2613025"/>
          <a:ext cx="1511300" cy="306388"/>
        </p:xfrm>
        <a:graphic>
          <a:graphicData uri="http://schemas.openxmlformats.org/presentationml/2006/ole">
            <mc:AlternateContent xmlns:mc="http://schemas.openxmlformats.org/markup-compatibility/2006">
              <mc:Choice xmlns:v="urn:schemas-microsoft-com:vml" Requires="v">
                <p:oleObj spid="_x0000_s64531" name="公式" r:id="rId10" imgW="494870" imgH="126890" progId="Equation.3">
                  <p:embed/>
                </p:oleObj>
              </mc:Choice>
              <mc:Fallback>
                <p:oleObj name="公式" r:id="rId10" imgW="494870" imgH="12689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00788" y="2613025"/>
                        <a:ext cx="1511300" cy="3063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2" name="Text Box 6"/>
          <p:cNvSpPr txBox="1">
            <a:spLocks noChangeArrowheads="1"/>
          </p:cNvSpPr>
          <p:nvPr/>
        </p:nvSpPr>
        <p:spPr bwMode="auto">
          <a:xfrm>
            <a:off x="395288" y="1300163"/>
            <a:ext cx="75612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chemeClr val="accent2"/>
                </a:solidFill>
                <a:ea typeface="华文中宋" pitchFamily="2" charset="-122"/>
              </a:rPr>
              <a:t>讨论：</a:t>
            </a:r>
          </a:p>
          <a:p>
            <a:pPr eaLnBrk="1" hangingPunct="1"/>
            <a:r>
              <a:rPr lang="zh-CN" altLang="en-US" sz="1800">
                <a:solidFill>
                  <a:schemeClr val="accent2"/>
                </a:solidFill>
                <a:ea typeface="华文中宋" pitchFamily="2" charset="-122"/>
              </a:rPr>
              <a:t>         </a:t>
            </a:r>
            <a:r>
              <a:rPr lang="en-US" altLang="zh-CN" sz="1800">
                <a:solidFill>
                  <a:schemeClr val="accent2"/>
                </a:solidFill>
                <a:ea typeface="华文中宋" pitchFamily="2" charset="-122"/>
              </a:rPr>
              <a:t>1</a:t>
            </a:r>
            <a:r>
              <a:rPr lang="zh-CN" altLang="en-US" sz="1800">
                <a:solidFill>
                  <a:schemeClr val="accent2"/>
                </a:solidFill>
                <a:ea typeface="华文中宋" pitchFamily="2" charset="-122"/>
              </a:rPr>
              <a:t>、作为物质属性的质量与物体的运动状态有关</a:t>
            </a:r>
          </a:p>
        </p:txBody>
      </p:sp>
      <p:sp>
        <p:nvSpPr>
          <p:cNvPr id="65544" name="Text Box 8"/>
          <p:cNvSpPr txBox="1">
            <a:spLocks noChangeArrowheads="1"/>
          </p:cNvSpPr>
          <p:nvPr/>
        </p:nvSpPr>
        <p:spPr bwMode="auto">
          <a:xfrm>
            <a:off x="1116013" y="3354388"/>
            <a:ext cx="3168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chemeClr val="accent2"/>
                </a:solidFill>
                <a:ea typeface="华文中宋" pitchFamily="2" charset="-122"/>
              </a:rPr>
              <a:t>3</a:t>
            </a:r>
            <a:r>
              <a:rPr lang="zh-CN" altLang="en-US" sz="1800">
                <a:solidFill>
                  <a:schemeClr val="accent2"/>
                </a:solidFill>
                <a:ea typeface="华文中宋" pitchFamily="2" charset="-122"/>
              </a:rPr>
              <a:t>、在相对论中，牛顿定律为</a:t>
            </a:r>
            <a:r>
              <a:rPr lang="zh-CN" altLang="en-US" sz="1800" b="0">
                <a:solidFill>
                  <a:srgbClr val="3366FF"/>
                </a:solidFill>
                <a:ea typeface="华文中宋" pitchFamily="2" charset="-122"/>
              </a:rPr>
              <a:t> </a:t>
            </a:r>
          </a:p>
        </p:txBody>
      </p:sp>
      <p:graphicFrame>
        <p:nvGraphicFramePr>
          <p:cNvPr id="65545" name="Object 9"/>
          <p:cNvGraphicFramePr>
            <a:graphicFrameLocks noChangeAspect="1"/>
          </p:cNvGraphicFramePr>
          <p:nvPr/>
        </p:nvGraphicFramePr>
        <p:xfrm>
          <a:off x="4140200" y="3314700"/>
          <a:ext cx="3036888" cy="538163"/>
        </p:xfrm>
        <a:graphic>
          <a:graphicData uri="http://schemas.openxmlformats.org/presentationml/2006/ole">
            <mc:AlternateContent xmlns:mc="http://schemas.openxmlformats.org/markup-compatibility/2006">
              <mc:Choice xmlns:v="urn:schemas-microsoft-com:vml" Requires="v">
                <p:oleObj spid="_x0000_s64532" name="Equation" r:id="rId12" imgW="1663560" imgH="393480" progId="Equation.DSMT4">
                  <p:embed/>
                </p:oleObj>
              </mc:Choice>
              <mc:Fallback>
                <p:oleObj name="Equation" r:id="rId12" imgW="1663560" imgH="393480" progId="Equation.DSMT4">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0200" y="3314700"/>
                        <a:ext cx="3036888"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6" name="Text Box 10"/>
          <p:cNvSpPr txBox="1">
            <a:spLocks noChangeArrowheads="1"/>
          </p:cNvSpPr>
          <p:nvPr/>
        </p:nvSpPr>
        <p:spPr bwMode="auto">
          <a:xfrm>
            <a:off x="1116013" y="3760788"/>
            <a:ext cx="5213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chemeClr val="accent2"/>
                </a:solidFill>
                <a:ea typeface="华文中宋" pitchFamily="2" charset="-122"/>
              </a:rPr>
              <a:t>4</a:t>
            </a:r>
            <a:r>
              <a:rPr lang="zh-CN" altLang="en-US" sz="1800">
                <a:solidFill>
                  <a:schemeClr val="accent2"/>
                </a:solidFill>
                <a:ea typeface="华文中宋" pitchFamily="2" charset="-122"/>
              </a:rPr>
              <a:t>、光子的静止质量为零</a:t>
            </a:r>
            <a:endParaRPr lang="zh-CN" altLang="en-US" sz="1800" b="0">
              <a:ea typeface="华文中宋" pitchFamily="2" charset="-122"/>
            </a:endParaRPr>
          </a:p>
        </p:txBody>
      </p:sp>
      <p:sp>
        <p:nvSpPr>
          <p:cNvPr id="65548" name="Text Box 12"/>
          <p:cNvSpPr txBox="1">
            <a:spLocks noChangeArrowheads="1"/>
          </p:cNvSpPr>
          <p:nvPr/>
        </p:nvSpPr>
        <p:spPr bwMode="auto">
          <a:xfrm>
            <a:off x="1331913" y="4137025"/>
            <a:ext cx="6911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欲使光子的质量有意义，就必须认为光子的静止质量为零。</a:t>
            </a:r>
          </a:p>
        </p:txBody>
      </p:sp>
      <p:graphicFrame>
        <p:nvGraphicFramePr>
          <p:cNvPr id="64523" name="Object 13"/>
          <p:cNvGraphicFramePr>
            <a:graphicFrameLocks noChangeAspect="1"/>
          </p:cNvGraphicFramePr>
          <p:nvPr/>
        </p:nvGraphicFramePr>
        <p:xfrm>
          <a:off x="3348038" y="700088"/>
          <a:ext cx="1800225" cy="862012"/>
        </p:xfrm>
        <a:graphic>
          <a:graphicData uri="http://schemas.openxmlformats.org/presentationml/2006/ole">
            <mc:AlternateContent xmlns:mc="http://schemas.openxmlformats.org/markup-compatibility/2006">
              <mc:Choice xmlns:v="urn:schemas-microsoft-com:vml" Requires="v">
                <p:oleObj spid="_x0000_s64533" name="公式" r:id="rId14" imgW="622030" imgH="520474" progId="Equation.3">
                  <p:embed/>
                </p:oleObj>
              </mc:Choice>
              <mc:Fallback>
                <p:oleObj name="公式" r:id="rId14" imgW="622030" imgH="520474" progId="Equation.3">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48038" y="700088"/>
                        <a:ext cx="1800225" cy="86201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5542"/>
                                        </p:tgtEl>
                                        <p:attrNameLst>
                                          <p:attrName>style.visibility</p:attrName>
                                        </p:attrNameLst>
                                      </p:cBhvr>
                                      <p:to>
                                        <p:strVal val="visible"/>
                                      </p:to>
                                    </p:set>
                                    <p:animEffect transition="in" filter="box(in)">
                                      <p:cBhvr>
                                        <p:cTn id="7" dur="500"/>
                                        <p:tgtEl>
                                          <p:spTgt spid="65542"/>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5538"/>
                                        </p:tgtEl>
                                        <p:attrNameLst>
                                          <p:attrName>style.visibility</p:attrName>
                                        </p:attrNameLst>
                                      </p:cBhvr>
                                      <p:to>
                                        <p:strVal val="visible"/>
                                      </p:to>
                                    </p:set>
                                    <p:animEffect transition="in" filter="box(in)">
                                      <p:cBhvr>
                                        <p:cTn id="12" dur="500"/>
                                        <p:tgtEl>
                                          <p:spTgt spid="65538"/>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5539"/>
                                        </p:tgtEl>
                                        <p:attrNameLst>
                                          <p:attrName>style.visibility</p:attrName>
                                        </p:attrNameLst>
                                      </p:cBhvr>
                                      <p:to>
                                        <p:strVal val="visible"/>
                                      </p:to>
                                    </p:set>
                                    <p:animEffect transition="in" filter="box(in)">
                                      <p:cBhvr>
                                        <p:cTn id="17" dur="500"/>
                                        <p:tgtEl>
                                          <p:spTgt spid="65539"/>
                                        </p:tgtEl>
                                      </p:cBhvr>
                                    </p:animEffect>
                                  </p:childTnLst>
                                  <p:subTnLst>
                                    <p:audio>
                                      <p:cMediaNode>
                                        <p:cTn display="0" masterRel="sameClick">
                                          <p:stCondLst>
                                            <p:cond evt="begin" delay="0">
                                              <p:tn val="15"/>
                                            </p:cond>
                                          </p:stCondLst>
                                          <p:endCondLst>
                                            <p:cond evt="onStopAudio" delay="0">
                                              <p:tgtEl>
                                                <p:sldTgt/>
                                              </p:tgtEl>
                                            </p:cond>
                                          </p:endCondLst>
                                        </p:cTn>
                                        <p:tgtEl>
                                          <p:sndTgt r:embed="rId4" name="chimes.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5540"/>
                                        </p:tgtEl>
                                        <p:attrNameLst>
                                          <p:attrName>style.visibility</p:attrName>
                                        </p:attrNameLst>
                                      </p:cBhvr>
                                      <p:to>
                                        <p:strVal val="visible"/>
                                      </p:to>
                                    </p:set>
                                    <p:animEffect transition="in" filter="box(in)">
                                      <p:cBhvr>
                                        <p:cTn id="22" dur="500"/>
                                        <p:tgtEl>
                                          <p:spTgt spid="65540"/>
                                        </p:tgtEl>
                                      </p:cBhvr>
                                    </p:animEffect>
                                  </p:childTnLst>
                                  <p:subTnLst>
                                    <p:audio>
                                      <p:cMediaNode>
                                        <p:cTn display="0" masterRel="sameClick">
                                          <p:stCondLst>
                                            <p:cond evt="begin" delay="0">
                                              <p:tn val="20"/>
                                            </p:cond>
                                          </p:stCondLst>
                                          <p:endCondLst>
                                            <p:cond evt="onStopAudio" delay="0">
                                              <p:tgtEl>
                                                <p:sldTgt/>
                                              </p:tgtEl>
                                            </p:cond>
                                          </p:endCondLst>
                                        </p:cTn>
                                        <p:tgtEl>
                                          <p:sndTgt r:embed="rId5"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5541"/>
                                        </p:tgtEl>
                                        <p:attrNameLst>
                                          <p:attrName>style.visibility</p:attrName>
                                        </p:attrNameLst>
                                      </p:cBhvr>
                                      <p:to>
                                        <p:strVal val="visible"/>
                                      </p:to>
                                    </p:set>
                                    <p:animEffect transition="in" filter="box(in)">
                                      <p:cBhvr>
                                        <p:cTn id="27" dur="500"/>
                                        <p:tgtEl>
                                          <p:spTgt spid="65541"/>
                                        </p:tgtEl>
                                      </p:cBhvr>
                                    </p:animEffect>
                                  </p:childTnLst>
                                  <p:subTnLst>
                                    <p:audio>
                                      <p:cMediaNode>
                                        <p:cTn display="0" masterRel="sameClick">
                                          <p:stCondLst>
                                            <p:cond evt="begin" delay="0">
                                              <p:tn val="25"/>
                                            </p:cond>
                                          </p:stCondLst>
                                          <p:endCondLst>
                                            <p:cond evt="onStopAudio" delay="0">
                                              <p:tgtEl>
                                                <p:sldTgt/>
                                              </p:tgtEl>
                                            </p:cond>
                                          </p:endCondLst>
                                        </p:cTn>
                                        <p:tgtEl>
                                          <p:sndTgt r:embed="rId5"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5544"/>
                                        </p:tgtEl>
                                        <p:attrNameLst>
                                          <p:attrName>style.visibility</p:attrName>
                                        </p:attrNameLst>
                                      </p:cBhvr>
                                      <p:to>
                                        <p:strVal val="visible"/>
                                      </p:to>
                                    </p:set>
                                    <p:animEffect transition="in" filter="box(in)">
                                      <p:cBhvr>
                                        <p:cTn id="32" dur="500"/>
                                        <p:tgtEl>
                                          <p:spTgt spid="65544"/>
                                        </p:tgtEl>
                                      </p:cBhvr>
                                    </p:animEffect>
                                  </p:childTnLst>
                                  <p:subTnLst>
                                    <p:audio>
                                      <p:cMediaNode>
                                        <p:cTn display="0" masterRel="sameClick">
                                          <p:stCondLst>
                                            <p:cond evt="begin" delay="0">
                                              <p:tn val="30"/>
                                            </p:cond>
                                          </p:stCondLst>
                                          <p:endCondLst>
                                            <p:cond evt="onStopAudio" delay="0">
                                              <p:tgtEl>
                                                <p:sldTgt/>
                                              </p:tgtEl>
                                            </p:cond>
                                          </p:endCondLst>
                                        </p:cTn>
                                        <p:tgtEl>
                                          <p:sndTgt r:embed="rId5"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65545"/>
                                        </p:tgtEl>
                                        <p:attrNameLst>
                                          <p:attrName>style.visibility</p:attrName>
                                        </p:attrNameLst>
                                      </p:cBhvr>
                                      <p:to>
                                        <p:strVal val="visible"/>
                                      </p:to>
                                    </p:set>
                                    <p:animEffect transition="in" filter="box(in)">
                                      <p:cBhvr>
                                        <p:cTn id="37" dur="500"/>
                                        <p:tgtEl>
                                          <p:spTgt spid="65545"/>
                                        </p:tgtEl>
                                      </p:cBhvr>
                                    </p:animEffect>
                                  </p:childTnLst>
                                  <p:subTnLst>
                                    <p:audio>
                                      <p:cMediaNode>
                                        <p:cTn display="0" masterRel="sameClick">
                                          <p:stCondLst>
                                            <p:cond evt="begin" delay="0">
                                              <p:tn val="35"/>
                                            </p:cond>
                                          </p:stCondLst>
                                          <p:endCondLst>
                                            <p:cond evt="onStopAudio" delay="0">
                                              <p:tgtEl>
                                                <p:sldTgt/>
                                              </p:tgtEl>
                                            </p:cond>
                                          </p:endCondLst>
                                        </p:cTn>
                                        <p:tgtEl>
                                          <p:sndTgt r:embed="rId5"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65546"/>
                                        </p:tgtEl>
                                        <p:attrNameLst>
                                          <p:attrName>style.visibility</p:attrName>
                                        </p:attrNameLst>
                                      </p:cBhvr>
                                      <p:to>
                                        <p:strVal val="visible"/>
                                      </p:to>
                                    </p:set>
                                    <p:animEffect transition="in" filter="box(in)">
                                      <p:cBhvr>
                                        <p:cTn id="42" dur="500"/>
                                        <p:tgtEl>
                                          <p:spTgt spid="65546"/>
                                        </p:tgtEl>
                                      </p:cBhvr>
                                    </p:animEffect>
                                  </p:childTnLst>
                                  <p:subTnLst>
                                    <p:audio>
                                      <p:cMediaNode>
                                        <p:cTn display="0" masterRel="sameClick">
                                          <p:stCondLst>
                                            <p:cond evt="begin" delay="0">
                                              <p:tn val="40"/>
                                            </p:cond>
                                          </p:stCondLst>
                                          <p:endCondLst>
                                            <p:cond evt="onStopAudio" delay="0">
                                              <p:tgtEl>
                                                <p:sldTgt/>
                                              </p:tgtEl>
                                            </p:cond>
                                          </p:endCondLst>
                                        </p:cTn>
                                        <p:tgtEl>
                                          <p:sndTgt r:embed="rId5" name="TYPE.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65548"/>
                                        </p:tgtEl>
                                        <p:attrNameLst>
                                          <p:attrName>style.visibility</p:attrName>
                                        </p:attrNameLst>
                                      </p:cBhvr>
                                      <p:to>
                                        <p:strVal val="visible"/>
                                      </p:to>
                                    </p:set>
                                    <p:animEffect transition="in" filter="box(in)">
                                      <p:cBhvr>
                                        <p:cTn id="47" dur="500"/>
                                        <p:tgtEl>
                                          <p:spTgt spid="65548"/>
                                        </p:tgtEl>
                                      </p:cBhvr>
                                    </p:animEffect>
                                  </p:childTnLst>
                                  <p:subTnLst>
                                    <p:audio>
                                      <p:cMediaNode>
                                        <p:cTn display="0" masterRel="sameClick">
                                          <p:stCondLst>
                                            <p:cond evt="begin" delay="0">
                                              <p:tn val="45"/>
                                            </p:cond>
                                          </p:stCondLst>
                                          <p:endCondLst>
                                            <p:cond evt="onStopAudio" delay="0">
                                              <p:tgtEl>
                                                <p:sldTgt/>
                                              </p:tgtEl>
                                            </p:cond>
                                          </p:endCondLst>
                                        </p:cTn>
                                        <p:tgtEl>
                                          <p:sndTgt r:embed="rId5"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utoUpdateAnimBg="0"/>
      <p:bldP spid="65542" grpId="0" autoUpdateAnimBg="0"/>
      <p:bldP spid="65544" grpId="0" autoUpdateAnimBg="0"/>
      <p:bldP spid="65546" grpId="0" autoUpdateAnimBg="0"/>
      <p:bldP spid="65548"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79388" y="866775"/>
            <a:ext cx="55451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solidFill>
                  <a:srgbClr val="0000FF"/>
                </a:solidFill>
                <a:ea typeface="华文中宋" pitchFamily="2" charset="-122"/>
              </a:rPr>
              <a:t>2</a:t>
            </a:r>
            <a:r>
              <a:rPr lang="zh-CN" altLang="en-US" sz="1800">
                <a:solidFill>
                  <a:srgbClr val="0000FF"/>
                </a:solidFill>
                <a:ea typeface="华文中宋" pitchFamily="2" charset="-122"/>
              </a:rPr>
              <a:t>、实验验证</a:t>
            </a:r>
          </a:p>
          <a:p>
            <a:r>
              <a:rPr lang="zh-CN" altLang="en-US" sz="1800">
                <a:ea typeface="华文中宋" pitchFamily="2" charset="-122"/>
              </a:rPr>
              <a:t>（</a:t>
            </a:r>
            <a:r>
              <a:rPr lang="en-US" altLang="zh-CN" sz="1800">
                <a:ea typeface="华文中宋" pitchFamily="2" charset="-122"/>
              </a:rPr>
              <a:t>1</a:t>
            </a:r>
            <a:r>
              <a:rPr lang="zh-CN" altLang="en-US" sz="1800">
                <a:ea typeface="华文中宋" pitchFamily="2" charset="-122"/>
              </a:rPr>
              <a:t>）</a:t>
            </a:r>
            <a:r>
              <a:rPr lang="en-US" altLang="zh-CN" sz="1800">
                <a:ea typeface="华文中宋" pitchFamily="2" charset="-122"/>
              </a:rPr>
              <a:t>1901</a:t>
            </a:r>
            <a:r>
              <a:rPr lang="zh-CN" altLang="en-US" sz="1800">
                <a:ea typeface="华文中宋" pitchFamily="2" charset="-122"/>
              </a:rPr>
              <a:t>年考夫曼（</a:t>
            </a:r>
            <a:r>
              <a:rPr lang="en-US" altLang="zh-CN" sz="1800">
                <a:ea typeface="华文中宋" pitchFamily="2" charset="-122"/>
              </a:rPr>
              <a:t>Kaufmann</a:t>
            </a:r>
            <a:r>
              <a:rPr lang="zh-CN" altLang="en-US" sz="1800">
                <a:ea typeface="华文中宋" pitchFamily="2" charset="-122"/>
              </a:rPr>
              <a:t>）从放射性镭发射的高速电子流（</a:t>
            </a:r>
            <a:r>
              <a:rPr lang="zh-CN" altLang="en-US" sz="1800">
                <a:ea typeface="华文中宋" pitchFamily="2" charset="-122"/>
                <a:sym typeface="Symbol" pitchFamily="18" charset="2"/>
              </a:rPr>
              <a:t></a:t>
            </a:r>
            <a:r>
              <a:rPr lang="zh-CN" altLang="en-US" sz="1800">
                <a:ea typeface="华文中宋" pitchFamily="2" charset="-122"/>
              </a:rPr>
              <a:t>射线）实验中发现电子质量随速度增大而增大的现象。</a:t>
            </a:r>
          </a:p>
        </p:txBody>
      </p:sp>
      <p:sp>
        <p:nvSpPr>
          <p:cNvPr id="64515" name="Rectangle 3"/>
          <p:cNvSpPr>
            <a:spLocks noChangeArrowheads="1"/>
          </p:cNvSpPr>
          <p:nvPr/>
        </p:nvSpPr>
        <p:spPr bwMode="auto">
          <a:xfrm>
            <a:off x="79375" y="2841625"/>
            <a:ext cx="852487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a:ea typeface="华文中宋" pitchFamily="2" charset="-122"/>
              </a:rPr>
              <a:t> </a:t>
            </a:r>
            <a:r>
              <a:rPr lang="zh-CN" altLang="en-US" sz="1800">
                <a:ea typeface="华文中宋" pitchFamily="2" charset="-122"/>
              </a:rPr>
              <a:t>（</a:t>
            </a:r>
            <a:r>
              <a:rPr lang="en-US" altLang="zh-CN" sz="1800">
                <a:ea typeface="华文中宋" pitchFamily="2" charset="-122"/>
              </a:rPr>
              <a:t>3</a:t>
            </a:r>
            <a:r>
              <a:rPr lang="zh-CN" altLang="en-US" sz="1800">
                <a:ea typeface="华文中宋" pitchFamily="2" charset="-122"/>
              </a:rPr>
              <a:t>）</a:t>
            </a:r>
            <a:r>
              <a:rPr lang="en-US" altLang="zh-CN" sz="1800">
                <a:ea typeface="华文中宋" pitchFamily="2" charset="-122"/>
              </a:rPr>
              <a:t>1932</a:t>
            </a:r>
            <a:r>
              <a:rPr lang="zh-CN" altLang="en-US" sz="1800">
                <a:ea typeface="华文中宋" pitchFamily="2" charset="-122"/>
              </a:rPr>
              <a:t>年查平（</a:t>
            </a:r>
            <a:r>
              <a:rPr lang="en-US" altLang="zh-CN" sz="1800">
                <a:ea typeface="华文中宋" pitchFamily="2" charset="-122"/>
              </a:rPr>
              <a:t>Champion</a:t>
            </a:r>
            <a:r>
              <a:rPr lang="zh-CN" altLang="en-US" sz="1800">
                <a:ea typeface="华文中宋" pitchFamily="2" charset="-122"/>
              </a:rPr>
              <a:t>）发现两全同粒子非对心完全弹性散射</a:t>
            </a:r>
            <a:r>
              <a:rPr lang="en-US" altLang="zh-CN" sz="1800">
                <a:ea typeface="华文中宋" pitchFamily="2" charset="-122"/>
              </a:rPr>
              <a:t>(</a:t>
            </a:r>
            <a:r>
              <a:rPr lang="zh-CN" altLang="en-US" sz="1800">
                <a:ea typeface="华文中宋" pitchFamily="2" charset="-122"/>
              </a:rPr>
              <a:t>其中一个静止），碰后两粒子末速夹角小于</a:t>
            </a:r>
            <a:r>
              <a:rPr lang="en-US" altLang="zh-CN" sz="1800">
                <a:ea typeface="华文中宋" pitchFamily="2" charset="-122"/>
              </a:rPr>
              <a:t>90</a:t>
            </a:r>
            <a:r>
              <a:rPr lang="en-US" altLang="zh-CN" sz="1800" baseline="30000">
                <a:ea typeface="华文中宋" pitchFamily="2" charset="-122"/>
              </a:rPr>
              <a:t>0</a:t>
            </a:r>
            <a:r>
              <a:rPr lang="zh-CN" altLang="en-US" sz="1800">
                <a:ea typeface="华文中宋" pitchFamily="2" charset="-122"/>
              </a:rPr>
              <a:t>，该结果洽与能量守恒和相对论的质速关系相符。 </a:t>
            </a:r>
          </a:p>
        </p:txBody>
      </p:sp>
      <p:sp>
        <p:nvSpPr>
          <p:cNvPr id="64523" name="Rectangle 11"/>
          <p:cNvSpPr>
            <a:spLocks noChangeArrowheads="1"/>
          </p:cNvSpPr>
          <p:nvPr/>
        </p:nvSpPr>
        <p:spPr bwMode="auto">
          <a:xfrm>
            <a:off x="179388" y="2070100"/>
            <a:ext cx="54721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a:t>
            </a:r>
            <a:r>
              <a:rPr lang="en-US" altLang="zh-CN" sz="1800">
                <a:ea typeface="华文中宋" pitchFamily="2" charset="-122"/>
              </a:rPr>
              <a:t>2</a:t>
            </a:r>
            <a:r>
              <a:rPr lang="zh-CN" altLang="en-US" sz="1800">
                <a:ea typeface="华文中宋" pitchFamily="2" charset="-122"/>
              </a:rPr>
              <a:t>）</a:t>
            </a:r>
            <a:r>
              <a:rPr lang="en-US" altLang="zh-CN" sz="1800">
                <a:ea typeface="华文中宋" pitchFamily="2" charset="-122"/>
              </a:rPr>
              <a:t>1909</a:t>
            </a:r>
            <a:r>
              <a:rPr lang="zh-CN" altLang="en-US" sz="1800">
                <a:ea typeface="华文中宋" pitchFamily="2" charset="-122"/>
              </a:rPr>
              <a:t>年布赛勒（</a:t>
            </a:r>
            <a:r>
              <a:rPr lang="en-US" altLang="zh-CN" sz="1800">
                <a:ea typeface="华文中宋" pitchFamily="2" charset="-122"/>
              </a:rPr>
              <a:t>Bucherer</a:t>
            </a:r>
            <a:r>
              <a:rPr lang="zh-CN" altLang="en-US" sz="1800">
                <a:ea typeface="华文中宋" pitchFamily="2" charset="-122"/>
              </a:rPr>
              <a:t>）重新测量</a:t>
            </a:r>
            <a:r>
              <a:rPr lang="zh-CN" altLang="en-US" sz="1800">
                <a:ea typeface="华文中宋" pitchFamily="2" charset="-122"/>
                <a:sym typeface="Symbol" pitchFamily="18" charset="2"/>
              </a:rPr>
              <a:t></a:t>
            </a:r>
            <a:r>
              <a:rPr lang="zh-CN" altLang="en-US" sz="1800">
                <a:ea typeface="华文中宋" pitchFamily="2" charset="-122"/>
              </a:rPr>
              <a:t>射线的荷质比，其结果与相对论的质速关系常吻合。 </a:t>
            </a:r>
          </a:p>
        </p:txBody>
      </p:sp>
      <p:pic>
        <p:nvPicPr>
          <p:cNvPr id="64524" name="Picture 12" descr="15-15"/>
          <p:cNvPicPr>
            <a:picLocks noChangeAspect="1" noChangeArrowheads="1"/>
          </p:cNvPicPr>
          <p:nvPr/>
        </p:nvPicPr>
        <p:blipFill>
          <a:blip r:embed="rId5">
            <a:lum bright="12000"/>
            <a:extLst>
              <a:ext uri="{28A0092B-C50C-407E-A947-70E740481C1C}">
                <a14:useLocalDpi xmlns:a14="http://schemas.microsoft.com/office/drawing/2010/main" val="0"/>
              </a:ext>
            </a:extLst>
          </a:blip>
          <a:srcRect/>
          <a:stretch>
            <a:fillRect/>
          </a:stretch>
        </p:blipFill>
        <p:spPr bwMode="auto">
          <a:xfrm>
            <a:off x="6011863" y="901700"/>
            <a:ext cx="3024187" cy="1814513"/>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64525" name="Text Box 13"/>
          <p:cNvSpPr txBox="1">
            <a:spLocks noChangeArrowheads="1"/>
          </p:cNvSpPr>
          <p:nvPr/>
        </p:nvSpPr>
        <p:spPr bwMode="auto">
          <a:xfrm>
            <a:off x="323850" y="3651250"/>
            <a:ext cx="86407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  孙悟空一个筋斗云十万八千里，假定用时</a:t>
            </a:r>
            <a:r>
              <a:rPr lang="en-US" altLang="zh-CN" sz="1800">
                <a:solidFill>
                  <a:srgbClr val="0000FF"/>
                </a:solidFill>
                <a:ea typeface="华文中宋" pitchFamily="2" charset="-122"/>
              </a:rPr>
              <a:t>10s</a:t>
            </a:r>
            <a:r>
              <a:rPr lang="zh-CN" altLang="en-US" sz="1800">
                <a:solidFill>
                  <a:srgbClr val="0000FF"/>
                </a:solidFill>
                <a:ea typeface="华文中宋" pitchFamily="2" charset="-122"/>
              </a:rPr>
              <a:t>，则速度</a:t>
            </a:r>
            <a:r>
              <a:rPr lang="en-US" altLang="zh-CN" sz="1800" i="1">
                <a:solidFill>
                  <a:srgbClr val="0000FF"/>
                </a:solidFill>
                <a:ea typeface="华文中宋" pitchFamily="2" charset="-122"/>
              </a:rPr>
              <a:t>v</a:t>
            </a:r>
            <a:r>
              <a:rPr lang="en-US" altLang="zh-CN" sz="1800">
                <a:solidFill>
                  <a:srgbClr val="0000FF"/>
                </a:solidFill>
                <a:ea typeface="华文中宋" pitchFamily="2" charset="-122"/>
              </a:rPr>
              <a:t>=5400km/s</a:t>
            </a:r>
            <a:r>
              <a:rPr lang="zh-CN" altLang="en-US" sz="1800">
                <a:solidFill>
                  <a:srgbClr val="0000FF"/>
                </a:solidFill>
                <a:ea typeface="华文中宋" pitchFamily="2" charset="-122"/>
              </a:rPr>
              <a:t>， </a:t>
            </a:r>
            <a:r>
              <a:rPr lang="en-US" altLang="zh-CN" sz="1800" i="1">
                <a:solidFill>
                  <a:srgbClr val="0000FF"/>
                </a:solidFill>
                <a:ea typeface="华文中宋" pitchFamily="2" charset="-122"/>
              </a:rPr>
              <a:t>m</a:t>
            </a:r>
            <a:r>
              <a:rPr lang="en-US" altLang="zh-CN" sz="1000">
                <a:solidFill>
                  <a:srgbClr val="0000FF"/>
                </a:solidFill>
                <a:ea typeface="华文中宋" pitchFamily="2" charset="-122"/>
              </a:rPr>
              <a:t>0</a:t>
            </a:r>
            <a:r>
              <a:rPr lang="en-US" altLang="zh-CN" sz="1800">
                <a:solidFill>
                  <a:srgbClr val="0000FF"/>
                </a:solidFill>
                <a:ea typeface="华文中宋" pitchFamily="2" charset="-122"/>
              </a:rPr>
              <a:t>=55kg</a:t>
            </a:r>
            <a:r>
              <a:rPr lang="zh-CN" altLang="en-US" sz="1800">
                <a:solidFill>
                  <a:srgbClr val="0000FF"/>
                </a:solidFill>
                <a:ea typeface="华文中宋" pitchFamily="2" charset="-122"/>
              </a:rPr>
              <a:t>，那么质量变化为多少？</a:t>
            </a:r>
          </a:p>
        </p:txBody>
      </p:sp>
      <p:graphicFrame>
        <p:nvGraphicFramePr>
          <p:cNvPr id="64528" name="Object 16"/>
          <p:cNvGraphicFramePr>
            <a:graphicFrameLocks noChangeAspect="1"/>
          </p:cNvGraphicFramePr>
          <p:nvPr/>
        </p:nvGraphicFramePr>
        <p:xfrm>
          <a:off x="2601913" y="4011613"/>
          <a:ext cx="5065712" cy="619125"/>
        </p:xfrm>
        <a:graphic>
          <a:graphicData uri="http://schemas.openxmlformats.org/presentationml/2006/ole">
            <mc:AlternateContent xmlns:mc="http://schemas.openxmlformats.org/markup-compatibility/2006">
              <mc:Choice xmlns:v="urn:schemas-microsoft-com:vml" Requires="v">
                <p:oleObj spid="_x0000_s65545" name="Equation" r:id="rId6" imgW="2400120" imgH="558720" progId="Equation.DSMT4">
                  <p:embed/>
                </p:oleObj>
              </mc:Choice>
              <mc:Fallback>
                <p:oleObj name="Equation" r:id="rId6" imgW="2400120" imgH="558720" progId="Equation.DSMT4">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1913" y="4011613"/>
                        <a:ext cx="506571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514"/>
                                        </p:tgtEl>
                                        <p:attrNameLst>
                                          <p:attrName>style.visibility</p:attrName>
                                        </p:attrNameLst>
                                      </p:cBhvr>
                                      <p:to>
                                        <p:strVal val="visible"/>
                                      </p:to>
                                    </p:set>
                                    <p:animEffect transition="in" filter="dissolve">
                                      <p:cBhvr>
                                        <p:cTn id="7" dur="500"/>
                                        <p:tgtEl>
                                          <p:spTgt spid="64514"/>
                                        </p:tgtEl>
                                      </p:cBhvr>
                                    </p:animEffect>
                                  </p:childTnLst>
                                  <p:subTnLst>
                                    <p:audio>
                                      <p:cMediaNode>
                                        <p:cTn display="0" masterRel="sameClick">
                                          <p:stCondLst>
                                            <p:cond evt="begin" delay="0">
                                              <p:tn val="5"/>
                                            </p:cond>
                                          </p:stCondLst>
                                          <p:endCondLst>
                                            <p:cond evt="onStopAudio" delay="0">
                                              <p:tgtEl>
                                                <p:sldTgt/>
                                              </p:tgtEl>
                                            </p:cond>
                                          </p:endCondLst>
                                        </p:cTn>
                                        <p:tgtEl>
                                          <p:sndTgt r:embed="rId4"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4523"/>
                                        </p:tgtEl>
                                        <p:attrNameLst>
                                          <p:attrName>style.visibility</p:attrName>
                                        </p:attrNameLst>
                                      </p:cBhvr>
                                      <p:to>
                                        <p:strVal val="visible"/>
                                      </p:to>
                                    </p:set>
                                    <p:animEffect transition="in" filter="dissolve">
                                      <p:cBhvr>
                                        <p:cTn id="12" dur="500"/>
                                        <p:tgtEl>
                                          <p:spTgt spid="64523"/>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64524"/>
                                        </p:tgtEl>
                                        <p:attrNameLst>
                                          <p:attrName>style.visibility</p:attrName>
                                        </p:attrNameLst>
                                      </p:cBhvr>
                                      <p:to>
                                        <p:strVal val="visible"/>
                                      </p:to>
                                    </p:set>
                                    <p:animEffect transition="in" filter="wipe(down)">
                                      <p:cBhvr>
                                        <p:cTn id="16" dur="500"/>
                                        <p:tgtEl>
                                          <p:spTgt spid="6452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4515"/>
                                        </p:tgtEl>
                                        <p:attrNameLst>
                                          <p:attrName>style.visibility</p:attrName>
                                        </p:attrNameLst>
                                      </p:cBhvr>
                                      <p:to>
                                        <p:strVal val="visible"/>
                                      </p:to>
                                    </p:set>
                                    <p:animEffect transition="in" filter="dissolve">
                                      <p:cBhvr>
                                        <p:cTn id="21" dur="500"/>
                                        <p:tgtEl>
                                          <p:spTgt spid="64515"/>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4525"/>
                                        </p:tgtEl>
                                        <p:attrNameLst>
                                          <p:attrName>style.visibility</p:attrName>
                                        </p:attrNameLst>
                                      </p:cBhvr>
                                      <p:to>
                                        <p:strVal val="visible"/>
                                      </p:to>
                                    </p:set>
                                    <p:animEffect transition="in" filter="blinds(horizontal)">
                                      <p:cBhvr>
                                        <p:cTn id="26" dur="500"/>
                                        <p:tgtEl>
                                          <p:spTgt spid="6452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64528"/>
                                        </p:tgtEl>
                                        <p:attrNameLst>
                                          <p:attrName>style.visibility</p:attrName>
                                        </p:attrNameLst>
                                      </p:cBhvr>
                                      <p:to>
                                        <p:strVal val="visible"/>
                                      </p:to>
                                    </p:set>
                                    <p:animEffect transition="in" filter="dissolve">
                                      <p:cBhvr>
                                        <p:cTn id="31" dur="500"/>
                                        <p:tgtEl>
                                          <p:spTgt spid="645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autoUpdateAnimBg="0"/>
      <p:bldP spid="64515" grpId="0" autoUpdateAnimBg="0"/>
      <p:bldP spid="64523" grpId="0" autoUpdateAnimBg="0"/>
      <p:bldP spid="6452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3" name="Object 3"/>
          <p:cNvGraphicFramePr>
            <a:graphicFrameLocks noChangeAspect="1"/>
          </p:cNvGraphicFramePr>
          <p:nvPr/>
        </p:nvGraphicFramePr>
        <p:xfrm>
          <a:off x="3592513" y="896938"/>
          <a:ext cx="3282950" cy="1098550"/>
        </p:xfrm>
        <a:graphic>
          <a:graphicData uri="http://schemas.openxmlformats.org/presentationml/2006/ole">
            <mc:AlternateContent xmlns:mc="http://schemas.openxmlformats.org/markup-compatibility/2006">
              <mc:Choice xmlns:v="urn:schemas-microsoft-com:vml" Requires="v">
                <p:oleObj spid="_x0000_s66578" name="公式" r:id="rId5" imgW="1168400" imgH="520700" progId="Equation.3">
                  <p:embed/>
                </p:oleObj>
              </mc:Choice>
              <mc:Fallback>
                <p:oleObj name="公式" r:id="rId5" imgW="1168400" imgH="5207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2513" y="896938"/>
                        <a:ext cx="3282950" cy="1098550"/>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574" name="Object 14"/>
          <p:cNvGraphicFramePr>
            <a:graphicFrameLocks noChangeAspect="1"/>
          </p:cNvGraphicFramePr>
          <p:nvPr/>
        </p:nvGraphicFramePr>
        <p:xfrm>
          <a:off x="3662363" y="2139950"/>
          <a:ext cx="4581525" cy="912813"/>
        </p:xfrm>
        <a:graphic>
          <a:graphicData uri="http://schemas.openxmlformats.org/presentationml/2006/ole">
            <mc:AlternateContent xmlns:mc="http://schemas.openxmlformats.org/markup-compatibility/2006">
              <mc:Choice xmlns:v="urn:schemas-microsoft-com:vml" Requires="v">
                <p:oleObj spid="_x0000_s66579" name="Equation" r:id="rId7" imgW="2387520" imgH="634680" progId="Equation.DSMT4">
                  <p:embed/>
                </p:oleObj>
              </mc:Choice>
              <mc:Fallback>
                <p:oleObj name="Equation" r:id="rId7" imgW="2387520" imgH="63468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62363" y="2139950"/>
                        <a:ext cx="4581525"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75" name="Rectangle 15"/>
          <p:cNvSpPr>
            <a:spLocks noChangeArrowheads="1"/>
          </p:cNvSpPr>
          <p:nvPr/>
        </p:nvSpPr>
        <p:spPr bwMode="auto">
          <a:xfrm>
            <a:off x="1541463" y="2284413"/>
            <a:ext cx="20224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由动能定理有</a:t>
            </a:r>
          </a:p>
        </p:txBody>
      </p:sp>
      <p:graphicFrame>
        <p:nvGraphicFramePr>
          <p:cNvPr id="66582" name="Object 22"/>
          <p:cNvGraphicFramePr>
            <a:graphicFrameLocks noChangeAspect="1"/>
          </p:cNvGraphicFramePr>
          <p:nvPr/>
        </p:nvGraphicFramePr>
        <p:xfrm>
          <a:off x="395288" y="3151188"/>
          <a:ext cx="4897437" cy="1474787"/>
        </p:xfrm>
        <a:graphic>
          <a:graphicData uri="http://schemas.openxmlformats.org/presentationml/2006/ole">
            <mc:AlternateContent xmlns:mc="http://schemas.openxmlformats.org/markup-compatibility/2006">
              <mc:Choice xmlns:v="urn:schemas-microsoft-com:vml" Requires="v">
                <p:oleObj spid="_x0000_s66580" name="Equation" r:id="rId9" imgW="2908080" imgH="1346040" progId="Equation.DSMT4">
                  <p:embed/>
                </p:oleObj>
              </mc:Choice>
              <mc:Fallback>
                <p:oleObj name="Equation" r:id="rId9" imgW="2908080" imgH="1346040" progId="Equation.DSMT4">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3151188"/>
                        <a:ext cx="4897437"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86" name="Object 26"/>
          <p:cNvGraphicFramePr>
            <a:graphicFrameLocks noChangeAspect="1"/>
          </p:cNvGraphicFramePr>
          <p:nvPr/>
        </p:nvGraphicFramePr>
        <p:xfrm>
          <a:off x="6516688" y="4060825"/>
          <a:ext cx="2498725" cy="357188"/>
        </p:xfrm>
        <a:graphic>
          <a:graphicData uri="http://schemas.openxmlformats.org/presentationml/2006/ole">
            <mc:AlternateContent xmlns:mc="http://schemas.openxmlformats.org/markup-compatibility/2006">
              <mc:Choice xmlns:v="urn:schemas-microsoft-com:vml" Requires="v">
                <p:oleObj spid="_x0000_s66581" name="Equation" r:id="rId11" imgW="1257120" imgH="241200" progId="Equation.DSMT4">
                  <p:embed/>
                </p:oleObj>
              </mc:Choice>
              <mc:Fallback>
                <p:oleObj name="Equation" r:id="rId11" imgW="1257120" imgH="241200" progId="Equation.DSMT4">
                  <p:embed/>
                  <p:pic>
                    <p:nvPicPr>
                      <p:cNvPr id="0" name="Object 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16688" y="4060825"/>
                        <a:ext cx="2498725" cy="3571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87" name="AutoShape 27"/>
          <p:cNvSpPr>
            <a:spLocks/>
          </p:cNvSpPr>
          <p:nvPr/>
        </p:nvSpPr>
        <p:spPr bwMode="auto">
          <a:xfrm rot="1739880">
            <a:off x="6159500" y="3152775"/>
            <a:ext cx="576263" cy="1403350"/>
          </a:xfrm>
          <a:prstGeom prst="rightBrace">
            <a:avLst>
              <a:gd name="adj1" fmla="val 27058"/>
              <a:gd name="adj2" fmla="val 50125"/>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 name="Group 29"/>
          <p:cNvGrpSpPr>
            <a:grpSpLocks/>
          </p:cNvGrpSpPr>
          <p:nvPr/>
        </p:nvGrpSpPr>
        <p:grpSpPr bwMode="auto">
          <a:xfrm>
            <a:off x="6705600" y="1058863"/>
            <a:ext cx="2438400" cy="385762"/>
            <a:chOff x="3787" y="663"/>
            <a:chExt cx="1559" cy="323"/>
          </a:xfrm>
        </p:grpSpPr>
        <p:sp>
          <p:nvSpPr>
            <p:cNvPr id="66571" name="Text Box 20"/>
            <p:cNvSpPr txBox="1">
              <a:spLocks noChangeArrowheads="1"/>
            </p:cNvSpPr>
            <p:nvPr/>
          </p:nvSpPr>
          <p:spPr bwMode="auto">
            <a:xfrm>
              <a:off x="3787" y="676"/>
              <a:ext cx="89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eaLnBrk="1" hangingPunct="1"/>
              <a:r>
                <a:rPr lang="zh-CN" altLang="en-US" sz="1800">
                  <a:latin typeface="楷体_GB2312" pitchFamily="49" charset="-122"/>
                </a:rPr>
                <a:t>当</a:t>
              </a:r>
              <a:r>
                <a:rPr lang="en-US" altLang="zh-CN" sz="1800" i="1">
                  <a:ea typeface="宋体" pitchFamily="2" charset="-122"/>
                </a:rPr>
                <a:t>v</a:t>
              </a:r>
              <a:r>
                <a:rPr lang="en-US" altLang="zh-CN" sz="1800">
                  <a:ea typeface="宋体" pitchFamily="2" charset="-122"/>
                </a:rPr>
                <a:t>&lt;&lt;</a:t>
              </a:r>
              <a:r>
                <a:rPr lang="en-US" altLang="zh-CN" sz="1800" i="1">
                  <a:ea typeface="宋体" pitchFamily="2" charset="-122"/>
                </a:rPr>
                <a:t>c</a:t>
              </a:r>
              <a:r>
                <a:rPr lang="zh-CN" altLang="en-US" sz="1800">
                  <a:latin typeface="楷体_GB2312" pitchFamily="49" charset="-122"/>
                </a:rPr>
                <a:t>时</a:t>
              </a:r>
            </a:p>
          </p:txBody>
        </p:sp>
        <p:graphicFrame>
          <p:nvGraphicFramePr>
            <p:cNvPr id="66572" name="Object 28"/>
            <p:cNvGraphicFramePr>
              <a:graphicFrameLocks noChangeAspect="1"/>
            </p:cNvGraphicFramePr>
            <p:nvPr/>
          </p:nvGraphicFramePr>
          <p:xfrm>
            <a:off x="4604" y="663"/>
            <a:ext cx="742" cy="315"/>
          </p:xfrm>
          <a:graphic>
            <a:graphicData uri="http://schemas.openxmlformats.org/presentationml/2006/ole">
              <mc:AlternateContent xmlns:mc="http://schemas.openxmlformats.org/markup-compatibility/2006">
                <mc:Choice xmlns:v="urn:schemas-microsoft-com:vml" Requires="v">
                  <p:oleObj spid="_x0000_s66582" name="公式" r:id="rId13" imgW="418918" imgH="177723" progId="Equation.3">
                    <p:embed/>
                  </p:oleObj>
                </mc:Choice>
                <mc:Fallback>
                  <p:oleObj name="公式" r:id="rId13" imgW="418918" imgH="177723" progId="Equation.3">
                    <p:embed/>
                    <p:pic>
                      <p:nvPicPr>
                        <p:cNvPr id="0" name="Object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04" y="663"/>
                          <a:ext cx="742" cy="315"/>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6569" name="Text Box 2"/>
          <p:cNvSpPr>
            <a:spLocks noChangeArrowheads="1"/>
          </p:cNvSpPr>
          <p:nvPr/>
        </p:nvSpPr>
        <p:spPr bwMode="auto">
          <a:xfrm>
            <a:off x="447675" y="915988"/>
            <a:ext cx="2900363" cy="400050"/>
          </a:xfrm>
          <a:prstGeom prst="homePlate">
            <a:avLst>
              <a:gd name="adj" fmla="val 4987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二、相对论中的动量 </a:t>
            </a:r>
          </a:p>
        </p:txBody>
      </p:sp>
      <p:sp>
        <p:nvSpPr>
          <p:cNvPr id="14" name="Text Box 2"/>
          <p:cNvSpPr>
            <a:spLocks noChangeArrowheads="1"/>
          </p:cNvSpPr>
          <p:nvPr/>
        </p:nvSpPr>
        <p:spPr bwMode="auto">
          <a:xfrm>
            <a:off x="447675" y="1739900"/>
            <a:ext cx="3548063" cy="400050"/>
          </a:xfrm>
          <a:prstGeom prst="homePlate">
            <a:avLst>
              <a:gd name="adj" fmla="val 49847"/>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三、相对论中的的质能关系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6563"/>
                                        </p:tgtEl>
                                        <p:attrNameLst>
                                          <p:attrName>style.visibility</p:attrName>
                                        </p:attrNameLst>
                                      </p:cBhvr>
                                      <p:to>
                                        <p:strVal val="visible"/>
                                      </p:to>
                                    </p:set>
                                    <p:animEffect transition="in" filter="box(in)">
                                      <p:cBhvr>
                                        <p:cTn id="7" dur="500"/>
                                        <p:tgtEl>
                                          <p:spTgt spid="66563"/>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6575"/>
                                        </p:tgtEl>
                                        <p:attrNameLst>
                                          <p:attrName>style.visibility</p:attrName>
                                        </p:attrNameLst>
                                      </p:cBhvr>
                                      <p:to>
                                        <p:strVal val="visible"/>
                                      </p:to>
                                    </p:set>
                                    <p:animEffect transition="in" filter="blinds(horizontal)">
                                      <p:cBhvr>
                                        <p:cTn id="22" dur="500"/>
                                        <p:tgtEl>
                                          <p:spTgt spid="6657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66574"/>
                                        </p:tgtEl>
                                        <p:attrNameLst>
                                          <p:attrName>style.visibility</p:attrName>
                                        </p:attrNameLst>
                                      </p:cBhvr>
                                      <p:to>
                                        <p:strVal val="visible"/>
                                      </p:to>
                                    </p:set>
                                    <p:animEffect transition="in" filter="slide(fromBottom)">
                                      <p:cBhvr>
                                        <p:cTn id="27" dur="500"/>
                                        <p:tgtEl>
                                          <p:spTgt spid="66574"/>
                                        </p:tgtEl>
                                      </p:cBhvr>
                                    </p:animEffect>
                                  </p:childTnLst>
                                  <p:subTnLst>
                                    <p:audio>
                                      <p:cMediaNode>
                                        <p:cTn display="0" masterRel="sameClick">
                                          <p:stCondLst>
                                            <p:cond evt="begin" delay="0">
                                              <p:tn val="25"/>
                                            </p:cond>
                                          </p:stCondLst>
                                          <p:endCondLst>
                                            <p:cond evt="onStopAudio" delay="0">
                                              <p:tgtEl>
                                                <p:sldTgt/>
                                              </p:tgtEl>
                                            </p:cond>
                                          </p:endCondLst>
                                        </p:cTn>
                                        <p:tgtEl>
                                          <p:sndTgt r:embed="rId4"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66582"/>
                                        </p:tgtEl>
                                        <p:attrNameLst>
                                          <p:attrName>style.visibility</p:attrName>
                                        </p:attrNameLst>
                                      </p:cBhvr>
                                      <p:to>
                                        <p:strVal val="visible"/>
                                      </p:to>
                                    </p:set>
                                    <p:animEffect transition="in" filter="slide(fromBottom)">
                                      <p:cBhvr>
                                        <p:cTn id="32" dur="500"/>
                                        <p:tgtEl>
                                          <p:spTgt spid="66582"/>
                                        </p:tgtEl>
                                      </p:cBhvr>
                                    </p:animEffect>
                                  </p:childTnLst>
                                  <p:subTnLst>
                                    <p:audio>
                                      <p:cMediaNode>
                                        <p:cTn display="0" masterRel="sameClick">
                                          <p:stCondLst>
                                            <p:cond evt="begin" delay="0">
                                              <p:tn val="30"/>
                                            </p:cond>
                                          </p:stCondLst>
                                          <p:endCondLst>
                                            <p:cond evt="onStopAudio" delay="0">
                                              <p:tgtEl>
                                                <p:sldTgt/>
                                              </p:tgtEl>
                                            </p:cond>
                                          </p:endCondLst>
                                        </p:cTn>
                                        <p:tgtEl>
                                          <p:sndTgt r:embed="rId4"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6587"/>
                                        </p:tgtEl>
                                        <p:attrNameLst>
                                          <p:attrName>style.visibility</p:attrName>
                                        </p:attrNameLst>
                                      </p:cBhvr>
                                      <p:to>
                                        <p:strVal val="visible"/>
                                      </p:to>
                                    </p:set>
                                    <p:animEffect transition="in" filter="blinds(horizontal)">
                                      <p:cBhvr>
                                        <p:cTn id="37" dur="500"/>
                                        <p:tgtEl>
                                          <p:spTgt spid="6658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66586"/>
                                        </p:tgtEl>
                                        <p:attrNameLst>
                                          <p:attrName>style.visibility</p:attrName>
                                        </p:attrNameLst>
                                      </p:cBhvr>
                                      <p:to>
                                        <p:strVal val="visible"/>
                                      </p:to>
                                    </p:set>
                                    <p:animEffect transition="in" filter="slide(fromBottom)">
                                      <p:cBhvr>
                                        <p:cTn id="42" dur="500"/>
                                        <p:tgtEl>
                                          <p:spTgt spid="66586"/>
                                        </p:tgtEl>
                                      </p:cBhvr>
                                    </p:animEffect>
                                  </p:childTnLst>
                                  <p:subTnLst>
                                    <p:audio>
                                      <p:cMediaNode>
                                        <p:cTn display="0" masterRel="sameClick">
                                          <p:stCondLst>
                                            <p:cond evt="begin" delay="0">
                                              <p:tn val="40"/>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5" grpId="0"/>
      <p:bldP spid="66587" grpId="0" animBg="1"/>
      <p:bldP spid="1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25" name="Object 5"/>
          <p:cNvGraphicFramePr>
            <a:graphicFrameLocks noChangeAspect="1"/>
          </p:cNvGraphicFramePr>
          <p:nvPr/>
        </p:nvGraphicFramePr>
        <p:xfrm>
          <a:off x="1692275" y="931863"/>
          <a:ext cx="5697538" cy="919162"/>
        </p:xfrm>
        <a:graphic>
          <a:graphicData uri="http://schemas.openxmlformats.org/presentationml/2006/ole">
            <mc:AlternateContent xmlns:mc="http://schemas.openxmlformats.org/markup-compatibility/2006">
              <mc:Choice xmlns:v="urn:schemas-microsoft-com:vml" Requires="v">
                <p:oleObj spid="_x0000_s67601" name="Equation" r:id="rId4" imgW="3886200" imgH="838080" progId="Equation.DSMT4">
                  <p:embed/>
                </p:oleObj>
              </mc:Choice>
              <mc:Fallback>
                <p:oleObj name="Equation" r:id="rId4" imgW="3886200" imgH="8380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931863"/>
                        <a:ext cx="5697538"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28" name="Object 8"/>
          <p:cNvGraphicFramePr>
            <a:graphicFrameLocks noChangeAspect="1"/>
          </p:cNvGraphicFramePr>
          <p:nvPr/>
        </p:nvGraphicFramePr>
        <p:xfrm>
          <a:off x="617538" y="1917700"/>
          <a:ext cx="3810000" cy="728663"/>
        </p:xfrm>
        <a:graphic>
          <a:graphicData uri="http://schemas.openxmlformats.org/presentationml/2006/ole">
            <mc:AlternateContent xmlns:mc="http://schemas.openxmlformats.org/markup-compatibility/2006">
              <mc:Choice xmlns:v="urn:schemas-microsoft-com:vml" Requires="v">
                <p:oleObj spid="_x0000_s67602" name="Equation" r:id="rId6" imgW="2095200" imgH="622080" progId="Equation.DSMT4">
                  <p:embed/>
                </p:oleObj>
              </mc:Choice>
              <mc:Fallback>
                <p:oleObj name="Equation" r:id="rId6" imgW="2095200" imgH="62208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538" y="1917700"/>
                        <a:ext cx="3810000"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29" name="Object 9"/>
          <p:cNvGraphicFramePr>
            <a:graphicFrameLocks noChangeAspect="1"/>
          </p:cNvGraphicFramePr>
          <p:nvPr/>
        </p:nvGraphicFramePr>
        <p:xfrm>
          <a:off x="4422775" y="1851025"/>
          <a:ext cx="4037013" cy="1054100"/>
        </p:xfrm>
        <a:graphic>
          <a:graphicData uri="http://schemas.openxmlformats.org/presentationml/2006/ole">
            <mc:AlternateContent xmlns:mc="http://schemas.openxmlformats.org/markup-compatibility/2006">
              <mc:Choice xmlns:v="urn:schemas-microsoft-com:vml" Requires="v">
                <p:oleObj spid="_x0000_s67603" name="Equation" r:id="rId8" imgW="2070000" imgH="838080" progId="Equation.DSMT4">
                  <p:embed/>
                </p:oleObj>
              </mc:Choice>
              <mc:Fallback>
                <p:oleObj name="Equation" r:id="rId8" imgW="2070000" imgH="83808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2775" y="1851025"/>
                        <a:ext cx="4037013"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30" name="Object 10"/>
          <p:cNvGraphicFramePr>
            <a:graphicFrameLocks noChangeAspect="1"/>
          </p:cNvGraphicFramePr>
          <p:nvPr/>
        </p:nvGraphicFramePr>
        <p:xfrm>
          <a:off x="1071563" y="2516188"/>
          <a:ext cx="1268412" cy="342900"/>
        </p:xfrm>
        <a:graphic>
          <a:graphicData uri="http://schemas.openxmlformats.org/presentationml/2006/ole">
            <mc:AlternateContent xmlns:mc="http://schemas.openxmlformats.org/markup-compatibility/2006">
              <mc:Choice xmlns:v="urn:schemas-microsoft-com:vml" Requires="v">
                <p:oleObj spid="_x0000_s67604" name="Equation" r:id="rId10" imgW="482400" imgH="203040" progId="Equation.DSMT4">
                  <p:embed/>
                </p:oleObj>
              </mc:Choice>
              <mc:Fallback>
                <p:oleObj name="Equation" r:id="rId10" imgW="482400" imgH="20304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1563" y="2516188"/>
                        <a:ext cx="1268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31" name="Object 11"/>
          <p:cNvGraphicFramePr>
            <a:graphicFrameLocks noChangeAspect="1"/>
          </p:cNvGraphicFramePr>
          <p:nvPr/>
        </p:nvGraphicFramePr>
        <p:xfrm>
          <a:off x="1835150" y="4103688"/>
          <a:ext cx="2089150" cy="420687"/>
        </p:xfrm>
        <a:graphic>
          <a:graphicData uri="http://schemas.openxmlformats.org/presentationml/2006/ole">
            <mc:AlternateContent xmlns:mc="http://schemas.openxmlformats.org/markup-compatibility/2006">
              <mc:Choice xmlns:v="urn:schemas-microsoft-com:vml" Requires="v">
                <p:oleObj spid="_x0000_s67605" name="公式" r:id="rId12" imgW="799753" imgH="215806" progId="Equation.3">
                  <p:embed/>
                </p:oleObj>
              </mc:Choice>
              <mc:Fallback>
                <p:oleObj name="公式" r:id="rId12" imgW="799753" imgH="215806"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35150" y="4103688"/>
                        <a:ext cx="2089150" cy="42068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7932" name="Object 12"/>
          <p:cNvGraphicFramePr>
            <a:graphicFrameLocks noChangeAspect="1"/>
          </p:cNvGraphicFramePr>
          <p:nvPr/>
        </p:nvGraphicFramePr>
        <p:xfrm>
          <a:off x="4846638" y="4083050"/>
          <a:ext cx="2173287" cy="438150"/>
        </p:xfrm>
        <a:graphic>
          <a:graphicData uri="http://schemas.openxmlformats.org/presentationml/2006/ole">
            <mc:AlternateContent xmlns:mc="http://schemas.openxmlformats.org/markup-compatibility/2006">
              <mc:Choice xmlns:v="urn:schemas-microsoft-com:vml" Requires="v">
                <p:oleObj spid="_x0000_s67606" name="公式" r:id="rId14" imgW="799753" imgH="215806" progId="Equation.3">
                  <p:embed/>
                </p:oleObj>
              </mc:Choice>
              <mc:Fallback>
                <p:oleObj name="公式" r:id="rId14" imgW="799753" imgH="215806" progId="Equation.3">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46638" y="4083050"/>
                        <a:ext cx="2173287" cy="438150"/>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33" name="Rectangle 13"/>
          <p:cNvSpPr>
            <a:spLocks noChangeArrowheads="1"/>
          </p:cNvSpPr>
          <p:nvPr/>
        </p:nvSpPr>
        <p:spPr bwMode="auto">
          <a:xfrm>
            <a:off x="971550" y="3003550"/>
            <a:ext cx="6624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由于</a:t>
            </a:r>
            <a:r>
              <a:rPr lang="en-US" altLang="zh-CN" sz="1800" i="1">
                <a:ea typeface="华文中宋" pitchFamily="2" charset="-122"/>
              </a:rPr>
              <a:t>v</a:t>
            </a:r>
            <a:r>
              <a:rPr lang="en-US" altLang="zh-CN" sz="1800">
                <a:ea typeface="华文中宋" pitchFamily="2" charset="-122"/>
              </a:rPr>
              <a:t>=0  </a:t>
            </a:r>
            <a:r>
              <a:rPr lang="zh-CN" altLang="en-US" sz="1800">
                <a:ea typeface="华文中宋" pitchFamily="2" charset="-122"/>
              </a:rPr>
              <a:t>时，</a:t>
            </a:r>
            <a:r>
              <a:rPr lang="en-US" altLang="zh-CN" sz="1800">
                <a:ea typeface="华文中宋" pitchFamily="2" charset="-122"/>
              </a:rPr>
              <a:t>d</a:t>
            </a:r>
            <a:r>
              <a:rPr lang="en-US" altLang="zh-CN" sz="1800" i="1">
                <a:ea typeface="华文中宋" pitchFamily="2" charset="-122"/>
              </a:rPr>
              <a:t>E</a:t>
            </a:r>
            <a:r>
              <a:rPr lang="en-US" altLang="zh-CN" sz="1800" baseline="-25000">
                <a:ea typeface="华文中宋" pitchFamily="2" charset="-122"/>
              </a:rPr>
              <a:t>k</a:t>
            </a:r>
            <a:r>
              <a:rPr lang="en-US" altLang="zh-CN" sz="1800">
                <a:ea typeface="华文中宋" pitchFamily="2" charset="-122"/>
              </a:rPr>
              <a:t>=0</a:t>
            </a:r>
            <a:r>
              <a:rPr lang="zh-CN" altLang="en-US" sz="1800">
                <a:ea typeface="华文中宋" pitchFamily="2" charset="-122"/>
              </a:rPr>
              <a:t>，</a:t>
            </a:r>
            <a:r>
              <a:rPr lang="en-US" altLang="zh-CN" sz="1800" i="1">
                <a:ea typeface="华文中宋" pitchFamily="2" charset="-122"/>
              </a:rPr>
              <a:t>m</a:t>
            </a:r>
            <a:r>
              <a:rPr lang="en-US" altLang="zh-CN" sz="1800">
                <a:ea typeface="华文中宋" pitchFamily="2" charset="-122"/>
              </a:rPr>
              <a:t>=</a:t>
            </a:r>
            <a:r>
              <a:rPr lang="en-US" altLang="zh-CN" sz="1800" i="1">
                <a:ea typeface="华文中宋" pitchFamily="2" charset="-122"/>
              </a:rPr>
              <a:t>m</a:t>
            </a:r>
            <a:r>
              <a:rPr lang="en-US" altLang="zh-CN" sz="1800" baseline="-25000">
                <a:ea typeface="华文中宋" pitchFamily="2" charset="-122"/>
              </a:rPr>
              <a:t>0</a:t>
            </a:r>
            <a:r>
              <a:rPr lang="zh-CN" altLang="en-US" sz="1800">
                <a:ea typeface="华文中宋" pitchFamily="2" charset="-122"/>
              </a:rPr>
              <a:t>，两边积分：     </a:t>
            </a:r>
          </a:p>
        </p:txBody>
      </p:sp>
      <p:graphicFrame>
        <p:nvGraphicFramePr>
          <p:cNvPr id="337934" name="Object 14"/>
          <p:cNvGraphicFramePr>
            <a:graphicFrameLocks noChangeAspect="1"/>
          </p:cNvGraphicFramePr>
          <p:nvPr/>
        </p:nvGraphicFramePr>
        <p:xfrm>
          <a:off x="3295650" y="3524250"/>
          <a:ext cx="2284413" cy="522288"/>
        </p:xfrm>
        <a:graphic>
          <a:graphicData uri="http://schemas.openxmlformats.org/presentationml/2006/ole">
            <mc:AlternateContent xmlns:mc="http://schemas.openxmlformats.org/markup-compatibility/2006">
              <mc:Choice xmlns:v="urn:schemas-microsoft-com:vml" Requires="v">
                <p:oleObj spid="_x0000_s67607" name="Equation" r:id="rId16" imgW="1143000" imgH="355320" progId="Equation.DSMT4">
                  <p:embed/>
                </p:oleObj>
              </mc:Choice>
              <mc:Fallback>
                <p:oleObj name="Equation" r:id="rId16" imgW="1143000" imgH="355320" progId="Equation.DSMT4">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95650" y="3524250"/>
                        <a:ext cx="22844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37925"/>
                                        </p:tgtEl>
                                        <p:attrNameLst>
                                          <p:attrName>style.visibility</p:attrName>
                                        </p:attrNameLst>
                                      </p:cBhvr>
                                      <p:to>
                                        <p:strVal val="visible"/>
                                      </p:to>
                                    </p:set>
                                    <p:animEffect transition="in" filter="slide(fromBottom)">
                                      <p:cBhvr>
                                        <p:cTn id="7" dur="500"/>
                                        <p:tgtEl>
                                          <p:spTgt spid="337925"/>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nodeType="clickEffect">
                                  <p:stCondLst>
                                    <p:cond delay="0"/>
                                  </p:stCondLst>
                                  <p:childTnLst>
                                    <p:set>
                                      <p:cBhvr>
                                        <p:cTn id="11" dur="1" fill="hold">
                                          <p:stCondLst>
                                            <p:cond delay="0"/>
                                          </p:stCondLst>
                                        </p:cTn>
                                        <p:tgtEl>
                                          <p:spTgt spid="337928"/>
                                        </p:tgtEl>
                                        <p:attrNameLst>
                                          <p:attrName>style.visibility</p:attrName>
                                        </p:attrNameLst>
                                      </p:cBhvr>
                                      <p:to>
                                        <p:strVal val="visible"/>
                                      </p:to>
                                    </p:set>
                                    <p:animEffect transition="in" filter="barn(inHorizontal)">
                                      <p:cBhvr>
                                        <p:cTn id="12" dur="500"/>
                                        <p:tgtEl>
                                          <p:spTgt spid="337928"/>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nodeType="clickEffect">
                                  <p:stCondLst>
                                    <p:cond delay="0"/>
                                  </p:stCondLst>
                                  <p:childTnLst>
                                    <p:set>
                                      <p:cBhvr>
                                        <p:cTn id="16" dur="1" fill="hold">
                                          <p:stCondLst>
                                            <p:cond delay="0"/>
                                          </p:stCondLst>
                                        </p:cTn>
                                        <p:tgtEl>
                                          <p:spTgt spid="337929"/>
                                        </p:tgtEl>
                                        <p:attrNameLst>
                                          <p:attrName>style.visibility</p:attrName>
                                        </p:attrNameLst>
                                      </p:cBhvr>
                                      <p:to>
                                        <p:strVal val="visible"/>
                                      </p:to>
                                    </p:set>
                                    <p:animEffect transition="in" filter="barn(inHorizontal)">
                                      <p:cBhvr>
                                        <p:cTn id="17" dur="500"/>
                                        <p:tgtEl>
                                          <p:spTgt spid="337929"/>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nodeType="clickEffect">
                                  <p:stCondLst>
                                    <p:cond delay="0"/>
                                  </p:stCondLst>
                                  <p:childTnLst>
                                    <p:set>
                                      <p:cBhvr>
                                        <p:cTn id="21" dur="1" fill="hold">
                                          <p:stCondLst>
                                            <p:cond delay="0"/>
                                          </p:stCondLst>
                                        </p:cTn>
                                        <p:tgtEl>
                                          <p:spTgt spid="337930"/>
                                        </p:tgtEl>
                                        <p:attrNameLst>
                                          <p:attrName>style.visibility</p:attrName>
                                        </p:attrNameLst>
                                      </p:cBhvr>
                                      <p:to>
                                        <p:strVal val="visible"/>
                                      </p:to>
                                    </p:set>
                                    <p:animEffect transition="in" filter="barn(inHorizontal)">
                                      <p:cBhvr>
                                        <p:cTn id="22" dur="500"/>
                                        <p:tgtEl>
                                          <p:spTgt spid="337930"/>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37933"/>
                                        </p:tgtEl>
                                        <p:attrNameLst>
                                          <p:attrName>style.visibility</p:attrName>
                                        </p:attrNameLst>
                                      </p:cBhvr>
                                      <p:to>
                                        <p:strVal val="visible"/>
                                      </p:to>
                                    </p:set>
                                    <p:animEffect transition="in" filter="box(in)">
                                      <p:cBhvr>
                                        <p:cTn id="27" dur="500"/>
                                        <p:tgtEl>
                                          <p:spTgt spid="337933"/>
                                        </p:tgtEl>
                                      </p:cBhvr>
                                    </p:animEffect>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37934"/>
                                        </p:tgtEl>
                                        <p:attrNameLst>
                                          <p:attrName>style.visibility</p:attrName>
                                        </p:attrNameLst>
                                      </p:cBhvr>
                                      <p:to>
                                        <p:strVal val="visible"/>
                                      </p:to>
                                    </p:set>
                                    <p:animEffect transition="in" filter="box(in)">
                                      <p:cBhvr>
                                        <p:cTn id="32" dur="500"/>
                                        <p:tgtEl>
                                          <p:spTgt spid="337934"/>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337931"/>
                                        </p:tgtEl>
                                        <p:attrNameLst>
                                          <p:attrName>style.visibility</p:attrName>
                                        </p:attrNameLst>
                                      </p:cBhvr>
                                      <p:to>
                                        <p:strVal val="visible"/>
                                      </p:to>
                                    </p:set>
                                    <p:animEffect transition="in" filter="box(in)">
                                      <p:cBhvr>
                                        <p:cTn id="37" dur="500"/>
                                        <p:tgtEl>
                                          <p:spTgt spid="337931"/>
                                        </p:tgtEl>
                                      </p:cBhvr>
                                    </p:animEffect>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337932"/>
                                        </p:tgtEl>
                                        <p:attrNameLst>
                                          <p:attrName>style.visibility</p:attrName>
                                        </p:attrNameLst>
                                      </p:cBhvr>
                                      <p:to>
                                        <p:strVal val="visible"/>
                                      </p:to>
                                    </p:set>
                                    <p:animEffect transition="in" filter="box(in)">
                                      <p:cBhvr>
                                        <p:cTn id="42" dur="500"/>
                                        <p:tgtEl>
                                          <p:spTgt spid="337932"/>
                                        </p:tgtEl>
                                      </p:cBhvr>
                                    </p:animEffect>
                                  </p:childTnLst>
                                  <p:subTnLst>
                                    <p:audio>
                                      <p:cMediaNode>
                                        <p:cTn display="0" masterRel="sameClick">
                                          <p:stCondLst>
                                            <p:cond evt="begin" delay="0">
                                              <p:tn val="40"/>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33"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468313" y="1481138"/>
            <a:ext cx="23320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0000"/>
                </a:solidFill>
                <a:ea typeface="华文中宋" pitchFamily="2" charset="-122"/>
              </a:rPr>
              <a:t>讨论：</a:t>
            </a:r>
          </a:p>
        </p:txBody>
      </p:sp>
      <p:sp>
        <p:nvSpPr>
          <p:cNvPr id="69635" name="Text Box 3"/>
          <p:cNvSpPr txBox="1">
            <a:spLocks noChangeArrowheads="1"/>
          </p:cNvSpPr>
          <p:nvPr/>
        </p:nvSpPr>
        <p:spPr bwMode="auto">
          <a:xfrm>
            <a:off x="539750" y="1857375"/>
            <a:ext cx="4248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solidFill>
                  <a:srgbClr val="008000"/>
                </a:solidFill>
                <a:ea typeface="华文中宋" pitchFamily="2" charset="-122"/>
              </a:rPr>
              <a:t>  </a:t>
            </a:r>
            <a:r>
              <a:rPr lang="en-US" altLang="zh-CN" sz="1800">
                <a:ea typeface="华文中宋" pitchFamily="2" charset="-122"/>
              </a:rPr>
              <a:t>(1)</a:t>
            </a:r>
            <a:r>
              <a:rPr lang="en-US" altLang="zh-CN" sz="1800" b="0">
                <a:ea typeface="华文中宋" pitchFamily="2" charset="-122"/>
              </a:rPr>
              <a:t> </a:t>
            </a:r>
            <a:r>
              <a:rPr lang="en-US" altLang="zh-CN" sz="1800" i="1">
                <a:ea typeface="华文中宋" pitchFamily="2" charset="-122"/>
              </a:rPr>
              <a:t>E</a:t>
            </a:r>
            <a:r>
              <a:rPr lang="en-US" altLang="zh-CN" sz="1800" baseline="-25000">
                <a:ea typeface="华文中宋" pitchFamily="2" charset="-122"/>
              </a:rPr>
              <a:t>0</a:t>
            </a:r>
            <a:r>
              <a:rPr lang="en-US" altLang="zh-CN" sz="1800" i="1">
                <a:ea typeface="华文中宋" pitchFamily="2" charset="-122"/>
              </a:rPr>
              <a:t> =m</a:t>
            </a:r>
            <a:r>
              <a:rPr lang="en-US" altLang="zh-CN" sz="1800" baseline="-25000">
                <a:ea typeface="华文中宋" pitchFamily="2" charset="-122"/>
              </a:rPr>
              <a:t>0</a:t>
            </a:r>
            <a:r>
              <a:rPr lang="en-US" altLang="zh-CN" sz="1800" i="1">
                <a:ea typeface="华文中宋" pitchFamily="2" charset="-122"/>
              </a:rPr>
              <a:t> c</a:t>
            </a:r>
            <a:r>
              <a:rPr lang="en-US" altLang="zh-CN" sz="1800" baseline="30000">
                <a:ea typeface="华文中宋" pitchFamily="2" charset="-122"/>
              </a:rPr>
              <a:t>2</a:t>
            </a:r>
            <a:r>
              <a:rPr lang="en-US" altLang="zh-CN" sz="1800" b="0" baseline="30000">
                <a:solidFill>
                  <a:srgbClr val="008000"/>
                </a:solidFill>
                <a:ea typeface="华文中宋" pitchFamily="2" charset="-122"/>
              </a:rPr>
              <a:t> </a:t>
            </a:r>
            <a:r>
              <a:rPr lang="zh-CN" altLang="en-US" sz="1800">
                <a:ea typeface="华文中宋" pitchFamily="2" charset="-122"/>
              </a:rPr>
              <a:t>称之为静能。</a:t>
            </a:r>
            <a:endParaRPr lang="zh-CN" altLang="en-US" sz="1800" b="0">
              <a:ea typeface="华文中宋" pitchFamily="2" charset="-122"/>
            </a:endParaRPr>
          </a:p>
        </p:txBody>
      </p:sp>
      <p:sp>
        <p:nvSpPr>
          <p:cNvPr id="69636" name="Text Box 4"/>
          <p:cNvSpPr txBox="1">
            <a:spLocks noChangeArrowheads="1"/>
          </p:cNvSpPr>
          <p:nvPr/>
        </p:nvSpPr>
        <p:spPr bwMode="auto">
          <a:xfrm>
            <a:off x="684213" y="2978150"/>
            <a:ext cx="710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(2)  </a:t>
            </a:r>
            <a:r>
              <a:rPr lang="en-US" altLang="zh-CN" sz="1800" i="1">
                <a:ea typeface="华文中宋" pitchFamily="2" charset="-122"/>
              </a:rPr>
              <a:t>E</a:t>
            </a:r>
            <a:r>
              <a:rPr lang="en-US" altLang="zh-CN" sz="1800">
                <a:ea typeface="华文中宋" pitchFamily="2" charset="-122"/>
              </a:rPr>
              <a:t>=</a:t>
            </a:r>
            <a:r>
              <a:rPr lang="en-US" altLang="zh-CN" sz="1800" i="1">
                <a:ea typeface="华文中宋" pitchFamily="2" charset="-122"/>
              </a:rPr>
              <a:t>mc</a:t>
            </a:r>
            <a:r>
              <a:rPr lang="en-US" altLang="zh-CN" sz="1800" baseline="30000">
                <a:ea typeface="华文中宋" pitchFamily="2" charset="-122"/>
              </a:rPr>
              <a:t>2</a:t>
            </a:r>
            <a:r>
              <a:rPr lang="en-US" altLang="zh-CN" sz="1800">
                <a:ea typeface="华文中宋" pitchFamily="2" charset="-122"/>
              </a:rPr>
              <a:t>=</a:t>
            </a:r>
            <a:r>
              <a:rPr lang="en-US" altLang="zh-CN" sz="1800" i="1">
                <a:ea typeface="华文中宋" pitchFamily="2" charset="-122"/>
              </a:rPr>
              <a:t>E</a:t>
            </a:r>
            <a:r>
              <a:rPr lang="en-US" altLang="zh-CN" sz="1800" baseline="-25000">
                <a:ea typeface="华文中宋" pitchFamily="2" charset="-122"/>
              </a:rPr>
              <a:t>0</a:t>
            </a:r>
            <a:r>
              <a:rPr lang="en-US" altLang="zh-CN" sz="1800">
                <a:ea typeface="华文中宋" pitchFamily="2" charset="-122"/>
              </a:rPr>
              <a:t>+</a:t>
            </a:r>
            <a:r>
              <a:rPr lang="en-US" altLang="zh-CN" sz="1800" i="1">
                <a:ea typeface="华文中宋" pitchFamily="2" charset="-122"/>
              </a:rPr>
              <a:t>E</a:t>
            </a:r>
            <a:r>
              <a:rPr lang="en-US" altLang="zh-CN" sz="1800" baseline="-25000">
                <a:ea typeface="华文中宋" pitchFamily="2" charset="-122"/>
              </a:rPr>
              <a:t>k</a:t>
            </a:r>
            <a:r>
              <a:rPr lang="zh-CN" altLang="en-US" sz="1800">
                <a:ea typeface="华文中宋" pitchFamily="2" charset="-122"/>
              </a:rPr>
              <a:t>谓之总能，即总能与质量成正比。</a:t>
            </a:r>
          </a:p>
        </p:txBody>
      </p:sp>
      <p:sp>
        <p:nvSpPr>
          <p:cNvPr id="69639" name="Text Box 7"/>
          <p:cNvSpPr txBox="1">
            <a:spLocks noChangeArrowheads="1"/>
          </p:cNvSpPr>
          <p:nvPr/>
        </p:nvSpPr>
        <p:spPr bwMode="auto">
          <a:xfrm>
            <a:off x="179388" y="2233613"/>
            <a:ext cx="86868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2400">
                <a:ea typeface="华文中宋" pitchFamily="2" charset="-122"/>
              </a:rPr>
              <a:t>       </a:t>
            </a:r>
            <a:r>
              <a:rPr lang="zh-CN" altLang="en-US" sz="1800">
                <a:ea typeface="华文中宋" pitchFamily="2" charset="-122"/>
              </a:rPr>
              <a:t>物质的内能，是组成该物质的诸微观粒子：分子、原子、电子、核子的动能及相互作用能之总和</a:t>
            </a:r>
          </a:p>
        </p:txBody>
      </p:sp>
      <p:graphicFrame>
        <p:nvGraphicFramePr>
          <p:cNvPr id="69641" name="Object 9"/>
          <p:cNvGraphicFramePr>
            <a:graphicFrameLocks noChangeAspect="1"/>
          </p:cNvGraphicFramePr>
          <p:nvPr/>
        </p:nvGraphicFramePr>
        <p:xfrm>
          <a:off x="2333625" y="825500"/>
          <a:ext cx="2403475" cy="484188"/>
        </p:xfrm>
        <a:graphic>
          <a:graphicData uri="http://schemas.openxmlformats.org/presentationml/2006/ole">
            <mc:AlternateContent xmlns:mc="http://schemas.openxmlformats.org/markup-compatibility/2006">
              <mc:Choice xmlns:v="urn:schemas-microsoft-com:vml" Requires="v">
                <p:oleObj spid="_x0000_s68622" name="公式" r:id="rId5" imgW="799753" imgH="215806" progId="Equation.3">
                  <p:embed/>
                </p:oleObj>
              </mc:Choice>
              <mc:Fallback>
                <p:oleObj name="公式" r:id="rId5" imgW="799753" imgH="215806"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3625" y="825500"/>
                        <a:ext cx="2403475" cy="484188"/>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9649" name="Object 17"/>
          <p:cNvGraphicFramePr>
            <a:graphicFrameLocks noChangeAspect="1"/>
          </p:cNvGraphicFramePr>
          <p:nvPr/>
        </p:nvGraphicFramePr>
        <p:xfrm>
          <a:off x="2189163" y="1366838"/>
          <a:ext cx="2670175" cy="484187"/>
        </p:xfrm>
        <a:graphic>
          <a:graphicData uri="http://schemas.openxmlformats.org/presentationml/2006/ole">
            <mc:AlternateContent xmlns:mc="http://schemas.openxmlformats.org/markup-compatibility/2006">
              <mc:Choice xmlns:v="urn:schemas-microsoft-com:vml" Requires="v">
                <p:oleObj spid="_x0000_s68623" name="公式" r:id="rId7" imgW="888614" imgH="215806" progId="Equation.3">
                  <p:embed/>
                </p:oleObj>
              </mc:Choice>
              <mc:Fallback>
                <p:oleObj name="公式" r:id="rId7" imgW="888614" imgH="215806"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89163" y="1366838"/>
                        <a:ext cx="2670175" cy="484187"/>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9650" name="Picture 7" descr="http://www.newsdaily.com/photos/2012-03-20T155119Z_2_CBRE82I1GAB00_RTROPTP_3_SCIENCE-US-EINSTEIN-ARCHIVE.JPG"/>
          <p:cNvPicPr preferRelativeResize="0">
            <a:picLocks noChangeAspect="1" noChangeArrowheads="1"/>
          </p:cNvPicPr>
          <p:nvPr/>
        </p:nvPicPr>
        <p:blipFill>
          <a:blip r:embed="rId9" cstate="print">
            <a:extLst>
              <a:ext uri="{28A0092B-C50C-407E-A947-70E740481C1C}">
                <a14:useLocalDpi xmlns:a14="http://schemas.microsoft.com/office/drawing/2010/main" val="0"/>
              </a:ext>
            </a:extLst>
          </a:blip>
          <a:srcRect l="3415" t="4878" r="4024" b="6503"/>
          <a:stretch>
            <a:fillRect/>
          </a:stretch>
        </p:blipFill>
        <p:spPr bwMode="auto">
          <a:xfrm>
            <a:off x="6065838" y="915988"/>
            <a:ext cx="2754312"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51" name="Text Box 19"/>
          <p:cNvSpPr txBox="1">
            <a:spLocks noChangeArrowheads="1"/>
          </p:cNvSpPr>
          <p:nvPr/>
        </p:nvSpPr>
        <p:spPr bwMode="auto">
          <a:xfrm>
            <a:off x="323850" y="3354388"/>
            <a:ext cx="8569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a:ea typeface="华文中宋" pitchFamily="2" charset="-122"/>
              </a:rPr>
              <a:t>     (3)</a:t>
            </a:r>
            <a:r>
              <a:rPr lang="en-US" altLang="zh-CN" sz="1800">
                <a:ea typeface="华文中宋" pitchFamily="2" charset="-122"/>
              </a:rPr>
              <a:t> </a:t>
            </a:r>
            <a:r>
              <a:rPr lang="en-US" altLang="zh-CN" sz="1800" i="1">
                <a:ea typeface="华文中宋" pitchFamily="2" charset="-122"/>
              </a:rPr>
              <a:t>E</a:t>
            </a:r>
            <a:r>
              <a:rPr lang="en-US" altLang="zh-CN" sz="1800" baseline="-25000">
                <a:ea typeface="华文中宋" pitchFamily="2" charset="-122"/>
              </a:rPr>
              <a:t>k</a:t>
            </a:r>
            <a:r>
              <a:rPr lang="en-US" altLang="zh-CN" sz="1800">
                <a:ea typeface="华文中宋" pitchFamily="2" charset="-122"/>
              </a:rPr>
              <a:t>=</a:t>
            </a:r>
            <a:r>
              <a:rPr lang="en-US" altLang="zh-CN" sz="1800" i="1">
                <a:ea typeface="华文中宋" pitchFamily="2" charset="-122"/>
              </a:rPr>
              <a:t>mc</a:t>
            </a:r>
            <a:r>
              <a:rPr lang="en-US" altLang="zh-CN" sz="1800" baseline="30000">
                <a:ea typeface="华文中宋" pitchFamily="2" charset="-122"/>
              </a:rPr>
              <a:t>2</a:t>
            </a:r>
            <a:r>
              <a:rPr lang="en-US" altLang="zh-CN" sz="1800">
                <a:ea typeface="华文中宋" pitchFamily="2" charset="-122"/>
              </a:rPr>
              <a:t>-</a:t>
            </a:r>
            <a:r>
              <a:rPr lang="en-US" altLang="zh-CN" sz="1800" i="1">
                <a:ea typeface="华文中宋" pitchFamily="2" charset="-122"/>
              </a:rPr>
              <a:t>m</a:t>
            </a:r>
            <a:r>
              <a:rPr lang="en-US" altLang="zh-CN" sz="1800" baseline="-25000">
                <a:ea typeface="华文中宋" pitchFamily="2" charset="-122"/>
              </a:rPr>
              <a:t>0</a:t>
            </a:r>
            <a:r>
              <a:rPr lang="en-US" altLang="zh-CN" sz="1800" i="1">
                <a:ea typeface="华文中宋" pitchFamily="2" charset="-122"/>
              </a:rPr>
              <a:t>c</a:t>
            </a:r>
            <a:r>
              <a:rPr lang="en-US" altLang="zh-CN" sz="1800" baseline="30000">
                <a:ea typeface="华文中宋" pitchFamily="2" charset="-122"/>
              </a:rPr>
              <a:t>2</a:t>
            </a:r>
            <a:r>
              <a:rPr lang="zh-CN" altLang="en-US" sz="1800">
                <a:ea typeface="华文中宋" pitchFamily="2" charset="-122"/>
              </a:rPr>
              <a:t>，称之为动能，说明动能只是总能与静能之差</a:t>
            </a:r>
            <a:r>
              <a:rPr lang="zh-CN" altLang="en-US" sz="1800" b="0">
                <a:ea typeface="华文中宋" pitchFamily="2" charset="-122"/>
              </a:rPr>
              <a:t>。</a:t>
            </a:r>
          </a:p>
        </p:txBody>
      </p:sp>
      <p:graphicFrame>
        <p:nvGraphicFramePr>
          <p:cNvPr id="69660" name="Object 28"/>
          <p:cNvGraphicFramePr>
            <a:graphicFrameLocks noChangeAspect="1"/>
          </p:cNvGraphicFramePr>
          <p:nvPr/>
        </p:nvGraphicFramePr>
        <p:xfrm>
          <a:off x="684213" y="3706813"/>
          <a:ext cx="7561262" cy="868362"/>
        </p:xfrm>
        <a:graphic>
          <a:graphicData uri="http://schemas.openxmlformats.org/presentationml/2006/ole">
            <mc:AlternateContent xmlns:mc="http://schemas.openxmlformats.org/markup-compatibility/2006">
              <mc:Choice xmlns:v="urn:schemas-microsoft-com:vml" Requires="v">
                <p:oleObj spid="_x0000_s68624" name="公式" r:id="rId10" imgW="3149600" imgH="482600" progId="Equation.3">
                  <p:embed/>
                </p:oleObj>
              </mc:Choice>
              <mc:Fallback>
                <p:oleObj name="公式" r:id="rId10" imgW="3149600" imgH="482600" progId="Equation.3">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4213" y="3706813"/>
                        <a:ext cx="7561262" cy="868362"/>
                      </a:xfrm>
                      <a:prstGeom prst="rect">
                        <a:avLst/>
                      </a:prstGeom>
                      <a:noFill/>
                      <a:ln>
                        <a:noFill/>
                      </a:ln>
                      <a:effectLst/>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9641"/>
                                        </p:tgtEl>
                                        <p:attrNameLst>
                                          <p:attrName>style.visibility</p:attrName>
                                        </p:attrNameLst>
                                      </p:cBhvr>
                                      <p:to>
                                        <p:strVal val="visible"/>
                                      </p:to>
                                    </p:set>
                                    <p:animEffect transition="in" filter="box(in)">
                                      <p:cBhvr>
                                        <p:cTn id="7" dur="500"/>
                                        <p:tgtEl>
                                          <p:spTgt spid="69641"/>
                                        </p:tgtEl>
                                      </p:cBhvr>
                                    </p:animEffect>
                                  </p:childTnLst>
                                  <p:subTnLst>
                                    <p:audio>
                                      <p:cMediaNode>
                                        <p:cTn display="0" masterRel="sameClick">
                                          <p:stCondLst>
                                            <p:cond evt="begin" delay="0">
                                              <p:tn val="5"/>
                                            </p:cond>
                                          </p:stCondLst>
                                          <p:endCondLst>
                                            <p:cond evt="onStopAudio" delay="0">
                                              <p:tgtEl>
                                                <p:sldTgt/>
                                              </p:tgtEl>
                                            </p:cond>
                                          </p:endCondLst>
                                        </p:cTn>
                                        <p:tgtEl>
                                          <p:sndTgt r:embed="rId4"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9649"/>
                                        </p:tgtEl>
                                        <p:attrNameLst>
                                          <p:attrName>style.visibility</p:attrName>
                                        </p:attrNameLst>
                                      </p:cBhvr>
                                      <p:to>
                                        <p:strVal val="visible"/>
                                      </p:to>
                                    </p:set>
                                    <p:animEffect transition="in" filter="box(in)">
                                      <p:cBhvr>
                                        <p:cTn id="12" dur="500"/>
                                        <p:tgtEl>
                                          <p:spTgt spid="69649"/>
                                        </p:tgtEl>
                                      </p:cBhvr>
                                    </p:animEffect>
                                  </p:childTnLst>
                                  <p:subTnLst>
                                    <p:audio>
                                      <p:cMediaNode>
                                        <p:cTn display="0" masterRel="sameClick">
                                          <p:stCondLst>
                                            <p:cond evt="begin" delay="0">
                                              <p:tn val="10"/>
                                            </p:cond>
                                          </p:stCondLst>
                                          <p:endCondLst>
                                            <p:cond evt="onStopAudio" delay="0">
                                              <p:tgtEl>
                                                <p:sldTgt/>
                                              </p:tgtEl>
                                            </p:cond>
                                          </p:endCondLst>
                                        </p:cTn>
                                        <p:tgtEl>
                                          <p:sndTgt r:embed="rId4" name="TYPE.WAV"/>
                                        </p:tgtEl>
                                      </p:cMediaNode>
                                    </p:audio>
                                  </p:subTnLst>
                                </p:cTn>
                              </p:par>
                              <p:par>
                                <p:cTn id="13" presetID="3" presetClass="entr" presetSubtype="10" fill="hold" nodeType="withEffect">
                                  <p:stCondLst>
                                    <p:cond delay="0"/>
                                  </p:stCondLst>
                                  <p:childTnLst>
                                    <p:set>
                                      <p:cBhvr>
                                        <p:cTn id="14" dur="1" fill="hold">
                                          <p:stCondLst>
                                            <p:cond delay="0"/>
                                          </p:stCondLst>
                                        </p:cTn>
                                        <p:tgtEl>
                                          <p:spTgt spid="69650"/>
                                        </p:tgtEl>
                                        <p:attrNameLst>
                                          <p:attrName>style.visibility</p:attrName>
                                        </p:attrNameLst>
                                      </p:cBhvr>
                                      <p:to>
                                        <p:strVal val="visible"/>
                                      </p:to>
                                    </p:set>
                                    <p:animEffect transition="in" filter="blinds(horizontal)">
                                      <p:cBhvr>
                                        <p:cTn id="15" dur="500"/>
                                        <p:tgtEl>
                                          <p:spTgt spid="6965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69634"/>
                                        </p:tgtEl>
                                        <p:attrNameLst>
                                          <p:attrName>style.visibility</p:attrName>
                                        </p:attrNameLst>
                                      </p:cBhvr>
                                      <p:to>
                                        <p:strVal val="visible"/>
                                      </p:to>
                                    </p:set>
                                    <p:animEffect transition="in" filter="box(in)">
                                      <p:cBhvr>
                                        <p:cTn id="20" dur="500"/>
                                        <p:tgtEl>
                                          <p:spTgt spid="69634"/>
                                        </p:tgtEl>
                                      </p:cBhvr>
                                    </p:animEffect>
                                  </p:childTnLst>
                                  <p:subTnLst>
                                    <p:audio>
                                      <p:cMediaNode>
                                        <p:cTn display="0" masterRel="sameClick">
                                          <p:stCondLst>
                                            <p:cond evt="begin" delay="0">
                                              <p:tn val="18"/>
                                            </p:cond>
                                          </p:stCondLst>
                                          <p:endCondLst>
                                            <p:cond evt="onStopAudio" delay="0">
                                              <p:tgtEl>
                                                <p:sldTgt/>
                                              </p:tgtEl>
                                            </p:cond>
                                          </p:endCondLst>
                                        </p:cTn>
                                        <p:tgtEl>
                                          <p:sndTgt r:embed="rId4" name="TYPE.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69635"/>
                                        </p:tgtEl>
                                        <p:attrNameLst>
                                          <p:attrName>style.visibility</p:attrName>
                                        </p:attrNameLst>
                                      </p:cBhvr>
                                      <p:to>
                                        <p:strVal val="visible"/>
                                      </p:to>
                                    </p:set>
                                    <p:animEffect transition="in" filter="box(in)">
                                      <p:cBhvr>
                                        <p:cTn id="25" dur="500"/>
                                        <p:tgtEl>
                                          <p:spTgt spid="69635"/>
                                        </p:tgtEl>
                                      </p:cBhvr>
                                    </p:animEffect>
                                  </p:childTnLst>
                                  <p:subTnLst>
                                    <p:audio>
                                      <p:cMediaNode>
                                        <p:cTn display="0" masterRel="sameClick">
                                          <p:stCondLst>
                                            <p:cond evt="begin" delay="0">
                                              <p:tn val="23"/>
                                            </p:cond>
                                          </p:stCondLst>
                                          <p:endCondLst>
                                            <p:cond evt="onStopAudio" delay="0">
                                              <p:tgtEl>
                                                <p:sldTgt/>
                                              </p:tgtEl>
                                            </p:cond>
                                          </p:endCondLst>
                                        </p:cTn>
                                        <p:tgtEl>
                                          <p:sndTgt r:embed="rId4" name="TYPE.WAV"/>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69639"/>
                                        </p:tgtEl>
                                        <p:attrNameLst>
                                          <p:attrName>style.visibility</p:attrName>
                                        </p:attrNameLst>
                                      </p:cBhvr>
                                      <p:to>
                                        <p:strVal val="visible"/>
                                      </p:to>
                                    </p:set>
                                    <p:animEffect transition="in" filter="box(in)">
                                      <p:cBhvr>
                                        <p:cTn id="30" dur="500"/>
                                        <p:tgtEl>
                                          <p:spTgt spid="69639"/>
                                        </p:tgtEl>
                                      </p:cBhvr>
                                    </p:animEffect>
                                  </p:childTnLst>
                                  <p:subTnLst>
                                    <p:audio>
                                      <p:cMediaNode>
                                        <p:cTn display="0" masterRel="sameClick">
                                          <p:stCondLst>
                                            <p:cond evt="begin" delay="0">
                                              <p:tn val="28"/>
                                            </p:cond>
                                          </p:stCondLst>
                                          <p:endCondLst>
                                            <p:cond evt="onStopAudio" delay="0">
                                              <p:tgtEl>
                                                <p:sldTgt/>
                                              </p:tgtEl>
                                            </p:cond>
                                          </p:endCondLst>
                                        </p:cTn>
                                        <p:tgtEl>
                                          <p:sndTgt r:embed="rId4" name="TYPE.WAV"/>
                                        </p:tgtEl>
                                      </p:cMediaNode>
                                    </p:audio>
                                  </p:sub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69636"/>
                                        </p:tgtEl>
                                        <p:attrNameLst>
                                          <p:attrName>style.visibility</p:attrName>
                                        </p:attrNameLst>
                                      </p:cBhvr>
                                      <p:to>
                                        <p:strVal val="visible"/>
                                      </p:to>
                                    </p:set>
                                    <p:animEffect transition="in" filter="box(in)">
                                      <p:cBhvr>
                                        <p:cTn id="35" dur="500"/>
                                        <p:tgtEl>
                                          <p:spTgt spid="69636"/>
                                        </p:tgtEl>
                                      </p:cBhvr>
                                    </p:animEffect>
                                  </p:childTnLst>
                                  <p:subTnLst>
                                    <p:audio>
                                      <p:cMediaNode>
                                        <p:cTn display="0" masterRel="sameClick">
                                          <p:stCondLst>
                                            <p:cond evt="begin" delay="0">
                                              <p:tn val="33"/>
                                            </p:cond>
                                          </p:stCondLst>
                                          <p:endCondLst>
                                            <p:cond evt="onStopAudio" delay="0">
                                              <p:tgtEl>
                                                <p:sldTgt/>
                                              </p:tgtEl>
                                            </p:cond>
                                          </p:endCondLst>
                                        </p:cTn>
                                        <p:tgtEl>
                                          <p:sndTgt r:embed="rId4" name="TYPE.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69651"/>
                                        </p:tgtEl>
                                        <p:attrNameLst>
                                          <p:attrName>style.visibility</p:attrName>
                                        </p:attrNameLst>
                                      </p:cBhvr>
                                      <p:to>
                                        <p:strVal val="visible"/>
                                      </p:to>
                                    </p:set>
                                    <p:animEffect transition="in" filter="box(in)">
                                      <p:cBhvr>
                                        <p:cTn id="40" dur="500"/>
                                        <p:tgtEl>
                                          <p:spTgt spid="69651"/>
                                        </p:tgtEl>
                                      </p:cBhvr>
                                    </p:animEffect>
                                  </p:childTnLst>
                                  <p:subTnLst>
                                    <p:audio>
                                      <p:cMediaNode>
                                        <p:cTn display="0" masterRel="sameClick">
                                          <p:stCondLst>
                                            <p:cond evt="begin" delay="0">
                                              <p:tn val="38"/>
                                            </p:cond>
                                          </p:stCondLst>
                                          <p:endCondLst>
                                            <p:cond evt="onStopAudio" delay="0">
                                              <p:tgtEl>
                                                <p:sldTgt/>
                                              </p:tgtEl>
                                            </p:cond>
                                          </p:endCondLst>
                                        </p:cTn>
                                        <p:tgtEl>
                                          <p:sndTgt r:embed="rId4" name="TYPE.WAV"/>
                                        </p:tgtEl>
                                      </p:cMediaNode>
                                    </p:audio>
                                  </p:sub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69660"/>
                                        </p:tgtEl>
                                        <p:attrNameLst>
                                          <p:attrName>style.visibility</p:attrName>
                                        </p:attrNameLst>
                                      </p:cBhvr>
                                      <p:to>
                                        <p:strVal val="visible"/>
                                      </p:to>
                                    </p:set>
                                    <p:animEffect transition="in" filter="box(in)">
                                      <p:cBhvr>
                                        <p:cTn id="45" dur="500"/>
                                        <p:tgtEl>
                                          <p:spTgt spid="69660"/>
                                        </p:tgtEl>
                                      </p:cBhvr>
                                    </p:animEffect>
                                  </p:childTnLst>
                                  <p:subTnLst>
                                    <p:audio>
                                      <p:cMediaNode>
                                        <p:cTn display="0" masterRel="sameClick">
                                          <p:stCondLst>
                                            <p:cond evt="begin" delay="0">
                                              <p:tn val="43"/>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utoUpdateAnimBg="0"/>
      <p:bldP spid="69635" grpId="0" autoUpdateAnimBg="0"/>
      <p:bldP spid="69636" grpId="0" autoUpdateAnimBg="0"/>
      <p:bldP spid="69639" grpId="0" autoUpdateAnimBg="0"/>
      <p:bldP spid="69651"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Text Box 4"/>
          <p:cNvSpPr txBox="1">
            <a:spLocks noChangeArrowheads="1"/>
          </p:cNvSpPr>
          <p:nvPr/>
        </p:nvSpPr>
        <p:spPr bwMode="auto">
          <a:xfrm>
            <a:off x="674688" y="842963"/>
            <a:ext cx="6507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(4) </a:t>
            </a:r>
            <a:r>
              <a:rPr lang="zh-CN" altLang="en-US" sz="1800">
                <a:ea typeface="华文中宋" pitchFamily="2" charset="-122"/>
              </a:rPr>
              <a:t>质量“亏损”：</a:t>
            </a:r>
            <a:r>
              <a:rPr lang="zh-CN" altLang="en-US" sz="1800">
                <a:ea typeface="华文中宋" pitchFamily="2" charset="-122"/>
                <a:sym typeface="Symbol" pitchFamily="18" charset="2"/>
              </a:rPr>
              <a:t></a:t>
            </a:r>
            <a:r>
              <a:rPr lang="en-US" altLang="zh-CN" sz="1800">
                <a:ea typeface="华文中宋" pitchFamily="2" charset="-122"/>
                <a:sym typeface="Symbol" pitchFamily="18" charset="2"/>
              </a:rPr>
              <a:t>E</a:t>
            </a:r>
            <a:r>
              <a:rPr lang="zh-CN" altLang="en-US" sz="1800">
                <a:ea typeface="华文中宋" pitchFamily="2" charset="-122"/>
                <a:sym typeface="Symbol" pitchFamily="18" charset="2"/>
              </a:rPr>
              <a:t>＝</a:t>
            </a:r>
            <a:r>
              <a:rPr lang="en-US" altLang="zh-CN" sz="1800">
                <a:ea typeface="华文中宋" pitchFamily="2" charset="-122"/>
                <a:sym typeface="Symbol" pitchFamily="18" charset="2"/>
              </a:rPr>
              <a:t>mc</a:t>
            </a:r>
            <a:r>
              <a:rPr lang="en-US" altLang="zh-CN" sz="1800" baseline="30000">
                <a:ea typeface="华文中宋" pitchFamily="2" charset="-122"/>
                <a:sym typeface="Symbol" pitchFamily="18" charset="2"/>
              </a:rPr>
              <a:t>2</a:t>
            </a:r>
            <a:r>
              <a:rPr lang="en-US" altLang="zh-CN" sz="1800">
                <a:ea typeface="华文中宋" pitchFamily="2" charset="-122"/>
              </a:rPr>
              <a:t>   ──</a:t>
            </a:r>
            <a:r>
              <a:rPr lang="zh-CN" altLang="en-US" sz="1800">
                <a:ea typeface="华文中宋" pitchFamily="2" charset="-122"/>
              </a:rPr>
              <a:t>原子能的利用</a:t>
            </a:r>
          </a:p>
        </p:txBody>
      </p:sp>
      <p:sp>
        <p:nvSpPr>
          <p:cNvPr id="70661" name="Text Box 5"/>
          <p:cNvSpPr txBox="1">
            <a:spLocks noChangeArrowheads="1"/>
          </p:cNvSpPr>
          <p:nvPr/>
        </p:nvSpPr>
        <p:spPr bwMode="auto">
          <a:xfrm>
            <a:off x="358775" y="1277938"/>
            <a:ext cx="8534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当重核裂变或轻核聚合时，会发生质量“亏损”， “亏损”的质量以场物质的形式辐射出去了，场物质是释放出去的能量的携带者。</a:t>
            </a:r>
          </a:p>
        </p:txBody>
      </p:sp>
      <p:graphicFrame>
        <p:nvGraphicFramePr>
          <p:cNvPr id="70663" name="Object 7"/>
          <p:cNvGraphicFramePr>
            <a:graphicFrameLocks noChangeAspect="1"/>
          </p:cNvGraphicFramePr>
          <p:nvPr/>
        </p:nvGraphicFramePr>
        <p:xfrm>
          <a:off x="1619250" y="2493963"/>
          <a:ext cx="4968875" cy="428625"/>
        </p:xfrm>
        <a:graphic>
          <a:graphicData uri="http://schemas.openxmlformats.org/presentationml/2006/ole">
            <mc:AlternateContent xmlns:mc="http://schemas.openxmlformats.org/markup-compatibility/2006">
              <mc:Choice xmlns:v="urn:schemas-microsoft-com:vml" Requires="v">
                <p:oleObj spid="_x0000_s69658" name="Equation" r:id="rId5" imgW="3352800" imgH="419100" progId="Equation.3">
                  <p:embed/>
                </p:oleObj>
              </mc:Choice>
              <mc:Fallback>
                <p:oleObj name="Equation" r:id="rId5" imgW="3352800" imgH="419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2493963"/>
                        <a:ext cx="4968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4" name="Text Box 8"/>
          <p:cNvSpPr txBox="1">
            <a:spLocks noChangeArrowheads="1"/>
          </p:cNvSpPr>
          <p:nvPr/>
        </p:nvSpPr>
        <p:spPr bwMode="auto">
          <a:xfrm>
            <a:off x="900113" y="2047875"/>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buFontTx/>
              <a:buChar char="•"/>
            </a:pPr>
            <a:r>
              <a:rPr kumimoji="0" lang="en-US" altLang="zh-CN" sz="1800">
                <a:ea typeface="华文中宋" pitchFamily="2" charset="-122"/>
              </a:rPr>
              <a:t> </a:t>
            </a:r>
            <a:r>
              <a:rPr kumimoji="0" lang="zh-CN" altLang="en-US" sz="1800">
                <a:solidFill>
                  <a:srgbClr val="1C1C1C"/>
                </a:solidFill>
                <a:ea typeface="华文中宋" pitchFamily="2" charset="-122"/>
              </a:rPr>
              <a:t>核裂变</a:t>
            </a:r>
          </a:p>
        </p:txBody>
      </p:sp>
      <p:grpSp>
        <p:nvGrpSpPr>
          <p:cNvPr id="2" name="Group 27"/>
          <p:cNvGrpSpPr>
            <a:grpSpLocks/>
          </p:cNvGrpSpPr>
          <p:nvPr/>
        </p:nvGrpSpPr>
        <p:grpSpPr bwMode="auto">
          <a:xfrm>
            <a:off x="798513" y="4227513"/>
            <a:ext cx="5718175" cy="398462"/>
            <a:chOff x="503" y="3128"/>
            <a:chExt cx="3602" cy="334"/>
          </a:xfrm>
        </p:grpSpPr>
        <p:sp>
          <p:nvSpPr>
            <p:cNvPr id="69651" name="Text Box 10"/>
            <p:cNvSpPr txBox="1">
              <a:spLocks noChangeArrowheads="1"/>
            </p:cNvSpPr>
            <p:nvPr/>
          </p:nvSpPr>
          <p:spPr bwMode="auto">
            <a:xfrm>
              <a:off x="503" y="3152"/>
              <a:ext cx="3307"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pPr>
              <a:r>
                <a:rPr kumimoji="0" lang="en-US" altLang="zh-CN" sz="1800">
                  <a:solidFill>
                    <a:srgbClr val="CC0000"/>
                  </a:solidFill>
                  <a:ea typeface="华文中宋" pitchFamily="2" charset="-122"/>
                </a:rPr>
                <a:t>1g</a:t>
              </a:r>
              <a:r>
                <a:rPr kumimoji="0" lang="zh-CN" altLang="en-US" sz="1800">
                  <a:ea typeface="华文中宋" pitchFamily="2" charset="-122"/>
                </a:rPr>
                <a:t>铀</a:t>
              </a:r>
              <a:r>
                <a:rPr kumimoji="0" lang="en-US" altLang="zh-CN" sz="1800">
                  <a:ea typeface="华文中宋" pitchFamily="2" charset="-122"/>
                </a:rPr>
                <a:t>—235</a:t>
              </a:r>
              <a:r>
                <a:rPr kumimoji="0" lang="zh-CN" altLang="en-US" sz="1800">
                  <a:ea typeface="华文中宋" pitchFamily="2" charset="-122"/>
                </a:rPr>
                <a:t>的原子裂变释放的能量</a:t>
              </a:r>
            </a:p>
          </p:txBody>
        </p:sp>
        <p:graphicFrame>
          <p:nvGraphicFramePr>
            <p:cNvPr id="69652" name="Object 11"/>
            <p:cNvGraphicFramePr>
              <a:graphicFrameLocks noChangeAspect="1"/>
            </p:cNvGraphicFramePr>
            <p:nvPr/>
          </p:nvGraphicFramePr>
          <p:xfrm>
            <a:off x="2704" y="3128"/>
            <a:ext cx="1401" cy="321"/>
          </p:xfrm>
          <a:graphic>
            <a:graphicData uri="http://schemas.openxmlformats.org/presentationml/2006/ole">
              <mc:AlternateContent xmlns:mc="http://schemas.openxmlformats.org/markup-compatibility/2006">
                <mc:Choice xmlns:v="urn:schemas-microsoft-com:vml" Requires="v">
                  <p:oleObj spid="_x0000_s69659" name="Equation" r:id="rId7" imgW="914400" imgH="228600" progId="Equation.DSMT4">
                    <p:embed/>
                  </p:oleObj>
                </mc:Choice>
                <mc:Fallback>
                  <p:oleObj name="Equation" r:id="rId7" imgW="914400" imgH="2286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4" y="3128"/>
                          <a:ext cx="1401"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3" name="Group 24"/>
          <p:cNvGrpSpPr>
            <a:grpSpLocks/>
          </p:cNvGrpSpPr>
          <p:nvPr/>
        </p:nvGrpSpPr>
        <p:grpSpPr bwMode="auto">
          <a:xfrm>
            <a:off x="1476375" y="3074988"/>
            <a:ext cx="3463925" cy="369887"/>
            <a:chOff x="930" y="2160"/>
            <a:chExt cx="2182" cy="310"/>
          </a:xfrm>
        </p:grpSpPr>
        <p:graphicFrame>
          <p:nvGraphicFramePr>
            <p:cNvPr id="69649" name="Object 14"/>
            <p:cNvGraphicFramePr>
              <a:graphicFrameLocks noChangeAspect="1"/>
            </p:cNvGraphicFramePr>
            <p:nvPr/>
          </p:nvGraphicFramePr>
          <p:xfrm>
            <a:off x="1882" y="2160"/>
            <a:ext cx="1230" cy="290"/>
          </p:xfrm>
          <a:graphic>
            <a:graphicData uri="http://schemas.openxmlformats.org/presentationml/2006/ole">
              <mc:AlternateContent xmlns:mc="http://schemas.openxmlformats.org/markup-compatibility/2006">
                <mc:Choice xmlns:v="urn:schemas-microsoft-com:vml" Requires="v">
                  <p:oleObj spid="_x0000_s69660" name="公式" r:id="rId9" imgW="533169" imgH="139639" progId="Equation.3">
                    <p:embed/>
                  </p:oleObj>
                </mc:Choice>
                <mc:Fallback>
                  <p:oleObj name="公式" r:id="rId9" imgW="533169" imgH="139639"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82" y="2160"/>
                          <a:ext cx="1230"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0" name="Text Box 15"/>
            <p:cNvSpPr txBox="1">
              <a:spLocks noChangeArrowheads="1"/>
            </p:cNvSpPr>
            <p:nvPr/>
          </p:nvSpPr>
          <p:spPr bwMode="auto">
            <a:xfrm>
              <a:off x="930" y="2160"/>
              <a:ext cx="168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pPr>
              <a:r>
                <a:rPr kumimoji="0" lang="zh-CN" altLang="en-US" sz="1800">
                  <a:ea typeface="华文中宋" pitchFamily="2" charset="-122"/>
                </a:rPr>
                <a:t>质量亏损</a:t>
              </a:r>
            </a:p>
          </p:txBody>
        </p:sp>
      </p:grpSp>
      <p:grpSp>
        <p:nvGrpSpPr>
          <p:cNvPr id="4" name="Group 25"/>
          <p:cNvGrpSpPr>
            <a:grpSpLocks/>
          </p:cNvGrpSpPr>
          <p:nvPr/>
        </p:nvGrpSpPr>
        <p:grpSpPr bwMode="auto">
          <a:xfrm>
            <a:off x="1042988" y="3363913"/>
            <a:ext cx="4608512" cy="458787"/>
            <a:chOff x="657" y="2403"/>
            <a:chExt cx="2903" cy="385"/>
          </a:xfrm>
        </p:grpSpPr>
        <p:sp>
          <p:nvSpPr>
            <p:cNvPr id="69647" name="Text Box 17"/>
            <p:cNvSpPr txBox="1">
              <a:spLocks noChangeArrowheads="1"/>
            </p:cNvSpPr>
            <p:nvPr/>
          </p:nvSpPr>
          <p:spPr bwMode="auto">
            <a:xfrm>
              <a:off x="657" y="2478"/>
              <a:ext cx="104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pPr>
              <a:r>
                <a:rPr kumimoji="0" lang="zh-CN" altLang="en-US" sz="1800">
                  <a:ea typeface="华文中宋" pitchFamily="2" charset="-122"/>
                </a:rPr>
                <a:t>原子质量单位 </a:t>
              </a:r>
            </a:p>
          </p:txBody>
        </p:sp>
        <p:graphicFrame>
          <p:nvGraphicFramePr>
            <p:cNvPr id="69648" name="Object 18"/>
            <p:cNvGraphicFramePr>
              <a:graphicFrameLocks noChangeAspect="1"/>
            </p:cNvGraphicFramePr>
            <p:nvPr/>
          </p:nvGraphicFramePr>
          <p:xfrm>
            <a:off x="1917" y="2403"/>
            <a:ext cx="1643" cy="382"/>
          </p:xfrm>
          <a:graphic>
            <a:graphicData uri="http://schemas.openxmlformats.org/presentationml/2006/ole">
              <mc:AlternateContent xmlns:mc="http://schemas.openxmlformats.org/markup-compatibility/2006">
                <mc:Choice xmlns:v="urn:schemas-microsoft-com:vml" Requires="v">
                  <p:oleObj spid="_x0000_s69661" name="公式" r:id="rId11" imgW="876300" imgH="203200" progId="Equation.3">
                    <p:embed/>
                  </p:oleObj>
                </mc:Choice>
                <mc:Fallback>
                  <p:oleObj name="公式" r:id="rId11" imgW="876300" imgH="203200"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17" y="2403"/>
                          <a:ext cx="1643" cy="3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6"/>
          <p:cNvGrpSpPr>
            <a:grpSpLocks/>
          </p:cNvGrpSpPr>
          <p:nvPr/>
        </p:nvGrpSpPr>
        <p:grpSpPr bwMode="auto">
          <a:xfrm>
            <a:off x="1258888" y="3859213"/>
            <a:ext cx="5616575" cy="381000"/>
            <a:chOff x="793" y="2818"/>
            <a:chExt cx="3538" cy="321"/>
          </a:xfrm>
        </p:grpSpPr>
        <p:sp>
          <p:nvSpPr>
            <p:cNvPr id="69645" name="Text Box 20"/>
            <p:cNvSpPr txBox="1">
              <a:spLocks noChangeArrowheads="1"/>
            </p:cNvSpPr>
            <p:nvPr/>
          </p:nvSpPr>
          <p:spPr bwMode="auto">
            <a:xfrm>
              <a:off x="793" y="2826"/>
              <a:ext cx="99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pPr>
              <a:r>
                <a:rPr kumimoji="0" lang="zh-CN" altLang="en-US" sz="1800">
                  <a:ea typeface="华文中宋" pitchFamily="2" charset="-122"/>
                </a:rPr>
                <a:t>放出的能量</a:t>
              </a:r>
            </a:p>
          </p:txBody>
        </p:sp>
        <p:graphicFrame>
          <p:nvGraphicFramePr>
            <p:cNvPr id="69646" name="Object 21"/>
            <p:cNvGraphicFramePr>
              <a:graphicFrameLocks noChangeAspect="1"/>
            </p:cNvGraphicFramePr>
            <p:nvPr/>
          </p:nvGraphicFramePr>
          <p:xfrm>
            <a:off x="1947" y="2818"/>
            <a:ext cx="2384" cy="321"/>
          </p:xfrm>
          <a:graphic>
            <a:graphicData uri="http://schemas.openxmlformats.org/presentationml/2006/ole">
              <mc:AlternateContent xmlns:mc="http://schemas.openxmlformats.org/markup-compatibility/2006">
                <mc:Choice xmlns:v="urn:schemas-microsoft-com:vml" Requires="v">
                  <p:oleObj spid="_x0000_s69662" name="Equation" r:id="rId13" imgW="1803240" imgH="228600" progId="Equation.DSMT4">
                    <p:embed/>
                  </p:oleObj>
                </mc:Choice>
                <mc:Fallback>
                  <p:oleObj name="Equation" r:id="rId13" imgW="1803240" imgH="228600" progId="Equation.DSMT4">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47" y="2818"/>
                          <a:ext cx="2384"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69642" name="组合 7"/>
          <p:cNvGrpSpPr>
            <a:grpSpLocks/>
          </p:cNvGrpSpPr>
          <p:nvPr/>
        </p:nvGrpSpPr>
        <p:grpSpPr bwMode="auto">
          <a:xfrm>
            <a:off x="6588125" y="1657350"/>
            <a:ext cx="2438400" cy="2211388"/>
            <a:chOff x="6588224" y="1657350"/>
            <a:chExt cx="2438400" cy="2210863"/>
          </a:xfrm>
        </p:grpSpPr>
        <p:pic>
          <p:nvPicPr>
            <p:cNvPr id="6" name="原子弹.wmv">
              <a:hlinkClick r:id="" action="ppaction://media"/>
            </p:cNvPr>
            <p:cNvPicPr>
              <a:picLocks noRot="1" noChangeAspect="1"/>
            </p:cNvPicPr>
            <p:nvPr>
              <a:videoFile r:link="rId2"/>
            </p:nvPr>
          </p:nvPicPr>
          <p:blipFill>
            <a:blip r:embed="rId15">
              <a:extLst>
                <a:ext uri="{28A0092B-C50C-407E-A947-70E740481C1C}">
                  <a14:useLocalDpi xmlns:a14="http://schemas.microsoft.com/office/drawing/2010/main" val="0"/>
                </a:ext>
              </a:extLst>
            </a:blip>
            <a:srcRect/>
            <a:stretch>
              <a:fillRect/>
            </a:stretch>
          </p:blipFill>
          <p:spPr bwMode="auto">
            <a:xfrm>
              <a:off x="6588224" y="165735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4" name="TextBox 6"/>
            <p:cNvSpPr txBox="1">
              <a:spLocks noChangeArrowheads="1"/>
            </p:cNvSpPr>
            <p:nvPr/>
          </p:nvSpPr>
          <p:spPr bwMode="auto">
            <a:xfrm>
              <a:off x="7552647" y="3545048"/>
              <a:ext cx="76174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t>原子弹</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blinds(horizontal)">
                                      <p:cBhvr>
                                        <p:cTn id="7" dur="500"/>
                                        <p:tgtEl>
                                          <p:spTgt spid="706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61"/>
                                        </p:tgtEl>
                                        <p:attrNameLst>
                                          <p:attrName>style.visibility</p:attrName>
                                        </p:attrNameLst>
                                      </p:cBhvr>
                                      <p:to>
                                        <p:strVal val="visible"/>
                                      </p:to>
                                    </p:set>
                                    <p:animEffect transition="in" filter="blinds(horizontal)">
                                      <p:cBhvr>
                                        <p:cTn id="12" dur="500"/>
                                        <p:tgtEl>
                                          <p:spTgt spid="706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664"/>
                                        </p:tgtEl>
                                        <p:attrNameLst>
                                          <p:attrName>style.visibility</p:attrName>
                                        </p:attrNameLst>
                                      </p:cBhvr>
                                      <p:to>
                                        <p:strVal val="visible"/>
                                      </p:to>
                                    </p:set>
                                    <p:animEffect transition="in" filter="blinds(horizontal)">
                                      <p:cBhvr>
                                        <p:cTn id="17" dur="500"/>
                                        <p:tgtEl>
                                          <p:spTgt spid="706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70663"/>
                                        </p:tgtEl>
                                        <p:attrNameLst>
                                          <p:attrName>style.visibility</p:attrName>
                                        </p:attrNameLst>
                                      </p:cBhvr>
                                      <p:to>
                                        <p:strVal val="visible"/>
                                      </p:to>
                                    </p:set>
                                    <p:animEffect transition="in" filter="blinds(vertical)">
                                      <p:cBhvr>
                                        <p:cTn id="22" dur="500"/>
                                        <p:tgtEl>
                                          <p:spTgt spid="706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43" fill="hold" display="0">
                  <p:stCondLst>
                    <p:cond delay="indefinite"/>
                  </p:stCondLst>
                </p:cTn>
                <p:tgtEl>
                  <p:spTgt spid="6"/>
                </p:tgtEl>
              </p:cMediaNode>
            </p:video>
          </p:childTnLst>
        </p:cTn>
      </p:par>
    </p:tnLst>
    <p:bldLst>
      <p:bldP spid="70660" grpId="0"/>
      <p:bldP spid="70661" grpId="0"/>
      <p:bldP spid="70664"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
          <p:cNvGrpSpPr>
            <a:grpSpLocks/>
          </p:cNvGrpSpPr>
          <p:nvPr/>
        </p:nvGrpSpPr>
        <p:grpSpPr bwMode="auto">
          <a:xfrm>
            <a:off x="1743075" y="1277938"/>
            <a:ext cx="3562350" cy="523875"/>
            <a:chOff x="1543" y="482"/>
            <a:chExt cx="2244" cy="441"/>
          </a:xfrm>
        </p:grpSpPr>
        <p:sp>
          <p:nvSpPr>
            <p:cNvPr id="70672" name="Text Box 4"/>
            <p:cNvSpPr txBox="1">
              <a:spLocks noChangeArrowheads="1"/>
            </p:cNvSpPr>
            <p:nvPr/>
          </p:nvSpPr>
          <p:spPr bwMode="auto">
            <a:xfrm>
              <a:off x="1543" y="535"/>
              <a:ext cx="95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algn="ctr" eaLnBrk="1" hangingPunct="1">
                <a:buFontTx/>
                <a:buChar char="•"/>
              </a:pPr>
              <a:r>
                <a:rPr kumimoji="0" lang="en-US" altLang="zh-CN" sz="2400">
                  <a:ea typeface="华文中宋" pitchFamily="2" charset="-122"/>
                </a:rPr>
                <a:t> </a:t>
              </a:r>
              <a:r>
                <a:rPr kumimoji="0" lang="zh-CN" altLang="en-US" sz="2400">
                  <a:ea typeface="华文中宋" pitchFamily="2" charset="-122"/>
                </a:rPr>
                <a:t>核聚变 </a:t>
              </a:r>
            </a:p>
          </p:txBody>
        </p:sp>
        <p:graphicFrame>
          <p:nvGraphicFramePr>
            <p:cNvPr id="70673" name="Object 7"/>
            <p:cNvGraphicFramePr>
              <a:graphicFrameLocks noChangeAspect="1"/>
            </p:cNvGraphicFramePr>
            <p:nvPr/>
          </p:nvGraphicFramePr>
          <p:xfrm>
            <a:off x="2481" y="482"/>
            <a:ext cx="1306" cy="342"/>
          </p:xfrm>
          <a:graphic>
            <a:graphicData uri="http://schemas.openxmlformats.org/presentationml/2006/ole">
              <mc:AlternateContent xmlns:mc="http://schemas.openxmlformats.org/markup-compatibility/2006">
                <mc:Choice xmlns:v="urn:schemas-microsoft-com:vml" Requires="v">
                  <p:oleObj spid="_x0000_s70679" name="公式" r:id="rId4" imgW="672808" imgH="203112" progId="Equation.3">
                    <p:embed/>
                  </p:oleObj>
                </mc:Choice>
                <mc:Fallback>
                  <p:oleObj name="公式" r:id="rId4" imgW="672808" imgH="203112"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1" y="482"/>
                          <a:ext cx="1306" cy="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21"/>
          <p:cNvGrpSpPr>
            <a:grpSpLocks/>
          </p:cNvGrpSpPr>
          <p:nvPr/>
        </p:nvGrpSpPr>
        <p:grpSpPr bwMode="auto">
          <a:xfrm>
            <a:off x="769938" y="2936875"/>
            <a:ext cx="5962650" cy="1074738"/>
            <a:chOff x="576" y="1876"/>
            <a:chExt cx="3756" cy="903"/>
          </a:xfrm>
        </p:grpSpPr>
        <p:graphicFrame>
          <p:nvGraphicFramePr>
            <p:cNvPr id="70668" name="Object 9"/>
            <p:cNvGraphicFramePr>
              <a:graphicFrameLocks noChangeAspect="1"/>
            </p:cNvGraphicFramePr>
            <p:nvPr/>
          </p:nvGraphicFramePr>
          <p:xfrm>
            <a:off x="1907" y="2342"/>
            <a:ext cx="2425" cy="351"/>
          </p:xfrm>
          <a:graphic>
            <a:graphicData uri="http://schemas.openxmlformats.org/presentationml/2006/ole">
              <mc:AlternateContent xmlns:mc="http://schemas.openxmlformats.org/markup-compatibility/2006">
                <mc:Choice xmlns:v="urn:schemas-microsoft-com:vml" Requires="v">
                  <p:oleObj spid="_x0000_s70680" name="公式" r:id="rId6" imgW="1473200" imgH="203200" progId="Equation.3">
                    <p:embed/>
                  </p:oleObj>
                </mc:Choice>
                <mc:Fallback>
                  <p:oleObj name="公式" r:id="rId6" imgW="1473200" imgH="2032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7" y="2342"/>
                          <a:ext cx="2425" cy="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9" name="Text Box 10"/>
            <p:cNvSpPr txBox="1">
              <a:spLocks noChangeArrowheads="1"/>
            </p:cNvSpPr>
            <p:nvPr/>
          </p:nvSpPr>
          <p:spPr bwMode="auto">
            <a:xfrm>
              <a:off x="576" y="2391"/>
              <a:ext cx="158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pPr>
              <a:r>
                <a:rPr kumimoji="0" lang="zh-CN" altLang="en-US" sz="2400">
                  <a:ea typeface="华文中宋" pitchFamily="2" charset="-122"/>
                </a:rPr>
                <a:t>释放能量</a:t>
              </a:r>
            </a:p>
          </p:txBody>
        </p:sp>
        <p:graphicFrame>
          <p:nvGraphicFramePr>
            <p:cNvPr id="70670" name="Object 11"/>
            <p:cNvGraphicFramePr>
              <a:graphicFrameLocks noChangeAspect="1"/>
            </p:cNvGraphicFramePr>
            <p:nvPr/>
          </p:nvGraphicFramePr>
          <p:xfrm>
            <a:off x="1882" y="1876"/>
            <a:ext cx="2270" cy="362"/>
          </p:xfrm>
          <a:graphic>
            <a:graphicData uri="http://schemas.openxmlformats.org/presentationml/2006/ole">
              <mc:AlternateContent xmlns:mc="http://schemas.openxmlformats.org/markup-compatibility/2006">
                <mc:Choice xmlns:v="urn:schemas-microsoft-com:vml" Requires="v">
                  <p:oleObj spid="_x0000_s70681" name="公式" r:id="rId8" imgW="1256755" imgH="203112" progId="Equation.3">
                    <p:embed/>
                  </p:oleObj>
                </mc:Choice>
                <mc:Fallback>
                  <p:oleObj name="公式" r:id="rId8" imgW="1256755" imgH="203112"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2" y="1876"/>
                          <a:ext cx="2270" cy="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71" name="Rectangle 12"/>
            <p:cNvSpPr>
              <a:spLocks noChangeArrowheads="1"/>
            </p:cNvSpPr>
            <p:nvPr/>
          </p:nvSpPr>
          <p:spPr bwMode="auto">
            <a:xfrm>
              <a:off x="576" y="1920"/>
              <a:ext cx="172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2400">
                  <a:ea typeface="华文中宋" pitchFamily="2" charset="-122"/>
                </a:rPr>
                <a:t>质量亏损</a:t>
              </a:r>
            </a:p>
          </p:txBody>
        </p:sp>
      </p:grpSp>
      <p:grpSp>
        <p:nvGrpSpPr>
          <p:cNvPr id="4" name="Group 20"/>
          <p:cNvGrpSpPr>
            <a:grpSpLocks/>
          </p:cNvGrpSpPr>
          <p:nvPr/>
        </p:nvGrpSpPr>
        <p:grpSpPr bwMode="auto">
          <a:xfrm>
            <a:off x="1028700" y="1855788"/>
            <a:ext cx="4852988" cy="1038225"/>
            <a:chOff x="1093" y="968"/>
            <a:chExt cx="3057" cy="872"/>
          </a:xfrm>
        </p:grpSpPr>
        <p:sp>
          <p:nvSpPr>
            <p:cNvPr id="70664" name="Rectangle 14"/>
            <p:cNvSpPr>
              <a:spLocks noChangeArrowheads="1"/>
            </p:cNvSpPr>
            <p:nvPr/>
          </p:nvSpPr>
          <p:spPr bwMode="auto">
            <a:xfrm>
              <a:off x="1093" y="1033"/>
              <a:ext cx="115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0" lang="zh-CN" altLang="en-US" sz="2400">
                  <a:solidFill>
                    <a:srgbClr val="CC0000"/>
                  </a:solidFill>
                  <a:ea typeface="华文中宋" pitchFamily="2" charset="-122"/>
                </a:rPr>
                <a:t>氘核</a:t>
              </a:r>
            </a:p>
          </p:txBody>
        </p:sp>
        <p:sp>
          <p:nvSpPr>
            <p:cNvPr id="70665" name="Rectangle 15"/>
            <p:cNvSpPr>
              <a:spLocks noChangeArrowheads="1"/>
            </p:cNvSpPr>
            <p:nvPr/>
          </p:nvSpPr>
          <p:spPr bwMode="auto">
            <a:xfrm>
              <a:off x="1098" y="1452"/>
              <a:ext cx="1056"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kumimoji="0" lang="zh-CN" altLang="en-US" sz="2400">
                  <a:solidFill>
                    <a:srgbClr val="CC0000"/>
                  </a:solidFill>
                  <a:ea typeface="华文中宋" pitchFamily="2" charset="-122"/>
                </a:rPr>
                <a:t>氦核</a:t>
              </a:r>
            </a:p>
          </p:txBody>
        </p:sp>
        <p:graphicFrame>
          <p:nvGraphicFramePr>
            <p:cNvPr id="70666" name="Object 16"/>
            <p:cNvGraphicFramePr>
              <a:graphicFrameLocks noChangeAspect="1"/>
            </p:cNvGraphicFramePr>
            <p:nvPr/>
          </p:nvGraphicFramePr>
          <p:xfrm>
            <a:off x="1973" y="968"/>
            <a:ext cx="2122" cy="376"/>
          </p:xfrm>
          <a:graphic>
            <a:graphicData uri="http://schemas.openxmlformats.org/presentationml/2006/ole">
              <mc:AlternateContent xmlns:mc="http://schemas.openxmlformats.org/markup-compatibility/2006">
                <mc:Choice xmlns:v="urn:schemas-microsoft-com:vml" Requires="v">
                  <p:oleObj spid="_x0000_s70682" name="公式" r:id="rId10" imgW="1218671" imgH="215806" progId="Equation.3">
                    <p:embed/>
                  </p:oleObj>
                </mc:Choice>
                <mc:Fallback>
                  <p:oleObj name="公式" r:id="rId10" imgW="1218671" imgH="215806" progId="Equation.3">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73" y="968"/>
                          <a:ext cx="2122" cy="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67" name="Object 17"/>
            <p:cNvGraphicFramePr>
              <a:graphicFrameLocks noChangeAspect="1"/>
            </p:cNvGraphicFramePr>
            <p:nvPr/>
          </p:nvGraphicFramePr>
          <p:xfrm>
            <a:off x="1973" y="1384"/>
            <a:ext cx="2177" cy="372"/>
          </p:xfrm>
          <a:graphic>
            <a:graphicData uri="http://schemas.openxmlformats.org/presentationml/2006/ole">
              <mc:AlternateContent xmlns:mc="http://schemas.openxmlformats.org/markup-compatibility/2006">
                <mc:Choice xmlns:v="urn:schemas-microsoft-com:vml" Requires="v">
                  <p:oleObj spid="_x0000_s70683" name="公式" r:id="rId12" imgW="1256755" imgH="215806" progId="Equation.3">
                    <p:embed/>
                  </p:oleObj>
                </mc:Choice>
                <mc:Fallback>
                  <p:oleObj name="公式" r:id="rId12" imgW="1256755" imgH="215806"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73" y="1384"/>
                          <a:ext cx="2177" cy="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0661" name="组合 5"/>
          <p:cNvGrpSpPr>
            <a:grpSpLocks/>
          </p:cNvGrpSpPr>
          <p:nvPr/>
        </p:nvGrpSpPr>
        <p:grpSpPr bwMode="auto">
          <a:xfrm>
            <a:off x="6300788" y="908050"/>
            <a:ext cx="2735262" cy="2405063"/>
            <a:chOff x="6300192" y="907362"/>
            <a:chExt cx="2736304" cy="2405344"/>
          </a:xfrm>
        </p:grpSpPr>
        <p:pic>
          <p:nvPicPr>
            <p:cNvPr id="5" name="氢弹.wmv">
              <a:hlinkClick r:id="" action="ppaction://media"/>
            </p:cNvPr>
            <p:cNvPicPr>
              <a:picLocks noRot="1" noChangeAspect="1"/>
            </p:cNvPicPr>
            <p:nvPr>
              <a:videoFile r:link="rId2"/>
            </p:nvPr>
          </p:nvPicPr>
          <p:blipFill>
            <a:blip r:embed="rId14">
              <a:extLst>
                <a:ext uri="{28A0092B-C50C-407E-A947-70E740481C1C}">
                  <a14:useLocalDpi xmlns:a14="http://schemas.microsoft.com/office/drawing/2010/main" val="0"/>
                </a:ext>
              </a:extLst>
            </a:blip>
            <a:srcRect/>
            <a:stretch>
              <a:fillRect/>
            </a:stretch>
          </p:blipFill>
          <p:spPr bwMode="auto">
            <a:xfrm>
              <a:off x="6300192" y="907362"/>
              <a:ext cx="2736304" cy="2052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3" name="TextBox 16"/>
            <p:cNvSpPr txBox="1">
              <a:spLocks noChangeArrowheads="1"/>
            </p:cNvSpPr>
            <p:nvPr/>
          </p:nvSpPr>
          <p:spPr bwMode="auto">
            <a:xfrm>
              <a:off x="7596336" y="2989541"/>
              <a:ext cx="56938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500"/>
                <a:t>氢弹</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18" fill="hold" display="0">
                  <p:stCondLst>
                    <p:cond delay="indefinite"/>
                  </p:stCondLst>
                </p:cTn>
                <p:tgtEl>
                  <p:spTgt spid="5"/>
                </p:tgtEl>
              </p:cMediaNode>
            </p:video>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71" name="Text Box 35"/>
          <p:cNvSpPr txBox="1">
            <a:spLocks noChangeArrowheads="1"/>
          </p:cNvSpPr>
          <p:nvPr/>
        </p:nvSpPr>
        <p:spPr bwMode="auto">
          <a:xfrm>
            <a:off x="4262438" y="1360488"/>
            <a:ext cx="16129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pPr>
            <a:r>
              <a:rPr lang="zh-CN" altLang="en-US" sz="1500">
                <a:ea typeface="华文中宋" pitchFamily="2" charset="-122"/>
              </a:rPr>
              <a:t>两边平方</a:t>
            </a:r>
          </a:p>
        </p:txBody>
      </p:sp>
      <p:sp>
        <p:nvSpPr>
          <p:cNvPr id="244772" name="Line 36"/>
          <p:cNvSpPr>
            <a:spLocks noChangeShapeType="1"/>
          </p:cNvSpPr>
          <p:nvPr/>
        </p:nvSpPr>
        <p:spPr bwMode="auto">
          <a:xfrm>
            <a:off x="4062413" y="1714500"/>
            <a:ext cx="1873250" cy="0"/>
          </a:xfrm>
          <a:prstGeom prst="line">
            <a:avLst/>
          </a:prstGeom>
          <a:noFill/>
          <a:ln w="76200">
            <a:solidFill>
              <a:srgbClr val="FF9900"/>
            </a:solidFill>
            <a:round/>
            <a:headEnd/>
            <a:tailEnd type="triangle"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4774" name="Text Box 38"/>
          <p:cNvSpPr txBox="1">
            <a:spLocks noChangeArrowheads="1"/>
          </p:cNvSpPr>
          <p:nvPr/>
        </p:nvSpPr>
        <p:spPr bwMode="auto">
          <a:xfrm>
            <a:off x="7002463" y="2176463"/>
            <a:ext cx="13858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spcBef>
                <a:spcPct val="50000"/>
              </a:spcBef>
            </a:pPr>
            <a:r>
              <a:rPr lang="zh-CN" altLang="en-US" sz="1500">
                <a:ea typeface="华文中宋" pitchFamily="2" charset="-122"/>
              </a:rPr>
              <a:t>两边乘以 </a:t>
            </a:r>
            <a:r>
              <a:rPr lang="en-US" altLang="zh-CN" sz="1500" b="0" i="1">
                <a:ea typeface="华文中宋" pitchFamily="2" charset="-122"/>
              </a:rPr>
              <a:t>c </a:t>
            </a:r>
            <a:r>
              <a:rPr lang="en-US" altLang="zh-CN" sz="1500" b="0" baseline="40000">
                <a:ea typeface="华文中宋" pitchFamily="2" charset="-122"/>
              </a:rPr>
              <a:t>4</a:t>
            </a:r>
          </a:p>
        </p:txBody>
      </p:sp>
      <p:sp>
        <p:nvSpPr>
          <p:cNvPr id="244776" name="Line 40"/>
          <p:cNvSpPr>
            <a:spLocks noChangeShapeType="1"/>
          </p:cNvSpPr>
          <p:nvPr/>
        </p:nvSpPr>
        <p:spPr bwMode="auto">
          <a:xfrm rot="10800000">
            <a:off x="4291013" y="2871788"/>
            <a:ext cx="1511300" cy="0"/>
          </a:xfrm>
          <a:prstGeom prst="line">
            <a:avLst/>
          </a:prstGeom>
          <a:noFill/>
          <a:ln w="76200">
            <a:solidFill>
              <a:srgbClr val="FF9900"/>
            </a:solidFill>
            <a:round/>
            <a:headEnd/>
            <a:tailEnd type="triangle"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44777" name="Line 41"/>
          <p:cNvSpPr>
            <a:spLocks noChangeShapeType="1"/>
          </p:cNvSpPr>
          <p:nvPr/>
        </p:nvSpPr>
        <p:spPr bwMode="auto">
          <a:xfrm rot="5400000">
            <a:off x="6553200" y="2382838"/>
            <a:ext cx="809625" cy="0"/>
          </a:xfrm>
          <a:prstGeom prst="line">
            <a:avLst/>
          </a:prstGeom>
          <a:noFill/>
          <a:ln w="76200">
            <a:solidFill>
              <a:srgbClr val="FF9900"/>
            </a:solidFill>
            <a:round/>
            <a:headEnd/>
            <a:tailEnd type="triangle"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grpSp>
        <p:nvGrpSpPr>
          <p:cNvPr id="2" name="Group 44"/>
          <p:cNvGrpSpPr>
            <a:grpSpLocks/>
          </p:cNvGrpSpPr>
          <p:nvPr/>
        </p:nvGrpSpPr>
        <p:grpSpPr bwMode="auto">
          <a:xfrm>
            <a:off x="4456113" y="3173413"/>
            <a:ext cx="2419350" cy="1198562"/>
            <a:chOff x="3084" y="3024"/>
            <a:chExt cx="1524" cy="1006"/>
          </a:xfrm>
        </p:grpSpPr>
        <p:sp>
          <p:nvSpPr>
            <p:cNvPr id="71694" name="Line 45"/>
            <p:cNvSpPr>
              <a:spLocks noChangeShapeType="1"/>
            </p:cNvSpPr>
            <p:nvPr/>
          </p:nvSpPr>
          <p:spPr bwMode="auto">
            <a:xfrm>
              <a:off x="3294" y="3024"/>
              <a:ext cx="0" cy="779"/>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1695" name="Line 46"/>
            <p:cNvSpPr>
              <a:spLocks noChangeShapeType="1"/>
            </p:cNvSpPr>
            <p:nvPr/>
          </p:nvSpPr>
          <p:spPr bwMode="auto">
            <a:xfrm>
              <a:off x="3294" y="3792"/>
              <a:ext cx="1314" cy="0"/>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1696" name="Line 47"/>
            <p:cNvSpPr>
              <a:spLocks noChangeShapeType="1"/>
            </p:cNvSpPr>
            <p:nvPr/>
          </p:nvSpPr>
          <p:spPr bwMode="auto">
            <a:xfrm>
              <a:off x="3274" y="3024"/>
              <a:ext cx="1313" cy="779"/>
            </a:xfrm>
            <a:prstGeom prst="line">
              <a:avLst/>
            </a:prstGeom>
            <a:noFill/>
            <a:ln w="762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71697" name="Rectangle 48"/>
            <p:cNvSpPr>
              <a:spLocks noChangeArrowheads="1"/>
            </p:cNvSpPr>
            <p:nvPr/>
          </p:nvSpPr>
          <p:spPr bwMode="auto">
            <a:xfrm>
              <a:off x="3791" y="3095"/>
              <a:ext cx="23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r>
                <a:rPr kumimoji="0" lang="en-US" altLang="zh-CN" sz="1500" i="1">
                  <a:solidFill>
                    <a:srgbClr val="000000"/>
                  </a:solidFill>
                </a:rPr>
                <a:t>E</a:t>
              </a:r>
            </a:p>
          </p:txBody>
        </p:sp>
        <p:graphicFrame>
          <p:nvGraphicFramePr>
            <p:cNvPr id="71698" name="Object 49"/>
            <p:cNvGraphicFramePr>
              <a:graphicFrameLocks/>
            </p:cNvGraphicFramePr>
            <p:nvPr/>
          </p:nvGraphicFramePr>
          <p:xfrm>
            <a:off x="3084" y="3367"/>
            <a:ext cx="194" cy="180"/>
          </p:xfrm>
          <a:graphic>
            <a:graphicData uri="http://schemas.openxmlformats.org/presentationml/2006/ole">
              <mc:AlternateContent xmlns:mc="http://schemas.openxmlformats.org/markup-compatibility/2006">
                <mc:Choice xmlns:v="urn:schemas-microsoft-com:vml" Requires="v">
                  <p:oleObj spid="_x0000_s71706" name="Equation" r:id="rId4" imgW="253800" imgH="241200" progId="Equation.DSMT4">
                    <p:embed/>
                  </p:oleObj>
                </mc:Choice>
                <mc:Fallback>
                  <p:oleObj name="Equation" r:id="rId4" imgW="253800" imgH="241200" progId="Equation.DSMT4">
                    <p:embed/>
                    <p:pic>
                      <p:nvPicPr>
                        <p:cNvPr id="0" name="Object 49"/>
                        <p:cNvPicPr>
                          <a:picLocks noChangeArrowheads="1"/>
                        </p:cNvPicPr>
                        <p:nvPr/>
                      </p:nvPicPr>
                      <p:blipFill>
                        <a:blip r:embed="rId5">
                          <a:lum bright="-100000"/>
                          <a:extLst>
                            <a:ext uri="{28A0092B-C50C-407E-A947-70E740481C1C}">
                              <a14:useLocalDpi xmlns:a14="http://schemas.microsoft.com/office/drawing/2010/main" val="0"/>
                            </a:ext>
                          </a:extLst>
                        </a:blip>
                        <a:srcRect/>
                        <a:stretch>
                          <a:fillRect/>
                        </a:stretch>
                      </p:blipFill>
                      <p:spPr bwMode="auto">
                        <a:xfrm>
                          <a:off x="3084" y="3367"/>
                          <a:ext cx="194"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699" name="Object 50"/>
            <p:cNvGraphicFramePr>
              <a:graphicFrameLocks/>
            </p:cNvGraphicFramePr>
            <p:nvPr/>
          </p:nvGraphicFramePr>
          <p:xfrm>
            <a:off x="3724" y="3839"/>
            <a:ext cx="274" cy="191"/>
          </p:xfrm>
          <a:graphic>
            <a:graphicData uri="http://schemas.openxmlformats.org/presentationml/2006/ole">
              <mc:AlternateContent xmlns:mc="http://schemas.openxmlformats.org/markup-compatibility/2006">
                <mc:Choice xmlns:v="urn:schemas-microsoft-com:vml" Requires="v">
                  <p:oleObj spid="_x0000_s71707" name="Equation" r:id="rId6" imgW="215640" imgH="164880" progId="Equation.DSMT4">
                    <p:embed/>
                  </p:oleObj>
                </mc:Choice>
                <mc:Fallback>
                  <p:oleObj name="Equation" r:id="rId6" imgW="215640" imgH="164880" progId="Equation.DSMT4">
                    <p:embed/>
                    <p:pic>
                      <p:nvPicPr>
                        <p:cNvPr id="0" name="Object 50"/>
                        <p:cNvPicPr>
                          <a:picLocks noChangeArrowheads="1"/>
                        </p:cNvPicPr>
                        <p:nvPr/>
                      </p:nvPicPr>
                      <p:blipFill>
                        <a:blip r:embed="rId7">
                          <a:lum bright="-100000"/>
                          <a:extLst>
                            <a:ext uri="{28A0092B-C50C-407E-A947-70E740481C1C}">
                              <a14:useLocalDpi xmlns:a14="http://schemas.microsoft.com/office/drawing/2010/main" val="0"/>
                            </a:ext>
                          </a:extLst>
                        </a:blip>
                        <a:srcRect/>
                        <a:stretch>
                          <a:fillRect/>
                        </a:stretch>
                      </p:blipFill>
                      <p:spPr bwMode="auto">
                        <a:xfrm>
                          <a:off x="3724" y="3839"/>
                          <a:ext cx="27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2" name="Rectangle 56"/>
          <p:cNvSpPr>
            <a:spLocks noChangeArrowheads="1"/>
          </p:cNvSpPr>
          <p:nvPr/>
        </p:nvSpPr>
        <p:spPr bwMode="auto">
          <a:xfrm>
            <a:off x="1258888" y="4227513"/>
            <a:ext cx="3670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动量和能量的关系是密不可分的。</a:t>
            </a:r>
          </a:p>
        </p:txBody>
      </p:sp>
      <p:graphicFrame>
        <p:nvGraphicFramePr>
          <p:cNvPr id="244789" name="Object 53"/>
          <p:cNvGraphicFramePr>
            <a:graphicFrameLocks noChangeAspect="1"/>
          </p:cNvGraphicFramePr>
          <p:nvPr/>
        </p:nvGraphicFramePr>
        <p:xfrm>
          <a:off x="2052638" y="1260475"/>
          <a:ext cx="1984375" cy="950913"/>
        </p:xfrm>
        <a:graphic>
          <a:graphicData uri="http://schemas.openxmlformats.org/presentationml/2006/ole">
            <mc:AlternateContent xmlns:mc="http://schemas.openxmlformats.org/markup-compatibility/2006">
              <mc:Choice xmlns:v="urn:schemas-microsoft-com:vml" Requires="v">
                <p:oleObj spid="_x0000_s71708" name="公式" r:id="rId8" imgW="622030" imgH="520474" progId="Equation.3">
                  <p:embed/>
                </p:oleObj>
              </mc:Choice>
              <mc:Fallback>
                <p:oleObj name="公式" r:id="rId8" imgW="622030" imgH="520474" progId="Equation.3">
                  <p:embed/>
                  <p:pic>
                    <p:nvPicPr>
                      <p:cNvPr id="0" name="Object 5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52638" y="1260475"/>
                        <a:ext cx="1984375" cy="950913"/>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90" name="Object 54"/>
          <p:cNvGraphicFramePr>
            <a:graphicFrameLocks noChangeAspect="1"/>
          </p:cNvGraphicFramePr>
          <p:nvPr/>
        </p:nvGraphicFramePr>
        <p:xfrm>
          <a:off x="6013450" y="1370013"/>
          <a:ext cx="2590800" cy="741362"/>
        </p:xfrm>
        <a:graphic>
          <a:graphicData uri="http://schemas.openxmlformats.org/presentationml/2006/ole">
            <mc:AlternateContent xmlns:mc="http://schemas.openxmlformats.org/markup-compatibility/2006">
              <mc:Choice xmlns:v="urn:schemas-microsoft-com:vml" Requires="v">
                <p:oleObj spid="_x0000_s71709" name="公式" r:id="rId10" imgW="812447" imgH="406224" progId="Equation.3">
                  <p:embed/>
                </p:oleObj>
              </mc:Choice>
              <mc:Fallback>
                <p:oleObj name="公式" r:id="rId10" imgW="812447" imgH="406224" progId="Equation.3">
                  <p:embed/>
                  <p:pic>
                    <p:nvPicPr>
                      <p:cNvPr id="0" name="Object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3450" y="1370013"/>
                        <a:ext cx="2590800" cy="741362"/>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4791" name="Object 55"/>
          <p:cNvGraphicFramePr>
            <a:graphicFrameLocks noChangeAspect="1"/>
          </p:cNvGraphicFramePr>
          <p:nvPr/>
        </p:nvGraphicFramePr>
        <p:xfrm>
          <a:off x="5859463" y="2628900"/>
          <a:ext cx="3176587" cy="438150"/>
        </p:xfrm>
        <a:graphic>
          <a:graphicData uri="http://schemas.openxmlformats.org/presentationml/2006/ole">
            <mc:AlternateContent xmlns:mc="http://schemas.openxmlformats.org/markup-compatibility/2006">
              <mc:Choice xmlns:v="urn:schemas-microsoft-com:vml" Requires="v">
                <p:oleObj spid="_x0000_s71710" name="公式" r:id="rId12" imgW="1079032" imgH="215806" progId="Equation.3">
                  <p:embed/>
                </p:oleObj>
              </mc:Choice>
              <mc:Fallback>
                <p:oleObj name="公式" r:id="rId12" imgW="1079032" imgH="215806" progId="Equation.3">
                  <p:embed/>
                  <p:pic>
                    <p:nvPicPr>
                      <p:cNvPr id="0" name="Object 5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59463" y="2628900"/>
                        <a:ext cx="317658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4792" name="Object 56"/>
          <p:cNvGraphicFramePr>
            <a:graphicFrameLocks noChangeAspect="1"/>
          </p:cNvGraphicFramePr>
          <p:nvPr/>
        </p:nvGraphicFramePr>
        <p:xfrm>
          <a:off x="1692275" y="2646363"/>
          <a:ext cx="2605088" cy="430212"/>
        </p:xfrm>
        <a:graphic>
          <a:graphicData uri="http://schemas.openxmlformats.org/presentationml/2006/ole">
            <mc:AlternateContent xmlns:mc="http://schemas.openxmlformats.org/markup-compatibility/2006">
              <mc:Choice xmlns:v="urn:schemas-microsoft-com:vml" Requires="v">
                <p:oleObj spid="_x0000_s71711" name="公式" r:id="rId14" imgW="748975" imgH="215806" progId="Equation.3">
                  <p:embed/>
                </p:oleObj>
              </mc:Choice>
              <mc:Fallback>
                <p:oleObj name="公式" r:id="rId14" imgW="748975" imgH="215806" progId="Equation.3">
                  <p:embed/>
                  <p:pic>
                    <p:nvPicPr>
                      <p:cNvPr id="0" name="Object 5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692275" y="2646363"/>
                        <a:ext cx="2605088" cy="430212"/>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93" name="Text Box 2"/>
          <p:cNvSpPr>
            <a:spLocks noChangeArrowheads="1"/>
          </p:cNvSpPr>
          <p:nvPr/>
        </p:nvSpPr>
        <p:spPr bwMode="auto">
          <a:xfrm>
            <a:off x="735013" y="874713"/>
            <a:ext cx="3981450" cy="401637"/>
          </a:xfrm>
          <a:prstGeom prst="homePlate">
            <a:avLst>
              <a:gd name="adj" fmla="val 49703"/>
            </a:avLst>
          </a:prstGeom>
          <a:solidFill>
            <a:srgbClr val="539A8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chemeClr val="bg1"/>
                </a:solidFill>
                <a:latin typeface="华文中宋" pitchFamily="2" charset="-122"/>
                <a:ea typeface="华文中宋" pitchFamily="2" charset="-122"/>
              </a:rPr>
              <a:t>四、相对论中动量和能量的关系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44789"/>
                                        </p:tgtEl>
                                        <p:attrNameLst>
                                          <p:attrName>style.visibility</p:attrName>
                                        </p:attrNameLst>
                                      </p:cBhvr>
                                      <p:to>
                                        <p:strVal val="visible"/>
                                      </p:to>
                                    </p:set>
                                    <p:animEffect transition="in" filter="dissolve">
                                      <p:cBhvr>
                                        <p:cTn id="7" dur="500"/>
                                        <p:tgtEl>
                                          <p:spTgt spid="244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4771">
                                            <p:txEl>
                                              <p:pRg st="0" end="0"/>
                                            </p:txEl>
                                          </p:spTgt>
                                        </p:tgtEl>
                                        <p:attrNameLst>
                                          <p:attrName>style.visibility</p:attrName>
                                        </p:attrNameLst>
                                      </p:cBhvr>
                                      <p:to>
                                        <p:strVal val="visible"/>
                                      </p:to>
                                    </p:set>
                                    <p:animEffect transition="in" filter="blinds(horizontal)">
                                      <p:cBhvr>
                                        <p:cTn id="12" dur="500"/>
                                        <p:tgtEl>
                                          <p:spTgt spid="244771">
                                            <p:txEl>
                                              <p:pRg st="0" end="0"/>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44772"/>
                                        </p:tgtEl>
                                        <p:attrNameLst>
                                          <p:attrName>style.visibility</p:attrName>
                                        </p:attrNameLst>
                                      </p:cBhvr>
                                      <p:to>
                                        <p:strVal val="visible"/>
                                      </p:to>
                                    </p:set>
                                    <p:animEffect transition="in" filter="wipe(left)">
                                      <p:cBhvr>
                                        <p:cTn id="16" dur="500"/>
                                        <p:tgtEl>
                                          <p:spTgt spid="24477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244790"/>
                                        </p:tgtEl>
                                        <p:attrNameLst>
                                          <p:attrName>style.visibility</p:attrName>
                                        </p:attrNameLst>
                                      </p:cBhvr>
                                      <p:to>
                                        <p:strVal val="visible"/>
                                      </p:to>
                                    </p:set>
                                    <p:animEffect transition="in" filter="dissolve">
                                      <p:cBhvr>
                                        <p:cTn id="21" dur="500"/>
                                        <p:tgtEl>
                                          <p:spTgt spid="24479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44774">
                                            <p:txEl>
                                              <p:pRg st="0" end="0"/>
                                            </p:txEl>
                                          </p:spTgt>
                                        </p:tgtEl>
                                        <p:attrNameLst>
                                          <p:attrName>style.visibility</p:attrName>
                                        </p:attrNameLst>
                                      </p:cBhvr>
                                      <p:to>
                                        <p:strVal val="visible"/>
                                      </p:to>
                                    </p:set>
                                    <p:animEffect transition="in" filter="blinds(horizontal)">
                                      <p:cBhvr>
                                        <p:cTn id="26" dur="500"/>
                                        <p:tgtEl>
                                          <p:spTgt spid="244774">
                                            <p:txEl>
                                              <p:pRg st="0" end="0"/>
                                            </p:txEl>
                                          </p:spTgt>
                                        </p:tgtEl>
                                      </p:cBhvr>
                                    </p:animEffect>
                                  </p:childTnLst>
                                </p:cTn>
                              </p:par>
                            </p:childTnLst>
                          </p:cTn>
                        </p:par>
                        <p:par>
                          <p:cTn id="27" fill="hold" nodeType="afterGroup">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244777"/>
                                        </p:tgtEl>
                                        <p:attrNameLst>
                                          <p:attrName>style.visibility</p:attrName>
                                        </p:attrNameLst>
                                      </p:cBhvr>
                                      <p:to>
                                        <p:strVal val="visible"/>
                                      </p:to>
                                    </p:set>
                                    <p:animEffect transition="in" filter="wipe(up)">
                                      <p:cBhvr>
                                        <p:cTn id="30" dur="500"/>
                                        <p:tgtEl>
                                          <p:spTgt spid="24477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44791"/>
                                        </p:tgtEl>
                                        <p:attrNameLst>
                                          <p:attrName>style.visibility</p:attrName>
                                        </p:attrNameLst>
                                      </p:cBhvr>
                                      <p:to>
                                        <p:strVal val="visible"/>
                                      </p:to>
                                    </p:set>
                                    <p:animEffect transition="in" filter="dissolve">
                                      <p:cBhvr>
                                        <p:cTn id="35" dur="500"/>
                                        <p:tgtEl>
                                          <p:spTgt spid="24479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244776"/>
                                        </p:tgtEl>
                                        <p:attrNameLst>
                                          <p:attrName>style.visibility</p:attrName>
                                        </p:attrNameLst>
                                      </p:cBhvr>
                                      <p:to>
                                        <p:strVal val="visible"/>
                                      </p:to>
                                    </p:set>
                                    <p:animEffect transition="in" filter="wipe(right)">
                                      <p:cBhvr>
                                        <p:cTn id="40" dur="500"/>
                                        <p:tgtEl>
                                          <p:spTgt spid="24477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244792"/>
                                        </p:tgtEl>
                                        <p:attrNameLst>
                                          <p:attrName>style.visibility</p:attrName>
                                        </p:attrNameLst>
                                      </p:cBhvr>
                                      <p:to>
                                        <p:strVal val="visible"/>
                                      </p:to>
                                    </p:set>
                                    <p:animEffect transition="in" filter="dissolve">
                                      <p:cBhvr>
                                        <p:cTn id="45" dur="500"/>
                                        <p:tgtEl>
                                          <p:spTgt spid="24479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dissolve">
                                      <p:cBhvr>
                                        <p:cTn id="50" dur="500"/>
                                        <p:tgtEl>
                                          <p:spTgt spid="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71" grpId="0" build="p" autoUpdateAnimBg="0"/>
      <p:bldP spid="244772" grpId="0" animBg="1"/>
      <p:bldP spid="244774" grpId="0" build="p" autoUpdateAnimBg="0"/>
      <p:bldP spid="244776" grpId="0" animBg="1"/>
      <p:bldP spid="244777" grpId="0" animBg="1"/>
      <p:bldP spid="22"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auto">
          <a:xfrm>
            <a:off x="228600" y="773113"/>
            <a:ext cx="8686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      太阳向四周空间辐射能量，每秒钟相应的质量亏损若为</a:t>
            </a:r>
            <a:r>
              <a:rPr lang="en-US" altLang="zh-CN" sz="1800">
                <a:solidFill>
                  <a:srgbClr val="0000FF"/>
                </a:solidFill>
                <a:ea typeface="华文中宋" pitchFamily="2" charset="-122"/>
              </a:rPr>
              <a:t>4.5</a:t>
            </a:r>
            <a:r>
              <a:rPr lang="en-US" altLang="zh-CN" sz="1800">
                <a:solidFill>
                  <a:srgbClr val="0000FF"/>
                </a:solidFill>
                <a:ea typeface="华文中宋" pitchFamily="2" charset="-122"/>
                <a:sym typeface="Symbol" pitchFamily="18" charset="2"/>
              </a:rPr>
              <a:t>10</a:t>
            </a:r>
            <a:r>
              <a:rPr lang="en-US" altLang="zh-CN" sz="1800" baseline="30000">
                <a:solidFill>
                  <a:srgbClr val="0000FF"/>
                </a:solidFill>
                <a:ea typeface="华文中宋" pitchFamily="2" charset="-122"/>
                <a:sym typeface="Symbol" pitchFamily="18" charset="2"/>
              </a:rPr>
              <a:t>9 </a:t>
            </a:r>
            <a:r>
              <a:rPr lang="en-US" altLang="zh-CN" sz="1800">
                <a:solidFill>
                  <a:srgbClr val="0000FF"/>
                </a:solidFill>
                <a:ea typeface="华文中宋" pitchFamily="2" charset="-122"/>
                <a:sym typeface="Symbol" pitchFamily="18" charset="2"/>
              </a:rPr>
              <a:t>kg</a:t>
            </a:r>
            <a:r>
              <a:rPr lang="zh-CN" altLang="en-US" sz="1800">
                <a:solidFill>
                  <a:srgbClr val="0000FF"/>
                </a:solidFill>
                <a:ea typeface="华文中宋" pitchFamily="2" charset="-122"/>
                <a:sym typeface="Symbol" pitchFamily="18" charset="2"/>
              </a:rPr>
              <a:t>，求（</a:t>
            </a:r>
            <a:r>
              <a:rPr lang="en-US" altLang="zh-CN" sz="1800">
                <a:solidFill>
                  <a:srgbClr val="0000FF"/>
                </a:solidFill>
                <a:ea typeface="华文中宋" pitchFamily="2" charset="-122"/>
                <a:sym typeface="Symbol" pitchFamily="18" charset="2"/>
              </a:rPr>
              <a:t>1</a:t>
            </a:r>
            <a:r>
              <a:rPr lang="zh-CN" altLang="en-US" sz="1800">
                <a:solidFill>
                  <a:srgbClr val="0000FF"/>
                </a:solidFill>
                <a:ea typeface="华文中宋" pitchFamily="2" charset="-122"/>
                <a:sym typeface="Symbol" pitchFamily="18" charset="2"/>
              </a:rPr>
              <a:t>）太阳辐射的功率，（</a:t>
            </a:r>
            <a:r>
              <a:rPr lang="en-US" altLang="zh-CN" sz="1800">
                <a:solidFill>
                  <a:srgbClr val="0000FF"/>
                </a:solidFill>
                <a:ea typeface="华文中宋" pitchFamily="2" charset="-122"/>
                <a:sym typeface="Symbol" pitchFamily="18" charset="2"/>
              </a:rPr>
              <a:t>2</a:t>
            </a:r>
            <a:r>
              <a:rPr lang="zh-CN" altLang="en-US" sz="1800">
                <a:solidFill>
                  <a:srgbClr val="0000FF"/>
                </a:solidFill>
                <a:ea typeface="华文中宋" pitchFamily="2" charset="-122"/>
                <a:sym typeface="Symbol" pitchFamily="18" charset="2"/>
              </a:rPr>
              <a:t>）一年内太阳相应的静止质量亏损为多少</a:t>
            </a:r>
            <a:r>
              <a:rPr lang="en-US" altLang="zh-CN" sz="1800">
                <a:solidFill>
                  <a:srgbClr val="0000FF"/>
                </a:solidFill>
                <a:ea typeface="华文中宋" pitchFamily="2" charset="-122"/>
                <a:sym typeface="Symbol" pitchFamily="18" charset="2"/>
              </a:rPr>
              <a:t>kg </a:t>
            </a:r>
            <a:r>
              <a:rPr lang="zh-CN" altLang="en-US" sz="1800">
                <a:solidFill>
                  <a:srgbClr val="0000FF"/>
                </a:solidFill>
                <a:ea typeface="华文中宋" pitchFamily="2" charset="-122"/>
                <a:sym typeface="Symbol" pitchFamily="18" charset="2"/>
              </a:rPr>
              <a:t>？</a:t>
            </a:r>
            <a:endParaRPr lang="en-US" altLang="zh-CN" sz="1800">
              <a:solidFill>
                <a:srgbClr val="0000FF"/>
              </a:solidFill>
              <a:ea typeface="华文中宋" pitchFamily="2" charset="-122"/>
            </a:endParaRPr>
          </a:p>
        </p:txBody>
      </p:sp>
      <p:sp>
        <p:nvSpPr>
          <p:cNvPr id="246787" name="Text Box 3"/>
          <p:cNvSpPr txBox="1">
            <a:spLocks noChangeArrowheads="1"/>
          </p:cNvSpPr>
          <p:nvPr/>
        </p:nvSpPr>
        <p:spPr bwMode="auto">
          <a:xfrm>
            <a:off x="381000" y="1482725"/>
            <a:ext cx="4627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0000"/>
                </a:solidFill>
                <a:ea typeface="华文中宋" pitchFamily="2" charset="-122"/>
              </a:rPr>
              <a:t>解</a:t>
            </a:r>
            <a:r>
              <a:rPr lang="zh-CN" altLang="en-US" sz="1800">
                <a:ea typeface="华文中宋" pitchFamily="2" charset="-122"/>
                <a:sym typeface="Wingdings" pitchFamily="2" charset="2"/>
              </a:rPr>
              <a:t>　</a:t>
            </a:r>
            <a:r>
              <a:rPr lang="en-US" altLang="zh-CN" sz="1800">
                <a:ea typeface="华文中宋" pitchFamily="2" charset="-122"/>
                <a:sym typeface="Wingdings" pitchFamily="2" charset="2"/>
              </a:rPr>
              <a:t>1</a:t>
            </a:r>
            <a:r>
              <a:rPr lang="zh-CN" altLang="en-US" sz="1800">
                <a:ea typeface="华文中宋" pitchFamily="2" charset="-122"/>
                <a:sym typeface="Wingdings" pitchFamily="2" charset="2"/>
              </a:rPr>
              <a:t>）</a:t>
            </a:r>
            <a:r>
              <a:rPr lang="zh-CN" altLang="en-US" sz="1800">
                <a:ea typeface="华文中宋" pitchFamily="2" charset="-122"/>
              </a:rPr>
              <a:t>太阳每秒钟的辐射能量为</a:t>
            </a:r>
          </a:p>
        </p:txBody>
      </p:sp>
      <p:graphicFrame>
        <p:nvGraphicFramePr>
          <p:cNvPr id="246788" name="Object 4"/>
          <p:cNvGraphicFramePr>
            <a:graphicFrameLocks noChangeAspect="1"/>
          </p:cNvGraphicFramePr>
          <p:nvPr/>
        </p:nvGraphicFramePr>
        <p:xfrm>
          <a:off x="1189038" y="1771650"/>
          <a:ext cx="1438275" cy="385763"/>
        </p:xfrm>
        <a:graphic>
          <a:graphicData uri="http://schemas.openxmlformats.org/presentationml/2006/ole">
            <mc:AlternateContent xmlns:mc="http://schemas.openxmlformats.org/markup-compatibility/2006">
              <mc:Choice xmlns:v="urn:schemas-microsoft-com:vml" Requires="v">
                <p:oleObj spid="_x0000_s72725" name="公式" r:id="rId4" imgW="533169" imgH="190417" progId="Equation.3">
                  <p:embed/>
                </p:oleObj>
              </mc:Choice>
              <mc:Fallback>
                <p:oleObj name="公式" r:id="rId4" imgW="533169" imgH="190417"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9038" y="1771650"/>
                        <a:ext cx="14382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89" name="Object 5"/>
          <p:cNvGraphicFramePr>
            <a:graphicFrameLocks noChangeAspect="1"/>
          </p:cNvGraphicFramePr>
          <p:nvPr/>
        </p:nvGraphicFramePr>
        <p:xfrm>
          <a:off x="2627313" y="1727200"/>
          <a:ext cx="2509837" cy="446088"/>
        </p:xfrm>
        <a:graphic>
          <a:graphicData uri="http://schemas.openxmlformats.org/presentationml/2006/ole">
            <mc:AlternateContent xmlns:mc="http://schemas.openxmlformats.org/markup-compatibility/2006">
              <mc:Choice xmlns:v="urn:schemas-microsoft-com:vml" Requires="v">
                <p:oleObj spid="_x0000_s72726" name="Equation" r:id="rId6" imgW="965200" imgH="228600" progId="Equation.DSMT4">
                  <p:embed/>
                </p:oleObj>
              </mc:Choice>
              <mc:Fallback>
                <p:oleObj name="Equation" r:id="rId6" imgW="965200" imgH="2286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1727200"/>
                        <a:ext cx="2509837"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790" name="Object 6"/>
          <p:cNvGraphicFramePr>
            <a:graphicFrameLocks noChangeAspect="1"/>
          </p:cNvGraphicFramePr>
          <p:nvPr/>
        </p:nvGraphicFramePr>
        <p:xfrm>
          <a:off x="5091113" y="1835150"/>
          <a:ext cx="1568450" cy="301625"/>
        </p:xfrm>
        <a:graphic>
          <a:graphicData uri="http://schemas.openxmlformats.org/presentationml/2006/ole">
            <mc:AlternateContent xmlns:mc="http://schemas.openxmlformats.org/markup-compatibility/2006">
              <mc:Choice xmlns:v="urn:schemas-microsoft-com:vml" Requires="v">
                <p:oleObj spid="_x0000_s72727" name="Equation" r:id="rId8" imgW="863280" imgH="203040" progId="Equation.DSMT4">
                  <p:embed/>
                </p:oleObj>
              </mc:Choice>
              <mc:Fallback>
                <p:oleObj name="Equation" r:id="rId8" imgW="863280" imgH="20304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91113" y="1835150"/>
                        <a:ext cx="15684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6791" name="Text Box 7"/>
          <p:cNvSpPr txBox="1">
            <a:spLocks noChangeArrowheads="1"/>
          </p:cNvSpPr>
          <p:nvPr/>
        </p:nvSpPr>
        <p:spPr bwMode="auto">
          <a:xfrm>
            <a:off x="1190625" y="2201863"/>
            <a:ext cx="29416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即太阳的辐射功率为</a:t>
            </a:r>
          </a:p>
        </p:txBody>
      </p:sp>
      <p:graphicFrame>
        <p:nvGraphicFramePr>
          <p:cNvPr id="246792" name="Object 8"/>
          <p:cNvGraphicFramePr>
            <a:graphicFrameLocks noChangeAspect="1"/>
          </p:cNvGraphicFramePr>
          <p:nvPr/>
        </p:nvGraphicFramePr>
        <p:xfrm>
          <a:off x="3714750" y="2232025"/>
          <a:ext cx="1793875" cy="311150"/>
        </p:xfrm>
        <a:graphic>
          <a:graphicData uri="http://schemas.openxmlformats.org/presentationml/2006/ole">
            <mc:AlternateContent xmlns:mc="http://schemas.openxmlformats.org/markup-compatibility/2006">
              <mc:Choice xmlns:v="urn:schemas-microsoft-com:vml" Requires="v">
                <p:oleObj spid="_x0000_s72728" name="Equation" r:id="rId10" imgW="1079280" imgH="203040" progId="Equation.DSMT4">
                  <p:embed/>
                </p:oleObj>
              </mc:Choice>
              <mc:Fallback>
                <p:oleObj name="Equation" r:id="rId10" imgW="1079280" imgH="20304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4750" y="2232025"/>
                        <a:ext cx="179387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6793" name="Text Box 9"/>
          <p:cNvSpPr txBox="1">
            <a:spLocks noChangeArrowheads="1"/>
          </p:cNvSpPr>
          <p:nvPr/>
        </p:nvSpPr>
        <p:spPr bwMode="auto">
          <a:xfrm>
            <a:off x="900113" y="2643188"/>
            <a:ext cx="52403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2</a:t>
            </a:r>
            <a:r>
              <a:rPr lang="zh-CN" altLang="en-US" sz="1800">
                <a:ea typeface="华文中宋" pitchFamily="2" charset="-122"/>
              </a:rPr>
              <a:t>）</a:t>
            </a:r>
            <a:r>
              <a:rPr lang="zh-CN" altLang="en-US" sz="1800">
                <a:ea typeface="华文中宋" pitchFamily="2" charset="-122"/>
                <a:sym typeface="Symbol" pitchFamily="18" charset="2"/>
              </a:rPr>
              <a:t>一年内太阳相应的静止质量亏损为</a:t>
            </a:r>
          </a:p>
        </p:txBody>
      </p:sp>
      <p:graphicFrame>
        <p:nvGraphicFramePr>
          <p:cNvPr id="246794" name="Object 10"/>
          <p:cNvGraphicFramePr>
            <a:graphicFrameLocks noChangeAspect="1"/>
          </p:cNvGraphicFramePr>
          <p:nvPr/>
        </p:nvGraphicFramePr>
        <p:xfrm>
          <a:off x="1782763" y="3076575"/>
          <a:ext cx="5253037" cy="323850"/>
        </p:xfrm>
        <a:graphic>
          <a:graphicData uri="http://schemas.openxmlformats.org/presentationml/2006/ole">
            <mc:AlternateContent xmlns:mc="http://schemas.openxmlformats.org/markup-compatibility/2006">
              <mc:Choice xmlns:v="urn:schemas-microsoft-com:vml" Requires="v">
                <p:oleObj spid="_x0000_s72729" name="Equation" r:id="rId12" imgW="2781000" imgH="228600" progId="Equation.DSMT4">
                  <p:embed/>
                </p:oleObj>
              </mc:Choice>
              <mc:Fallback>
                <p:oleObj name="Equation" r:id="rId12" imgW="2781000" imgH="228600" progId="Equation.DSMT4">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2763" y="3076575"/>
                        <a:ext cx="525303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6795" name="Text Box 11"/>
          <p:cNvSpPr txBox="1">
            <a:spLocks noChangeArrowheads="1"/>
          </p:cNvSpPr>
          <p:nvPr/>
        </p:nvSpPr>
        <p:spPr bwMode="auto">
          <a:xfrm>
            <a:off x="1384300" y="3425825"/>
            <a:ext cx="3475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已知太阳的质量为</a:t>
            </a:r>
            <a:r>
              <a:rPr lang="en-US" altLang="zh-CN" sz="1800">
                <a:ea typeface="华文中宋" pitchFamily="2" charset="-122"/>
              </a:rPr>
              <a:t>1.99</a:t>
            </a:r>
            <a:r>
              <a:rPr lang="en-US" altLang="zh-CN" sz="1800">
                <a:ea typeface="华文中宋" pitchFamily="2" charset="-122"/>
                <a:sym typeface="Symbol" pitchFamily="18" charset="2"/>
              </a:rPr>
              <a:t></a:t>
            </a:r>
            <a:r>
              <a:rPr lang="en-US" altLang="zh-CN" sz="1800" baseline="30000">
                <a:ea typeface="华文中宋" pitchFamily="2" charset="-122"/>
                <a:sym typeface="Symbol" pitchFamily="18" charset="2"/>
              </a:rPr>
              <a:t>30 </a:t>
            </a:r>
            <a:r>
              <a:rPr lang="en-US" altLang="zh-CN" sz="1800">
                <a:ea typeface="华文中宋" pitchFamily="2" charset="-122"/>
                <a:sym typeface="Symbol" pitchFamily="18" charset="2"/>
              </a:rPr>
              <a:t>kg</a:t>
            </a:r>
            <a:r>
              <a:rPr lang="zh-CN" altLang="en-US" sz="1800">
                <a:ea typeface="华文中宋" pitchFamily="2" charset="-122"/>
                <a:sym typeface="Symbol" pitchFamily="18" charset="2"/>
              </a:rPr>
              <a:t>。</a:t>
            </a:r>
            <a:endParaRPr lang="zh-CN" altLang="en-US" sz="1800">
              <a:ea typeface="华文中宋" pitchFamily="2" charset="-122"/>
            </a:endParaRPr>
          </a:p>
        </p:txBody>
      </p:sp>
      <p:sp>
        <p:nvSpPr>
          <p:cNvPr id="246796" name="Text Box 12"/>
          <p:cNvSpPr txBox="1">
            <a:spLocks noChangeArrowheads="1"/>
          </p:cNvSpPr>
          <p:nvPr/>
        </p:nvSpPr>
        <p:spPr bwMode="auto">
          <a:xfrm>
            <a:off x="835025" y="3840163"/>
            <a:ext cx="3248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则太阳可供辐射大约为</a:t>
            </a:r>
          </a:p>
        </p:txBody>
      </p:sp>
      <p:graphicFrame>
        <p:nvGraphicFramePr>
          <p:cNvPr id="246797" name="Object 13"/>
          <p:cNvGraphicFramePr>
            <a:graphicFrameLocks noChangeAspect="1"/>
          </p:cNvGraphicFramePr>
          <p:nvPr/>
        </p:nvGraphicFramePr>
        <p:xfrm>
          <a:off x="3373438" y="3859213"/>
          <a:ext cx="4799012" cy="368300"/>
        </p:xfrm>
        <a:graphic>
          <a:graphicData uri="http://schemas.openxmlformats.org/presentationml/2006/ole">
            <mc:AlternateContent xmlns:mc="http://schemas.openxmlformats.org/markup-compatibility/2006">
              <mc:Choice xmlns:v="urn:schemas-microsoft-com:vml" Requires="v">
                <p:oleObj spid="_x0000_s72730" name="Equation" r:id="rId14" imgW="2247840" imgH="228600" progId="Equation.DSMT4">
                  <p:embed/>
                </p:oleObj>
              </mc:Choice>
              <mc:Fallback>
                <p:oleObj name="Equation" r:id="rId14" imgW="2247840" imgH="22860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73438" y="3859213"/>
                        <a:ext cx="47990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6798" name="Text Box 14"/>
          <p:cNvSpPr txBox="1">
            <a:spLocks noChangeArrowheads="1"/>
          </p:cNvSpPr>
          <p:nvPr/>
        </p:nvSpPr>
        <p:spPr bwMode="auto">
          <a:xfrm>
            <a:off x="1457325" y="4217988"/>
            <a:ext cx="6138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即，大约为</a:t>
            </a:r>
            <a:r>
              <a:rPr lang="en-US" altLang="zh-CN" sz="1800">
                <a:ea typeface="华文中宋" pitchFamily="2" charset="-122"/>
              </a:rPr>
              <a:t>10</a:t>
            </a:r>
            <a:r>
              <a:rPr lang="zh-CN" altLang="en-US" sz="1800">
                <a:ea typeface="华文中宋" pitchFamily="2" charset="-122"/>
              </a:rPr>
              <a:t>万亿年（实际早在此前已蜕变为其它星体了）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6786"/>
                                        </p:tgtEl>
                                        <p:attrNameLst>
                                          <p:attrName>style.visibility</p:attrName>
                                        </p:attrNameLst>
                                      </p:cBhvr>
                                      <p:to>
                                        <p:strVal val="visible"/>
                                      </p:to>
                                    </p:set>
                                    <p:animEffect transition="in" filter="checkerboard(across)">
                                      <p:cBhvr>
                                        <p:cTn id="7" dur="500"/>
                                        <p:tgtEl>
                                          <p:spTgt spid="2467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6787"/>
                                        </p:tgtEl>
                                        <p:attrNameLst>
                                          <p:attrName>style.visibility</p:attrName>
                                        </p:attrNameLst>
                                      </p:cBhvr>
                                      <p:to>
                                        <p:strVal val="visible"/>
                                      </p:to>
                                    </p:set>
                                    <p:animEffect transition="in" filter="checkerboard(across)">
                                      <p:cBhvr>
                                        <p:cTn id="12" dur="500"/>
                                        <p:tgtEl>
                                          <p:spTgt spid="2467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46788"/>
                                        </p:tgtEl>
                                        <p:attrNameLst>
                                          <p:attrName>style.visibility</p:attrName>
                                        </p:attrNameLst>
                                      </p:cBhvr>
                                      <p:to>
                                        <p:strVal val="visible"/>
                                      </p:to>
                                    </p:set>
                                    <p:animEffect transition="in" filter="checkerboard(across)">
                                      <p:cBhvr>
                                        <p:cTn id="17" dur="500"/>
                                        <p:tgtEl>
                                          <p:spTgt spid="2467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46789"/>
                                        </p:tgtEl>
                                        <p:attrNameLst>
                                          <p:attrName>style.visibility</p:attrName>
                                        </p:attrNameLst>
                                      </p:cBhvr>
                                      <p:to>
                                        <p:strVal val="visible"/>
                                      </p:to>
                                    </p:set>
                                    <p:animEffect transition="in" filter="checkerboard(across)">
                                      <p:cBhvr>
                                        <p:cTn id="22" dur="500"/>
                                        <p:tgtEl>
                                          <p:spTgt spid="2467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46790"/>
                                        </p:tgtEl>
                                        <p:attrNameLst>
                                          <p:attrName>style.visibility</p:attrName>
                                        </p:attrNameLst>
                                      </p:cBhvr>
                                      <p:to>
                                        <p:strVal val="visible"/>
                                      </p:to>
                                    </p:set>
                                    <p:animEffect transition="in" filter="checkerboard(across)">
                                      <p:cBhvr>
                                        <p:cTn id="27" dur="500"/>
                                        <p:tgtEl>
                                          <p:spTgt spid="2467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46791"/>
                                        </p:tgtEl>
                                        <p:attrNameLst>
                                          <p:attrName>style.visibility</p:attrName>
                                        </p:attrNameLst>
                                      </p:cBhvr>
                                      <p:to>
                                        <p:strVal val="visible"/>
                                      </p:to>
                                    </p:set>
                                    <p:animEffect transition="in" filter="checkerboard(across)">
                                      <p:cBhvr>
                                        <p:cTn id="32" dur="500"/>
                                        <p:tgtEl>
                                          <p:spTgt spid="2467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246792"/>
                                        </p:tgtEl>
                                        <p:attrNameLst>
                                          <p:attrName>style.visibility</p:attrName>
                                        </p:attrNameLst>
                                      </p:cBhvr>
                                      <p:to>
                                        <p:strVal val="visible"/>
                                      </p:to>
                                    </p:set>
                                    <p:animEffect transition="in" filter="checkerboard(across)">
                                      <p:cBhvr>
                                        <p:cTn id="37" dur="500"/>
                                        <p:tgtEl>
                                          <p:spTgt spid="2467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46793"/>
                                        </p:tgtEl>
                                        <p:attrNameLst>
                                          <p:attrName>style.visibility</p:attrName>
                                        </p:attrNameLst>
                                      </p:cBhvr>
                                      <p:to>
                                        <p:strVal val="visible"/>
                                      </p:to>
                                    </p:set>
                                    <p:animEffect transition="in" filter="checkerboard(across)">
                                      <p:cBhvr>
                                        <p:cTn id="42" dur="500"/>
                                        <p:tgtEl>
                                          <p:spTgt spid="24679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246794"/>
                                        </p:tgtEl>
                                        <p:attrNameLst>
                                          <p:attrName>style.visibility</p:attrName>
                                        </p:attrNameLst>
                                      </p:cBhvr>
                                      <p:to>
                                        <p:strVal val="visible"/>
                                      </p:to>
                                    </p:set>
                                    <p:animEffect transition="in" filter="checkerboard(across)">
                                      <p:cBhvr>
                                        <p:cTn id="47" dur="500"/>
                                        <p:tgtEl>
                                          <p:spTgt spid="24679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46795"/>
                                        </p:tgtEl>
                                        <p:attrNameLst>
                                          <p:attrName>style.visibility</p:attrName>
                                        </p:attrNameLst>
                                      </p:cBhvr>
                                      <p:to>
                                        <p:strVal val="visible"/>
                                      </p:to>
                                    </p:set>
                                    <p:animEffect transition="in" filter="checkerboard(across)">
                                      <p:cBhvr>
                                        <p:cTn id="52" dur="500"/>
                                        <p:tgtEl>
                                          <p:spTgt spid="24679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246796"/>
                                        </p:tgtEl>
                                        <p:attrNameLst>
                                          <p:attrName>style.visibility</p:attrName>
                                        </p:attrNameLst>
                                      </p:cBhvr>
                                      <p:to>
                                        <p:strVal val="visible"/>
                                      </p:to>
                                    </p:set>
                                    <p:animEffect transition="in" filter="checkerboard(across)">
                                      <p:cBhvr>
                                        <p:cTn id="57" dur="500"/>
                                        <p:tgtEl>
                                          <p:spTgt spid="24679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nodeType="clickEffect">
                                  <p:stCondLst>
                                    <p:cond delay="0"/>
                                  </p:stCondLst>
                                  <p:childTnLst>
                                    <p:set>
                                      <p:cBhvr>
                                        <p:cTn id="61" dur="1" fill="hold">
                                          <p:stCondLst>
                                            <p:cond delay="0"/>
                                          </p:stCondLst>
                                        </p:cTn>
                                        <p:tgtEl>
                                          <p:spTgt spid="246797"/>
                                        </p:tgtEl>
                                        <p:attrNameLst>
                                          <p:attrName>style.visibility</p:attrName>
                                        </p:attrNameLst>
                                      </p:cBhvr>
                                      <p:to>
                                        <p:strVal val="visible"/>
                                      </p:to>
                                    </p:set>
                                    <p:animEffect transition="in" filter="checkerboard(across)">
                                      <p:cBhvr>
                                        <p:cTn id="62" dur="500"/>
                                        <p:tgtEl>
                                          <p:spTgt spid="24679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246798"/>
                                        </p:tgtEl>
                                        <p:attrNameLst>
                                          <p:attrName>style.visibility</p:attrName>
                                        </p:attrNameLst>
                                      </p:cBhvr>
                                      <p:to>
                                        <p:strVal val="visible"/>
                                      </p:to>
                                    </p:set>
                                    <p:animEffect transition="in" filter="checkerboard(across)">
                                      <p:cBhvr>
                                        <p:cTn id="67" dur="500"/>
                                        <p:tgtEl>
                                          <p:spTgt spid="246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autoUpdateAnimBg="0"/>
      <p:bldP spid="246787" grpId="0" autoUpdateAnimBg="0"/>
      <p:bldP spid="246791" grpId="0" autoUpdateAnimBg="0"/>
      <p:bldP spid="246793" grpId="0" autoUpdateAnimBg="0"/>
      <p:bldP spid="246795" grpId="0" autoUpdateAnimBg="0"/>
      <p:bldP spid="246796" grpId="0" autoUpdateAnimBg="0"/>
      <p:bldP spid="246798"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8834" name="Object 2"/>
          <p:cNvGraphicFramePr>
            <a:graphicFrameLocks noChangeAspect="1"/>
          </p:cNvGraphicFramePr>
          <p:nvPr/>
        </p:nvGraphicFramePr>
        <p:xfrm>
          <a:off x="3446463" y="3021013"/>
          <a:ext cx="2854325" cy="793750"/>
        </p:xfrm>
        <a:graphic>
          <a:graphicData uri="http://schemas.openxmlformats.org/presentationml/2006/ole">
            <mc:AlternateContent xmlns:mc="http://schemas.openxmlformats.org/markup-compatibility/2006">
              <mc:Choice xmlns:v="urn:schemas-microsoft-com:vml" Requires="v">
                <p:oleObj spid="_x0000_s73744" name="公式" r:id="rId5" imgW="1028700" imgH="381000" progId="Equation.3">
                  <p:embed/>
                </p:oleObj>
              </mc:Choice>
              <mc:Fallback>
                <p:oleObj name="公式" r:id="rId5" imgW="1028700" imgH="3810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6463" y="3021013"/>
                        <a:ext cx="2854325" cy="793750"/>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8835" name="Object 3"/>
          <p:cNvGraphicFramePr>
            <a:graphicFrameLocks noChangeAspect="1"/>
          </p:cNvGraphicFramePr>
          <p:nvPr/>
        </p:nvGraphicFramePr>
        <p:xfrm>
          <a:off x="3613150" y="3959225"/>
          <a:ext cx="2182813" cy="628650"/>
        </p:xfrm>
        <a:graphic>
          <a:graphicData uri="http://schemas.openxmlformats.org/presentationml/2006/ole">
            <mc:AlternateContent xmlns:mc="http://schemas.openxmlformats.org/markup-compatibility/2006">
              <mc:Choice xmlns:v="urn:schemas-microsoft-com:vml" Requires="v">
                <p:oleObj spid="_x0000_s73745" name="公式" r:id="rId7" imgW="761669" imgH="291973" progId="Equation.3">
                  <p:embed/>
                </p:oleObj>
              </mc:Choice>
              <mc:Fallback>
                <p:oleObj name="公式" r:id="rId7" imgW="761669" imgH="291973"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3150" y="3959225"/>
                        <a:ext cx="2182813" cy="628650"/>
                      </a:xfrm>
                      <a:prstGeom prst="rect">
                        <a:avLst/>
                      </a:prstGeom>
                      <a:noFill/>
                      <a:ln>
                        <a:noFill/>
                      </a:ln>
                      <a:effectLst/>
                      <a:extLst>
                        <a:ext uri="{909E8E84-426E-40DD-AFC4-6F175D3DCCD1}">
                          <a14:hiddenFill xmlns:a14="http://schemas.microsoft.com/office/drawing/2010/main">
                            <a:solidFill>
                              <a:srgbClr val="FF99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8836" name="Rectangle 4"/>
          <p:cNvSpPr>
            <a:spLocks noChangeArrowheads="1"/>
          </p:cNvSpPr>
          <p:nvPr/>
        </p:nvSpPr>
        <p:spPr bwMode="auto">
          <a:xfrm>
            <a:off x="152400" y="855663"/>
            <a:ext cx="8686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1800">
                <a:solidFill>
                  <a:srgbClr val="0000FF"/>
                </a:solidFill>
                <a:ea typeface="华文中宋" pitchFamily="2" charset="-122"/>
              </a:rPr>
              <a:t>例    观察者甲以</a:t>
            </a:r>
            <a:r>
              <a:rPr lang="en-US" altLang="zh-CN" sz="1800">
                <a:solidFill>
                  <a:srgbClr val="0000FF"/>
                </a:solidFill>
                <a:ea typeface="华文中宋" pitchFamily="2" charset="-122"/>
              </a:rPr>
              <a:t>4</a:t>
            </a:r>
            <a:r>
              <a:rPr lang="en-US" altLang="zh-CN" sz="1800" i="1">
                <a:solidFill>
                  <a:srgbClr val="0000FF"/>
                </a:solidFill>
                <a:ea typeface="华文中宋" pitchFamily="2" charset="-122"/>
              </a:rPr>
              <a:t>c</a:t>
            </a:r>
            <a:r>
              <a:rPr lang="en-US" altLang="zh-CN" sz="1800">
                <a:solidFill>
                  <a:srgbClr val="0000FF"/>
                </a:solidFill>
                <a:ea typeface="华文中宋" pitchFamily="2" charset="-122"/>
              </a:rPr>
              <a:t>/5</a:t>
            </a:r>
            <a:r>
              <a:rPr lang="zh-CN" altLang="en-US" sz="1800">
                <a:solidFill>
                  <a:srgbClr val="0000FF"/>
                </a:solidFill>
                <a:ea typeface="华文中宋" pitchFamily="2" charset="-122"/>
              </a:rPr>
              <a:t>的速度相对于静止的观察者乙运动，若甲携带一长度为</a:t>
            </a:r>
            <a:r>
              <a:rPr lang="en-US" altLang="zh-CN" sz="1800" i="1">
                <a:solidFill>
                  <a:srgbClr val="0000FF"/>
                </a:solidFill>
                <a:ea typeface="华文中宋" pitchFamily="2" charset="-122"/>
              </a:rPr>
              <a:t>l</a:t>
            </a:r>
            <a:r>
              <a:rPr lang="zh-CN" altLang="en-US" sz="1800">
                <a:solidFill>
                  <a:srgbClr val="0000FF"/>
                </a:solidFill>
                <a:ea typeface="华文中宋" pitchFamily="2" charset="-122"/>
              </a:rPr>
              <a:t>，截面积为</a:t>
            </a:r>
            <a:r>
              <a:rPr lang="en-US" altLang="zh-CN" sz="1800" i="1">
                <a:solidFill>
                  <a:srgbClr val="0000FF"/>
                </a:solidFill>
                <a:ea typeface="华文中宋" pitchFamily="2" charset="-122"/>
              </a:rPr>
              <a:t>s</a:t>
            </a:r>
            <a:r>
              <a:rPr lang="zh-CN" altLang="en-US" sz="1800">
                <a:solidFill>
                  <a:srgbClr val="0000FF"/>
                </a:solidFill>
                <a:ea typeface="华文中宋" pitchFamily="2" charset="-122"/>
              </a:rPr>
              <a:t>质量为</a:t>
            </a:r>
            <a:r>
              <a:rPr lang="en-US" altLang="zh-CN" sz="1800" i="1">
                <a:solidFill>
                  <a:srgbClr val="0000FF"/>
                </a:solidFill>
                <a:ea typeface="华文中宋" pitchFamily="2" charset="-122"/>
              </a:rPr>
              <a:t>m</a:t>
            </a:r>
            <a:r>
              <a:rPr lang="zh-CN" altLang="en-US" sz="1800">
                <a:solidFill>
                  <a:srgbClr val="0000FF"/>
                </a:solidFill>
                <a:ea typeface="华文中宋" pitchFamily="2" charset="-122"/>
              </a:rPr>
              <a:t>的棒，这根棒安放在运动方向上，则甲测得此棒的密度为 </a:t>
            </a:r>
            <a:r>
              <a:rPr lang="zh-CN" altLang="en-US" sz="1800" u="sng">
                <a:solidFill>
                  <a:srgbClr val="0000FF"/>
                </a:solidFill>
                <a:ea typeface="华文中宋" pitchFamily="2" charset="-122"/>
              </a:rPr>
              <a:t>          </a:t>
            </a:r>
            <a:r>
              <a:rPr lang="zh-CN" altLang="en-US" sz="1800">
                <a:solidFill>
                  <a:srgbClr val="0000FF"/>
                </a:solidFill>
                <a:ea typeface="华文中宋" pitchFamily="2" charset="-122"/>
              </a:rPr>
              <a:t>，乙测得此棒的密度为</a:t>
            </a:r>
            <a:r>
              <a:rPr lang="zh-CN" altLang="en-US" sz="1800" u="sng">
                <a:solidFill>
                  <a:srgbClr val="0000FF"/>
                </a:solidFill>
                <a:ea typeface="华文中宋" pitchFamily="2" charset="-122"/>
              </a:rPr>
              <a:t>       </a:t>
            </a:r>
            <a:r>
              <a:rPr lang="zh-CN" altLang="en-US" sz="1800">
                <a:solidFill>
                  <a:srgbClr val="0000FF"/>
                </a:solidFill>
                <a:ea typeface="华文中宋" pitchFamily="2" charset="-122"/>
              </a:rPr>
              <a:t> 。</a:t>
            </a:r>
          </a:p>
        </p:txBody>
      </p:sp>
      <p:sp>
        <p:nvSpPr>
          <p:cNvPr id="248839" name="Text Box 7"/>
          <p:cNvSpPr txBox="1">
            <a:spLocks noChangeArrowheads="1"/>
          </p:cNvSpPr>
          <p:nvPr/>
        </p:nvSpPr>
        <p:spPr bwMode="auto">
          <a:xfrm>
            <a:off x="971550" y="1897063"/>
            <a:ext cx="647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FF0000"/>
                </a:solidFill>
                <a:ea typeface="华文中宋" pitchFamily="2" charset="-122"/>
              </a:rPr>
              <a:t>解：</a:t>
            </a:r>
          </a:p>
        </p:txBody>
      </p:sp>
      <p:grpSp>
        <p:nvGrpSpPr>
          <p:cNvPr id="2" name="Group 13"/>
          <p:cNvGrpSpPr>
            <a:grpSpLocks/>
          </p:cNvGrpSpPr>
          <p:nvPr/>
        </p:nvGrpSpPr>
        <p:grpSpPr bwMode="auto">
          <a:xfrm>
            <a:off x="1908175" y="2373313"/>
            <a:ext cx="4968875" cy="590550"/>
            <a:chOff x="1202" y="1797"/>
            <a:chExt cx="3130" cy="496"/>
          </a:xfrm>
        </p:grpSpPr>
        <p:graphicFrame>
          <p:nvGraphicFramePr>
            <p:cNvPr id="73738" name="Object 9"/>
            <p:cNvGraphicFramePr>
              <a:graphicFrameLocks noChangeAspect="1"/>
            </p:cNvGraphicFramePr>
            <p:nvPr/>
          </p:nvGraphicFramePr>
          <p:xfrm>
            <a:off x="2154" y="1797"/>
            <a:ext cx="2178" cy="496"/>
          </p:xfrm>
          <a:graphic>
            <a:graphicData uri="http://schemas.openxmlformats.org/presentationml/2006/ole">
              <mc:AlternateContent xmlns:mc="http://schemas.openxmlformats.org/markup-compatibility/2006">
                <mc:Choice xmlns:v="urn:schemas-microsoft-com:vml" Requires="v">
                  <p:oleObj spid="_x0000_s73746" name="公式" r:id="rId9" imgW="1218671" imgH="291973" progId="Equation.3">
                    <p:embed/>
                  </p:oleObj>
                </mc:Choice>
                <mc:Fallback>
                  <p:oleObj name="公式" r:id="rId9" imgW="1218671" imgH="291973"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54" y="1797"/>
                          <a:ext cx="2178" cy="496"/>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9" name="Text Box 10"/>
            <p:cNvSpPr txBox="1">
              <a:spLocks noChangeArrowheads="1"/>
            </p:cNvSpPr>
            <p:nvPr/>
          </p:nvSpPr>
          <p:spPr bwMode="auto">
            <a:xfrm>
              <a:off x="1202" y="1879"/>
              <a:ext cx="69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对于乙</a:t>
              </a:r>
            </a:p>
          </p:txBody>
        </p:sp>
      </p:grpSp>
      <p:grpSp>
        <p:nvGrpSpPr>
          <p:cNvPr id="3" name="Group 12"/>
          <p:cNvGrpSpPr>
            <a:grpSpLocks/>
          </p:cNvGrpSpPr>
          <p:nvPr/>
        </p:nvGrpSpPr>
        <p:grpSpPr bwMode="auto">
          <a:xfrm>
            <a:off x="1906588" y="1708150"/>
            <a:ext cx="2952750" cy="668338"/>
            <a:chOff x="1156" y="1026"/>
            <a:chExt cx="1860" cy="561"/>
          </a:xfrm>
        </p:grpSpPr>
        <p:graphicFrame>
          <p:nvGraphicFramePr>
            <p:cNvPr id="73736" name="Object 6"/>
            <p:cNvGraphicFramePr>
              <a:graphicFrameLocks noChangeAspect="1"/>
            </p:cNvGraphicFramePr>
            <p:nvPr/>
          </p:nvGraphicFramePr>
          <p:xfrm>
            <a:off x="2136" y="1026"/>
            <a:ext cx="880" cy="561"/>
          </p:xfrm>
          <a:graphic>
            <a:graphicData uri="http://schemas.openxmlformats.org/presentationml/2006/ole">
              <mc:AlternateContent xmlns:mc="http://schemas.openxmlformats.org/markup-compatibility/2006">
                <mc:Choice xmlns:v="urn:schemas-microsoft-com:vml" Requires="v">
                  <p:oleObj spid="_x0000_s73747" name="公式" r:id="rId11" imgW="418918" imgH="291973" progId="Equation.3">
                    <p:embed/>
                  </p:oleObj>
                </mc:Choice>
                <mc:Fallback>
                  <p:oleObj name="公式" r:id="rId11" imgW="418918" imgH="291973"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6" y="1026"/>
                          <a:ext cx="880" cy="561"/>
                        </a:xfrm>
                        <a:prstGeom prst="rect">
                          <a:avLst/>
                        </a:prstGeom>
                        <a:noFill/>
                        <a:ln>
                          <a:noFill/>
                        </a:ln>
                        <a:effectLst/>
                        <a:extLst>
                          <a:ext uri="{909E8E84-426E-40DD-AFC4-6F175D3DCCD1}">
                            <a14:hiddenFill xmlns:a14="http://schemas.microsoft.com/office/drawing/2010/main">
                              <a:solidFill>
                                <a:srgbClr val="00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737" name="Text Box 11"/>
            <p:cNvSpPr txBox="1">
              <a:spLocks noChangeArrowheads="1"/>
            </p:cNvSpPr>
            <p:nvPr/>
          </p:nvSpPr>
          <p:spPr bwMode="auto">
            <a:xfrm>
              <a:off x="1156" y="1153"/>
              <a:ext cx="695"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对于甲</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8836"/>
                                        </p:tgtEl>
                                        <p:attrNameLst>
                                          <p:attrName>style.visibility</p:attrName>
                                        </p:attrNameLst>
                                      </p:cBhvr>
                                      <p:to>
                                        <p:strVal val="visible"/>
                                      </p:to>
                                    </p:set>
                                    <p:animEffect transition="in" filter="blinds(horizontal)">
                                      <p:cBhvr>
                                        <p:cTn id="7" dur="500"/>
                                        <p:tgtEl>
                                          <p:spTgt spid="248836"/>
                                        </p:tgtEl>
                                      </p:cBhvr>
                                    </p:animEffect>
                                  </p:childTnLst>
                                  <p:subTnLst>
                                    <p:audio>
                                      <p:cMediaNode>
                                        <p:cTn display="0" masterRel="sameClick">
                                          <p:stCondLst>
                                            <p:cond evt="begin" delay="0">
                                              <p:tn val="5"/>
                                            </p:cond>
                                          </p:stCondLst>
                                          <p:endCondLst>
                                            <p:cond evt="onStopAudio" delay="0">
                                              <p:tgtEl>
                                                <p:sldTgt/>
                                              </p:tgtEl>
                                            </p:cond>
                                          </p:endCondLst>
                                        </p:cTn>
                                        <p:tgtEl>
                                          <p:sndTgt r:embed="rId4" name="LASE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8839"/>
                                        </p:tgtEl>
                                        <p:attrNameLst>
                                          <p:attrName>style.visibility</p:attrName>
                                        </p:attrNameLst>
                                      </p:cBhvr>
                                      <p:to>
                                        <p:strVal val="visible"/>
                                      </p:to>
                                    </p:set>
                                    <p:animEffect transition="in" filter="blinds(horizontal)">
                                      <p:cBhvr>
                                        <p:cTn id="12" dur="500"/>
                                        <p:tgtEl>
                                          <p:spTgt spid="248839"/>
                                        </p:tgtEl>
                                      </p:cBhvr>
                                    </p:animEffect>
                                  </p:childTnLst>
                                </p:cTn>
                              </p:par>
                              <p:par>
                                <p:cTn id="13" presetID="3"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48834"/>
                                        </p:tgtEl>
                                        <p:attrNameLst>
                                          <p:attrName>style.visibility</p:attrName>
                                        </p:attrNameLst>
                                      </p:cBhvr>
                                      <p:to>
                                        <p:strVal val="visible"/>
                                      </p:to>
                                    </p:set>
                                    <p:animEffect transition="in" filter="blinds(horizontal)">
                                      <p:cBhvr>
                                        <p:cTn id="25" dur="500"/>
                                        <p:tgtEl>
                                          <p:spTgt spid="248834"/>
                                        </p:tgtEl>
                                      </p:cBhvr>
                                    </p:animEffect>
                                  </p:childTnLst>
                                  <p:subTnLst>
                                    <p:audio>
                                      <p:cMediaNode>
                                        <p:cTn display="0" masterRel="sameClick">
                                          <p:stCondLst>
                                            <p:cond evt="begin" delay="0">
                                              <p:tn val="23"/>
                                            </p:cond>
                                          </p:stCondLst>
                                          <p:endCondLst>
                                            <p:cond evt="onStopAudio" delay="0">
                                              <p:tgtEl>
                                                <p:sldTgt/>
                                              </p:tgtEl>
                                            </p:cond>
                                          </p:endCondLst>
                                        </p:cTn>
                                        <p:tgtEl>
                                          <p:sndTgt r:embed="rId4" name="LASER.WAV"/>
                                        </p:tgtEl>
                                      </p:cMediaNode>
                                    </p:audio>
                                  </p:sub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248835"/>
                                        </p:tgtEl>
                                        <p:attrNameLst>
                                          <p:attrName>style.visibility</p:attrName>
                                        </p:attrNameLst>
                                      </p:cBhvr>
                                      <p:to>
                                        <p:strVal val="visible"/>
                                      </p:to>
                                    </p:set>
                                    <p:animEffect transition="in" filter="blinds(horizontal)">
                                      <p:cBhvr>
                                        <p:cTn id="30" dur="500"/>
                                        <p:tgtEl>
                                          <p:spTgt spid="248835"/>
                                        </p:tgtEl>
                                      </p:cBhvr>
                                    </p:animEffect>
                                  </p:childTnLst>
                                  <p:subTnLst>
                                    <p:audio>
                                      <p:cMediaNode>
                                        <p:cTn display="0" masterRel="sameClick">
                                          <p:stCondLst>
                                            <p:cond evt="begin" delay="0">
                                              <p:tn val="28"/>
                                            </p:cond>
                                          </p:stCondLst>
                                          <p:endCondLst>
                                            <p:cond evt="onStopAudio" delay="0">
                                              <p:tgtEl>
                                                <p:sldTgt/>
                                              </p:tgtEl>
                                            </p:cond>
                                          </p:endCondLst>
                                        </p:cTn>
                                        <p:tgtEl>
                                          <p:sndTgt r:embed="rId4"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6" grpId="0" autoUpdateAnimBg="0"/>
      <p:bldP spid="24883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Text Box 2"/>
          <p:cNvSpPr txBox="1">
            <a:spLocks noChangeArrowheads="1"/>
          </p:cNvSpPr>
          <p:nvPr/>
        </p:nvSpPr>
        <p:spPr bwMode="auto">
          <a:xfrm>
            <a:off x="365125" y="917575"/>
            <a:ext cx="87026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    一电子以</a:t>
            </a:r>
            <a:r>
              <a:rPr lang="en-US" altLang="zh-CN" sz="1800">
                <a:solidFill>
                  <a:srgbClr val="0000FF"/>
                </a:solidFill>
                <a:ea typeface="华文中宋" pitchFamily="2" charset="-122"/>
              </a:rPr>
              <a:t>v=0.99c</a:t>
            </a:r>
            <a:r>
              <a:rPr lang="zh-CN" altLang="en-US" sz="1800">
                <a:solidFill>
                  <a:srgbClr val="0000FF"/>
                </a:solidFill>
                <a:ea typeface="华文中宋" pitchFamily="2" charset="-122"/>
              </a:rPr>
              <a:t>的速率运动，试求（</a:t>
            </a:r>
            <a:r>
              <a:rPr lang="en-US" altLang="zh-CN" sz="1800">
                <a:solidFill>
                  <a:srgbClr val="0000FF"/>
                </a:solidFill>
                <a:ea typeface="华文中宋" pitchFamily="2" charset="-122"/>
              </a:rPr>
              <a:t>1</a:t>
            </a:r>
            <a:r>
              <a:rPr lang="zh-CN" altLang="en-US" sz="1800">
                <a:solidFill>
                  <a:srgbClr val="0000FF"/>
                </a:solidFill>
                <a:ea typeface="华文中宋" pitchFamily="2" charset="-122"/>
              </a:rPr>
              <a:t>）电子的总能量；（</a:t>
            </a:r>
            <a:r>
              <a:rPr lang="en-US" altLang="zh-CN" sz="1800">
                <a:solidFill>
                  <a:srgbClr val="0000FF"/>
                </a:solidFill>
                <a:ea typeface="华文中宋" pitchFamily="2" charset="-122"/>
              </a:rPr>
              <a:t>2</a:t>
            </a:r>
            <a:r>
              <a:rPr lang="zh-CN" altLang="en-US" sz="1800">
                <a:solidFill>
                  <a:srgbClr val="0000FF"/>
                </a:solidFill>
                <a:ea typeface="华文中宋" pitchFamily="2" charset="-122"/>
              </a:rPr>
              <a:t>）电子的经典力学的动能与相对论动能之比是多少？（电子的静止质量</a:t>
            </a:r>
            <a:r>
              <a:rPr lang="en-US" altLang="zh-CN" sz="1800">
                <a:solidFill>
                  <a:srgbClr val="0000FF"/>
                </a:solidFill>
                <a:ea typeface="华文中宋" pitchFamily="2" charset="-122"/>
              </a:rPr>
              <a:t>m</a:t>
            </a:r>
            <a:r>
              <a:rPr lang="en-US" altLang="zh-CN" sz="1800" baseline="-25000">
                <a:solidFill>
                  <a:srgbClr val="0000FF"/>
                </a:solidFill>
                <a:ea typeface="华文中宋" pitchFamily="2" charset="-122"/>
              </a:rPr>
              <a:t>e</a:t>
            </a:r>
            <a:r>
              <a:rPr lang="zh-CN" altLang="en-US" sz="1800">
                <a:solidFill>
                  <a:srgbClr val="0000FF"/>
                </a:solidFill>
                <a:ea typeface="华文中宋" pitchFamily="2" charset="-122"/>
              </a:rPr>
              <a:t>＝</a:t>
            </a:r>
            <a:r>
              <a:rPr lang="en-US" altLang="zh-CN" sz="1800">
                <a:solidFill>
                  <a:srgbClr val="0000FF"/>
                </a:solidFill>
                <a:ea typeface="华文中宋" pitchFamily="2" charset="-122"/>
              </a:rPr>
              <a:t>=9.1</a:t>
            </a:r>
            <a:r>
              <a:rPr lang="en-US" altLang="zh-CN" sz="1800">
                <a:solidFill>
                  <a:srgbClr val="0000FF"/>
                </a:solidFill>
                <a:ea typeface="华文中宋" pitchFamily="2" charset="-122"/>
                <a:sym typeface="Symbol" pitchFamily="18" charset="2"/>
              </a:rPr>
              <a:t></a:t>
            </a:r>
            <a:r>
              <a:rPr lang="zh-CN" altLang="en-US" sz="1800" baseline="30000">
                <a:solidFill>
                  <a:srgbClr val="0000FF"/>
                </a:solidFill>
                <a:ea typeface="华文中宋" pitchFamily="2" charset="-122"/>
                <a:sym typeface="Symbol" pitchFamily="18" charset="2"/>
              </a:rPr>
              <a:t>－</a:t>
            </a:r>
            <a:r>
              <a:rPr lang="en-US" altLang="zh-CN" sz="1800" baseline="30000">
                <a:solidFill>
                  <a:srgbClr val="0000FF"/>
                </a:solidFill>
                <a:ea typeface="华文中宋" pitchFamily="2" charset="-122"/>
                <a:sym typeface="Symbol" pitchFamily="18" charset="2"/>
              </a:rPr>
              <a:t>31</a:t>
            </a:r>
            <a:r>
              <a:rPr lang="en-US" altLang="zh-CN" sz="1800">
                <a:solidFill>
                  <a:srgbClr val="0000FF"/>
                </a:solidFill>
                <a:ea typeface="华文中宋" pitchFamily="2" charset="-122"/>
                <a:sym typeface="Symbol" pitchFamily="18" charset="2"/>
              </a:rPr>
              <a:t>kg)</a:t>
            </a:r>
            <a:r>
              <a:rPr lang="zh-CN" altLang="en-US" sz="1800">
                <a:solidFill>
                  <a:srgbClr val="0000FF"/>
                </a:solidFill>
                <a:ea typeface="华文中宋" pitchFamily="2" charset="-122"/>
              </a:rPr>
              <a:t>　</a:t>
            </a:r>
          </a:p>
        </p:txBody>
      </p:sp>
      <p:sp>
        <p:nvSpPr>
          <p:cNvPr id="252931" name="Text Box 3"/>
          <p:cNvSpPr txBox="1">
            <a:spLocks noChangeArrowheads="1"/>
          </p:cNvSpPr>
          <p:nvPr/>
        </p:nvSpPr>
        <p:spPr bwMode="auto">
          <a:xfrm>
            <a:off x="611188" y="1962150"/>
            <a:ext cx="1441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solidFill>
                  <a:srgbClr val="FF0000"/>
                </a:solidFill>
                <a:ea typeface="华文中宋" pitchFamily="2" charset="-122"/>
              </a:rPr>
              <a:t>解：</a:t>
            </a:r>
            <a:r>
              <a:rPr lang="zh-CN" altLang="en-US" sz="1800">
                <a:ea typeface="华文中宋" pitchFamily="2" charset="-122"/>
              </a:rPr>
              <a:t>（</a:t>
            </a:r>
            <a:r>
              <a:rPr lang="en-US" altLang="zh-CN" sz="1800">
                <a:ea typeface="华文中宋" pitchFamily="2" charset="-122"/>
              </a:rPr>
              <a:t>1</a:t>
            </a:r>
            <a:r>
              <a:rPr lang="zh-CN" altLang="en-US" sz="1800">
                <a:ea typeface="华文中宋" pitchFamily="2" charset="-122"/>
              </a:rPr>
              <a:t>） </a:t>
            </a:r>
          </a:p>
        </p:txBody>
      </p:sp>
      <p:graphicFrame>
        <p:nvGraphicFramePr>
          <p:cNvPr id="252932" name="Object 4"/>
          <p:cNvGraphicFramePr>
            <a:graphicFrameLocks noChangeAspect="1"/>
          </p:cNvGraphicFramePr>
          <p:nvPr/>
        </p:nvGraphicFramePr>
        <p:xfrm>
          <a:off x="2413000" y="1841500"/>
          <a:ext cx="1238250" cy="420688"/>
        </p:xfrm>
        <a:graphic>
          <a:graphicData uri="http://schemas.openxmlformats.org/presentationml/2006/ole">
            <mc:AlternateContent xmlns:mc="http://schemas.openxmlformats.org/markup-compatibility/2006">
              <mc:Choice xmlns:v="urn:schemas-microsoft-com:vml" Requires="v">
                <p:oleObj spid="_x0000_s74768" name="公式" r:id="rId4" imgW="419100" imgH="190500" progId="Equation.3">
                  <p:embed/>
                </p:oleObj>
              </mc:Choice>
              <mc:Fallback>
                <p:oleObj name="公式" r:id="rId4" imgW="419100" imgH="1905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3000" y="1841500"/>
                        <a:ext cx="123825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2933" name="Text Box 5"/>
          <p:cNvSpPr txBox="1">
            <a:spLocks noChangeArrowheads="1"/>
          </p:cNvSpPr>
          <p:nvPr/>
        </p:nvSpPr>
        <p:spPr bwMode="auto">
          <a:xfrm>
            <a:off x="1116013" y="2584450"/>
            <a:ext cx="863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en-US" altLang="zh-CN" sz="1800">
                <a:ea typeface="华文中宋" pitchFamily="2" charset="-122"/>
              </a:rPr>
              <a:t> </a:t>
            </a:r>
            <a:r>
              <a:rPr lang="zh-CN" altLang="en-US" sz="1800">
                <a:ea typeface="华文中宋" pitchFamily="2" charset="-122"/>
              </a:rPr>
              <a:t>（</a:t>
            </a:r>
            <a:r>
              <a:rPr lang="en-US" altLang="zh-CN" sz="1800">
                <a:ea typeface="华文中宋" pitchFamily="2" charset="-122"/>
              </a:rPr>
              <a:t>2</a:t>
            </a:r>
            <a:r>
              <a:rPr lang="zh-CN" altLang="en-US" sz="1800">
                <a:ea typeface="华文中宋" pitchFamily="2" charset="-122"/>
              </a:rPr>
              <a:t>） </a:t>
            </a:r>
          </a:p>
        </p:txBody>
      </p:sp>
      <p:graphicFrame>
        <p:nvGraphicFramePr>
          <p:cNvPr id="252934" name="Object 6"/>
          <p:cNvGraphicFramePr>
            <a:graphicFrameLocks noChangeAspect="1"/>
          </p:cNvGraphicFramePr>
          <p:nvPr/>
        </p:nvGraphicFramePr>
        <p:xfrm>
          <a:off x="2413000" y="2449513"/>
          <a:ext cx="3598863" cy="614362"/>
        </p:xfrm>
        <a:graphic>
          <a:graphicData uri="http://schemas.openxmlformats.org/presentationml/2006/ole">
            <mc:AlternateContent xmlns:mc="http://schemas.openxmlformats.org/markup-compatibility/2006">
              <mc:Choice xmlns:v="urn:schemas-microsoft-com:vml" Requires="v">
                <p:oleObj spid="_x0000_s74769" name="Equation" r:id="rId6" imgW="1714320" imgH="393480" progId="Equation.DSMT4">
                  <p:embed/>
                </p:oleObj>
              </mc:Choice>
              <mc:Fallback>
                <p:oleObj name="Equation" r:id="rId6" imgW="1714320" imgH="39348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3000" y="2449513"/>
                        <a:ext cx="359886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2935" name="Object 7"/>
          <p:cNvGraphicFramePr>
            <a:graphicFrameLocks noChangeAspect="1"/>
          </p:cNvGraphicFramePr>
          <p:nvPr/>
        </p:nvGraphicFramePr>
        <p:xfrm>
          <a:off x="2359025" y="3201988"/>
          <a:ext cx="6534150" cy="809625"/>
        </p:xfrm>
        <a:graphic>
          <a:graphicData uri="http://schemas.openxmlformats.org/presentationml/2006/ole">
            <mc:AlternateContent xmlns:mc="http://schemas.openxmlformats.org/markup-compatibility/2006">
              <mc:Choice xmlns:v="urn:schemas-microsoft-com:vml" Requires="v">
                <p:oleObj spid="_x0000_s74770" name="Equation" r:id="rId8" imgW="3365280" imgH="558720" progId="Equation.DSMT4">
                  <p:embed/>
                </p:oleObj>
              </mc:Choice>
              <mc:Fallback>
                <p:oleObj name="Equation" r:id="rId8" imgW="3365280" imgH="55872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59025" y="3201988"/>
                        <a:ext cx="653415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2937" name="Object 9"/>
          <p:cNvGraphicFramePr>
            <a:graphicFrameLocks noChangeAspect="1"/>
          </p:cNvGraphicFramePr>
          <p:nvPr/>
        </p:nvGraphicFramePr>
        <p:xfrm>
          <a:off x="2987675" y="4008438"/>
          <a:ext cx="2411413" cy="615950"/>
        </p:xfrm>
        <a:graphic>
          <a:graphicData uri="http://schemas.openxmlformats.org/presentationml/2006/ole">
            <mc:AlternateContent xmlns:mc="http://schemas.openxmlformats.org/markup-compatibility/2006">
              <mc:Choice xmlns:v="urn:schemas-microsoft-com:vml" Requires="v">
                <p:oleObj spid="_x0000_s74771" name="公式" r:id="rId10" imgW="812447" imgH="317362" progId="Equation.3">
                  <p:embed/>
                </p:oleObj>
              </mc:Choice>
              <mc:Fallback>
                <p:oleObj name="公式" r:id="rId10" imgW="812447" imgH="317362"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87675" y="4008438"/>
                        <a:ext cx="241141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2938" name="Text Box 10"/>
          <p:cNvSpPr txBox="1">
            <a:spLocks noChangeArrowheads="1"/>
          </p:cNvSpPr>
          <p:nvPr/>
        </p:nvSpPr>
        <p:spPr bwMode="auto">
          <a:xfrm>
            <a:off x="1547813" y="4084638"/>
            <a:ext cx="796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ea typeface="华文中宋" pitchFamily="2" charset="-122"/>
              </a:rPr>
              <a:t>所以</a:t>
            </a:r>
          </a:p>
        </p:txBody>
      </p:sp>
      <p:graphicFrame>
        <p:nvGraphicFramePr>
          <p:cNvPr id="252939" name="Object 11"/>
          <p:cNvGraphicFramePr>
            <a:graphicFrameLocks noChangeAspect="1"/>
          </p:cNvGraphicFramePr>
          <p:nvPr/>
        </p:nvGraphicFramePr>
        <p:xfrm>
          <a:off x="3565525" y="1779588"/>
          <a:ext cx="3527425" cy="758825"/>
        </p:xfrm>
        <a:graphic>
          <a:graphicData uri="http://schemas.openxmlformats.org/presentationml/2006/ole">
            <mc:AlternateContent xmlns:mc="http://schemas.openxmlformats.org/markup-compatibility/2006">
              <mc:Choice xmlns:v="urn:schemas-microsoft-com:vml" Requires="v">
                <p:oleObj spid="_x0000_s74772" name="Equation" r:id="rId12" imgW="1638000" imgH="469800" progId="Equation.DSMT4">
                  <p:embed/>
                </p:oleObj>
              </mc:Choice>
              <mc:Fallback>
                <p:oleObj name="Equation" r:id="rId12" imgW="1638000" imgH="4698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5525" y="1779588"/>
                        <a:ext cx="35274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52930"/>
                                        </p:tgtEl>
                                        <p:attrNameLst>
                                          <p:attrName>style.visibility</p:attrName>
                                        </p:attrNameLst>
                                      </p:cBhvr>
                                      <p:to>
                                        <p:strVal val="visible"/>
                                      </p:to>
                                    </p:set>
                                    <p:animEffect transition="in" filter="box(in)">
                                      <p:cBhvr>
                                        <p:cTn id="7" dur="500"/>
                                        <p:tgtEl>
                                          <p:spTgt spid="2529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52931"/>
                                        </p:tgtEl>
                                        <p:attrNameLst>
                                          <p:attrName>style.visibility</p:attrName>
                                        </p:attrNameLst>
                                      </p:cBhvr>
                                      <p:to>
                                        <p:strVal val="visible"/>
                                      </p:to>
                                    </p:set>
                                    <p:animEffect transition="in" filter="box(in)">
                                      <p:cBhvr>
                                        <p:cTn id="12" dur="500"/>
                                        <p:tgtEl>
                                          <p:spTgt spid="2529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52932"/>
                                        </p:tgtEl>
                                        <p:attrNameLst>
                                          <p:attrName>style.visibility</p:attrName>
                                        </p:attrNameLst>
                                      </p:cBhvr>
                                      <p:to>
                                        <p:strVal val="visible"/>
                                      </p:to>
                                    </p:set>
                                    <p:animEffect transition="in" filter="box(in)">
                                      <p:cBhvr>
                                        <p:cTn id="17" dur="500"/>
                                        <p:tgtEl>
                                          <p:spTgt spid="2529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52939"/>
                                        </p:tgtEl>
                                        <p:attrNameLst>
                                          <p:attrName>style.visibility</p:attrName>
                                        </p:attrNameLst>
                                      </p:cBhvr>
                                      <p:to>
                                        <p:strVal val="visible"/>
                                      </p:to>
                                    </p:set>
                                    <p:animEffect transition="in" filter="box(in)">
                                      <p:cBhvr>
                                        <p:cTn id="22" dur="500"/>
                                        <p:tgtEl>
                                          <p:spTgt spid="2529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52933"/>
                                        </p:tgtEl>
                                        <p:attrNameLst>
                                          <p:attrName>style.visibility</p:attrName>
                                        </p:attrNameLst>
                                      </p:cBhvr>
                                      <p:to>
                                        <p:strVal val="visible"/>
                                      </p:to>
                                    </p:set>
                                    <p:animEffect transition="in" filter="box(in)">
                                      <p:cBhvr>
                                        <p:cTn id="27" dur="500"/>
                                        <p:tgtEl>
                                          <p:spTgt spid="2529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52934"/>
                                        </p:tgtEl>
                                        <p:attrNameLst>
                                          <p:attrName>style.visibility</p:attrName>
                                        </p:attrNameLst>
                                      </p:cBhvr>
                                      <p:to>
                                        <p:strVal val="visible"/>
                                      </p:to>
                                    </p:set>
                                    <p:animEffect transition="in" filter="box(in)">
                                      <p:cBhvr>
                                        <p:cTn id="32" dur="500"/>
                                        <p:tgtEl>
                                          <p:spTgt spid="25293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252935"/>
                                        </p:tgtEl>
                                        <p:attrNameLst>
                                          <p:attrName>style.visibility</p:attrName>
                                        </p:attrNameLst>
                                      </p:cBhvr>
                                      <p:to>
                                        <p:strVal val="visible"/>
                                      </p:to>
                                    </p:set>
                                    <p:animEffect transition="in" filter="box(in)">
                                      <p:cBhvr>
                                        <p:cTn id="37" dur="500"/>
                                        <p:tgtEl>
                                          <p:spTgt spid="25293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52937"/>
                                        </p:tgtEl>
                                        <p:attrNameLst>
                                          <p:attrName>style.visibility</p:attrName>
                                        </p:attrNameLst>
                                      </p:cBhvr>
                                      <p:to>
                                        <p:strVal val="visible"/>
                                      </p:to>
                                    </p:set>
                                    <p:animEffect transition="in" filter="blinds(horizontal)">
                                      <p:cBhvr>
                                        <p:cTn id="42" dur="500"/>
                                        <p:tgtEl>
                                          <p:spTgt spid="252937"/>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252938"/>
                                        </p:tgtEl>
                                        <p:attrNameLst>
                                          <p:attrName>style.visibility</p:attrName>
                                        </p:attrNameLst>
                                      </p:cBhvr>
                                      <p:to>
                                        <p:strVal val="visible"/>
                                      </p:to>
                                    </p:set>
                                    <p:animEffect transition="in" filter="blinds(horizontal)">
                                      <p:cBhvr>
                                        <p:cTn id="45" dur="500"/>
                                        <p:tgtEl>
                                          <p:spTgt spid="252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utoUpdateAnimBg="0"/>
      <p:bldP spid="252931" grpId="0" autoUpdateAnimBg="0"/>
      <p:bldP spid="252933" grpId="0" autoUpdateAnimBg="0"/>
      <p:bldP spid="25293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395288" y="835025"/>
            <a:ext cx="84978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1800">
                <a:solidFill>
                  <a:srgbClr val="0000FF"/>
                </a:solidFill>
                <a:ea typeface="华文中宋" pitchFamily="2" charset="-122"/>
              </a:rPr>
              <a:t>例  要使电子的速度从</a:t>
            </a:r>
            <a:r>
              <a:rPr lang="en-US" altLang="zh-CN" sz="1800" i="1">
                <a:solidFill>
                  <a:srgbClr val="0000FF"/>
                </a:solidFill>
                <a:ea typeface="华文中宋" pitchFamily="2" charset="-122"/>
              </a:rPr>
              <a:t>u</a:t>
            </a:r>
            <a:r>
              <a:rPr lang="en-US" altLang="zh-CN" sz="1800" baseline="-25000">
                <a:solidFill>
                  <a:srgbClr val="0000FF"/>
                </a:solidFill>
                <a:ea typeface="华文中宋" pitchFamily="2" charset="-122"/>
              </a:rPr>
              <a:t>1</a:t>
            </a:r>
            <a:r>
              <a:rPr lang="en-US" altLang="zh-CN" sz="1800">
                <a:solidFill>
                  <a:srgbClr val="0000FF"/>
                </a:solidFill>
                <a:ea typeface="华文中宋" pitchFamily="2" charset="-122"/>
              </a:rPr>
              <a:t> =1.2×10</a:t>
            </a:r>
            <a:r>
              <a:rPr lang="en-US" altLang="zh-CN" sz="1800" baseline="30000">
                <a:solidFill>
                  <a:srgbClr val="0000FF"/>
                </a:solidFill>
                <a:ea typeface="华文中宋" pitchFamily="2" charset="-122"/>
              </a:rPr>
              <a:t>8</a:t>
            </a:r>
            <a:r>
              <a:rPr lang="en-US" altLang="zh-CN" sz="1800">
                <a:solidFill>
                  <a:srgbClr val="0000FF"/>
                </a:solidFill>
                <a:ea typeface="华文中宋" pitchFamily="2" charset="-122"/>
              </a:rPr>
              <a:t> m/s</a:t>
            </a:r>
            <a:r>
              <a:rPr lang="zh-CN" altLang="en-US" sz="1800">
                <a:solidFill>
                  <a:srgbClr val="0000FF"/>
                </a:solidFill>
                <a:ea typeface="华文中宋" pitchFamily="2" charset="-122"/>
              </a:rPr>
              <a:t>增加到</a:t>
            </a:r>
            <a:r>
              <a:rPr lang="en-US" altLang="zh-CN" sz="1800" i="1">
                <a:solidFill>
                  <a:srgbClr val="0000FF"/>
                </a:solidFill>
                <a:ea typeface="华文中宋" pitchFamily="2" charset="-122"/>
              </a:rPr>
              <a:t>u</a:t>
            </a:r>
            <a:r>
              <a:rPr lang="en-US" altLang="zh-CN" sz="1800" baseline="-25000">
                <a:solidFill>
                  <a:srgbClr val="0000FF"/>
                </a:solidFill>
                <a:ea typeface="华文中宋" pitchFamily="2" charset="-122"/>
              </a:rPr>
              <a:t>2</a:t>
            </a:r>
            <a:r>
              <a:rPr lang="en-US" altLang="zh-CN" sz="1800">
                <a:solidFill>
                  <a:srgbClr val="0000FF"/>
                </a:solidFill>
                <a:ea typeface="华文中宋" pitchFamily="2" charset="-122"/>
              </a:rPr>
              <a:t> =2.4×10</a:t>
            </a:r>
            <a:r>
              <a:rPr lang="en-US" altLang="zh-CN" sz="1800" baseline="30000">
                <a:solidFill>
                  <a:srgbClr val="0000FF"/>
                </a:solidFill>
                <a:ea typeface="华文中宋" pitchFamily="2" charset="-122"/>
              </a:rPr>
              <a:t>8</a:t>
            </a:r>
            <a:r>
              <a:rPr lang="en-US" altLang="zh-CN" sz="1800">
                <a:solidFill>
                  <a:srgbClr val="0000FF"/>
                </a:solidFill>
                <a:ea typeface="华文中宋" pitchFamily="2" charset="-122"/>
              </a:rPr>
              <a:t> m/s </a:t>
            </a:r>
            <a:r>
              <a:rPr lang="zh-CN" altLang="en-US" sz="1800">
                <a:solidFill>
                  <a:srgbClr val="0000FF"/>
                </a:solidFill>
                <a:ea typeface="华文中宋" pitchFamily="2" charset="-122"/>
              </a:rPr>
              <a:t>必须对它作多少功？</a:t>
            </a:r>
          </a:p>
        </p:txBody>
      </p:sp>
      <p:sp>
        <p:nvSpPr>
          <p:cNvPr id="10" name="Rectangle 3"/>
          <p:cNvSpPr>
            <a:spLocks noChangeArrowheads="1"/>
          </p:cNvSpPr>
          <p:nvPr/>
        </p:nvSpPr>
        <p:spPr bwMode="auto">
          <a:xfrm>
            <a:off x="744538" y="1398588"/>
            <a:ext cx="6337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solidFill>
                  <a:srgbClr val="FF0000"/>
                </a:solidFill>
                <a:ea typeface="华文中宋" pitchFamily="2" charset="-122"/>
                <a:cs typeface="Times New Roman" pitchFamily="18" charset="0"/>
              </a:rPr>
              <a:t>解： </a:t>
            </a:r>
            <a:r>
              <a:rPr lang="zh-CN" altLang="en-US" sz="1800">
                <a:ea typeface="华文中宋" pitchFamily="2" charset="-122"/>
                <a:cs typeface="Times New Roman" pitchFamily="18" charset="0"/>
              </a:rPr>
              <a:t>根据功能原理</a:t>
            </a:r>
            <a:r>
              <a:rPr lang="en-US" altLang="zh-CN" sz="1800">
                <a:ea typeface="华文中宋" pitchFamily="2" charset="-122"/>
                <a:cs typeface="Times New Roman" pitchFamily="18" charset="0"/>
              </a:rPr>
              <a:t>:                W = </a:t>
            </a:r>
            <a:r>
              <a:rPr lang="el-GR" altLang="zh-CN" sz="1800">
                <a:ea typeface="华文中宋" pitchFamily="2" charset="-122"/>
                <a:cs typeface="Times New Roman" pitchFamily="18" charset="0"/>
              </a:rPr>
              <a:t>Δ </a:t>
            </a:r>
            <a:r>
              <a:rPr lang="en-US" altLang="zh-CN" sz="1800" i="1">
                <a:ea typeface="华文中宋" pitchFamily="2" charset="-122"/>
                <a:cs typeface="Times New Roman" pitchFamily="18" charset="0"/>
              </a:rPr>
              <a:t>E</a:t>
            </a:r>
          </a:p>
        </p:txBody>
      </p:sp>
      <p:sp>
        <p:nvSpPr>
          <p:cNvPr id="11" name="Rectangle 4"/>
          <p:cNvSpPr>
            <a:spLocks noChangeArrowheads="1"/>
          </p:cNvSpPr>
          <p:nvPr/>
        </p:nvSpPr>
        <p:spPr bwMode="auto">
          <a:xfrm>
            <a:off x="1258888" y="1873250"/>
            <a:ext cx="6588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cs typeface="Times New Roman" pitchFamily="18" charset="0"/>
              </a:rPr>
              <a:t>根据相对论能量公式      </a:t>
            </a:r>
            <a:r>
              <a:rPr lang="el-GR" altLang="zh-CN" sz="1800">
                <a:ea typeface="华文中宋" pitchFamily="2" charset="-122"/>
                <a:cs typeface="Times New Roman" pitchFamily="18" charset="0"/>
              </a:rPr>
              <a:t>Δ</a:t>
            </a:r>
            <a:r>
              <a:rPr lang="en-US" altLang="zh-CN" sz="1800" i="1">
                <a:ea typeface="华文中宋" pitchFamily="2" charset="-122"/>
                <a:cs typeface="Times New Roman" pitchFamily="18" charset="0"/>
              </a:rPr>
              <a:t>E</a:t>
            </a:r>
            <a:r>
              <a:rPr lang="en-US" altLang="zh-CN" sz="1800">
                <a:ea typeface="华文中宋" pitchFamily="2" charset="-122"/>
                <a:cs typeface="Times New Roman" pitchFamily="18" charset="0"/>
              </a:rPr>
              <a:t> = </a:t>
            </a:r>
            <a:r>
              <a:rPr lang="en-US" altLang="zh-CN" sz="1800" i="1">
                <a:ea typeface="华文中宋" pitchFamily="2" charset="-122"/>
                <a:cs typeface="Times New Roman" pitchFamily="18" charset="0"/>
              </a:rPr>
              <a:t>m</a:t>
            </a:r>
            <a:r>
              <a:rPr lang="en-US" altLang="zh-CN" sz="1800" baseline="-25000">
                <a:ea typeface="华文中宋" pitchFamily="2" charset="-122"/>
                <a:cs typeface="Times New Roman" pitchFamily="18" charset="0"/>
              </a:rPr>
              <a:t>2</a:t>
            </a:r>
            <a:r>
              <a:rPr lang="en-US" altLang="zh-CN" sz="1800" i="1">
                <a:ea typeface="华文中宋" pitchFamily="2" charset="-122"/>
                <a:cs typeface="Times New Roman" pitchFamily="18" charset="0"/>
              </a:rPr>
              <a:t>c</a:t>
            </a:r>
            <a:r>
              <a:rPr lang="en-US" altLang="zh-CN" sz="1800" baseline="30000">
                <a:ea typeface="华文中宋" pitchFamily="2" charset="-122"/>
                <a:cs typeface="Times New Roman" pitchFamily="18" charset="0"/>
              </a:rPr>
              <a:t>2</a:t>
            </a:r>
            <a:r>
              <a:rPr lang="en-US" altLang="zh-CN" sz="1800">
                <a:ea typeface="华文中宋" pitchFamily="2" charset="-122"/>
                <a:cs typeface="Times New Roman" pitchFamily="18" charset="0"/>
              </a:rPr>
              <a:t>-</a:t>
            </a:r>
            <a:r>
              <a:rPr lang="en-US" altLang="zh-CN" sz="1800" i="1">
                <a:ea typeface="华文中宋" pitchFamily="2" charset="-122"/>
                <a:cs typeface="Times New Roman" pitchFamily="18" charset="0"/>
              </a:rPr>
              <a:t> m</a:t>
            </a:r>
            <a:r>
              <a:rPr lang="en-US" altLang="zh-CN" sz="1800" baseline="-25000">
                <a:ea typeface="华文中宋" pitchFamily="2" charset="-122"/>
                <a:cs typeface="Times New Roman" pitchFamily="18" charset="0"/>
              </a:rPr>
              <a:t>1</a:t>
            </a:r>
            <a:r>
              <a:rPr lang="en-US" altLang="zh-CN" sz="1800" i="1">
                <a:ea typeface="华文中宋" pitchFamily="2" charset="-122"/>
                <a:cs typeface="Times New Roman" pitchFamily="18" charset="0"/>
              </a:rPr>
              <a:t>c</a:t>
            </a:r>
            <a:r>
              <a:rPr lang="en-US" altLang="zh-CN" sz="1800" baseline="30000">
                <a:ea typeface="华文中宋" pitchFamily="2" charset="-122"/>
                <a:cs typeface="Times New Roman" pitchFamily="18" charset="0"/>
              </a:rPr>
              <a:t>2</a:t>
            </a:r>
            <a:r>
              <a:rPr lang="en-US" altLang="zh-CN" sz="1800">
                <a:ea typeface="华文中宋" pitchFamily="2" charset="-122"/>
                <a:cs typeface="Times New Roman" pitchFamily="18" charset="0"/>
              </a:rPr>
              <a:t> </a:t>
            </a:r>
          </a:p>
        </p:txBody>
      </p:sp>
      <p:sp>
        <p:nvSpPr>
          <p:cNvPr id="12" name="Rectangle 5"/>
          <p:cNvSpPr>
            <a:spLocks noChangeArrowheads="1"/>
          </p:cNvSpPr>
          <p:nvPr/>
        </p:nvSpPr>
        <p:spPr bwMode="auto">
          <a:xfrm>
            <a:off x="1260475" y="2346325"/>
            <a:ext cx="3527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cs typeface="Times New Roman" pitchFamily="18" charset="0"/>
              </a:rPr>
              <a:t>根据相对论质量公式</a:t>
            </a:r>
          </a:p>
        </p:txBody>
      </p:sp>
      <p:graphicFrame>
        <p:nvGraphicFramePr>
          <p:cNvPr id="2" name="对象 1"/>
          <p:cNvGraphicFramePr>
            <a:graphicFrameLocks noChangeAspect="1"/>
          </p:cNvGraphicFramePr>
          <p:nvPr/>
        </p:nvGraphicFramePr>
        <p:xfrm>
          <a:off x="2339975" y="2730500"/>
          <a:ext cx="1768475" cy="974725"/>
        </p:xfrm>
        <a:graphic>
          <a:graphicData uri="http://schemas.openxmlformats.org/presentationml/2006/ole">
            <mc:AlternateContent xmlns:mc="http://schemas.openxmlformats.org/markup-compatibility/2006">
              <mc:Choice xmlns:v="urn:schemas-microsoft-com:vml" Requires="v">
                <p:oleObj spid="_x0000_s75789" name="公式" r:id="rId3" imgW="901309" imgH="660113" progId="Equation.3">
                  <p:embed/>
                </p:oleObj>
              </mc:Choice>
              <mc:Fallback>
                <p:oleObj name="公式" r:id="rId3" imgW="901309" imgH="660113" progId="Equation.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2730500"/>
                        <a:ext cx="176847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nvGraphicFramePr>
        <p:xfrm>
          <a:off x="4587875" y="2716213"/>
          <a:ext cx="1793875" cy="974725"/>
        </p:xfrm>
        <a:graphic>
          <a:graphicData uri="http://schemas.openxmlformats.org/presentationml/2006/ole">
            <mc:AlternateContent xmlns:mc="http://schemas.openxmlformats.org/markup-compatibility/2006">
              <mc:Choice xmlns:v="urn:schemas-microsoft-com:vml" Requires="v">
                <p:oleObj spid="_x0000_s75790" name="公式" r:id="rId5" imgW="914400" imgH="660400" progId="Equation.3">
                  <p:embed/>
                </p:oleObj>
              </mc:Choice>
              <mc:Fallback>
                <p:oleObj name="公式" r:id="rId5" imgW="914400" imgH="660400" progId="Equation.3">
                  <p:embed/>
                  <p:pic>
                    <p:nvPicPr>
                      <p:cNvPr id="0" name="对象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7875" y="2716213"/>
                        <a:ext cx="179387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9"/>
          <p:cNvGraphicFramePr>
            <a:graphicFrameLocks noChangeAspect="1"/>
          </p:cNvGraphicFramePr>
          <p:nvPr/>
        </p:nvGraphicFramePr>
        <p:xfrm>
          <a:off x="971550" y="3690938"/>
          <a:ext cx="3554413" cy="896937"/>
        </p:xfrm>
        <a:graphic>
          <a:graphicData uri="http://schemas.openxmlformats.org/presentationml/2006/ole">
            <mc:AlternateContent xmlns:mc="http://schemas.openxmlformats.org/markup-compatibility/2006">
              <mc:Choice xmlns:v="urn:schemas-microsoft-com:vml" Requires="v">
                <p:oleObj spid="_x0000_s75791" name="公式" r:id="rId7" imgW="1955800" imgH="660400" progId="Equation.3">
                  <p:embed/>
                </p:oleObj>
              </mc:Choice>
              <mc:Fallback>
                <p:oleObj name="公式" r:id="rId7" imgW="1955800" imgH="6604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3690938"/>
                        <a:ext cx="3554413"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10"/>
          <p:cNvSpPr>
            <a:spLocks noChangeArrowheads="1"/>
          </p:cNvSpPr>
          <p:nvPr/>
        </p:nvSpPr>
        <p:spPr bwMode="auto">
          <a:xfrm>
            <a:off x="4351338" y="3817938"/>
            <a:ext cx="4252912" cy="461962"/>
          </a:xfrm>
          <a:prstGeom prst="rect">
            <a:avLst/>
          </a:prstGeom>
          <a:noFill/>
          <a:ln w="9525">
            <a:noFill/>
            <a:miter lim="800000"/>
            <a:headEnd/>
            <a:tailEnd/>
          </a:ln>
        </p:spPr>
        <p:txBody>
          <a:bodyPr anchor="ctr">
            <a:spAutoFit/>
          </a:bodyPr>
          <a:lstStyle/>
          <a:p>
            <a:pPr algn="r">
              <a:defRPr/>
            </a:pPr>
            <a:r>
              <a:rPr lang="zh-CN" altLang="en-US" sz="2400" dirty="0">
                <a:latin typeface="+mn-lt"/>
                <a:ea typeface="宋体" pitchFamily="2" charset="-122"/>
              </a:rPr>
              <a:t>＝</a:t>
            </a:r>
            <a:r>
              <a:rPr lang="en-US" altLang="zh-CN" sz="2400" dirty="0">
                <a:latin typeface="+mn-lt"/>
                <a:ea typeface="宋体" pitchFamily="2" charset="-122"/>
              </a:rPr>
              <a:t>4.72×10</a:t>
            </a:r>
            <a:r>
              <a:rPr lang="en-US" altLang="zh-CN" sz="2400" baseline="30000" dirty="0">
                <a:latin typeface="+mn-lt"/>
                <a:ea typeface="宋体" pitchFamily="2" charset="-122"/>
              </a:rPr>
              <a:t>-14</a:t>
            </a:r>
            <a:r>
              <a:rPr lang="en-US" altLang="zh-CN" sz="2400" dirty="0">
                <a:latin typeface="+mn-lt"/>
                <a:ea typeface="宋体" pitchFamily="2" charset="-122"/>
              </a:rPr>
              <a:t> J</a:t>
            </a:r>
            <a:r>
              <a:rPr lang="zh-CN" altLang="en-US" sz="2400" dirty="0">
                <a:latin typeface="+mn-lt"/>
                <a:ea typeface="宋体" pitchFamily="2" charset="-122"/>
              </a:rPr>
              <a:t>＝</a:t>
            </a:r>
            <a:r>
              <a:rPr lang="en-US" altLang="zh-CN" sz="2400" dirty="0">
                <a:latin typeface="+mn-lt"/>
                <a:ea typeface="宋体" pitchFamily="2" charset="-122"/>
              </a:rPr>
              <a:t>2.95×10</a:t>
            </a:r>
            <a:r>
              <a:rPr lang="en-US" altLang="zh-CN" sz="2400" baseline="30000" dirty="0">
                <a:latin typeface="+mn-lt"/>
                <a:ea typeface="宋体" pitchFamily="2" charset="-122"/>
              </a:rPr>
              <a:t>5</a:t>
            </a:r>
            <a:r>
              <a:rPr lang="en-US" altLang="zh-CN" sz="2400" dirty="0">
                <a:latin typeface="+mn-lt"/>
                <a:ea typeface="宋体" pitchFamily="2" charset="-122"/>
              </a:rPr>
              <a:t> </a:t>
            </a:r>
            <a:r>
              <a:rPr lang="en-US" altLang="zh-CN" sz="2400" dirty="0" err="1">
                <a:latin typeface="+mn-lt"/>
                <a:ea typeface="宋体" pitchFamily="2" charset="-122"/>
              </a:rPr>
              <a:t>eV</a:t>
            </a:r>
            <a:endParaRPr lang="en-US" altLang="zh-CN" sz="2400" dirty="0">
              <a:latin typeface="+mn-lt"/>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2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1011238" y="923925"/>
            <a:ext cx="657066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2000">
                <a:solidFill>
                  <a:srgbClr val="CC0000"/>
                </a:solidFill>
                <a:ea typeface="华文中宋" pitchFamily="2" charset="-122"/>
              </a:rPr>
              <a:t>一、经典力学时空观与变换</a:t>
            </a:r>
          </a:p>
          <a:p>
            <a:pPr eaLnBrk="1" hangingPunct="1"/>
            <a:r>
              <a:rPr lang="en-US" altLang="zh-CN" sz="1800">
                <a:ea typeface="华文中宋" pitchFamily="2" charset="-122"/>
              </a:rPr>
              <a:t>1</a:t>
            </a:r>
            <a:r>
              <a:rPr lang="zh-CN" altLang="en-US" sz="1800">
                <a:ea typeface="华文中宋" pitchFamily="2" charset="-122"/>
              </a:rPr>
              <a:t>、伽利略变换</a:t>
            </a:r>
          </a:p>
        </p:txBody>
      </p:sp>
      <p:sp>
        <p:nvSpPr>
          <p:cNvPr id="343046" name="Rectangle 6"/>
          <p:cNvSpPr>
            <a:spLocks noChangeArrowheads="1"/>
          </p:cNvSpPr>
          <p:nvPr/>
        </p:nvSpPr>
        <p:spPr bwMode="auto">
          <a:xfrm>
            <a:off x="1042988" y="3354388"/>
            <a:ext cx="3384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00">
                <a:ea typeface="华文中宋" pitchFamily="2" charset="-122"/>
              </a:rPr>
              <a:t>2</a:t>
            </a:r>
            <a:r>
              <a:rPr lang="zh-CN" altLang="en-US" sz="1800">
                <a:ea typeface="华文中宋" pitchFamily="2" charset="-122"/>
              </a:rPr>
              <a:t>、力学相对性原理</a:t>
            </a:r>
          </a:p>
        </p:txBody>
      </p:sp>
      <p:graphicFrame>
        <p:nvGraphicFramePr>
          <p:cNvPr id="343047" name="Object 7"/>
          <p:cNvGraphicFramePr>
            <a:graphicFrameLocks noChangeAspect="1"/>
          </p:cNvGraphicFramePr>
          <p:nvPr/>
        </p:nvGraphicFramePr>
        <p:xfrm>
          <a:off x="6516688" y="1893888"/>
          <a:ext cx="1254125" cy="1244600"/>
        </p:xfrm>
        <a:graphic>
          <a:graphicData uri="http://schemas.openxmlformats.org/presentationml/2006/ole">
            <mc:AlternateContent xmlns:mc="http://schemas.openxmlformats.org/markup-compatibility/2006">
              <mc:Choice xmlns:v="urn:schemas-microsoft-com:vml" Requires="v">
                <p:oleObj spid="_x0000_s76813" name="公式" r:id="rId3" imgW="583947" imgH="710891" progId="Equation.3">
                  <p:embed/>
                </p:oleObj>
              </mc:Choice>
              <mc:Fallback>
                <p:oleObj name="公式" r:id="rId3" imgW="583947" imgH="710891"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688" y="1893888"/>
                        <a:ext cx="1254125" cy="12446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3048" name="Object 8"/>
          <p:cNvGraphicFramePr>
            <a:graphicFrameLocks noChangeAspect="1"/>
          </p:cNvGraphicFramePr>
          <p:nvPr/>
        </p:nvGraphicFramePr>
        <p:xfrm>
          <a:off x="3635375" y="1785938"/>
          <a:ext cx="2159000" cy="1333500"/>
        </p:xfrm>
        <a:graphic>
          <a:graphicData uri="http://schemas.openxmlformats.org/presentationml/2006/ole">
            <mc:AlternateContent xmlns:mc="http://schemas.openxmlformats.org/markup-compatibility/2006">
              <mc:Choice xmlns:v="urn:schemas-microsoft-com:vml" Requires="v">
                <p:oleObj spid="_x0000_s76814" name="公式" r:id="rId5" imgW="799753" imgH="761669" progId="Equation.3">
                  <p:embed/>
                </p:oleObj>
              </mc:Choice>
              <mc:Fallback>
                <p:oleObj name="公式" r:id="rId5" imgW="799753" imgH="761669"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1785938"/>
                        <a:ext cx="2159000" cy="1333500"/>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3049" name="Object 9"/>
          <p:cNvGraphicFramePr>
            <a:graphicFrameLocks noChangeAspect="1"/>
          </p:cNvGraphicFramePr>
          <p:nvPr/>
        </p:nvGraphicFramePr>
        <p:xfrm>
          <a:off x="1258888" y="1731963"/>
          <a:ext cx="1592262" cy="1563687"/>
        </p:xfrm>
        <a:graphic>
          <a:graphicData uri="http://schemas.openxmlformats.org/presentationml/2006/ole">
            <mc:AlternateContent xmlns:mc="http://schemas.openxmlformats.org/markup-compatibility/2006">
              <mc:Choice xmlns:v="urn:schemas-microsoft-com:vml" Requires="v">
                <p:oleObj spid="_x0000_s76815" name="公式" r:id="rId7" imgW="838200" imgH="927100" progId="Equation.3">
                  <p:embed/>
                </p:oleObj>
              </mc:Choice>
              <mc:Fallback>
                <p:oleObj name="公式" r:id="rId7" imgW="838200" imgH="927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1731963"/>
                        <a:ext cx="1592262" cy="1563687"/>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57150" cmpd="thickThin">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3050" name="AutoShape 10"/>
          <p:cNvSpPr>
            <a:spLocks noChangeArrowheads="1"/>
          </p:cNvSpPr>
          <p:nvPr/>
        </p:nvSpPr>
        <p:spPr bwMode="auto">
          <a:xfrm>
            <a:off x="2916238" y="1941513"/>
            <a:ext cx="647700" cy="1039812"/>
          </a:xfrm>
          <a:prstGeom prst="rightArrow">
            <a:avLst>
              <a:gd name="adj1" fmla="val 50000"/>
              <a:gd name="adj2" fmla="val 75000"/>
            </a:avLst>
          </a:prstGeom>
          <a:solidFill>
            <a:schemeClr val="accent1"/>
          </a:solidFill>
          <a:ln w="9525">
            <a:solidFill>
              <a:schemeClr val="tx1"/>
            </a:solidFill>
            <a:miter lim="800000"/>
            <a:headEnd/>
            <a:tailEnd/>
          </a:ln>
        </p:spPr>
        <p:txBody>
          <a:bodyPr anchor="ctr">
            <a:spAutoFit/>
          </a:bodyPr>
          <a:lstStyle/>
          <a:p>
            <a:endParaRPr lang="zh-CN" altLang="en-US"/>
          </a:p>
        </p:txBody>
      </p:sp>
      <p:sp>
        <p:nvSpPr>
          <p:cNvPr id="343051" name="AutoShape 11"/>
          <p:cNvSpPr>
            <a:spLocks noChangeArrowheads="1"/>
          </p:cNvSpPr>
          <p:nvPr/>
        </p:nvSpPr>
        <p:spPr bwMode="auto">
          <a:xfrm>
            <a:off x="5724525" y="1997075"/>
            <a:ext cx="647700" cy="1038225"/>
          </a:xfrm>
          <a:prstGeom prst="rightArrow">
            <a:avLst>
              <a:gd name="adj1" fmla="val 50000"/>
              <a:gd name="adj2" fmla="val 75000"/>
            </a:avLst>
          </a:prstGeom>
          <a:solidFill>
            <a:schemeClr val="accent1"/>
          </a:solidFill>
          <a:ln w="9525">
            <a:solidFill>
              <a:schemeClr val="tx1"/>
            </a:solidFill>
            <a:miter lim="800000"/>
            <a:headEnd/>
            <a:tailEnd/>
          </a:ln>
        </p:spPr>
        <p:txBody>
          <a:bodyPr anchor="ctr">
            <a:spAutoFit/>
          </a:bodyPr>
          <a:lstStyle/>
          <a:p>
            <a:endParaRPr lang="zh-CN" altLang="en-US"/>
          </a:p>
        </p:txBody>
      </p:sp>
      <p:sp>
        <p:nvSpPr>
          <p:cNvPr id="9" name="Text Box 5"/>
          <p:cNvSpPr txBox="1">
            <a:spLocks noChangeArrowheads="1"/>
          </p:cNvSpPr>
          <p:nvPr/>
        </p:nvSpPr>
        <p:spPr bwMode="auto">
          <a:xfrm>
            <a:off x="1403350" y="3941763"/>
            <a:ext cx="64690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kumimoji="0" lang="en-US" altLang="zh-CN" sz="1800">
                <a:ea typeface="华文中宋" pitchFamily="2" charset="-122"/>
                <a:cs typeface="Times New Roman" pitchFamily="18" charset="0"/>
              </a:rPr>
              <a:t>        </a:t>
            </a:r>
            <a:r>
              <a:rPr kumimoji="0" lang="zh-CN" altLang="en-US" sz="1800">
                <a:solidFill>
                  <a:srgbClr val="0000FF"/>
                </a:solidFill>
                <a:ea typeface="华文中宋" pitchFamily="2" charset="-122"/>
                <a:cs typeface="Times New Roman" pitchFamily="18" charset="0"/>
              </a:rPr>
              <a:t>一切惯性系中，描述运动的力学规律都是完全相同的</a:t>
            </a:r>
            <a:r>
              <a:rPr kumimoji="0" lang="en-US" altLang="zh-CN" sz="1800">
                <a:ea typeface="华文中宋" pitchFamily="2" charset="-122"/>
                <a:cs typeface="Times New Roman" pitchFamily="18" charset="0"/>
              </a:rPr>
              <a:t>. </a:t>
            </a:r>
          </a:p>
          <a:p>
            <a:pPr eaLnBrk="1" hangingPunct="1"/>
            <a:r>
              <a:rPr kumimoji="0" lang="en-US" altLang="zh-CN" sz="1800">
                <a:ea typeface="华文中宋" pitchFamily="2" charset="-122"/>
                <a:cs typeface="Times New Roman" pitchFamily="18" charset="0"/>
              </a:rPr>
              <a:t>               ----</a:t>
            </a:r>
            <a:r>
              <a:rPr kumimoji="0" lang="zh-CN" altLang="en-US" sz="1800">
                <a:ea typeface="华文中宋" pitchFamily="2" charset="-122"/>
                <a:cs typeface="Times New Roman" pitchFamily="18" charset="0"/>
              </a:rPr>
              <a:t>力学的相对性原理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026">
                                            <p:txEl>
                                              <p:pRg st="0" end="0"/>
                                            </p:txEl>
                                          </p:spTgt>
                                        </p:tgtEl>
                                        <p:attrNameLst>
                                          <p:attrName>style.visibility</p:attrName>
                                        </p:attrNameLst>
                                      </p:cBhvr>
                                      <p:to>
                                        <p:strVal val="visible"/>
                                      </p:to>
                                    </p:set>
                                    <p:animEffect transition="in" filter="wipe(left)">
                                      <p:cBhvr>
                                        <p:cTn id="7" dur="500"/>
                                        <p:tgtEl>
                                          <p:spTgt spid="2570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026">
                                            <p:txEl>
                                              <p:pRg st="1" end="1"/>
                                            </p:txEl>
                                          </p:spTgt>
                                        </p:tgtEl>
                                        <p:attrNameLst>
                                          <p:attrName>style.visibility</p:attrName>
                                        </p:attrNameLst>
                                      </p:cBhvr>
                                      <p:to>
                                        <p:strVal val="visible"/>
                                      </p:to>
                                    </p:set>
                                    <p:animEffect transition="in" filter="wipe(left)">
                                      <p:cBhvr>
                                        <p:cTn id="12" dur="500"/>
                                        <p:tgtEl>
                                          <p:spTgt spid="25702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3049"/>
                                        </p:tgtEl>
                                        <p:attrNameLst>
                                          <p:attrName>style.visibility</p:attrName>
                                        </p:attrNameLst>
                                      </p:cBhvr>
                                      <p:to>
                                        <p:strVal val="visible"/>
                                      </p:to>
                                    </p:set>
                                    <p:animEffect transition="in" filter="blinds(horizontal)">
                                      <p:cBhvr>
                                        <p:cTn id="17" dur="500"/>
                                        <p:tgtEl>
                                          <p:spTgt spid="3430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3050"/>
                                        </p:tgtEl>
                                        <p:attrNameLst>
                                          <p:attrName>style.visibility</p:attrName>
                                        </p:attrNameLst>
                                      </p:cBhvr>
                                      <p:to>
                                        <p:strVal val="visible"/>
                                      </p:to>
                                    </p:set>
                                    <p:animEffect transition="in" filter="blinds(horizontal)">
                                      <p:cBhvr>
                                        <p:cTn id="22" dur="500"/>
                                        <p:tgtEl>
                                          <p:spTgt spid="343050"/>
                                        </p:tgtEl>
                                      </p:cBhvr>
                                    </p:animEffect>
                                  </p:childTnLst>
                                </p:cTn>
                              </p:par>
                              <p:par>
                                <p:cTn id="23" presetID="3" presetClass="entr" presetSubtype="10" fill="hold" nodeType="withEffect">
                                  <p:stCondLst>
                                    <p:cond delay="0"/>
                                  </p:stCondLst>
                                  <p:childTnLst>
                                    <p:set>
                                      <p:cBhvr>
                                        <p:cTn id="24" dur="1" fill="hold">
                                          <p:stCondLst>
                                            <p:cond delay="0"/>
                                          </p:stCondLst>
                                        </p:cTn>
                                        <p:tgtEl>
                                          <p:spTgt spid="343048"/>
                                        </p:tgtEl>
                                        <p:attrNameLst>
                                          <p:attrName>style.visibility</p:attrName>
                                        </p:attrNameLst>
                                      </p:cBhvr>
                                      <p:to>
                                        <p:strVal val="visible"/>
                                      </p:to>
                                    </p:set>
                                    <p:animEffect transition="in" filter="blinds(horizontal)">
                                      <p:cBhvr>
                                        <p:cTn id="25" dur="500"/>
                                        <p:tgtEl>
                                          <p:spTgt spid="34304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43051"/>
                                        </p:tgtEl>
                                        <p:attrNameLst>
                                          <p:attrName>style.visibility</p:attrName>
                                        </p:attrNameLst>
                                      </p:cBhvr>
                                      <p:to>
                                        <p:strVal val="visible"/>
                                      </p:to>
                                    </p:set>
                                    <p:animEffect transition="in" filter="blinds(horizontal)">
                                      <p:cBhvr>
                                        <p:cTn id="30" dur="500"/>
                                        <p:tgtEl>
                                          <p:spTgt spid="343051"/>
                                        </p:tgtEl>
                                      </p:cBhvr>
                                    </p:animEffect>
                                  </p:childTnLst>
                                </p:cTn>
                              </p:par>
                              <p:par>
                                <p:cTn id="31" presetID="3" presetClass="entr" presetSubtype="10" fill="hold" nodeType="withEffect">
                                  <p:stCondLst>
                                    <p:cond delay="0"/>
                                  </p:stCondLst>
                                  <p:childTnLst>
                                    <p:set>
                                      <p:cBhvr>
                                        <p:cTn id="32" dur="1" fill="hold">
                                          <p:stCondLst>
                                            <p:cond delay="0"/>
                                          </p:stCondLst>
                                        </p:cTn>
                                        <p:tgtEl>
                                          <p:spTgt spid="343047"/>
                                        </p:tgtEl>
                                        <p:attrNameLst>
                                          <p:attrName>style.visibility</p:attrName>
                                        </p:attrNameLst>
                                      </p:cBhvr>
                                      <p:to>
                                        <p:strVal val="visible"/>
                                      </p:to>
                                    </p:set>
                                    <p:animEffect transition="in" filter="blinds(horizontal)">
                                      <p:cBhvr>
                                        <p:cTn id="33" dur="500"/>
                                        <p:tgtEl>
                                          <p:spTgt spid="34304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43046"/>
                                        </p:tgtEl>
                                        <p:attrNameLst>
                                          <p:attrName>style.visibility</p:attrName>
                                        </p:attrNameLst>
                                      </p:cBhvr>
                                      <p:to>
                                        <p:strVal val="visible"/>
                                      </p:to>
                                    </p:set>
                                    <p:animEffect transition="in" filter="blinds(horizontal)">
                                      <p:cBhvr>
                                        <p:cTn id="38" dur="500"/>
                                        <p:tgtEl>
                                          <p:spTgt spid="34304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wipe(left)">
                                      <p:cBhvr>
                                        <p:cTn id="43" dur="500"/>
                                        <p:tgtEl>
                                          <p:spTgt spid="9">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
                                            <p:txEl>
                                              <p:pRg st="1" end="1"/>
                                            </p:txEl>
                                          </p:spTgt>
                                        </p:tgtEl>
                                        <p:attrNameLst>
                                          <p:attrName>style.visibility</p:attrName>
                                        </p:attrNameLst>
                                      </p:cBhvr>
                                      <p:to>
                                        <p:strVal val="visible"/>
                                      </p:to>
                                    </p:set>
                                    <p:animEffect transition="in" filter="wipe(left)">
                                      <p:cBhvr>
                                        <p:cTn id="4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build="p"/>
      <p:bldP spid="343046" grpId="0"/>
      <p:bldP spid="343050" grpId="0" animBg="1"/>
      <p:bldP spid="343051" grpId="0" animBg="1"/>
      <p:bldP spid="9"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971550" y="896938"/>
            <a:ext cx="79930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2000">
                <a:solidFill>
                  <a:srgbClr val="CC0000"/>
                </a:solidFill>
                <a:latin typeface="华文中宋" pitchFamily="2" charset="-122"/>
                <a:ea typeface="华文中宋" pitchFamily="2" charset="-122"/>
              </a:rPr>
              <a:t>二、狭义相对论的基本原理</a:t>
            </a:r>
          </a:p>
          <a:p>
            <a:pPr eaLnBrk="1" hangingPunct="1"/>
            <a:r>
              <a:rPr lang="en-US" altLang="zh-CN" sz="1800">
                <a:latin typeface="华文中宋" pitchFamily="2" charset="-122"/>
                <a:ea typeface="华文中宋" pitchFamily="2" charset="-122"/>
              </a:rPr>
              <a:t>1. </a:t>
            </a:r>
            <a:r>
              <a:rPr lang="zh-CN" altLang="en-US" sz="1800">
                <a:latin typeface="华文中宋" pitchFamily="2" charset="-122"/>
                <a:ea typeface="华文中宋" pitchFamily="2" charset="-122"/>
              </a:rPr>
              <a:t>两个基本原理：光速不变原理与相对性原理。</a:t>
            </a:r>
          </a:p>
          <a:p>
            <a:pPr eaLnBrk="1" hangingPunct="1"/>
            <a:r>
              <a:rPr lang="en-US" altLang="zh-CN" sz="1800">
                <a:latin typeface="华文中宋" pitchFamily="2" charset="-122"/>
                <a:ea typeface="华文中宋" pitchFamily="2" charset="-122"/>
              </a:rPr>
              <a:t>2. </a:t>
            </a:r>
            <a:r>
              <a:rPr lang="zh-CN" altLang="en-US" sz="1800">
                <a:latin typeface="华文中宋" pitchFamily="2" charset="-122"/>
                <a:ea typeface="华文中宋" pitchFamily="2" charset="-122"/>
              </a:rPr>
              <a:t>洛仑兹变换</a:t>
            </a:r>
          </a:p>
        </p:txBody>
      </p:sp>
      <p:graphicFrame>
        <p:nvGraphicFramePr>
          <p:cNvPr id="2" name="对象 1"/>
          <p:cNvGraphicFramePr>
            <a:graphicFrameLocks noChangeAspect="1"/>
          </p:cNvGraphicFramePr>
          <p:nvPr/>
        </p:nvGraphicFramePr>
        <p:xfrm>
          <a:off x="1763713" y="1993900"/>
          <a:ext cx="2200275" cy="2363788"/>
        </p:xfrm>
        <a:graphic>
          <a:graphicData uri="http://schemas.openxmlformats.org/presentationml/2006/ole">
            <mc:AlternateContent xmlns:mc="http://schemas.openxmlformats.org/markup-compatibility/2006">
              <mc:Choice xmlns:v="urn:schemas-microsoft-com:vml" Requires="v">
                <p:oleObj spid="_x0000_s77831" name="公式" r:id="rId3" imgW="939800" imgH="1981200" progId="Equation.3">
                  <p:embed/>
                </p:oleObj>
              </mc:Choice>
              <mc:Fallback>
                <p:oleObj name="公式" r:id="rId3" imgW="939800" imgH="1981200" progId="Equation.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993900"/>
                        <a:ext cx="2200275" cy="2363788"/>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 name="对象 2"/>
          <p:cNvGraphicFramePr>
            <a:graphicFrameLocks noChangeAspect="1"/>
          </p:cNvGraphicFramePr>
          <p:nvPr/>
        </p:nvGraphicFramePr>
        <p:xfrm>
          <a:off x="4932363" y="1817688"/>
          <a:ext cx="2516187" cy="2625725"/>
        </p:xfrm>
        <a:graphic>
          <a:graphicData uri="http://schemas.openxmlformats.org/presentationml/2006/ole">
            <mc:AlternateContent xmlns:mc="http://schemas.openxmlformats.org/markup-compatibility/2006">
              <mc:Choice xmlns:v="urn:schemas-microsoft-com:vml" Requires="v">
                <p:oleObj spid="_x0000_s77832" name="公式" r:id="rId5" imgW="1143000" imgH="2006600" progId="Equation.3">
                  <p:embed/>
                </p:oleObj>
              </mc:Choice>
              <mc:Fallback>
                <p:oleObj name="公式" r:id="rId5" imgW="1143000" imgH="2006600" progId="Equation.3">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1817688"/>
                        <a:ext cx="2516187"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026">
                                            <p:txEl>
                                              <p:pRg st="0" end="0"/>
                                            </p:txEl>
                                          </p:spTgt>
                                        </p:tgtEl>
                                        <p:attrNameLst>
                                          <p:attrName>style.visibility</p:attrName>
                                        </p:attrNameLst>
                                      </p:cBhvr>
                                      <p:to>
                                        <p:strVal val="visible"/>
                                      </p:to>
                                    </p:set>
                                    <p:animEffect transition="in" filter="wipe(left)">
                                      <p:cBhvr>
                                        <p:cTn id="7" dur="500"/>
                                        <p:tgtEl>
                                          <p:spTgt spid="2570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026">
                                            <p:txEl>
                                              <p:pRg st="1" end="1"/>
                                            </p:txEl>
                                          </p:spTgt>
                                        </p:tgtEl>
                                        <p:attrNameLst>
                                          <p:attrName>style.visibility</p:attrName>
                                        </p:attrNameLst>
                                      </p:cBhvr>
                                      <p:to>
                                        <p:strVal val="visible"/>
                                      </p:to>
                                    </p:set>
                                    <p:animEffect transition="in" filter="wipe(left)">
                                      <p:cBhvr>
                                        <p:cTn id="12" dur="500"/>
                                        <p:tgtEl>
                                          <p:spTgt spid="25702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7026">
                                            <p:txEl>
                                              <p:pRg st="2" end="2"/>
                                            </p:txEl>
                                          </p:spTgt>
                                        </p:tgtEl>
                                        <p:attrNameLst>
                                          <p:attrName>style.visibility</p:attrName>
                                        </p:attrNameLst>
                                      </p:cBhvr>
                                      <p:to>
                                        <p:strVal val="visible"/>
                                      </p:to>
                                    </p:set>
                                    <p:animEffect transition="in" filter="wipe(left)">
                                      <p:cBhvr>
                                        <p:cTn id="17" dur="500"/>
                                        <p:tgtEl>
                                          <p:spTgt spid="25702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ext Box 2"/>
          <p:cNvSpPr txBox="1">
            <a:spLocks noChangeArrowheads="1"/>
          </p:cNvSpPr>
          <p:nvPr/>
        </p:nvSpPr>
        <p:spPr bwMode="auto">
          <a:xfrm>
            <a:off x="684213" y="885825"/>
            <a:ext cx="799306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itchFamily="18" charset="0"/>
                <a:ea typeface="楷体_GB2312" pitchFamily="49" charset="-122"/>
              </a:defRPr>
            </a:lvl1pPr>
            <a:lvl2pPr marL="742950" indent="-285750" eaLnBrk="0" hangingPunct="0">
              <a:defRPr kumimoji="1" sz="2800" b="1">
                <a:solidFill>
                  <a:schemeClr val="tx1"/>
                </a:solidFill>
                <a:latin typeface="Times New Roman" pitchFamily="18" charset="0"/>
                <a:ea typeface="楷体_GB2312" pitchFamily="49" charset="-122"/>
              </a:defRPr>
            </a:lvl2pPr>
            <a:lvl3pPr marL="1143000" indent="-228600" eaLnBrk="0" hangingPunct="0">
              <a:defRPr kumimoji="1" sz="2800" b="1">
                <a:solidFill>
                  <a:schemeClr val="tx1"/>
                </a:solidFill>
                <a:latin typeface="Times New Roman" pitchFamily="18" charset="0"/>
                <a:ea typeface="楷体_GB2312" pitchFamily="49" charset="-122"/>
              </a:defRPr>
            </a:lvl3pPr>
            <a:lvl4pPr marL="1600200" indent="-228600" eaLnBrk="0" hangingPunct="0">
              <a:defRPr kumimoji="1" sz="2800" b="1">
                <a:solidFill>
                  <a:schemeClr val="tx1"/>
                </a:solidFill>
                <a:latin typeface="Times New Roman" pitchFamily="18" charset="0"/>
                <a:ea typeface="楷体_GB2312" pitchFamily="49" charset="-122"/>
              </a:defRPr>
            </a:lvl4pPr>
            <a:lvl5pPr marL="2057400" indent="-228600" eaLnBrk="0" hangingPunct="0">
              <a:defRPr kumimoji="1" sz="2800" b="1">
                <a:solidFill>
                  <a:schemeClr val="tx1"/>
                </a:solidFill>
                <a:latin typeface="Times New Roman" pitchFamily="18" charset="0"/>
                <a:ea typeface="楷体_GB2312" pitchFamily="49" charset="-122"/>
              </a:defRPr>
            </a:lvl5pPr>
            <a:lvl6pPr marL="25146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6pPr>
            <a:lvl7pPr marL="29718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7pPr>
            <a:lvl8pPr marL="34290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8pPr>
            <a:lvl9pPr marL="3886200" indent="-228600" eaLnBrk="0" fontAlgn="base" hangingPunct="0">
              <a:spcBef>
                <a:spcPct val="0"/>
              </a:spcBef>
              <a:spcAft>
                <a:spcPct val="0"/>
              </a:spcAft>
              <a:defRPr kumimoji="1" sz="2800" b="1">
                <a:solidFill>
                  <a:schemeClr val="tx1"/>
                </a:solidFill>
                <a:latin typeface="Times New Roman" pitchFamily="18" charset="0"/>
                <a:ea typeface="楷体_GB2312" pitchFamily="49" charset="-122"/>
              </a:defRPr>
            </a:lvl9pPr>
          </a:lstStyle>
          <a:p>
            <a:pPr eaLnBrk="1" hangingPunct="1"/>
            <a:r>
              <a:rPr lang="zh-CN" altLang="en-US" sz="2000">
                <a:solidFill>
                  <a:srgbClr val="CC0000"/>
                </a:solidFill>
                <a:ea typeface="华文中宋" pitchFamily="2" charset="-122"/>
              </a:rPr>
              <a:t>三、狭义相对论的时空观</a:t>
            </a:r>
          </a:p>
          <a:p>
            <a:pPr eaLnBrk="1" hangingPunct="1"/>
            <a:r>
              <a:rPr lang="zh-CN" altLang="en-US" sz="1800">
                <a:ea typeface="华文中宋" pitchFamily="2" charset="-122"/>
              </a:rPr>
              <a:t>１</a:t>
            </a:r>
            <a:r>
              <a:rPr lang="en-US" altLang="zh-CN" sz="1800">
                <a:ea typeface="华文中宋" pitchFamily="2" charset="-122"/>
              </a:rPr>
              <a:t>. </a:t>
            </a:r>
            <a:r>
              <a:rPr lang="zh-CN" altLang="en-US" sz="1800">
                <a:ea typeface="华文中宋" pitchFamily="2" charset="-122"/>
              </a:rPr>
              <a:t>同时的相对性</a:t>
            </a:r>
          </a:p>
        </p:txBody>
      </p:sp>
      <p:sp>
        <p:nvSpPr>
          <p:cNvPr id="344069" name="Rectangle 5"/>
          <p:cNvSpPr>
            <a:spLocks noChangeArrowheads="1"/>
          </p:cNvSpPr>
          <p:nvPr/>
        </p:nvSpPr>
        <p:spPr bwMode="auto">
          <a:xfrm>
            <a:off x="684213" y="3429000"/>
            <a:ext cx="51863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３</a:t>
            </a:r>
            <a:r>
              <a:rPr lang="en-US" altLang="zh-CN" sz="1800">
                <a:ea typeface="华文中宋" pitchFamily="2" charset="-122"/>
              </a:rPr>
              <a:t>. </a:t>
            </a:r>
            <a:r>
              <a:rPr lang="zh-CN" altLang="en-US" sz="1800">
                <a:ea typeface="华文中宋" pitchFamily="2" charset="-122"/>
              </a:rPr>
              <a:t>长度的相对性（动尺缩短）</a:t>
            </a:r>
          </a:p>
        </p:txBody>
      </p:sp>
      <p:sp>
        <p:nvSpPr>
          <p:cNvPr id="344070" name="Rectangle 6"/>
          <p:cNvSpPr>
            <a:spLocks noChangeArrowheads="1"/>
          </p:cNvSpPr>
          <p:nvPr/>
        </p:nvSpPr>
        <p:spPr bwMode="auto">
          <a:xfrm>
            <a:off x="684213" y="2636838"/>
            <a:ext cx="59007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２</a:t>
            </a:r>
            <a:r>
              <a:rPr lang="en-US" altLang="zh-CN" sz="1800">
                <a:ea typeface="华文中宋" pitchFamily="2" charset="-122"/>
              </a:rPr>
              <a:t>. </a:t>
            </a:r>
            <a:r>
              <a:rPr lang="zh-CN" altLang="en-US" sz="1800">
                <a:ea typeface="华文中宋" pitchFamily="2" charset="-122"/>
              </a:rPr>
              <a:t>时间间隔的相对性（时间膨胀）</a:t>
            </a:r>
          </a:p>
        </p:txBody>
      </p:sp>
      <p:sp>
        <p:nvSpPr>
          <p:cNvPr id="344071" name="Rectangle 7"/>
          <p:cNvSpPr>
            <a:spLocks noChangeArrowheads="1"/>
          </p:cNvSpPr>
          <p:nvPr/>
        </p:nvSpPr>
        <p:spPr bwMode="auto">
          <a:xfrm>
            <a:off x="684213" y="3941763"/>
            <a:ext cx="76390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800">
                <a:ea typeface="华文中宋" pitchFamily="2" charset="-122"/>
              </a:rPr>
              <a:t>４</a:t>
            </a:r>
            <a:r>
              <a:rPr lang="en-US" altLang="zh-CN" sz="1800">
                <a:ea typeface="华文中宋" pitchFamily="2" charset="-122"/>
              </a:rPr>
              <a:t>. </a:t>
            </a:r>
            <a:r>
              <a:rPr lang="zh-CN" altLang="en-US" sz="1800">
                <a:ea typeface="华文中宋" pitchFamily="2" charset="-122"/>
              </a:rPr>
              <a:t>因果关系</a:t>
            </a:r>
          </a:p>
          <a:p>
            <a:r>
              <a:rPr lang="zh-CN" altLang="en-US" sz="1800">
                <a:ea typeface="华文中宋" pitchFamily="2" charset="-122"/>
              </a:rPr>
              <a:t>　　信息传递速率小于光速，导致因果关系不会颠倒。</a:t>
            </a:r>
          </a:p>
        </p:txBody>
      </p:sp>
      <p:graphicFrame>
        <p:nvGraphicFramePr>
          <p:cNvPr id="344095" name="Group 31"/>
          <p:cNvGraphicFramePr>
            <a:graphicFrameLocks noGrp="1"/>
          </p:cNvGraphicFramePr>
          <p:nvPr/>
        </p:nvGraphicFramePr>
        <p:xfrm>
          <a:off x="1187450" y="1685925"/>
          <a:ext cx="6264275" cy="598488"/>
        </p:xfrm>
        <a:graphic>
          <a:graphicData uri="http://schemas.openxmlformats.org/drawingml/2006/table">
            <a:tbl>
              <a:tblPr/>
              <a:tblGrid>
                <a:gridCol w="818352"/>
                <a:gridCol w="1327809"/>
                <a:gridCol w="1329274"/>
                <a:gridCol w="1461029"/>
                <a:gridCol w="1327810"/>
              </a:tblGrid>
              <a:tr h="2992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华文中宋" pitchFamily="2" charset="-122"/>
                        </a:rPr>
                        <a:t>S</a:t>
                      </a: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系</a:t>
                      </a:r>
                    </a:p>
                  </a:txBody>
                  <a:tcPr marL="89991" marR="89991" marT="35152" marB="3515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同时同地</a:t>
                      </a:r>
                    </a:p>
                  </a:txBody>
                  <a:tcPr marL="89991" marR="89991" marT="35152" marB="3515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同时异地</a:t>
                      </a:r>
                    </a:p>
                  </a:txBody>
                  <a:tcPr marL="89991" marR="89991" marT="35152" marB="3515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异时同地</a:t>
                      </a:r>
                    </a:p>
                  </a:txBody>
                  <a:tcPr marL="89991" marR="89991" marT="35152" marB="3515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异时异地</a:t>
                      </a:r>
                    </a:p>
                  </a:txBody>
                  <a:tcPr marL="89991" marR="89991" marT="35152" marB="3515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92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华文中宋" pitchFamily="2" charset="-122"/>
                        </a:rPr>
                        <a:t>S’</a:t>
                      </a: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系</a:t>
                      </a:r>
                    </a:p>
                  </a:txBody>
                  <a:tcPr marL="89991" marR="89991" marT="35152" marB="35152"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smtClean="0">
                          <a:ln>
                            <a:noFill/>
                          </a:ln>
                          <a:solidFill>
                            <a:schemeClr val="tx1"/>
                          </a:solidFill>
                          <a:effectLst/>
                          <a:latin typeface="Times New Roman" pitchFamily="18" charset="0"/>
                          <a:ea typeface="华文中宋" pitchFamily="2" charset="-122"/>
                        </a:rPr>
                        <a:t>同时</a:t>
                      </a:r>
                    </a:p>
                  </a:txBody>
                  <a:tcPr marL="89991" marR="89991" marT="35152" marB="3515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不同时</a:t>
                      </a:r>
                    </a:p>
                  </a:txBody>
                  <a:tcPr marL="89991" marR="89991" marT="35152" marB="3515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不同时</a:t>
                      </a:r>
                    </a:p>
                  </a:txBody>
                  <a:tcPr marL="89991" marR="89991" marT="35152" marB="3515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1500" b="1" i="0" u="none" strike="noStrike" cap="none" normalizeH="0" baseline="0" dirty="0" smtClean="0">
                          <a:ln>
                            <a:noFill/>
                          </a:ln>
                          <a:solidFill>
                            <a:schemeClr val="tx1"/>
                          </a:solidFill>
                          <a:effectLst/>
                          <a:latin typeface="Times New Roman" pitchFamily="18" charset="0"/>
                          <a:ea typeface="华文中宋" pitchFamily="2" charset="-122"/>
                        </a:rPr>
                        <a:t>不能确定</a:t>
                      </a:r>
                    </a:p>
                  </a:txBody>
                  <a:tcPr marL="89991" marR="89991" marT="35152" marB="35152"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Object 3"/>
          <p:cNvGraphicFramePr>
            <a:graphicFrameLocks noChangeAspect="1"/>
          </p:cNvGraphicFramePr>
          <p:nvPr/>
        </p:nvGraphicFramePr>
        <p:xfrm>
          <a:off x="4572000" y="2573338"/>
          <a:ext cx="1247775" cy="476250"/>
        </p:xfrm>
        <a:graphic>
          <a:graphicData uri="http://schemas.openxmlformats.org/presentationml/2006/ole">
            <mc:AlternateContent xmlns:mc="http://schemas.openxmlformats.org/markup-compatibility/2006">
              <mc:Choice xmlns:v="urn:schemas-microsoft-com:vml" Requires="v">
                <p:oleObj spid="_x0000_s78878" name="Equation" r:id="rId3" imgW="583920" imgH="228600" progId="Equation.DSMT4">
                  <p:embed/>
                </p:oleObj>
              </mc:Choice>
              <mc:Fallback>
                <p:oleObj name="Equation" r:id="rId3" imgW="58392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573338"/>
                        <a:ext cx="1247775" cy="47625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4591050" y="3365500"/>
          <a:ext cx="1781175" cy="430213"/>
        </p:xfrm>
        <a:graphic>
          <a:graphicData uri="http://schemas.openxmlformats.org/presentationml/2006/ole">
            <mc:AlternateContent xmlns:mc="http://schemas.openxmlformats.org/markup-compatibility/2006">
              <mc:Choice xmlns:v="urn:schemas-microsoft-com:vml" Requires="v">
                <p:oleObj spid="_x0000_s78879" name="公式" r:id="rId5" imgW="914400" imgH="279400" progId="Equation.3">
                  <p:embed/>
                </p:oleObj>
              </mc:Choice>
              <mc:Fallback>
                <p:oleObj name="公式" r:id="rId5" imgW="914400" imgH="2794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1050" y="3365500"/>
                        <a:ext cx="1781175" cy="43021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026">
                                            <p:txEl>
                                              <p:pRg st="0" end="0"/>
                                            </p:txEl>
                                          </p:spTgt>
                                        </p:tgtEl>
                                        <p:attrNameLst>
                                          <p:attrName>style.visibility</p:attrName>
                                        </p:attrNameLst>
                                      </p:cBhvr>
                                      <p:to>
                                        <p:strVal val="visible"/>
                                      </p:to>
                                    </p:set>
                                    <p:animEffect transition="in" filter="wipe(left)">
                                      <p:cBhvr>
                                        <p:cTn id="7" dur="500"/>
                                        <p:tgtEl>
                                          <p:spTgt spid="2570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026">
                                            <p:txEl>
                                              <p:pRg st="1" end="1"/>
                                            </p:txEl>
                                          </p:spTgt>
                                        </p:tgtEl>
                                        <p:attrNameLst>
                                          <p:attrName>style.visibility</p:attrName>
                                        </p:attrNameLst>
                                      </p:cBhvr>
                                      <p:to>
                                        <p:strVal val="visible"/>
                                      </p:to>
                                    </p:set>
                                    <p:animEffect transition="in" filter="wipe(left)">
                                      <p:cBhvr>
                                        <p:cTn id="12" dur="500"/>
                                        <p:tgtEl>
                                          <p:spTgt spid="25702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4095"/>
                                        </p:tgtEl>
                                        <p:attrNameLst>
                                          <p:attrName>style.visibility</p:attrName>
                                        </p:attrNameLst>
                                      </p:cBhvr>
                                      <p:to>
                                        <p:strVal val="visible"/>
                                      </p:to>
                                    </p:set>
                                    <p:animEffect transition="in" filter="blinds(horizontal)">
                                      <p:cBhvr>
                                        <p:cTn id="17" dur="500"/>
                                        <p:tgtEl>
                                          <p:spTgt spid="3440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4070"/>
                                        </p:tgtEl>
                                        <p:attrNameLst>
                                          <p:attrName>style.visibility</p:attrName>
                                        </p:attrNameLst>
                                      </p:cBhvr>
                                      <p:to>
                                        <p:strVal val="visible"/>
                                      </p:to>
                                    </p:set>
                                    <p:animEffect transition="in" filter="blinds(horizontal)">
                                      <p:cBhvr>
                                        <p:cTn id="22" dur="500"/>
                                        <p:tgtEl>
                                          <p:spTgt spid="3440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ppt_w</p:attrName>
                                        </p:attrNameLst>
                                      </p:cBhvr>
                                      <p:tavLst>
                                        <p:tav tm="0">
                                          <p:val>
                                            <p:fltVal val="0"/>
                                          </p:val>
                                        </p:tav>
                                        <p:tav tm="100000">
                                          <p:val>
                                            <p:strVal val="#ppt_w"/>
                                          </p:val>
                                        </p:tav>
                                      </p:tavLst>
                                    </p:anim>
                                    <p:anim calcmode="lin" valueType="num">
                                      <p:cBhvr>
                                        <p:cTn id="2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44069"/>
                                        </p:tgtEl>
                                        <p:attrNameLst>
                                          <p:attrName>style.visibility</p:attrName>
                                        </p:attrNameLst>
                                      </p:cBhvr>
                                      <p:to>
                                        <p:strVal val="visible"/>
                                      </p:to>
                                    </p:set>
                                    <p:animEffect transition="in" filter="blinds(horizontal)">
                                      <p:cBhvr>
                                        <p:cTn id="33" dur="500"/>
                                        <p:tgtEl>
                                          <p:spTgt spid="34406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p:cTn id="38" dur="500" fill="hold"/>
                                        <p:tgtEl>
                                          <p:spTgt spid="5"/>
                                        </p:tgtEl>
                                        <p:attrNameLst>
                                          <p:attrName>ppt_w</p:attrName>
                                        </p:attrNameLst>
                                      </p:cBhvr>
                                      <p:tavLst>
                                        <p:tav tm="0">
                                          <p:val>
                                            <p:fltVal val="0"/>
                                          </p:val>
                                        </p:tav>
                                        <p:tav tm="100000">
                                          <p:val>
                                            <p:strVal val="#ppt_w"/>
                                          </p:val>
                                        </p:tav>
                                      </p:tavLst>
                                    </p:anim>
                                    <p:anim calcmode="lin" valueType="num">
                                      <p:cBhvr>
                                        <p:cTn id="39"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44071"/>
                                        </p:tgtEl>
                                        <p:attrNameLst>
                                          <p:attrName>style.visibility</p:attrName>
                                        </p:attrNameLst>
                                      </p:cBhvr>
                                      <p:to>
                                        <p:strVal val="visible"/>
                                      </p:to>
                                    </p:set>
                                    <p:animEffect transition="in" filter="blinds(horizontal)">
                                      <p:cBhvr>
                                        <p:cTn id="44" dur="500"/>
                                        <p:tgtEl>
                                          <p:spTgt spid="344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build="p" autoUpdateAnimBg="0"/>
      <p:bldP spid="344069" grpId="0" autoUpdateAnimBg="0"/>
      <p:bldP spid="344070" grpId="0" autoUpdateAnimBg="0"/>
      <p:bldP spid="344071" grpId="0"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6"/>
          <p:cNvSpPr txBox="1">
            <a:spLocks noChangeArrowheads="1"/>
          </p:cNvSpPr>
          <p:nvPr/>
        </p:nvSpPr>
        <p:spPr bwMode="auto">
          <a:xfrm>
            <a:off x="649288" y="947738"/>
            <a:ext cx="5130800" cy="400050"/>
          </a:xfrm>
          <a:prstGeom prst="rect">
            <a:avLst/>
          </a:prstGeom>
          <a:noFill/>
          <a:ln w="9525">
            <a:noFill/>
            <a:miter lim="800000"/>
            <a:headEnd/>
            <a:tailEnd/>
          </a:ln>
          <a:effectLst/>
        </p:spPr>
        <p:txBody>
          <a:bodyPr>
            <a:spAutoFit/>
          </a:bodyPr>
          <a:lstStyle/>
          <a:p>
            <a:pPr>
              <a:defRPr/>
            </a:pPr>
            <a:r>
              <a:rPr lang="zh-CN" altLang="en-US" sz="2000" dirty="0">
                <a:solidFill>
                  <a:srgbClr val="CC0000"/>
                </a:solidFill>
                <a:effectLst>
                  <a:outerShdw blurRad="38100" dist="38100" dir="2700000" algn="tl">
                    <a:srgbClr val="C0C0C0"/>
                  </a:outerShdw>
                </a:effectLst>
                <a:ea typeface="华文中宋" pitchFamily="2" charset="-122"/>
              </a:rPr>
              <a:t>四、狭义相对论动力学</a:t>
            </a:r>
            <a:endParaRPr lang="zh-CN" altLang="en-US" sz="2000" dirty="0">
              <a:solidFill>
                <a:srgbClr val="CC0000"/>
              </a:solidFill>
              <a:ea typeface="华文中宋" pitchFamily="2" charset="-122"/>
            </a:endParaRPr>
          </a:p>
        </p:txBody>
      </p:sp>
      <p:graphicFrame>
        <p:nvGraphicFramePr>
          <p:cNvPr id="7" name="Object 7"/>
          <p:cNvGraphicFramePr>
            <a:graphicFrameLocks noChangeAspect="1"/>
          </p:cNvGraphicFramePr>
          <p:nvPr/>
        </p:nvGraphicFramePr>
        <p:xfrm>
          <a:off x="4852988" y="1439863"/>
          <a:ext cx="1735137" cy="863600"/>
        </p:xfrm>
        <a:graphic>
          <a:graphicData uri="http://schemas.openxmlformats.org/presentationml/2006/ole">
            <mc:AlternateContent xmlns:mc="http://schemas.openxmlformats.org/markup-compatibility/2006">
              <mc:Choice xmlns:v="urn:schemas-microsoft-com:vml" Requires="v">
                <p:oleObj spid="_x0000_s79887" name="公式" r:id="rId3" imgW="850531" imgH="660113" progId="Equation.3">
                  <p:embed/>
                </p:oleObj>
              </mc:Choice>
              <mc:Fallback>
                <p:oleObj name="公式" r:id="rId3" imgW="850531" imgH="660113"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2988" y="1439863"/>
                        <a:ext cx="1735137" cy="863600"/>
                      </a:xfrm>
                      <a:prstGeom prst="rect">
                        <a:avLst/>
                      </a:prstGeom>
                      <a:noFill/>
                      <a:ln>
                        <a:noFill/>
                      </a:ln>
                      <a:effectLst/>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4787900" y="2357438"/>
          <a:ext cx="1844675" cy="925512"/>
        </p:xfrm>
        <a:graphic>
          <a:graphicData uri="http://schemas.openxmlformats.org/presentationml/2006/ole">
            <mc:AlternateContent xmlns:mc="http://schemas.openxmlformats.org/markup-compatibility/2006">
              <mc:Choice xmlns:v="urn:schemas-microsoft-com:vml" Requires="v">
                <p:oleObj spid="_x0000_s79888" name="公式" r:id="rId5" imgW="825500" imgH="647700" progId="Equation.3">
                  <p:embed/>
                </p:oleObj>
              </mc:Choice>
              <mc:Fallback>
                <p:oleObj name="公式" r:id="rId5" imgW="825500" imgH="6477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900" y="2357438"/>
                        <a:ext cx="1844675" cy="925512"/>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9"/>
          <p:cNvGraphicFramePr>
            <a:graphicFrameLocks noChangeAspect="1"/>
          </p:cNvGraphicFramePr>
          <p:nvPr/>
        </p:nvGraphicFramePr>
        <p:xfrm>
          <a:off x="4749800" y="3222625"/>
          <a:ext cx="2990850" cy="458788"/>
        </p:xfrm>
        <a:graphic>
          <a:graphicData uri="http://schemas.openxmlformats.org/presentationml/2006/ole">
            <mc:AlternateContent xmlns:mc="http://schemas.openxmlformats.org/markup-compatibility/2006">
              <mc:Choice xmlns:v="urn:schemas-microsoft-com:vml" Requires="v">
                <p:oleObj spid="_x0000_s79889" name="公式" r:id="rId7" imgW="990170" imgH="215806" progId="Equation.3">
                  <p:embed/>
                </p:oleObj>
              </mc:Choice>
              <mc:Fallback>
                <p:oleObj name="公式" r:id="rId7" imgW="990170" imgH="215806"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49800" y="3222625"/>
                        <a:ext cx="2990850" cy="458788"/>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0"/>
          <p:cNvGraphicFramePr>
            <a:graphicFrameLocks noChangeAspect="1"/>
          </p:cNvGraphicFramePr>
          <p:nvPr/>
        </p:nvGraphicFramePr>
        <p:xfrm>
          <a:off x="4775200" y="4048125"/>
          <a:ext cx="2244725" cy="395288"/>
        </p:xfrm>
        <a:graphic>
          <a:graphicData uri="http://schemas.openxmlformats.org/presentationml/2006/ole">
            <mc:AlternateContent xmlns:mc="http://schemas.openxmlformats.org/markup-compatibility/2006">
              <mc:Choice xmlns:v="urn:schemas-microsoft-com:vml" Requires="v">
                <p:oleObj spid="_x0000_s79890" name="公式" r:id="rId9" imgW="1028254" imgH="253890" progId="Equation.3">
                  <p:embed/>
                </p:oleObj>
              </mc:Choice>
              <mc:Fallback>
                <p:oleObj name="公式" r:id="rId9" imgW="1028254" imgH="25389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75200" y="4048125"/>
                        <a:ext cx="2244725" cy="395288"/>
                      </a:xfrm>
                      <a:prstGeom prst="rect">
                        <a:avLst/>
                      </a:prstGeom>
                      <a:noFill/>
                      <a:ln>
                        <a:noFill/>
                      </a:ln>
                      <a:effectLst/>
                      <a:extLst>
                        <a:ext uri="{909E8E84-426E-40DD-AFC4-6F175D3DCCD1}">
                          <a14:hiddenFill xmlns:a14="http://schemas.microsoft.com/office/drawing/2010/main">
                            <a:solidFill>
                              <a:srgbClr val="FF9933"/>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2028" name="Rectangle 12"/>
          <p:cNvSpPr>
            <a:spLocks noChangeArrowheads="1"/>
          </p:cNvSpPr>
          <p:nvPr/>
        </p:nvSpPr>
        <p:spPr bwMode="auto">
          <a:xfrm>
            <a:off x="1404938" y="1581150"/>
            <a:ext cx="2879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CN" altLang="en-US" sz="1800">
                <a:ea typeface="华文中宋" pitchFamily="2" charset="-122"/>
              </a:rPr>
              <a:t>１、质速关系：</a:t>
            </a:r>
          </a:p>
        </p:txBody>
      </p:sp>
      <p:sp>
        <p:nvSpPr>
          <p:cNvPr id="342029" name="Rectangle 13"/>
          <p:cNvSpPr>
            <a:spLocks noChangeArrowheads="1"/>
          </p:cNvSpPr>
          <p:nvPr/>
        </p:nvSpPr>
        <p:spPr bwMode="auto">
          <a:xfrm>
            <a:off x="1403350" y="2444750"/>
            <a:ext cx="2881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CN" altLang="en-US" sz="1800">
                <a:ea typeface="华文中宋" pitchFamily="2" charset="-122"/>
              </a:rPr>
              <a:t>２、动量定义：</a:t>
            </a:r>
          </a:p>
        </p:txBody>
      </p:sp>
      <p:sp>
        <p:nvSpPr>
          <p:cNvPr id="342030" name="Rectangle 14"/>
          <p:cNvSpPr>
            <a:spLocks noChangeArrowheads="1"/>
          </p:cNvSpPr>
          <p:nvPr/>
        </p:nvSpPr>
        <p:spPr bwMode="auto">
          <a:xfrm>
            <a:off x="1403350" y="3254375"/>
            <a:ext cx="2881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CN" altLang="en-US" sz="1800">
                <a:ea typeface="华文中宋" pitchFamily="2" charset="-122"/>
              </a:rPr>
              <a:t>３、质能关系：</a:t>
            </a:r>
          </a:p>
        </p:txBody>
      </p:sp>
      <p:sp>
        <p:nvSpPr>
          <p:cNvPr id="342031" name="Rectangle 15"/>
          <p:cNvSpPr>
            <a:spLocks noChangeArrowheads="1"/>
          </p:cNvSpPr>
          <p:nvPr/>
        </p:nvSpPr>
        <p:spPr bwMode="auto">
          <a:xfrm>
            <a:off x="1187450" y="4043363"/>
            <a:ext cx="37449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CN" altLang="en-US" sz="1800">
                <a:ea typeface="华文中宋" pitchFamily="2" charset="-122"/>
              </a:rPr>
              <a:t>４、动量能量关系：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2028"/>
                                        </p:tgtEl>
                                        <p:attrNameLst>
                                          <p:attrName>style.visibility</p:attrName>
                                        </p:attrNameLst>
                                      </p:cBhvr>
                                      <p:to>
                                        <p:strVal val="visible"/>
                                      </p:to>
                                    </p:set>
                                    <p:animEffect transition="in" filter="blinds(horizontal)">
                                      <p:cBhvr>
                                        <p:cTn id="12" dur="500"/>
                                        <p:tgtEl>
                                          <p:spTgt spid="3420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2029"/>
                                        </p:tgtEl>
                                        <p:attrNameLst>
                                          <p:attrName>style.visibility</p:attrName>
                                        </p:attrNameLst>
                                      </p:cBhvr>
                                      <p:to>
                                        <p:strVal val="visible"/>
                                      </p:to>
                                    </p:set>
                                    <p:animEffect transition="in" filter="blinds(horizontal)">
                                      <p:cBhvr>
                                        <p:cTn id="22" dur="500"/>
                                        <p:tgtEl>
                                          <p:spTgt spid="3420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42030"/>
                                        </p:tgtEl>
                                        <p:attrNameLst>
                                          <p:attrName>style.visibility</p:attrName>
                                        </p:attrNameLst>
                                      </p:cBhvr>
                                      <p:to>
                                        <p:strVal val="visible"/>
                                      </p:to>
                                    </p:set>
                                    <p:animEffect transition="in" filter="blinds(horizontal)">
                                      <p:cBhvr>
                                        <p:cTn id="32" dur="500"/>
                                        <p:tgtEl>
                                          <p:spTgt spid="3420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42031"/>
                                        </p:tgtEl>
                                        <p:attrNameLst>
                                          <p:attrName>style.visibility</p:attrName>
                                        </p:attrNameLst>
                                      </p:cBhvr>
                                      <p:to>
                                        <p:strVal val="visible"/>
                                      </p:to>
                                    </p:set>
                                    <p:animEffect transition="in" filter="blinds(horizontal)">
                                      <p:cBhvr>
                                        <p:cTn id="42" dur="500"/>
                                        <p:tgtEl>
                                          <p:spTgt spid="34203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42028" grpId="0"/>
      <p:bldP spid="342029" grpId="0"/>
      <p:bldP spid="342030" grpId="0"/>
      <p:bldP spid="342031" grpId="0"/>
    </p:bldLst>
  </p:timing>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9223</TotalTime>
  <Words>5407</Words>
  <Application>Microsoft Office PowerPoint</Application>
  <PresentationFormat>全屏显示(16:9)</PresentationFormat>
  <Paragraphs>608</Paragraphs>
  <Slides>69</Slides>
  <Notes>33</Notes>
  <HiddenSlides>0</HiddenSlides>
  <MMClips>2</MMClips>
  <ScaleCrop>false</ScaleCrop>
  <HeadingPairs>
    <vt:vector size="6" baseType="variant">
      <vt:variant>
        <vt:lpstr>主题</vt:lpstr>
      </vt:variant>
      <vt:variant>
        <vt:i4>1</vt:i4>
      </vt:variant>
      <vt:variant>
        <vt:lpstr>嵌入 OLE 服务器</vt:lpstr>
      </vt:variant>
      <vt:variant>
        <vt:i4>4</vt:i4>
      </vt:variant>
      <vt:variant>
        <vt:lpstr>幻灯片标题</vt:lpstr>
      </vt:variant>
      <vt:variant>
        <vt:i4>69</vt:i4>
      </vt:variant>
    </vt:vector>
  </HeadingPairs>
  <TitlesOfParts>
    <vt:vector size="74" baseType="lpstr">
      <vt:lpstr>1_自定义设计方案</vt:lpstr>
      <vt:lpstr>Equation</vt:lpstr>
      <vt:lpstr>公式</vt:lpstr>
      <vt:lpstr>剪辑</vt:lpstr>
      <vt:lpstr>Photo Editor 照片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fxn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胡柯</dc:creator>
  <cp:lastModifiedBy>Alex</cp:lastModifiedBy>
  <cp:revision>243</cp:revision>
  <dcterms:created xsi:type="dcterms:W3CDTF">2002-04-19T13:42:26Z</dcterms:created>
  <dcterms:modified xsi:type="dcterms:W3CDTF">2018-02-23T02:45:01Z</dcterms:modified>
</cp:coreProperties>
</file>