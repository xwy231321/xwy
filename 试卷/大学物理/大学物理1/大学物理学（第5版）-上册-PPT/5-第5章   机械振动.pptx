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386" r:id="rId2"/>
    <p:sldId id="387" r:id="rId3"/>
    <p:sldId id="388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369" r:id="rId26"/>
    <p:sldId id="370" r:id="rId27"/>
    <p:sldId id="290" r:id="rId28"/>
    <p:sldId id="351" r:id="rId29"/>
    <p:sldId id="291" r:id="rId30"/>
    <p:sldId id="371" r:id="rId31"/>
    <p:sldId id="295" r:id="rId32"/>
    <p:sldId id="296" r:id="rId33"/>
    <p:sldId id="297" r:id="rId34"/>
    <p:sldId id="372" r:id="rId35"/>
    <p:sldId id="292" r:id="rId36"/>
    <p:sldId id="373" r:id="rId37"/>
    <p:sldId id="374" r:id="rId38"/>
    <p:sldId id="306" r:id="rId39"/>
    <p:sldId id="375" r:id="rId40"/>
    <p:sldId id="376" r:id="rId41"/>
    <p:sldId id="309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itchFamily="18" charset="0"/>
        <a:ea typeface="黑体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0000FF"/>
    <a:srgbClr val="FF0000"/>
    <a:srgbClr val="0033CC"/>
    <a:srgbClr val="009900"/>
    <a:srgbClr val="33CC33"/>
    <a:srgbClr val="0080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62" autoAdjust="0"/>
    <p:restoredTop sz="94699" autoAdjust="0"/>
  </p:normalViewPr>
  <p:slideViewPr>
    <p:cSldViewPr>
      <p:cViewPr varScale="1">
        <p:scale>
          <a:sx n="116" d="100"/>
          <a:sy n="116" d="100"/>
        </p:scale>
        <p:origin x="-787" y="-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e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3.e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22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5" Type="http://schemas.openxmlformats.org/officeDocument/2006/relationships/image" Target="../media/image2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Relationship Id="rId1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31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24.wmf"/><Relationship Id="rId5" Type="http://schemas.openxmlformats.org/officeDocument/2006/relationships/image" Target="../media/image30.emf"/><Relationship Id="rId4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5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49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11" Type="http://schemas.openxmlformats.org/officeDocument/2006/relationships/image" Target="../media/image76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49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49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7" Type="http://schemas.openxmlformats.org/officeDocument/2006/relationships/image" Target="../media/image135.wmf"/><Relationship Id="rId2" Type="http://schemas.openxmlformats.org/officeDocument/2006/relationships/image" Target="../media/image131.wmf"/><Relationship Id="rId1" Type="http://schemas.openxmlformats.org/officeDocument/2006/relationships/image" Target="../media/image130.wmf"/><Relationship Id="rId6" Type="http://schemas.openxmlformats.org/officeDocument/2006/relationships/image" Target="../media/image49.wmf"/><Relationship Id="rId5" Type="http://schemas.openxmlformats.org/officeDocument/2006/relationships/image" Target="../media/image134.wmf"/><Relationship Id="rId4" Type="http://schemas.openxmlformats.org/officeDocument/2006/relationships/image" Target="../media/image13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5" Type="http://schemas.openxmlformats.org/officeDocument/2006/relationships/image" Target="../media/image145.wmf"/><Relationship Id="rId4" Type="http://schemas.openxmlformats.org/officeDocument/2006/relationships/image" Target="../media/image14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emf"/><Relationship Id="rId5" Type="http://schemas.openxmlformats.org/officeDocument/2006/relationships/image" Target="../media/image152.wmf"/><Relationship Id="rId4" Type="http://schemas.openxmlformats.org/officeDocument/2006/relationships/image" Target="../media/image151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9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10" Type="http://schemas.openxmlformats.org/officeDocument/2006/relationships/image" Target="../media/image162.wmf"/><Relationship Id="rId4" Type="http://schemas.openxmlformats.org/officeDocument/2006/relationships/image" Target="../media/image156.wmf"/><Relationship Id="rId9" Type="http://schemas.openxmlformats.org/officeDocument/2006/relationships/image" Target="../media/image16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4" Type="http://schemas.openxmlformats.org/officeDocument/2006/relationships/image" Target="../media/image17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" Type="http://schemas.openxmlformats.org/officeDocument/2006/relationships/image" Target="../media/image172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Relationship Id="rId9" Type="http://schemas.openxmlformats.org/officeDocument/2006/relationships/image" Target="../media/image186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3" Type="http://schemas.openxmlformats.org/officeDocument/2006/relationships/image" Target="../media/image189.wmf"/><Relationship Id="rId7" Type="http://schemas.openxmlformats.org/officeDocument/2006/relationships/image" Target="../media/image172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10" Type="http://schemas.openxmlformats.org/officeDocument/2006/relationships/image" Target="../media/image195.wmf"/><Relationship Id="rId4" Type="http://schemas.openxmlformats.org/officeDocument/2006/relationships/image" Target="../media/image190.wmf"/><Relationship Id="rId9" Type="http://schemas.openxmlformats.org/officeDocument/2006/relationships/image" Target="../media/image19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5" Type="http://schemas.openxmlformats.org/officeDocument/2006/relationships/image" Target="../media/image200.wmf"/><Relationship Id="rId4" Type="http://schemas.openxmlformats.org/officeDocument/2006/relationships/image" Target="../media/image19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12.wmf"/><Relationship Id="rId1" Type="http://schemas.openxmlformats.org/officeDocument/2006/relationships/image" Target="../media/image211.wmf"/><Relationship Id="rId5" Type="http://schemas.openxmlformats.org/officeDocument/2006/relationships/image" Target="../media/image215.wmf"/><Relationship Id="rId4" Type="http://schemas.openxmlformats.org/officeDocument/2006/relationships/image" Target="../media/image21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wmf"/><Relationship Id="rId2" Type="http://schemas.openxmlformats.org/officeDocument/2006/relationships/image" Target="../media/image230.wmf"/><Relationship Id="rId1" Type="http://schemas.openxmlformats.org/officeDocument/2006/relationships/image" Target="../media/image229.wmf"/><Relationship Id="rId4" Type="http://schemas.openxmlformats.org/officeDocument/2006/relationships/image" Target="../media/image232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wmf"/><Relationship Id="rId2" Type="http://schemas.openxmlformats.org/officeDocument/2006/relationships/image" Target="../media/image234.wmf"/><Relationship Id="rId1" Type="http://schemas.openxmlformats.org/officeDocument/2006/relationships/image" Target="../media/image233.wmf"/><Relationship Id="rId6" Type="http://schemas.openxmlformats.org/officeDocument/2006/relationships/image" Target="../media/image238.wmf"/><Relationship Id="rId5" Type="http://schemas.openxmlformats.org/officeDocument/2006/relationships/image" Target="../media/image237.wmf"/><Relationship Id="rId4" Type="http://schemas.openxmlformats.org/officeDocument/2006/relationships/image" Target="../media/image236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42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250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Relationship Id="rId4" Type="http://schemas.openxmlformats.org/officeDocument/2006/relationships/image" Target="../media/image254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wmf"/><Relationship Id="rId1" Type="http://schemas.openxmlformats.org/officeDocument/2006/relationships/image" Target="../media/image255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4" Type="http://schemas.openxmlformats.org/officeDocument/2006/relationships/image" Target="../media/image260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wmf"/><Relationship Id="rId2" Type="http://schemas.openxmlformats.org/officeDocument/2006/relationships/image" Target="../media/image262.wmf"/><Relationship Id="rId1" Type="http://schemas.openxmlformats.org/officeDocument/2006/relationships/image" Target="../media/image261.wmf"/><Relationship Id="rId5" Type="http://schemas.openxmlformats.org/officeDocument/2006/relationships/image" Target="../media/image265.wmf"/><Relationship Id="rId4" Type="http://schemas.openxmlformats.org/officeDocument/2006/relationships/image" Target="../media/image264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宋体" pitchFamily="2" charset="-122"/>
              </a:defRPr>
            </a:lvl1pPr>
          </a:lstStyle>
          <a:p>
            <a:pPr>
              <a:defRPr/>
            </a:pPr>
            <a:fld id="{901D90C5-4685-4ABC-9494-07533AB296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26688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fld id="{87596D47-147A-4ECD-8E5C-57F5A37A0716}" type="slidenum">
              <a:rPr lang="en-US" altLang="zh-CN" sz="1200" b="0" smtClean="0">
                <a:solidFill>
                  <a:srgbClr val="000000"/>
                </a:solidFill>
                <a:ea typeface="宋体" pitchFamily="2" charset="-122"/>
              </a:rPr>
              <a:pPr eaLnBrk="1" hangingPunct="1"/>
              <a:t>23</a:t>
            </a:fld>
            <a:endParaRPr lang="en-US" altLang="zh-CN" sz="1200" b="0" smtClean="0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6732588" y="261938"/>
            <a:ext cx="22717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2400" dirty="0" smtClean="0">
                <a:solidFill>
                  <a:prstClr val="white"/>
                </a:solidFill>
              </a:rPr>
              <a:t>第</a:t>
            </a:r>
            <a:r>
              <a:rPr lang="en-US" altLang="zh-CN" sz="2400" dirty="0" smtClean="0">
                <a:solidFill>
                  <a:prstClr val="white"/>
                </a:solidFill>
              </a:rPr>
              <a:t>5</a:t>
            </a:r>
            <a:r>
              <a:rPr lang="zh-CN" altLang="en-US" sz="2400" dirty="0" smtClean="0">
                <a:solidFill>
                  <a:prstClr val="white"/>
                </a:solidFill>
              </a:rPr>
              <a:t>章 机械振动</a:t>
            </a:r>
            <a:endParaRPr lang="zh-CN" alt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195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5867400" y="268288"/>
            <a:ext cx="31686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§5- 1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简谐振动的动力学</a:t>
            </a:r>
          </a:p>
        </p:txBody>
      </p:sp>
    </p:spTree>
    <p:extLst>
      <p:ext uri="{BB962C8B-B14F-4D97-AF65-F5344CB8AC3E}">
        <p14:creationId xmlns:p14="http://schemas.microsoft.com/office/powerpoint/2010/main" val="245158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6227763" y="320675"/>
            <a:ext cx="280828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18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§5- 2  </a:t>
            </a:r>
            <a:r>
              <a:rPr lang="zh-CN" altLang="en-US" sz="18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简谐振动的运动学</a:t>
            </a:r>
          </a:p>
        </p:txBody>
      </p:sp>
    </p:spTree>
    <p:extLst>
      <p:ext uri="{BB962C8B-B14F-4D97-AF65-F5344CB8AC3E}">
        <p14:creationId xmlns:p14="http://schemas.microsoft.com/office/powerpoint/2010/main" val="277207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6192838" y="339725"/>
            <a:ext cx="2808287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§5- 3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简谐振动的能量</a:t>
            </a:r>
          </a:p>
        </p:txBody>
      </p:sp>
    </p:spTree>
    <p:extLst>
      <p:ext uri="{BB962C8B-B14F-4D97-AF65-F5344CB8AC3E}">
        <p14:creationId xmlns:p14="http://schemas.microsoft.com/office/powerpoint/2010/main" val="1591093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6156325" y="325438"/>
            <a:ext cx="2879725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§5- 4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简谐振动的合成</a:t>
            </a:r>
          </a:p>
        </p:txBody>
      </p:sp>
    </p:spTree>
    <p:extLst>
      <p:ext uri="{BB962C8B-B14F-4D97-AF65-F5344CB8AC3E}">
        <p14:creationId xmlns:p14="http://schemas.microsoft.com/office/powerpoint/2010/main" val="347023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5219700" y="325438"/>
            <a:ext cx="3816350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§5- 5  </a:t>
            </a: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阻尼振动 受迫振动 共振 </a:t>
            </a:r>
          </a:p>
        </p:txBody>
      </p:sp>
    </p:spTree>
    <p:extLst>
      <p:ext uri="{BB962C8B-B14F-4D97-AF65-F5344CB8AC3E}">
        <p14:creationId xmlns:p14="http://schemas.microsoft.com/office/powerpoint/2010/main" val="313927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/>
          <p:cNvSpPr>
            <a:spLocks noChangeArrowheads="1"/>
          </p:cNvSpPr>
          <p:nvPr userDrawn="1"/>
        </p:nvSpPr>
        <p:spPr bwMode="auto">
          <a:xfrm>
            <a:off x="7812088" y="325438"/>
            <a:ext cx="1223962" cy="44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000">
                <a:solidFill>
                  <a:srgbClr val="FFFFFF"/>
                </a:solidFill>
                <a:ea typeface="华文中宋" pitchFamily="2" charset="-122"/>
                <a:cs typeface="Times New Roman" pitchFamily="18" charset="0"/>
              </a:rPr>
              <a:t>本章小结</a:t>
            </a:r>
          </a:p>
        </p:txBody>
      </p:sp>
    </p:spTree>
    <p:extLst>
      <p:ext uri="{BB962C8B-B14F-4D97-AF65-F5344CB8AC3E}">
        <p14:creationId xmlns:p14="http://schemas.microsoft.com/office/powerpoint/2010/main" val="2504854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 bwMode="auto">
      <p:bgPr>
        <a:gradFill rotWithShape="0">
          <a:gsLst>
            <a:gs pos="0">
              <a:srgbClr val="DDEBCF"/>
            </a:gs>
            <a:gs pos="100000">
              <a:srgbClr val="9CB86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807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97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0-0-&#24635;&#30446;&#24405;.pptx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58A28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-11113" y="-30163"/>
            <a:ext cx="9164638" cy="881063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itchFamily="34" charset="0"/>
              <a:buNone/>
              <a:defRPr/>
            </a:pPr>
            <a:endParaRPr lang="zh-CN" altLang="en-US" b="0" noProof="1">
              <a:solidFill>
                <a:prstClr val="white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42875" y="771525"/>
            <a:ext cx="8856663" cy="0"/>
          </a:xfrm>
          <a:prstGeom prst="line">
            <a:avLst/>
          </a:prstGeom>
          <a:ln w="31750">
            <a:solidFill>
              <a:schemeClr val="bg1">
                <a:alpha val="2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图片 10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85725"/>
            <a:ext cx="525463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TextBox 11"/>
          <p:cNvSpPr txBox="1">
            <a:spLocks noChangeArrowheads="1"/>
          </p:cNvSpPr>
          <p:nvPr userDrawn="1"/>
        </p:nvSpPr>
        <p:spPr bwMode="auto">
          <a:xfrm>
            <a:off x="1246188" y="411163"/>
            <a:ext cx="23796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1800" b="0" dirty="0" smtClean="0">
                <a:solidFill>
                  <a:prstClr val="white"/>
                </a:solidFill>
                <a:latin typeface="Calibri" pitchFamily="34" charset="0"/>
              </a:rPr>
              <a:t>大学物理学（第</a:t>
            </a:r>
            <a:r>
              <a:rPr lang="en-US" altLang="zh-CN" sz="1800" b="0" dirty="0" smtClean="0">
                <a:solidFill>
                  <a:prstClr val="white"/>
                </a:solidFill>
                <a:latin typeface="Calibri" pitchFamily="34" charset="0"/>
              </a:rPr>
              <a:t>5</a:t>
            </a:r>
            <a:r>
              <a:rPr lang="zh-CN" altLang="en-US" sz="1800" b="0" dirty="0" smtClean="0">
                <a:solidFill>
                  <a:prstClr val="white"/>
                </a:solidFill>
                <a:latin typeface="Calibri" pitchFamily="34" charset="0"/>
              </a:rPr>
              <a:t>版）</a:t>
            </a:r>
            <a:endParaRPr lang="zh-CN" altLang="en-US" sz="1800" b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30" name="TextBox 12"/>
          <p:cNvSpPr txBox="1">
            <a:spLocks noChangeArrowheads="1"/>
          </p:cNvSpPr>
          <p:nvPr userDrawn="1"/>
        </p:nvSpPr>
        <p:spPr bwMode="auto">
          <a:xfrm>
            <a:off x="827088" y="134938"/>
            <a:ext cx="3775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zh-CN" altLang="en-US" sz="1400" b="0" dirty="0">
                <a:solidFill>
                  <a:prstClr val="white"/>
                </a:solidFill>
                <a:latin typeface="华文楷体" pitchFamily="2" charset="-122"/>
                <a:ea typeface="华文楷体" pitchFamily="2" charset="-122"/>
              </a:rPr>
              <a:t>“十二五”普通高等教育本科国家级规划教材</a:t>
            </a:r>
          </a:p>
        </p:txBody>
      </p:sp>
      <p:sp>
        <p:nvSpPr>
          <p:cNvPr id="2" name="矩形 1"/>
          <p:cNvSpPr/>
          <p:nvPr userDrawn="1"/>
        </p:nvSpPr>
        <p:spPr>
          <a:xfrm>
            <a:off x="9525" y="850900"/>
            <a:ext cx="9123363" cy="3743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Arial" pitchFamily="34" charset="0"/>
              <a:buNone/>
              <a:defRPr/>
            </a:pPr>
            <a:endParaRPr lang="zh-CN" altLang="en-US" b="0" noProof="1">
              <a:solidFill>
                <a:prstClr val="white"/>
              </a:solidFill>
            </a:endParaRPr>
          </a:p>
        </p:txBody>
      </p:sp>
      <p:sp>
        <p:nvSpPr>
          <p:cNvPr id="28" name="矩形 27">
            <a:hlinkClick r:id="" action="ppaction://hlinkshowjump?jump=previousslide"/>
          </p:cNvPr>
          <p:cNvSpPr/>
          <p:nvPr userDrawn="1"/>
        </p:nvSpPr>
        <p:spPr>
          <a:xfrm>
            <a:off x="7532688" y="4732338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29" name="矩形 28">
            <a:hlinkClick r:id="" action="ppaction://hlinkshowjump?jump=nextslide"/>
          </p:cNvPr>
          <p:cNvSpPr/>
          <p:nvPr userDrawn="1"/>
        </p:nvSpPr>
        <p:spPr>
          <a:xfrm>
            <a:off x="8324850" y="4730750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30" name="矩形 29">
            <a:hlinkClick r:id="" action="ppaction://hlinkshowjump?jump=firstslide"/>
          </p:cNvPr>
          <p:cNvSpPr/>
          <p:nvPr userDrawn="1"/>
        </p:nvSpPr>
        <p:spPr>
          <a:xfrm>
            <a:off x="6740525" y="4732338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5" name="矩形 16">
            <a:hlinkClick r:id="" action="ppaction://hlinkshowjump?jump=nextslide"/>
          </p:cNvPr>
          <p:cNvSpPr>
            <a:spLocks noChangeArrowheads="1"/>
          </p:cNvSpPr>
          <p:nvPr userDrawn="1"/>
        </p:nvSpPr>
        <p:spPr bwMode="auto">
          <a:xfrm>
            <a:off x="8361363" y="4732338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下一页</a:t>
            </a:r>
          </a:p>
        </p:txBody>
      </p:sp>
      <p:sp>
        <p:nvSpPr>
          <p:cNvPr id="1036" name="矩形 30">
            <a:hlinkClick r:id="" action="ppaction://hlinkshowjump?jump=previousslide"/>
          </p:cNvPr>
          <p:cNvSpPr>
            <a:spLocks noChangeArrowheads="1"/>
          </p:cNvSpPr>
          <p:nvPr userDrawn="1"/>
        </p:nvSpPr>
        <p:spPr bwMode="auto">
          <a:xfrm>
            <a:off x="7539038" y="4732338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上一页</a:t>
            </a:r>
          </a:p>
        </p:txBody>
      </p:sp>
      <p:sp>
        <p:nvSpPr>
          <p:cNvPr id="1037" name="矩形 1024">
            <a:hlinkClick r:id="" action="ppaction://hlinkshowjump?jump=firstslide"/>
          </p:cNvPr>
          <p:cNvSpPr>
            <a:spLocks noChangeArrowheads="1"/>
          </p:cNvSpPr>
          <p:nvPr userDrawn="1"/>
        </p:nvSpPr>
        <p:spPr bwMode="auto">
          <a:xfrm>
            <a:off x="6767513" y="4727575"/>
            <a:ext cx="684212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节目录</a:t>
            </a:r>
          </a:p>
        </p:txBody>
      </p:sp>
      <p:sp>
        <p:nvSpPr>
          <p:cNvPr id="38" name="矩形 37">
            <a:hlinkClick r:id="rId12" action="ppaction://hlinkpres?slideindex=1&amp;slidetitle="/>
          </p:cNvPr>
          <p:cNvSpPr/>
          <p:nvPr userDrawn="1"/>
        </p:nvSpPr>
        <p:spPr>
          <a:xfrm>
            <a:off x="5938838" y="4730750"/>
            <a:ext cx="720725" cy="288925"/>
          </a:xfrm>
          <a:prstGeom prst="rect">
            <a:avLst/>
          </a:prstGeom>
          <a:solidFill>
            <a:srgbClr val="58A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 sz="1300" b="0" dirty="0">
              <a:solidFill>
                <a:prstClr val="white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039" name="矩形 36">
            <a:hlinkClick r:id="rId12" action="ppaction://hlinkpres?slideindex=1&amp;slidetitle="/>
          </p:cNvPr>
          <p:cNvSpPr>
            <a:spLocks noChangeArrowheads="1"/>
          </p:cNvSpPr>
          <p:nvPr userDrawn="1"/>
        </p:nvSpPr>
        <p:spPr bwMode="auto">
          <a:xfrm>
            <a:off x="5938838" y="4732338"/>
            <a:ext cx="68580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1300" b="0" dirty="0">
                <a:solidFill>
                  <a:srgbClr val="FFFFFF"/>
                </a:solidFill>
                <a:latin typeface="方正舒体" pitchFamily="2" charset="-122"/>
                <a:ea typeface="方正舒体" pitchFamily="2" charset="-122"/>
              </a:rPr>
              <a:t>章目录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78" r:id="rId9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audio" Target="../media/audio1.wav"/><Relationship Id="rId7" Type="http://schemas.openxmlformats.org/officeDocument/2006/relationships/slide" Target="slide3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9.xml"/><Relationship Id="rId5" Type="http://schemas.openxmlformats.org/officeDocument/2006/relationships/slide" Target="slide31.xml"/><Relationship Id="rId4" Type="http://schemas.openxmlformats.org/officeDocument/2006/relationships/slide" Target="slide13.xml"/><Relationship Id="rId9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audio" Target="../media/audio2.wav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image" Target="../media/image2.gi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audio" Target="../media/audio1.wav"/><Relationship Id="rId21" Type="http://schemas.openxmlformats.org/officeDocument/2006/relationships/image" Target="../media/image18.wmf"/><Relationship Id="rId34" Type="http://schemas.openxmlformats.org/officeDocument/2006/relationships/oleObject" Target="../embeddings/oleObject22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6.wmf"/><Relationship Id="rId25" Type="http://schemas.openxmlformats.org/officeDocument/2006/relationships/image" Target="../media/image20.wmf"/><Relationship Id="rId33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17.bin"/><Relationship Id="rId32" Type="http://schemas.openxmlformats.org/officeDocument/2006/relationships/oleObject" Target="../embeddings/oleObject21.bin"/><Relationship Id="rId5" Type="http://schemas.openxmlformats.org/officeDocument/2006/relationships/audio" Target="../media/audio2.wav"/><Relationship Id="rId15" Type="http://schemas.openxmlformats.org/officeDocument/2006/relationships/image" Target="../media/image15.wmf"/><Relationship Id="rId23" Type="http://schemas.openxmlformats.org/officeDocument/2006/relationships/image" Target="../media/image19.wmf"/><Relationship Id="rId28" Type="http://schemas.openxmlformats.org/officeDocument/2006/relationships/oleObject" Target="../embeddings/oleObject19.bin"/><Relationship Id="rId36" Type="http://schemas.openxmlformats.org/officeDocument/2006/relationships/image" Target="../media/image26.gif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7.wmf"/><Relationship Id="rId31" Type="http://schemas.openxmlformats.org/officeDocument/2006/relationships/image" Target="../media/image23.emf"/><Relationship Id="rId4" Type="http://schemas.openxmlformats.org/officeDocument/2006/relationships/audio" Target="../media/audio3.wav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21.wmf"/><Relationship Id="rId30" Type="http://schemas.openxmlformats.org/officeDocument/2006/relationships/oleObject" Target="../embeddings/oleObject20.bin"/><Relationship Id="rId35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9.wmf"/><Relationship Id="rId18" Type="http://schemas.openxmlformats.org/officeDocument/2006/relationships/oleObject" Target="../embeddings/oleObject29.bin"/><Relationship Id="rId3" Type="http://schemas.openxmlformats.org/officeDocument/2006/relationships/audio" Target="../media/audio3.wav"/><Relationship Id="rId21" Type="http://schemas.openxmlformats.org/officeDocument/2006/relationships/image" Target="../media/image33.gi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8.bin"/><Relationship Id="rId20" Type="http://schemas.openxmlformats.org/officeDocument/2006/relationships/image" Target="../media/image32.jpe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19.wmf"/><Relationship Id="rId5" Type="http://schemas.openxmlformats.org/officeDocument/2006/relationships/audio" Target="../media/audio2.wav"/><Relationship Id="rId15" Type="http://schemas.openxmlformats.org/officeDocument/2006/relationships/image" Target="../media/image30.e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1.wmf"/><Relationship Id="rId4" Type="http://schemas.openxmlformats.org/officeDocument/2006/relationships/audio" Target="../media/audio1.wav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27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8.wmf"/><Relationship Id="rId3" Type="http://schemas.openxmlformats.org/officeDocument/2006/relationships/audio" Target="../media/audio1.wav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46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44.bin"/><Relationship Id="rId4" Type="http://schemas.openxmlformats.org/officeDocument/2006/relationships/audio" Target="../media/audio1.wav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4.wmf"/><Relationship Id="rId26" Type="http://schemas.openxmlformats.org/officeDocument/2006/relationships/image" Target="../media/image58.wmf"/><Relationship Id="rId3" Type="http://schemas.openxmlformats.org/officeDocument/2006/relationships/audio" Target="../media/audio1.wav"/><Relationship Id="rId21" Type="http://schemas.openxmlformats.org/officeDocument/2006/relationships/oleObject" Target="../embeddings/oleObject53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5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3.wmf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8.bin"/><Relationship Id="rId24" Type="http://schemas.openxmlformats.org/officeDocument/2006/relationships/image" Target="../media/image57.wmf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4.bin"/><Relationship Id="rId28" Type="http://schemas.openxmlformats.org/officeDocument/2006/relationships/image" Target="../media/image59.wmf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52.bin"/><Relationship Id="rId4" Type="http://schemas.openxmlformats.org/officeDocument/2006/relationships/audio" Target="../media/audio3.wav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2.wmf"/><Relationship Id="rId22" Type="http://schemas.openxmlformats.org/officeDocument/2006/relationships/image" Target="../media/image56.wmf"/><Relationship Id="rId27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5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2.wmf"/><Relationship Id="rId4" Type="http://schemas.openxmlformats.org/officeDocument/2006/relationships/audio" Target="../media/audio4.wav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72.wmf"/><Relationship Id="rId26" Type="http://schemas.openxmlformats.org/officeDocument/2006/relationships/image" Target="../media/image76.wmf"/><Relationship Id="rId3" Type="http://schemas.openxmlformats.org/officeDocument/2006/relationships/audio" Target="../media/audio4.wav"/><Relationship Id="rId21" Type="http://schemas.openxmlformats.org/officeDocument/2006/relationships/oleObject" Target="../embeddings/oleObject72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0.bin"/><Relationship Id="rId25" Type="http://schemas.openxmlformats.org/officeDocument/2006/relationships/oleObject" Target="../embeddings/oleObject74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7.bin"/><Relationship Id="rId24" Type="http://schemas.openxmlformats.org/officeDocument/2006/relationships/image" Target="../media/image75.wmf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23" Type="http://schemas.openxmlformats.org/officeDocument/2006/relationships/oleObject" Target="../embeddings/oleObject73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1.bin"/><Relationship Id="rId4" Type="http://schemas.openxmlformats.org/officeDocument/2006/relationships/audio" Target="../media/audio1.wav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2.bin"/><Relationship Id="rId3" Type="http://schemas.openxmlformats.org/officeDocument/2006/relationships/audio" Target="../media/audio1.wav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83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81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10" Type="http://schemas.openxmlformats.org/officeDocument/2006/relationships/oleObject" Target="../embeddings/oleObject78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75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0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87.wmf"/><Relationship Id="rId18" Type="http://schemas.openxmlformats.org/officeDocument/2006/relationships/oleObject" Target="../embeddings/oleObject92.bin"/><Relationship Id="rId26" Type="http://schemas.openxmlformats.org/officeDocument/2006/relationships/oleObject" Target="../embeddings/oleObject96.bin"/><Relationship Id="rId3" Type="http://schemas.openxmlformats.org/officeDocument/2006/relationships/audio" Target="../media/audio1.wav"/><Relationship Id="rId21" Type="http://schemas.openxmlformats.org/officeDocument/2006/relationships/image" Target="../media/image91.wmf"/><Relationship Id="rId7" Type="http://schemas.openxmlformats.org/officeDocument/2006/relationships/oleObject" Target="../embeddings/oleObject85.bin"/><Relationship Id="rId12" Type="http://schemas.openxmlformats.org/officeDocument/2006/relationships/oleObject" Target="../embeddings/oleObject89.bin"/><Relationship Id="rId17" Type="http://schemas.openxmlformats.org/officeDocument/2006/relationships/image" Target="../media/image89.wmf"/><Relationship Id="rId25" Type="http://schemas.openxmlformats.org/officeDocument/2006/relationships/image" Target="../media/image93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91.bin"/><Relationship Id="rId20" Type="http://schemas.openxmlformats.org/officeDocument/2006/relationships/oleObject" Target="../embeddings/oleObject93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6.wmf"/><Relationship Id="rId24" Type="http://schemas.openxmlformats.org/officeDocument/2006/relationships/oleObject" Target="../embeddings/oleObject95.bin"/><Relationship Id="rId5" Type="http://schemas.openxmlformats.org/officeDocument/2006/relationships/image" Target="../media/image85.wmf"/><Relationship Id="rId15" Type="http://schemas.openxmlformats.org/officeDocument/2006/relationships/image" Target="../media/image88.wmf"/><Relationship Id="rId23" Type="http://schemas.openxmlformats.org/officeDocument/2006/relationships/image" Target="../media/image92.wmf"/><Relationship Id="rId10" Type="http://schemas.openxmlformats.org/officeDocument/2006/relationships/oleObject" Target="../embeddings/oleObject88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83.bin"/><Relationship Id="rId9" Type="http://schemas.openxmlformats.org/officeDocument/2006/relationships/oleObject" Target="../embeddings/oleObject87.bin"/><Relationship Id="rId14" Type="http://schemas.openxmlformats.org/officeDocument/2006/relationships/oleObject" Target="../embeddings/oleObject90.bin"/><Relationship Id="rId22" Type="http://schemas.openxmlformats.org/officeDocument/2006/relationships/oleObject" Target="../embeddings/oleObject94.bin"/><Relationship Id="rId27" Type="http://schemas.openxmlformats.org/officeDocument/2006/relationships/image" Target="../media/image9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0" Type="http://schemas.openxmlformats.org/officeDocument/2006/relationships/image" Target="../media/image97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13" Type="http://schemas.openxmlformats.org/officeDocument/2006/relationships/image" Target="../media/image102.wmf"/><Relationship Id="rId18" Type="http://schemas.openxmlformats.org/officeDocument/2006/relationships/oleObject" Target="../embeddings/oleObject109.bin"/><Relationship Id="rId3" Type="http://schemas.openxmlformats.org/officeDocument/2006/relationships/audio" Target="../media/audio3.wav"/><Relationship Id="rId21" Type="http://schemas.openxmlformats.org/officeDocument/2006/relationships/image" Target="../media/image106.wmf"/><Relationship Id="rId7" Type="http://schemas.openxmlformats.org/officeDocument/2006/relationships/image" Target="../media/image99.wmf"/><Relationship Id="rId12" Type="http://schemas.openxmlformats.org/officeDocument/2006/relationships/oleObject" Target="../embeddings/oleObject106.bin"/><Relationship Id="rId17" Type="http://schemas.openxmlformats.org/officeDocument/2006/relationships/image" Target="../media/image104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108.bin"/><Relationship Id="rId20" Type="http://schemas.openxmlformats.org/officeDocument/2006/relationships/oleObject" Target="../embeddings/oleObject110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1.wmf"/><Relationship Id="rId5" Type="http://schemas.openxmlformats.org/officeDocument/2006/relationships/image" Target="../media/image49.wmf"/><Relationship Id="rId15" Type="http://schemas.openxmlformats.org/officeDocument/2006/relationships/image" Target="../media/image103.wmf"/><Relationship Id="rId23" Type="http://schemas.openxmlformats.org/officeDocument/2006/relationships/image" Target="../media/image107.wmf"/><Relationship Id="rId10" Type="http://schemas.openxmlformats.org/officeDocument/2006/relationships/oleObject" Target="../embeddings/oleObject105.bin"/><Relationship Id="rId19" Type="http://schemas.openxmlformats.org/officeDocument/2006/relationships/image" Target="../media/image105.w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0.wmf"/><Relationship Id="rId14" Type="http://schemas.openxmlformats.org/officeDocument/2006/relationships/oleObject" Target="../embeddings/oleObject107.bin"/><Relationship Id="rId22" Type="http://schemas.openxmlformats.org/officeDocument/2006/relationships/oleObject" Target="../embeddings/oleObject11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7.bin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10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20.wmf"/><Relationship Id="rId3" Type="http://schemas.openxmlformats.org/officeDocument/2006/relationships/audio" Target="../media/audio3.wav"/><Relationship Id="rId21" Type="http://schemas.openxmlformats.org/officeDocument/2006/relationships/oleObject" Target="../embeddings/oleObject128.bin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123.bin"/><Relationship Id="rId17" Type="http://schemas.openxmlformats.org/officeDocument/2006/relationships/oleObject" Target="../embeddings/oleObject126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19.wmf"/><Relationship Id="rId20" Type="http://schemas.openxmlformats.org/officeDocument/2006/relationships/image" Target="../media/image121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20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5" Type="http://schemas.openxmlformats.org/officeDocument/2006/relationships/oleObject" Target="../embeddings/oleObject125.bin"/><Relationship Id="rId10" Type="http://schemas.openxmlformats.org/officeDocument/2006/relationships/oleObject" Target="../embeddings/oleObject122.bin"/><Relationship Id="rId19" Type="http://schemas.openxmlformats.org/officeDocument/2006/relationships/oleObject" Target="../embeddings/oleObject127.bin"/><Relationship Id="rId4" Type="http://schemas.openxmlformats.org/officeDocument/2006/relationships/oleObject" Target="../embeddings/oleObject119.bin"/><Relationship Id="rId9" Type="http://schemas.openxmlformats.org/officeDocument/2006/relationships/image" Target="../media/image116.wmf"/><Relationship Id="rId14" Type="http://schemas.openxmlformats.org/officeDocument/2006/relationships/image" Target="../media/image118.wmf"/><Relationship Id="rId22" Type="http://schemas.openxmlformats.org/officeDocument/2006/relationships/image" Target="../media/image12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34.bin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27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29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10" Type="http://schemas.openxmlformats.org/officeDocument/2006/relationships/image" Target="../media/image126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2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oleObject" Target="../embeddings/oleObject140.bin"/><Relationship Id="rId18" Type="http://schemas.openxmlformats.org/officeDocument/2006/relationships/image" Target="../media/image135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33.wmf"/><Relationship Id="rId17" Type="http://schemas.openxmlformats.org/officeDocument/2006/relationships/oleObject" Target="../embeddings/oleObject142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49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5" Type="http://schemas.openxmlformats.org/officeDocument/2006/relationships/oleObject" Target="../embeddings/oleObject141.bin"/><Relationship Id="rId10" Type="http://schemas.openxmlformats.org/officeDocument/2006/relationships/image" Target="../media/image132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3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13" Type="http://schemas.openxmlformats.org/officeDocument/2006/relationships/oleObject" Target="../embeddings/oleObject147.bin"/><Relationship Id="rId3" Type="http://schemas.openxmlformats.org/officeDocument/2006/relationships/audio" Target="../media/audio1.wav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6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38.wmf"/><Relationship Id="rId4" Type="http://schemas.openxmlformats.org/officeDocument/2006/relationships/audio" Target="../media/audio3.wav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7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40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39.wmf"/><Relationship Id="rId4" Type="http://schemas.openxmlformats.org/officeDocument/2006/relationships/oleObject" Target="../embeddings/oleObject14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47.wmf"/><Relationship Id="rId3" Type="http://schemas.openxmlformats.org/officeDocument/2006/relationships/audio" Target="../media/audio3.wav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57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6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4.bin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10" Type="http://schemas.openxmlformats.org/officeDocument/2006/relationships/image" Target="../media/image143.w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4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52.w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oleObject" Target="../embeddings/oleObject16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49.wmf"/><Relationship Id="rId11" Type="http://schemas.openxmlformats.org/officeDocument/2006/relationships/image" Target="../media/image151.emf"/><Relationship Id="rId5" Type="http://schemas.openxmlformats.org/officeDocument/2006/relationships/oleObject" Target="../embeddings/oleObject159.bin"/><Relationship Id="rId10" Type="http://schemas.openxmlformats.org/officeDocument/2006/relationships/oleObject" Target="../embeddings/oleObject162.bin"/><Relationship Id="rId4" Type="http://schemas.openxmlformats.org/officeDocument/2006/relationships/image" Target="../media/image148.emf"/><Relationship Id="rId9" Type="http://schemas.openxmlformats.org/officeDocument/2006/relationships/oleObject" Target="../embeddings/oleObject16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60.wmf"/><Relationship Id="rId3" Type="http://schemas.openxmlformats.org/officeDocument/2006/relationships/oleObject" Target="../embeddings/oleObject164.bin"/><Relationship Id="rId21" Type="http://schemas.openxmlformats.org/officeDocument/2006/relationships/oleObject" Target="../embeddings/oleObject173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157.wmf"/><Relationship Id="rId17" Type="http://schemas.openxmlformats.org/officeDocument/2006/relationships/oleObject" Target="../embeddings/oleObject171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59.wmf"/><Relationship Id="rId20" Type="http://schemas.openxmlformats.org/officeDocument/2006/relationships/image" Target="../media/image16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4.w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10" Type="http://schemas.openxmlformats.org/officeDocument/2006/relationships/image" Target="../media/image156.wmf"/><Relationship Id="rId19" Type="http://schemas.openxmlformats.org/officeDocument/2006/relationships/oleObject" Target="../embeddings/oleObject172.bin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58.wmf"/><Relationship Id="rId22" Type="http://schemas.openxmlformats.org/officeDocument/2006/relationships/image" Target="../media/image16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image" Target="../media/image167.wmf"/><Relationship Id="rId3" Type="http://schemas.openxmlformats.org/officeDocument/2006/relationships/audio" Target="../media/audio3.wav"/><Relationship Id="rId7" Type="http://schemas.openxmlformats.org/officeDocument/2006/relationships/image" Target="../media/image164.wmf"/><Relationship Id="rId12" Type="http://schemas.openxmlformats.org/officeDocument/2006/relationships/oleObject" Target="../embeddings/oleObject17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75.bin"/><Relationship Id="rId11" Type="http://schemas.openxmlformats.org/officeDocument/2006/relationships/image" Target="../media/image166.wmf"/><Relationship Id="rId5" Type="http://schemas.openxmlformats.org/officeDocument/2006/relationships/image" Target="../media/image163.wmf"/><Relationship Id="rId10" Type="http://schemas.openxmlformats.org/officeDocument/2006/relationships/oleObject" Target="../embeddings/oleObject177.bin"/><Relationship Id="rId4" Type="http://schemas.openxmlformats.org/officeDocument/2006/relationships/oleObject" Target="../embeddings/oleObject174.bin"/><Relationship Id="rId9" Type="http://schemas.openxmlformats.org/officeDocument/2006/relationships/image" Target="../media/image16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audio" Target="../media/audio1.wav"/><Relationship Id="rId7" Type="http://schemas.openxmlformats.org/officeDocument/2006/relationships/image" Target="../media/image16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71.wmf"/><Relationship Id="rId5" Type="http://schemas.openxmlformats.org/officeDocument/2006/relationships/image" Target="../media/image168.wmf"/><Relationship Id="rId10" Type="http://schemas.openxmlformats.org/officeDocument/2006/relationships/oleObject" Target="../embeddings/oleObject182.bin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7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image" Target="../media/image176.wmf"/><Relationship Id="rId3" Type="http://schemas.openxmlformats.org/officeDocument/2006/relationships/audio" Target="../media/audio3.wav"/><Relationship Id="rId7" Type="http://schemas.openxmlformats.org/officeDocument/2006/relationships/image" Target="../media/image173.wmf"/><Relationship Id="rId12" Type="http://schemas.openxmlformats.org/officeDocument/2006/relationships/oleObject" Target="../embeddings/oleObject18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184.bin"/><Relationship Id="rId11" Type="http://schemas.openxmlformats.org/officeDocument/2006/relationships/image" Target="../media/image175.wmf"/><Relationship Id="rId5" Type="http://schemas.openxmlformats.org/officeDocument/2006/relationships/image" Target="../media/image172.wmf"/><Relationship Id="rId15" Type="http://schemas.openxmlformats.org/officeDocument/2006/relationships/image" Target="../media/image177.wmf"/><Relationship Id="rId10" Type="http://schemas.openxmlformats.org/officeDocument/2006/relationships/oleObject" Target="../embeddings/oleObject186.bin"/><Relationship Id="rId4" Type="http://schemas.openxmlformats.org/officeDocument/2006/relationships/oleObject" Target="../embeddings/oleObject183.bin"/><Relationship Id="rId9" Type="http://schemas.openxmlformats.org/officeDocument/2006/relationships/image" Target="../media/image174.wmf"/><Relationship Id="rId14" Type="http://schemas.openxmlformats.org/officeDocument/2006/relationships/oleObject" Target="../embeddings/oleObject18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94.bin"/><Relationship Id="rId18" Type="http://schemas.openxmlformats.org/officeDocument/2006/relationships/image" Target="../media/image185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196.bin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84.wmf"/><Relationship Id="rId20" Type="http://schemas.openxmlformats.org/officeDocument/2006/relationships/image" Target="../media/image18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5" Type="http://schemas.openxmlformats.org/officeDocument/2006/relationships/oleObject" Target="../embeddings/oleObject195.bin"/><Relationship Id="rId10" Type="http://schemas.openxmlformats.org/officeDocument/2006/relationships/image" Target="../media/image181.wmf"/><Relationship Id="rId19" Type="http://schemas.openxmlformats.org/officeDocument/2006/relationships/oleObject" Target="../embeddings/oleObject197.bin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92.bin"/><Relationship Id="rId14" Type="http://schemas.openxmlformats.org/officeDocument/2006/relationships/image" Target="../media/image18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0.bin"/><Relationship Id="rId13" Type="http://schemas.openxmlformats.org/officeDocument/2006/relationships/image" Target="../media/image191.wmf"/><Relationship Id="rId18" Type="http://schemas.openxmlformats.org/officeDocument/2006/relationships/oleObject" Target="../embeddings/oleObject205.bin"/><Relationship Id="rId3" Type="http://schemas.openxmlformats.org/officeDocument/2006/relationships/audio" Target="../media/audio3.wav"/><Relationship Id="rId21" Type="http://schemas.openxmlformats.org/officeDocument/2006/relationships/image" Target="../media/image194.wmf"/><Relationship Id="rId7" Type="http://schemas.openxmlformats.org/officeDocument/2006/relationships/image" Target="../media/image188.wmf"/><Relationship Id="rId12" Type="http://schemas.openxmlformats.org/officeDocument/2006/relationships/oleObject" Target="../embeddings/oleObject202.bin"/><Relationship Id="rId17" Type="http://schemas.openxmlformats.org/officeDocument/2006/relationships/image" Target="../media/image172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04.bin"/><Relationship Id="rId20" Type="http://schemas.openxmlformats.org/officeDocument/2006/relationships/oleObject" Target="../embeddings/oleObject206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99.bin"/><Relationship Id="rId11" Type="http://schemas.openxmlformats.org/officeDocument/2006/relationships/image" Target="../media/image190.wmf"/><Relationship Id="rId5" Type="http://schemas.openxmlformats.org/officeDocument/2006/relationships/image" Target="../media/image187.wmf"/><Relationship Id="rId15" Type="http://schemas.openxmlformats.org/officeDocument/2006/relationships/image" Target="../media/image192.wmf"/><Relationship Id="rId23" Type="http://schemas.openxmlformats.org/officeDocument/2006/relationships/image" Target="../media/image195.wmf"/><Relationship Id="rId10" Type="http://schemas.openxmlformats.org/officeDocument/2006/relationships/oleObject" Target="../embeddings/oleObject201.bin"/><Relationship Id="rId19" Type="http://schemas.openxmlformats.org/officeDocument/2006/relationships/image" Target="../media/image193.wmf"/><Relationship Id="rId4" Type="http://schemas.openxmlformats.org/officeDocument/2006/relationships/oleObject" Target="../embeddings/oleObject198.bin"/><Relationship Id="rId9" Type="http://schemas.openxmlformats.org/officeDocument/2006/relationships/image" Target="../media/image189.wmf"/><Relationship Id="rId14" Type="http://schemas.openxmlformats.org/officeDocument/2006/relationships/oleObject" Target="../embeddings/oleObject203.bin"/><Relationship Id="rId22" Type="http://schemas.openxmlformats.org/officeDocument/2006/relationships/oleObject" Target="../embeddings/oleObject20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0.bin"/><Relationship Id="rId13" Type="http://schemas.openxmlformats.org/officeDocument/2006/relationships/image" Target="../media/image200.wmf"/><Relationship Id="rId3" Type="http://schemas.openxmlformats.org/officeDocument/2006/relationships/audio" Target="../media/audio3.wav"/><Relationship Id="rId7" Type="http://schemas.openxmlformats.org/officeDocument/2006/relationships/image" Target="../media/image197.wmf"/><Relationship Id="rId12" Type="http://schemas.openxmlformats.org/officeDocument/2006/relationships/oleObject" Target="../embeddings/oleObject21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09.bin"/><Relationship Id="rId11" Type="http://schemas.openxmlformats.org/officeDocument/2006/relationships/image" Target="../media/image199.wmf"/><Relationship Id="rId5" Type="http://schemas.openxmlformats.org/officeDocument/2006/relationships/image" Target="../media/image196.wmf"/><Relationship Id="rId15" Type="http://schemas.openxmlformats.org/officeDocument/2006/relationships/image" Target="../media/image201.wmf"/><Relationship Id="rId10" Type="http://schemas.openxmlformats.org/officeDocument/2006/relationships/oleObject" Target="../embeddings/oleObject211.bin"/><Relationship Id="rId4" Type="http://schemas.openxmlformats.org/officeDocument/2006/relationships/oleObject" Target="../embeddings/oleObject208.bin"/><Relationship Id="rId9" Type="http://schemas.openxmlformats.org/officeDocument/2006/relationships/image" Target="../media/image198.wmf"/><Relationship Id="rId14" Type="http://schemas.openxmlformats.org/officeDocument/2006/relationships/oleObject" Target="../embeddings/oleObject213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206.wmf"/><Relationship Id="rId18" Type="http://schemas.openxmlformats.org/officeDocument/2006/relationships/oleObject" Target="../embeddings/oleObject221.bin"/><Relationship Id="rId3" Type="http://schemas.openxmlformats.org/officeDocument/2006/relationships/audio" Target="../media/audio1.wav"/><Relationship Id="rId21" Type="http://schemas.openxmlformats.org/officeDocument/2006/relationships/image" Target="../media/image210.wmf"/><Relationship Id="rId7" Type="http://schemas.openxmlformats.org/officeDocument/2006/relationships/image" Target="../media/image203.wmf"/><Relationship Id="rId12" Type="http://schemas.openxmlformats.org/officeDocument/2006/relationships/oleObject" Target="../embeddings/oleObject218.bin"/><Relationship Id="rId17" Type="http://schemas.openxmlformats.org/officeDocument/2006/relationships/image" Target="../media/image208.wmf"/><Relationship Id="rId2" Type="http://schemas.openxmlformats.org/officeDocument/2006/relationships/slideLayout" Target="../slideLayouts/slideLayout5.xml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2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05.wmf"/><Relationship Id="rId5" Type="http://schemas.openxmlformats.org/officeDocument/2006/relationships/image" Target="../media/image202.wmf"/><Relationship Id="rId15" Type="http://schemas.openxmlformats.org/officeDocument/2006/relationships/image" Target="../media/image207.wmf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209.w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04.wmf"/><Relationship Id="rId14" Type="http://schemas.openxmlformats.org/officeDocument/2006/relationships/oleObject" Target="../embeddings/oleObject21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image" Target="../media/image215.wmf"/><Relationship Id="rId3" Type="http://schemas.openxmlformats.org/officeDocument/2006/relationships/audio" Target="../media/audio1.wav"/><Relationship Id="rId7" Type="http://schemas.openxmlformats.org/officeDocument/2006/relationships/image" Target="../media/image212.wmf"/><Relationship Id="rId12" Type="http://schemas.openxmlformats.org/officeDocument/2006/relationships/oleObject" Target="../embeddings/oleObject22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24.bin"/><Relationship Id="rId11" Type="http://schemas.openxmlformats.org/officeDocument/2006/relationships/image" Target="../media/image214.wmf"/><Relationship Id="rId5" Type="http://schemas.openxmlformats.org/officeDocument/2006/relationships/image" Target="../media/image211.wmf"/><Relationship Id="rId10" Type="http://schemas.openxmlformats.org/officeDocument/2006/relationships/oleObject" Target="../embeddings/oleObject226.bin"/><Relationship Id="rId4" Type="http://schemas.openxmlformats.org/officeDocument/2006/relationships/oleObject" Target="../embeddings/oleObject223.bin"/><Relationship Id="rId9" Type="http://schemas.openxmlformats.org/officeDocument/2006/relationships/image" Target="../media/image213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0.bin"/><Relationship Id="rId3" Type="http://schemas.openxmlformats.org/officeDocument/2006/relationships/audio" Target="../media/audio1.wav"/><Relationship Id="rId7" Type="http://schemas.openxmlformats.org/officeDocument/2006/relationships/image" Target="../media/image217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29.bin"/><Relationship Id="rId5" Type="http://schemas.openxmlformats.org/officeDocument/2006/relationships/image" Target="../media/image216.wmf"/><Relationship Id="rId4" Type="http://schemas.openxmlformats.org/officeDocument/2006/relationships/oleObject" Target="../embeddings/oleObject228.bin"/><Relationship Id="rId9" Type="http://schemas.openxmlformats.org/officeDocument/2006/relationships/image" Target="../media/image21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jpeg"/><Relationship Id="rId2" Type="http://schemas.openxmlformats.org/officeDocument/2006/relationships/hyperlink" Target="http://my.popiano.org/attachments/2007/07/805_200707250028061.jpg" TargetMode="Externa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36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23.w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2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9.bin"/><Relationship Id="rId3" Type="http://schemas.openxmlformats.org/officeDocument/2006/relationships/audio" Target="../media/audio1.wav"/><Relationship Id="rId7" Type="http://schemas.openxmlformats.org/officeDocument/2006/relationships/image" Target="../media/image22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238.bin"/><Relationship Id="rId5" Type="http://schemas.openxmlformats.org/officeDocument/2006/relationships/image" Target="../media/image226.wmf"/><Relationship Id="rId4" Type="http://schemas.openxmlformats.org/officeDocument/2006/relationships/oleObject" Target="../embeddings/oleObject237.bin"/><Relationship Id="rId9" Type="http://schemas.openxmlformats.org/officeDocument/2006/relationships/image" Target="../media/image228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3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0" Type="http://schemas.openxmlformats.org/officeDocument/2006/relationships/image" Target="../media/image231.wmf"/><Relationship Id="rId4" Type="http://schemas.openxmlformats.org/officeDocument/2006/relationships/audio" Target="../media/audio5.wav"/><Relationship Id="rId9" Type="http://schemas.openxmlformats.org/officeDocument/2006/relationships/oleObject" Target="../embeddings/oleObject24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oleObject" Target="../embeddings/oleObject249.bin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37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34.wmf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5.bin"/><Relationship Id="rId10" Type="http://schemas.openxmlformats.org/officeDocument/2006/relationships/image" Target="../media/image236.wmf"/><Relationship Id="rId4" Type="http://schemas.openxmlformats.org/officeDocument/2006/relationships/image" Target="../media/image233.w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3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243.wmf"/><Relationship Id="rId3" Type="http://schemas.openxmlformats.org/officeDocument/2006/relationships/audio" Target="../media/audio6.wav"/><Relationship Id="rId7" Type="http://schemas.openxmlformats.org/officeDocument/2006/relationships/image" Target="../media/image240.wmf"/><Relationship Id="rId12" Type="http://schemas.openxmlformats.org/officeDocument/2006/relationships/oleObject" Target="../embeddings/oleObject254.bin"/><Relationship Id="rId17" Type="http://schemas.openxmlformats.org/officeDocument/2006/relationships/oleObject" Target="../embeddings/oleObject257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56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42.wmf"/><Relationship Id="rId5" Type="http://schemas.openxmlformats.org/officeDocument/2006/relationships/image" Target="../media/image239.wmf"/><Relationship Id="rId15" Type="http://schemas.openxmlformats.org/officeDocument/2006/relationships/image" Target="../media/image244.wmf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41.wmf"/><Relationship Id="rId14" Type="http://schemas.openxmlformats.org/officeDocument/2006/relationships/oleObject" Target="../embeddings/oleObject25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63.bin"/><Relationship Id="rId3" Type="http://schemas.openxmlformats.org/officeDocument/2006/relationships/oleObject" Target="../embeddings/oleObject258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4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62.bin"/><Relationship Id="rId5" Type="http://schemas.openxmlformats.org/officeDocument/2006/relationships/oleObject" Target="../embeddings/oleObject259.bin"/><Relationship Id="rId10" Type="http://schemas.openxmlformats.org/officeDocument/2006/relationships/image" Target="../media/image248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50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252.wmf"/><Relationship Id="rId5" Type="http://schemas.openxmlformats.org/officeDocument/2006/relationships/oleObject" Target="../embeddings/oleObject265.bin"/><Relationship Id="rId10" Type="http://schemas.openxmlformats.org/officeDocument/2006/relationships/image" Target="../media/image254.wmf"/><Relationship Id="rId4" Type="http://schemas.openxmlformats.org/officeDocument/2006/relationships/image" Target="../media/image251.wmf"/><Relationship Id="rId9" Type="http://schemas.openxmlformats.org/officeDocument/2006/relationships/oleObject" Target="../embeddings/oleObject26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256.wmf"/><Relationship Id="rId5" Type="http://schemas.openxmlformats.org/officeDocument/2006/relationships/oleObject" Target="../embeddings/oleObject269.bin"/><Relationship Id="rId4" Type="http://schemas.openxmlformats.org/officeDocument/2006/relationships/image" Target="../media/image25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wmf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258.wmf"/><Relationship Id="rId5" Type="http://schemas.openxmlformats.org/officeDocument/2006/relationships/oleObject" Target="../embeddings/oleObject271.bin"/><Relationship Id="rId10" Type="http://schemas.openxmlformats.org/officeDocument/2006/relationships/image" Target="../media/image260.wmf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73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3.wmf"/><Relationship Id="rId3" Type="http://schemas.openxmlformats.org/officeDocument/2006/relationships/oleObject" Target="../embeddings/oleObject274.bin"/><Relationship Id="rId7" Type="http://schemas.openxmlformats.org/officeDocument/2006/relationships/oleObject" Target="../embeddings/oleObject276.bin"/><Relationship Id="rId12" Type="http://schemas.openxmlformats.org/officeDocument/2006/relationships/image" Target="../media/image26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262.wmf"/><Relationship Id="rId11" Type="http://schemas.openxmlformats.org/officeDocument/2006/relationships/oleObject" Target="../embeddings/oleObject278.bin"/><Relationship Id="rId5" Type="http://schemas.openxmlformats.org/officeDocument/2006/relationships/oleObject" Target="../embeddings/oleObject275.bin"/><Relationship Id="rId10" Type="http://schemas.openxmlformats.org/officeDocument/2006/relationships/image" Target="../media/image264.wmf"/><Relationship Id="rId4" Type="http://schemas.openxmlformats.org/officeDocument/2006/relationships/image" Target="../media/image261.wmf"/><Relationship Id="rId9" Type="http://schemas.openxmlformats.org/officeDocument/2006/relationships/oleObject" Target="../embeddings/oleObject277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7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267.w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0" Type="http://schemas.openxmlformats.org/officeDocument/2006/relationships/image" Target="../media/image269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282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jpeg"/><Relationship Id="rId2" Type="http://schemas.openxmlformats.org/officeDocument/2006/relationships/image" Target="../media/image274.jpe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4">
            <a:hlinkClick r:id="rId2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2555875" y="1131888"/>
            <a:ext cx="4103688" cy="400050"/>
          </a:xfrm>
          <a:prstGeom prst="actionButtonBlank">
            <a:avLst/>
          </a:prstGeom>
          <a:noFill/>
          <a:ln>
            <a:noFill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ea typeface="华文中宋" pitchFamily="2" charset="-122"/>
              </a:rPr>
              <a:t>§5- 1  </a:t>
            </a:r>
            <a:r>
              <a:rPr lang="zh-CN" altLang="en-US" sz="2000">
                <a:solidFill>
                  <a:srgbClr val="000000"/>
                </a:solidFill>
                <a:ea typeface="华文中宋" pitchFamily="2" charset="-122"/>
              </a:rPr>
              <a:t>简谐振动的动力学</a:t>
            </a:r>
          </a:p>
        </p:txBody>
      </p:sp>
      <p:sp>
        <p:nvSpPr>
          <p:cNvPr id="10243" name="AutoShape 5">
            <a:hlinkClick r:id="rId4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2571750" y="1563688"/>
            <a:ext cx="4103688" cy="400050"/>
          </a:xfrm>
          <a:prstGeom prst="actionButtonBlank">
            <a:avLst/>
          </a:prstGeom>
          <a:noFill/>
          <a:ln>
            <a:noFill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ea typeface="华文中宋" pitchFamily="2" charset="-122"/>
              </a:rPr>
              <a:t>§5- 2  </a:t>
            </a:r>
            <a:r>
              <a:rPr lang="zh-CN" altLang="en-US" sz="2000">
                <a:solidFill>
                  <a:srgbClr val="000000"/>
                </a:solidFill>
                <a:ea typeface="华文中宋" pitchFamily="2" charset="-122"/>
              </a:rPr>
              <a:t>简谐振动的运动学</a:t>
            </a:r>
          </a:p>
        </p:txBody>
      </p:sp>
      <p:sp>
        <p:nvSpPr>
          <p:cNvPr id="10244" name="AutoShape 6">
            <a:hlinkClick r:id="rId5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2571750" y="1995488"/>
            <a:ext cx="4156075" cy="400050"/>
          </a:xfrm>
          <a:prstGeom prst="actionButtonBlank">
            <a:avLst/>
          </a:prstGeom>
          <a:noFill/>
          <a:ln>
            <a:noFill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ea typeface="华文中宋" pitchFamily="2" charset="-122"/>
              </a:rPr>
              <a:t>§5- 3  </a:t>
            </a:r>
            <a:r>
              <a:rPr lang="zh-CN" altLang="en-US" sz="2000">
                <a:solidFill>
                  <a:srgbClr val="000000"/>
                </a:solidFill>
                <a:ea typeface="华文中宋" pitchFamily="2" charset="-122"/>
              </a:rPr>
              <a:t>简谐振动的能量</a:t>
            </a:r>
          </a:p>
        </p:txBody>
      </p:sp>
      <p:sp>
        <p:nvSpPr>
          <p:cNvPr id="10245" name="AutoShape 7">
            <a:hlinkClick r:id="rId6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2571750" y="2441575"/>
            <a:ext cx="4156075" cy="400050"/>
          </a:xfrm>
          <a:prstGeom prst="actionButtonBlank">
            <a:avLst/>
          </a:prstGeom>
          <a:noFill/>
          <a:ln>
            <a:noFill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ea typeface="华文中宋" pitchFamily="2" charset="-122"/>
              </a:rPr>
              <a:t>§5- 4  </a:t>
            </a:r>
            <a:r>
              <a:rPr lang="zh-CN" altLang="en-US" sz="2000">
                <a:solidFill>
                  <a:srgbClr val="000000"/>
                </a:solidFill>
                <a:ea typeface="华文中宋" pitchFamily="2" charset="-122"/>
              </a:rPr>
              <a:t>简谐振动的合成</a:t>
            </a:r>
          </a:p>
        </p:txBody>
      </p:sp>
      <p:sp>
        <p:nvSpPr>
          <p:cNvPr id="10246" name="AutoShape 8">
            <a:hlinkClick r:id="rId7" action="ppaction://hlinksldjump" highlightClick="1">
              <a:snd r:embed="rId3" name="CAMERA.WAV"/>
            </a:hlinkClick>
          </p:cNvPr>
          <p:cNvSpPr>
            <a:spLocks noChangeArrowheads="1"/>
          </p:cNvSpPr>
          <p:nvPr/>
        </p:nvSpPr>
        <p:spPr bwMode="auto">
          <a:xfrm>
            <a:off x="2571750" y="2913063"/>
            <a:ext cx="4156075" cy="400050"/>
          </a:xfrm>
          <a:prstGeom prst="actionButtonBlank">
            <a:avLst/>
          </a:prstGeom>
          <a:noFill/>
          <a:ln>
            <a:noFill/>
          </a:ln>
          <a:effectLst>
            <a:prstShdw prst="shdw17" dist="17961" dir="27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ea typeface="华文中宋" pitchFamily="2" charset="-122"/>
              </a:rPr>
              <a:t>§5- 5  </a:t>
            </a:r>
            <a:r>
              <a:rPr lang="zh-CN" altLang="en-US" sz="2000">
                <a:solidFill>
                  <a:srgbClr val="000000"/>
                </a:solidFill>
                <a:ea typeface="华文中宋" pitchFamily="2" charset="-122"/>
              </a:rPr>
              <a:t>阻尼振动 受迫振动 共振    </a:t>
            </a:r>
          </a:p>
        </p:txBody>
      </p:sp>
      <p:pic>
        <p:nvPicPr>
          <p:cNvPr id="10247" name="Picture 11" descr="SPRING~1"/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" y="3316288"/>
            <a:ext cx="4886325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3" descr="clock1"/>
          <p:cNvPicPr>
            <a:picLocks noChangeAspect="1" noChangeArrowheads="1" noCrop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936625"/>
            <a:ext cx="885825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684213" y="1382713"/>
            <a:ext cx="3135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Arial" pitchFamily="34" charset="0"/>
              <a:buNone/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振动是一种普遍的运动形式</a:t>
            </a:r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  </a:t>
            </a:r>
          </a:p>
        </p:txBody>
      </p:sp>
      <p:sp>
        <p:nvSpPr>
          <p:cNvPr id="5" name="Text Box 21"/>
          <p:cNvSpPr txBox="1">
            <a:spLocks noChangeArrowheads="1"/>
          </p:cNvSpPr>
          <p:nvPr/>
        </p:nvSpPr>
        <p:spPr bwMode="auto">
          <a:xfrm>
            <a:off x="1125538" y="2363788"/>
            <a:ext cx="733425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机械振动</a:t>
            </a:r>
            <a:r>
              <a:rPr kumimoji="0"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:  </a:t>
            </a:r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物体在某固定位置附近的往复运动</a:t>
            </a:r>
          </a:p>
        </p:txBody>
      </p:sp>
      <p:sp>
        <p:nvSpPr>
          <p:cNvPr id="6" name="Text Box 21"/>
          <p:cNvSpPr txBox="1">
            <a:spLocks noChangeArrowheads="1"/>
          </p:cNvSpPr>
          <p:nvPr/>
        </p:nvSpPr>
        <p:spPr bwMode="auto">
          <a:xfrm>
            <a:off x="1116013" y="1914525"/>
            <a:ext cx="7191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广义振动</a:t>
            </a:r>
            <a:r>
              <a:rPr kumimoji="0"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:  </a:t>
            </a:r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任何一个物理量在某一量值附近随时间作周期性变化 </a:t>
            </a:r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auto">
          <a:xfrm>
            <a:off x="471488" y="3598863"/>
            <a:ext cx="900112" cy="276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pPr algn="ctr">
              <a:buFont typeface="Arial" pitchFamily="34" charset="0"/>
              <a:buNone/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振动</a:t>
            </a:r>
          </a:p>
        </p:txBody>
      </p:sp>
      <p:sp>
        <p:nvSpPr>
          <p:cNvPr id="9" name="Text Box 26"/>
          <p:cNvSpPr txBox="1">
            <a:spLocks noChangeArrowheads="1"/>
          </p:cNvSpPr>
          <p:nvPr/>
        </p:nvSpPr>
        <p:spPr bwMode="auto">
          <a:xfrm>
            <a:off x="1919288" y="3170238"/>
            <a:ext cx="1120775" cy="3698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自由振动</a:t>
            </a: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1908175" y="3956050"/>
            <a:ext cx="1131888" cy="3698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受迫振动</a:t>
            </a:r>
          </a:p>
        </p:txBody>
      </p:sp>
      <p:sp>
        <p:nvSpPr>
          <p:cNvPr id="12" name="Rectangle 30"/>
          <p:cNvSpPr>
            <a:spLocks noChangeArrowheads="1"/>
          </p:cNvSpPr>
          <p:nvPr/>
        </p:nvSpPr>
        <p:spPr bwMode="auto">
          <a:xfrm>
            <a:off x="3381375" y="2974975"/>
            <a:ext cx="1838325" cy="277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阻尼自由振动</a:t>
            </a:r>
          </a:p>
        </p:txBody>
      </p:sp>
      <p:sp>
        <p:nvSpPr>
          <p:cNvPr id="13" name="Line 27"/>
          <p:cNvSpPr>
            <a:spLocks noChangeShapeType="1"/>
          </p:cNvSpPr>
          <p:nvPr/>
        </p:nvSpPr>
        <p:spPr bwMode="auto">
          <a:xfrm flipV="1">
            <a:off x="3094038" y="4140200"/>
            <a:ext cx="99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4084638" y="3940175"/>
            <a:ext cx="903287" cy="368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共振</a:t>
            </a:r>
          </a:p>
        </p:txBody>
      </p:sp>
      <p:sp>
        <p:nvSpPr>
          <p:cNvPr id="15" name="Rectangle 31"/>
          <p:cNvSpPr>
            <a:spLocks noChangeArrowheads="1"/>
          </p:cNvSpPr>
          <p:nvPr/>
        </p:nvSpPr>
        <p:spPr bwMode="auto">
          <a:xfrm>
            <a:off x="3379788" y="3519488"/>
            <a:ext cx="1839912" cy="276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无阻尼自由振动</a:t>
            </a:r>
          </a:p>
        </p:txBody>
      </p:sp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5435600" y="3292475"/>
            <a:ext cx="2921000" cy="276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无阻尼自由非谐振动</a:t>
            </a:r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5424488" y="3735388"/>
            <a:ext cx="3322637" cy="276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无阻尼自由谐振动</a:t>
            </a:r>
            <a:r>
              <a:rPr lang="en-US" altLang="zh-CN" sz="180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180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简谐振动</a:t>
            </a:r>
            <a:r>
              <a:rPr lang="en-US" altLang="zh-CN" sz="180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)</a:t>
            </a:r>
          </a:p>
        </p:txBody>
      </p:sp>
      <p:sp>
        <p:nvSpPr>
          <p:cNvPr id="4173" name="AutoShape 77"/>
          <p:cNvSpPr>
            <a:spLocks/>
          </p:cNvSpPr>
          <p:nvPr/>
        </p:nvSpPr>
        <p:spPr bwMode="auto">
          <a:xfrm>
            <a:off x="1368425" y="3333750"/>
            <a:ext cx="539750" cy="792163"/>
          </a:xfrm>
          <a:prstGeom prst="leftBrace">
            <a:avLst>
              <a:gd name="adj1" fmla="val 3669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174" name="AutoShape 78"/>
          <p:cNvSpPr>
            <a:spLocks/>
          </p:cNvSpPr>
          <p:nvPr/>
        </p:nvSpPr>
        <p:spPr bwMode="auto">
          <a:xfrm>
            <a:off x="3059113" y="3076575"/>
            <a:ext cx="322262" cy="574675"/>
          </a:xfrm>
          <a:prstGeom prst="leftBrace">
            <a:avLst>
              <a:gd name="adj1" fmla="val 1662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175" name="AutoShape 79"/>
          <p:cNvSpPr>
            <a:spLocks/>
          </p:cNvSpPr>
          <p:nvPr/>
        </p:nvSpPr>
        <p:spPr bwMode="auto">
          <a:xfrm>
            <a:off x="5219700" y="3398838"/>
            <a:ext cx="215900" cy="487362"/>
          </a:xfrm>
          <a:prstGeom prst="leftBrace">
            <a:avLst>
              <a:gd name="adj1" fmla="val 2219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281" name="Text Box 2"/>
          <p:cNvSpPr>
            <a:spLocks noChangeArrowheads="1"/>
          </p:cNvSpPr>
          <p:nvPr/>
        </p:nvSpPr>
        <p:spPr bwMode="auto">
          <a:xfrm>
            <a:off x="839788" y="874713"/>
            <a:ext cx="2147887" cy="401637"/>
          </a:xfrm>
          <a:prstGeom prst="homePlate">
            <a:avLst>
              <a:gd name="adj" fmla="val 49864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一、振动的概念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6" grpId="0"/>
      <p:bldP spid="7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4173" grpId="0" animBg="1"/>
      <p:bldP spid="4174" grpId="0" animBg="1"/>
      <p:bldP spid="417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611188" y="1336675"/>
            <a:ext cx="773588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振动中最简单最基本的是简谐振动</a:t>
            </a:r>
            <a:endParaRPr lang="zh-CN" altLang="en-US" sz="1800" b="0">
              <a:solidFill>
                <a:srgbClr val="FF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381000" y="1698625"/>
            <a:ext cx="72866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  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任何一个振动都可看成若干不同频率的简谐振动的合成。</a:t>
            </a: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927100" y="2109788"/>
            <a:ext cx="74247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FF00FF"/>
                </a:solidFill>
                <a:ea typeface="华文中宋" pitchFamily="2" charset="-122"/>
              </a:rPr>
              <a:t>1</a:t>
            </a:r>
            <a:r>
              <a:rPr kumimoji="0" lang="zh-CN" altLang="en-US" sz="1800">
                <a:solidFill>
                  <a:srgbClr val="FF00FF"/>
                </a:solidFill>
                <a:ea typeface="华文中宋" pitchFamily="2" charset="-122"/>
              </a:rPr>
              <a:t>、简谐振动定义</a:t>
            </a:r>
          </a:p>
          <a:p>
            <a:pPr eaLnBrk="1" hangingPunct="1"/>
            <a:r>
              <a:rPr kumimoji="0" lang="zh-CN" altLang="en-US" sz="1800">
                <a:solidFill>
                  <a:srgbClr val="000000"/>
                </a:solidFill>
                <a:ea typeface="华文中宋" pitchFamily="2" charset="-122"/>
              </a:rPr>
              <a:t>        一个做往复运动的物体，偏离平衡位置的位移</a:t>
            </a:r>
            <a:r>
              <a:rPr kumimoji="0" lang="en-US" altLang="zh-CN" sz="1800" i="1">
                <a:solidFill>
                  <a:srgbClr val="000000"/>
                </a:solidFill>
                <a:ea typeface="华文中宋" pitchFamily="2" charset="-122"/>
              </a:rPr>
              <a:t>x </a:t>
            </a:r>
            <a:r>
              <a:rPr kumimoji="0" lang="en-US" altLang="zh-CN" sz="1800">
                <a:solidFill>
                  <a:srgbClr val="000000"/>
                </a:solidFill>
                <a:ea typeface="华文中宋" pitchFamily="2" charset="-122"/>
              </a:rPr>
              <a:t>(</a:t>
            </a:r>
            <a:r>
              <a:rPr kumimoji="0" lang="zh-CN" altLang="en-US" sz="1800">
                <a:solidFill>
                  <a:srgbClr val="000000"/>
                </a:solidFill>
                <a:ea typeface="华文中宋" pitchFamily="2" charset="-122"/>
              </a:rPr>
              <a:t>或角位移</a:t>
            </a:r>
            <a:r>
              <a:rPr kumimoji="0" lang="zh-CN" altLang="en-US" sz="1800" i="1">
                <a:solidFill>
                  <a:srgbClr val="000000"/>
                </a:solidFill>
                <a:latin typeface="Tiem"/>
                <a:ea typeface="华文中宋" pitchFamily="2" charset="-122"/>
                <a:sym typeface="Symbol" pitchFamily="18" charset="2"/>
              </a:rPr>
              <a:t></a:t>
            </a:r>
            <a:r>
              <a:rPr kumimoji="0"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 </a:t>
            </a:r>
            <a:r>
              <a:rPr kumimoji="0" lang="en-US" altLang="zh-CN" sz="1800">
                <a:solidFill>
                  <a:srgbClr val="000000"/>
                </a:solidFill>
                <a:ea typeface="华文中宋" pitchFamily="2" charset="-122"/>
              </a:rPr>
              <a:t>) </a:t>
            </a:r>
            <a:r>
              <a:rPr kumimoji="0" lang="zh-CN" altLang="en-US" sz="1800">
                <a:solidFill>
                  <a:srgbClr val="000000"/>
                </a:solidFill>
                <a:ea typeface="华文中宋" pitchFamily="2" charset="-122"/>
              </a:rPr>
              <a:t>随时间 </a:t>
            </a:r>
            <a:r>
              <a:rPr kumimoji="0" lang="en-US" altLang="zh-CN" sz="1800" i="1">
                <a:solidFill>
                  <a:srgbClr val="000000"/>
                </a:solidFill>
                <a:ea typeface="华文中宋" pitchFamily="2" charset="-122"/>
              </a:rPr>
              <a:t>t </a:t>
            </a:r>
            <a:r>
              <a:rPr kumimoji="0" lang="zh-CN" altLang="en-US" sz="1800">
                <a:solidFill>
                  <a:srgbClr val="000000"/>
                </a:solidFill>
                <a:ea typeface="华文中宋" pitchFamily="2" charset="-122"/>
              </a:rPr>
              <a:t>按余弦</a:t>
            </a:r>
            <a:r>
              <a:rPr kumimoji="0" lang="en-US" altLang="zh-CN" sz="1800">
                <a:solidFill>
                  <a:srgbClr val="000000"/>
                </a:solidFill>
                <a:ea typeface="华文中宋" pitchFamily="2" charset="-122"/>
              </a:rPr>
              <a:t>(</a:t>
            </a:r>
            <a:r>
              <a:rPr kumimoji="0" lang="zh-CN" altLang="en-US" sz="1800">
                <a:solidFill>
                  <a:srgbClr val="000000"/>
                </a:solidFill>
                <a:ea typeface="华文中宋" pitchFamily="2" charset="-122"/>
              </a:rPr>
              <a:t>或正弦</a:t>
            </a:r>
            <a:r>
              <a:rPr kumimoji="0" lang="en-US" altLang="zh-CN" sz="1800">
                <a:solidFill>
                  <a:srgbClr val="000000"/>
                </a:solidFill>
                <a:ea typeface="华文中宋" pitchFamily="2" charset="-122"/>
              </a:rPr>
              <a:t>)</a:t>
            </a:r>
            <a:r>
              <a:rPr kumimoji="0" lang="zh-CN" altLang="en-US" sz="1800">
                <a:solidFill>
                  <a:srgbClr val="000000"/>
                </a:solidFill>
                <a:ea typeface="华文中宋" pitchFamily="2" charset="-122"/>
              </a:rPr>
              <a:t>规律变化的振动</a:t>
            </a:r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4067175" y="3563938"/>
            <a:ext cx="2089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——</a:t>
            </a:r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运动学方程</a:t>
            </a:r>
            <a:endParaRPr kumimoji="0" lang="zh-CN" altLang="en-US" sz="1800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1476375" y="3941763"/>
            <a:ext cx="69580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  <a:cs typeface="Times New Roman" pitchFamily="18" charset="0"/>
              </a:rPr>
              <a:t>x 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可作广义理解</a:t>
            </a:r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:</a:t>
            </a:r>
          </a:p>
          <a:p>
            <a:pPr eaLnBrk="1" hangingPunct="1"/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             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位移、体积、电流、场强、温度</a:t>
            </a:r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…</a:t>
            </a:r>
          </a:p>
        </p:txBody>
      </p:sp>
      <p:graphicFrame>
        <p:nvGraphicFramePr>
          <p:cNvPr id="184331" name="Object 11"/>
          <p:cNvGraphicFramePr>
            <a:graphicFrameLocks noChangeAspect="1"/>
          </p:cNvGraphicFramePr>
          <p:nvPr/>
        </p:nvGraphicFramePr>
        <p:xfrm>
          <a:off x="2987675" y="3148013"/>
          <a:ext cx="29543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Equation" r:id="rId4" imgW="825142" imgH="177723" progId="Equation.DSMT4">
                  <p:embed/>
                </p:oleObj>
              </mc:Choice>
              <mc:Fallback>
                <p:oleObj name="Equation" r:id="rId4" imgW="825142" imgH="177723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148013"/>
                        <a:ext cx="29543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AFBD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2"/>
          <p:cNvSpPr>
            <a:spLocks noChangeArrowheads="1"/>
          </p:cNvSpPr>
          <p:nvPr/>
        </p:nvSpPr>
        <p:spPr bwMode="auto">
          <a:xfrm>
            <a:off x="839788" y="874713"/>
            <a:ext cx="2147887" cy="401637"/>
          </a:xfrm>
          <a:prstGeom prst="homePlate">
            <a:avLst>
              <a:gd name="adj" fmla="val 49864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二、简谐振动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8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 autoUpdateAnimBg="0"/>
      <p:bldP spid="184325" grpId="0" autoUpdateAnimBg="0"/>
      <p:bldP spid="5" grpId="0" build="p"/>
      <p:bldP spid="7" grpId="0" autoUpdateAnimBg="0"/>
      <p:bldP spid="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611188" y="835025"/>
            <a:ext cx="251936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、简谐振动的实例</a:t>
            </a:r>
          </a:p>
        </p:txBody>
      </p:sp>
      <p:sp>
        <p:nvSpPr>
          <p:cNvPr id="117763" name="Text Box 3"/>
          <p:cNvSpPr txBox="1">
            <a:spLocks noChangeArrowheads="1"/>
          </p:cNvSpPr>
          <p:nvPr/>
        </p:nvSpPr>
        <p:spPr bwMode="auto">
          <a:xfrm>
            <a:off x="539750" y="1419225"/>
            <a:ext cx="20970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FF0000"/>
                </a:solidFill>
                <a:ea typeface="华文中宋" pitchFamily="2" charset="-122"/>
              </a:rPr>
              <a:t>（１）弹簧振子</a:t>
            </a:r>
          </a:p>
        </p:txBody>
      </p:sp>
      <p:grpSp>
        <p:nvGrpSpPr>
          <p:cNvPr id="117830" name="Group 70"/>
          <p:cNvGrpSpPr>
            <a:grpSpLocks/>
          </p:cNvGrpSpPr>
          <p:nvPr/>
        </p:nvGrpSpPr>
        <p:grpSpPr bwMode="auto">
          <a:xfrm>
            <a:off x="5145088" y="2587625"/>
            <a:ext cx="3959225" cy="919163"/>
            <a:chOff x="1565" y="935"/>
            <a:chExt cx="2676" cy="816"/>
          </a:xfrm>
        </p:grpSpPr>
        <p:sp>
          <p:nvSpPr>
            <p:cNvPr id="13332" name="Text Box 51"/>
            <p:cNvSpPr txBox="1">
              <a:spLocks noChangeArrowheads="1"/>
            </p:cNvSpPr>
            <p:nvPr/>
          </p:nvSpPr>
          <p:spPr bwMode="auto">
            <a:xfrm>
              <a:off x="2744" y="1480"/>
              <a:ext cx="20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13333" name="Text Box 52"/>
            <p:cNvSpPr txBox="1">
              <a:spLocks noChangeArrowheads="1"/>
            </p:cNvSpPr>
            <p:nvPr/>
          </p:nvSpPr>
          <p:spPr bwMode="auto">
            <a:xfrm>
              <a:off x="3515" y="1480"/>
              <a:ext cx="17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cs typeface="Times New Roman" pitchFamily="18" charset="0"/>
                </a:rPr>
                <a:t>x</a:t>
              </a:r>
            </a:p>
          </p:txBody>
        </p:sp>
        <p:grpSp>
          <p:nvGrpSpPr>
            <p:cNvPr id="13334" name="Group 69"/>
            <p:cNvGrpSpPr>
              <a:grpSpLocks/>
            </p:cNvGrpSpPr>
            <p:nvPr/>
          </p:nvGrpSpPr>
          <p:grpSpPr bwMode="auto">
            <a:xfrm>
              <a:off x="1565" y="935"/>
              <a:ext cx="2676" cy="598"/>
              <a:chOff x="1565" y="935"/>
              <a:chExt cx="2676" cy="598"/>
            </a:xfrm>
          </p:grpSpPr>
          <p:sp>
            <p:nvSpPr>
              <p:cNvPr id="13335" name="Line 49"/>
              <p:cNvSpPr>
                <a:spLocks noChangeShapeType="1"/>
              </p:cNvSpPr>
              <p:nvPr/>
            </p:nvSpPr>
            <p:spPr bwMode="auto">
              <a:xfrm>
                <a:off x="3606" y="1389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" name="Line 50"/>
              <p:cNvSpPr>
                <a:spLocks noChangeShapeType="1"/>
              </p:cNvSpPr>
              <p:nvPr/>
            </p:nvSpPr>
            <p:spPr bwMode="auto">
              <a:xfrm>
                <a:off x="2880" y="1389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37" name="Group 68"/>
              <p:cNvGrpSpPr>
                <a:grpSpLocks/>
              </p:cNvGrpSpPr>
              <p:nvPr/>
            </p:nvGrpSpPr>
            <p:grpSpPr bwMode="auto">
              <a:xfrm>
                <a:off x="1565" y="935"/>
                <a:ext cx="2676" cy="590"/>
                <a:chOff x="1791" y="845"/>
                <a:chExt cx="2676" cy="590"/>
              </a:xfrm>
            </p:grpSpPr>
            <p:grpSp>
              <p:nvGrpSpPr>
                <p:cNvPr id="13338" name="Group 58"/>
                <p:cNvGrpSpPr>
                  <a:grpSpLocks/>
                </p:cNvGrpSpPr>
                <p:nvPr/>
              </p:nvGrpSpPr>
              <p:grpSpPr bwMode="auto">
                <a:xfrm>
                  <a:off x="1927" y="845"/>
                  <a:ext cx="2018" cy="481"/>
                  <a:chOff x="1791" y="709"/>
                  <a:chExt cx="2018" cy="481"/>
                </a:xfrm>
              </p:grpSpPr>
              <p:grpSp>
                <p:nvGrpSpPr>
                  <p:cNvPr id="13348" name="Group 56"/>
                  <p:cNvGrpSpPr>
                    <a:grpSpLocks/>
                  </p:cNvGrpSpPr>
                  <p:nvPr/>
                </p:nvGrpSpPr>
                <p:grpSpPr bwMode="auto">
                  <a:xfrm>
                    <a:off x="1791" y="981"/>
                    <a:ext cx="2018" cy="209"/>
                    <a:chOff x="3243" y="2223"/>
                    <a:chExt cx="2018" cy="209"/>
                  </a:xfrm>
                </p:grpSpPr>
                <p:grpSp>
                  <p:nvGrpSpPr>
                    <p:cNvPr id="13353" name="Group 25"/>
                    <p:cNvGrpSpPr>
                      <a:grpSpLocks/>
                    </p:cNvGrpSpPr>
                    <p:nvPr/>
                  </p:nvGrpSpPr>
                  <p:grpSpPr bwMode="auto">
                    <a:xfrm rot="-5400000">
                      <a:off x="4058" y="1565"/>
                      <a:ext cx="191" cy="1514"/>
                      <a:chOff x="1104" y="1776"/>
                      <a:chExt cx="480" cy="768"/>
                    </a:xfrm>
                  </p:grpSpPr>
                  <p:grpSp>
                    <p:nvGrpSpPr>
                      <p:cNvPr id="13357" name="Group 2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2304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13373" name="Oval 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74" name="Oval 2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75" name="Oval 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76" name="Oval 3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3358" name="Group 3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2112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13369" name="Oval 3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70" name="Oval 3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71" name="Oval 3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72" name="Oval 3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3359" name="Group 3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1920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13365" name="Oval 3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66" name="Oval 3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67" name="Oval 3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68" name="Oval 4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13360" name="Group 4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1776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13361" name="Oval 4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62" name="Oval 4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63" name="Oval 4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13364" name="Oval 4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rgbClr val="800000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13354" name="Freeform 46"/>
                    <p:cNvSpPr>
                      <a:spLocks/>
                    </p:cNvSpPr>
                    <p:nvPr/>
                  </p:nvSpPr>
                  <p:spPr bwMode="auto">
                    <a:xfrm rot="-5400000">
                      <a:off x="4871" y="2224"/>
                      <a:ext cx="91" cy="264"/>
                    </a:xfrm>
                    <a:custGeom>
                      <a:avLst/>
                      <a:gdLst>
                        <a:gd name="T0" fmla="*/ 0 w 138"/>
                        <a:gd name="T1" fmla="*/ 244 h 134"/>
                        <a:gd name="T2" fmla="*/ 6 w 138"/>
                        <a:gd name="T3" fmla="*/ 15424 h 134"/>
                        <a:gd name="T4" fmla="*/ 0 60000 65536"/>
                        <a:gd name="T5" fmla="*/ 0 60000 65536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0" t="0" r="r" b="b"/>
                      <a:pathLst>
                        <a:path w="138" h="134">
                          <a:moveTo>
                            <a:pt x="0" y="2"/>
                          </a:moveTo>
                          <a:cubicBezTo>
                            <a:pt x="138" y="48"/>
                            <a:pt x="108" y="0"/>
                            <a:pt x="108" y="134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rgbClr val="8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355" name="Freeform 47"/>
                    <p:cNvSpPr>
                      <a:spLocks/>
                    </p:cNvSpPr>
                    <p:nvPr/>
                  </p:nvSpPr>
                  <p:spPr bwMode="auto">
                    <a:xfrm rot="-5400000">
                      <a:off x="3329" y="2210"/>
                      <a:ext cx="111" cy="284"/>
                    </a:xfrm>
                    <a:custGeom>
                      <a:avLst/>
                      <a:gdLst>
                        <a:gd name="T0" fmla="*/ 0 w 168"/>
                        <a:gd name="T1" fmla="*/ 15314 h 144"/>
                        <a:gd name="T2" fmla="*/ 9 w 168"/>
                        <a:gd name="T3" fmla="*/ 12530 h 144"/>
                        <a:gd name="T4" fmla="*/ 9 w 168"/>
                        <a:gd name="T5" fmla="*/ 0 h 144"/>
                        <a:gd name="T6" fmla="*/ 0 60000 65536"/>
                        <a:gd name="T7" fmla="*/ 0 60000 65536"/>
                        <a:gd name="T8" fmla="*/ 0 60000 65536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0" t="0" r="r" b="b"/>
                      <a:pathLst>
                        <a:path w="168" h="144">
                          <a:moveTo>
                            <a:pt x="0" y="132"/>
                          </a:moveTo>
                          <a:cubicBezTo>
                            <a:pt x="46" y="117"/>
                            <a:pt x="111" y="144"/>
                            <a:pt x="144" y="108"/>
                          </a:cubicBezTo>
                          <a:cubicBezTo>
                            <a:pt x="168" y="81"/>
                            <a:pt x="144" y="36"/>
                            <a:pt x="144" y="0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rgbClr val="8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356" name="Oval 48"/>
                    <p:cNvSpPr>
                      <a:spLocks noChangeArrowheads="1"/>
                    </p:cNvSpPr>
                    <p:nvPr/>
                  </p:nvSpPr>
                  <p:spPr bwMode="auto">
                    <a:xfrm rot="-5400000">
                      <a:off x="5054" y="2226"/>
                      <a:ext cx="209" cy="204"/>
                    </a:xfrm>
                    <a:prstGeom prst="ellipse">
                      <a:avLst/>
                    </a:prstGeom>
                    <a:gradFill rotWithShape="0">
                      <a:gsLst>
                        <a:gs pos="0">
                          <a:srgbClr val="33CCFF"/>
                        </a:gs>
                        <a:gs pos="100000">
                          <a:srgbClr val="1D728F"/>
                        </a:gs>
                      </a:gsLst>
                      <a:path path="shape">
                        <a:fillToRect l="50000" t="50000" r="50000" b="50000"/>
                      </a:path>
                    </a:gra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3349" name="Group 57"/>
                  <p:cNvGrpSpPr>
                    <a:grpSpLocks/>
                  </p:cNvGrpSpPr>
                  <p:nvPr/>
                </p:nvGrpSpPr>
                <p:grpSpPr bwMode="auto">
                  <a:xfrm>
                    <a:off x="3198" y="799"/>
                    <a:ext cx="480" cy="285"/>
                    <a:chOff x="3833" y="1557"/>
                    <a:chExt cx="480" cy="285"/>
                  </a:xfrm>
                </p:grpSpPr>
                <p:sp>
                  <p:nvSpPr>
                    <p:cNvPr id="13351" name="Line 5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833" y="1842"/>
                      <a:ext cx="48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3352" name="Text Box 54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969" y="1557"/>
                      <a:ext cx="197" cy="27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CC0000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>
                      <a:spAutoFit/>
                    </a:bodyPr>
                    <a:lstStyle>
                      <a:lvl1pPr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1pPr>
                      <a:lvl2pPr marL="742950" indent="-28575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2pPr>
                      <a:lvl3pPr marL="11430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3pPr>
                      <a:lvl4pPr marL="16002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4pPr>
                      <a:lvl5pPr marL="2057400" indent="-228600" eaLnBrk="0" hangingPunct="0"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黑体" pitchFamily="49" charset="-122"/>
                        </a:defRPr>
                      </a:lvl9pPr>
                    </a:lstStyle>
                    <a:p>
                      <a:pPr eaLnBrk="1" hangingPunct="1"/>
                      <a:r>
                        <a:rPr lang="en-US" altLang="zh-CN" sz="1500" i="1">
                          <a:solidFill>
                            <a:srgbClr val="FF0066"/>
                          </a:solidFill>
                          <a:ea typeface="宋体" pitchFamily="2" charset="-122"/>
                        </a:rPr>
                        <a:t>F</a:t>
                      </a:r>
                    </a:p>
                  </p:txBody>
                </p:sp>
              </p:grpSp>
              <p:sp>
                <p:nvSpPr>
                  <p:cNvPr id="13350" name="Text Box 5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517" y="709"/>
                    <a:ext cx="177" cy="2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1pPr>
                    <a:lvl2pPr marL="742950" indent="-28575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2pPr>
                    <a:lvl3pPr marL="11430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3pPr>
                    <a:lvl4pPr marL="16002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4pPr>
                    <a:lvl5pPr marL="2057400" indent="-228600" eaLnBrk="0" hangingPunct="0"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itchFamily="18" charset="0"/>
                        <a:ea typeface="黑体" pitchFamily="49" charset="-122"/>
                      </a:defRPr>
                    </a:lvl9pPr>
                  </a:lstStyle>
                  <a:p>
                    <a:pPr eaLnBrk="1" hangingPunct="1"/>
                    <a:r>
                      <a:rPr lang="en-US" altLang="zh-CN" sz="1500" i="1">
                        <a:solidFill>
                          <a:srgbClr val="FF0066"/>
                        </a:solidFill>
                        <a:ea typeface="宋体" pitchFamily="2" charset="-122"/>
                      </a:rPr>
                      <a:t>k</a:t>
                    </a:r>
                  </a:p>
                </p:txBody>
              </p:sp>
            </p:grpSp>
            <p:grpSp>
              <p:nvGrpSpPr>
                <p:cNvPr id="13339" name="Group 67"/>
                <p:cNvGrpSpPr>
                  <a:grpSpLocks/>
                </p:cNvGrpSpPr>
                <p:nvPr/>
              </p:nvGrpSpPr>
              <p:grpSpPr bwMode="auto">
                <a:xfrm>
                  <a:off x="1791" y="890"/>
                  <a:ext cx="2676" cy="545"/>
                  <a:chOff x="1610" y="935"/>
                  <a:chExt cx="2676" cy="545"/>
                </a:xfrm>
              </p:grpSpPr>
              <p:sp>
                <p:nvSpPr>
                  <p:cNvPr id="13340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1610" y="1480"/>
                    <a:ext cx="267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lg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1" name="Line 60"/>
                  <p:cNvSpPr>
                    <a:spLocks noChangeShapeType="1"/>
                  </p:cNvSpPr>
                  <p:nvPr/>
                </p:nvSpPr>
                <p:spPr bwMode="auto">
                  <a:xfrm>
                    <a:off x="1746" y="935"/>
                    <a:ext cx="0" cy="545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2" name="Line 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0" y="935"/>
                    <a:ext cx="136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3" name="Line 6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0" y="1026"/>
                    <a:ext cx="136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4" name="Line 6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0" y="1117"/>
                    <a:ext cx="136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5" name="Line 6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0" y="1207"/>
                    <a:ext cx="136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6" name="Line 6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0" y="1298"/>
                    <a:ext cx="136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3347" name="Line 6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0" y="1389"/>
                    <a:ext cx="136" cy="9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</p:grpSp>
      <p:grpSp>
        <p:nvGrpSpPr>
          <p:cNvPr id="117834" name="Group 74"/>
          <p:cNvGrpSpPr>
            <a:grpSpLocks/>
          </p:cNvGrpSpPr>
          <p:nvPr/>
        </p:nvGrpSpPr>
        <p:grpSpPr bwMode="auto">
          <a:xfrm>
            <a:off x="395288" y="1851025"/>
            <a:ext cx="5113337" cy="703263"/>
            <a:chOff x="1746" y="1778"/>
            <a:chExt cx="3221" cy="591"/>
          </a:xfrm>
        </p:grpSpPr>
        <p:sp>
          <p:nvSpPr>
            <p:cNvPr id="13327" name="Text Box 6"/>
            <p:cNvSpPr txBox="1">
              <a:spLocks noChangeArrowheads="1"/>
            </p:cNvSpPr>
            <p:nvPr/>
          </p:nvSpPr>
          <p:spPr bwMode="auto">
            <a:xfrm>
              <a:off x="3470" y="2058"/>
              <a:ext cx="1497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/>
              <a:r>
                <a:rPr kumimoji="0" lang="zh-CN" altLang="en-US" sz="1800">
                  <a:solidFill>
                    <a:srgbClr val="000000"/>
                  </a:solidFill>
                  <a:ea typeface="华文中宋" pitchFamily="2" charset="-122"/>
                </a:rPr>
                <a:t>（线性回复力）</a:t>
              </a:r>
            </a:p>
          </p:txBody>
        </p:sp>
        <p:grpSp>
          <p:nvGrpSpPr>
            <p:cNvPr id="13328" name="Group 73"/>
            <p:cNvGrpSpPr>
              <a:grpSpLocks/>
            </p:cNvGrpSpPr>
            <p:nvPr/>
          </p:nvGrpSpPr>
          <p:grpSpPr bwMode="auto">
            <a:xfrm>
              <a:off x="1746" y="1778"/>
              <a:ext cx="2043" cy="564"/>
              <a:chOff x="1155" y="1732"/>
              <a:chExt cx="2043" cy="564"/>
            </a:xfrm>
          </p:grpSpPr>
          <p:sp>
            <p:nvSpPr>
              <p:cNvPr id="13329" name="Text Box 4"/>
              <p:cNvSpPr txBox="1">
                <a:spLocks noChangeArrowheads="1"/>
              </p:cNvSpPr>
              <p:nvPr/>
            </p:nvSpPr>
            <p:spPr bwMode="auto">
              <a:xfrm>
                <a:off x="1155" y="1732"/>
                <a:ext cx="1241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algn="ctr"/>
                <a:r>
                  <a:rPr kumimoji="0" lang="zh-CN" altLang="en-US" sz="1800">
                    <a:solidFill>
                      <a:srgbClr val="000000"/>
                    </a:solidFill>
                    <a:ea typeface="华文中宋" pitchFamily="2" charset="-122"/>
                  </a:rPr>
                  <a:t>平衡位置：</a:t>
                </a:r>
              </a:p>
              <a:p>
                <a:pPr algn="ctr"/>
                <a:r>
                  <a:rPr kumimoji="0" lang="zh-CN" altLang="en-US" sz="1800">
                    <a:solidFill>
                      <a:srgbClr val="000000"/>
                    </a:solidFill>
                    <a:ea typeface="华文中宋" pitchFamily="2" charset="-122"/>
                  </a:rPr>
                  <a:t>受力分析：</a:t>
                </a:r>
              </a:p>
            </p:txBody>
          </p:sp>
          <p:graphicFrame>
            <p:nvGraphicFramePr>
              <p:cNvPr id="13330" name="Object 71"/>
              <p:cNvGraphicFramePr>
                <a:graphicFrameLocks noChangeAspect="1"/>
              </p:cNvGraphicFramePr>
              <p:nvPr/>
            </p:nvGraphicFramePr>
            <p:xfrm>
              <a:off x="2336" y="1752"/>
              <a:ext cx="499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83" name="Equation" r:id="rId5" imgW="368140" imgH="177723" progId="Equation.DSMT4">
                      <p:embed/>
                    </p:oleObj>
                  </mc:Choice>
                  <mc:Fallback>
                    <p:oleObj name="Equation" r:id="rId5" imgW="368140" imgH="177723" progId="Equation.DSMT4">
                      <p:embed/>
                      <p:pic>
                        <p:nvPicPr>
                          <p:cNvPr id="0" name="Object 7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36" y="1752"/>
                            <a:ext cx="499" cy="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31" name="Object 72"/>
              <p:cNvGraphicFramePr>
                <a:graphicFrameLocks noChangeAspect="1"/>
              </p:cNvGraphicFramePr>
              <p:nvPr/>
            </p:nvGraphicFramePr>
            <p:xfrm>
              <a:off x="2290" y="1993"/>
              <a:ext cx="908" cy="3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384" name="Equation" r:id="rId7" imgW="647419" imgH="215806" progId="Equation.DSMT4">
                      <p:embed/>
                    </p:oleObj>
                  </mc:Choice>
                  <mc:Fallback>
                    <p:oleObj name="Equation" r:id="rId7" imgW="647419" imgH="215806" progId="Equation.DSMT4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90" y="1993"/>
                            <a:ext cx="908" cy="30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17838" name="Group 78"/>
          <p:cNvGrpSpPr>
            <a:grpSpLocks/>
          </p:cNvGrpSpPr>
          <p:nvPr/>
        </p:nvGrpSpPr>
        <p:grpSpPr bwMode="auto">
          <a:xfrm>
            <a:off x="1009650" y="2593975"/>
            <a:ext cx="3778250" cy="373063"/>
            <a:chOff x="954" y="2372"/>
            <a:chExt cx="2380" cy="314"/>
          </a:xfrm>
        </p:grpSpPr>
        <p:sp>
          <p:nvSpPr>
            <p:cNvPr id="13325" name="Text Box 75"/>
            <p:cNvSpPr txBox="1">
              <a:spLocks noChangeArrowheads="1"/>
            </p:cNvSpPr>
            <p:nvPr/>
          </p:nvSpPr>
          <p:spPr bwMode="auto">
            <a:xfrm>
              <a:off x="954" y="2375"/>
              <a:ext cx="2380" cy="3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由牛顿定律                   可得：</a:t>
              </a:r>
            </a:p>
          </p:txBody>
        </p:sp>
        <p:graphicFrame>
          <p:nvGraphicFramePr>
            <p:cNvPr id="13326" name="Object 76"/>
            <p:cNvGraphicFramePr>
              <a:graphicFrameLocks noChangeAspect="1"/>
            </p:cNvGraphicFramePr>
            <p:nvPr/>
          </p:nvGraphicFramePr>
          <p:xfrm>
            <a:off x="1746" y="2372"/>
            <a:ext cx="72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85" name="Equation" r:id="rId9" imgW="545626" imgH="215713" progId="Equation.DSMT4">
                    <p:embed/>
                  </p:oleObj>
                </mc:Choice>
                <mc:Fallback>
                  <p:oleObj name="Equation" r:id="rId9" imgW="545626" imgH="215713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2372"/>
                          <a:ext cx="726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7839" name="Object 79"/>
          <p:cNvGraphicFramePr>
            <a:graphicFrameLocks noChangeAspect="1"/>
          </p:cNvGraphicFramePr>
          <p:nvPr/>
        </p:nvGraphicFramePr>
        <p:xfrm>
          <a:off x="1116013" y="3025775"/>
          <a:ext cx="394652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6" name="Equation" r:id="rId11" imgW="1841500" imgH="419100" progId="Equation.DSMT4">
                  <p:embed/>
                </p:oleObj>
              </mc:Choice>
              <mc:Fallback>
                <p:oleObj name="Equation" r:id="rId11" imgW="1841500" imgH="41910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025775"/>
                        <a:ext cx="394652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40" name="Object 80"/>
          <p:cNvGraphicFramePr>
            <a:graphicFrameLocks noChangeAspect="1"/>
          </p:cNvGraphicFramePr>
          <p:nvPr/>
        </p:nvGraphicFramePr>
        <p:xfrm>
          <a:off x="1123950" y="3729038"/>
          <a:ext cx="148748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7" name="Equation" r:id="rId13" imgW="660113" imgH="393529" progId="Equation.DSMT4">
                  <p:embed/>
                </p:oleObj>
              </mc:Choice>
              <mc:Fallback>
                <p:oleObj name="Equation" r:id="rId13" imgW="660113" imgH="393529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3729038"/>
                        <a:ext cx="1487488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841" name="Object 81"/>
          <p:cNvGraphicFramePr>
            <a:graphicFrameLocks noChangeAspect="1"/>
          </p:cNvGraphicFramePr>
          <p:nvPr/>
        </p:nvGraphicFramePr>
        <p:xfrm>
          <a:off x="3600450" y="3781425"/>
          <a:ext cx="15160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8" name="Equation" r:id="rId15" imgW="853582" imgH="380937" progId="Equation.DSMT4">
                  <p:embed/>
                </p:oleObj>
              </mc:Choice>
              <mc:Fallback>
                <p:oleObj name="Equation" r:id="rId15" imgW="853582" imgH="380937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3781425"/>
                        <a:ext cx="1516063" cy="538163"/>
                      </a:xfrm>
                      <a:prstGeom prst="rect">
                        <a:avLst/>
                      </a:prstGeom>
                      <a:noFill/>
                      <a:ln w="57150" cmpd="thickThin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42" name="Line 82"/>
          <p:cNvSpPr>
            <a:spLocks noChangeShapeType="1"/>
          </p:cNvSpPr>
          <p:nvPr/>
        </p:nvSpPr>
        <p:spPr bwMode="auto">
          <a:xfrm>
            <a:off x="2698750" y="4013200"/>
            <a:ext cx="72072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17843" name="Text Box 83"/>
          <p:cNvSpPr txBox="1">
            <a:spLocks noChangeArrowheads="1"/>
          </p:cNvSpPr>
          <p:nvPr/>
        </p:nvSpPr>
        <p:spPr bwMode="auto">
          <a:xfrm>
            <a:off x="5364163" y="3822700"/>
            <a:ext cx="19446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（动力学方程）</a:t>
            </a:r>
          </a:p>
        </p:txBody>
      </p:sp>
      <p:pic>
        <p:nvPicPr>
          <p:cNvPr id="117845" name="Picture 85" descr="SPRING~1"/>
          <p:cNvPicPr>
            <a:picLocks noChangeAspect="1" noChangeArrowheads="1" noCrop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675" y="1006475"/>
            <a:ext cx="38893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7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7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7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78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7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7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17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117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2" grpId="0" autoUpdateAnimBg="0"/>
      <p:bldP spid="117763" grpId="0" autoUpdateAnimBg="0"/>
      <p:bldP spid="117842" grpId="0" animBg="1"/>
      <p:bldP spid="11784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Text Box 3"/>
          <p:cNvSpPr txBox="1">
            <a:spLocks noChangeArrowheads="1"/>
          </p:cNvSpPr>
          <p:nvPr/>
        </p:nvSpPr>
        <p:spPr bwMode="auto">
          <a:xfrm>
            <a:off x="3678238" y="987425"/>
            <a:ext cx="11096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单   摆</a:t>
            </a:r>
          </a:p>
        </p:txBody>
      </p:sp>
      <p:sp>
        <p:nvSpPr>
          <p:cNvPr id="118789" name="Text Box 5"/>
          <p:cNvSpPr txBox="1">
            <a:spLocks noChangeArrowheads="1"/>
          </p:cNvSpPr>
          <p:nvPr/>
        </p:nvSpPr>
        <p:spPr bwMode="auto">
          <a:xfrm>
            <a:off x="1547813" y="2720975"/>
            <a:ext cx="237648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为线性回复力矩</a:t>
            </a:r>
          </a:p>
        </p:txBody>
      </p:sp>
      <p:sp>
        <p:nvSpPr>
          <p:cNvPr id="118790" name="Text Box 6"/>
          <p:cNvSpPr txBox="1">
            <a:spLocks noChangeArrowheads="1"/>
          </p:cNvSpPr>
          <p:nvPr/>
        </p:nvSpPr>
        <p:spPr bwMode="auto">
          <a:xfrm>
            <a:off x="323850" y="1779588"/>
            <a:ext cx="1409700" cy="37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>
              <a:lnSpc>
                <a:spcPct val="110000"/>
              </a:lnSpc>
            </a:pPr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力矩为：</a:t>
            </a:r>
          </a:p>
        </p:txBody>
      </p:sp>
      <p:graphicFrame>
        <p:nvGraphicFramePr>
          <p:cNvPr id="118791" name="Object 7"/>
          <p:cNvGraphicFramePr>
            <a:graphicFrameLocks noChangeAspect="1"/>
          </p:cNvGraphicFramePr>
          <p:nvPr/>
        </p:nvGraphicFramePr>
        <p:xfrm>
          <a:off x="1476375" y="1835150"/>
          <a:ext cx="30241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8" name="Equation" r:id="rId6" imgW="2171700" imgH="241300" progId="Equation.DSMT4">
                  <p:embed/>
                </p:oleObj>
              </mc:Choice>
              <mc:Fallback>
                <p:oleObj name="Equation" r:id="rId6" imgW="21717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835150"/>
                        <a:ext cx="302418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96" name="Rectangle 12"/>
          <p:cNvSpPr>
            <a:spLocks noChangeArrowheads="1"/>
          </p:cNvSpPr>
          <p:nvPr/>
        </p:nvSpPr>
        <p:spPr bwMode="auto">
          <a:xfrm>
            <a:off x="323850" y="771525"/>
            <a:ext cx="4424363" cy="36988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（２）微振动的简谐近似</a:t>
            </a:r>
          </a:p>
        </p:txBody>
      </p:sp>
      <p:graphicFrame>
        <p:nvGraphicFramePr>
          <p:cNvPr id="118811" name="Object 27"/>
          <p:cNvGraphicFramePr>
            <a:graphicFrameLocks noChangeAspect="1"/>
          </p:cNvGraphicFramePr>
          <p:nvPr/>
        </p:nvGraphicFramePr>
        <p:xfrm>
          <a:off x="7224713" y="1243013"/>
          <a:ext cx="3238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9" name="公式" r:id="rId8" imgW="101468" imgH="177569" progId="Equation.3">
                  <p:embed/>
                </p:oleObj>
              </mc:Choice>
              <mc:Fallback>
                <p:oleObj name="公式" r:id="rId8" imgW="101468" imgH="177569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3" y="1243013"/>
                        <a:ext cx="3238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66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841" name="Group 57"/>
          <p:cNvGrpSpPr>
            <a:grpSpLocks/>
          </p:cNvGrpSpPr>
          <p:nvPr/>
        </p:nvGrpSpPr>
        <p:grpSpPr bwMode="auto">
          <a:xfrm>
            <a:off x="7224713" y="1695450"/>
            <a:ext cx="401637" cy="628650"/>
            <a:chOff x="2699" y="1314"/>
            <a:chExt cx="253" cy="528"/>
          </a:xfrm>
        </p:grpSpPr>
        <p:graphicFrame>
          <p:nvGraphicFramePr>
            <p:cNvPr id="14401" name="Object 29"/>
            <p:cNvGraphicFramePr>
              <a:graphicFrameLocks noChangeAspect="1"/>
            </p:cNvGraphicFramePr>
            <p:nvPr/>
          </p:nvGraphicFramePr>
          <p:xfrm>
            <a:off x="2744" y="1525"/>
            <a:ext cx="2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0" name="公式" r:id="rId10" imgW="114151" imgH="152202" progId="Equation.3">
                    <p:embed/>
                  </p:oleObj>
                </mc:Choice>
                <mc:Fallback>
                  <p:oleObj name="公式" r:id="rId10" imgW="114151" imgH="152202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1525"/>
                          <a:ext cx="20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2" name="Line 32"/>
            <p:cNvSpPr>
              <a:spLocks noChangeShapeType="1"/>
            </p:cNvSpPr>
            <p:nvPr/>
          </p:nvSpPr>
          <p:spPr bwMode="auto">
            <a:xfrm rot="238656" flipV="1">
              <a:off x="2699" y="1314"/>
              <a:ext cx="192" cy="5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8854" name="Group 70"/>
          <p:cNvGrpSpPr>
            <a:grpSpLocks/>
          </p:cNvGrpSpPr>
          <p:nvPr/>
        </p:nvGrpSpPr>
        <p:grpSpPr bwMode="auto">
          <a:xfrm>
            <a:off x="7526338" y="1376363"/>
            <a:ext cx="819150" cy="373062"/>
            <a:chOff x="4586" y="1045"/>
            <a:chExt cx="516" cy="313"/>
          </a:xfrm>
        </p:grpSpPr>
        <p:grpSp>
          <p:nvGrpSpPr>
            <p:cNvPr id="14394" name="Group 58"/>
            <p:cNvGrpSpPr>
              <a:grpSpLocks/>
            </p:cNvGrpSpPr>
            <p:nvPr/>
          </p:nvGrpSpPr>
          <p:grpSpPr bwMode="auto">
            <a:xfrm>
              <a:off x="4586" y="1045"/>
              <a:ext cx="198" cy="313"/>
              <a:chOff x="2909" y="1045"/>
              <a:chExt cx="198" cy="313"/>
            </a:xfrm>
          </p:grpSpPr>
          <p:sp>
            <p:nvSpPr>
              <p:cNvPr id="14399" name="Freeform 37"/>
              <p:cNvSpPr>
                <a:spLocks/>
              </p:cNvSpPr>
              <p:nvPr/>
            </p:nvSpPr>
            <p:spPr bwMode="auto">
              <a:xfrm>
                <a:off x="2997" y="1045"/>
                <a:ext cx="110" cy="72"/>
              </a:xfrm>
              <a:custGeom>
                <a:avLst/>
                <a:gdLst>
                  <a:gd name="T0" fmla="*/ 0 w 144"/>
                  <a:gd name="T1" fmla="*/ 0 h 112"/>
                  <a:gd name="T2" fmla="*/ 11 w 144"/>
                  <a:gd name="T3" fmla="*/ 5 h 112"/>
                  <a:gd name="T4" fmla="*/ 21 w 144"/>
                  <a:gd name="T5" fmla="*/ 5 h 1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4" h="112">
                    <a:moveTo>
                      <a:pt x="0" y="0"/>
                    </a:moveTo>
                    <a:cubicBezTo>
                      <a:pt x="12" y="16"/>
                      <a:pt x="46" y="80"/>
                      <a:pt x="70" y="96"/>
                    </a:cubicBezTo>
                    <a:cubicBezTo>
                      <a:pt x="94" y="112"/>
                      <a:pt x="129" y="96"/>
                      <a:pt x="144" y="96"/>
                    </a:cubicBezTo>
                  </a:path>
                </a:pathLst>
              </a:custGeom>
              <a:noFill/>
              <a:ln w="28575" cap="flat" cmpd="sng">
                <a:solidFill>
                  <a:srgbClr val="FF66FF"/>
                </a:solidFill>
                <a:prstDash val="solid"/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993D99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4400" name="Object 38"/>
              <p:cNvGraphicFramePr>
                <a:graphicFrameLocks noChangeAspect="1"/>
              </p:cNvGraphicFramePr>
              <p:nvPr/>
            </p:nvGraphicFramePr>
            <p:xfrm>
              <a:off x="2909" y="1117"/>
              <a:ext cx="193" cy="2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421" name="公式" r:id="rId12" imgW="114201" imgH="139579" progId="Equation.3">
                      <p:embed/>
                    </p:oleObj>
                  </mc:Choice>
                  <mc:Fallback>
                    <p:oleObj name="公式" r:id="rId12" imgW="114201" imgH="139579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09" y="1117"/>
                            <a:ext cx="193" cy="2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395" name="Group 45"/>
            <p:cNvGrpSpPr>
              <a:grpSpLocks/>
            </p:cNvGrpSpPr>
            <p:nvPr/>
          </p:nvGrpSpPr>
          <p:grpSpPr bwMode="auto">
            <a:xfrm>
              <a:off x="4875" y="1117"/>
              <a:ext cx="227" cy="226"/>
              <a:chOff x="4649" y="1117"/>
              <a:chExt cx="318" cy="317"/>
            </a:xfrm>
          </p:grpSpPr>
          <p:sp>
            <p:nvSpPr>
              <p:cNvPr id="14396" name="Oval 42"/>
              <p:cNvSpPr>
                <a:spLocks noChangeArrowheads="1"/>
              </p:cNvSpPr>
              <p:nvPr/>
            </p:nvSpPr>
            <p:spPr bwMode="auto">
              <a:xfrm>
                <a:off x="4649" y="1117"/>
                <a:ext cx="318" cy="31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97" name="Line 43"/>
              <p:cNvSpPr>
                <a:spLocks noChangeShapeType="1"/>
              </p:cNvSpPr>
              <p:nvPr/>
            </p:nvSpPr>
            <p:spPr bwMode="auto">
              <a:xfrm>
                <a:off x="4694" y="1162"/>
                <a:ext cx="227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8" name="Line 44"/>
              <p:cNvSpPr>
                <a:spLocks noChangeShapeType="1"/>
              </p:cNvSpPr>
              <p:nvPr/>
            </p:nvSpPr>
            <p:spPr bwMode="auto">
              <a:xfrm flipH="1">
                <a:off x="4694" y="1162"/>
                <a:ext cx="227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8853" name="Group 69"/>
          <p:cNvGrpSpPr>
            <a:grpSpLocks/>
          </p:cNvGrpSpPr>
          <p:nvPr/>
        </p:nvGrpSpPr>
        <p:grpSpPr bwMode="auto">
          <a:xfrm>
            <a:off x="6761163" y="1073150"/>
            <a:ext cx="1057275" cy="1885950"/>
            <a:chOff x="2427" y="790"/>
            <a:chExt cx="666" cy="1584"/>
          </a:xfrm>
        </p:grpSpPr>
        <p:graphicFrame>
          <p:nvGraphicFramePr>
            <p:cNvPr id="14389" name="Object 28"/>
            <p:cNvGraphicFramePr>
              <a:graphicFrameLocks noChangeAspect="1"/>
            </p:cNvGraphicFramePr>
            <p:nvPr/>
          </p:nvGraphicFramePr>
          <p:xfrm>
            <a:off x="2653" y="2024"/>
            <a:ext cx="304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2" name="公式" r:id="rId14" imgW="190335" imgH="164957" progId="Equation.3">
                    <p:embed/>
                  </p:oleObj>
                </mc:Choice>
                <mc:Fallback>
                  <p:oleObj name="公式" r:id="rId14" imgW="190335" imgH="164957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3" y="2024"/>
                          <a:ext cx="304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90" name="Group 68"/>
            <p:cNvGrpSpPr>
              <a:grpSpLocks/>
            </p:cNvGrpSpPr>
            <p:nvPr/>
          </p:nvGrpSpPr>
          <p:grpSpPr bwMode="auto">
            <a:xfrm>
              <a:off x="2427" y="790"/>
              <a:ext cx="666" cy="1584"/>
              <a:chOff x="2427" y="790"/>
              <a:chExt cx="666" cy="1584"/>
            </a:xfrm>
          </p:grpSpPr>
          <p:sp>
            <p:nvSpPr>
              <p:cNvPr id="14391" name="Line 30"/>
              <p:cNvSpPr>
                <a:spLocks noChangeShapeType="1"/>
              </p:cNvSpPr>
              <p:nvPr/>
            </p:nvSpPr>
            <p:spPr bwMode="auto">
              <a:xfrm>
                <a:off x="2649" y="1909"/>
                <a:ext cx="0" cy="46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92" name="Line 31"/>
              <p:cNvSpPr>
                <a:spLocks noChangeShapeType="1"/>
              </p:cNvSpPr>
              <p:nvPr/>
            </p:nvSpPr>
            <p:spPr bwMode="auto">
              <a:xfrm flipH="1">
                <a:off x="2661" y="790"/>
                <a:ext cx="432" cy="1008"/>
              </a:xfrm>
              <a:prstGeom prst="line">
                <a:avLst/>
              </a:prstGeom>
              <a:noFill/>
              <a:ln w="38100">
                <a:solidFill>
                  <a:srgbClr val="008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93" name="Line 59"/>
              <p:cNvSpPr>
                <a:spLocks noChangeShapeType="1"/>
              </p:cNvSpPr>
              <p:nvPr/>
            </p:nvSpPr>
            <p:spPr bwMode="auto">
              <a:xfrm flipH="1">
                <a:off x="2427" y="1933"/>
                <a:ext cx="181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8851" name="Group 67"/>
          <p:cNvGrpSpPr>
            <a:grpSpLocks/>
          </p:cNvGrpSpPr>
          <p:nvPr/>
        </p:nvGrpSpPr>
        <p:grpSpPr bwMode="auto">
          <a:xfrm>
            <a:off x="5535613" y="1947863"/>
            <a:ext cx="1368425" cy="631825"/>
            <a:chOff x="1655" y="1525"/>
            <a:chExt cx="862" cy="531"/>
          </a:xfrm>
        </p:grpSpPr>
        <p:grpSp>
          <p:nvGrpSpPr>
            <p:cNvPr id="14385" name="Group 65"/>
            <p:cNvGrpSpPr>
              <a:grpSpLocks/>
            </p:cNvGrpSpPr>
            <p:nvPr/>
          </p:nvGrpSpPr>
          <p:grpSpPr bwMode="auto">
            <a:xfrm>
              <a:off x="2290" y="1525"/>
              <a:ext cx="227" cy="227"/>
              <a:chOff x="2018" y="1797"/>
              <a:chExt cx="272" cy="272"/>
            </a:xfrm>
          </p:grpSpPr>
          <p:sp>
            <p:nvSpPr>
              <p:cNvPr id="14387" name="Oval 61"/>
              <p:cNvSpPr>
                <a:spLocks noChangeArrowheads="1"/>
              </p:cNvSpPr>
              <p:nvPr/>
            </p:nvSpPr>
            <p:spPr bwMode="auto">
              <a:xfrm>
                <a:off x="2018" y="1797"/>
                <a:ext cx="272" cy="27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88" name="Oval 64"/>
              <p:cNvSpPr>
                <a:spLocks noChangeArrowheads="1"/>
              </p:cNvSpPr>
              <p:nvPr/>
            </p:nvSpPr>
            <p:spPr bwMode="auto">
              <a:xfrm>
                <a:off x="2109" y="1888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aphicFrame>
          <p:nvGraphicFramePr>
            <p:cNvPr id="14386" name="Object 66"/>
            <p:cNvGraphicFramePr>
              <a:graphicFrameLocks noChangeAspect="1"/>
            </p:cNvGraphicFramePr>
            <p:nvPr/>
          </p:nvGraphicFramePr>
          <p:xfrm>
            <a:off x="1655" y="1752"/>
            <a:ext cx="859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3" name="公式" r:id="rId16" imgW="533169" imgH="190417" progId="Equation.3">
                    <p:embed/>
                  </p:oleObj>
                </mc:Choice>
                <mc:Fallback>
                  <p:oleObj name="公式" r:id="rId16" imgW="533169" imgH="190417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752"/>
                          <a:ext cx="859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8857" name="Group 73"/>
          <p:cNvGrpSpPr>
            <a:grpSpLocks/>
          </p:cNvGrpSpPr>
          <p:nvPr/>
        </p:nvGrpSpPr>
        <p:grpSpPr bwMode="auto">
          <a:xfrm>
            <a:off x="6832600" y="758825"/>
            <a:ext cx="1873250" cy="1989138"/>
            <a:chOff x="4149" y="527"/>
            <a:chExt cx="1180" cy="1670"/>
          </a:xfrm>
        </p:grpSpPr>
        <p:grpSp>
          <p:nvGrpSpPr>
            <p:cNvPr id="14368" name="Group 71"/>
            <p:cNvGrpSpPr>
              <a:grpSpLocks/>
            </p:cNvGrpSpPr>
            <p:nvPr/>
          </p:nvGrpSpPr>
          <p:grpSpPr bwMode="auto">
            <a:xfrm>
              <a:off x="4149" y="527"/>
              <a:ext cx="1180" cy="1670"/>
              <a:chOff x="4149" y="527"/>
              <a:chExt cx="1180" cy="1670"/>
            </a:xfrm>
          </p:grpSpPr>
          <p:sp>
            <p:nvSpPr>
              <p:cNvPr id="14370" name="Oval 34"/>
              <p:cNvSpPr>
                <a:spLocks noChangeArrowheads="1"/>
              </p:cNvSpPr>
              <p:nvPr/>
            </p:nvSpPr>
            <p:spPr bwMode="auto">
              <a:xfrm>
                <a:off x="4230" y="1777"/>
                <a:ext cx="193" cy="192"/>
              </a:xfrm>
              <a:prstGeom prst="ellipse">
                <a:avLst/>
              </a:prstGeom>
              <a:gradFill rotWithShape="0">
                <a:gsLst>
                  <a:gs pos="0">
                    <a:srgbClr val="FFCC00"/>
                  </a:gs>
                  <a:gs pos="100000">
                    <a:srgbClr val="CC3300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CCFF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7A1F0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4371" name="Line 36"/>
              <p:cNvSpPr>
                <a:spLocks noChangeShapeType="1"/>
              </p:cNvSpPr>
              <p:nvPr/>
            </p:nvSpPr>
            <p:spPr bwMode="auto">
              <a:xfrm>
                <a:off x="4770" y="805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2" name="Arc 39"/>
              <p:cNvSpPr>
                <a:spLocks/>
              </p:cNvSpPr>
              <p:nvPr/>
            </p:nvSpPr>
            <p:spPr bwMode="auto">
              <a:xfrm rot="8040816">
                <a:off x="4471" y="1582"/>
                <a:ext cx="575" cy="590"/>
              </a:xfrm>
              <a:custGeom>
                <a:avLst/>
                <a:gdLst>
                  <a:gd name="T0" fmla="*/ 0 w 21546"/>
                  <a:gd name="T1" fmla="*/ 0 h 21600"/>
                  <a:gd name="T2" fmla="*/ 0 w 21546"/>
                  <a:gd name="T3" fmla="*/ 0 h 21600"/>
                  <a:gd name="T4" fmla="*/ 0 w 21546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46" h="21600" fill="none" extrusionOk="0">
                    <a:moveTo>
                      <a:pt x="-1" y="0"/>
                    </a:moveTo>
                    <a:cubicBezTo>
                      <a:pt x="11334" y="0"/>
                      <a:pt x="20741" y="8761"/>
                      <a:pt x="21545" y="20068"/>
                    </a:cubicBezTo>
                  </a:path>
                  <a:path w="21546" h="21600" stroke="0" extrusionOk="0">
                    <a:moveTo>
                      <a:pt x="-1" y="0"/>
                    </a:moveTo>
                    <a:cubicBezTo>
                      <a:pt x="11334" y="0"/>
                      <a:pt x="20741" y="8761"/>
                      <a:pt x="21545" y="2006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373" name="Group 56"/>
              <p:cNvGrpSpPr>
                <a:grpSpLocks/>
              </p:cNvGrpSpPr>
              <p:nvPr/>
            </p:nvGrpSpPr>
            <p:grpSpPr bwMode="auto">
              <a:xfrm>
                <a:off x="4149" y="527"/>
                <a:ext cx="1180" cy="272"/>
                <a:chOff x="2472" y="527"/>
                <a:chExt cx="1180" cy="272"/>
              </a:xfrm>
            </p:grpSpPr>
            <p:graphicFrame>
              <p:nvGraphicFramePr>
                <p:cNvPr id="14374" name="Object 35"/>
                <p:cNvGraphicFramePr>
                  <a:graphicFrameLocks noChangeAspect="1"/>
                </p:cNvGraphicFramePr>
                <p:nvPr/>
              </p:nvGraphicFramePr>
              <p:xfrm>
                <a:off x="3016" y="527"/>
                <a:ext cx="212" cy="23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4424" name="公式" r:id="rId18" imgW="126835" imgH="139518" progId="Equation.3">
                        <p:embed/>
                      </p:oleObj>
                    </mc:Choice>
                    <mc:Fallback>
                      <p:oleObj name="公式" r:id="rId18" imgW="126835" imgH="139518" progId="Equation.3">
                        <p:embed/>
                        <p:pic>
                          <p:nvPicPr>
                            <p:cNvPr id="0" name="Object 3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16" y="527"/>
                              <a:ext cx="212" cy="23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4375" name="Group 55"/>
                <p:cNvGrpSpPr>
                  <a:grpSpLocks/>
                </p:cNvGrpSpPr>
                <p:nvPr/>
              </p:nvGrpSpPr>
              <p:grpSpPr bwMode="auto">
                <a:xfrm>
                  <a:off x="2472" y="709"/>
                  <a:ext cx="1180" cy="90"/>
                  <a:chOff x="2472" y="709"/>
                  <a:chExt cx="1180" cy="90"/>
                </a:xfrm>
              </p:grpSpPr>
              <p:sp>
                <p:nvSpPr>
                  <p:cNvPr id="14376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2472" y="799"/>
                    <a:ext cx="118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7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517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8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653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79" name="Line 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89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0" name="Line 5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925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1" name="Line 5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061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2" name="Line 5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97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3" name="Line 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3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384" name="Line 5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69" y="709"/>
                    <a:ext cx="91" cy="9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14369" name="Line 72"/>
            <p:cNvSpPr>
              <a:spLocks noChangeShapeType="1"/>
            </p:cNvSpPr>
            <p:nvPr/>
          </p:nvSpPr>
          <p:spPr bwMode="auto">
            <a:xfrm flipH="1">
              <a:off x="4377" y="799"/>
              <a:ext cx="408" cy="99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8859" name="Group 75"/>
          <p:cNvGrpSpPr>
            <a:grpSpLocks/>
          </p:cNvGrpSpPr>
          <p:nvPr/>
        </p:nvGrpSpPr>
        <p:grpSpPr bwMode="auto">
          <a:xfrm>
            <a:off x="1042988" y="1425575"/>
            <a:ext cx="4465637" cy="371475"/>
            <a:chOff x="0" y="652"/>
            <a:chExt cx="3360" cy="312"/>
          </a:xfrm>
        </p:grpSpPr>
        <p:sp>
          <p:nvSpPr>
            <p:cNvPr id="14366" name="Text Box 4"/>
            <p:cNvSpPr txBox="1">
              <a:spLocks noChangeArrowheads="1"/>
            </p:cNvSpPr>
            <p:nvPr/>
          </p:nvSpPr>
          <p:spPr bwMode="auto">
            <a:xfrm>
              <a:off x="0" y="652"/>
              <a:ext cx="3360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buFont typeface="宋体" pitchFamily="2" charset="-122"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角平衡位置：      （竖直位置）</a:t>
              </a:r>
            </a:p>
          </p:txBody>
        </p:sp>
        <p:graphicFrame>
          <p:nvGraphicFramePr>
            <p:cNvPr id="14367" name="Object 74"/>
            <p:cNvGraphicFramePr>
              <a:graphicFrameLocks noChangeAspect="1"/>
            </p:cNvGraphicFramePr>
            <p:nvPr/>
          </p:nvGraphicFramePr>
          <p:xfrm>
            <a:off x="1082" y="709"/>
            <a:ext cx="49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5" name="公式" r:id="rId20" imgW="266469" imgH="139579" progId="Equation.3">
                    <p:embed/>
                  </p:oleObj>
                </mc:Choice>
                <mc:Fallback>
                  <p:oleObj name="公式" r:id="rId20" imgW="266469" imgH="139579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2" y="709"/>
                          <a:ext cx="49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8861" name="Object 77"/>
          <p:cNvGraphicFramePr>
            <a:graphicFrameLocks noChangeAspect="1"/>
          </p:cNvGraphicFramePr>
          <p:nvPr/>
        </p:nvGraphicFramePr>
        <p:xfrm>
          <a:off x="1331913" y="2463800"/>
          <a:ext cx="327183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6" name="Equation" r:id="rId22" imgW="1091726" imgH="152334" progId="Equation.DSMT4">
                  <p:embed/>
                </p:oleObj>
              </mc:Choice>
              <mc:Fallback>
                <p:oleObj name="Equation" r:id="rId22" imgW="1091726" imgH="152334" progId="Equation.DSMT4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63800"/>
                        <a:ext cx="327183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863" name="Group 79"/>
          <p:cNvGrpSpPr>
            <a:grpSpLocks/>
          </p:cNvGrpSpPr>
          <p:nvPr/>
        </p:nvGrpSpPr>
        <p:grpSpPr bwMode="auto">
          <a:xfrm>
            <a:off x="179388" y="2081213"/>
            <a:ext cx="3455987" cy="419100"/>
            <a:chOff x="249" y="1684"/>
            <a:chExt cx="2177" cy="351"/>
          </a:xfrm>
        </p:grpSpPr>
        <p:sp>
          <p:nvSpPr>
            <p:cNvPr id="14364" name="Text Box 2"/>
            <p:cNvSpPr txBox="1">
              <a:spLocks noChangeArrowheads="1"/>
            </p:cNvSpPr>
            <p:nvPr/>
          </p:nvSpPr>
          <p:spPr bwMode="auto">
            <a:xfrm>
              <a:off x="249" y="1725"/>
              <a:ext cx="1660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因为做小角度摆动</a:t>
              </a:r>
            </a:p>
          </p:txBody>
        </p:sp>
        <p:graphicFrame>
          <p:nvGraphicFramePr>
            <p:cNvPr id="14365" name="Object 78"/>
            <p:cNvGraphicFramePr>
              <a:graphicFrameLocks noChangeAspect="1"/>
            </p:cNvGraphicFramePr>
            <p:nvPr/>
          </p:nvGraphicFramePr>
          <p:xfrm>
            <a:off x="1882" y="1684"/>
            <a:ext cx="544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7" name="公式" r:id="rId24" imgW="304668" imgH="190417" progId="Equation.3">
                    <p:embed/>
                  </p:oleObj>
                </mc:Choice>
                <mc:Fallback>
                  <p:oleObj name="公式" r:id="rId24" imgW="304668" imgH="190417" progId="Equation.3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1684"/>
                          <a:ext cx="544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8866" name="Group 82"/>
          <p:cNvGrpSpPr>
            <a:grpSpLocks/>
          </p:cNvGrpSpPr>
          <p:nvPr/>
        </p:nvGrpSpPr>
        <p:grpSpPr bwMode="auto">
          <a:xfrm>
            <a:off x="3276600" y="3003550"/>
            <a:ext cx="2281238" cy="395288"/>
            <a:chOff x="717" y="2610"/>
            <a:chExt cx="1437" cy="332"/>
          </a:xfrm>
        </p:grpSpPr>
        <p:graphicFrame>
          <p:nvGraphicFramePr>
            <p:cNvPr id="14362" name="Object 80"/>
            <p:cNvGraphicFramePr>
              <a:graphicFrameLocks noChangeAspect="1"/>
            </p:cNvGraphicFramePr>
            <p:nvPr/>
          </p:nvGraphicFramePr>
          <p:xfrm>
            <a:off x="1488" y="2610"/>
            <a:ext cx="666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8" name="公式" r:id="rId26" imgW="393529" imgH="190417" progId="Equation.3">
                    <p:embed/>
                  </p:oleObj>
                </mc:Choice>
                <mc:Fallback>
                  <p:oleObj name="公式" r:id="rId26" imgW="393529" imgH="190417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2610"/>
                          <a:ext cx="666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3" name="Text Box 81"/>
            <p:cNvSpPr txBox="1">
              <a:spLocks noChangeArrowheads="1"/>
            </p:cNvSpPr>
            <p:nvPr/>
          </p:nvSpPr>
          <p:spPr bwMode="auto">
            <a:xfrm>
              <a:off x="717" y="2632"/>
              <a:ext cx="113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转动惯量：</a:t>
              </a:r>
            </a:p>
          </p:txBody>
        </p:sp>
      </p:grpSp>
      <p:graphicFrame>
        <p:nvGraphicFramePr>
          <p:cNvPr id="118868" name="Object 84"/>
          <p:cNvGraphicFramePr>
            <a:graphicFrameLocks noChangeAspect="1"/>
          </p:cNvGraphicFramePr>
          <p:nvPr/>
        </p:nvGraphicFramePr>
        <p:xfrm>
          <a:off x="1338263" y="3363913"/>
          <a:ext cx="481806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9" name="Equation" r:id="rId28" imgW="2273300" imgH="419100" progId="Equation.DSMT4">
                  <p:embed/>
                </p:oleObj>
              </mc:Choice>
              <mc:Fallback>
                <p:oleObj name="Equation" r:id="rId28" imgW="2273300" imgH="41910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8263" y="3363913"/>
                        <a:ext cx="4818062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70" name="Object 86"/>
          <p:cNvGraphicFramePr>
            <a:graphicFrameLocks noChangeAspect="1"/>
          </p:cNvGraphicFramePr>
          <p:nvPr/>
        </p:nvGraphicFramePr>
        <p:xfrm>
          <a:off x="3373438" y="4044950"/>
          <a:ext cx="15589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0" name="Equation" r:id="rId30" imgW="861237" imgH="380937" progId="Equation.DSMT4">
                  <p:embed/>
                </p:oleObj>
              </mc:Choice>
              <mc:Fallback>
                <p:oleObj name="Equation" r:id="rId30" imgW="861237" imgH="380937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438" y="4044950"/>
                        <a:ext cx="1558925" cy="542925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8872" name="Group 88"/>
          <p:cNvGrpSpPr>
            <a:grpSpLocks/>
          </p:cNvGrpSpPr>
          <p:nvPr/>
        </p:nvGrpSpPr>
        <p:grpSpPr bwMode="auto">
          <a:xfrm>
            <a:off x="323850" y="3044825"/>
            <a:ext cx="2836863" cy="390525"/>
            <a:chOff x="748" y="2677"/>
            <a:chExt cx="1787" cy="329"/>
          </a:xfrm>
        </p:grpSpPr>
        <p:sp>
          <p:nvSpPr>
            <p:cNvPr id="14360" name="Text Box 83"/>
            <p:cNvSpPr txBox="1">
              <a:spLocks noChangeArrowheads="1"/>
            </p:cNvSpPr>
            <p:nvPr/>
          </p:nvSpPr>
          <p:spPr bwMode="auto">
            <a:xfrm>
              <a:off x="748" y="2677"/>
              <a:ext cx="127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由转动定律：</a:t>
              </a:r>
            </a:p>
          </p:txBody>
        </p:sp>
        <p:graphicFrame>
          <p:nvGraphicFramePr>
            <p:cNvPr id="14361" name="Object 87"/>
            <p:cNvGraphicFramePr>
              <a:graphicFrameLocks noChangeAspect="1"/>
            </p:cNvGraphicFramePr>
            <p:nvPr/>
          </p:nvGraphicFramePr>
          <p:xfrm>
            <a:off x="1791" y="2718"/>
            <a:ext cx="7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31" name="公式" r:id="rId32" imgW="393529" imgH="152334" progId="Equation.3">
                    <p:embed/>
                  </p:oleObj>
                </mc:Choice>
                <mc:Fallback>
                  <p:oleObj name="公式" r:id="rId32" imgW="393529" imgH="152334" progId="Equation.3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2718"/>
                          <a:ext cx="7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8873" name="Object 89"/>
          <p:cNvGraphicFramePr>
            <a:graphicFrameLocks noChangeAspect="1"/>
          </p:cNvGraphicFramePr>
          <p:nvPr/>
        </p:nvGraphicFramePr>
        <p:xfrm>
          <a:off x="1187450" y="4011613"/>
          <a:ext cx="131921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2" name="公式" r:id="rId34" imgW="482391" imgH="291973" progId="Equation.3">
                  <p:embed/>
                </p:oleObj>
              </mc:Choice>
              <mc:Fallback>
                <p:oleObj name="公式" r:id="rId34" imgW="482391" imgH="291973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11613"/>
                        <a:ext cx="131921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F8F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74" name="Line 90"/>
          <p:cNvSpPr>
            <a:spLocks noChangeShapeType="1"/>
          </p:cNvSpPr>
          <p:nvPr/>
        </p:nvSpPr>
        <p:spPr bwMode="auto">
          <a:xfrm>
            <a:off x="2592388" y="4335463"/>
            <a:ext cx="72072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75" name="Text Box 91"/>
          <p:cNvSpPr txBox="1">
            <a:spLocks noChangeArrowheads="1"/>
          </p:cNvSpPr>
          <p:nvPr/>
        </p:nvSpPr>
        <p:spPr bwMode="auto">
          <a:xfrm>
            <a:off x="5005388" y="4141788"/>
            <a:ext cx="25923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（动力学方程）</a:t>
            </a:r>
          </a:p>
        </p:txBody>
      </p:sp>
      <p:pic>
        <p:nvPicPr>
          <p:cNvPr id="118877" name="Picture 93" descr="PENDUL~1"/>
          <p:cNvPicPr>
            <a:picLocks noChangeAspect="1" noChangeArrowheads="1" noCrop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113" y="3082925"/>
            <a:ext cx="1912937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18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1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1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1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18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8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1188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8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18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18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18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utoUpdateAnimBg="0"/>
      <p:bldP spid="118789" grpId="0" autoUpdateAnimBg="0"/>
      <p:bldP spid="118790" grpId="0"/>
      <p:bldP spid="118796" grpId="0" autoUpdateAnimBg="0"/>
      <p:bldP spid="118874" grpId="0" animBg="1"/>
      <p:bldP spid="11887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843213" y="835025"/>
            <a:ext cx="19161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kumimoji="0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复   摆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6119813" y="1147763"/>
            <a:ext cx="1012825" cy="1878012"/>
            <a:chOff x="5314752" y="2286000"/>
            <a:chExt cx="1012895" cy="2505456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5314752" y="2340658"/>
              <a:ext cx="1012895" cy="2222198"/>
            </a:xfrm>
            <a:custGeom>
              <a:avLst/>
              <a:gdLst>
                <a:gd name="connsiteX0" fmla="*/ 208223 w 935094"/>
                <a:gd name="connsiteY0" fmla="*/ 206 h 1760493"/>
                <a:gd name="connsiteX1" fmla="*/ 701999 w 935094"/>
                <a:gd name="connsiteY1" fmla="*/ 283670 h 1760493"/>
                <a:gd name="connsiteX2" fmla="*/ 930599 w 935094"/>
                <a:gd name="connsiteY2" fmla="*/ 960326 h 1760493"/>
                <a:gd name="connsiteX3" fmla="*/ 802583 w 935094"/>
                <a:gd name="connsiteY3" fmla="*/ 1700990 h 1760493"/>
                <a:gd name="connsiteX4" fmla="*/ 226511 w 935094"/>
                <a:gd name="connsiteY4" fmla="*/ 1627838 h 1760493"/>
                <a:gd name="connsiteX5" fmla="*/ 52775 w 935094"/>
                <a:gd name="connsiteY5" fmla="*/ 932894 h 1760493"/>
                <a:gd name="connsiteX6" fmla="*/ 7055 w 935094"/>
                <a:gd name="connsiteY6" fmla="*/ 320246 h 1760493"/>
                <a:gd name="connsiteX7" fmla="*/ 208223 w 935094"/>
                <a:gd name="connsiteY7" fmla="*/ 206 h 1760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5094" h="1760493">
                  <a:moveTo>
                    <a:pt x="208223" y="206"/>
                  </a:moveTo>
                  <a:cubicBezTo>
                    <a:pt x="324047" y="-5890"/>
                    <a:pt x="581603" y="123650"/>
                    <a:pt x="701999" y="283670"/>
                  </a:cubicBezTo>
                  <a:cubicBezTo>
                    <a:pt x="822395" y="443690"/>
                    <a:pt x="913835" y="724106"/>
                    <a:pt x="930599" y="960326"/>
                  </a:cubicBezTo>
                  <a:cubicBezTo>
                    <a:pt x="947363" y="1196546"/>
                    <a:pt x="919931" y="1589738"/>
                    <a:pt x="802583" y="1700990"/>
                  </a:cubicBezTo>
                  <a:cubicBezTo>
                    <a:pt x="685235" y="1812242"/>
                    <a:pt x="351479" y="1755854"/>
                    <a:pt x="226511" y="1627838"/>
                  </a:cubicBezTo>
                  <a:cubicBezTo>
                    <a:pt x="101543" y="1499822"/>
                    <a:pt x="89351" y="1150826"/>
                    <a:pt x="52775" y="932894"/>
                  </a:cubicBezTo>
                  <a:cubicBezTo>
                    <a:pt x="16199" y="714962"/>
                    <a:pt x="-14281" y="475694"/>
                    <a:pt x="7055" y="320246"/>
                  </a:cubicBezTo>
                  <a:cubicBezTo>
                    <a:pt x="28391" y="164798"/>
                    <a:pt x="92399" y="6302"/>
                    <a:pt x="208223" y="206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2857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5400000">
                <a:prstClr val="black">
                  <a:alpha val="50000"/>
                </a:prstClr>
              </a:innerShdw>
            </a:effectLst>
          </p:spPr>
          <p:txBody>
            <a:bodyPr/>
            <a:lstStyle/>
            <a:p>
              <a:pPr>
                <a:defRPr/>
              </a:pPr>
              <a:endParaRPr kumimoji="0" lang="zh-CN" altLang="en-US" sz="1800" b="0">
                <a:solidFill>
                  <a:prstClr val="black"/>
                </a:solidFill>
                <a:ea typeface="宋体" pitchFamily="2" charset="-122"/>
              </a:endParaRPr>
            </a:p>
          </p:txBody>
        </p:sp>
        <p:cxnSp>
          <p:nvCxnSpPr>
            <p:cNvPr id="15399" name="直接连接符 14"/>
            <p:cNvCxnSpPr>
              <a:cxnSpLocks noChangeShapeType="1"/>
            </p:cNvCxnSpPr>
            <p:nvPr/>
          </p:nvCxnSpPr>
          <p:spPr bwMode="auto">
            <a:xfrm>
              <a:off x="5733288" y="2286000"/>
              <a:ext cx="0" cy="2505456"/>
            </a:xfrm>
            <a:prstGeom prst="line">
              <a:avLst/>
            </a:prstGeom>
            <a:noFill/>
            <a:ln w="9525" algn="ctr">
              <a:solidFill>
                <a:srgbClr val="00B0F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" name="椭圆 8"/>
            <p:cNvSpPr/>
            <p:nvPr/>
          </p:nvSpPr>
          <p:spPr bwMode="auto">
            <a:xfrm>
              <a:off x="5678314" y="3859587"/>
              <a:ext cx="128597" cy="12707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kumimoji="0" lang="zh-CN" altLang="en-US" sz="1800" b="0">
                <a:solidFill>
                  <a:prstClr val="black"/>
                </a:solidFill>
                <a:ea typeface="宋体" pitchFamily="2" charset="-122"/>
              </a:endParaRPr>
            </a:p>
          </p:txBody>
        </p:sp>
        <p:sp>
          <p:nvSpPr>
            <p:cNvPr id="15401" name="椭圆 38"/>
            <p:cNvSpPr>
              <a:spLocks noChangeArrowheads="1"/>
            </p:cNvSpPr>
            <p:nvPr/>
          </p:nvSpPr>
          <p:spPr bwMode="auto">
            <a:xfrm>
              <a:off x="5705856" y="2606040"/>
              <a:ext cx="54864" cy="54864"/>
            </a:xfrm>
            <a:prstGeom prst="ellipse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15402" name="TextBox 17"/>
            <p:cNvSpPr txBox="1">
              <a:spLocks noChangeArrowheads="1"/>
            </p:cNvSpPr>
            <p:nvPr/>
          </p:nvSpPr>
          <p:spPr bwMode="auto">
            <a:xfrm>
              <a:off x="5431852" y="2468590"/>
              <a:ext cx="351745" cy="492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15403" name="TextBox 42"/>
            <p:cNvSpPr txBox="1">
              <a:spLocks noChangeArrowheads="1"/>
            </p:cNvSpPr>
            <p:nvPr/>
          </p:nvSpPr>
          <p:spPr bwMode="auto">
            <a:xfrm>
              <a:off x="5403658" y="3730846"/>
              <a:ext cx="312928" cy="431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C</a:t>
              </a:r>
            </a:p>
          </p:txBody>
        </p:sp>
      </p:grpSp>
      <p:grpSp>
        <p:nvGrpSpPr>
          <p:cNvPr id="8" name="组合 12"/>
          <p:cNvGrpSpPr>
            <a:grpSpLocks/>
          </p:cNvGrpSpPr>
          <p:nvPr/>
        </p:nvGrpSpPr>
        <p:grpSpPr bwMode="auto">
          <a:xfrm>
            <a:off x="6235700" y="1428750"/>
            <a:ext cx="301625" cy="919163"/>
            <a:chOff x="5431536" y="2660904"/>
            <a:chExt cx="301752" cy="1225296"/>
          </a:xfrm>
        </p:grpSpPr>
        <p:sp>
          <p:nvSpPr>
            <p:cNvPr id="15394" name="TextBox 41"/>
            <p:cNvSpPr txBox="1">
              <a:spLocks noChangeArrowheads="1"/>
            </p:cNvSpPr>
            <p:nvPr/>
          </p:nvSpPr>
          <p:spPr bwMode="auto">
            <a:xfrm>
              <a:off x="5431536" y="3227524"/>
              <a:ext cx="292383" cy="430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h</a:t>
              </a:r>
            </a:p>
          </p:txBody>
        </p:sp>
        <p:cxnSp>
          <p:nvCxnSpPr>
            <p:cNvPr id="15395" name="直接连接符 19"/>
            <p:cNvCxnSpPr>
              <a:cxnSpLocks noChangeShapeType="1"/>
            </p:cNvCxnSpPr>
            <p:nvPr/>
          </p:nvCxnSpPr>
          <p:spPr bwMode="auto">
            <a:xfrm>
              <a:off x="5733288" y="2660904"/>
              <a:ext cx="0" cy="1225296"/>
            </a:xfrm>
            <a:prstGeom prst="line">
              <a:avLst/>
            </a:prstGeom>
            <a:noFill/>
            <a:ln w="19050" algn="ctr">
              <a:solidFill>
                <a:srgbClr val="007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" name="组合 15"/>
          <p:cNvGrpSpPr>
            <a:grpSpLocks/>
          </p:cNvGrpSpPr>
          <p:nvPr/>
        </p:nvGrpSpPr>
        <p:grpSpPr bwMode="auto">
          <a:xfrm>
            <a:off x="6467475" y="1090613"/>
            <a:ext cx="1012825" cy="1666875"/>
            <a:chOff x="5671367" y="2212643"/>
            <a:chExt cx="1012895" cy="2222198"/>
          </a:xfrm>
        </p:grpSpPr>
        <p:grpSp>
          <p:nvGrpSpPr>
            <p:cNvPr id="15387" name="组合 64"/>
            <p:cNvGrpSpPr>
              <a:grpSpLocks/>
            </p:cNvGrpSpPr>
            <p:nvPr/>
          </p:nvGrpSpPr>
          <p:grpSpPr bwMode="auto">
            <a:xfrm rot="-1543200">
              <a:off x="5671367" y="2212643"/>
              <a:ext cx="1012895" cy="2222198"/>
              <a:chOff x="5314752" y="2340658"/>
              <a:chExt cx="1012895" cy="2222198"/>
            </a:xfrm>
          </p:grpSpPr>
          <p:sp>
            <p:nvSpPr>
              <p:cNvPr id="19" name="任意多边形 18"/>
              <p:cNvSpPr/>
              <p:nvPr/>
            </p:nvSpPr>
            <p:spPr bwMode="auto">
              <a:xfrm>
                <a:off x="5314752" y="2340658"/>
                <a:ext cx="1012895" cy="2222198"/>
              </a:xfrm>
              <a:custGeom>
                <a:avLst/>
                <a:gdLst>
                  <a:gd name="connsiteX0" fmla="*/ 208223 w 935094"/>
                  <a:gd name="connsiteY0" fmla="*/ 206 h 1760493"/>
                  <a:gd name="connsiteX1" fmla="*/ 701999 w 935094"/>
                  <a:gd name="connsiteY1" fmla="*/ 283670 h 1760493"/>
                  <a:gd name="connsiteX2" fmla="*/ 930599 w 935094"/>
                  <a:gd name="connsiteY2" fmla="*/ 960326 h 1760493"/>
                  <a:gd name="connsiteX3" fmla="*/ 802583 w 935094"/>
                  <a:gd name="connsiteY3" fmla="*/ 1700990 h 1760493"/>
                  <a:gd name="connsiteX4" fmla="*/ 226511 w 935094"/>
                  <a:gd name="connsiteY4" fmla="*/ 1627838 h 1760493"/>
                  <a:gd name="connsiteX5" fmla="*/ 52775 w 935094"/>
                  <a:gd name="connsiteY5" fmla="*/ 932894 h 1760493"/>
                  <a:gd name="connsiteX6" fmla="*/ 7055 w 935094"/>
                  <a:gd name="connsiteY6" fmla="*/ 320246 h 1760493"/>
                  <a:gd name="connsiteX7" fmla="*/ 208223 w 935094"/>
                  <a:gd name="connsiteY7" fmla="*/ 206 h 1760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094" h="1760493">
                    <a:moveTo>
                      <a:pt x="208223" y="206"/>
                    </a:moveTo>
                    <a:cubicBezTo>
                      <a:pt x="324047" y="-5890"/>
                      <a:pt x="581603" y="123650"/>
                      <a:pt x="701999" y="283670"/>
                    </a:cubicBezTo>
                    <a:cubicBezTo>
                      <a:pt x="822395" y="443690"/>
                      <a:pt x="913835" y="724106"/>
                      <a:pt x="930599" y="960326"/>
                    </a:cubicBezTo>
                    <a:cubicBezTo>
                      <a:pt x="947363" y="1196546"/>
                      <a:pt x="919931" y="1589738"/>
                      <a:pt x="802583" y="1700990"/>
                    </a:cubicBezTo>
                    <a:cubicBezTo>
                      <a:pt x="685235" y="1812242"/>
                      <a:pt x="351479" y="1755854"/>
                      <a:pt x="226511" y="1627838"/>
                    </a:cubicBezTo>
                    <a:cubicBezTo>
                      <a:pt x="101543" y="1499822"/>
                      <a:pt x="89351" y="1150826"/>
                      <a:pt x="52775" y="932894"/>
                    </a:cubicBezTo>
                    <a:cubicBezTo>
                      <a:pt x="16199" y="714962"/>
                      <a:pt x="-14281" y="475694"/>
                      <a:pt x="7055" y="320246"/>
                    </a:cubicBezTo>
                    <a:cubicBezTo>
                      <a:pt x="28391" y="164798"/>
                      <a:pt x="92399" y="6302"/>
                      <a:pt x="208223" y="206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  <a:alpha val="72000"/>
                </a:schemeClr>
              </a:solidFill>
              <a:ln w="2857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innerShdw blurRad="63500" dist="50800" dir="5400000">
                  <a:prstClr val="black">
                    <a:alpha val="50000"/>
                  </a:prstClr>
                </a:innerShdw>
              </a:effectLst>
            </p:spPr>
            <p:txBody>
              <a:bodyPr/>
              <a:lstStyle/>
              <a:p>
                <a:pPr>
                  <a:defRPr/>
                </a:pPr>
                <a:endParaRPr kumimoji="0" lang="zh-CN" altLang="en-US" sz="1800" b="0">
                  <a:solidFill>
                    <a:prstClr val="black"/>
                  </a:solidFill>
                  <a:ea typeface="宋体" pitchFamily="2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 bwMode="auto">
              <a:xfrm>
                <a:off x="5675176" y="3831451"/>
                <a:ext cx="128596" cy="12698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kumimoji="0" lang="zh-CN" altLang="en-US" sz="1800" b="0">
                  <a:solidFill>
                    <a:prstClr val="black"/>
                  </a:solidFill>
                  <a:ea typeface="宋体" pitchFamily="2" charset="-122"/>
                </a:endParaRPr>
              </a:p>
            </p:txBody>
          </p:sp>
          <p:sp>
            <p:nvSpPr>
              <p:cNvPr id="15393" name="椭圆 68"/>
              <p:cNvSpPr>
                <a:spLocks noChangeArrowheads="1"/>
              </p:cNvSpPr>
              <p:nvPr/>
            </p:nvSpPr>
            <p:spPr bwMode="auto">
              <a:xfrm>
                <a:off x="5705856" y="2606040"/>
                <a:ext cx="54864" cy="54864"/>
              </a:xfrm>
              <a:prstGeom prst="ellipse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kumimoji="0" lang="zh-CN" altLang="zh-CN" sz="1800" b="0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cxnSp>
          <p:nvCxnSpPr>
            <p:cNvPr id="15388" name="直接连接符 72"/>
            <p:cNvCxnSpPr>
              <a:cxnSpLocks noChangeShapeType="1"/>
            </p:cNvCxnSpPr>
            <p:nvPr/>
          </p:nvCxnSpPr>
          <p:spPr bwMode="auto">
            <a:xfrm>
              <a:off x="5742432" y="2624328"/>
              <a:ext cx="539496" cy="1097280"/>
            </a:xfrm>
            <a:prstGeom prst="line">
              <a:avLst/>
            </a:prstGeom>
            <a:noFill/>
            <a:ln w="19050" algn="ctr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组合 21"/>
          <p:cNvGrpSpPr>
            <a:grpSpLocks/>
          </p:cNvGrpSpPr>
          <p:nvPr/>
        </p:nvGrpSpPr>
        <p:grpSpPr bwMode="auto">
          <a:xfrm>
            <a:off x="6858000" y="1693863"/>
            <a:ext cx="493713" cy="1203325"/>
            <a:chOff x="8302299" y="2164721"/>
            <a:chExt cx="494229" cy="1604518"/>
          </a:xfrm>
        </p:grpSpPr>
        <p:grpSp>
          <p:nvGrpSpPr>
            <p:cNvPr id="15380" name="组合 94"/>
            <p:cNvGrpSpPr>
              <a:grpSpLocks/>
            </p:cNvGrpSpPr>
            <p:nvPr/>
          </p:nvGrpSpPr>
          <p:grpSpPr bwMode="auto">
            <a:xfrm>
              <a:off x="8302299" y="2164721"/>
              <a:ext cx="494229" cy="1604518"/>
              <a:chOff x="8302299" y="2164721"/>
              <a:chExt cx="494229" cy="1604518"/>
            </a:xfrm>
          </p:grpSpPr>
          <p:graphicFrame>
            <p:nvGraphicFramePr>
              <p:cNvPr id="15382" name="Object 161"/>
              <p:cNvGraphicFramePr>
                <a:graphicFrameLocks noChangeAspect="1"/>
              </p:cNvGraphicFramePr>
              <p:nvPr/>
            </p:nvGraphicFramePr>
            <p:xfrm>
              <a:off x="8302299" y="3454914"/>
              <a:ext cx="311349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11" name="Equation" r:id="rId6" imgW="253780" imgH="203024" progId="Equation.DSMT4">
                      <p:embed/>
                    </p:oleObj>
                  </mc:Choice>
                  <mc:Fallback>
                    <p:oleObj name="Equation" r:id="rId6" imgW="253780" imgH="203024" progId="Equation.DSMT4">
                      <p:embed/>
                      <p:pic>
                        <p:nvPicPr>
                          <p:cNvPr id="0" name="Object 1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02299" y="3454914"/>
                            <a:ext cx="311349" cy="314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83" name="Object 164"/>
              <p:cNvGraphicFramePr>
                <a:graphicFrameLocks noChangeAspect="1"/>
              </p:cNvGraphicFramePr>
              <p:nvPr/>
            </p:nvGraphicFramePr>
            <p:xfrm>
              <a:off x="8399899" y="2164721"/>
              <a:ext cx="242888" cy="323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412" name="公式" r:id="rId8" imgW="152268" imgH="203024" progId="Equation.3">
                      <p:embed/>
                    </p:oleObj>
                  </mc:Choice>
                  <mc:Fallback>
                    <p:oleObj name="公式" r:id="rId8" imgW="152268" imgH="203024" progId="Equation.3">
                      <p:embed/>
                      <p:pic>
                        <p:nvPicPr>
                          <p:cNvPr id="0" name="Object 16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99899" y="2164721"/>
                            <a:ext cx="242888" cy="3238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5384" name="直接箭头连接符 98"/>
              <p:cNvCxnSpPr>
                <a:cxnSpLocks noChangeShapeType="1"/>
              </p:cNvCxnSpPr>
              <p:nvPr/>
            </p:nvCxnSpPr>
            <p:spPr bwMode="auto">
              <a:xfrm>
                <a:off x="8540496" y="2916936"/>
                <a:ext cx="0" cy="557784"/>
              </a:xfrm>
              <a:prstGeom prst="straightConnector1">
                <a:avLst/>
              </a:prstGeom>
              <a:noFill/>
              <a:ln w="28575" algn="ctr">
                <a:solidFill>
                  <a:srgbClr val="0000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5" name="直接箭头连接符 99"/>
              <p:cNvCxnSpPr>
                <a:cxnSpLocks noChangeShapeType="1"/>
              </p:cNvCxnSpPr>
              <p:nvPr/>
            </p:nvCxnSpPr>
            <p:spPr bwMode="auto">
              <a:xfrm flipH="1" flipV="1">
                <a:off x="8330184" y="2487168"/>
                <a:ext cx="219456" cy="420624"/>
              </a:xfrm>
              <a:prstGeom prst="straightConnector1">
                <a:avLst/>
              </a:prstGeom>
              <a:noFill/>
              <a:ln w="28575" algn="ctr">
                <a:solidFill>
                  <a:srgbClr val="FF00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86" name="直接箭头连接符 100"/>
              <p:cNvCxnSpPr>
                <a:cxnSpLocks noChangeShapeType="1"/>
              </p:cNvCxnSpPr>
              <p:nvPr/>
            </p:nvCxnSpPr>
            <p:spPr bwMode="auto">
              <a:xfrm flipH="1" flipV="1">
                <a:off x="8567928" y="2916936"/>
                <a:ext cx="228600" cy="448056"/>
              </a:xfrm>
              <a:prstGeom prst="straightConnector1">
                <a:avLst/>
              </a:prstGeom>
              <a:noFill/>
              <a:ln w="12700" algn="ctr">
                <a:solidFill>
                  <a:srgbClr val="0070C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381" name="任意多边形 95"/>
            <p:cNvSpPr>
              <a:spLocks/>
            </p:cNvSpPr>
            <p:nvPr/>
          </p:nvSpPr>
          <p:spPr bwMode="auto">
            <a:xfrm>
              <a:off x="8549640" y="3182112"/>
              <a:ext cx="128016" cy="28242"/>
            </a:xfrm>
            <a:custGeom>
              <a:avLst/>
              <a:gdLst>
                <a:gd name="T0" fmla="*/ 0 w 128016"/>
                <a:gd name="T1" fmla="*/ 18288 h 28242"/>
                <a:gd name="T2" fmla="*/ 64008 w 128016"/>
                <a:gd name="T3" fmla="*/ 27432 h 28242"/>
                <a:gd name="T4" fmla="*/ 128016 w 128016"/>
                <a:gd name="T5" fmla="*/ 0 h 28242"/>
                <a:gd name="T6" fmla="*/ 0 60000 65536"/>
                <a:gd name="T7" fmla="*/ 0 60000 65536"/>
                <a:gd name="T8" fmla="*/ 0 60000 65536"/>
                <a:gd name="T9" fmla="*/ 0 w 128016"/>
                <a:gd name="T10" fmla="*/ 0 h 28242"/>
                <a:gd name="T11" fmla="*/ 128016 w 128016"/>
                <a:gd name="T12" fmla="*/ 28242 h 28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8016" h="28242">
                  <a:moveTo>
                    <a:pt x="0" y="18288"/>
                  </a:moveTo>
                  <a:cubicBezTo>
                    <a:pt x="21336" y="24384"/>
                    <a:pt x="42672" y="30480"/>
                    <a:pt x="64008" y="27432"/>
                  </a:cubicBezTo>
                  <a:cubicBezTo>
                    <a:pt x="85344" y="24384"/>
                    <a:pt x="106680" y="12192"/>
                    <a:pt x="128016" y="0"/>
                  </a:cubicBezTo>
                </a:path>
              </a:pathLst>
            </a:custGeom>
            <a:noFill/>
            <a:ln w="19050" algn="ctr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406" name="Text Box 38"/>
          <p:cNvSpPr txBox="1">
            <a:spLocks noChangeArrowheads="1"/>
          </p:cNvSpPr>
          <p:nvPr/>
        </p:nvSpPr>
        <p:spPr bwMode="auto">
          <a:xfrm>
            <a:off x="3059113" y="1914525"/>
            <a:ext cx="23764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为线性回复力矩</a:t>
            </a:r>
          </a:p>
        </p:txBody>
      </p:sp>
      <p:graphicFrame>
        <p:nvGraphicFramePr>
          <p:cNvPr id="186407" name="Object 39"/>
          <p:cNvGraphicFramePr>
            <a:graphicFrameLocks noChangeAspect="1"/>
          </p:cNvGraphicFramePr>
          <p:nvPr/>
        </p:nvGraphicFramePr>
        <p:xfrm>
          <a:off x="1116013" y="1603375"/>
          <a:ext cx="28082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Equation" r:id="rId10" imgW="1091726" imgH="152334" progId="Equation.DSMT4">
                  <p:embed/>
                </p:oleObj>
              </mc:Choice>
              <mc:Fallback>
                <p:oleObj name="Equation" r:id="rId10" imgW="1091726" imgH="152334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603375"/>
                        <a:ext cx="28082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08" name="Text Box 40"/>
          <p:cNvSpPr txBox="1">
            <a:spLocks noChangeArrowheads="1"/>
          </p:cNvSpPr>
          <p:nvPr/>
        </p:nvSpPr>
        <p:spPr bwMode="auto">
          <a:xfrm>
            <a:off x="755650" y="1211263"/>
            <a:ext cx="43211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条件与单摆相同，同理可得：</a:t>
            </a:r>
          </a:p>
        </p:txBody>
      </p:sp>
      <p:sp>
        <p:nvSpPr>
          <p:cNvPr id="186411" name="Text Box 43"/>
          <p:cNvSpPr txBox="1">
            <a:spLocks noChangeArrowheads="1"/>
          </p:cNvSpPr>
          <p:nvPr/>
        </p:nvSpPr>
        <p:spPr bwMode="auto">
          <a:xfrm>
            <a:off x="755650" y="2562225"/>
            <a:ext cx="43211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转动惯量依具体情况而定。</a:t>
            </a:r>
          </a:p>
        </p:txBody>
      </p:sp>
      <p:graphicFrame>
        <p:nvGraphicFramePr>
          <p:cNvPr id="186412" name="Object 44"/>
          <p:cNvGraphicFramePr>
            <a:graphicFrameLocks noChangeAspect="1"/>
          </p:cNvGraphicFramePr>
          <p:nvPr/>
        </p:nvGraphicFramePr>
        <p:xfrm>
          <a:off x="1609725" y="3003550"/>
          <a:ext cx="469106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4" name="Equation" r:id="rId12" imgW="2286000" imgH="419100" progId="Equation.DSMT4">
                  <p:embed/>
                </p:oleObj>
              </mc:Choice>
              <mc:Fallback>
                <p:oleObj name="Equation" r:id="rId12" imgW="2286000" imgH="4191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9725" y="3003550"/>
                        <a:ext cx="469106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413" name="Object 45"/>
          <p:cNvGraphicFramePr>
            <a:graphicFrameLocks noChangeAspect="1"/>
          </p:cNvGraphicFramePr>
          <p:nvPr/>
        </p:nvGraphicFramePr>
        <p:xfrm>
          <a:off x="3568700" y="3867150"/>
          <a:ext cx="17954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5" name="Equation" r:id="rId14" imgW="861237" imgH="380937" progId="Equation.DSMT4">
                  <p:embed/>
                </p:oleObj>
              </mc:Choice>
              <mc:Fallback>
                <p:oleObj name="Equation" r:id="rId14" imgW="861237" imgH="380937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700" y="3867150"/>
                        <a:ext cx="1795463" cy="628650"/>
                      </a:xfrm>
                      <a:prstGeom prst="rect">
                        <a:avLst/>
                      </a:prstGeom>
                      <a:noFill/>
                      <a:ln w="57150" cmpd="thinThick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6420" name="Group 52"/>
          <p:cNvGrpSpPr>
            <a:grpSpLocks/>
          </p:cNvGrpSpPr>
          <p:nvPr/>
        </p:nvGrpSpPr>
        <p:grpSpPr bwMode="auto">
          <a:xfrm>
            <a:off x="755650" y="2211388"/>
            <a:ext cx="3052763" cy="409575"/>
            <a:chOff x="476" y="1378"/>
            <a:chExt cx="1923" cy="344"/>
          </a:xfrm>
        </p:grpSpPr>
        <p:sp>
          <p:nvSpPr>
            <p:cNvPr id="15378" name="Text Box 47"/>
            <p:cNvSpPr txBox="1">
              <a:spLocks noChangeArrowheads="1"/>
            </p:cNvSpPr>
            <p:nvPr/>
          </p:nvSpPr>
          <p:spPr bwMode="auto">
            <a:xfrm>
              <a:off x="476" y="1378"/>
              <a:ext cx="127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由转动定律：</a:t>
              </a:r>
            </a:p>
          </p:txBody>
        </p:sp>
        <p:graphicFrame>
          <p:nvGraphicFramePr>
            <p:cNvPr id="15379" name="Object 48"/>
            <p:cNvGraphicFramePr>
              <a:graphicFrameLocks noChangeAspect="1"/>
            </p:cNvGraphicFramePr>
            <p:nvPr/>
          </p:nvGraphicFramePr>
          <p:xfrm>
            <a:off x="1655" y="1434"/>
            <a:ext cx="7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16" name="公式" r:id="rId16" imgW="393529" imgH="152334" progId="Equation.3">
                    <p:embed/>
                  </p:oleObj>
                </mc:Choice>
                <mc:Fallback>
                  <p:oleObj name="公式" r:id="rId16" imgW="393529" imgH="152334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434"/>
                          <a:ext cx="7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6417" name="Object 49" descr="新闻纸"/>
          <p:cNvGraphicFramePr>
            <a:graphicFrameLocks noChangeAspect="1"/>
          </p:cNvGraphicFramePr>
          <p:nvPr/>
        </p:nvGraphicFramePr>
        <p:xfrm>
          <a:off x="1187450" y="3868738"/>
          <a:ext cx="166528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公式" r:id="rId18" imgW="609336" imgH="291973" progId="Equation.3">
                  <p:embed/>
                </p:oleObj>
              </mc:Choice>
              <mc:Fallback>
                <p:oleObj name="公式" r:id="rId18" imgW="609336" imgH="291973" progId="Equation.3">
                  <p:embed/>
                  <p:pic>
                    <p:nvPicPr>
                      <p:cNvPr id="0" name="Object 49" descr="新闻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868738"/>
                        <a:ext cx="166528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 r:embed="rId20"/>
                              <a:srcRect/>
                              <a:tile tx="0" ty="0" sx="100000" sy="100000" flip="none" algn="tl"/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CC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18" name="Line 50"/>
          <p:cNvSpPr>
            <a:spLocks noChangeShapeType="1"/>
          </p:cNvSpPr>
          <p:nvPr/>
        </p:nvSpPr>
        <p:spPr bwMode="auto">
          <a:xfrm>
            <a:off x="2765425" y="4192588"/>
            <a:ext cx="720725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6419" name="Text Box 51"/>
          <p:cNvSpPr txBox="1">
            <a:spLocks noChangeArrowheads="1"/>
          </p:cNvSpPr>
          <p:nvPr/>
        </p:nvSpPr>
        <p:spPr bwMode="auto">
          <a:xfrm>
            <a:off x="5214938" y="3998913"/>
            <a:ext cx="25923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（动力学方程）</a:t>
            </a:r>
          </a:p>
        </p:txBody>
      </p:sp>
      <p:pic>
        <p:nvPicPr>
          <p:cNvPr id="186422" name="Picture 54" descr="FBa"/>
          <p:cNvPicPr>
            <a:picLocks noChangeAspect="1" noChangeArrowheads="1" noCrop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946150"/>
            <a:ext cx="99060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6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6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86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86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8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8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6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6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864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86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8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8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186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86406" grpId="0" autoUpdateAnimBg="0"/>
      <p:bldP spid="186408" grpId="0" autoUpdateAnimBg="0"/>
      <p:bldP spid="186411" grpId="0"/>
      <p:bldP spid="186418" grpId="0" animBg="1"/>
      <p:bldP spid="18641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765175" y="1393825"/>
            <a:ext cx="24384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受力特征：</a:t>
            </a:r>
            <a:endParaRPr lang="zh-CN" altLang="en-US" sz="1800" b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2700338" y="1619250"/>
          <a:ext cx="1655762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4" imgW="889000" imgH="419100" progId="Equation.DSMT4">
                  <p:embed/>
                </p:oleObj>
              </mc:Choice>
              <mc:Fallback>
                <p:oleObj name="Equation" r:id="rId4" imgW="8890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619250"/>
                        <a:ext cx="1655762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533400" y="1785938"/>
            <a:ext cx="20224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动力学方程：</a:t>
            </a:r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74700" y="2193925"/>
            <a:ext cx="242887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运动学特征：</a:t>
            </a:r>
            <a:endParaRPr lang="zh-CN" altLang="en-US" sz="1800" b="0" i="1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2555875" y="2139950"/>
          <a:ext cx="19446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公式" r:id="rId6" imgW="825142" imgH="177723" progId="Equation.3">
                  <p:embed/>
                </p:oleObj>
              </mc:Choice>
              <mc:Fallback>
                <p:oleObj name="公式" r:id="rId6" imgW="825142" imgH="17772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139950"/>
                        <a:ext cx="19446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60" name="Group 24"/>
          <p:cNvGrpSpPr>
            <a:grpSpLocks/>
          </p:cNvGrpSpPr>
          <p:nvPr/>
        </p:nvGrpSpPr>
        <p:grpSpPr bwMode="auto">
          <a:xfrm>
            <a:off x="1187450" y="2900363"/>
            <a:ext cx="7278688" cy="377825"/>
            <a:chOff x="744" y="2818"/>
            <a:chExt cx="4585" cy="317"/>
          </a:xfrm>
        </p:grpSpPr>
        <p:sp>
          <p:nvSpPr>
            <p:cNvPr id="16401" name="Text Box 14"/>
            <p:cNvSpPr txBox="1">
              <a:spLocks noChangeArrowheads="1"/>
            </p:cNvSpPr>
            <p:nvPr/>
          </p:nvSpPr>
          <p:spPr bwMode="auto">
            <a:xfrm>
              <a:off x="744" y="2825"/>
              <a:ext cx="458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7A5C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式中</a:t>
              </a:r>
              <a:r>
                <a:rPr lang="en-US" altLang="zh-CN" sz="1800" i="1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A</a:t>
              </a:r>
              <a:r>
                <a:rPr lang="zh-CN" altLang="en-US" sz="1800" i="1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、</a:t>
              </a:r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   是由初始条件所决定的两个积分常数。</a:t>
              </a:r>
            </a:p>
          </p:txBody>
        </p:sp>
        <p:graphicFrame>
          <p:nvGraphicFramePr>
            <p:cNvPr id="16402" name="Object 15"/>
            <p:cNvGraphicFramePr>
              <a:graphicFrameLocks noChangeAspect="1"/>
            </p:cNvGraphicFramePr>
            <p:nvPr/>
          </p:nvGraphicFramePr>
          <p:xfrm>
            <a:off x="1247" y="2818"/>
            <a:ext cx="31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0" name="公式" r:id="rId8" imgW="152202" imgH="177569" progId="Equation.3">
                    <p:embed/>
                  </p:oleObj>
                </mc:Choice>
                <mc:Fallback>
                  <p:oleObj name="公式" r:id="rId8" imgW="152202" imgH="17756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7" y="2818"/>
                          <a:ext cx="31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1187450" y="2544763"/>
            <a:ext cx="34559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运动学方程（动力学方程的解）：</a:t>
            </a:r>
          </a:p>
        </p:txBody>
      </p:sp>
      <p:grpSp>
        <p:nvGrpSpPr>
          <p:cNvPr id="14358" name="Group 22"/>
          <p:cNvGrpSpPr>
            <a:grpSpLocks/>
          </p:cNvGrpSpPr>
          <p:nvPr/>
        </p:nvGrpSpPr>
        <p:grpSpPr bwMode="auto">
          <a:xfrm>
            <a:off x="1893888" y="1376363"/>
            <a:ext cx="5054600" cy="368300"/>
            <a:chOff x="384" y="874"/>
            <a:chExt cx="3184" cy="310"/>
          </a:xfrm>
        </p:grpSpPr>
        <p:sp>
          <p:nvSpPr>
            <p:cNvPr id="16399" name="Rectangle 16"/>
            <p:cNvSpPr>
              <a:spLocks noChangeArrowheads="1"/>
            </p:cNvSpPr>
            <p:nvPr/>
          </p:nvSpPr>
          <p:spPr bwMode="auto">
            <a:xfrm>
              <a:off x="384" y="874"/>
              <a:ext cx="313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振动系统所受的力是线性回复力：</a:t>
              </a:r>
              <a:endParaRPr lang="zh-CN" altLang="en-US" sz="1800" i="1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  <p:graphicFrame>
          <p:nvGraphicFramePr>
            <p:cNvPr id="16400" name="对象 4"/>
            <p:cNvGraphicFramePr>
              <a:graphicFrameLocks noChangeAspect="1"/>
            </p:cNvGraphicFramePr>
            <p:nvPr/>
          </p:nvGraphicFramePr>
          <p:xfrm>
            <a:off x="2589" y="905"/>
            <a:ext cx="97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1" name="公式" r:id="rId10" imgW="799753" imgH="177723" progId="Equation.3">
                    <p:embed/>
                  </p:oleObj>
                </mc:Choice>
                <mc:Fallback>
                  <p:oleObj name="公式" r:id="rId10" imgW="799753" imgH="177723" progId="Equation.3">
                    <p:embed/>
                    <p:pic>
                      <p:nvPicPr>
                        <p:cNvPr id="0" name="对象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9" y="905"/>
                          <a:ext cx="979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63" name="Group 27"/>
          <p:cNvGrpSpPr>
            <a:grpSpLocks/>
          </p:cNvGrpSpPr>
          <p:nvPr/>
        </p:nvGrpSpPr>
        <p:grpSpPr bwMode="auto">
          <a:xfrm>
            <a:off x="1619250" y="3263900"/>
            <a:ext cx="5473700" cy="1252538"/>
            <a:chOff x="1020" y="3079"/>
            <a:chExt cx="3448" cy="1052"/>
          </a:xfrm>
        </p:grpSpPr>
        <p:graphicFrame>
          <p:nvGraphicFramePr>
            <p:cNvPr id="16396" name="Object 12"/>
            <p:cNvGraphicFramePr>
              <a:graphicFrameLocks noChangeAspect="1"/>
            </p:cNvGraphicFramePr>
            <p:nvPr/>
          </p:nvGraphicFramePr>
          <p:xfrm>
            <a:off x="1640" y="3079"/>
            <a:ext cx="2828" cy="10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12" name="Equation" r:id="rId12" imgW="2184400" imgH="812800" progId="Equation.DSMT4">
                    <p:embed/>
                  </p:oleObj>
                </mc:Choice>
                <mc:Fallback>
                  <p:oleObj name="Equation" r:id="rId12" imgW="2184400" imgH="8128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0" y="3079"/>
                          <a:ext cx="2828" cy="10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7" name="Rectangle 25"/>
            <p:cNvSpPr>
              <a:spLocks noChangeArrowheads="1"/>
            </p:cNvSpPr>
            <p:nvPr/>
          </p:nvSpPr>
          <p:spPr bwMode="auto">
            <a:xfrm>
              <a:off x="1020" y="3249"/>
              <a:ext cx="95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速  度：</a:t>
              </a:r>
            </a:p>
          </p:txBody>
        </p:sp>
        <p:sp>
          <p:nvSpPr>
            <p:cNvPr id="16398" name="Rectangle 26"/>
            <p:cNvSpPr>
              <a:spLocks noChangeArrowheads="1"/>
            </p:cNvSpPr>
            <p:nvPr/>
          </p:nvSpPr>
          <p:spPr bwMode="auto">
            <a:xfrm>
              <a:off x="1020" y="3686"/>
              <a:ext cx="95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加速度：</a:t>
              </a:r>
            </a:p>
          </p:txBody>
        </p:sp>
      </p:grpSp>
      <p:sp>
        <p:nvSpPr>
          <p:cNvPr id="16395" name="Text Box 2"/>
          <p:cNvSpPr>
            <a:spLocks noChangeArrowheads="1"/>
          </p:cNvSpPr>
          <p:nvPr/>
        </p:nvSpPr>
        <p:spPr bwMode="auto">
          <a:xfrm>
            <a:off x="839788" y="874713"/>
            <a:ext cx="4595812" cy="401637"/>
          </a:xfrm>
          <a:prstGeom prst="homePlate">
            <a:avLst>
              <a:gd name="adj" fmla="val 49691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三、简谐振动的特征（谐振动的判据）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autoUpdateAnimBg="0"/>
      <p:bldP spid="14343" grpId="0"/>
      <p:bldP spid="14344" grpId="0" autoUpdateAnimBg="0"/>
      <p:bldP spid="1435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265113" y="936625"/>
            <a:ext cx="8509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判据</a:t>
            </a:r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2976563" y="1801813"/>
          <a:ext cx="188277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3" imgW="889000" imgH="419100" progId="Equation.DSMT4">
                  <p:embed/>
                </p:oleObj>
              </mc:Choice>
              <mc:Fallback>
                <p:oleObj name="Equation" r:id="rId3" imgW="8890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1801813"/>
                        <a:ext cx="1882775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366713" y="2562225"/>
            <a:ext cx="60055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的系统，即为谐振振子系统，做简谐振动。</a:t>
            </a:r>
          </a:p>
        </p:txBody>
      </p:sp>
      <p:sp>
        <p:nvSpPr>
          <p:cNvPr id="16393" name="Text Box 9"/>
          <p:cNvSpPr txBox="1">
            <a:spLocks noChangeArrowheads="1"/>
          </p:cNvSpPr>
          <p:nvPr/>
        </p:nvSpPr>
        <p:spPr bwMode="auto">
          <a:xfrm>
            <a:off x="265113" y="3219450"/>
            <a:ext cx="1009650" cy="36988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18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判据</a:t>
            </a:r>
            <a:r>
              <a:rPr lang="en-US" altLang="zh-CN" sz="18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：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468313" y="936625"/>
            <a:ext cx="86868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       一个描述其“惯性”的物理量可视为常数的系统</a:t>
            </a:r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在其稳定平衡位置附近作微小的自由振动时</a:t>
            </a:r>
            <a:r>
              <a:rPr lang="en-US" altLang="zh-CN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只受到内部线性恢复力的作用，且系统的运动微分方程，能满足二阶齐次、线性常系数微分方程，即能满足</a:t>
            </a:r>
          </a:p>
        </p:txBody>
      </p:sp>
      <p:sp>
        <p:nvSpPr>
          <p:cNvPr id="16399" name="Rectangle 15"/>
          <p:cNvSpPr>
            <a:spLocks noChangeArrowheads="1"/>
          </p:cNvSpPr>
          <p:nvPr/>
        </p:nvSpPr>
        <p:spPr bwMode="auto">
          <a:xfrm>
            <a:off x="1017588" y="3219450"/>
            <a:ext cx="35544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广义上，满足运动学方程</a:t>
            </a:r>
          </a:p>
        </p:txBody>
      </p:sp>
      <p:graphicFrame>
        <p:nvGraphicFramePr>
          <p:cNvPr id="16401" name="Object 17"/>
          <p:cNvGraphicFramePr>
            <a:graphicFrameLocks noChangeAspect="1"/>
          </p:cNvGraphicFramePr>
          <p:nvPr/>
        </p:nvGraphicFramePr>
        <p:xfrm>
          <a:off x="3275013" y="3598863"/>
          <a:ext cx="244951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公式" r:id="rId5" imgW="825142" imgH="177723" progId="Equation.3">
                  <p:embed/>
                </p:oleObj>
              </mc:Choice>
              <mc:Fallback>
                <p:oleObj name="公式" r:id="rId5" imgW="825142" imgH="17772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3598863"/>
                        <a:ext cx="244951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AFBD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657225" y="4051300"/>
            <a:ext cx="35544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的振动，即为简谐振动。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91" grpId="0" autoUpdateAnimBg="0"/>
      <p:bldP spid="16393" grpId="0" autoUpdateAnimBg="0"/>
      <p:bldP spid="16397" grpId="0" autoUpdateAnimBg="0"/>
      <p:bldP spid="16399" grpId="0"/>
      <p:bldP spid="1640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67"/>
          <p:cNvSpPr txBox="1">
            <a:spLocks noChangeArrowheads="1"/>
          </p:cNvSpPr>
          <p:nvPr/>
        </p:nvSpPr>
        <p:spPr bwMode="auto">
          <a:xfrm>
            <a:off x="76200" y="773113"/>
            <a:ext cx="5719763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    弹簧下面悬挂物体，不计弹簧重量和阻力，试证其在平衡位置附近的振动是谐振动。</a:t>
            </a:r>
          </a:p>
        </p:txBody>
      </p:sp>
      <p:sp>
        <p:nvSpPr>
          <p:cNvPr id="9284" name="Text Box 68"/>
          <p:cNvSpPr txBox="1">
            <a:spLocks noChangeArrowheads="1"/>
          </p:cNvSpPr>
          <p:nvPr/>
        </p:nvSpPr>
        <p:spPr bwMode="auto">
          <a:xfrm>
            <a:off x="323850" y="1349375"/>
            <a:ext cx="54959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C0504D"/>
                </a:solidFill>
                <a:ea typeface="华文中宋" pitchFamily="2" charset="-122"/>
              </a:rPr>
              <a:t> </a:t>
            </a:r>
            <a:r>
              <a:rPr lang="zh-CN" altLang="en-US" sz="1800">
                <a:solidFill>
                  <a:srgbClr val="C0504D"/>
                </a:solidFill>
                <a:ea typeface="华文中宋" pitchFamily="2" charset="-122"/>
              </a:rPr>
              <a:t>证：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以平衡位置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O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为原点，向下为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x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轴正向，设某一瞬时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的坐标为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x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，依据牛顿第二定律，有：</a:t>
            </a:r>
          </a:p>
        </p:txBody>
      </p:sp>
      <p:sp>
        <p:nvSpPr>
          <p:cNvPr id="9285" name="Text Box 69"/>
          <p:cNvSpPr txBox="1">
            <a:spLocks noChangeArrowheads="1"/>
          </p:cNvSpPr>
          <p:nvPr/>
        </p:nvSpPr>
        <p:spPr bwMode="auto">
          <a:xfrm>
            <a:off x="468313" y="2679700"/>
            <a:ext cx="5759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式中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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  <a:sym typeface="MT Extra" pitchFamily="18" charset="2"/>
              </a:rPr>
              <a:t>l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是弹簧挂上重物后的静伸长，所以</a:t>
            </a:r>
          </a:p>
        </p:txBody>
      </p:sp>
      <p:graphicFrame>
        <p:nvGraphicFramePr>
          <p:cNvPr id="9286" name="Object 70"/>
          <p:cNvGraphicFramePr>
            <a:graphicFrameLocks noChangeAspect="1"/>
          </p:cNvGraphicFramePr>
          <p:nvPr/>
        </p:nvGraphicFramePr>
        <p:xfrm>
          <a:off x="1863725" y="1903413"/>
          <a:ext cx="24923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0" name="Equation" r:id="rId5" imgW="1536700" imgH="419100" progId="Equation.DSMT4">
                  <p:embed/>
                </p:oleObj>
              </mc:Choice>
              <mc:Fallback>
                <p:oleObj name="Equation" r:id="rId5" imgW="1536700" imgH="4191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725" y="1903413"/>
                        <a:ext cx="2492375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3" name="Object 157"/>
          <p:cNvGraphicFramePr>
            <a:graphicFrameLocks noChangeAspect="1"/>
          </p:cNvGraphicFramePr>
          <p:nvPr/>
        </p:nvGraphicFramePr>
        <p:xfrm>
          <a:off x="2339975" y="3057525"/>
          <a:ext cx="1241425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1" name="公式" r:id="rId7" imgW="444307" imgH="152334" progId="Equation.3">
                  <p:embed/>
                </p:oleObj>
              </mc:Choice>
              <mc:Fallback>
                <p:oleObj name="公式" r:id="rId7" imgW="444307" imgH="152334" progId="Equation.3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3057525"/>
                        <a:ext cx="1241425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74" name="Object 158"/>
          <p:cNvGraphicFramePr>
            <a:graphicFrameLocks noChangeAspect="1"/>
          </p:cNvGraphicFramePr>
          <p:nvPr/>
        </p:nvGraphicFramePr>
        <p:xfrm>
          <a:off x="1452563" y="3328988"/>
          <a:ext cx="34067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2" name="Equation" r:id="rId9" imgW="2222500" imgH="419100" progId="Equation.DSMT4">
                  <p:embed/>
                </p:oleObj>
              </mc:Choice>
              <mc:Fallback>
                <p:oleObj name="Equation" r:id="rId9" imgW="2222500" imgH="419100" progId="Equation.DSMT4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3328988"/>
                        <a:ext cx="340677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6" name="Text Box 160"/>
          <p:cNvSpPr txBox="1">
            <a:spLocks noChangeArrowheads="1"/>
          </p:cNvSpPr>
          <p:nvPr/>
        </p:nvSpPr>
        <p:spPr bwMode="auto">
          <a:xfrm>
            <a:off x="285750" y="3940175"/>
            <a:ext cx="8401050" cy="646113"/>
          </a:xfrm>
          <a:prstGeom prst="rect">
            <a:avLst/>
          </a:prstGeom>
          <a:noFill/>
          <a:ln w="1905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讨论：若一个谐振子系统受到一个恒力作用，只要将其坐标原点移至恒力作用下新的平衡位置，该系统仍是一个与原系统动力学特征相同的谐振子系统。</a:t>
            </a:r>
          </a:p>
        </p:txBody>
      </p:sp>
      <p:grpSp>
        <p:nvGrpSpPr>
          <p:cNvPr id="18441" name="Group 462"/>
          <p:cNvGrpSpPr>
            <a:grpSpLocks/>
          </p:cNvGrpSpPr>
          <p:nvPr/>
        </p:nvGrpSpPr>
        <p:grpSpPr bwMode="auto">
          <a:xfrm>
            <a:off x="6230938" y="881063"/>
            <a:ext cx="2592387" cy="2484437"/>
            <a:chOff x="3696" y="164"/>
            <a:chExt cx="1633" cy="2087"/>
          </a:xfrm>
        </p:grpSpPr>
        <p:sp>
          <p:nvSpPr>
            <p:cNvPr id="18456" name="Line 461"/>
            <p:cNvSpPr>
              <a:spLocks noChangeShapeType="1"/>
            </p:cNvSpPr>
            <p:nvPr/>
          </p:nvSpPr>
          <p:spPr bwMode="auto">
            <a:xfrm>
              <a:off x="3969" y="1344"/>
              <a:ext cx="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57" name="Group 167"/>
            <p:cNvGrpSpPr>
              <a:grpSpLocks/>
            </p:cNvGrpSpPr>
            <p:nvPr/>
          </p:nvGrpSpPr>
          <p:grpSpPr bwMode="auto">
            <a:xfrm>
              <a:off x="3878" y="255"/>
              <a:ext cx="181" cy="1035"/>
              <a:chOff x="1104" y="1704"/>
              <a:chExt cx="288" cy="926"/>
            </a:xfrm>
          </p:grpSpPr>
          <p:grpSp>
            <p:nvGrpSpPr>
              <p:cNvPr id="18528" name="Group 168"/>
              <p:cNvGrpSpPr>
                <a:grpSpLocks/>
              </p:cNvGrpSpPr>
              <p:nvPr/>
            </p:nvGrpSpPr>
            <p:grpSpPr bwMode="auto">
              <a:xfrm>
                <a:off x="1104" y="1776"/>
                <a:ext cx="288" cy="854"/>
                <a:chOff x="1104" y="1776"/>
                <a:chExt cx="288" cy="854"/>
              </a:xfrm>
            </p:grpSpPr>
            <p:grpSp>
              <p:nvGrpSpPr>
                <p:cNvPr id="18530" name="Group 169"/>
                <p:cNvGrpSpPr>
                  <a:grpSpLocks/>
                </p:cNvGrpSpPr>
                <p:nvPr/>
              </p:nvGrpSpPr>
              <p:grpSpPr bwMode="auto">
                <a:xfrm>
                  <a:off x="1104" y="1776"/>
                  <a:ext cx="288" cy="768"/>
                  <a:chOff x="1104" y="1776"/>
                  <a:chExt cx="480" cy="768"/>
                </a:xfrm>
              </p:grpSpPr>
              <p:grpSp>
                <p:nvGrpSpPr>
                  <p:cNvPr id="18532" name="Group 170"/>
                  <p:cNvGrpSpPr>
                    <a:grpSpLocks/>
                  </p:cNvGrpSpPr>
                  <p:nvPr/>
                </p:nvGrpSpPr>
                <p:grpSpPr bwMode="auto">
                  <a:xfrm>
                    <a:off x="1104" y="2304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48" name="Oval 1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9" name="Oval 1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50" name="Oval 1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51" name="Oval 17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533" name="Group 175"/>
                  <p:cNvGrpSpPr>
                    <a:grpSpLocks/>
                  </p:cNvGrpSpPr>
                  <p:nvPr/>
                </p:nvGrpSpPr>
                <p:grpSpPr bwMode="auto">
                  <a:xfrm>
                    <a:off x="1104" y="2112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44" name="Oval 1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5" name="Oval 1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6" name="Oval 1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7" name="Oval 1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534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1104" y="1920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40" name="Oval 1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1" name="Oval 1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2" name="Oval 1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43" name="Oval 18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535" name="Group 185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36" name="Oval 1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37" name="Oval 18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38" name="Oval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39" name="Oval 1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8531" name="Freeform 190"/>
                <p:cNvSpPr>
                  <a:spLocks/>
                </p:cNvSpPr>
                <p:nvPr/>
              </p:nvSpPr>
              <p:spPr bwMode="auto">
                <a:xfrm>
                  <a:off x="1128" y="2496"/>
                  <a:ext cx="138" cy="134"/>
                </a:xfrm>
                <a:custGeom>
                  <a:avLst/>
                  <a:gdLst>
                    <a:gd name="T0" fmla="*/ 0 w 138"/>
                    <a:gd name="T1" fmla="*/ 2 h 134"/>
                    <a:gd name="T2" fmla="*/ 108 w 138"/>
                    <a:gd name="T3" fmla="*/ 134 h 13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8" h="134">
                      <a:moveTo>
                        <a:pt x="0" y="2"/>
                      </a:moveTo>
                      <a:cubicBezTo>
                        <a:pt x="138" y="48"/>
                        <a:pt x="108" y="0"/>
                        <a:pt x="108" y="134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529" name="Freeform 191"/>
              <p:cNvSpPr>
                <a:spLocks/>
              </p:cNvSpPr>
              <p:nvPr/>
            </p:nvSpPr>
            <p:spPr bwMode="auto">
              <a:xfrm>
                <a:off x="1104" y="1704"/>
                <a:ext cx="168" cy="144"/>
              </a:xfrm>
              <a:custGeom>
                <a:avLst/>
                <a:gdLst>
                  <a:gd name="T0" fmla="*/ 0 w 168"/>
                  <a:gd name="T1" fmla="*/ 132 h 144"/>
                  <a:gd name="T2" fmla="*/ 144 w 168"/>
                  <a:gd name="T3" fmla="*/ 108 h 144"/>
                  <a:gd name="T4" fmla="*/ 144 w 16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44">
                    <a:moveTo>
                      <a:pt x="0" y="132"/>
                    </a:moveTo>
                    <a:cubicBezTo>
                      <a:pt x="46" y="117"/>
                      <a:pt x="111" y="144"/>
                      <a:pt x="144" y="108"/>
                    </a:cubicBezTo>
                    <a:cubicBezTo>
                      <a:pt x="168" y="81"/>
                      <a:pt x="144" y="36"/>
                      <a:pt x="144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58" name="Group 199"/>
            <p:cNvGrpSpPr>
              <a:grpSpLocks/>
            </p:cNvGrpSpPr>
            <p:nvPr/>
          </p:nvGrpSpPr>
          <p:grpSpPr bwMode="auto">
            <a:xfrm>
              <a:off x="4423" y="255"/>
              <a:ext cx="181" cy="1361"/>
              <a:chOff x="1104" y="1704"/>
              <a:chExt cx="288" cy="926"/>
            </a:xfrm>
          </p:grpSpPr>
          <p:grpSp>
            <p:nvGrpSpPr>
              <p:cNvPr id="18504" name="Group 200"/>
              <p:cNvGrpSpPr>
                <a:grpSpLocks/>
              </p:cNvGrpSpPr>
              <p:nvPr/>
            </p:nvGrpSpPr>
            <p:grpSpPr bwMode="auto">
              <a:xfrm>
                <a:off x="1104" y="1776"/>
                <a:ext cx="288" cy="854"/>
                <a:chOff x="1104" y="1776"/>
                <a:chExt cx="288" cy="854"/>
              </a:xfrm>
            </p:grpSpPr>
            <p:grpSp>
              <p:nvGrpSpPr>
                <p:cNvPr id="18506" name="Group 201"/>
                <p:cNvGrpSpPr>
                  <a:grpSpLocks/>
                </p:cNvGrpSpPr>
                <p:nvPr/>
              </p:nvGrpSpPr>
              <p:grpSpPr bwMode="auto">
                <a:xfrm>
                  <a:off x="1104" y="1776"/>
                  <a:ext cx="288" cy="768"/>
                  <a:chOff x="1104" y="1776"/>
                  <a:chExt cx="480" cy="768"/>
                </a:xfrm>
              </p:grpSpPr>
              <p:grpSp>
                <p:nvGrpSpPr>
                  <p:cNvPr id="18508" name="Group 202"/>
                  <p:cNvGrpSpPr>
                    <a:grpSpLocks/>
                  </p:cNvGrpSpPr>
                  <p:nvPr/>
                </p:nvGrpSpPr>
                <p:grpSpPr bwMode="auto">
                  <a:xfrm>
                    <a:off x="1104" y="2304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24" name="Oval 2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25" name="Oval 2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26" name="Oval 20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27" name="Oval 2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509" name="Group 207"/>
                  <p:cNvGrpSpPr>
                    <a:grpSpLocks/>
                  </p:cNvGrpSpPr>
                  <p:nvPr/>
                </p:nvGrpSpPr>
                <p:grpSpPr bwMode="auto">
                  <a:xfrm>
                    <a:off x="1104" y="2112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20" name="Oval 2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21" name="Oval 2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22" name="Oval 2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23" name="Oval 2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510" name="Group 212"/>
                  <p:cNvGrpSpPr>
                    <a:grpSpLocks/>
                  </p:cNvGrpSpPr>
                  <p:nvPr/>
                </p:nvGrpSpPr>
                <p:grpSpPr bwMode="auto">
                  <a:xfrm>
                    <a:off x="1104" y="1920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16" name="Oval 2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17" name="Oval 2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18" name="Oval 21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19" name="Oval 2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511" name="Group 217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12" name="Oval 2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13" name="Oval 2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14" name="Oval 22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15" name="Oval 2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8507" name="Freeform 222"/>
                <p:cNvSpPr>
                  <a:spLocks/>
                </p:cNvSpPr>
                <p:nvPr/>
              </p:nvSpPr>
              <p:spPr bwMode="auto">
                <a:xfrm>
                  <a:off x="1128" y="2496"/>
                  <a:ext cx="138" cy="134"/>
                </a:xfrm>
                <a:custGeom>
                  <a:avLst/>
                  <a:gdLst>
                    <a:gd name="T0" fmla="*/ 0 w 138"/>
                    <a:gd name="T1" fmla="*/ 2 h 134"/>
                    <a:gd name="T2" fmla="*/ 108 w 138"/>
                    <a:gd name="T3" fmla="*/ 134 h 13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8" h="134">
                      <a:moveTo>
                        <a:pt x="0" y="2"/>
                      </a:moveTo>
                      <a:cubicBezTo>
                        <a:pt x="138" y="48"/>
                        <a:pt x="108" y="0"/>
                        <a:pt x="108" y="134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505" name="Freeform 223"/>
              <p:cNvSpPr>
                <a:spLocks/>
              </p:cNvSpPr>
              <p:nvPr/>
            </p:nvSpPr>
            <p:spPr bwMode="auto">
              <a:xfrm>
                <a:off x="1104" y="1704"/>
                <a:ext cx="168" cy="144"/>
              </a:xfrm>
              <a:custGeom>
                <a:avLst/>
                <a:gdLst>
                  <a:gd name="T0" fmla="*/ 0 w 168"/>
                  <a:gd name="T1" fmla="*/ 132 h 144"/>
                  <a:gd name="T2" fmla="*/ 144 w 168"/>
                  <a:gd name="T3" fmla="*/ 108 h 144"/>
                  <a:gd name="T4" fmla="*/ 144 w 16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44">
                    <a:moveTo>
                      <a:pt x="0" y="132"/>
                    </a:moveTo>
                    <a:cubicBezTo>
                      <a:pt x="46" y="117"/>
                      <a:pt x="111" y="144"/>
                      <a:pt x="144" y="108"/>
                    </a:cubicBezTo>
                    <a:cubicBezTo>
                      <a:pt x="168" y="81"/>
                      <a:pt x="144" y="36"/>
                      <a:pt x="144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59" name="Oval 224"/>
            <p:cNvSpPr>
              <a:spLocks noChangeArrowheads="1"/>
            </p:cNvSpPr>
            <p:nvPr/>
          </p:nvSpPr>
          <p:spPr bwMode="auto">
            <a:xfrm>
              <a:off x="3877" y="1253"/>
              <a:ext cx="182" cy="182"/>
            </a:xfrm>
            <a:prstGeom prst="ellipse">
              <a:avLst/>
            </a:prstGeom>
            <a:gradFill rotWithShape="0">
              <a:gsLst>
                <a:gs pos="0">
                  <a:srgbClr val="33CCFF"/>
                </a:gs>
                <a:gs pos="100000">
                  <a:srgbClr val="1D72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18460" name="Group 235"/>
            <p:cNvGrpSpPr>
              <a:grpSpLocks/>
            </p:cNvGrpSpPr>
            <p:nvPr/>
          </p:nvGrpSpPr>
          <p:grpSpPr bwMode="auto">
            <a:xfrm>
              <a:off x="4967" y="239"/>
              <a:ext cx="181" cy="1921"/>
              <a:chOff x="1104" y="1704"/>
              <a:chExt cx="288" cy="926"/>
            </a:xfrm>
          </p:grpSpPr>
          <p:grpSp>
            <p:nvGrpSpPr>
              <p:cNvPr id="18480" name="Group 236"/>
              <p:cNvGrpSpPr>
                <a:grpSpLocks/>
              </p:cNvGrpSpPr>
              <p:nvPr/>
            </p:nvGrpSpPr>
            <p:grpSpPr bwMode="auto">
              <a:xfrm>
                <a:off x="1104" y="1776"/>
                <a:ext cx="288" cy="854"/>
                <a:chOff x="1104" y="1776"/>
                <a:chExt cx="288" cy="854"/>
              </a:xfrm>
            </p:grpSpPr>
            <p:grpSp>
              <p:nvGrpSpPr>
                <p:cNvPr id="18482" name="Group 237"/>
                <p:cNvGrpSpPr>
                  <a:grpSpLocks/>
                </p:cNvGrpSpPr>
                <p:nvPr/>
              </p:nvGrpSpPr>
              <p:grpSpPr bwMode="auto">
                <a:xfrm>
                  <a:off x="1104" y="1776"/>
                  <a:ext cx="288" cy="768"/>
                  <a:chOff x="1104" y="1776"/>
                  <a:chExt cx="480" cy="768"/>
                </a:xfrm>
              </p:grpSpPr>
              <p:grpSp>
                <p:nvGrpSpPr>
                  <p:cNvPr id="18484" name="Group 238"/>
                  <p:cNvGrpSpPr>
                    <a:grpSpLocks/>
                  </p:cNvGrpSpPr>
                  <p:nvPr/>
                </p:nvGrpSpPr>
                <p:grpSpPr bwMode="auto">
                  <a:xfrm>
                    <a:off x="1104" y="2304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500" name="Oval 2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01" name="Oval 2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02" name="Oval 2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503" name="Oval 2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485" name="Group 243"/>
                  <p:cNvGrpSpPr>
                    <a:grpSpLocks/>
                  </p:cNvGrpSpPr>
                  <p:nvPr/>
                </p:nvGrpSpPr>
                <p:grpSpPr bwMode="auto">
                  <a:xfrm>
                    <a:off x="1104" y="2112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496" name="Oval 2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7" name="Oval 2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8" name="Oval 24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9" name="Oval 2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486" name="Group 248"/>
                  <p:cNvGrpSpPr>
                    <a:grpSpLocks/>
                  </p:cNvGrpSpPr>
                  <p:nvPr/>
                </p:nvGrpSpPr>
                <p:grpSpPr bwMode="auto">
                  <a:xfrm>
                    <a:off x="1104" y="1920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492" name="Oval 2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3" name="Oval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4" name="Oval 25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5" name="Oval 25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18487" name="Group 253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18488" name="Oval 25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89" name="Oval 25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0" name="Oval 25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18491" name="Oval 2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18483" name="Freeform 258"/>
                <p:cNvSpPr>
                  <a:spLocks/>
                </p:cNvSpPr>
                <p:nvPr/>
              </p:nvSpPr>
              <p:spPr bwMode="auto">
                <a:xfrm>
                  <a:off x="1128" y="2496"/>
                  <a:ext cx="138" cy="134"/>
                </a:xfrm>
                <a:custGeom>
                  <a:avLst/>
                  <a:gdLst>
                    <a:gd name="T0" fmla="*/ 0 w 138"/>
                    <a:gd name="T1" fmla="*/ 2 h 134"/>
                    <a:gd name="T2" fmla="*/ 108 w 138"/>
                    <a:gd name="T3" fmla="*/ 134 h 13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8" h="134">
                      <a:moveTo>
                        <a:pt x="0" y="2"/>
                      </a:moveTo>
                      <a:cubicBezTo>
                        <a:pt x="138" y="48"/>
                        <a:pt x="108" y="0"/>
                        <a:pt x="108" y="134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481" name="Freeform 259"/>
              <p:cNvSpPr>
                <a:spLocks/>
              </p:cNvSpPr>
              <p:nvPr/>
            </p:nvSpPr>
            <p:spPr bwMode="auto">
              <a:xfrm>
                <a:off x="1104" y="1704"/>
                <a:ext cx="168" cy="144"/>
              </a:xfrm>
              <a:custGeom>
                <a:avLst/>
                <a:gdLst>
                  <a:gd name="T0" fmla="*/ 0 w 168"/>
                  <a:gd name="T1" fmla="*/ 132 h 144"/>
                  <a:gd name="T2" fmla="*/ 144 w 168"/>
                  <a:gd name="T3" fmla="*/ 108 h 144"/>
                  <a:gd name="T4" fmla="*/ 144 w 16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44">
                    <a:moveTo>
                      <a:pt x="0" y="132"/>
                    </a:moveTo>
                    <a:cubicBezTo>
                      <a:pt x="46" y="117"/>
                      <a:pt x="111" y="144"/>
                      <a:pt x="144" y="108"/>
                    </a:cubicBezTo>
                    <a:cubicBezTo>
                      <a:pt x="168" y="81"/>
                      <a:pt x="144" y="36"/>
                      <a:pt x="144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61" name="Oval 442"/>
            <p:cNvSpPr>
              <a:spLocks noChangeArrowheads="1"/>
            </p:cNvSpPr>
            <p:nvPr/>
          </p:nvSpPr>
          <p:spPr bwMode="auto">
            <a:xfrm>
              <a:off x="4422" y="1570"/>
              <a:ext cx="182" cy="182"/>
            </a:xfrm>
            <a:prstGeom prst="ellipse">
              <a:avLst/>
            </a:prstGeom>
            <a:gradFill rotWithShape="0">
              <a:gsLst>
                <a:gs pos="0">
                  <a:srgbClr val="33CCFF"/>
                </a:gs>
                <a:gs pos="100000">
                  <a:srgbClr val="1D72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8462" name="Oval 443"/>
            <p:cNvSpPr>
              <a:spLocks noChangeArrowheads="1"/>
            </p:cNvSpPr>
            <p:nvPr/>
          </p:nvSpPr>
          <p:spPr bwMode="auto">
            <a:xfrm>
              <a:off x="4966" y="2069"/>
              <a:ext cx="182" cy="182"/>
            </a:xfrm>
            <a:prstGeom prst="ellipse">
              <a:avLst/>
            </a:prstGeom>
            <a:gradFill rotWithShape="0">
              <a:gsLst>
                <a:gs pos="0">
                  <a:srgbClr val="33CCFF"/>
                </a:gs>
                <a:gs pos="100000">
                  <a:srgbClr val="1D72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18463" name="Group 457"/>
            <p:cNvGrpSpPr>
              <a:grpSpLocks/>
            </p:cNvGrpSpPr>
            <p:nvPr/>
          </p:nvGrpSpPr>
          <p:grpSpPr bwMode="auto">
            <a:xfrm>
              <a:off x="3696" y="164"/>
              <a:ext cx="1633" cy="91"/>
              <a:chOff x="3787" y="2659"/>
              <a:chExt cx="1633" cy="136"/>
            </a:xfrm>
          </p:grpSpPr>
          <p:sp>
            <p:nvSpPr>
              <p:cNvPr id="18467" name="Line 444"/>
              <p:cNvSpPr>
                <a:spLocks noChangeShapeType="1"/>
              </p:cNvSpPr>
              <p:nvPr/>
            </p:nvSpPr>
            <p:spPr bwMode="auto">
              <a:xfrm>
                <a:off x="3787" y="2795"/>
                <a:ext cx="15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Line 445"/>
              <p:cNvSpPr>
                <a:spLocks noChangeShapeType="1"/>
              </p:cNvSpPr>
              <p:nvPr/>
            </p:nvSpPr>
            <p:spPr bwMode="auto">
              <a:xfrm flipH="1">
                <a:off x="3833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9" name="Line 446"/>
              <p:cNvSpPr>
                <a:spLocks noChangeShapeType="1"/>
              </p:cNvSpPr>
              <p:nvPr/>
            </p:nvSpPr>
            <p:spPr bwMode="auto">
              <a:xfrm flipH="1">
                <a:off x="3969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0" name="Line 447"/>
              <p:cNvSpPr>
                <a:spLocks noChangeShapeType="1"/>
              </p:cNvSpPr>
              <p:nvPr/>
            </p:nvSpPr>
            <p:spPr bwMode="auto">
              <a:xfrm flipH="1">
                <a:off x="4105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1" name="Line 448"/>
              <p:cNvSpPr>
                <a:spLocks noChangeShapeType="1"/>
              </p:cNvSpPr>
              <p:nvPr/>
            </p:nvSpPr>
            <p:spPr bwMode="auto">
              <a:xfrm flipH="1">
                <a:off x="4242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2" name="Line 449"/>
              <p:cNvSpPr>
                <a:spLocks noChangeShapeType="1"/>
              </p:cNvSpPr>
              <p:nvPr/>
            </p:nvSpPr>
            <p:spPr bwMode="auto">
              <a:xfrm flipH="1">
                <a:off x="4378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3" name="Line 450"/>
              <p:cNvSpPr>
                <a:spLocks noChangeShapeType="1"/>
              </p:cNvSpPr>
              <p:nvPr/>
            </p:nvSpPr>
            <p:spPr bwMode="auto">
              <a:xfrm flipH="1">
                <a:off x="4514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4" name="Line 451"/>
              <p:cNvSpPr>
                <a:spLocks noChangeShapeType="1"/>
              </p:cNvSpPr>
              <p:nvPr/>
            </p:nvSpPr>
            <p:spPr bwMode="auto">
              <a:xfrm flipH="1">
                <a:off x="4650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5" name="Line 452"/>
              <p:cNvSpPr>
                <a:spLocks noChangeShapeType="1"/>
              </p:cNvSpPr>
              <p:nvPr/>
            </p:nvSpPr>
            <p:spPr bwMode="auto">
              <a:xfrm flipH="1">
                <a:off x="4786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6" name="Line 453"/>
              <p:cNvSpPr>
                <a:spLocks noChangeShapeType="1"/>
              </p:cNvSpPr>
              <p:nvPr/>
            </p:nvSpPr>
            <p:spPr bwMode="auto">
              <a:xfrm flipH="1">
                <a:off x="4922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7" name="Line 454"/>
              <p:cNvSpPr>
                <a:spLocks noChangeShapeType="1"/>
              </p:cNvSpPr>
              <p:nvPr/>
            </p:nvSpPr>
            <p:spPr bwMode="auto">
              <a:xfrm flipH="1">
                <a:off x="5058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8" name="Line 455"/>
              <p:cNvSpPr>
                <a:spLocks noChangeShapeType="1"/>
              </p:cNvSpPr>
              <p:nvPr/>
            </p:nvSpPr>
            <p:spPr bwMode="auto">
              <a:xfrm flipH="1">
                <a:off x="5194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9" name="Line 456"/>
              <p:cNvSpPr>
                <a:spLocks noChangeShapeType="1"/>
              </p:cNvSpPr>
              <p:nvPr/>
            </p:nvSpPr>
            <p:spPr bwMode="auto">
              <a:xfrm flipH="1">
                <a:off x="5330" y="2659"/>
                <a:ext cx="9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8464" name="Object 458"/>
            <p:cNvGraphicFramePr>
              <a:graphicFrameLocks noChangeAspect="1"/>
            </p:cNvGraphicFramePr>
            <p:nvPr/>
          </p:nvGraphicFramePr>
          <p:xfrm>
            <a:off x="3923" y="1418"/>
            <a:ext cx="227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3" name="Equation" r:id="rId11" imgW="202936" imgH="177569" progId="Equation.DSMT4">
                    <p:embed/>
                  </p:oleObj>
                </mc:Choice>
                <mc:Fallback>
                  <p:oleObj name="Equation" r:id="rId11" imgW="202936" imgH="177569" progId="Equation.DSMT4">
                    <p:embed/>
                    <p:pic>
                      <p:nvPicPr>
                        <p:cNvPr id="0" name="Object 4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418"/>
                          <a:ext cx="227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5" name="Line 459"/>
            <p:cNvSpPr>
              <a:spLocks noChangeShapeType="1"/>
            </p:cNvSpPr>
            <p:nvPr/>
          </p:nvSpPr>
          <p:spPr bwMode="auto">
            <a:xfrm>
              <a:off x="4014" y="1661"/>
              <a:ext cx="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Line 460"/>
            <p:cNvSpPr>
              <a:spLocks noChangeShapeType="1"/>
            </p:cNvSpPr>
            <p:nvPr/>
          </p:nvSpPr>
          <p:spPr bwMode="auto">
            <a:xfrm>
              <a:off x="4150" y="1344"/>
              <a:ext cx="0" cy="3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683" name="Group 467"/>
          <p:cNvGrpSpPr>
            <a:grpSpLocks/>
          </p:cNvGrpSpPr>
          <p:nvPr/>
        </p:nvGrpSpPr>
        <p:grpSpPr bwMode="auto">
          <a:xfrm>
            <a:off x="6662738" y="2663825"/>
            <a:ext cx="1655762" cy="593725"/>
            <a:chOff x="4014" y="1661"/>
            <a:chExt cx="1043" cy="499"/>
          </a:xfrm>
        </p:grpSpPr>
        <p:sp>
          <p:nvSpPr>
            <p:cNvPr id="18453" name="Line 463"/>
            <p:cNvSpPr>
              <a:spLocks noChangeShapeType="1"/>
            </p:cNvSpPr>
            <p:nvPr/>
          </p:nvSpPr>
          <p:spPr bwMode="auto">
            <a:xfrm flipH="1">
              <a:off x="4014" y="2160"/>
              <a:ext cx="10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464"/>
            <p:cNvSpPr>
              <a:spLocks noChangeShapeType="1"/>
            </p:cNvSpPr>
            <p:nvPr/>
          </p:nvSpPr>
          <p:spPr bwMode="auto">
            <a:xfrm>
              <a:off x="4286" y="1661"/>
              <a:ext cx="0" cy="4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5" name="Object 465"/>
            <p:cNvGraphicFramePr>
              <a:graphicFrameLocks noChangeAspect="1"/>
            </p:cNvGraphicFramePr>
            <p:nvPr/>
          </p:nvGraphicFramePr>
          <p:xfrm>
            <a:off x="4059" y="1842"/>
            <a:ext cx="18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4" name="Equation" r:id="rId13" imgW="139700" imgH="139700" progId="Equation.DSMT4">
                    <p:embed/>
                  </p:oleObj>
                </mc:Choice>
                <mc:Fallback>
                  <p:oleObj name="Equation" r:id="rId13" imgW="139700" imgH="139700" progId="Equation.DSMT4">
                    <p:embed/>
                    <p:pic>
                      <p:nvPicPr>
                        <p:cNvPr id="0" name="Object 4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1842"/>
                          <a:ext cx="18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682" name="Group 466"/>
          <p:cNvGrpSpPr>
            <a:grpSpLocks/>
          </p:cNvGrpSpPr>
          <p:nvPr/>
        </p:nvGrpSpPr>
        <p:grpSpPr bwMode="auto">
          <a:xfrm>
            <a:off x="8391525" y="2771775"/>
            <a:ext cx="501650" cy="919163"/>
            <a:chOff x="5103" y="1752"/>
            <a:chExt cx="316" cy="771"/>
          </a:xfrm>
        </p:grpSpPr>
        <p:sp>
          <p:nvSpPr>
            <p:cNvPr id="18449" name="Line 433"/>
            <p:cNvSpPr>
              <a:spLocks noChangeShapeType="1"/>
            </p:cNvSpPr>
            <p:nvPr/>
          </p:nvSpPr>
          <p:spPr bwMode="auto">
            <a:xfrm>
              <a:off x="5103" y="2235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0" name="Text Box 435"/>
            <p:cNvSpPr txBox="1">
              <a:spLocks noChangeArrowheads="1"/>
            </p:cNvSpPr>
            <p:nvPr/>
          </p:nvSpPr>
          <p:spPr bwMode="auto">
            <a:xfrm>
              <a:off x="5148" y="2205"/>
              <a:ext cx="271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cs typeface="Times New Roman" pitchFamily="18" charset="0"/>
                </a:rPr>
                <a:t>mg</a:t>
              </a:r>
            </a:p>
          </p:txBody>
        </p:sp>
        <p:sp>
          <p:nvSpPr>
            <p:cNvPr id="18451" name="Text Box 436"/>
            <p:cNvSpPr txBox="1">
              <a:spLocks noChangeArrowheads="1"/>
            </p:cNvSpPr>
            <p:nvPr/>
          </p:nvSpPr>
          <p:spPr bwMode="auto">
            <a:xfrm>
              <a:off x="5193" y="1752"/>
              <a:ext cx="19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</a:rPr>
                <a:t>F</a:t>
              </a:r>
            </a:p>
          </p:txBody>
        </p:sp>
        <p:sp>
          <p:nvSpPr>
            <p:cNvPr id="18452" name="Line 434"/>
            <p:cNvSpPr>
              <a:spLocks noChangeShapeType="1"/>
            </p:cNvSpPr>
            <p:nvPr/>
          </p:nvSpPr>
          <p:spPr bwMode="auto">
            <a:xfrm flipV="1">
              <a:off x="5103" y="1797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687" name="Group 471"/>
          <p:cNvGrpSpPr>
            <a:grpSpLocks/>
          </p:cNvGrpSpPr>
          <p:nvPr/>
        </p:nvGrpSpPr>
        <p:grpSpPr bwMode="auto">
          <a:xfrm>
            <a:off x="7526338" y="2501900"/>
            <a:ext cx="493712" cy="1293813"/>
            <a:chOff x="4558" y="1525"/>
            <a:chExt cx="311" cy="1087"/>
          </a:xfrm>
        </p:grpSpPr>
        <p:graphicFrame>
          <p:nvGraphicFramePr>
            <p:cNvPr id="18446" name="Object 468"/>
            <p:cNvGraphicFramePr>
              <a:graphicFrameLocks noChangeAspect="1"/>
            </p:cNvGraphicFramePr>
            <p:nvPr/>
          </p:nvGraphicFramePr>
          <p:xfrm>
            <a:off x="4649" y="1525"/>
            <a:ext cx="22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5" name="Equation" r:id="rId15" imgW="164814" imgH="177492" progId="Equation.DSMT4">
                    <p:embed/>
                  </p:oleObj>
                </mc:Choice>
                <mc:Fallback>
                  <p:oleObj name="Equation" r:id="rId15" imgW="164814" imgH="177492" progId="Equation.DSMT4">
                    <p:embed/>
                    <p:pic>
                      <p:nvPicPr>
                        <p:cNvPr id="0" name="Object 4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1525"/>
                          <a:ext cx="220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7" name="Line 469"/>
            <p:cNvSpPr>
              <a:spLocks noChangeShapeType="1"/>
            </p:cNvSpPr>
            <p:nvPr/>
          </p:nvSpPr>
          <p:spPr bwMode="auto">
            <a:xfrm>
              <a:off x="4558" y="1661"/>
              <a:ext cx="0" cy="86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48" name="Object 470"/>
            <p:cNvGraphicFramePr>
              <a:graphicFrameLocks noChangeAspect="1"/>
            </p:cNvGraphicFramePr>
            <p:nvPr/>
          </p:nvGraphicFramePr>
          <p:xfrm>
            <a:off x="4558" y="2387"/>
            <a:ext cx="22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6" name="Equation" r:id="rId17" imgW="139700" imgH="139700" progId="Equation.DSMT4">
                    <p:embed/>
                  </p:oleObj>
                </mc:Choice>
                <mc:Fallback>
                  <p:oleObj name="Equation" r:id="rId17" imgW="139700" imgH="139700" progId="Equation.DSMT4">
                    <p:embed/>
                    <p:pic>
                      <p:nvPicPr>
                        <p:cNvPr id="0" name="Object 4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387"/>
                          <a:ext cx="225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88" name="Object 472"/>
          <p:cNvGraphicFramePr>
            <a:graphicFrameLocks noChangeAspect="1"/>
          </p:cNvGraphicFramePr>
          <p:nvPr/>
        </p:nvGraphicFramePr>
        <p:xfrm>
          <a:off x="5508625" y="3332163"/>
          <a:ext cx="9366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7" name="Equation" r:id="rId19" imgW="533169" imgH="406224" progId="Equation.DSMT4">
                  <p:embed/>
                </p:oleObj>
              </mc:Choice>
              <mc:Fallback>
                <p:oleObj name="Equation" r:id="rId19" imgW="533169" imgH="406224" progId="Equation.DSMT4">
                  <p:embed/>
                  <p:pic>
                    <p:nvPicPr>
                      <p:cNvPr id="0" name="Object 4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3332163"/>
                        <a:ext cx="9366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4" grpId="0" autoUpdateAnimBg="0"/>
      <p:bldP spid="9285" grpId="0" autoUpdateAnimBg="0"/>
      <p:bldP spid="9376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2" name="Text Box 1028"/>
          <p:cNvSpPr txBox="1">
            <a:spLocks noChangeArrowheads="1"/>
          </p:cNvSpPr>
          <p:nvPr/>
        </p:nvSpPr>
        <p:spPr bwMode="auto">
          <a:xfrm>
            <a:off x="1187450" y="1382713"/>
            <a:ext cx="194468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动力学方程</a:t>
            </a:r>
          </a:p>
        </p:txBody>
      </p:sp>
      <p:graphicFrame>
        <p:nvGraphicFramePr>
          <p:cNvPr id="99334" name="Object 1030"/>
          <p:cNvGraphicFramePr>
            <a:graphicFrameLocks noChangeAspect="1"/>
          </p:cNvGraphicFramePr>
          <p:nvPr/>
        </p:nvGraphicFramePr>
        <p:xfrm>
          <a:off x="3036888" y="1347788"/>
          <a:ext cx="16795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7" name="Equation" r:id="rId5" imgW="889000" imgH="419100" progId="Equation.DSMT4">
                  <p:embed/>
                </p:oleObj>
              </mc:Choice>
              <mc:Fallback>
                <p:oleObj name="Equation" r:id="rId5" imgW="889000" imgH="41910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1347788"/>
                        <a:ext cx="16795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6" name="Text Box 1032"/>
          <p:cNvSpPr txBox="1">
            <a:spLocks noChangeArrowheads="1"/>
          </p:cNvSpPr>
          <p:nvPr/>
        </p:nvSpPr>
        <p:spPr bwMode="auto">
          <a:xfrm>
            <a:off x="1185863" y="1958975"/>
            <a:ext cx="244951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运动学方程</a:t>
            </a:r>
          </a:p>
        </p:txBody>
      </p:sp>
      <p:graphicFrame>
        <p:nvGraphicFramePr>
          <p:cNvPr id="99337" name="Object 1033"/>
          <p:cNvGraphicFramePr>
            <a:graphicFrameLocks noChangeAspect="1"/>
          </p:cNvGraphicFramePr>
          <p:nvPr/>
        </p:nvGraphicFramePr>
        <p:xfrm>
          <a:off x="2916238" y="1979613"/>
          <a:ext cx="23018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name="Equation" r:id="rId7" imgW="812447" imgH="177723" progId="Equation.DSMT4">
                  <p:embed/>
                </p:oleObj>
              </mc:Choice>
              <mc:Fallback>
                <p:oleObj name="Equation" r:id="rId7" imgW="812447" imgH="177723" progId="Equation.DSMT4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979613"/>
                        <a:ext cx="23018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9" name="Text Box 1035"/>
          <p:cNvSpPr txBox="1">
            <a:spLocks noChangeArrowheads="1"/>
          </p:cNvSpPr>
          <p:nvPr/>
        </p:nvSpPr>
        <p:spPr bwMode="auto">
          <a:xfrm>
            <a:off x="5724525" y="1419225"/>
            <a:ext cx="2808288" cy="58578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600" i="1">
                <a:solidFill>
                  <a:srgbClr val="000000"/>
                </a:solidFill>
                <a:ea typeface="华文中宋" pitchFamily="2" charset="-122"/>
              </a:rPr>
              <a:t>A</a:t>
            </a:r>
            <a:r>
              <a:rPr lang="zh-CN" altLang="en-US" sz="1600">
                <a:solidFill>
                  <a:srgbClr val="000000"/>
                </a:solidFill>
                <a:ea typeface="华文中宋" pitchFamily="2" charset="-122"/>
              </a:rPr>
              <a:t>和</a:t>
            </a:r>
            <a:r>
              <a:rPr lang="zh-CN" altLang="en-US" sz="16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600" baseline="-25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0</a:t>
            </a:r>
            <a:r>
              <a:rPr lang="zh-CN" altLang="en-US" sz="16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为由初始条件所决定的两个积分常数。</a:t>
            </a:r>
            <a:endParaRPr lang="zh-CN" altLang="en-US" sz="1600">
              <a:solidFill>
                <a:srgbClr val="000000"/>
              </a:solidFill>
              <a:ea typeface="华文中宋" pitchFamily="2" charset="-122"/>
            </a:endParaRPr>
          </a:p>
        </p:txBody>
      </p:sp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711200" y="2436813"/>
            <a:ext cx="13509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en-US" altLang="zh-CN" sz="1800">
                <a:solidFill>
                  <a:srgbClr val="0000FF"/>
                </a:solidFill>
                <a:ea typeface="华文中宋" pitchFamily="2" charset="-122"/>
              </a:rPr>
              <a:t>1  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速度</a:t>
            </a:r>
          </a:p>
        </p:txBody>
      </p:sp>
      <p:graphicFrame>
        <p:nvGraphicFramePr>
          <p:cNvPr id="23" name="Object 17"/>
          <p:cNvGraphicFramePr>
            <a:graphicFrameLocks noChangeAspect="1"/>
          </p:cNvGraphicFramePr>
          <p:nvPr/>
        </p:nvGraphicFramePr>
        <p:xfrm>
          <a:off x="2573338" y="2355850"/>
          <a:ext cx="29718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name="Equation" r:id="rId9" imgW="1612900" imgH="393700" progId="Equation.DSMT4">
                  <p:embed/>
                </p:oleObj>
              </mc:Choice>
              <mc:Fallback>
                <p:oleObj name="Equation" r:id="rId9" imgW="1612900" imgH="393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8" y="2355850"/>
                        <a:ext cx="29718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4643438" y="3182938"/>
          <a:ext cx="17287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0" name="公式" r:id="rId11" imgW="749300" imgH="368300" progId="Equation.3">
                  <p:embed/>
                </p:oleObj>
              </mc:Choice>
              <mc:Fallback>
                <p:oleObj name="公式" r:id="rId11" imgW="749300" imgH="3683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182938"/>
                        <a:ext cx="172878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56" name="Object 1052"/>
          <p:cNvGraphicFramePr>
            <a:graphicFrameLocks noChangeAspect="1"/>
          </p:cNvGraphicFramePr>
          <p:nvPr/>
        </p:nvGraphicFramePr>
        <p:xfrm>
          <a:off x="1046163" y="3562350"/>
          <a:ext cx="2301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公式" r:id="rId13" imgW="812447" imgH="177723" progId="Equation.3">
                  <p:embed/>
                </p:oleObj>
              </mc:Choice>
              <mc:Fallback>
                <p:oleObj name="公式" r:id="rId13" imgW="812447" imgH="177723" progId="Equation.3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3562350"/>
                        <a:ext cx="23018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7"/>
          <p:cNvGraphicFramePr>
            <a:graphicFrameLocks noChangeAspect="1"/>
          </p:cNvGraphicFramePr>
          <p:nvPr/>
        </p:nvGraphicFramePr>
        <p:xfrm>
          <a:off x="971550" y="2889250"/>
          <a:ext cx="23717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2" name="公式" r:id="rId15" imgW="927100" imgH="292100" progId="Equation.3">
                  <p:embed/>
                </p:oleObj>
              </mc:Choice>
              <mc:Fallback>
                <p:oleObj name="公式" r:id="rId15" imgW="927100" imgH="292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89250"/>
                        <a:ext cx="23717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73" name="Group 1069"/>
          <p:cNvGrpSpPr>
            <a:grpSpLocks/>
          </p:cNvGrpSpPr>
          <p:nvPr/>
        </p:nvGrpSpPr>
        <p:grpSpPr bwMode="auto">
          <a:xfrm>
            <a:off x="3419475" y="3227388"/>
            <a:ext cx="1152525" cy="557212"/>
            <a:chOff x="2154" y="2943"/>
            <a:chExt cx="726" cy="468"/>
          </a:xfrm>
        </p:grpSpPr>
        <p:sp>
          <p:nvSpPr>
            <p:cNvPr id="19481" name="AutoShape 1054"/>
            <p:cNvSpPr>
              <a:spLocks/>
            </p:cNvSpPr>
            <p:nvPr/>
          </p:nvSpPr>
          <p:spPr bwMode="auto">
            <a:xfrm>
              <a:off x="2154" y="2943"/>
              <a:ext cx="91" cy="425"/>
            </a:xfrm>
            <a:prstGeom prst="rightBrace">
              <a:avLst>
                <a:gd name="adj1" fmla="val 540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19482" name="Group 1068"/>
            <p:cNvGrpSpPr>
              <a:grpSpLocks/>
            </p:cNvGrpSpPr>
            <p:nvPr/>
          </p:nvGrpSpPr>
          <p:grpSpPr bwMode="auto">
            <a:xfrm>
              <a:off x="2245" y="2945"/>
              <a:ext cx="635" cy="466"/>
              <a:chOff x="2245" y="2945"/>
              <a:chExt cx="635" cy="466"/>
            </a:xfrm>
          </p:grpSpPr>
          <p:sp>
            <p:nvSpPr>
              <p:cNvPr id="19483" name="Line 1055"/>
              <p:cNvSpPr>
                <a:spLocks noChangeShapeType="1"/>
              </p:cNvSpPr>
              <p:nvPr/>
            </p:nvSpPr>
            <p:spPr bwMode="auto">
              <a:xfrm>
                <a:off x="2245" y="3179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484" name="Rectangle 1056"/>
              <p:cNvSpPr>
                <a:spLocks noChangeArrowheads="1"/>
              </p:cNvSpPr>
              <p:nvPr/>
            </p:nvSpPr>
            <p:spPr bwMode="auto">
              <a:xfrm>
                <a:off x="2245" y="2945"/>
                <a:ext cx="635" cy="4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altLang="en-US" sz="1500">
                    <a:solidFill>
                      <a:srgbClr val="000000"/>
                    </a:solidFill>
                    <a:ea typeface="华文中宋" pitchFamily="2" charset="-122"/>
                  </a:rPr>
                  <a:t>平方</a:t>
                </a:r>
              </a:p>
              <a:p>
                <a:pPr algn="ctr"/>
                <a:r>
                  <a:rPr lang="zh-CN" altLang="en-US" sz="1500">
                    <a:solidFill>
                      <a:srgbClr val="000000"/>
                    </a:solidFill>
                    <a:ea typeface="华文中宋" pitchFamily="2" charset="-122"/>
                  </a:rPr>
                  <a:t>相加</a:t>
                </a:r>
              </a:p>
            </p:txBody>
          </p:sp>
        </p:grpSp>
      </p:grpSp>
      <p:graphicFrame>
        <p:nvGraphicFramePr>
          <p:cNvPr id="3" name="Object 18"/>
          <p:cNvGraphicFramePr>
            <a:graphicFrameLocks noChangeAspect="1"/>
          </p:cNvGraphicFramePr>
          <p:nvPr/>
        </p:nvGraphicFramePr>
        <p:xfrm>
          <a:off x="6664325" y="3568700"/>
          <a:ext cx="1939925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3" name="公式" r:id="rId17" imgW="1091726" imgH="253890" progId="Equation.3">
                  <p:embed/>
                </p:oleObj>
              </mc:Choice>
              <mc:Fallback>
                <p:oleObj name="公式" r:id="rId17" imgW="1091726" imgH="25389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4325" y="3568700"/>
                        <a:ext cx="1939925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66" name="Group 1062"/>
          <p:cNvGrpSpPr>
            <a:grpSpLocks/>
          </p:cNvGrpSpPr>
          <p:nvPr/>
        </p:nvGrpSpPr>
        <p:grpSpPr bwMode="auto">
          <a:xfrm>
            <a:off x="6443663" y="2066925"/>
            <a:ext cx="2232025" cy="1371600"/>
            <a:chOff x="4150" y="2309"/>
            <a:chExt cx="1406" cy="1153"/>
          </a:xfrm>
        </p:grpSpPr>
        <p:sp>
          <p:nvSpPr>
            <p:cNvPr id="19477" name="AutoShape 1058"/>
            <p:cNvSpPr>
              <a:spLocks noChangeArrowheads="1"/>
            </p:cNvSpPr>
            <p:nvPr/>
          </p:nvSpPr>
          <p:spPr bwMode="auto">
            <a:xfrm>
              <a:off x="4377" y="2309"/>
              <a:ext cx="1179" cy="1153"/>
            </a:xfrm>
            <a:prstGeom prst="rtTriangl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aphicFrame>
          <p:nvGraphicFramePr>
            <p:cNvPr id="19478" name="Object 1059"/>
            <p:cNvGraphicFramePr>
              <a:graphicFrameLocks noChangeAspect="1"/>
            </p:cNvGraphicFramePr>
            <p:nvPr/>
          </p:nvGraphicFramePr>
          <p:xfrm>
            <a:off x="4830" y="2568"/>
            <a:ext cx="23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4" name="Equation" r:id="rId19" imgW="164885" imgH="164885" progId="Equation.DSMT4">
                    <p:embed/>
                  </p:oleObj>
                </mc:Choice>
                <mc:Fallback>
                  <p:oleObj name="Equation" r:id="rId19" imgW="164885" imgH="164885" progId="Equation.DSMT4">
                    <p:embed/>
                    <p:pic>
                      <p:nvPicPr>
                        <p:cNvPr id="0" name="Object 1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2568"/>
                          <a:ext cx="23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1060"/>
            <p:cNvGraphicFramePr>
              <a:graphicFrameLocks noChangeAspect="1"/>
            </p:cNvGraphicFramePr>
            <p:nvPr/>
          </p:nvGraphicFramePr>
          <p:xfrm>
            <a:off x="4150" y="2659"/>
            <a:ext cx="227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5" name="Equation" r:id="rId21" imgW="177569" imgH="405872" progId="Equation.DSMT4">
                    <p:embed/>
                  </p:oleObj>
                </mc:Choice>
                <mc:Fallback>
                  <p:oleObj name="Equation" r:id="rId21" imgW="177569" imgH="405872" progId="Equation.DSMT4">
                    <p:embed/>
                    <p:pic>
                      <p:nvPicPr>
                        <p:cNvPr id="0" name="Object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2659"/>
                          <a:ext cx="227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1061"/>
            <p:cNvGraphicFramePr>
              <a:graphicFrameLocks noChangeAspect="1"/>
            </p:cNvGraphicFramePr>
            <p:nvPr/>
          </p:nvGraphicFramePr>
          <p:xfrm>
            <a:off x="4830" y="3203"/>
            <a:ext cx="18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6" name="Equation" r:id="rId23" imgW="139700" imgH="139700" progId="Equation.DSMT4">
                    <p:embed/>
                  </p:oleObj>
                </mc:Choice>
                <mc:Fallback>
                  <p:oleObj name="Equation" r:id="rId23" imgW="139700" imgH="139700" progId="Equation.DSMT4">
                    <p:embed/>
                    <p:pic>
                      <p:nvPicPr>
                        <p:cNvPr id="0" name="Object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3203"/>
                          <a:ext cx="18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9367" name="Text Box 1063"/>
          <p:cNvSpPr txBox="1">
            <a:spLocks noChangeArrowheads="1"/>
          </p:cNvSpPr>
          <p:nvPr/>
        </p:nvSpPr>
        <p:spPr bwMode="auto">
          <a:xfrm>
            <a:off x="762000" y="4279900"/>
            <a:ext cx="83470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600">
                <a:solidFill>
                  <a:srgbClr val="000000"/>
                </a:solidFill>
                <a:ea typeface="华文中宋" pitchFamily="2" charset="-122"/>
              </a:rPr>
              <a:t>ii</a:t>
            </a:r>
            <a:r>
              <a:rPr lang="zh-CN" altLang="en-US" sz="1600">
                <a:solidFill>
                  <a:srgbClr val="000000"/>
                </a:solidFill>
                <a:ea typeface="华文中宋" pitchFamily="2" charset="-122"/>
              </a:rPr>
              <a:t>） “</a:t>
            </a:r>
            <a:r>
              <a:rPr lang="en-US" altLang="zh-CN" sz="1600">
                <a:solidFill>
                  <a:srgbClr val="000000"/>
                </a:solidFill>
                <a:ea typeface="华文中宋" pitchFamily="2" charset="-122"/>
              </a:rPr>
              <a:t>±”</a:t>
            </a:r>
            <a:r>
              <a:rPr lang="zh-CN" altLang="en-US" sz="1600">
                <a:solidFill>
                  <a:srgbClr val="000000"/>
                </a:solidFill>
                <a:ea typeface="华文中宋" pitchFamily="2" charset="-122"/>
              </a:rPr>
              <a:t>表示对应于每一个坐标值，有两种可能的方向。</a:t>
            </a:r>
          </a:p>
        </p:txBody>
      </p:sp>
      <p:grpSp>
        <p:nvGrpSpPr>
          <p:cNvPr id="99371" name="Group 1067"/>
          <p:cNvGrpSpPr>
            <a:grpSpLocks/>
          </p:cNvGrpSpPr>
          <p:nvPr/>
        </p:nvGrpSpPr>
        <p:grpSpPr bwMode="auto">
          <a:xfrm>
            <a:off x="755650" y="3867150"/>
            <a:ext cx="7993063" cy="360363"/>
            <a:chOff x="249" y="3612"/>
            <a:chExt cx="5035" cy="302"/>
          </a:xfrm>
        </p:grpSpPr>
        <p:sp>
          <p:nvSpPr>
            <p:cNvPr id="19474" name="Text Box 1064"/>
            <p:cNvSpPr txBox="1">
              <a:spLocks noChangeArrowheads="1"/>
            </p:cNvSpPr>
            <p:nvPr/>
          </p:nvSpPr>
          <p:spPr bwMode="auto">
            <a:xfrm>
              <a:off x="249" y="3612"/>
              <a:ext cx="5035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7A5C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600">
                  <a:solidFill>
                    <a:srgbClr val="000000"/>
                  </a:solidFill>
                  <a:ea typeface="华文中宋" pitchFamily="2" charset="-122"/>
                </a:rPr>
                <a:t>（</a:t>
              </a:r>
              <a:r>
                <a:rPr lang="en-US" altLang="zh-CN" sz="1600">
                  <a:solidFill>
                    <a:srgbClr val="000000"/>
                  </a:solidFill>
                  <a:ea typeface="华文中宋" pitchFamily="2" charset="-122"/>
                </a:rPr>
                <a:t>i</a:t>
              </a:r>
              <a:r>
                <a:rPr lang="zh-CN" altLang="en-US" sz="1600">
                  <a:solidFill>
                    <a:srgbClr val="000000"/>
                  </a:solidFill>
                  <a:ea typeface="华文中宋" pitchFamily="2" charset="-122"/>
                </a:rPr>
                <a:t>） 位移最大时，               ，平衡位置时，                      。</a:t>
              </a:r>
            </a:p>
          </p:txBody>
        </p:sp>
        <p:graphicFrame>
          <p:nvGraphicFramePr>
            <p:cNvPr id="19475" name="Object 1065"/>
            <p:cNvGraphicFramePr>
              <a:graphicFrameLocks noChangeAspect="1"/>
            </p:cNvGraphicFramePr>
            <p:nvPr/>
          </p:nvGraphicFramePr>
          <p:xfrm>
            <a:off x="1338" y="3657"/>
            <a:ext cx="573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7" name="Equation" r:id="rId25" imgW="520700" imgH="228600" progId="Equation.DSMT4">
                    <p:embed/>
                  </p:oleObj>
                </mc:Choice>
                <mc:Fallback>
                  <p:oleObj name="Equation" r:id="rId25" imgW="520700" imgH="228600" progId="Equation.DSMT4">
                    <p:embed/>
                    <p:pic>
                      <p:nvPicPr>
                        <p:cNvPr id="0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657"/>
                          <a:ext cx="573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6" name="Object 1066"/>
            <p:cNvGraphicFramePr>
              <a:graphicFrameLocks noChangeAspect="1"/>
            </p:cNvGraphicFramePr>
            <p:nvPr/>
          </p:nvGraphicFramePr>
          <p:xfrm>
            <a:off x="2698" y="3642"/>
            <a:ext cx="8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8" name="Equation" r:id="rId27" imgW="685800" imgH="228600" progId="Equation.DSMT4">
                    <p:embed/>
                  </p:oleObj>
                </mc:Choice>
                <mc:Fallback>
                  <p:oleObj name="Equation" r:id="rId27" imgW="685800" imgH="228600" progId="Equation.DSMT4">
                    <p:embed/>
                    <p:pic>
                      <p:nvPicPr>
                        <p:cNvPr id="0" name="Object 10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8" y="3642"/>
                          <a:ext cx="8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73" name="Text Box 2"/>
          <p:cNvSpPr>
            <a:spLocks noChangeArrowheads="1"/>
          </p:cNvSpPr>
          <p:nvPr/>
        </p:nvSpPr>
        <p:spPr bwMode="auto">
          <a:xfrm>
            <a:off x="833438" y="874713"/>
            <a:ext cx="3162300" cy="401637"/>
          </a:xfrm>
          <a:prstGeom prst="homePlate">
            <a:avLst>
              <a:gd name="adj" fmla="val 49647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一、谐振动的运动学方程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7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500"/>
                                        <p:tgtEl>
                                          <p:spTgt spid="9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993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autoUpdateAnimBg="0"/>
      <p:bldP spid="99336" grpId="0" autoUpdateAnimBg="0"/>
      <p:bldP spid="99339" grpId="0" animBg="1" autoUpdateAnimBg="0"/>
      <p:bldP spid="22" grpId="0" autoUpdateAnimBg="0"/>
      <p:bldP spid="993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611188" y="987425"/>
            <a:ext cx="1292225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  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加速度</a:t>
            </a:r>
            <a:endParaRPr lang="zh-CN" altLang="en-US" sz="1800" b="0">
              <a:solidFill>
                <a:srgbClr val="0000FF"/>
              </a:solidFill>
              <a:ea typeface="华文中宋" pitchFamily="2" charset="-122"/>
            </a:endParaRPr>
          </a:p>
        </p:txBody>
      </p:sp>
      <p:graphicFrame>
        <p:nvGraphicFramePr>
          <p:cNvPr id="193541" name="Object 5"/>
          <p:cNvGraphicFramePr>
            <a:graphicFrameLocks noChangeAspect="1"/>
          </p:cNvGraphicFramePr>
          <p:nvPr/>
        </p:nvGraphicFramePr>
        <p:xfrm>
          <a:off x="2012950" y="835025"/>
          <a:ext cx="399891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5" imgW="2235200" imgH="419100" progId="Equation.DSMT4">
                  <p:embed/>
                </p:oleObj>
              </mc:Choice>
              <mc:Fallback>
                <p:oleObj name="Equation" r:id="rId5" imgW="2235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2950" y="835025"/>
                        <a:ext cx="3998913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3551" name="Group 15"/>
          <p:cNvGrpSpPr>
            <a:grpSpLocks/>
          </p:cNvGrpSpPr>
          <p:nvPr/>
        </p:nvGrpSpPr>
        <p:grpSpPr bwMode="auto">
          <a:xfrm>
            <a:off x="1042988" y="1758950"/>
            <a:ext cx="7242175" cy="374650"/>
            <a:chOff x="567" y="954"/>
            <a:chExt cx="4562" cy="315"/>
          </a:xfrm>
        </p:grpSpPr>
        <p:sp>
          <p:nvSpPr>
            <p:cNvPr id="20506" name="Text Box 7"/>
            <p:cNvSpPr txBox="1">
              <a:spLocks noChangeArrowheads="1"/>
            </p:cNvSpPr>
            <p:nvPr/>
          </p:nvSpPr>
          <p:spPr bwMode="auto">
            <a:xfrm>
              <a:off x="567" y="954"/>
              <a:ext cx="456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（</a:t>
              </a:r>
              <a:r>
                <a:rPr lang="en-US" altLang="zh-CN" sz="1800">
                  <a:solidFill>
                    <a:srgbClr val="000000"/>
                  </a:solidFill>
                  <a:ea typeface="华文中宋" pitchFamily="2" charset="-122"/>
                </a:rPr>
                <a:t>i</a:t>
              </a:r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） 位移最大时，                     ，平衡位置时，              。</a:t>
              </a:r>
            </a:p>
          </p:txBody>
        </p:sp>
        <p:grpSp>
          <p:nvGrpSpPr>
            <p:cNvPr id="20507" name="Group 14"/>
            <p:cNvGrpSpPr>
              <a:grpSpLocks/>
            </p:cNvGrpSpPr>
            <p:nvPr/>
          </p:nvGrpSpPr>
          <p:grpSpPr bwMode="auto">
            <a:xfrm>
              <a:off x="1792" y="983"/>
              <a:ext cx="2359" cy="286"/>
              <a:chOff x="1792" y="983"/>
              <a:chExt cx="2359" cy="286"/>
            </a:xfrm>
          </p:grpSpPr>
          <p:graphicFrame>
            <p:nvGraphicFramePr>
              <p:cNvPr id="20508" name="Object 11"/>
              <p:cNvGraphicFramePr>
                <a:graphicFrameLocks noChangeAspect="1"/>
              </p:cNvGraphicFramePr>
              <p:nvPr/>
            </p:nvGraphicFramePr>
            <p:xfrm>
              <a:off x="1792" y="983"/>
              <a:ext cx="838" cy="27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18" name="Equation" r:id="rId7" imgW="787058" imgH="253890" progId="Equation.DSMT4">
                      <p:embed/>
                    </p:oleObj>
                  </mc:Choice>
                  <mc:Fallback>
                    <p:oleObj name="Equation" r:id="rId7" imgW="787058" imgH="253890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2" y="983"/>
                            <a:ext cx="838" cy="27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09" name="Object 12"/>
              <p:cNvGraphicFramePr>
                <a:graphicFrameLocks noChangeAspect="1"/>
              </p:cNvGraphicFramePr>
              <p:nvPr/>
            </p:nvGraphicFramePr>
            <p:xfrm>
              <a:off x="3579" y="1018"/>
              <a:ext cx="572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19" name="Equation" r:id="rId9" imgW="520700" imgH="228600" progId="Equation.DSMT4">
                      <p:embed/>
                    </p:oleObj>
                  </mc:Choice>
                  <mc:Fallback>
                    <p:oleObj name="Equation" r:id="rId9" imgW="520700" imgH="228600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79" y="1018"/>
                            <a:ext cx="572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93554" name="Group 18"/>
          <p:cNvGrpSpPr>
            <a:grpSpLocks/>
          </p:cNvGrpSpPr>
          <p:nvPr/>
        </p:nvGrpSpPr>
        <p:grpSpPr bwMode="auto">
          <a:xfrm>
            <a:off x="1019175" y="2136775"/>
            <a:ext cx="1897063" cy="368300"/>
            <a:chOff x="642" y="1389"/>
            <a:chExt cx="1195" cy="310"/>
          </a:xfrm>
        </p:grpSpPr>
        <p:graphicFrame>
          <p:nvGraphicFramePr>
            <p:cNvPr id="20504" name="Object 16"/>
            <p:cNvGraphicFramePr>
              <a:graphicFrameLocks noChangeAspect="1"/>
            </p:cNvGraphicFramePr>
            <p:nvPr/>
          </p:nvGraphicFramePr>
          <p:xfrm>
            <a:off x="1156" y="1469"/>
            <a:ext cx="68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0" name="Equation" r:id="rId11" imgW="495085" imgH="139639" progId="Equation.DSMT4">
                    <p:embed/>
                  </p:oleObj>
                </mc:Choice>
                <mc:Fallback>
                  <p:oleObj name="Equation" r:id="rId11" imgW="495085" imgH="139639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6" y="1469"/>
                          <a:ext cx="68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5" name="Rectangle 17"/>
            <p:cNvSpPr>
              <a:spLocks noChangeArrowheads="1"/>
            </p:cNvSpPr>
            <p:nvPr/>
          </p:nvSpPr>
          <p:spPr bwMode="auto">
            <a:xfrm>
              <a:off x="642" y="1389"/>
              <a:ext cx="69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（</a:t>
              </a:r>
              <a:r>
                <a:rPr lang="en-US" altLang="zh-CN" sz="1800">
                  <a:solidFill>
                    <a:srgbClr val="000000"/>
                  </a:solidFill>
                  <a:ea typeface="华文中宋" pitchFamily="2" charset="-122"/>
                </a:rPr>
                <a:t>ii</a:t>
              </a:r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）</a:t>
              </a:r>
            </a:p>
          </p:txBody>
        </p:sp>
      </p:grpSp>
      <p:graphicFrame>
        <p:nvGraphicFramePr>
          <p:cNvPr id="31" name="Object 17"/>
          <p:cNvGraphicFramePr>
            <a:graphicFrameLocks noChangeAspect="1"/>
          </p:cNvGraphicFramePr>
          <p:nvPr/>
        </p:nvGraphicFramePr>
        <p:xfrm>
          <a:off x="3217863" y="1419225"/>
          <a:ext cx="2001837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Equation" r:id="rId13" imgW="1397000" imgH="228600" progId="Equation.DSMT4">
                  <p:embed/>
                </p:oleObj>
              </mc:Choice>
              <mc:Fallback>
                <p:oleObj name="Equation" r:id="rId13" imgW="13970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1419225"/>
                        <a:ext cx="2001837" cy="3317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B0F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58" name="Object 22"/>
          <p:cNvGraphicFramePr>
            <a:graphicFrameLocks noChangeAspect="1"/>
          </p:cNvGraphicFramePr>
          <p:nvPr/>
        </p:nvGraphicFramePr>
        <p:xfrm>
          <a:off x="827088" y="3128963"/>
          <a:ext cx="23764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2" name="公式" r:id="rId15" imgW="812447" imgH="177723" progId="Equation.3">
                  <p:embed/>
                </p:oleObj>
              </mc:Choice>
              <mc:Fallback>
                <p:oleObj name="公式" r:id="rId15" imgW="812447" imgH="17772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128963"/>
                        <a:ext cx="23764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3563" name="Group 27"/>
          <p:cNvGrpSpPr>
            <a:grpSpLocks/>
          </p:cNvGrpSpPr>
          <p:nvPr/>
        </p:nvGrpSpPr>
        <p:grpSpPr bwMode="auto">
          <a:xfrm>
            <a:off x="1619250" y="3068638"/>
            <a:ext cx="1152525" cy="1231900"/>
            <a:chOff x="2608" y="2533"/>
            <a:chExt cx="726" cy="1033"/>
          </a:xfrm>
        </p:grpSpPr>
        <p:sp>
          <p:nvSpPr>
            <p:cNvPr id="20501" name="Rectangle 23"/>
            <p:cNvSpPr>
              <a:spLocks noChangeArrowheads="1"/>
            </p:cNvSpPr>
            <p:nvPr/>
          </p:nvSpPr>
          <p:spPr bwMode="auto">
            <a:xfrm>
              <a:off x="2880" y="2533"/>
              <a:ext cx="181" cy="3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2" name="Line 24"/>
            <p:cNvSpPr>
              <a:spLocks noChangeShapeType="1"/>
            </p:cNvSpPr>
            <p:nvPr/>
          </p:nvSpPr>
          <p:spPr bwMode="auto">
            <a:xfrm flipH="1">
              <a:off x="2971" y="2886"/>
              <a:ext cx="1" cy="4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503" name="Rectangle 25"/>
            <p:cNvSpPr>
              <a:spLocks noChangeArrowheads="1"/>
            </p:cNvSpPr>
            <p:nvPr/>
          </p:nvSpPr>
          <p:spPr bwMode="auto">
            <a:xfrm>
              <a:off x="2608" y="3295"/>
              <a:ext cx="726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1500">
                  <a:solidFill>
                    <a:srgbClr val="FF0000"/>
                  </a:solidFill>
                  <a:ea typeface="华文中宋" pitchFamily="2" charset="-122"/>
                </a:rPr>
                <a:t>圆频率</a:t>
              </a:r>
            </a:p>
          </p:txBody>
        </p:sp>
      </p:grpSp>
      <p:grpSp>
        <p:nvGrpSpPr>
          <p:cNvPr id="193569" name="Group 33"/>
          <p:cNvGrpSpPr>
            <a:grpSpLocks/>
          </p:cNvGrpSpPr>
          <p:nvPr/>
        </p:nvGrpSpPr>
        <p:grpSpPr bwMode="auto">
          <a:xfrm>
            <a:off x="971550" y="3171825"/>
            <a:ext cx="862013" cy="1130300"/>
            <a:chOff x="2064" y="2533"/>
            <a:chExt cx="543" cy="949"/>
          </a:xfrm>
        </p:grpSpPr>
        <p:sp>
          <p:nvSpPr>
            <p:cNvPr id="20498" name="Text Box 21"/>
            <p:cNvSpPr txBox="1">
              <a:spLocks noChangeArrowheads="1"/>
            </p:cNvSpPr>
            <p:nvPr/>
          </p:nvSpPr>
          <p:spPr bwMode="auto">
            <a:xfrm>
              <a:off x="2064" y="3211"/>
              <a:ext cx="54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500">
                  <a:solidFill>
                    <a:srgbClr val="9933FF"/>
                  </a:solidFill>
                  <a:ea typeface="华文中宋" pitchFamily="2" charset="-122"/>
                </a:rPr>
                <a:t>振幅</a:t>
              </a:r>
            </a:p>
          </p:txBody>
        </p:sp>
        <p:sp>
          <p:nvSpPr>
            <p:cNvPr id="20499" name="Rectangle 29"/>
            <p:cNvSpPr>
              <a:spLocks noChangeArrowheads="1"/>
            </p:cNvSpPr>
            <p:nvPr/>
          </p:nvSpPr>
          <p:spPr bwMode="auto">
            <a:xfrm>
              <a:off x="2290" y="2533"/>
              <a:ext cx="182" cy="388"/>
            </a:xfrm>
            <a:prstGeom prst="rect">
              <a:avLst/>
            </a:prstGeom>
            <a:noFill/>
            <a:ln w="28575">
              <a:solidFill>
                <a:srgbClr val="99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0" name="Line 30"/>
            <p:cNvSpPr>
              <a:spLocks noChangeShapeType="1"/>
            </p:cNvSpPr>
            <p:nvPr/>
          </p:nvSpPr>
          <p:spPr bwMode="auto">
            <a:xfrm>
              <a:off x="2381" y="2886"/>
              <a:ext cx="0" cy="317"/>
            </a:xfrm>
            <a:prstGeom prst="line">
              <a:avLst/>
            </a:prstGeom>
            <a:noFill/>
            <a:ln w="28575">
              <a:solidFill>
                <a:srgbClr val="99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93570" name="Group 34"/>
          <p:cNvGrpSpPr>
            <a:grpSpLocks/>
          </p:cNvGrpSpPr>
          <p:nvPr/>
        </p:nvGrpSpPr>
        <p:grpSpPr bwMode="auto">
          <a:xfrm>
            <a:off x="2700338" y="3489325"/>
            <a:ext cx="1220787" cy="846138"/>
            <a:chOff x="3017" y="2886"/>
            <a:chExt cx="769" cy="711"/>
          </a:xfrm>
        </p:grpSpPr>
        <p:sp>
          <p:nvSpPr>
            <p:cNvPr id="20495" name="Line 26"/>
            <p:cNvSpPr>
              <a:spLocks noChangeShapeType="1"/>
            </p:cNvSpPr>
            <p:nvPr/>
          </p:nvSpPr>
          <p:spPr bwMode="auto">
            <a:xfrm flipV="1">
              <a:off x="3017" y="2886"/>
              <a:ext cx="49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496" name="Line 31"/>
            <p:cNvSpPr>
              <a:spLocks noChangeShapeType="1"/>
            </p:cNvSpPr>
            <p:nvPr/>
          </p:nvSpPr>
          <p:spPr bwMode="auto">
            <a:xfrm flipH="1">
              <a:off x="3514" y="2886"/>
              <a:ext cx="1" cy="4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497" name="Text Box 32"/>
            <p:cNvSpPr txBox="1">
              <a:spLocks noChangeArrowheads="1"/>
            </p:cNvSpPr>
            <p:nvPr/>
          </p:nvSpPr>
          <p:spPr bwMode="auto">
            <a:xfrm>
              <a:off x="3243" y="3325"/>
              <a:ext cx="54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500">
                  <a:solidFill>
                    <a:srgbClr val="0000FF"/>
                  </a:solidFill>
                  <a:ea typeface="华文中宋" pitchFamily="2" charset="-122"/>
                </a:rPr>
                <a:t>位相</a:t>
              </a:r>
            </a:p>
          </p:txBody>
        </p:sp>
      </p:grpSp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4576763" y="3349625"/>
          <a:ext cx="374015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3" name="公式" r:id="rId17" imgW="1713756" imgH="406224" progId="Equation.3">
                  <p:embed/>
                </p:oleObj>
              </mc:Choice>
              <mc:Fallback>
                <p:oleObj name="公式" r:id="rId17" imgW="1713756" imgH="40622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3349625"/>
                        <a:ext cx="374015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572" name="Text Box 36"/>
          <p:cNvSpPr txBox="1">
            <a:spLocks noChangeArrowheads="1"/>
          </p:cNvSpPr>
          <p:nvPr/>
        </p:nvSpPr>
        <p:spPr bwMode="auto">
          <a:xfrm>
            <a:off x="4067175" y="2922588"/>
            <a:ext cx="48260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en-US" altLang="zh-CN" sz="1800" b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、振幅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─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由初始条件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x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0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v</a:t>
            </a:r>
            <a:r>
              <a:rPr lang="en-US" altLang="zh-CN" sz="1800" baseline="-25000">
                <a:solidFill>
                  <a:srgbClr val="0000FF"/>
                </a:solidFill>
                <a:ea typeface="华文中宋" pitchFamily="2" charset="-122"/>
              </a:rPr>
              <a:t>0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决定</a:t>
            </a:r>
            <a:endParaRPr lang="zh-CN" altLang="en-US" sz="1800" b="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193573" name="Text Box 37"/>
          <p:cNvSpPr txBox="1">
            <a:spLocks noChangeArrowheads="1"/>
          </p:cNvSpPr>
          <p:nvPr/>
        </p:nvSpPr>
        <p:spPr bwMode="auto">
          <a:xfrm>
            <a:off x="3671888" y="3867150"/>
            <a:ext cx="5508625" cy="78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500" b="0">
                <a:solidFill>
                  <a:srgbClr val="FF0000"/>
                </a:solidFill>
                <a:ea typeface="华文中宋" pitchFamily="2" charset="-122"/>
              </a:rPr>
              <a:t> </a:t>
            </a:r>
            <a:r>
              <a:rPr lang="zh-CN" altLang="en-US" sz="1500">
                <a:solidFill>
                  <a:srgbClr val="FF0000"/>
                </a:solidFill>
                <a:ea typeface="华文中宋" pitchFamily="2" charset="-122"/>
              </a:rPr>
              <a:t>注意：</a:t>
            </a:r>
          </a:p>
          <a:p>
            <a:pPr eaLnBrk="1" hangingPunct="1"/>
            <a:r>
              <a:rPr lang="zh-CN" altLang="en-US" sz="15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500">
                <a:solidFill>
                  <a:srgbClr val="000000"/>
                </a:solidFill>
                <a:ea typeface="华文中宋" pitchFamily="2" charset="-122"/>
              </a:rPr>
              <a:t>1</a:t>
            </a:r>
            <a:r>
              <a:rPr lang="zh-CN" altLang="en-US" sz="1500">
                <a:solidFill>
                  <a:srgbClr val="000000"/>
                </a:solidFill>
                <a:ea typeface="华文中宋" pitchFamily="2" charset="-122"/>
              </a:rPr>
              <a:t>）振幅</a:t>
            </a:r>
            <a:r>
              <a:rPr lang="en-US" altLang="zh-CN" sz="1500" i="1">
                <a:solidFill>
                  <a:srgbClr val="000000"/>
                </a:solidFill>
                <a:ea typeface="华文中宋" pitchFamily="2" charset="-122"/>
              </a:rPr>
              <a:t>A</a:t>
            </a:r>
            <a:r>
              <a:rPr lang="zh-CN" altLang="en-US" sz="1500">
                <a:solidFill>
                  <a:srgbClr val="000000"/>
                </a:solidFill>
                <a:ea typeface="华文中宋" pitchFamily="2" charset="-122"/>
              </a:rPr>
              <a:t>是离开平衡位置的最大位移的绝对值，只能取正值；</a:t>
            </a:r>
          </a:p>
          <a:p>
            <a:pPr eaLnBrk="1" hangingPunct="1"/>
            <a:r>
              <a:rPr lang="zh-CN" altLang="en-US" sz="15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500">
                <a:solidFill>
                  <a:srgbClr val="000000"/>
                </a:solidFill>
                <a:ea typeface="华文中宋" pitchFamily="2" charset="-122"/>
              </a:rPr>
              <a:t>2</a:t>
            </a:r>
            <a:r>
              <a:rPr lang="zh-CN" altLang="en-US" sz="1500">
                <a:solidFill>
                  <a:srgbClr val="000000"/>
                </a:solidFill>
                <a:ea typeface="华文中宋" pitchFamily="2" charset="-122"/>
              </a:rPr>
              <a:t>）振幅</a:t>
            </a:r>
            <a:r>
              <a:rPr lang="en-US" altLang="zh-CN" sz="1500" i="1">
                <a:solidFill>
                  <a:srgbClr val="000000"/>
                </a:solidFill>
                <a:ea typeface="华文中宋" pitchFamily="2" charset="-122"/>
              </a:rPr>
              <a:t>A</a:t>
            </a:r>
            <a:r>
              <a:rPr lang="zh-CN" altLang="en-US" sz="1500">
                <a:solidFill>
                  <a:srgbClr val="000000"/>
                </a:solidFill>
                <a:ea typeface="华文中宋" pitchFamily="2" charset="-122"/>
              </a:rPr>
              <a:t>确定了系统运动的范围。</a:t>
            </a:r>
          </a:p>
        </p:txBody>
      </p:sp>
      <p:sp>
        <p:nvSpPr>
          <p:cNvPr id="30" name="Text Box 2"/>
          <p:cNvSpPr>
            <a:spLocks noChangeArrowheads="1"/>
          </p:cNvSpPr>
          <p:nvPr/>
        </p:nvSpPr>
        <p:spPr bwMode="auto">
          <a:xfrm>
            <a:off x="833438" y="2459038"/>
            <a:ext cx="3738562" cy="400050"/>
          </a:xfrm>
          <a:prstGeom prst="homePlate">
            <a:avLst>
              <a:gd name="adj" fmla="val 49885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二、描述谐振动的三个物理量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3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19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935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93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utoUpdateAnimBg="0"/>
      <p:bldP spid="193572" grpId="0" autoUpdateAnimBg="0"/>
      <p:bldP spid="193573" grpId="0" autoUpdateAnimBg="0"/>
      <p:bldP spid="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611188" y="1193800"/>
            <a:ext cx="672623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）周期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T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：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完成一次完全振动所需的时间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757238" y="755650"/>
            <a:ext cx="6696075" cy="369888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800" dirty="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 dirty="0">
                <a:solidFill>
                  <a:srgbClr val="0000FF"/>
                </a:solidFill>
                <a:ea typeface="华文中宋" pitchFamily="2" charset="-122"/>
              </a:rPr>
              <a:t>、周期</a:t>
            </a:r>
            <a:r>
              <a:rPr lang="en-US" altLang="zh-CN" sz="1800" i="1" dirty="0">
                <a:solidFill>
                  <a:srgbClr val="0000FF"/>
                </a:solidFill>
                <a:ea typeface="华文中宋" pitchFamily="2" charset="-122"/>
              </a:rPr>
              <a:t>T</a:t>
            </a:r>
            <a:r>
              <a:rPr lang="zh-CN" altLang="en-US" sz="1800" dirty="0">
                <a:solidFill>
                  <a:srgbClr val="0000FF"/>
                </a:solidFill>
                <a:ea typeface="华文中宋" pitchFamily="2" charset="-122"/>
              </a:rPr>
              <a:t>（频率</a:t>
            </a:r>
            <a:r>
              <a:rPr lang="zh-CN" altLang="en-US" sz="1800" i="1" dirty="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</a:t>
            </a:r>
            <a:r>
              <a:rPr lang="zh-CN" altLang="en-US" sz="1800" dirty="0">
                <a:solidFill>
                  <a:srgbClr val="0000FF"/>
                </a:solidFill>
                <a:ea typeface="华文中宋" pitchFamily="2" charset="-122"/>
              </a:rPr>
              <a:t>、圆频率</a:t>
            </a:r>
            <a:r>
              <a:rPr lang="en-US" altLang="zh-CN" sz="1800" i="1" dirty="0">
                <a:solidFill>
                  <a:srgbClr val="0000FF"/>
                </a:solidFill>
                <a:ea typeface="华文中宋" pitchFamily="2" charset="-122"/>
              </a:rPr>
              <a:t>ω</a:t>
            </a:r>
            <a:r>
              <a:rPr lang="en-US" altLang="zh-CN" sz="1800" dirty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ea typeface="华文中宋" pitchFamily="2" charset="-122"/>
              </a:rPr>
              <a:t>、固有圆频率）</a:t>
            </a:r>
            <a:endParaRPr lang="zh-CN" altLang="en-US" sz="1800" b="0" dirty="0">
              <a:solidFill>
                <a:srgbClr val="0000FF"/>
              </a:solidFill>
              <a:ea typeface="华文中宋" pitchFamily="2" charset="-122"/>
            </a:endParaRPr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1042988" y="1547813"/>
          <a:ext cx="239236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公式" r:id="rId5" imgW="825142" imgH="177723" progId="Equation.3">
                  <p:embed/>
                </p:oleObj>
              </mc:Choice>
              <mc:Fallback>
                <p:oleObj name="公式" r:id="rId5" imgW="825142" imgH="17772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547813"/>
                        <a:ext cx="239236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3400425" y="1560513"/>
          <a:ext cx="262731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公式" r:id="rId7" imgW="964781" imgH="177723" progId="Equation.3">
                  <p:embed/>
                </p:oleObj>
              </mc:Choice>
              <mc:Fallback>
                <p:oleObj name="公式" r:id="rId7" imgW="964781" imgH="17772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1560513"/>
                        <a:ext cx="2627313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5956300" y="1562100"/>
          <a:ext cx="268763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公式" r:id="rId9" imgW="952087" imgH="177723" progId="Equation.3">
                  <p:embed/>
                </p:oleObj>
              </mc:Choice>
              <mc:Fallback>
                <p:oleObj name="公式" r:id="rId9" imgW="952087" imgH="17772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1562100"/>
                        <a:ext cx="268763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2051050" y="1816100"/>
          <a:ext cx="1552575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name="公式" r:id="rId11" imgW="558558" imgH="165028" progId="Equation.3">
                  <p:embed/>
                </p:oleObj>
              </mc:Choice>
              <mc:Fallback>
                <p:oleObj name="公式" r:id="rId11" imgW="558558" imgH="165028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816100"/>
                        <a:ext cx="1552575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3708400" y="1708150"/>
          <a:ext cx="15113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1" name="公式" r:id="rId13" imgW="571252" imgH="291973" progId="Equation.3">
                  <p:embed/>
                </p:oleObj>
              </mc:Choice>
              <mc:Fallback>
                <p:oleObj name="公式" r:id="rId13" imgW="571252" imgH="29197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708150"/>
                        <a:ext cx="15113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9E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4" name="Text Box 2"/>
          <p:cNvSpPr txBox="1">
            <a:spLocks noChangeArrowheads="1"/>
          </p:cNvSpPr>
          <p:nvPr/>
        </p:nvSpPr>
        <p:spPr bwMode="auto">
          <a:xfrm>
            <a:off x="684213" y="2951163"/>
            <a:ext cx="74168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3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）圆频率</a:t>
            </a:r>
            <a:r>
              <a:rPr lang="zh-CN" altLang="en-US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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：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２秒内完成的完全振动的次数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</a:endParaRPr>
          </a:p>
        </p:txBody>
      </p:sp>
      <p:sp>
        <p:nvSpPr>
          <p:cNvPr id="192515" name="Text Box 3"/>
          <p:cNvSpPr txBox="1">
            <a:spLocks noChangeArrowheads="1"/>
          </p:cNvSpPr>
          <p:nvPr/>
        </p:nvSpPr>
        <p:spPr bwMode="auto">
          <a:xfrm>
            <a:off x="684213" y="2139950"/>
            <a:ext cx="73199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）频率</a:t>
            </a:r>
            <a:r>
              <a:rPr lang="zh-CN" altLang="en-US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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：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单位时间内所完成的完全振动的次数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</a:endParaRPr>
          </a:p>
        </p:txBody>
      </p:sp>
      <p:sp>
        <p:nvSpPr>
          <p:cNvPr id="192516" name="Text Box 4"/>
          <p:cNvSpPr txBox="1">
            <a:spLocks noChangeArrowheads="1"/>
          </p:cNvSpPr>
          <p:nvPr/>
        </p:nvSpPr>
        <p:spPr bwMode="auto">
          <a:xfrm>
            <a:off x="323850" y="3741738"/>
            <a:ext cx="82089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因为它们仅由振动系统的力学性质所决定，故亦称固有周期（频率、圆频率）。</a:t>
            </a:r>
          </a:p>
        </p:txBody>
      </p:sp>
      <p:graphicFrame>
        <p:nvGraphicFramePr>
          <p:cNvPr id="192517" name="Object 5"/>
          <p:cNvGraphicFramePr>
            <a:graphicFrameLocks noChangeAspect="1"/>
          </p:cNvGraphicFramePr>
          <p:nvPr/>
        </p:nvGraphicFramePr>
        <p:xfrm>
          <a:off x="3276600" y="2409825"/>
          <a:ext cx="82391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2" name="公式" r:id="rId15" imgW="304668" imgH="291973" progId="Equation.3">
                  <p:embed/>
                </p:oleObj>
              </mc:Choice>
              <mc:Fallback>
                <p:oleObj name="公式" r:id="rId15" imgW="304668" imgH="29197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409825"/>
                        <a:ext cx="82391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8" name="Object 6"/>
          <p:cNvGraphicFramePr>
            <a:graphicFrameLocks noChangeAspect="1"/>
          </p:cNvGraphicFramePr>
          <p:nvPr/>
        </p:nvGraphicFramePr>
        <p:xfrm>
          <a:off x="4002088" y="2427288"/>
          <a:ext cx="7143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3" name="Equation" r:id="rId17" imgW="355292" imgH="393359" progId="Equation.DSMT4">
                  <p:embed/>
                </p:oleObj>
              </mc:Choice>
              <mc:Fallback>
                <p:oleObj name="Equation" r:id="rId17" imgW="355292" imgH="39335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088" y="2427288"/>
                        <a:ext cx="71437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19" name="Object 7"/>
          <p:cNvGraphicFramePr>
            <a:graphicFrameLocks noChangeAspect="1"/>
          </p:cNvGraphicFramePr>
          <p:nvPr/>
        </p:nvGraphicFramePr>
        <p:xfrm>
          <a:off x="3314700" y="3292475"/>
          <a:ext cx="15446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4" name="Equation" r:id="rId19" imgW="875920" imgH="393529" progId="Equation.DSMT4">
                  <p:embed/>
                </p:oleObj>
              </mc:Choice>
              <mc:Fallback>
                <p:oleObj name="Equation" r:id="rId19" imgW="875920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3292475"/>
                        <a:ext cx="15446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2526" name="Group 14"/>
          <p:cNvGrpSpPr>
            <a:grpSpLocks/>
          </p:cNvGrpSpPr>
          <p:nvPr/>
        </p:nvGrpSpPr>
        <p:grpSpPr bwMode="auto">
          <a:xfrm>
            <a:off x="757238" y="4062413"/>
            <a:ext cx="7702550" cy="669925"/>
            <a:chOff x="340" y="3566"/>
            <a:chExt cx="4852" cy="563"/>
          </a:xfrm>
        </p:grpSpPr>
        <p:sp>
          <p:nvSpPr>
            <p:cNvPr id="21520" name="Text Box 8"/>
            <p:cNvSpPr txBox="1">
              <a:spLocks noChangeArrowheads="1"/>
            </p:cNvSpPr>
            <p:nvPr/>
          </p:nvSpPr>
          <p:spPr bwMode="auto">
            <a:xfrm>
              <a:off x="340" y="3737"/>
              <a:ext cx="108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FF"/>
                  </a:solidFill>
                  <a:ea typeface="华文中宋" pitchFamily="2" charset="-122"/>
                </a:rPr>
                <a:t>弹簧振子</a:t>
              </a:r>
            </a:p>
          </p:txBody>
        </p:sp>
        <p:sp>
          <p:nvSpPr>
            <p:cNvPr id="21521" name="Text Box 9"/>
            <p:cNvSpPr txBox="1">
              <a:spLocks noChangeArrowheads="1"/>
            </p:cNvSpPr>
            <p:nvPr/>
          </p:nvSpPr>
          <p:spPr bwMode="auto">
            <a:xfrm>
              <a:off x="2109" y="3737"/>
              <a:ext cx="77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FF"/>
                  </a:solidFill>
                  <a:ea typeface="华文中宋" pitchFamily="2" charset="-122"/>
                </a:rPr>
                <a:t>单摆</a:t>
              </a:r>
            </a:p>
          </p:txBody>
        </p:sp>
        <p:sp>
          <p:nvSpPr>
            <p:cNvPr id="21522" name="Text Box 10"/>
            <p:cNvSpPr txBox="1">
              <a:spLocks noChangeArrowheads="1"/>
            </p:cNvSpPr>
            <p:nvPr/>
          </p:nvSpPr>
          <p:spPr bwMode="auto">
            <a:xfrm>
              <a:off x="3560" y="3721"/>
              <a:ext cx="68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FF"/>
                  </a:solidFill>
                  <a:ea typeface="华文中宋" pitchFamily="2" charset="-122"/>
                </a:rPr>
                <a:t>复摆</a:t>
              </a:r>
            </a:p>
          </p:txBody>
        </p:sp>
        <p:graphicFrame>
          <p:nvGraphicFramePr>
            <p:cNvPr id="21523" name="Object 11"/>
            <p:cNvGraphicFramePr>
              <a:graphicFrameLocks noChangeAspect="1"/>
            </p:cNvGraphicFramePr>
            <p:nvPr/>
          </p:nvGraphicFramePr>
          <p:xfrm>
            <a:off x="1292" y="3612"/>
            <a:ext cx="680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5" name="Equation" r:id="rId21" imgW="583947" imgH="444307" progId="Equation.DSMT4">
                    <p:embed/>
                  </p:oleObj>
                </mc:Choice>
                <mc:Fallback>
                  <p:oleObj name="Equation" r:id="rId21" imgW="583947" imgH="444307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3612"/>
                          <a:ext cx="680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4" name="Object 12"/>
            <p:cNvGraphicFramePr>
              <a:graphicFrameLocks noChangeAspect="1"/>
            </p:cNvGraphicFramePr>
            <p:nvPr/>
          </p:nvGraphicFramePr>
          <p:xfrm>
            <a:off x="2744" y="3612"/>
            <a:ext cx="635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6" name="Equation" r:id="rId23" imgW="545863" imgH="444307" progId="Equation.DSMT4">
                    <p:embed/>
                  </p:oleObj>
                </mc:Choice>
                <mc:Fallback>
                  <p:oleObj name="Equation" r:id="rId23" imgW="545863" imgH="444307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3612"/>
                          <a:ext cx="635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25" name="Object 13"/>
            <p:cNvGraphicFramePr>
              <a:graphicFrameLocks noChangeAspect="1"/>
            </p:cNvGraphicFramePr>
            <p:nvPr/>
          </p:nvGraphicFramePr>
          <p:xfrm>
            <a:off x="4195" y="3566"/>
            <a:ext cx="99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47" name="Equation" r:id="rId25" imgW="787058" imgH="444307" progId="Equation.DSMT4">
                    <p:embed/>
                  </p:oleObj>
                </mc:Choice>
                <mc:Fallback>
                  <p:oleObj name="Equation" r:id="rId25" imgW="787058" imgH="444307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3566"/>
                          <a:ext cx="99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9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19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2" dur="500"/>
                                        <p:tgtEl>
                                          <p:spTgt spid="19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192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2" dur="500"/>
                                        <p:tgtEl>
                                          <p:spTgt spid="19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7" dur="500"/>
                                        <p:tgtEl>
                                          <p:spTgt spid="19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utoUpdateAnimBg="0"/>
      <p:bldP spid="17418" grpId="0" autoUpdateAnimBg="0"/>
      <p:bldP spid="192514" grpId="0" autoUpdateAnimBg="0"/>
      <p:bldP spid="192515" grpId="0" autoUpdateAnimBg="0"/>
      <p:bldP spid="19251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4" name="Text Box 4"/>
          <p:cNvSpPr txBox="1">
            <a:spLocks noChangeArrowheads="1"/>
          </p:cNvSpPr>
          <p:nvPr/>
        </p:nvSpPr>
        <p:spPr bwMode="auto">
          <a:xfrm>
            <a:off x="539750" y="762000"/>
            <a:ext cx="14398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 b="0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3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、位相</a:t>
            </a:r>
          </a:p>
        </p:txBody>
      </p:sp>
      <p:sp>
        <p:nvSpPr>
          <p:cNvPr id="194565" name="Text Box 5"/>
          <p:cNvSpPr txBox="1">
            <a:spLocks noChangeArrowheads="1"/>
          </p:cNvSpPr>
          <p:nvPr/>
        </p:nvSpPr>
        <p:spPr bwMode="auto">
          <a:xfrm>
            <a:off x="395288" y="1698625"/>
            <a:ext cx="64087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位相是描述系统的机械运动状态的物理量。</a:t>
            </a:r>
          </a:p>
        </p:txBody>
      </p:sp>
      <p:graphicFrame>
        <p:nvGraphicFramePr>
          <p:cNvPr id="194566" name="Object 6"/>
          <p:cNvGraphicFramePr>
            <a:graphicFrameLocks noChangeAspect="1"/>
          </p:cNvGraphicFramePr>
          <p:nvPr/>
        </p:nvGraphicFramePr>
        <p:xfrm>
          <a:off x="1116013" y="2439988"/>
          <a:ext cx="287972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name="公式" r:id="rId4" imgW="977476" imgH="355446" progId="Equation.3">
                  <p:embed/>
                </p:oleObj>
              </mc:Choice>
              <mc:Fallback>
                <p:oleObj name="公式" r:id="rId4" imgW="977476" imgH="3554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439988"/>
                        <a:ext cx="2879725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69" name="Text Box 9"/>
          <p:cNvSpPr txBox="1">
            <a:spLocks noChangeArrowheads="1"/>
          </p:cNvSpPr>
          <p:nvPr/>
        </p:nvSpPr>
        <p:spPr bwMode="auto">
          <a:xfrm>
            <a:off x="468313" y="1050925"/>
            <a:ext cx="84994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        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在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A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和</a:t>
            </a:r>
            <a:r>
              <a:rPr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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确定之后，能唯一确定系统运动状态，且又能反映其周期性的是位相：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</a:endParaRPr>
          </a:p>
        </p:txBody>
      </p:sp>
      <p:graphicFrame>
        <p:nvGraphicFramePr>
          <p:cNvPr id="194570" name="Object 10"/>
          <p:cNvGraphicFramePr>
            <a:graphicFrameLocks noChangeAspect="1"/>
          </p:cNvGraphicFramePr>
          <p:nvPr/>
        </p:nvGraphicFramePr>
        <p:xfrm>
          <a:off x="3635375" y="1411288"/>
          <a:ext cx="15843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3" name="Equation" r:id="rId6" imgW="736600" imgH="228600" progId="Equation.DSMT4">
                  <p:embed/>
                </p:oleObj>
              </mc:Choice>
              <mc:Fallback>
                <p:oleObj name="Equation" r:id="rId6" imgW="7366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411288"/>
                        <a:ext cx="15843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577" name="Group 17"/>
          <p:cNvGrpSpPr>
            <a:grpSpLocks/>
          </p:cNvGrpSpPr>
          <p:nvPr/>
        </p:nvGrpSpPr>
        <p:grpSpPr bwMode="auto">
          <a:xfrm>
            <a:off x="1071563" y="2058988"/>
            <a:ext cx="7273925" cy="368300"/>
            <a:chOff x="657" y="1650"/>
            <a:chExt cx="4582" cy="310"/>
          </a:xfrm>
        </p:grpSpPr>
        <p:sp>
          <p:nvSpPr>
            <p:cNvPr id="22540" name="Text Box 11"/>
            <p:cNvSpPr txBox="1">
              <a:spLocks noChangeArrowheads="1"/>
            </p:cNvSpPr>
            <p:nvPr/>
          </p:nvSpPr>
          <p:spPr bwMode="auto">
            <a:xfrm>
              <a:off x="657" y="1650"/>
              <a:ext cx="458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初位相：</a:t>
              </a:r>
              <a:r>
                <a:rPr lang="en-US" altLang="zh-CN" sz="1800" i="1">
                  <a:solidFill>
                    <a:srgbClr val="000000"/>
                  </a:solidFill>
                  <a:ea typeface="华文中宋" pitchFamily="2" charset="-122"/>
                </a:rPr>
                <a:t>t</a:t>
              </a:r>
              <a:r>
                <a:rPr lang="en-US" altLang="zh-CN" sz="1800">
                  <a:solidFill>
                    <a:srgbClr val="000000"/>
                  </a:solidFill>
                  <a:ea typeface="华文中宋" pitchFamily="2" charset="-122"/>
                </a:rPr>
                <a:t>=0</a:t>
              </a:r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时的位相      ，由初始条件     ，  确定：</a:t>
              </a:r>
            </a:p>
          </p:txBody>
        </p:sp>
        <p:graphicFrame>
          <p:nvGraphicFramePr>
            <p:cNvPr id="22541" name="Object 12"/>
            <p:cNvGraphicFramePr>
              <a:graphicFrameLocks noChangeAspect="1"/>
            </p:cNvGraphicFramePr>
            <p:nvPr/>
          </p:nvGraphicFramePr>
          <p:xfrm>
            <a:off x="2060" y="1661"/>
            <a:ext cx="2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4" name="Equation" r:id="rId8" imgW="177646" imgH="228402" progId="Equation.DSMT4">
                    <p:embed/>
                  </p:oleObj>
                </mc:Choice>
                <mc:Fallback>
                  <p:oleObj name="Equation" r:id="rId8" imgW="177646" imgH="228402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0" y="1661"/>
                          <a:ext cx="2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2" name="Object 15"/>
            <p:cNvGraphicFramePr>
              <a:graphicFrameLocks noChangeAspect="1"/>
            </p:cNvGraphicFramePr>
            <p:nvPr/>
          </p:nvGraphicFramePr>
          <p:xfrm>
            <a:off x="3905" y="1676"/>
            <a:ext cx="2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5" name="Equation" r:id="rId10" imgW="177646" imgH="228402" progId="Equation.DSMT4">
                    <p:embed/>
                  </p:oleObj>
                </mc:Choice>
                <mc:Fallback>
                  <p:oleObj name="Equation" r:id="rId10" imgW="177646" imgH="228402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5" y="1676"/>
                          <a:ext cx="2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16"/>
            <p:cNvGraphicFramePr>
              <a:graphicFrameLocks noChangeAspect="1"/>
            </p:cNvGraphicFramePr>
            <p:nvPr/>
          </p:nvGraphicFramePr>
          <p:xfrm>
            <a:off x="3149" y="1661"/>
            <a:ext cx="21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6" name="Equation" r:id="rId12" imgW="177646" imgH="228402" progId="Equation.DSMT4">
                    <p:embed/>
                  </p:oleObj>
                </mc:Choice>
                <mc:Fallback>
                  <p:oleObj name="Equation" r:id="rId12" imgW="177646" imgH="228402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9" y="1661"/>
                          <a:ext cx="21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4578" name="Object 18"/>
          <p:cNvGraphicFramePr>
            <a:graphicFrameLocks noChangeAspect="1"/>
          </p:cNvGraphicFramePr>
          <p:nvPr/>
        </p:nvGraphicFramePr>
        <p:xfrm>
          <a:off x="4859338" y="2439988"/>
          <a:ext cx="22336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Equation" r:id="rId14" imgW="1117115" imgH="482391" progId="Equation.DSMT4">
                  <p:embed/>
                </p:oleObj>
              </mc:Choice>
              <mc:Fallback>
                <p:oleObj name="Equation" r:id="rId14" imgW="1117115" imgH="48239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439988"/>
                        <a:ext cx="22336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9" name="Object 19"/>
          <p:cNvGraphicFramePr>
            <a:graphicFrameLocks noChangeAspect="1"/>
          </p:cNvGraphicFramePr>
          <p:nvPr/>
        </p:nvGraphicFramePr>
        <p:xfrm>
          <a:off x="1576388" y="3148013"/>
          <a:ext cx="5465762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公式" r:id="rId16" imgW="1586811" imgH="317362" progId="Equation.3">
                  <p:embed/>
                </p:oleObj>
              </mc:Choice>
              <mc:Fallback>
                <p:oleObj name="公式" r:id="rId16" imgW="1586811" imgH="31736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3148013"/>
                        <a:ext cx="5465762" cy="68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99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/>
          <p:cNvGraphicFramePr>
            <a:graphicFrameLocks noChangeAspect="1"/>
          </p:cNvGraphicFramePr>
          <p:nvPr/>
        </p:nvGraphicFramePr>
        <p:xfrm>
          <a:off x="2773363" y="3795713"/>
          <a:ext cx="4319587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公式" r:id="rId18" imgW="1675673" imgH="406224" progId="Equation.3">
                  <p:embed/>
                </p:oleObj>
              </mc:Choice>
              <mc:Fallback>
                <p:oleObj name="公式" r:id="rId18" imgW="1675673" imgH="406224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63" y="3795713"/>
                        <a:ext cx="4319587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5" name="Rectangle 25"/>
          <p:cNvSpPr>
            <a:spLocks noChangeArrowheads="1"/>
          </p:cNvSpPr>
          <p:nvPr/>
        </p:nvSpPr>
        <p:spPr bwMode="auto">
          <a:xfrm>
            <a:off x="1260475" y="4011613"/>
            <a:ext cx="19431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回顾振幅：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94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19456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2" dur="500"/>
                                        <p:tgtEl>
                                          <p:spTgt spid="1945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9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 autoUpdateAnimBg="0"/>
      <p:bldP spid="194565" grpId="0" autoUpdateAnimBg="0"/>
      <p:bldP spid="194569" grpId="0" autoUpdateAnimBg="0"/>
      <p:bldP spid="1945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717550" y="835025"/>
            <a:ext cx="2025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位相差</a:t>
            </a:r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1482725" y="1554163"/>
            <a:ext cx="1989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两振动位相之差  </a:t>
            </a:r>
            <a:endParaRPr lang="zh-CN" altLang="zh-CN" sz="1800" i="1">
              <a:solidFill>
                <a:srgbClr val="000000"/>
              </a:solidFill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3213100" y="1554163"/>
            <a:ext cx="2222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i="1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 </a:t>
            </a:r>
            <a:r>
              <a:rPr lang="zh-CN" altLang="en-US" sz="1800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＝</a:t>
            </a:r>
            <a:r>
              <a:rPr lang="zh-CN" altLang="en-US" sz="1800" i="1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</a:t>
            </a:r>
            <a:r>
              <a:rPr lang="en-US" altLang="zh-CN" sz="1800" baseline="-25000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2</a:t>
            </a:r>
            <a:r>
              <a:rPr lang="zh-CN" altLang="en-US" sz="1800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－</a:t>
            </a:r>
            <a:r>
              <a:rPr lang="zh-CN" altLang="en-US" sz="1800" i="1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 </a:t>
            </a:r>
            <a:r>
              <a:rPr lang="en-US" altLang="zh-CN" sz="1800" baseline="-25000">
                <a:solidFill>
                  <a:srgbClr val="C00000"/>
                </a:solidFill>
                <a:ea typeface="宋体" pitchFamily="2" charset="-122"/>
                <a:sym typeface="Symbol" pitchFamily="18" charset="2"/>
              </a:rPr>
              <a:t>1</a:t>
            </a:r>
            <a:endParaRPr lang="zh-CN" altLang="zh-CN" sz="1800">
              <a:solidFill>
                <a:srgbClr val="C00000"/>
              </a:solidFill>
              <a:ea typeface="宋体" pitchFamily="2" charset="-122"/>
              <a:sym typeface="Symbol" pitchFamily="18" charset="2"/>
            </a:endParaRPr>
          </a:p>
        </p:txBody>
      </p:sp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539750" y="1960563"/>
            <a:ext cx="54673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当</a:t>
            </a:r>
            <a:r>
              <a:rPr lang="zh-CN" altLang="en-US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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=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en-US" altLang="en-US" sz="1800" i="1">
                <a:solidFill>
                  <a:srgbClr val="0000FF"/>
                </a:solidFill>
                <a:ea typeface="华文中宋" pitchFamily="2" charset="-122"/>
              </a:rPr>
              <a:t>k</a:t>
            </a:r>
            <a:r>
              <a:rPr lang="en-US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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时</a:t>
            </a:r>
            <a:r>
              <a:rPr lang="zh-CN" altLang="zh-CN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zh-CN" altLang="zh-CN" sz="1800" i="1">
                <a:solidFill>
                  <a:srgbClr val="000000"/>
                </a:solidFill>
                <a:ea typeface="华文中宋" pitchFamily="2" charset="-122"/>
              </a:rPr>
              <a:t>k=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 </a:t>
            </a:r>
            <a:r>
              <a:rPr lang="zh-CN" altLang="zh-CN" sz="1800">
                <a:solidFill>
                  <a:srgbClr val="000000"/>
                </a:solidFill>
                <a:ea typeface="华文中宋" pitchFamily="2" charset="-122"/>
              </a:rPr>
              <a:t>0</a:t>
            </a:r>
            <a:r>
              <a:rPr lang="zh-CN" altLang="zh-CN" sz="1800" i="1">
                <a:solidFill>
                  <a:srgbClr val="000000"/>
                </a:solidFill>
                <a:ea typeface="华文中宋" pitchFamily="2" charset="-122"/>
              </a:rPr>
              <a:t>,</a:t>
            </a:r>
            <a:r>
              <a:rPr lang="zh-CN" altLang="zh-CN" sz="1800">
                <a:solidFill>
                  <a:srgbClr val="000000"/>
                </a:solidFill>
                <a:ea typeface="华文中宋" pitchFamily="2" charset="-122"/>
              </a:rPr>
              <a:t>±1</a:t>
            </a:r>
            <a:r>
              <a:rPr lang="zh-CN" altLang="zh-CN" sz="1800" i="1">
                <a:solidFill>
                  <a:srgbClr val="000000"/>
                </a:solidFill>
                <a:ea typeface="华文中宋" pitchFamily="2" charset="-122"/>
              </a:rPr>
              <a:t>,</a:t>
            </a:r>
            <a:r>
              <a:rPr lang="zh-CN" altLang="zh-CN" sz="1800">
                <a:solidFill>
                  <a:srgbClr val="000000"/>
                </a:solidFill>
                <a:ea typeface="华文中宋" pitchFamily="2" charset="-122"/>
              </a:rPr>
              <a:t>±2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 ……</a:t>
            </a:r>
            <a:endParaRPr lang="en-US" altLang="zh-CN" sz="180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7" name="Text Box 20"/>
          <p:cNvSpPr txBox="1">
            <a:spLocks noChangeArrowheads="1"/>
          </p:cNvSpPr>
          <p:nvPr/>
        </p:nvSpPr>
        <p:spPr bwMode="auto">
          <a:xfrm>
            <a:off x="1403350" y="2435225"/>
            <a:ext cx="3024188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两振动步调一致，称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同相。</a:t>
            </a:r>
          </a:p>
        </p:txBody>
      </p:sp>
      <p:sp>
        <p:nvSpPr>
          <p:cNvPr id="8" name="Text Box 21"/>
          <p:cNvSpPr txBox="1">
            <a:spLocks noChangeArrowheads="1"/>
          </p:cNvSpPr>
          <p:nvPr/>
        </p:nvSpPr>
        <p:spPr bwMode="auto">
          <a:xfrm>
            <a:off x="539750" y="2874963"/>
            <a:ext cx="5761038" cy="41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当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</a:t>
            </a:r>
            <a:r>
              <a:rPr lang="zh-CN" altLang="en-US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=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(2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k+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1)</a:t>
            </a:r>
            <a:r>
              <a:rPr lang="zh-CN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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时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，</a:t>
            </a:r>
            <a:r>
              <a:rPr lang="zh-CN" altLang="zh-CN" sz="1800">
                <a:solidFill>
                  <a:srgbClr val="000000"/>
                </a:solidFill>
                <a:ea typeface="华文中宋" pitchFamily="2" charset="-122"/>
              </a:rPr>
              <a:t> </a:t>
            </a:r>
            <a:r>
              <a:rPr lang="zh-CN" altLang="zh-CN" sz="1800" i="1">
                <a:solidFill>
                  <a:srgbClr val="000000"/>
                </a:solidFill>
                <a:ea typeface="华文中宋" pitchFamily="2" charset="-122"/>
              </a:rPr>
              <a:t>k=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 </a:t>
            </a:r>
            <a:r>
              <a:rPr lang="zh-CN" altLang="zh-CN" sz="1800">
                <a:solidFill>
                  <a:srgbClr val="000000"/>
                </a:solidFill>
                <a:ea typeface="华文中宋" pitchFamily="2" charset="-122"/>
              </a:rPr>
              <a:t>0,±1,±2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……</a:t>
            </a:r>
            <a:endParaRPr lang="en-US" altLang="zh-CN" sz="1800">
              <a:solidFill>
                <a:srgbClr val="0000FF"/>
              </a:solidFill>
              <a:ea typeface="华文中宋" pitchFamily="2" charset="-122"/>
            </a:endParaRPr>
          </a:p>
        </p:txBody>
      </p:sp>
      <p:sp>
        <p:nvSpPr>
          <p:cNvPr id="9" name="Text Box 21"/>
          <p:cNvSpPr txBox="1">
            <a:spLocks noChangeArrowheads="1"/>
          </p:cNvSpPr>
          <p:nvPr/>
        </p:nvSpPr>
        <p:spPr bwMode="auto">
          <a:xfrm>
            <a:off x="1362075" y="3235325"/>
            <a:ext cx="4217988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两振动步调相反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,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称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反相。</a:t>
            </a:r>
          </a:p>
        </p:txBody>
      </p:sp>
      <p:sp>
        <p:nvSpPr>
          <p:cNvPr id="10" name="Text Box 23"/>
          <p:cNvSpPr txBox="1">
            <a:spLocks noChangeArrowheads="1"/>
          </p:cNvSpPr>
          <p:nvPr/>
        </p:nvSpPr>
        <p:spPr bwMode="auto">
          <a:xfrm>
            <a:off x="528638" y="3740150"/>
            <a:ext cx="5556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当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0&lt;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&lt;</a:t>
            </a:r>
            <a:r>
              <a:rPr lang="zh-CN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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 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时，   </a:t>
            </a:r>
            <a:r>
              <a:rPr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800" baseline="-25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2 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超前于</a:t>
            </a:r>
            <a:r>
              <a:rPr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800" baseline="-25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1</a:t>
            </a:r>
            <a:endParaRPr lang="zh-CN" altLang="zh-CN" sz="1800">
              <a:solidFill>
                <a:srgbClr val="000000"/>
              </a:solidFill>
              <a:ea typeface="华文中宋" pitchFamily="2" charset="-122"/>
            </a:endParaRPr>
          </a:p>
        </p:txBody>
      </p:sp>
      <p:sp>
        <p:nvSpPr>
          <p:cNvPr id="11" name="Text Box 23"/>
          <p:cNvSpPr txBox="1">
            <a:spLocks noChangeArrowheads="1"/>
          </p:cNvSpPr>
          <p:nvPr/>
        </p:nvSpPr>
        <p:spPr bwMode="auto">
          <a:xfrm>
            <a:off x="2195513" y="4173538"/>
            <a:ext cx="2800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或 </a:t>
            </a:r>
            <a:r>
              <a:rPr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800" baseline="-25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1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滞后于</a:t>
            </a:r>
            <a:r>
              <a:rPr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lang="en-US" altLang="zh-CN" sz="1800" baseline="-25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2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 </a:t>
            </a:r>
            <a:endParaRPr lang="zh-CN" altLang="zh-CN" sz="1800">
              <a:solidFill>
                <a:srgbClr val="000000"/>
              </a:solidFill>
              <a:ea typeface="华文中宋" pitchFamily="2" charset="-122"/>
            </a:endParaRPr>
          </a:p>
        </p:txBody>
      </p:sp>
      <p:grpSp>
        <p:nvGrpSpPr>
          <p:cNvPr id="2" name="组合 31"/>
          <p:cNvGrpSpPr>
            <a:grpSpLocks/>
          </p:cNvGrpSpPr>
          <p:nvPr/>
        </p:nvGrpSpPr>
        <p:grpSpPr bwMode="auto">
          <a:xfrm>
            <a:off x="6156325" y="1330325"/>
            <a:ext cx="2279650" cy="1377950"/>
            <a:chOff x="694518" y="908955"/>
            <a:chExt cx="3291695" cy="2650391"/>
          </a:xfrm>
        </p:grpSpPr>
        <p:sp>
          <p:nvSpPr>
            <p:cNvPr id="23584" name="Rectangle 4"/>
            <p:cNvSpPr>
              <a:spLocks noChangeArrowheads="1"/>
            </p:cNvSpPr>
            <p:nvPr/>
          </p:nvSpPr>
          <p:spPr bwMode="auto">
            <a:xfrm>
              <a:off x="1134837" y="908955"/>
              <a:ext cx="394283" cy="4079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85" name="Rectangle 6"/>
            <p:cNvSpPr>
              <a:spLocks noChangeArrowheads="1"/>
            </p:cNvSpPr>
            <p:nvPr/>
          </p:nvSpPr>
          <p:spPr bwMode="auto">
            <a:xfrm>
              <a:off x="3692525" y="2409826"/>
              <a:ext cx="293688" cy="471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86" name="Rectangle 7"/>
            <p:cNvSpPr>
              <a:spLocks noChangeArrowheads="1"/>
            </p:cNvSpPr>
            <p:nvPr/>
          </p:nvSpPr>
          <p:spPr bwMode="auto">
            <a:xfrm>
              <a:off x="827088" y="2281239"/>
              <a:ext cx="252413" cy="374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grpSp>
          <p:nvGrpSpPr>
            <p:cNvPr id="23587" name="Group 8"/>
            <p:cNvGrpSpPr>
              <a:grpSpLocks/>
            </p:cNvGrpSpPr>
            <p:nvPr/>
          </p:nvGrpSpPr>
          <p:grpSpPr bwMode="auto">
            <a:xfrm>
              <a:off x="1055688" y="1089026"/>
              <a:ext cx="2709863" cy="2470320"/>
              <a:chOff x="0" y="-1"/>
              <a:chExt cx="19999" cy="18015"/>
            </a:xfrm>
          </p:grpSpPr>
          <p:grpSp>
            <p:nvGrpSpPr>
              <p:cNvPr id="23597" name="Group 9"/>
              <p:cNvGrpSpPr>
                <a:grpSpLocks/>
              </p:cNvGrpSpPr>
              <p:nvPr/>
            </p:nvGrpSpPr>
            <p:grpSpPr bwMode="auto">
              <a:xfrm>
                <a:off x="97" y="6463"/>
                <a:ext cx="18657" cy="6785"/>
                <a:chOff x="0" y="0"/>
                <a:chExt cx="19999" cy="20004"/>
              </a:xfrm>
            </p:grpSpPr>
            <p:sp>
              <p:nvSpPr>
                <p:cNvPr id="23603" name="Freeform 10"/>
                <p:cNvSpPr>
                  <a:spLocks/>
                </p:cNvSpPr>
                <p:nvPr/>
              </p:nvSpPr>
              <p:spPr bwMode="auto">
                <a:xfrm>
                  <a:off x="0" y="0"/>
                  <a:ext cx="9748" cy="10369"/>
                </a:xfrm>
                <a:custGeom>
                  <a:avLst/>
                  <a:gdLst>
                    <a:gd name="T0" fmla="*/ 0 w 20000"/>
                    <a:gd name="T1" fmla="*/ 1 h 20000"/>
                    <a:gd name="T2" fmla="*/ 0 w 20000"/>
                    <a:gd name="T3" fmla="*/ 1 h 20000"/>
                    <a:gd name="T4" fmla="*/ 0 w 20000"/>
                    <a:gd name="T5" fmla="*/ 1 h 20000"/>
                    <a:gd name="T6" fmla="*/ 0 w 20000"/>
                    <a:gd name="T7" fmla="*/ 1 h 20000"/>
                    <a:gd name="T8" fmla="*/ 0 w 20000"/>
                    <a:gd name="T9" fmla="*/ 1 h 20000"/>
                    <a:gd name="T10" fmla="*/ 0 w 20000"/>
                    <a:gd name="T11" fmla="*/ 1 h 20000"/>
                    <a:gd name="T12" fmla="*/ 0 w 20000"/>
                    <a:gd name="T13" fmla="*/ 1 h 20000"/>
                    <a:gd name="T14" fmla="*/ 0 w 20000"/>
                    <a:gd name="T15" fmla="*/ 1 h 20000"/>
                    <a:gd name="T16" fmla="*/ 0 w 20000"/>
                    <a:gd name="T17" fmla="*/ 1 h 20000"/>
                    <a:gd name="T18" fmla="*/ 0 w 20000"/>
                    <a:gd name="T19" fmla="*/ 1 h 20000"/>
                    <a:gd name="T20" fmla="*/ 0 w 20000"/>
                    <a:gd name="T21" fmla="*/ 1 h 20000"/>
                    <a:gd name="T22" fmla="*/ 0 w 20000"/>
                    <a:gd name="T23" fmla="*/ 1 h 20000"/>
                    <a:gd name="T24" fmla="*/ 0 w 20000"/>
                    <a:gd name="T25" fmla="*/ 1 h 20000"/>
                    <a:gd name="T26" fmla="*/ 0 w 20000"/>
                    <a:gd name="T27" fmla="*/ 1 h 20000"/>
                    <a:gd name="T28" fmla="*/ 0 w 20000"/>
                    <a:gd name="T29" fmla="*/ 1 h 20000"/>
                    <a:gd name="T30" fmla="*/ 0 w 20000"/>
                    <a:gd name="T31" fmla="*/ 1 h 20000"/>
                    <a:gd name="T32" fmla="*/ 0 w 20000"/>
                    <a:gd name="T33" fmla="*/ 1 h 20000"/>
                    <a:gd name="T34" fmla="*/ 0 w 20000"/>
                    <a:gd name="T35" fmla="*/ 1 h 20000"/>
                    <a:gd name="T36" fmla="*/ 0 w 20000"/>
                    <a:gd name="T37" fmla="*/ 1 h 20000"/>
                    <a:gd name="T38" fmla="*/ 0 w 20000"/>
                    <a:gd name="T39" fmla="*/ 1 h 20000"/>
                    <a:gd name="T40" fmla="*/ 0 w 20000"/>
                    <a:gd name="T41" fmla="*/ 1 h 20000"/>
                    <a:gd name="T42" fmla="*/ 0 w 20000"/>
                    <a:gd name="T43" fmla="*/ 1 h 20000"/>
                    <a:gd name="T44" fmla="*/ 0 w 20000"/>
                    <a:gd name="T45" fmla="*/ 1 h 20000"/>
                    <a:gd name="T46" fmla="*/ 0 w 20000"/>
                    <a:gd name="T47" fmla="*/ 0 h 20000"/>
                    <a:gd name="T48" fmla="*/ 0 w 20000"/>
                    <a:gd name="T49" fmla="*/ 1 h 20000"/>
                    <a:gd name="T50" fmla="*/ 0 w 20000"/>
                    <a:gd name="T51" fmla="*/ 1 h 20000"/>
                    <a:gd name="T52" fmla="*/ 0 w 20000"/>
                    <a:gd name="T53" fmla="*/ 1 h 20000"/>
                    <a:gd name="T54" fmla="*/ 0 w 20000"/>
                    <a:gd name="T55" fmla="*/ 1 h 20000"/>
                    <a:gd name="T56" fmla="*/ 0 w 20000"/>
                    <a:gd name="T57" fmla="*/ 1 h 20000"/>
                    <a:gd name="T58" fmla="*/ 0 w 20000"/>
                    <a:gd name="T59" fmla="*/ 1 h 20000"/>
                    <a:gd name="T60" fmla="*/ 0 w 20000"/>
                    <a:gd name="T61" fmla="*/ 1 h 20000"/>
                    <a:gd name="T62" fmla="*/ 0 w 20000"/>
                    <a:gd name="T63" fmla="*/ 1 h 20000"/>
                    <a:gd name="T64" fmla="*/ 0 w 20000"/>
                    <a:gd name="T65" fmla="*/ 1 h 20000"/>
                    <a:gd name="T66" fmla="*/ 0 w 20000"/>
                    <a:gd name="T67" fmla="*/ 1 h 20000"/>
                    <a:gd name="T68" fmla="*/ 0 w 20000"/>
                    <a:gd name="T69" fmla="*/ 1 h 20000"/>
                    <a:gd name="T70" fmla="*/ 0 w 20000"/>
                    <a:gd name="T71" fmla="*/ 1 h 20000"/>
                    <a:gd name="T72" fmla="*/ 0 w 20000"/>
                    <a:gd name="T73" fmla="*/ 1 h 20000"/>
                    <a:gd name="T74" fmla="*/ 0 w 20000"/>
                    <a:gd name="T75" fmla="*/ 1 h 20000"/>
                    <a:gd name="T76" fmla="*/ 0 w 20000"/>
                    <a:gd name="T77" fmla="*/ 1 h 20000"/>
                    <a:gd name="T78" fmla="*/ 0 w 20000"/>
                    <a:gd name="T79" fmla="*/ 1 h 20000"/>
                    <a:gd name="T80" fmla="*/ 0 w 20000"/>
                    <a:gd name="T81" fmla="*/ 1 h 20000"/>
                    <a:gd name="T82" fmla="*/ 0 w 20000"/>
                    <a:gd name="T83" fmla="*/ 1 h 20000"/>
                    <a:gd name="T84" fmla="*/ 0 w 20000"/>
                    <a:gd name="T85" fmla="*/ 1 h 20000"/>
                    <a:gd name="T86" fmla="*/ 0 w 20000"/>
                    <a:gd name="T87" fmla="*/ 1 h 20000"/>
                    <a:gd name="T88" fmla="*/ 0 w 20000"/>
                    <a:gd name="T89" fmla="*/ 1 h 20000"/>
                    <a:gd name="T90" fmla="*/ 0 w 20000"/>
                    <a:gd name="T91" fmla="*/ 1 h 20000"/>
                    <a:gd name="T92" fmla="*/ 0 w 20000"/>
                    <a:gd name="T93" fmla="*/ 1 h 20000"/>
                    <a:gd name="T94" fmla="*/ 0 w 20000"/>
                    <a:gd name="T95" fmla="*/ 1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6"/>
                      </a:moveTo>
                      <a:lnTo>
                        <a:pt x="225" y="18477"/>
                      </a:lnTo>
                      <a:lnTo>
                        <a:pt x="437" y="17868"/>
                      </a:lnTo>
                      <a:lnTo>
                        <a:pt x="662" y="17259"/>
                      </a:lnTo>
                      <a:lnTo>
                        <a:pt x="887" y="16684"/>
                      </a:lnTo>
                      <a:lnTo>
                        <a:pt x="1099" y="16074"/>
                      </a:lnTo>
                      <a:lnTo>
                        <a:pt x="1325" y="15465"/>
                      </a:lnTo>
                      <a:lnTo>
                        <a:pt x="1550" y="14890"/>
                      </a:lnTo>
                      <a:lnTo>
                        <a:pt x="1762" y="14281"/>
                      </a:lnTo>
                      <a:lnTo>
                        <a:pt x="1987" y="13706"/>
                      </a:lnTo>
                      <a:lnTo>
                        <a:pt x="2225" y="13164"/>
                      </a:lnTo>
                      <a:lnTo>
                        <a:pt x="2450" y="12589"/>
                      </a:lnTo>
                      <a:lnTo>
                        <a:pt x="2675" y="12014"/>
                      </a:lnTo>
                      <a:lnTo>
                        <a:pt x="2887" y="11472"/>
                      </a:lnTo>
                      <a:lnTo>
                        <a:pt x="3113" y="10863"/>
                      </a:lnTo>
                      <a:lnTo>
                        <a:pt x="3338" y="10355"/>
                      </a:lnTo>
                      <a:lnTo>
                        <a:pt x="3550" y="9780"/>
                      </a:lnTo>
                      <a:lnTo>
                        <a:pt x="3775" y="9272"/>
                      </a:lnTo>
                      <a:lnTo>
                        <a:pt x="4000" y="8731"/>
                      </a:lnTo>
                      <a:lnTo>
                        <a:pt x="4225" y="8223"/>
                      </a:lnTo>
                      <a:lnTo>
                        <a:pt x="4437" y="7716"/>
                      </a:lnTo>
                      <a:lnTo>
                        <a:pt x="4662" y="7242"/>
                      </a:lnTo>
                      <a:lnTo>
                        <a:pt x="4887" y="6802"/>
                      </a:lnTo>
                      <a:lnTo>
                        <a:pt x="5113" y="6328"/>
                      </a:lnTo>
                      <a:lnTo>
                        <a:pt x="5338" y="5888"/>
                      </a:lnTo>
                      <a:lnTo>
                        <a:pt x="5550" y="5415"/>
                      </a:lnTo>
                      <a:lnTo>
                        <a:pt x="5762" y="4975"/>
                      </a:lnTo>
                      <a:lnTo>
                        <a:pt x="5974" y="4569"/>
                      </a:lnTo>
                      <a:lnTo>
                        <a:pt x="6199" y="4162"/>
                      </a:lnTo>
                      <a:lnTo>
                        <a:pt x="6424" y="3756"/>
                      </a:lnTo>
                      <a:lnTo>
                        <a:pt x="6636" y="3418"/>
                      </a:lnTo>
                      <a:lnTo>
                        <a:pt x="6861" y="3046"/>
                      </a:lnTo>
                      <a:lnTo>
                        <a:pt x="7086" y="2707"/>
                      </a:lnTo>
                      <a:lnTo>
                        <a:pt x="7285" y="2437"/>
                      </a:lnTo>
                      <a:lnTo>
                        <a:pt x="7510" y="2098"/>
                      </a:lnTo>
                      <a:lnTo>
                        <a:pt x="7735" y="1794"/>
                      </a:lnTo>
                      <a:lnTo>
                        <a:pt x="7960" y="1591"/>
                      </a:lnTo>
                      <a:lnTo>
                        <a:pt x="8159" y="1320"/>
                      </a:lnTo>
                      <a:lnTo>
                        <a:pt x="8371" y="1083"/>
                      </a:lnTo>
                      <a:lnTo>
                        <a:pt x="8583" y="846"/>
                      </a:lnTo>
                      <a:lnTo>
                        <a:pt x="8808" y="677"/>
                      </a:lnTo>
                      <a:lnTo>
                        <a:pt x="9020" y="508"/>
                      </a:lnTo>
                      <a:lnTo>
                        <a:pt x="9232" y="372"/>
                      </a:lnTo>
                      <a:lnTo>
                        <a:pt x="9444" y="271"/>
                      </a:lnTo>
                      <a:lnTo>
                        <a:pt x="9642" y="135"/>
                      </a:lnTo>
                      <a:lnTo>
                        <a:pt x="9854" y="102"/>
                      </a:lnTo>
                      <a:lnTo>
                        <a:pt x="10079" y="34"/>
                      </a:lnTo>
                      <a:lnTo>
                        <a:pt x="10291" y="0"/>
                      </a:lnTo>
                      <a:lnTo>
                        <a:pt x="10503" y="34"/>
                      </a:lnTo>
                      <a:lnTo>
                        <a:pt x="10702" y="34"/>
                      </a:lnTo>
                      <a:lnTo>
                        <a:pt x="10914" y="102"/>
                      </a:lnTo>
                      <a:lnTo>
                        <a:pt x="11126" y="203"/>
                      </a:lnTo>
                      <a:lnTo>
                        <a:pt x="11338" y="305"/>
                      </a:lnTo>
                      <a:lnTo>
                        <a:pt x="11563" y="541"/>
                      </a:lnTo>
                      <a:lnTo>
                        <a:pt x="11788" y="745"/>
                      </a:lnTo>
                      <a:lnTo>
                        <a:pt x="12000" y="981"/>
                      </a:lnTo>
                      <a:lnTo>
                        <a:pt x="12225" y="1252"/>
                      </a:lnTo>
                      <a:lnTo>
                        <a:pt x="12450" y="1591"/>
                      </a:lnTo>
                      <a:lnTo>
                        <a:pt x="12689" y="1895"/>
                      </a:lnTo>
                      <a:lnTo>
                        <a:pt x="12914" y="2267"/>
                      </a:lnTo>
                      <a:lnTo>
                        <a:pt x="13152" y="2707"/>
                      </a:lnTo>
                      <a:lnTo>
                        <a:pt x="13377" y="3080"/>
                      </a:lnTo>
                      <a:lnTo>
                        <a:pt x="13616" y="3519"/>
                      </a:lnTo>
                      <a:lnTo>
                        <a:pt x="13841" y="3959"/>
                      </a:lnTo>
                      <a:lnTo>
                        <a:pt x="14066" y="4433"/>
                      </a:lnTo>
                      <a:lnTo>
                        <a:pt x="14291" y="4941"/>
                      </a:lnTo>
                      <a:lnTo>
                        <a:pt x="14530" y="5448"/>
                      </a:lnTo>
                      <a:lnTo>
                        <a:pt x="14755" y="5990"/>
                      </a:lnTo>
                      <a:lnTo>
                        <a:pt x="14993" y="6497"/>
                      </a:lnTo>
                      <a:lnTo>
                        <a:pt x="15219" y="7039"/>
                      </a:lnTo>
                      <a:lnTo>
                        <a:pt x="15444" y="7614"/>
                      </a:lnTo>
                      <a:lnTo>
                        <a:pt x="15682" y="8190"/>
                      </a:lnTo>
                      <a:lnTo>
                        <a:pt x="15894" y="8765"/>
                      </a:lnTo>
                      <a:lnTo>
                        <a:pt x="16106" y="9340"/>
                      </a:lnTo>
                      <a:lnTo>
                        <a:pt x="16318" y="9915"/>
                      </a:lnTo>
                      <a:lnTo>
                        <a:pt x="16530" y="10457"/>
                      </a:lnTo>
                      <a:lnTo>
                        <a:pt x="16742" y="11032"/>
                      </a:lnTo>
                      <a:lnTo>
                        <a:pt x="16954" y="11641"/>
                      </a:lnTo>
                      <a:lnTo>
                        <a:pt x="17152" y="12183"/>
                      </a:lnTo>
                      <a:lnTo>
                        <a:pt x="17351" y="12724"/>
                      </a:lnTo>
                      <a:lnTo>
                        <a:pt x="17550" y="13299"/>
                      </a:lnTo>
                      <a:lnTo>
                        <a:pt x="17735" y="13841"/>
                      </a:lnTo>
                      <a:lnTo>
                        <a:pt x="17934" y="14382"/>
                      </a:lnTo>
                      <a:lnTo>
                        <a:pt x="18119" y="14924"/>
                      </a:lnTo>
                      <a:lnTo>
                        <a:pt x="18291" y="15431"/>
                      </a:lnTo>
                      <a:lnTo>
                        <a:pt x="18464" y="15905"/>
                      </a:lnTo>
                      <a:lnTo>
                        <a:pt x="18636" y="16413"/>
                      </a:lnTo>
                      <a:lnTo>
                        <a:pt x="18795" y="16853"/>
                      </a:lnTo>
                      <a:lnTo>
                        <a:pt x="18954" y="17327"/>
                      </a:lnTo>
                      <a:lnTo>
                        <a:pt x="19099" y="17733"/>
                      </a:lnTo>
                      <a:lnTo>
                        <a:pt x="19258" y="18139"/>
                      </a:lnTo>
                      <a:lnTo>
                        <a:pt x="19391" y="18511"/>
                      </a:lnTo>
                      <a:lnTo>
                        <a:pt x="19523" y="18883"/>
                      </a:lnTo>
                      <a:lnTo>
                        <a:pt x="19642" y="19188"/>
                      </a:lnTo>
                      <a:lnTo>
                        <a:pt x="19775" y="19459"/>
                      </a:lnTo>
                      <a:lnTo>
                        <a:pt x="19881" y="19763"/>
                      </a:lnTo>
                      <a:lnTo>
                        <a:pt x="19987" y="19966"/>
                      </a:lnTo>
                    </a:path>
                  </a:pathLst>
                </a:cu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4" name="Freeform 11"/>
                <p:cNvSpPr>
                  <a:spLocks/>
                </p:cNvSpPr>
                <p:nvPr/>
              </p:nvSpPr>
              <p:spPr bwMode="auto">
                <a:xfrm>
                  <a:off x="9638" y="9986"/>
                  <a:ext cx="10361" cy="10018"/>
                </a:xfrm>
                <a:custGeom>
                  <a:avLst/>
                  <a:gdLst>
                    <a:gd name="T0" fmla="*/ 1 w 20000"/>
                    <a:gd name="T1" fmla="*/ 1 h 20000"/>
                    <a:gd name="T2" fmla="*/ 1 w 20000"/>
                    <a:gd name="T3" fmla="*/ 1 h 20000"/>
                    <a:gd name="T4" fmla="*/ 1 w 20000"/>
                    <a:gd name="T5" fmla="*/ 1 h 20000"/>
                    <a:gd name="T6" fmla="*/ 1 w 20000"/>
                    <a:gd name="T7" fmla="*/ 1 h 20000"/>
                    <a:gd name="T8" fmla="*/ 1 w 20000"/>
                    <a:gd name="T9" fmla="*/ 1 h 20000"/>
                    <a:gd name="T10" fmla="*/ 1 w 20000"/>
                    <a:gd name="T11" fmla="*/ 1 h 20000"/>
                    <a:gd name="T12" fmla="*/ 1 w 20000"/>
                    <a:gd name="T13" fmla="*/ 1 h 20000"/>
                    <a:gd name="T14" fmla="*/ 1 w 20000"/>
                    <a:gd name="T15" fmla="*/ 1 h 20000"/>
                    <a:gd name="T16" fmla="*/ 1 w 20000"/>
                    <a:gd name="T17" fmla="*/ 1 h 20000"/>
                    <a:gd name="T18" fmla="*/ 1 w 20000"/>
                    <a:gd name="T19" fmla="*/ 1 h 20000"/>
                    <a:gd name="T20" fmla="*/ 1 w 20000"/>
                    <a:gd name="T21" fmla="*/ 1 h 20000"/>
                    <a:gd name="T22" fmla="*/ 1 w 20000"/>
                    <a:gd name="T23" fmla="*/ 1 h 20000"/>
                    <a:gd name="T24" fmla="*/ 1 w 20000"/>
                    <a:gd name="T25" fmla="*/ 1 h 20000"/>
                    <a:gd name="T26" fmla="*/ 1 w 20000"/>
                    <a:gd name="T27" fmla="*/ 1 h 20000"/>
                    <a:gd name="T28" fmla="*/ 1 w 20000"/>
                    <a:gd name="T29" fmla="*/ 1 h 20000"/>
                    <a:gd name="T30" fmla="*/ 1 w 20000"/>
                    <a:gd name="T31" fmla="*/ 1 h 20000"/>
                    <a:gd name="T32" fmla="*/ 1 w 20000"/>
                    <a:gd name="T33" fmla="*/ 1 h 20000"/>
                    <a:gd name="T34" fmla="*/ 1 w 20000"/>
                    <a:gd name="T35" fmla="*/ 1 h 20000"/>
                    <a:gd name="T36" fmla="*/ 1 w 20000"/>
                    <a:gd name="T37" fmla="*/ 1 h 20000"/>
                    <a:gd name="T38" fmla="*/ 1 w 20000"/>
                    <a:gd name="T39" fmla="*/ 1 h 20000"/>
                    <a:gd name="T40" fmla="*/ 1 w 20000"/>
                    <a:gd name="T41" fmla="*/ 1 h 20000"/>
                    <a:gd name="T42" fmla="*/ 1 w 20000"/>
                    <a:gd name="T43" fmla="*/ 1 h 20000"/>
                    <a:gd name="T44" fmla="*/ 1 w 20000"/>
                    <a:gd name="T45" fmla="*/ 1 h 20000"/>
                    <a:gd name="T46" fmla="*/ 1 w 20000"/>
                    <a:gd name="T47" fmla="*/ 1 h 20000"/>
                    <a:gd name="T48" fmla="*/ 1 w 20000"/>
                    <a:gd name="T49" fmla="*/ 1 h 20000"/>
                    <a:gd name="T50" fmla="*/ 1 w 20000"/>
                    <a:gd name="T51" fmla="*/ 1 h 20000"/>
                    <a:gd name="T52" fmla="*/ 1 w 20000"/>
                    <a:gd name="T53" fmla="*/ 1 h 20000"/>
                    <a:gd name="T54" fmla="*/ 1 w 20000"/>
                    <a:gd name="T55" fmla="*/ 1 h 20000"/>
                    <a:gd name="T56" fmla="*/ 1 w 20000"/>
                    <a:gd name="T57" fmla="*/ 1 h 20000"/>
                    <a:gd name="T58" fmla="*/ 1 w 20000"/>
                    <a:gd name="T59" fmla="*/ 1 h 20000"/>
                    <a:gd name="T60" fmla="*/ 1 w 20000"/>
                    <a:gd name="T61" fmla="*/ 1 h 20000"/>
                    <a:gd name="T62" fmla="*/ 1 w 20000"/>
                    <a:gd name="T63" fmla="*/ 1 h 20000"/>
                    <a:gd name="T64" fmla="*/ 1 w 20000"/>
                    <a:gd name="T65" fmla="*/ 1 h 20000"/>
                    <a:gd name="T66" fmla="*/ 1 w 20000"/>
                    <a:gd name="T67" fmla="*/ 1 h 20000"/>
                    <a:gd name="T68" fmla="*/ 1 w 20000"/>
                    <a:gd name="T69" fmla="*/ 1 h 20000"/>
                    <a:gd name="T70" fmla="*/ 1 w 20000"/>
                    <a:gd name="T71" fmla="*/ 1 h 20000"/>
                    <a:gd name="T72" fmla="*/ 1 w 20000"/>
                    <a:gd name="T73" fmla="*/ 1 h 20000"/>
                    <a:gd name="T74" fmla="*/ 1 w 20000"/>
                    <a:gd name="T75" fmla="*/ 1 h 20000"/>
                    <a:gd name="T76" fmla="*/ 1 w 20000"/>
                    <a:gd name="T77" fmla="*/ 1 h 20000"/>
                    <a:gd name="T78" fmla="*/ 1 w 20000"/>
                    <a:gd name="T79" fmla="*/ 1 h 20000"/>
                    <a:gd name="T80" fmla="*/ 1 w 20000"/>
                    <a:gd name="T81" fmla="*/ 1 h 20000"/>
                    <a:gd name="T82" fmla="*/ 1 w 20000"/>
                    <a:gd name="T83" fmla="*/ 1 h 20000"/>
                    <a:gd name="T84" fmla="*/ 1 w 20000"/>
                    <a:gd name="T85" fmla="*/ 1 h 20000"/>
                    <a:gd name="T86" fmla="*/ 1 w 20000"/>
                    <a:gd name="T87" fmla="*/ 1 h 20000"/>
                    <a:gd name="T88" fmla="*/ 1 w 20000"/>
                    <a:gd name="T89" fmla="*/ 1 h 20000"/>
                    <a:gd name="T90" fmla="*/ 1 w 20000"/>
                    <a:gd name="T91" fmla="*/ 1 h 20000"/>
                    <a:gd name="T92" fmla="*/ 1 w 20000"/>
                    <a:gd name="T93" fmla="*/ 1 h 20000"/>
                    <a:gd name="T94" fmla="*/ 1 w 20000"/>
                    <a:gd name="T95" fmla="*/ 1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99" y="630"/>
                      </a:lnTo>
                      <a:lnTo>
                        <a:pt x="399" y="1261"/>
                      </a:lnTo>
                      <a:lnTo>
                        <a:pt x="598" y="1856"/>
                      </a:lnTo>
                      <a:lnTo>
                        <a:pt x="798" y="2487"/>
                      </a:lnTo>
                      <a:lnTo>
                        <a:pt x="984" y="3152"/>
                      </a:lnTo>
                      <a:lnTo>
                        <a:pt x="1184" y="3748"/>
                      </a:lnTo>
                      <a:lnTo>
                        <a:pt x="1383" y="4343"/>
                      </a:lnTo>
                      <a:lnTo>
                        <a:pt x="1583" y="4939"/>
                      </a:lnTo>
                      <a:lnTo>
                        <a:pt x="1782" y="5569"/>
                      </a:lnTo>
                      <a:lnTo>
                        <a:pt x="1981" y="6165"/>
                      </a:lnTo>
                      <a:lnTo>
                        <a:pt x="2181" y="6725"/>
                      </a:lnTo>
                      <a:lnTo>
                        <a:pt x="2380" y="7285"/>
                      </a:lnTo>
                      <a:lnTo>
                        <a:pt x="2567" y="7881"/>
                      </a:lnTo>
                      <a:lnTo>
                        <a:pt x="2766" y="8476"/>
                      </a:lnTo>
                      <a:lnTo>
                        <a:pt x="2966" y="9037"/>
                      </a:lnTo>
                      <a:lnTo>
                        <a:pt x="3165" y="9597"/>
                      </a:lnTo>
                      <a:lnTo>
                        <a:pt x="3364" y="10123"/>
                      </a:lnTo>
                      <a:lnTo>
                        <a:pt x="3564" y="10648"/>
                      </a:lnTo>
                      <a:lnTo>
                        <a:pt x="3763" y="11208"/>
                      </a:lnTo>
                      <a:lnTo>
                        <a:pt x="3963" y="11734"/>
                      </a:lnTo>
                      <a:lnTo>
                        <a:pt x="4162" y="12224"/>
                      </a:lnTo>
                      <a:lnTo>
                        <a:pt x="4361" y="12715"/>
                      </a:lnTo>
                      <a:lnTo>
                        <a:pt x="4573" y="13170"/>
                      </a:lnTo>
                      <a:lnTo>
                        <a:pt x="4785" y="13660"/>
                      </a:lnTo>
                      <a:lnTo>
                        <a:pt x="4972" y="14116"/>
                      </a:lnTo>
                      <a:lnTo>
                        <a:pt x="5171" y="14571"/>
                      </a:lnTo>
                      <a:lnTo>
                        <a:pt x="5371" y="15026"/>
                      </a:lnTo>
                      <a:lnTo>
                        <a:pt x="5570" y="15412"/>
                      </a:lnTo>
                      <a:lnTo>
                        <a:pt x="5782" y="15832"/>
                      </a:lnTo>
                      <a:lnTo>
                        <a:pt x="5981" y="16182"/>
                      </a:lnTo>
                      <a:lnTo>
                        <a:pt x="6181" y="16602"/>
                      </a:lnTo>
                      <a:lnTo>
                        <a:pt x="6380" y="16953"/>
                      </a:lnTo>
                      <a:lnTo>
                        <a:pt x="6579" y="17268"/>
                      </a:lnTo>
                      <a:lnTo>
                        <a:pt x="6791" y="17618"/>
                      </a:lnTo>
                      <a:lnTo>
                        <a:pt x="6991" y="17933"/>
                      </a:lnTo>
                      <a:lnTo>
                        <a:pt x="7202" y="18179"/>
                      </a:lnTo>
                      <a:lnTo>
                        <a:pt x="7402" y="18459"/>
                      </a:lnTo>
                      <a:lnTo>
                        <a:pt x="7614" y="18739"/>
                      </a:lnTo>
                      <a:lnTo>
                        <a:pt x="7813" y="18949"/>
                      </a:lnTo>
                      <a:lnTo>
                        <a:pt x="8025" y="19159"/>
                      </a:lnTo>
                      <a:lnTo>
                        <a:pt x="8237" y="19335"/>
                      </a:lnTo>
                      <a:lnTo>
                        <a:pt x="8436" y="19475"/>
                      </a:lnTo>
                      <a:lnTo>
                        <a:pt x="8648" y="19650"/>
                      </a:lnTo>
                      <a:lnTo>
                        <a:pt x="8860" y="19755"/>
                      </a:lnTo>
                      <a:lnTo>
                        <a:pt x="9059" y="19860"/>
                      </a:lnTo>
                      <a:lnTo>
                        <a:pt x="9271" y="19895"/>
                      </a:lnTo>
                      <a:lnTo>
                        <a:pt x="9483" y="19965"/>
                      </a:lnTo>
                      <a:lnTo>
                        <a:pt x="9695" y="19965"/>
                      </a:lnTo>
                      <a:lnTo>
                        <a:pt x="9907" y="19965"/>
                      </a:lnTo>
                      <a:lnTo>
                        <a:pt x="10118" y="19930"/>
                      </a:lnTo>
                      <a:lnTo>
                        <a:pt x="10330" y="19825"/>
                      </a:lnTo>
                      <a:lnTo>
                        <a:pt x="10555" y="19720"/>
                      </a:lnTo>
                      <a:lnTo>
                        <a:pt x="10791" y="19545"/>
                      </a:lnTo>
                      <a:lnTo>
                        <a:pt x="11016" y="19335"/>
                      </a:lnTo>
                      <a:lnTo>
                        <a:pt x="11240" y="19124"/>
                      </a:lnTo>
                      <a:lnTo>
                        <a:pt x="11477" y="18844"/>
                      </a:lnTo>
                      <a:lnTo>
                        <a:pt x="11713" y="18564"/>
                      </a:lnTo>
                      <a:lnTo>
                        <a:pt x="11963" y="18249"/>
                      </a:lnTo>
                      <a:lnTo>
                        <a:pt x="12212" y="17898"/>
                      </a:lnTo>
                      <a:lnTo>
                        <a:pt x="12461" y="17513"/>
                      </a:lnTo>
                      <a:lnTo>
                        <a:pt x="12710" y="17128"/>
                      </a:lnTo>
                      <a:lnTo>
                        <a:pt x="12960" y="16743"/>
                      </a:lnTo>
                      <a:lnTo>
                        <a:pt x="13196" y="16252"/>
                      </a:lnTo>
                      <a:lnTo>
                        <a:pt x="13445" y="15797"/>
                      </a:lnTo>
                      <a:lnTo>
                        <a:pt x="13707" y="15342"/>
                      </a:lnTo>
                      <a:lnTo>
                        <a:pt x="13956" y="14851"/>
                      </a:lnTo>
                      <a:lnTo>
                        <a:pt x="14206" y="14361"/>
                      </a:lnTo>
                      <a:lnTo>
                        <a:pt x="14442" y="13800"/>
                      </a:lnTo>
                      <a:lnTo>
                        <a:pt x="14692" y="13310"/>
                      </a:lnTo>
                      <a:lnTo>
                        <a:pt x="14953" y="12750"/>
                      </a:lnTo>
                      <a:lnTo>
                        <a:pt x="15202" y="12224"/>
                      </a:lnTo>
                      <a:lnTo>
                        <a:pt x="15452" y="11629"/>
                      </a:lnTo>
                      <a:lnTo>
                        <a:pt x="15688" y="11103"/>
                      </a:lnTo>
                      <a:lnTo>
                        <a:pt x="15925" y="10578"/>
                      </a:lnTo>
                      <a:lnTo>
                        <a:pt x="16150" y="10053"/>
                      </a:lnTo>
                      <a:lnTo>
                        <a:pt x="16386" y="9457"/>
                      </a:lnTo>
                      <a:lnTo>
                        <a:pt x="16611" y="8897"/>
                      </a:lnTo>
                      <a:lnTo>
                        <a:pt x="16847" y="8371"/>
                      </a:lnTo>
                      <a:lnTo>
                        <a:pt x="17072" y="7811"/>
                      </a:lnTo>
                      <a:lnTo>
                        <a:pt x="17283" y="7285"/>
                      </a:lnTo>
                      <a:lnTo>
                        <a:pt x="17495" y="6760"/>
                      </a:lnTo>
                      <a:lnTo>
                        <a:pt x="17720" y="6235"/>
                      </a:lnTo>
                      <a:lnTo>
                        <a:pt x="17919" y="5744"/>
                      </a:lnTo>
                      <a:lnTo>
                        <a:pt x="18118" y="5219"/>
                      </a:lnTo>
                      <a:lnTo>
                        <a:pt x="18305" y="4729"/>
                      </a:lnTo>
                      <a:lnTo>
                        <a:pt x="18492" y="4273"/>
                      </a:lnTo>
                      <a:lnTo>
                        <a:pt x="18679" y="3853"/>
                      </a:lnTo>
                      <a:lnTo>
                        <a:pt x="18854" y="3398"/>
                      </a:lnTo>
                      <a:lnTo>
                        <a:pt x="19016" y="2977"/>
                      </a:lnTo>
                      <a:lnTo>
                        <a:pt x="19178" y="2627"/>
                      </a:lnTo>
                      <a:lnTo>
                        <a:pt x="19340" y="2277"/>
                      </a:lnTo>
                      <a:lnTo>
                        <a:pt x="19489" y="1891"/>
                      </a:lnTo>
                      <a:lnTo>
                        <a:pt x="19614" y="1646"/>
                      </a:lnTo>
                      <a:lnTo>
                        <a:pt x="19751" y="1331"/>
                      </a:lnTo>
                      <a:lnTo>
                        <a:pt x="19875" y="1051"/>
                      </a:lnTo>
                      <a:lnTo>
                        <a:pt x="19988" y="841"/>
                      </a:lnTo>
                    </a:path>
                  </a:pathLst>
                </a:custGeom>
                <a:noFill/>
                <a:ln w="1905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8" name="Group 12"/>
              <p:cNvGrpSpPr>
                <a:grpSpLocks/>
              </p:cNvGrpSpPr>
              <p:nvPr/>
            </p:nvGrpSpPr>
            <p:grpSpPr bwMode="auto">
              <a:xfrm>
                <a:off x="193" y="1851"/>
                <a:ext cx="18560" cy="15912"/>
                <a:chOff x="0" y="0"/>
                <a:chExt cx="19897" cy="19761"/>
              </a:xfrm>
            </p:grpSpPr>
            <p:sp>
              <p:nvSpPr>
                <p:cNvPr id="23601" name="Freeform 13"/>
                <p:cNvSpPr>
                  <a:spLocks/>
                </p:cNvSpPr>
                <p:nvPr/>
              </p:nvSpPr>
              <p:spPr bwMode="auto">
                <a:xfrm>
                  <a:off x="0" y="0"/>
                  <a:ext cx="9749" cy="10363"/>
                </a:xfrm>
                <a:custGeom>
                  <a:avLst/>
                  <a:gdLst>
                    <a:gd name="T0" fmla="*/ 0 w 20000"/>
                    <a:gd name="T1" fmla="*/ 1 h 20000"/>
                    <a:gd name="T2" fmla="*/ 0 w 20000"/>
                    <a:gd name="T3" fmla="*/ 1 h 20000"/>
                    <a:gd name="T4" fmla="*/ 0 w 20000"/>
                    <a:gd name="T5" fmla="*/ 1 h 20000"/>
                    <a:gd name="T6" fmla="*/ 0 w 20000"/>
                    <a:gd name="T7" fmla="*/ 1 h 20000"/>
                    <a:gd name="T8" fmla="*/ 0 w 20000"/>
                    <a:gd name="T9" fmla="*/ 1 h 20000"/>
                    <a:gd name="T10" fmla="*/ 0 w 20000"/>
                    <a:gd name="T11" fmla="*/ 1 h 20000"/>
                    <a:gd name="T12" fmla="*/ 0 w 20000"/>
                    <a:gd name="T13" fmla="*/ 1 h 20000"/>
                    <a:gd name="T14" fmla="*/ 0 w 20000"/>
                    <a:gd name="T15" fmla="*/ 1 h 20000"/>
                    <a:gd name="T16" fmla="*/ 0 w 20000"/>
                    <a:gd name="T17" fmla="*/ 1 h 20000"/>
                    <a:gd name="T18" fmla="*/ 0 w 20000"/>
                    <a:gd name="T19" fmla="*/ 1 h 20000"/>
                    <a:gd name="T20" fmla="*/ 0 w 20000"/>
                    <a:gd name="T21" fmla="*/ 1 h 20000"/>
                    <a:gd name="T22" fmla="*/ 0 w 20000"/>
                    <a:gd name="T23" fmla="*/ 1 h 20000"/>
                    <a:gd name="T24" fmla="*/ 0 w 20000"/>
                    <a:gd name="T25" fmla="*/ 1 h 20000"/>
                    <a:gd name="T26" fmla="*/ 0 w 20000"/>
                    <a:gd name="T27" fmla="*/ 1 h 20000"/>
                    <a:gd name="T28" fmla="*/ 0 w 20000"/>
                    <a:gd name="T29" fmla="*/ 1 h 20000"/>
                    <a:gd name="T30" fmla="*/ 0 w 20000"/>
                    <a:gd name="T31" fmla="*/ 1 h 20000"/>
                    <a:gd name="T32" fmla="*/ 0 w 20000"/>
                    <a:gd name="T33" fmla="*/ 1 h 20000"/>
                    <a:gd name="T34" fmla="*/ 0 w 20000"/>
                    <a:gd name="T35" fmla="*/ 1 h 20000"/>
                    <a:gd name="T36" fmla="*/ 0 w 20000"/>
                    <a:gd name="T37" fmla="*/ 1 h 20000"/>
                    <a:gd name="T38" fmla="*/ 0 w 20000"/>
                    <a:gd name="T39" fmla="*/ 1 h 20000"/>
                    <a:gd name="T40" fmla="*/ 0 w 20000"/>
                    <a:gd name="T41" fmla="*/ 1 h 20000"/>
                    <a:gd name="T42" fmla="*/ 0 w 20000"/>
                    <a:gd name="T43" fmla="*/ 1 h 20000"/>
                    <a:gd name="T44" fmla="*/ 0 w 20000"/>
                    <a:gd name="T45" fmla="*/ 1 h 20000"/>
                    <a:gd name="T46" fmla="*/ 0 w 20000"/>
                    <a:gd name="T47" fmla="*/ 0 h 20000"/>
                    <a:gd name="T48" fmla="*/ 0 w 20000"/>
                    <a:gd name="T49" fmla="*/ 1 h 20000"/>
                    <a:gd name="T50" fmla="*/ 0 w 20000"/>
                    <a:gd name="T51" fmla="*/ 1 h 20000"/>
                    <a:gd name="T52" fmla="*/ 0 w 20000"/>
                    <a:gd name="T53" fmla="*/ 1 h 20000"/>
                    <a:gd name="T54" fmla="*/ 0 w 20000"/>
                    <a:gd name="T55" fmla="*/ 1 h 20000"/>
                    <a:gd name="T56" fmla="*/ 0 w 20000"/>
                    <a:gd name="T57" fmla="*/ 1 h 20000"/>
                    <a:gd name="T58" fmla="*/ 0 w 20000"/>
                    <a:gd name="T59" fmla="*/ 1 h 20000"/>
                    <a:gd name="T60" fmla="*/ 0 w 20000"/>
                    <a:gd name="T61" fmla="*/ 1 h 20000"/>
                    <a:gd name="T62" fmla="*/ 0 w 20000"/>
                    <a:gd name="T63" fmla="*/ 1 h 20000"/>
                    <a:gd name="T64" fmla="*/ 0 w 20000"/>
                    <a:gd name="T65" fmla="*/ 1 h 20000"/>
                    <a:gd name="T66" fmla="*/ 0 w 20000"/>
                    <a:gd name="T67" fmla="*/ 1 h 20000"/>
                    <a:gd name="T68" fmla="*/ 0 w 20000"/>
                    <a:gd name="T69" fmla="*/ 1 h 20000"/>
                    <a:gd name="T70" fmla="*/ 0 w 20000"/>
                    <a:gd name="T71" fmla="*/ 1 h 20000"/>
                    <a:gd name="T72" fmla="*/ 0 w 20000"/>
                    <a:gd name="T73" fmla="*/ 1 h 20000"/>
                    <a:gd name="T74" fmla="*/ 0 w 20000"/>
                    <a:gd name="T75" fmla="*/ 1 h 20000"/>
                    <a:gd name="T76" fmla="*/ 0 w 20000"/>
                    <a:gd name="T77" fmla="*/ 1 h 20000"/>
                    <a:gd name="T78" fmla="*/ 0 w 20000"/>
                    <a:gd name="T79" fmla="*/ 1 h 20000"/>
                    <a:gd name="T80" fmla="*/ 0 w 20000"/>
                    <a:gd name="T81" fmla="*/ 1 h 20000"/>
                    <a:gd name="T82" fmla="*/ 0 w 20000"/>
                    <a:gd name="T83" fmla="*/ 1 h 20000"/>
                    <a:gd name="T84" fmla="*/ 0 w 20000"/>
                    <a:gd name="T85" fmla="*/ 1 h 20000"/>
                    <a:gd name="T86" fmla="*/ 0 w 20000"/>
                    <a:gd name="T87" fmla="*/ 1 h 20000"/>
                    <a:gd name="T88" fmla="*/ 0 w 20000"/>
                    <a:gd name="T89" fmla="*/ 1 h 20000"/>
                    <a:gd name="T90" fmla="*/ 0 w 20000"/>
                    <a:gd name="T91" fmla="*/ 1 h 20000"/>
                    <a:gd name="T92" fmla="*/ 0 w 20000"/>
                    <a:gd name="T93" fmla="*/ 1 h 20000"/>
                    <a:gd name="T94" fmla="*/ 0 w 20000"/>
                    <a:gd name="T95" fmla="*/ 1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01"/>
                      </a:moveTo>
                      <a:lnTo>
                        <a:pt x="225" y="18502"/>
                      </a:lnTo>
                      <a:lnTo>
                        <a:pt x="437" y="17889"/>
                      </a:lnTo>
                      <a:lnTo>
                        <a:pt x="662" y="17290"/>
                      </a:lnTo>
                      <a:lnTo>
                        <a:pt x="887" y="16662"/>
                      </a:lnTo>
                      <a:lnTo>
                        <a:pt x="1099" y="16077"/>
                      </a:lnTo>
                      <a:lnTo>
                        <a:pt x="1325" y="15492"/>
                      </a:lnTo>
                      <a:lnTo>
                        <a:pt x="1550" y="14893"/>
                      </a:lnTo>
                      <a:lnTo>
                        <a:pt x="1762" y="14308"/>
                      </a:lnTo>
                      <a:lnTo>
                        <a:pt x="1987" y="13738"/>
                      </a:lnTo>
                      <a:lnTo>
                        <a:pt x="2225" y="13153"/>
                      </a:lnTo>
                      <a:lnTo>
                        <a:pt x="2450" y="12582"/>
                      </a:lnTo>
                      <a:lnTo>
                        <a:pt x="2675" y="12026"/>
                      </a:lnTo>
                      <a:lnTo>
                        <a:pt x="2887" y="11455"/>
                      </a:lnTo>
                      <a:lnTo>
                        <a:pt x="3113" y="10884"/>
                      </a:lnTo>
                      <a:lnTo>
                        <a:pt x="3338" y="10342"/>
                      </a:lnTo>
                      <a:lnTo>
                        <a:pt x="3550" y="9815"/>
                      </a:lnTo>
                      <a:lnTo>
                        <a:pt x="3775" y="9287"/>
                      </a:lnTo>
                      <a:lnTo>
                        <a:pt x="4000" y="8759"/>
                      </a:lnTo>
                      <a:lnTo>
                        <a:pt x="4225" y="8231"/>
                      </a:lnTo>
                      <a:lnTo>
                        <a:pt x="4437" y="7732"/>
                      </a:lnTo>
                      <a:lnTo>
                        <a:pt x="4662" y="7247"/>
                      </a:lnTo>
                      <a:lnTo>
                        <a:pt x="4887" y="6805"/>
                      </a:lnTo>
                      <a:lnTo>
                        <a:pt x="5113" y="6334"/>
                      </a:lnTo>
                      <a:lnTo>
                        <a:pt x="5338" y="5892"/>
                      </a:lnTo>
                      <a:lnTo>
                        <a:pt x="5550" y="5421"/>
                      </a:lnTo>
                      <a:lnTo>
                        <a:pt x="5762" y="4993"/>
                      </a:lnTo>
                      <a:lnTo>
                        <a:pt x="5974" y="4579"/>
                      </a:lnTo>
                      <a:lnTo>
                        <a:pt x="6199" y="4165"/>
                      </a:lnTo>
                      <a:lnTo>
                        <a:pt x="6424" y="3780"/>
                      </a:lnTo>
                      <a:lnTo>
                        <a:pt x="6636" y="3409"/>
                      </a:lnTo>
                      <a:lnTo>
                        <a:pt x="6861" y="3067"/>
                      </a:lnTo>
                      <a:lnTo>
                        <a:pt x="7086" y="2725"/>
                      </a:lnTo>
                      <a:lnTo>
                        <a:pt x="7285" y="2411"/>
                      </a:lnTo>
                      <a:lnTo>
                        <a:pt x="7510" y="2097"/>
                      </a:lnTo>
                      <a:lnTo>
                        <a:pt x="7735" y="1826"/>
                      </a:lnTo>
                      <a:lnTo>
                        <a:pt x="7960" y="1555"/>
                      </a:lnTo>
                      <a:lnTo>
                        <a:pt x="8159" y="1298"/>
                      </a:lnTo>
                      <a:lnTo>
                        <a:pt x="8371" y="1056"/>
                      </a:lnTo>
                      <a:lnTo>
                        <a:pt x="8583" y="842"/>
                      </a:lnTo>
                      <a:lnTo>
                        <a:pt x="8808" y="670"/>
                      </a:lnTo>
                      <a:lnTo>
                        <a:pt x="9020" y="499"/>
                      </a:lnTo>
                      <a:lnTo>
                        <a:pt x="9232" y="385"/>
                      </a:lnTo>
                      <a:lnTo>
                        <a:pt x="9444" y="243"/>
                      </a:lnTo>
                      <a:lnTo>
                        <a:pt x="9642" y="128"/>
                      </a:lnTo>
                      <a:lnTo>
                        <a:pt x="9854" y="86"/>
                      </a:lnTo>
                      <a:lnTo>
                        <a:pt x="10079" y="14"/>
                      </a:lnTo>
                      <a:lnTo>
                        <a:pt x="10291" y="0"/>
                      </a:lnTo>
                      <a:lnTo>
                        <a:pt x="10503" y="14"/>
                      </a:lnTo>
                      <a:lnTo>
                        <a:pt x="10702" y="14"/>
                      </a:lnTo>
                      <a:lnTo>
                        <a:pt x="10914" y="86"/>
                      </a:lnTo>
                      <a:lnTo>
                        <a:pt x="11126" y="214"/>
                      </a:lnTo>
                      <a:lnTo>
                        <a:pt x="11338" y="328"/>
                      </a:lnTo>
                      <a:lnTo>
                        <a:pt x="11563" y="514"/>
                      </a:lnTo>
                      <a:lnTo>
                        <a:pt x="11788" y="756"/>
                      </a:lnTo>
                      <a:lnTo>
                        <a:pt x="12000" y="984"/>
                      </a:lnTo>
                      <a:lnTo>
                        <a:pt x="12225" y="1255"/>
                      </a:lnTo>
                      <a:lnTo>
                        <a:pt x="12450" y="1555"/>
                      </a:lnTo>
                      <a:lnTo>
                        <a:pt x="12689" y="1912"/>
                      </a:lnTo>
                      <a:lnTo>
                        <a:pt x="12914" y="2268"/>
                      </a:lnTo>
                      <a:lnTo>
                        <a:pt x="13152" y="2696"/>
                      </a:lnTo>
                      <a:lnTo>
                        <a:pt x="13377" y="3096"/>
                      </a:lnTo>
                      <a:lnTo>
                        <a:pt x="13616" y="3524"/>
                      </a:lnTo>
                      <a:lnTo>
                        <a:pt x="13841" y="3980"/>
                      </a:lnTo>
                      <a:lnTo>
                        <a:pt x="14066" y="4451"/>
                      </a:lnTo>
                      <a:lnTo>
                        <a:pt x="14291" y="4936"/>
                      </a:lnTo>
                      <a:lnTo>
                        <a:pt x="14530" y="5464"/>
                      </a:lnTo>
                      <a:lnTo>
                        <a:pt x="14755" y="6006"/>
                      </a:lnTo>
                      <a:lnTo>
                        <a:pt x="14993" y="6519"/>
                      </a:lnTo>
                      <a:lnTo>
                        <a:pt x="15219" y="7061"/>
                      </a:lnTo>
                      <a:lnTo>
                        <a:pt x="15444" y="7632"/>
                      </a:lnTo>
                      <a:lnTo>
                        <a:pt x="15682" y="8188"/>
                      </a:lnTo>
                      <a:lnTo>
                        <a:pt x="15894" y="8773"/>
                      </a:lnTo>
                      <a:lnTo>
                        <a:pt x="16106" y="9358"/>
                      </a:lnTo>
                      <a:lnTo>
                        <a:pt x="16318" y="9914"/>
                      </a:lnTo>
                      <a:lnTo>
                        <a:pt x="16530" y="10471"/>
                      </a:lnTo>
                      <a:lnTo>
                        <a:pt x="16742" y="11041"/>
                      </a:lnTo>
                      <a:lnTo>
                        <a:pt x="16954" y="11626"/>
                      </a:lnTo>
                      <a:lnTo>
                        <a:pt x="17152" y="12183"/>
                      </a:lnTo>
                      <a:lnTo>
                        <a:pt x="17351" y="12753"/>
                      </a:lnTo>
                      <a:lnTo>
                        <a:pt x="17550" y="13295"/>
                      </a:lnTo>
                      <a:lnTo>
                        <a:pt x="17735" y="13852"/>
                      </a:lnTo>
                      <a:lnTo>
                        <a:pt x="17934" y="14394"/>
                      </a:lnTo>
                      <a:lnTo>
                        <a:pt x="18119" y="14936"/>
                      </a:lnTo>
                      <a:lnTo>
                        <a:pt x="18291" y="15435"/>
                      </a:lnTo>
                      <a:lnTo>
                        <a:pt x="18464" y="15949"/>
                      </a:lnTo>
                      <a:lnTo>
                        <a:pt x="18636" y="16419"/>
                      </a:lnTo>
                      <a:lnTo>
                        <a:pt x="18795" y="16862"/>
                      </a:lnTo>
                      <a:lnTo>
                        <a:pt x="18954" y="17332"/>
                      </a:lnTo>
                      <a:lnTo>
                        <a:pt x="19099" y="17746"/>
                      </a:lnTo>
                      <a:lnTo>
                        <a:pt x="19258" y="18146"/>
                      </a:lnTo>
                      <a:lnTo>
                        <a:pt x="19391" y="18545"/>
                      </a:lnTo>
                      <a:lnTo>
                        <a:pt x="19523" y="18887"/>
                      </a:lnTo>
                      <a:lnTo>
                        <a:pt x="19642" y="19187"/>
                      </a:lnTo>
                      <a:lnTo>
                        <a:pt x="19775" y="19515"/>
                      </a:lnTo>
                      <a:lnTo>
                        <a:pt x="19881" y="19772"/>
                      </a:lnTo>
                      <a:lnTo>
                        <a:pt x="19987" y="19986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2" name="Freeform 14"/>
                <p:cNvSpPr>
                  <a:spLocks/>
                </p:cNvSpPr>
                <p:nvPr/>
              </p:nvSpPr>
              <p:spPr bwMode="auto">
                <a:xfrm>
                  <a:off x="9534" y="9745"/>
                  <a:ext cx="10363" cy="10016"/>
                </a:xfrm>
                <a:custGeom>
                  <a:avLst/>
                  <a:gdLst>
                    <a:gd name="T0" fmla="*/ 1 w 20000"/>
                    <a:gd name="T1" fmla="*/ 1 h 20000"/>
                    <a:gd name="T2" fmla="*/ 1 w 20000"/>
                    <a:gd name="T3" fmla="*/ 1 h 20000"/>
                    <a:gd name="T4" fmla="*/ 1 w 20000"/>
                    <a:gd name="T5" fmla="*/ 1 h 20000"/>
                    <a:gd name="T6" fmla="*/ 1 w 20000"/>
                    <a:gd name="T7" fmla="*/ 1 h 20000"/>
                    <a:gd name="T8" fmla="*/ 1 w 20000"/>
                    <a:gd name="T9" fmla="*/ 1 h 20000"/>
                    <a:gd name="T10" fmla="*/ 1 w 20000"/>
                    <a:gd name="T11" fmla="*/ 1 h 20000"/>
                    <a:gd name="T12" fmla="*/ 1 w 20000"/>
                    <a:gd name="T13" fmla="*/ 1 h 20000"/>
                    <a:gd name="T14" fmla="*/ 1 w 20000"/>
                    <a:gd name="T15" fmla="*/ 1 h 20000"/>
                    <a:gd name="T16" fmla="*/ 1 w 20000"/>
                    <a:gd name="T17" fmla="*/ 1 h 20000"/>
                    <a:gd name="T18" fmla="*/ 1 w 20000"/>
                    <a:gd name="T19" fmla="*/ 1 h 20000"/>
                    <a:gd name="T20" fmla="*/ 1 w 20000"/>
                    <a:gd name="T21" fmla="*/ 1 h 20000"/>
                    <a:gd name="T22" fmla="*/ 1 w 20000"/>
                    <a:gd name="T23" fmla="*/ 1 h 20000"/>
                    <a:gd name="T24" fmla="*/ 1 w 20000"/>
                    <a:gd name="T25" fmla="*/ 1 h 20000"/>
                    <a:gd name="T26" fmla="*/ 1 w 20000"/>
                    <a:gd name="T27" fmla="*/ 1 h 20000"/>
                    <a:gd name="T28" fmla="*/ 1 w 20000"/>
                    <a:gd name="T29" fmla="*/ 1 h 20000"/>
                    <a:gd name="T30" fmla="*/ 1 w 20000"/>
                    <a:gd name="T31" fmla="*/ 1 h 20000"/>
                    <a:gd name="T32" fmla="*/ 1 w 20000"/>
                    <a:gd name="T33" fmla="*/ 1 h 20000"/>
                    <a:gd name="T34" fmla="*/ 1 w 20000"/>
                    <a:gd name="T35" fmla="*/ 1 h 20000"/>
                    <a:gd name="T36" fmla="*/ 1 w 20000"/>
                    <a:gd name="T37" fmla="*/ 1 h 20000"/>
                    <a:gd name="T38" fmla="*/ 1 w 20000"/>
                    <a:gd name="T39" fmla="*/ 1 h 20000"/>
                    <a:gd name="T40" fmla="*/ 1 w 20000"/>
                    <a:gd name="T41" fmla="*/ 1 h 20000"/>
                    <a:gd name="T42" fmla="*/ 1 w 20000"/>
                    <a:gd name="T43" fmla="*/ 1 h 20000"/>
                    <a:gd name="T44" fmla="*/ 1 w 20000"/>
                    <a:gd name="T45" fmla="*/ 1 h 20000"/>
                    <a:gd name="T46" fmla="*/ 1 w 20000"/>
                    <a:gd name="T47" fmla="*/ 1 h 20000"/>
                    <a:gd name="T48" fmla="*/ 1 w 20000"/>
                    <a:gd name="T49" fmla="*/ 1 h 20000"/>
                    <a:gd name="T50" fmla="*/ 1 w 20000"/>
                    <a:gd name="T51" fmla="*/ 1 h 20000"/>
                    <a:gd name="T52" fmla="*/ 1 w 20000"/>
                    <a:gd name="T53" fmla="*/ 1 h 20000"/>
                    <a:gd name="T54" fmla="*/ 1 w 20000"/>
                    <a:gd name="T55" fmla="*/ 1 h 20000"/>
                    <a:gd name="T56" fmla="*/ 1 w 20000"/>
                    <a:gd name="T57" fmla="*/ 1 h 20000"/>
                    <a:gd name="T58" fmla="*/ 1 w 20000"/>
                    <a:gd name="T59" fmla="*/ 1 h 20000"/>
                    <a:gd name="T60" fmla="*/ 1 w 20000"/>
                    <a:gd name="T61" fmla="*/ 1 h 20000"/>
                    <a:gd name="T62" fmla="*/ 1 w 20000"/>
                    <a:gd name="T63" fmla="*/ 1 h 20000"/>
                    <a:gd name="T64" fmla="*/ 1 w 20000"/>
                    <a:gd name="T65" fmla="*/ 1 h 20000"/>
                    <a:gd name="T66" fmla="*/ 1 w 20000"/>
                    <a:gd name="T67" fmla="*/ 1 h 20000"/>
                    <a:gd name="T68" fmla="*/ 1 w 20000"/>
                    <a:gd name="T69" fmla="*/ 1 h 20000"/>
                    <a:gd name="T70" fmla="*/ 1 w 20000"/>
                    <a:gd name="T71" fmla="*/ 1 h 20000"/>
                    <a:gd name="T72" fmla="*/ 1 w 20000"/>
                    <a:gd name="T73" fmla="*/ 1 h 20000"/>
                    <a:gd name="T74" fmla="*/ 1 w 20000"/>
                    <a:gd name="T75" fmla="*/ 1 h 20000"/>
                    <a:gd name="T76" fmla="*/ 1 w 20000"/>
                    <a:gd name="T77" fmla="*/ 1 h 20000"/>
                    <a:gd name="T78" fmla="*/ 1 w 20000"/>
                    <a:gd name="T79" fmla="*/ 1 h 20000"/>
                    <a:gd name="T80" fmla="*/ 1 w 20000"/>
                    <a:gd name="T81" fmla="*/ 1 h 20000"/>
                    <a:gd name="T82" fmla="*/ 1 w 20000"/>
                    <a:gd name="T83" fmla="*/ 1 h 20000"/>
                    <a:gd name="T84" fmla="*/ 1 w 20000"/>
                    <a:gd name="T85" fmla="*/ 1 h 20000"/>
                    <a:gd name="T86" fmla="*/ 1 w 20000"/>
                    <a:gd name="T87" fmla="*/ 1 h 20000"/>
                    <a:gd name="T88" fmla="*/ 1 w 20000"/>
                    <a:gd name="T89" fmla="*/ 1 h 20000"/>
                    <a:gd name="T90" fmla="*/ 1 w 20000"/>
                    <a:gd name="T91" fmla="*/ 1 h 20000"/>
                    <a:gd name="T92" fmla="*/ 1 w 20000"/>
                    <a:gd name="T93" fmla="*/ 1 h 20000"/>
                    <a:gd name="T94" fmla="*/ 1 w 20000"/>
                    <a:gd name="T95" fmla="*/ 1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99" y="620"/>
                      </a:lnTo>
                      <a:lnTo>
                        <a:pt x="399" y="1255"/>
                      </a:lnTo>
                      <a:lnTo>
                        <a:pt x="598" y="1875"/>
                      </a:lnTo>
                      <a:lnTo>
                        <a:pt x="798" y="2524"/>
                      </a:lnTo>
                      <a:lnTo>
                        <a:pt x="984" y="3144"/>
                      </a:lnTo>
                      <a:lnTo>
                        <a:pt x="1184" y="3734"/>
                      </a:lnTo>
                      <a:lnTo>
                        <a:pt x="1383" y="4354"/>
                      </a:lnTo>
                      <a:lnTo>
                        <a:pt x="1583" y="4959"/>
                      </a:lnTo>
                      <a:lnTo>
                        <a:pt x="1782" y="5565"/>
                      </a:lnTo>
                      <a:lnTo>
                        <a:pt x="1981" y="6155"/>
                      </a:lnTo>
                      <a:lnTo>
                        <a:pt x="2181" y="6745"/>
                      </a:lnTo>
                      <a:lnTo>
                        <a:pt x="2380" y="7292"/>
                      </a:lnTo>
                      <a:lnTo>
                        <a:pt x="2567" y="7897"/>
                      </a:lnTo>
                      <a:lnTo>
                        <a:pt x="2766" y="8472"/>
                      </a:lnTo>
                      <a:lnTo>
                        <a:pt x="2966" y="9033"/>
                      </a:lnTo>
                      <a:lnTo>
                        <a:pt x="3165" y="9594"/>
                      </a:lnTo>
                      <a:lnTo>
                        <a:pt x="3364" y="10140"/>
                      </a:lnTo>
                      <a:lnTo>
                        <a:pt x="3564" y="10672"/>
                      </a:lnTo>
                      <a:lnTo>
                        <a:pt x="3763" y="11203"/>
                      </a:lnTo>
                      <a:lnTo>
                        <a:pt x="3963" y="11720"/>
                      </a:lnTo>
                      <a:lnTo>
                        <a:pt x="4162" y="12236"/>
                      </a:lnTo>
                      <a:lnTo>
                        <a:pt x="4361" y="12708"/>
                      </a:lnTo>
                      <a:lnTo>
                        <a:pt x="4573" y="13196"/>
                      </a:lnTo>
                      <a:lnTo>
                        <a:pt x="4785" y="13653"/>
                      </a:lnTo>
                      <a:lnTo>
                        <a:pt x="4972" y="14140"/>
                      </a:lnTo>
                      <a:lnTo>
                        <a:pt x="5171" y="14583"/>
                      </a:lnTo>
                      <a:lnTo>
                        <a:pt x="5371" y="15011"/>
                      </a:lnTo>
                      <a:lnTo>
                        <a:pt x="5570" y="15439"/>
                      </a:lnTo>
                      <a:lnTo>
                        <a:pt x="5782" y="15838"/>
                      </a:lnTo>
                      <a:lnTo>
                        <a:pt x="5981" y="16207"/>
                      </a:lnTo>
                      <a:lnTo>
                        <a:pt x="6181" y="16605"/>
                      </a:lnTo>
                      <a:lnTo>
                        <a:pt x="6380" y="16959"/>
                      </a:lnTo>
                      <a:lnTo>
                        <a:pt x="6579" y="17299"/>
                      </a:lnTo>
                      <a:lnTo>
                        <a:pt x="6791" y="17609"/>
                      </a:lnTo>
                      <a:lnTo>
                        <a:pt x="6991" y="17919"/>
                      </a:lnTo>
                      <a:lnTo>
                        <a:pt x="7202" y="18185"/>
                      </a:lnTo>
                      <a:lnTo>
                        <a:pt x="7402" y="18480"/>
                      </a:lnTo>
                      <a:lnTo>
                        <a:pt x="7614" y="18731"/>
                      </a:lnTo>
                      <a:lnTo>
                        <a:pt x="7813" y="18952"/>
                      </a:lnTo>
                      <a:lnTo>
                        <a:pt x="8025" y="19159"/>
                      </a:lnTo>
                      <a:lnTo>
                        <a:pt x="8237" y="19336"/>
                      </a:lnTo>
                      <a:lnTo>
                        <a:pt x="8436" y="19483"/>
                      </a:lnTo>
                      <a:lnTo>
                        <a:pt x="8648" y="19646"/>
                      </a:lnTo>
                      <a:lnTo>
                        <a:pt x="8860" y="19764"/>
                      </a:lnTo>
                      <a:lnTo>
                        <a:pt x="9059" y="19867"/>
                      </a:lnTo>
                      <a:lnTo>
                        <a:pt x="9271" y="19911"/>
                      </a:lnTo>
                      <a:lnTo>
                        <a:pt x="9483" y="19956"/>
                      </a:lnTo>
                      <a:lnTo>
                        <a:pt x="9695" y="19956"/>
                      </a:lnTo>
                      <a:lnTo>
                        <a:pt x="9907" y="19985"/>
                      </a:lnTo>
                      <a:lnTo>
                        <a:pt x="10118" y="19941"/>
                      </a:lnTo>
                      <a:lnTo>
                        <a:pt x="10330" y="19823"/>
                      </a:lnTo>
                      <a:lnTo>
                        <a:pt x="10555" y="19720"/>
                      </a:lnTo>
                      <a:lnTo>
                        <a:pt x="10791" y="19557"/>
                      </a:lnTo>
                      <a:lnTo>
                        <a:pt x="11016" y="19336"/>
                      </a:lnTo>
                      <a:lnTo>
                        <a:pt x="11240" y="19129"/>
                      </a:lnTo>
                      <a:lnTo>
                        <a:pt x="11477" y="18849"/>
                      </a:lnTo>
                      <a:lnTo>
                        <a:pt x="11713" y="18554"/>
                      </a:lnTo>
                      <a:lnTo>
                        <a:pt x="11963" y="18244"/>
                      </a:lnTo>
                      <a:lnTo>
                        <a:pt x="12212" y="17904"/>
                      </a:lnTo>
                      <a:lnTo>
                        <a:pt x="12461" y="17520"/>
                      </a:lnTo>
                      <a:lnTo>
                        <a:pt x="12710" y="17137"/>
                      </a:lnTo>
                      <a:lnTo>
                        <a:pt x="12960" y="16738"/>
                      </a:lnTo>
                      <a:lnTo>
                        <a:pt x="13196" y="16280"/>
                      </a:lnTo>
                      <a:lnTo>
                        <a:pt x="13445" y="15823"/>
                      </a:lnTo>
                      <a:lnTo>
                        <a:pt x="13707" y="15351"/>
                      </a:lnTo>
                      <a:lnTo>
                        <a:pt x="13956" y="14834"/>
                      </a:lnTo>
                      <a:lnTo>
                        <a:pt x="14206" y="14362"/>
                      </a:lnTo>
                      <a:lnTo>
                        <a:pt x="14442" y="13830"/>
                      </a:lnTo>
                      <a:lnTo>
                        <a:pt x="14692" y="13314"/>
                      </a:lnTo>
                      <a:lnTo>
                        <a:pt x="14953" y="12768"/>
                      </a:lnTo>
                      <a:lnTo>
                        <a:pt x="15202" y="12236"/>
                      </a:lnTo>
                      <a:lnTo>
                        <a:pt x="15452" y="11661"/>
                      </a:lnTo>
                      <a:lnTo>
                        <a:pt x="15688" y="11114"/>
                      </a:lnTo>
                      <a:lnTo>
                        <a:pt x="15925" y="10583"/>
                      </a:lnTo>
                      <a:lnTo>
                        <a:pt x="16150" y="10037"/>
                      </a:lnTo>
                      <a:lnTo>
                        <a:pt x="16386" y="9461"/>
                      </a:lnTo>
                      <a:lnTo>
                        <a:pt x="16611" y="8900"/>
                      </a:lnTo>
                      <a:lnTo>
                        <a:pt x="16847" y="8369"/>
                      </a:lnTo>
                      <a:lnTo>
                        <a:pt x="17072" y="7823"/>
                      </a:lnTo>
                      <a:lnTo>
                        <a:pt x="17283" y="7292"/>
                      </a:lnTo>
                      <a:lnTo>
                        <a:pt x="17495" y="6760"/>
                      </a:lnTo>
                      <a:lnTo>
                        <a:pt x="17720" y="6244"/>
                      </a:lnTo>
                      <a:lnTo>
                        <a:pt x="17919" y="5727"/>
                      </a:lnTo>
                      <a:lnTo>
                        <a:pt x="18118" y="5210"/>
                      </a:lnTo>
                      <a:lnTo>
                        <a:pt x="18305" y="4738"/>
                      </a:lnTo>
                      <a:lnTo>
                        <a:pt x="18492" y="4295"/>
                      </a:lnTo>
                      <a:lnTo>
                        <a:pt x="18679" y="3852"/>
                      </a:lnTo>
                      <a:lnTo>
                        <a:pt x="18854" y="3395"/>
                      </a:lnTo>
                      <a:lnTo>
                        <a:pt x="19016" y="2982"/>
                      </a:lnTo>
                      <a:lnTo>
                        <a:pt x="19178" y="2613"/>
                      </a:lnTo>
                      <a:lnTo>
                        <a:pt x="19340" y="2244"/>
                      </a:lnTo>
                      <a:lnTo>
                        <a:pt x="19489" y="1904"/>
                      </a:lnTo>
                      <a:lnTo>
                        <a:pt x="19614" y="1609"/>
                      </a:lnTo>
                      <a:lnTo>
                        <a:pt x="19751" y="1314"/>
                      </a:lnTo>
                      <a:lnTo>
                        <a:pt x="19875" y="1048"/>
                      </a:lnTo>
                      <a:lnTo>
                        <a:pt x="19988" y="841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599" name="Line 15"/>
              <p:cNvSpPr>
                <a:spLocks noChangeShapeType="1"/>
              </p:cNvSpPr>
              <p:nvPr/>
            </p:nvSpPr>
            <p:spPr bwMode="auto">
              <a:xfrm>
                <a:off x="97" y="9951"/>
                <a:ext cx="19902" cy="6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  <a:round/>
                <a:headEnd type="none" w="med" len="sm"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0" name="Line 16"/>
              <p:cNvSpPr>
                <a:spLocks noChangeShapeType="1"/>
              </p:cNvSpPr>
              <p:nvPr/>
            </p:nvSpPr>
            <p:spPr bwMode="auto">
              <a:xfrm>
                <a:off x="0" y="-1"/>
                <a:ext cx="0" cy="18015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  <a:round/>
                <a:headEnd type="triangle" w="med" len="sm"/>
                <a:tailEnd type="non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88" name="Line 17"/>
            <p:cNvSpPr>
              <a:spLocks noChangeShapeType="1"/>
            </p:cNvSpPr>
            <p:nvPr/>
          </p:nvSpPr>
          <p:spPr bwMode="auto">
            <a:xfrm>
              <a:off x="1073150" y="1331914"/>
              <a:ext cx="652463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18"/>
            <p:cNvSpPr>
              <a:spLocks noChangeShapeType="1"/>
            </p:cNvSpPr>
            <p:nvPr/>
          </p:nvSpPr>
          <p:spPr bwMode="auto">
            <a:xfrm>
              <a:off x="1073150" y="1970089"/>
              <a:ext cx="652463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20"/>
            <p:cNvSpPr>
              <a:spLocks noChangeShapeType="1"/>
            </p:cNvSpPr>
            <p:nvPr/>
          </p:nvSpPr>
          <p:spPr bwMode="auto">
            <a:xfrm>
              <a:off x="1709738" y="1331914"/>
              <a:ext cx="0" cy="112712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21"/>
            <p:cNvSpPr>
              <a:spLocks noChangeShapeType="1"/>
            </p:cNvSpPr>
            <p:nvPr/>
          </p:nvSpPr>
          <p:spPr bwMode="auto">
            <a:xfrm>
              <a:off x="2935288" y="2459040"/>
              <a:ext cx="0" cy="1047517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Rectangle 22"/>
            <p:cNvSpPr>
              <a:spLocks noChangeArrowheads="1"/>
            </p:cNvSpPr>
            <p:nvPr/>
          </p:nvSpPr>
          <p:spPr bwMode="auto">
            <a:xfrm>
              <a:off x="760618" y="1178750"/>
              <a:ext cx="427692" cy="413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A</a:t>
              </a:r>
              <a:r>
                <a:rPr kumimoji="0" lang="en-US" altLang="zh-CN" sz="1600" b="0" baseline="-25000">
                  <a:solidFill>
                    <a:srgbClr val="000000"/>
                  </a:solidFill>
                  <a:ea typeface="宋体" pitchFamily="2" charset="-122"/>
                </a:rPr>
                <a:t>1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93" name="Rectangle 24"/>
            <p:cNvSpPr>
              <a:spLocks noChangeArrowheads="1"/>
            </p:cNvSpPr>
            <p:nvPr/>
          </p:nvSpPr>
          <p:spPr bwMode="auto">
            <a:xfrm>
              <a:off x="694518" y="1718811"/>
              <a:ext cx="390166" cy="442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A</a:t>
              </a:r>
              <a:r>
                <a:rPr kumimoji="0" lang="en-US" altLang="zh-CN" sz="1600" b="0" baseline="-2500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94" name="Rectangle 26"/>
            <p:cNvSpPr>
              <a:spLocks noChangeArrowheads="1"/>
            </p:cNvSpPr>
            <p:nvPr/>
          </p:nvSpPr>
          <p:spPr bwMode="auto">
            <a:xfrm>
              <a:off x="1978025" y="1241426"/>
              <a:ext cx="407988" cy="349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FF0000"/>
                  </a:solidFill>
                  <a:ea typeface="宋体" pitchFamily="2" charset="-122"/>
                </a:rPr>
                <a:t>x</a:t>
              </a:r>
              <a:r>
                <a:rPr kumimoji="0" lang="en-US" altLang="zh-CN" sz="1600" b="0" baseline="-25000">
                  <a:solidFill>
                    <a:srgbClr val="FF0000"/>
                  </a:solidFill>
                  <a:ea typeface="宋体" pitchFamily="2" charset="-122"/>
                </a:rPr>
                <a:t>2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95" name="Rectangle 27"/>
            <p:cNvSpPr>
              <a:spLocks noChangeArrowheads="1"/>
            </p:cNvSpPr>
            <p:nvPr/>
          </p:nvSpPr>
          <p:spPr bwMode="auto">
            <a:xfrm>
              <a:off x="1794880" y="2051714"/>
              <a:ext cx="360363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FF"/>
                  </a:solidFill>
                  <a:ea typeface="宋体" pitchFamily="2" charset="-122"/>
                </a:rPr>
                <a:t>x</a:t>
              </a:r>
              <a:r>
                <a:rPr kumimoji="0" lang="en-US" altLang="zh-CN" sz="1600" b="0" baseline="-25000">
                  <a:solidFill>
                    <a:srgbClr val="0000FF"/>
                  </a:solidFill>
                  <a:ea typeface="宋体" pitchFamily="2" charset="-122"/>
                </a:rPr>
                <a:t>1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96" name="Rectangle 28"/>
            <p:cNvSpPr>
              <a:spLocks noChangeArrowheads="1"/>
            </p:cNvSpPr>
            <p:nvPr/>
          </p:nvSpPr>
          <p:spPr bwMode="auto">
            <a:xfrm>
              <a:off x="3394237" y="2059395"/>
              <a:ext cx="425451" cy="446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grpSp>
        <p:nvGrpSpPr>
          <p:cNvPr id="12" name="组合 57"/>
          <p:cNvGrpSpPr>
            <a:grpSpLocks/>
          </p:cNvGrpSpPr>
          <p:nvPr/>
        </p:nvGrpSpPr>
        <p:grpSpPr bwMode="auto">
          <a:xfrm>
            <a:off x="6156325" y="2625725"/>
            <a:ext cx="2389188" cy="1473200"/>
            <a:chOff x="4973256" y="718355"/>
            <a:chExt cx="3424619" cy="2813833"/>
          </a:xfrm>
        </p:grpSpPr>
        <p:sp>
          <p:nvSpPr>
            <p:cNvPr id="23565" name="Rectangle 33"/>
            <p:cNvSpPr>
              <a:spLocks noChangeArrowheads="1"/>
            </p:cNvSpPr>
            <p:nvPr/>
          </p:nvSpPr>
          <p:spPr bwMode="auto">
            <a:xfrm>
              <a:off x="6199889" y="2663035"/>
              <a:ext cx="379413" cy="360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FF"/>
                  </a:solidFill>
                  <a:ea typeface="宋体" pitchFamily="2" charset="-122"/>
                </a:rPr>
                <a:t>x</a:t>
              </a:r>
              <a:r>
                <a:rPr kumimoji="0" lang="en-US" altLang="zh-CN" sz="1600" b="0" baseline="-25000">
                  <a:solidFill>
                    <a:srgbClr val="0000FF"/>
                  </a:solidFill>
                  <a:ea typeface="宋体" pitchFamily="2" charset="-122"/>
                </a:rPr>
                <a:t>1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66" name="Rectangle 34"/>
            <p:cNvSpPr>
              <a:spLocks noChangeArrowheads="1"/>
            </p:cNvSpPr>
            <p:nvPr/>
          </p:nvSpPr>
          <p:spPr bwMode="auto">
            <a:xfrm>
              <a:off x="7950201" y="1928024"/>
              <a:ext cx="447674" cy="485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67" name="Freeform 35"/>
            <p:cNvSpPr>
              <a:spLocks/>
            </p:cNvSpPr>
            <p:nvPr/>
          </p:nvSpPr>
          <p:spPr bwMode="auto">
            <a:xfrm>
              <a:off x="5346700" y="1182688"/>
              <a:ext cx="1298575" cy="12065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01"/>
                  </a:moveTo>
                  <a:lnTo>
                    <a:pt x="225" y="18502"/>
                  </a:lnTo>
                  <a:lnTo>
                    <a:pt x="437" y="17889"/>
                  </a:lnTo>
                  <a:lnTo>
                    <a:pt x="662" y="17290"/>
                  </a:lnTo>
                  <a:lnTo>
                    <a:pt x="887" y="16662"/>
                  </a:lnTo>
                  <a:lnTo>
                    <a:pt x="1099" y="16077"/>
                  </a:lnTo>
                  <a:lnTo>
                    <a:pt x="1325" y="15492"/>
                  </a:lnTo>
                  <a:lnTo>
                    <a:pt x="1550" y="14893"/>
                  </a:lnTo>
                  <a:lnTo>
                    <a:pt x="1762" y="14308"/>
                  </a:lnTo>
                  <a:lnTo>
                    <a:pt x="1987" y="13738"/>
                  </a:lnTo>
                  <a:lnTo>
                    <a:pt x="2225" y="13153"/>
                  </a:lnTo>
                  <a:lnTo>
                    <a:pt x="2450" y="12582"/>
                  </a:lnTo>
                  <a:lnTo>
                    <a:pt x="2675" y="12026"/>
                  </a:lnTo>
                  <a:lnTo>
                    <a:pt x="2887" y="11455"/>
                  </a:lnTo>
                  <a:lnTo>
                    <a:pt x="3113" y="10884"/>
                  </a:lnTo>
                  <a:lnTo>
                    <a:pt x="3338" y="10342"/>
                  </a:lnTo>
                  <a:lnTo>
                    <a:pt x="3550" y="9815"/>
                  </a:lnTo>
                  <a:lnTo>
                    <a:pt x="3775" y="9287"/>
                  </a:lnTo>
                  <a:lnTo>
                    <a:pt x="4000" y="8759"/>
                  </a:lnTo>
                  <a:lnTo>
                    <a:pt x="4225" y="8231"/>
                  </a:lnTo>
                  <a:lnTo>
                    <a:pt x="4437" y="7732"/>
                  </a:lnTo>
                  <a:lnTo>
                    <a:pt x="4662" y="7247"/>
                  </a:lnTo>
                  <a:lnTo>
                    <a:pt x="4887" y="6805"/>
                  </a:lnTo>
                  <a:lnTo>
                    <a:pt x="5113" y="6334"/>
                  </a:lnTo>
                  <a:lnTo>
                    <a:pt x="5338" y="5892"/>
                  </a:lnTo>
                  <a:lnTo>
                    <a:pt x="5550" y="5421"/>
                  </a:lnTo>
                  <a:lnTo>
                    <a:pt x="5762" y="4993"/>
                  </a:lnTo>
                  <a:lnTo>
                    <a:pt x="5974" y="4579"/>
                  </a:lnTo>
                  <a:lnTo>
                    <a:pt x="6199" y="4165"/>
                  </a:lnTo>
                  <a:lnTo>
                    <a:pt x="6424" y="3780"/>
                  </a:lnTo>
                  <a:lnTo>
                    <a:pt x="6636" y="3409"/>
                  </a:lnTo>
                  <a:lnTo>
                    <a:pt x="6861" y="3067"/>
                  </a:lnTo>
                  <a:lnTo>
                    <a:pt x="7086" y="2725"/>
                  </a:lnTo>
                  <a:lnTo>
                    <a:pt x="7285" y="2411"/>
                  </a:lnTo>
                  <a:lnTo>
                    <a:pt x="7510" y="2097"/>
                  </a:lnTo>
                  <a:lnTo>
                    <a:pt x="7735" y="1826"/>
                  </a:lnTo>
                  <a:lnTo>
                    <a:pt x="7960" y="1555"/>
                  </a:lnTo>
                  <a:lnTo>
                    <a:pt x="8159" y="1298"/>
                  </a:lnTo>
                  <a:lnTo>
                    <a:pt x="8371" y="1056"/>
                  </a:lnTo>
                  <a:lnTo>
                    <a:pt x="8583" y="842"/>
                  </a:lnTo>
                  <a:lnTo>
                    <a:pt x="8808" y="670"/>
                  </a:lnTo>
                  <a:lnTo>
                    <a:pt x="9020" y="499"/>
                  </a:lnTo>
                  <a:lnTo>
                    <a:pt x="9232" y="385"/>
                  </a:lnTo>
                  <a:lnTo>
                    <a:pt x="9444" y="243"/>
                  </a:lnTo>
                  <a:lnTo>
                    <a:pt x="9642" y="128"/>
                  </a:lnTo>
                  <a:lnTo>
                    <a:pt x="9854" y="86"/>
                  </a:lnTo>
                  <a:lnTo>
                    <a:pt x="10079" y="14"/>
                  </a:lnTo>
                  <a:lnTo>
                    <a:pt x="10291" y="0"/>
                  </a:lnTo>
                  <a:lnTo>
                    <a:pt x="10503" y="14"/>
                  </a:lnTo>
                  <a:lnTo>
                    <a:pt x="10702" y="14"/>
                  </a:lnTo>
                  <a:lnTo>
                    <a:pt x="10914" y="86"/>
                  </a:lnTo>
                  <a:lnTo>
                    <a:pt x="11126" y="214"/>
                  </a:lnTo>
                  <a:lnTo>
                    <a:pt x="11338" y="328"/>
                  </a:lnTo>
                  <a:lnTo>
                    <a:pt x="11563" y="514"/>
                  </a:lnTo>
                  <a:lnTo>
                    <a:pt x="11788" y="756"/>
                  </a:lnTo>
                  <a:lnTo>
                    <a:pt x="12000" y="984"/>
                  </a:lnTo>
                  <a:lnTo>
                    <a:pt x="12225" y="1255"/>
                  </a:lnTo>
                  <a:lnTo>
                    <a:pt x="12450" y="1555"/>
                  </a:lnTo>
                  <a:lnTo>
                    <a:pt x="12689" y="1912"/>
                  </a:lnTo>
                  <a:lnTo>
                    <a:pt x="12914" y="2268"/>
                  </a:lnTo>
                  <a:lnTo>
                    <a:pt x="13152" y="2696"/>
                  </a:lnTo>
                  <a:lnTo>
                    <a:pt x="13377" y="3096"/>
                  </a:lnTo>
                  <a:lnTo>
                    <a:pt x="13616" y="3524"/>
                  </a:lnTo>
                  <a:lnTo>
                    <a:pt x="13841" y="3980"/>
                  </a:lnTo>
                  <a:lnTo>
                    <a:pt x="14066" y="4451"/>
                  </a:lnTo>
                  <a:lnTo>
                    <a:pt x="14291" y="4936"/>
                  </a:lnTo>
                  <a:lnTo>
                    <a:pt x="14530" y="5464"/>
                  </a:lnTo>
                  <a:lnTo>
                    <a:pt x="14755" y="6006"/>
                  </a:lnTo>
                  <a:lnTo>
                    <a:pt x="14993" y="6519"/>
                  </a:lnTo>
                  <a:lnTo>
                    <a:pt x="15219" y="7061"/>
                  </a:lnTo>
                  <a:lnTo>
                    <a:pt x="15444" y="7632"/>
                  </a:lnTo>
                  <a:lnTo>
                    <a:pt x="15682" y="8188"/>
                  </a:lnTo>
                  <a:lnTo>
                    <a:pt x="15894" y="8773"/>
                  </a:lnTo>
                  <a:lnTo>
                    <a:pt x="16106" y="9358"/>
                  </a:lnTo>
                  <a:lnTo>
                    <a:pt x="16318" y="9914"/>
                  </a:lnTo>
                  <a:lnTo>
                    <a:pt x="16530" y="10471"/>
                  </a:lnTo>
                  <a:lnTo>
                    <a:pt x="16742" y="11041"/>
                  </a:lnTo>
                  <a:lnTo>
                    <a:pt x="16954" y="11626"/>
                  </a:lnTo>
                  <a:lnTo>
                    <a:pt x="17152" y="12183"/>
                  </a:lnTo>
                  <a:lnTo>
                    <a:pt x="17351" y="12753"/>
                  </a:lnTo>
                  <a:lnTo>
                    <a:pt x="17550" y="13295"/>
                  </a:lnTo>
                  <a:lnTo>
                    <a:pt x="17735" y="13852"/>
                  </a:lnTo>
                  <a:lnTo>
                    <a:pt x="17934" y="14394"/>
                  </a:lnTo>
                  <a:lnTo>
                    <a:pt x="18119" y="14936"/>
                  </a:lnTo>
                  <a:lnTo>
                    <a:pt x="18291" y="15435"/>
                  </a:lnTo>
                  <a:lnTo>
                    <a:pt x="18464" y="15949"/>
                  </a:lnTo>
                  <a:lnTo>
                    <a:pt x="18636" y="16419"/>
                  </a:lnTo>
                  <a:lnTo>
                    <a:pt x="18795" y="16862"/>
                  </a:lnTo>
                  <a:lnTo>
                    <a:pt x="18954" y="17332"/>
                  </a:lnTo>
                  <a:lnTo>
                    <a:pt x="19099" y="17746"/>
                  </a:lnTo>
                  <a:lnTo>
                    <a:pt x="19258" y="18146"/>
                  </a:lnTo>
                  <a:lnTo>
                    <a:pt x="19391" y="18545"/>
                  </a:lnTo>
                  <a:lnTo>
                    <a:pt x="19523" y="18887"/>
                  </a:lnTo>
                  <a:lnTo>
                    <a:pt x="19642" y="19187"/>
                  </a:lnTo>
                  <a:lnTo>
                    <a:pt x="19775" y="19515"/>
                  </a:lnTo>
                  <a:lnTo>
                    <a:pt x="19881" y="19772"/>
                  </a:lnTo>
                  <a:lnTo>
                    <a:pt x="19987" y="19986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Freeform 36"/>
            <p:cNvSpPr>
              <a:spLocks/>
            </p:cNvSpPr>
            <p:nvPr/>
          </p:nvSpPr>
          <p:spPr bwMode="auto">
            <a:xfrm>
              <a:off x="6616299" y="2312191"/>
              <a:ext cx="1379538" cy="11684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99" y="620"/>
                  </a:lnTo>
                  <a:lnTo>
                    <a:pt x="399" y="1255"/>
                  </a:lnTo>
                  <a:lnTo>
                    <a:pt x="598" y="1875"/>
                  </a:lnTo>
                  <a:lnTo>
                    <a:pt x="798" y="2524"/>
                  </a:lnTo>
                  <a:lnTo>
                    <a:pt x="984" y="3144"/>
                  </a:lnTo>
                  <a:lnTo>
                    <a:pt x="1184" y="3734"/>
                  </a:lnTo>
                  <a:lnTo>
                    <a:pt x="1383" y="4354"/>
                  </a:lnTo>
                  <a:lnTo>
                    <a:pt x="1583" y="4959"/>
                  </a:lnTo>
                  <a:lnTo>
                    <a:pt x="1782" y="5565"/>
                  </a:lnTo>
                  <a:lnTo>
                    <a:pt x="1981" y="6155"/>
                  </a:lnTo>
                  <a:lnTo>
                    <a:pt x="2181" y="6745"/>
                  </a:lnTo>
                  <a:lnTo>
                    <a:pt x="2380" y="7292"/>
                  </a:lnTo>
                  <a:lnTo>
                    <a:pt x="2567" y="7897"/>
                  </a:lnTo>
                  <a:lnTo>
                    <a:pt x="2766" y="8472"/>
                  </a:lnTo>
                  <a:lnTo>
                    <a:pt x="2966" y="9033"/>
                  </a:lnTo>
                  <a:lnTo>
                    <a:pt x="3165" y="9594"/>
                  </a:lnTo>
                  <a:lnTo>
                    <a:pt x="3364" y="10140"/>
                  </a:lnTo>
                  <a:lnTo>
                    <a:pt x="3564" y="10672"/>
                  </a:lnTo>
                  <a:lnTo>
                    <a:pt x="3763" y="11203"/>
                  </a:lnTo>
                  <a:lnTo>
                    <a:pt x="3963" y="11720"/>
                  </a:lnTo>
                  <a:lnTo>
                    <a:pt x="4162" y="12236"/>
                  </a:lnTo>
                  <a:lnTo>
                    <a:pt x="4361" y="12708"/>
                  </a:lnTo>
                  <a:lnTo>
                    <a:pt x="4573" y="13196"/>
                  </a:lnTo>
                  <a:lnTo>
                    <a:pt x="4785" y="13653"/>
                  </a:lnTo>
                  <a:lnTo>
                    <a:pt x="4972" y="14140"/>
                  </a:lnTo>
                  <a:lnTo>
                    <a:pt x="5171" y="14583"/>
                  </a:lnTo>
                  <a:lnTo>
                    <a:pt x="5371" y="15011"/>
                  </a:lnTo>
                  <a:lnTo>
                    <a:pt x="5570" y="15439"/>
                  </a:lnTo>
                  <a:lnTo>
                    <a:pt x="5782" y="15838"/>
                  </a:lnTo>
                  <a:lnTo>
                    <a:pt x="5981" y="16207"/>
                  </a:lnTo>
                  <a:lnTo>
                    <a:pt x="6181" y="16605"/>
                  </a:lnTo>
                  <a:lnTo>
                    <a:pt x="6380" y="16959"/>
                  </a:lnTo>
                  <a:lnTo>
                    <a:pt x="6579" y="17299"/>
                  </a:lnTo>
                  <a:lnTo>
                    <a:pt x="6791" y="17609"/>
                  </a:lnTo>
                  <a:lnTo>
                    <a:pt x="6991" y="17919"/>
                  </a:lnTo>
                  <a:lnTo>
                    <a:pt x="7202" y="18185"/>
                  </a:lnTo>
                  <a:lnTo>
                    <a:pt x="7402" y="18480"/>
                  </a:lnTo>
                  <a:lnTo>
                    <a:pt x="7614" y="18731"/>
                  </a:lnTo>
                  <a:lnTo>
                    <a:pt x="7813" y="18952"/>
                  </a:lnTo>
                  <a:lnTo>
                    <a:pt x="8025" y="19159"/>
                  </a:lnTo>
                  <a:lnTo>
                    <a:pt x="8237" y="19336"/>
                  </a:lnTo>
                  <a:lnTo>
                    <a:pt x="8436" y="19483"/>
                  </a:lnTo>
                  <a:lnTo>
                    <a:pt x="8648" y="19646"/>
                  </a:lnTo>
                  <a:lnTo>
                    <a:pt x="8860" y="19764"/>
                  </a:lnTo>
                  <a:lnTo>
                    <a:pt x="9059" y="19867"/>
                  </a:lnTo>
                  <a:lnTo>
                    <a:pt x="9271" y="19911"/>
                  </a:lnTo>
                  <a:lnTo>
                    <a:pt x="9483" y="19956"/>
                  </a:lnTo>
                  <a:lnTo>
                    <a:pt x="9695" y="19956"/>
                  </a:lnTo>
                  <a:lnTo>
                    <a:pt x="9907" y="19985"/>
                  </a:lnTo>
                  <a:lnTo>
                    <a:pt x="10118" y="19941"/>
                  </a:lnTo>
                  <a:lnTo>
                    <a:pt x="10330" y="19823"/>
                  </a:lnTo>
                  <a:lnTo>
                    <a:pt x="10555" y="19720"/>
                  </a:lnTo>
                  <a:lnTo>
                    <a:pt x="10791" y="19557"/>
                  </a:lnTo>
                  <a:lnTo>
                    <a:pt x="11016" y="19336"/>
                  </a:lnTo>
                  <a:lnTo>
                    <a:pt x="11240" y="19129"/>
                  </a:lnTo>
                  <a:lnTo>
                    <a:pt x="11477" y="18849"/>
                  </a:lnTo>
                  <a:lnTo>
                    <a:pt x="11713" y="18554"/>
                  </a:lnTo>
                  <a:lnTo>
                    <a:pt x="11963" y="18244"/>
                  </a:lnTo>
                  <a:lnTo>
                    <a:pt x="12212" y="17904"/>
                  </a:lnTo>
                  <a:lnTo>
                    <a:pt x="12461" y="17520"/>
                  </a:lnTo>
                  <a:lnTo>
                    <a:pt x="12710" y="17137"/>
                  </a:lnTo>
                  <a:lnTo>
                    <a:pt x="12960" y="16738"/>
                  </a:lnTo>
                  <a:lnTo>
                    <a:pt x="13196" y="16280"/>
                  </a:lnTo>
                  <a:lnTo>
                    <a:pt x="13445" y="15823"/>
                  </a:lnTo>
                  <a:lnTo>
                    <a:pt x="13707" y="15351"/>
                  </a:lnTo>
                  <a:lnTo>
                    <a:pt x="13956" y="14834"/>
                  </a:lnTo>
                  <a:lnTo>
                    <a:pt x="14206" y="14362"/>
                  </a:lnTo>
                  <a:lnTo>
                    <a:pt x="14442" y="13830"/>
                  </a:lnTo>
                  <a:lnTo>
                    <a:pt x="14692" y="13314"/>
                  </a:lnTo>
                  <a:lnTo>
                    <a:pt x="14953" y="12768"/>
                  </a:lnTo>
                  <a:lnTo>
                    <a:pt x="15202" y="12236"/>
                  </a:lnTo>
                  <a:lnTo>
                    <a:pt x="15452" y="11661"/>
                  </a:lnTo>
                  <a:lnTo>
                    <a:pt x="15688" y="11114"/>
                  </a:lnTo>
                  <a:lnTo>
                    <a:pt x="15925" y="10583"/>
                  </a:lnTo>
                  <a:lnTo>
                    <a:pt x="16150" y="10037"/>
                  </a:lnTo>
                  <a:lnTo>
                    <a:pt x="16386" y="9461"/>
                  </a:lnTo>
                  <a:lnTo>
                    <a:pt x="16611" y="8900"/>
                  </a:lnTo>
                  <a:lnTo>
                    <a:pt x="16847" y="8369"/>
                  </a:lnTo>
                  <a:lnTo>
                    <a:pt x="17072" y="7823"/>
                  </a:lnTo>
                  <a:lnTo>
                    <a:pt x="17283" y="7292"/>
                  </a:lnTo>
                  <a:lnTo>
                    <a:pt x="17495" y="6760"/>
                  </a:lnTo>
                  <a:lnTo>
                    <a:pt x="17720" y="6244"/>
                  </a:lnTo>
                  <a:lnTo>
                    <a:pt x="17919" y="5727"/>
                  </a:lnTo>
                  <a:lnTo>
                    <a:pt x="18118" y="5210"/>
                  </a:lnTo>
                  <a:lnTo>
                    <a:pt x="18305" y="4738"/>
                  </a:lnTo>
                  <a:lnTo>
                    <a:pt x="18492" y="4295"/>
                  </a:lnTo>
                  <a:lnTo>
                    <a:pt x="18679" y="3852"/>
                  </a:lnTo>
                  <a:lnTo>
                    <a:pt x="18854" y="3395"/>
                  </a:lnTo>
                  <a:lnTo>
                    <a:pt x="19016" y="2982"/>
                  </a:lnTo>
                  <a:lnTo>
                    <a:pt x="19178" y="2613"/>
                  </a:lnTo>
                  <a:lnTo>
                    <a:pt x="19340" y="2244"/>
                  </a:lnTo>
                  <a:lnTo>
                    <a:pt x="19489" y="1904"/>
                  </a:lnTo>
                  <a:lnTo>
                    <a:pt x="19614" y="1609"/>
                  </a:lnTo>
                  <a:lnTo>
                    <a:pt x="19751" y="1314"/>
                  </a:lnTo>
                  <a:lnTo>
                    <a:pt x="19875" y="1048"/>
                  </a:lnTo>
                  <a:lnTo>
                    <a:pt x="19988" y="841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Rectangle 37"/>
            <p:cNvSpPr>
              <a:spLocks noChangeArrowheads="1"/>
            </p:cNvSpPr>
            <p:nvPr/>
          </p:nvSpPr>
          <p:spPr bwMode="auto">
            <a:xfrm>
              <a:off x="5365049" y="718355"/>
              <a:ext cx="361950" cy="430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70" name="Rectangle 38"/>
            <p:cNvSpPr>
              <a:spLocks noChangeArrowheads="1"/>
            </p:cNvSpPr>
            <p:nvPr/>
          </p:nvSpPr>
          <p:spPr bwMode="auto">
            <a:xfrm>
              <a:off x="5111750" y="2154238"/>
              <a:ext cx="395288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grpSp>
          <p:nvGrpSpPr>
            <p:cNvPr id="23571" name="Group 39"/>
            <p:cNvGrpSpPr>
              <a:grpSpLocks/>
            </p:cNvGrpSpPr>
            <p:nvPr/>
          </p:nvGrpSpPr>
          <p:grpSpPr bwMode="auto">
            <a:xfrm>
              <a:off x="5335588" y="1873628"/>
              <a:ext cx="2663825" cy="966411"/>
              <a:chOff x="0" y="268"/>
              <a:chExt cx="20001" cy="19732"/>
            </a:xfrm>
          </p:grpSpPr>
          <p:sp>
            <p:nvSpPr>
              <p:cNvPr id="23582" name="Freeform 40"/>
              <p:cNvSpPr>
                <a:spLocks/>
              </p:cNvSpPr>
              <p:nvPr/>
            </p:nvSpPr>
            <p:spPr bwMode="auto">
              <a:xfrm>
                <a:off x="0" y="9631"/>
                <a:ext cx="9748" cy="1036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1 h 20000"/>
                  <a:gd name="T48" fmla="*/ 0 w 20000"/>
                  <a:gd name="T49" fmla="*/ 1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80"/>
                    </a:moveTo>
                    <a:lnTo>
                      <a:pt x="225" y="1489"/>
                    </a:lnTo>
                    <a:lnTo>
                      <a:pt x="437" y="2098"/>
                    </a:lnTo>
                    <a:lnTo>
                      <a:pt x="662" y="2707"/>
                    </a:lnTo>
                    <a:lnTo>
                      <a:pt x="887" y="3283"/>
                    </a:lnTo>
                    <a:lnTo>
                      <a:pt x="1099" y="3892"/>
                    </a:lnTo>
                    <a:lnTo>
                      <a:pt x="1325" y="4501"/>
                    </a:lnTo>
                    <a:lnTo>
                      <a:pt x="1550" y="5076"/>
                    </a:lnTo>
                    <a:lnTo>
                      <a:pt x="1762" y="5685"/>
                    </a:lnTo>
                    <a:lnTo>
                      <a:pt x="1987" y="6261"/>
                    </a:lnTo>
                    <a:lnTo>
                      <a:pt x="2225" y="6802"/>
                    </a:lnTo>
                    <a:lnTo>
                      <a:pt x="2450" y="7377"/>
                    </a:lnTo>
                    <a:lnTo>
                      <a:pt x="2675" y="7953"/>
                    </a:lnTo>
                    <a:lnTo>
                      <a:pt x="2887" y="8494"/>
                    </a:lnTo>
                    <a:lnTo>
                      <a:pt x="3113" y="9103"/>
                    </a:lnTo>
                    <a:lnTo>
                      <a:pt x="3338" y="9611"/>
                    </a:lnTo>
                    <a:lnTo>
                      <a:pt x="3550" y="10186"/>
                    </a:lnTo>
                    <a:lnTo>
                      <a:pt x="3775" y="10694"/>
                    </a:lnTo>
                    <a:lnTo>
                      <a:pt x="4000" y="11235"/>
                    </a:lnTo>
                    <a:lnTo>
                      <a:pt x="4225" y="11743"/>
                    </a:lnTo>
                    <a:lnTo>
                      <a:pt x="4437" y="12250"/>
                    </a:lnTo>
                    <a:lnTo>
                      <a:pt x="4662" y="12724"/>
                    </a:lnTo>
                    <a:lnTo>
                      <a:pt x="4887" y="13164"/>
                    </a:lnTo>
                    <a:lnTo>
                      <a:pt x="5113" y="13638"/>
                    </a:lnTo>
                    <a:lnTo>
                      <a:pt x="5338" y="14078"/>
                    </a:lnTo>
                    <a:lnTo>
                      <a:pt x="5550" y="14552"/>
                    </a:lnTo>
                    <a:lnTo>
                      <a:pt x="5762" y="14992"/>
                    </a:lnTo>
                    <a:lnTo>
                      <a:pt x="5974" y="15398"/>
                    </a:lnTo>
                    <a:lnTo>
                      <a:pt x="6199" y="15804"/>
                    </a:lnTo>
                    <a:lnTo>
                      <a:pt x="6424" y="16210"/>
                    </a:lnTo>
                    <a:lnTo>
                      <a:pt x="6636" y="16548"/>
                    </a:lnTo>
                    <a:lnTo>
                      <a:pt x="6861" y="16920"/>
                    </a:lnTo>
                    <a:lnTo>
                      <a:pt x="7086" y="17259"/>
                    </a:lnTo>
                    <a:lnTo>
                      <a:pt x="7285" y="17530"/>
                    </a:lnTo>
                    <a:lnTo>
                      <a:pt x="7510" y="17868"/>
                    </a:lnTo>
                    <a:lnTo>
                      <a:pt x="7735" y="18173"/>
                    </a:lnTo>
                    <a:lnTo>
                      <a:pt x="7960" y="18376"/>
                    </a:lnTo>
                    <a:lnTo>
                      <a:pt x="8159" y="18646"/>
                    </a:lnTo>
                    <a:lnTo>
                      <a:pt x="8371" y="18883"/>
                    </a:lnTo>
                    <a:lnTo>
                      <a:pt x="8583" y="19120"/>
                    </a:lnTo>
                    <a:lnTo>
                      <a:pt x="8808" y="19289"/>
                    </a:lnTo>
                    <a:lnTo>
                      <a:pt x="9020" y="19459"/>
                    </a:lnTo>
                    <a:lnTo>
                      <a:pt x="9232" y="19594"/>
                    </a:lnTo>
                    <a:lnTo>
                      <a:pt x="9444" y="19695"/>
                    </a:lnTo>
                    <a:lnTo>
                      <a:pt x="9642" y="19831"/>
                    </a:lnTo>
                    <a:lnTo>
                      <a:pt x="9854" y="19865"/>
                    </a:lnTo>
                    <a:lnTo>
                      <a:pt x="10079" y="19932"/>
                    </a:lnTo>
                    <a:lnTo>
                      <a:pt x="10291" y="19966"/>
                    </a:lnTo>
                    <a:lnTo>
                      <a:pt x="10503" y="19932"/>
                    </a:lnTo>
                    <a:lnTo>
                      <a:pt x="10702" y="19932"/>
                    </a:lnTo>
                    <a:lnTo>
                      <a:pt x="10914" y="19865"/>
                    </a:lnTo>
                    <a:lnTo>
                      <a:pt x="11126" y="19763"/>
                    </a:lnTo>
                    <a:lnTo>
                      <a:pt x="11338" y="19662"/>
                    </a:lnTo>
                    <a:lnTo>
                      <a:pt x="11563" y="19425"/>
                    </a:lnTo>
                    <a:lnTo>
                      <a:pt x="11788" y="19222"/>
                    </a:lnTo>
                    <a:lnTo>
                      <a:pt x="12000" y="18985"/>
                    </a:lnTo>
                    <a:lnTo>
                      <a:pt x="12225" y="18714"/>
                    </a:lnTo>
                    <a:lnTo>
                      <a:pt x="12450" y="18376"/>
                    </a:lnTo>
                    <a:lnTo>
                      <a:pt x="12689" y="18071"/>
                    </a:lnTo>
                    <a:lnTo>
                      <a:pt x="12914" y="17699"/>
                    </a:lnTo>
                    <a:lnTo>
                      <a:pt x="13152" y="17259"/>
                    </a:lnTo>
                    <a:lnTo>
                      <a:pt x="13377" y="16887"/>
                    </a:lnTo>
                    <a:lnTo>
                      <a:pt x="13616" y="16447"/>
                    </a:lnTo>
                    <a:lnTo>
                      <a:pt x="13841" y="16007"/>
                    </a:lnTo>
                    <a:lnTo>
                      <a:pt x="14066" y="15533"/>
                    </a:lnTo>
                    <a:lnTo>
                      <a:pt x="14291" y="15025"/>
                    </a:lnTo>
                    <a:lnTo>
                      <a:pt x="14530" y="14518"/>
                    </a:lnTo>
                    <a:lnTo>
                      <a:pt x="14755" y="13976"/>
                    </a:lnTo>
                    <a:lnTo>
                      <a:pt x="14993" y="13469"/>
                    </a:lnTo>
                    <a:lnTo>
                      <a:pt x="15219" y="12927"/>
                    </a:lnTo>
                    <a:lnTo>
                      <a:pt x="15444" y="12352"/>
                    </a:lnTo>
                    <a:lnTo>
                      <a:pt x="15682" y="11777"/>
                    </a:lnTo>
                    <a:lnTo>
                      <a:pt x="15894" y="11201"/>
                    </a:lnTo>
                    <a:lnTo>
                      <a:pt x="16106" y="10626"/>
                    </a:lnTo>
                    <a:lnTo>
                      <a:pt x="16318" y="10051"/>
                    </a:lnTo>
                    <a:lnTo>
                      <a:pt x="16530" y="9509"/>
                    </a:lnTo>
                    <a:lnTo>
                      <a:pt x="16742" y="8934"/>
                    </a:lnTo>
                    <a:lnTo>
                      <a:pt x="16954" y="8325"/>
                    </a:lnTo>
                    <a:lnTo>
                      <a:pt x="17152" y="7783"/>
                    </a:lnTo>
                    <a:lnTo>
                      <a:pt x="17351" y="7242"/>
                    </a:lnTo>
                    <a:lnTo>
                      <a:pt x="17550" y="6667"/>
                    </a:lnTo>
                    <a:lnTo>
                      <a:pt x="17735" y="6125"/>
                    </a:lnTo>
                    <a:lnTo>
                      <a:pt x="17934" y="5584"/>
                    </a:lnTo>
                    <a:lnTo>
                      <a:pt x="18119" y="5042"/>
                    </a:lnTo>
                    <a:lnTo>
                      <a:pt x="18291" y="4535"/>
                    </a:lnTo>
                    <a:lnTo>
                      <a:pt x="18464" y="4061"/>
                    </a:lnTo>
                    <a:lnTo>
                      <a:pt x="18636" y="3553"/>
                    </a:lnTo>
                    <a:lnTo>
                      <a:pt x="18795" y="3113"/>
                    </a:lnTo>
                    <a:lnTo>
                      <a:pt x="18954" y="2640"/>
                    </a:lnTo>
                    <a:lnTo>
                      <a:pt x="19099" y="2234"/>
                    </a:lnTo>
                    <a:lnTo>
                      <a:pt x="19258" y="1827"/>
                    </a:lnTo>
                    <a:lnTo>
                      <a:pt x="19391" y="1455"/>
                    </a:lnTo>
                    <a:lnTo>
                      <a:pt x="19523" y="1083"/>
                    </a:lnTo>
                    <a:lnTo>
                      <a:pt x="19642" y="778"/>
                    </a:lnTo>
                    <a:lnTo>
                      <a:pt x="19775" y="508"/>
                    </a:lnTo>
                    <a:lnTo>
                      <a:pt x="19881" y="203"/>
                    </a:lnTo>
                    <a:lnTo>
                      <a:pt x="19987" y="0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3" name="Freeform 41"/>
              <p:cNvSpPr>
                <a:spLocks/>
              </p:cNvSpPr>
              <p:nvPr/>
            </p:nvSpPr>
            <p:spPr bwMode="auto">
              <a:xfrm>
                <a:off x="9640" y="268"/>
                <a:ext cx="10361" cy="10019"/>
              </a:xfrm>
              <a:custGeom>
                <a:avLst/>
                <a:gdLst>
                  <a:gd name="T0" fmla="*/ 1 w 20000"/>
                  <a:gd name="T1" fmla="*/ 1 h 20000"/>
                  <a:gd name="T2" fmla="*/ 1 w 20000"/>
                  <a:gd name="T3" fmla="*/ 1 h 20000"/>
                  <a:gd name="T4" fmla="*/ 1 w 20000"/>
                  <a:gd name="T5" fmla="*/ 1 h 20000"/>
                  <a:gd name="T6" fmla="*/ 1 w 20000"/>
                  <a:gd name="T7" fmla="*/ 1 h 20000"/>
                  <a:gd name="T8" fmla="*/ 1 w 20000"/>
                  <a:gd name="T9" fmla="*/ 1 h 20000"/>
                  <a:gd name="T10" fmla="*/ 1 w 20000"/>
                  <a:gd name="T11" fmla="*/ 1 h 20000"/>
                  <a:gd name="T12" fmla="*/ 1 w 20000"/>
                  <a:gd name="T13" fmla="*/ 1 h 20000"/>
                  <a:gd name="T14" fmla="*/ 1 w 20000"/>
                  <a:gd name="T15" fmla="*/ 1 h 20000"/>
                  <a:gd name="T16" fmla="*/ 1 w 20000"/>
                  <a:gd name="T17" fmla="*/ 1 h 20000"/>
                  <a:gd name="T18" fmla="*/ 1 w 20000"/>
                  <a:gd name="T19" fmla="*/ 1 h 20000"/>
                  <a:gd name="T20" fmla="*/ 1 w 20000"/>
                  <a:gd name="T21" fmla="*/ 1 h 20000"/>
                  <a:gd name="T22" fmla="*/ 1 w 20000"/>
                  <a:gd name="T23" fmla="*/ 1 h 20000"/>
                  <a:gd name="T24" fmla="*/ 1 w 20000"/>
                  <a:gd name="T25" fmla="*/ 1 h 20000"/>
                  <a:gd name="T26" fmla="*/ 1 w 20000"/>
                  <a:gd name="T27" fmla="*/ 1 h 20000"/>
                  <a:gd name="T28" fmla="*/ 1 w 20000"/>
                  <a:gd name="T29" fmla="*/ 1 h 20000"/>
                  <a:gd name="T30" fmla="*/ 1 w 20000"/>
                  <a:gd name="T31" fmla="*/ 1 h 20000"/>
                  <a:gd name="T32" fmla="*/ 1 w 20000"/>
                  <a:gd name="T33" fmla="*/ 1 h 20000"/>
                  <a:gd name="T34" fmla="*/ 1 w 20000"/>
                  <a:gd name="T35" fmla="*/ 1 h 20000"/>
                  <a:gd name="T36" fmla="*/ 1 w 20000"/>
                  <a:gd name="T37" fmla="*/ 1 h 20000"/>
                  <a:gd name="T38" fmla="*/ 1 w 20000"/>
                  <a:gd name="T39" fmla="*/ 1 h 20000"/>
                  <a:gd name="T40" fmla="*/ 1 w 20000"/>
                  <a:gd name="T41" fmla="*/ 1 h 20000"/>
                  <a:gd name="T42" fmla="*/ 1 w 20000"/>
                  <a:gd name="T43" fmla="*/ 1 h 20000"/>
                  <a:gd name="T44" fmla="*/ 1 w 20000"/>
                  <a:gd name="T45" fmla="*/ 1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1 h 20000"/>
                  <a:gd name="T52" fmla="*/ 1 w 20000"/>
                  <a:gd name="T53" fmla="*/ 1 h 20000"/>
                  <a:gd name="T54" fmla="*/ 1 w 20000"/>
                  <a:gd name="T55" fmla="*/ 1 h 20000"/>
                  <a:gd name="T56" fmla="*/ 1 w 20000"/>
                  <a:gd name="T57" fmla="*/ 1 h 20000"/>
                  <a:gd name="T58" fmla="*/ 1 w 20000"/>
                  <a:gd name="T59" fmla="*/ 1 h 20000"/>
                  <a:gd name="T60" fmla="*/ 1 w 20000"/>
                  <a:gd name="T61" fmla="*/ 1 h 20000"/>
                  <a:gd name="T62" fmla="*/ 1 w 20000"/>
                  <a:gd name="T63" fmla="*/ 1 h 20000"/>
                  <a:gd name="T64" fmla="*/ 1 w 20000"/>
                  <a:gd name="T65" fmla="*/ 1 h 20000"/>
                  <a:gd name="T66" fmla="*/ 1 w 20000"/>
                  <a:gd name="T67" fmla="*/ 1 h 20000"/>
                  <a:gd name="T68" fmla="*/ 1 w 20000"/>
                  <a:gd name="T69" fmla="*/ 1 h 20000"/>
                  <a:gd name="T70" fmla="*/ 1 w 20000"/>
                  <a:gd name="T71" fmla="*/ 1 h 20000"/>
                  <a:gd name="T72" fmla="*/ 1 w 20000"/>
                  <a:gd name="T73" fmla="*/ 1 h 20000"/>
                  <a:gd name="T74" fmla="*/ 1 w 20000"/>
                  <a:gd name="T75" fmla="*/ 1 h 20000"/>
                  <a:gd name="T76" fmla="*/ 1 w 20000"/>
                  <a:gd name="T77" fmla="*/ 1 h 20000"/>
                  <a:gd name="T78" fmla="*/ 1 w 20000"/>
                  <a:gd name="T79" fmla="*/ 1 h 20000"/>
                  <a:gd name="T80" fmla="*/ 1 w 20000"/>
                  <a:gd name="T81" fmla="*/ 1 h 20000"/>
                  <a:gd name="T82" fmla="*/ 1 w 20000"/>
                  <a:gd name="T83" fmla="*/ 1 h 20000"/>
                  <a:gd name="T84" fmla="*/ 1 w 20000"/>
                  <a:gd name="T85" fmla="*/ 1 h 20000"/>
                  <a:gd name="T86" fmla="*/ 1 w 20000"/>
                  <a:gd name="T87" fmla="*/ 1 h 20000"/>
                  <a:gd name="T88" fmla="*/ 1 w 20000"/>
                  <a:gd name="T89" fmla="*/ 1 h 20000"/>
                  <a:gd name="T90" fmla="*/ 1 w 20000"/>
                  <a:gd name="T91" fmla="*/ 1 h 20000"/>
                  <a:gd name="T92" fmla="*/ 1 w 20000"/>
                  <a:gd name="T93" fmla="*/ 1 h 20000"/>
                  <a:gd name="T94" fmla="*/ 1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65"/>
                    </a:moveTo>
                    <a:lnTo>
                      <a:pt x="199" y="19335"/>
                    </a:lnTo>
                    <a:lnTo>
                      <a:pt x="399" y="18704"/>
                    </a:lnTo>
                    <a:lnTo>
                      <a:pt x="598" y="18109"/>
                    </a:lnTo>
                    <a:lnTo>
                      <a:pt x="798" y="17478"/>
                    </a:lnTo>
                    <a:lnTo>
                      <a:pt x="984" y="16813"/>
                    </a:lnTo>
                    <a:lnTo>
                      <a:pt x="1184" y="16217"/>
                    </a:lnTo>
                    <a:lnTo>
                      <a:pt x="1383" y="15622"/>
                    </a:lnTo>
                    <a:lnTo>
                      <a:pt x="1583" y="15026"/>
                    </a:lnTo>
                    <a:lnTo>
                      <a:pt x="1782" y="14396"/>
                    </a:lnTo>
                    <a:lnTo>
                      <a:pt x="1981" y="13800"/>
                    </a:lnTo>
                    <a:lnTo>
                      <a:pt x="2181" y="13240"/>
                    </a:lnTo>
                    <a:lnTo>
                      <a:pt x="2380" y="12680"/>
                    </a:lnTo>
                    <a:lnTo>
                      <a:pt x="2567" y="12084"/>
                    </a:lnTo>
                    <a:lnTo>
                      <a:pt x="2766" y="11489"/>
                    </a:lnTo>
                    <a:lnTo>
                      <a:pt x="2966" y="10928"/>
                    </a:lnTo>
                    <a:lnTo>
                      <a:pt x="3165" y="10368"/>
                    </a:lnTo>
                    <a:lnTo>
                      <a:pt x="3364" y="9842"/>
                    </a:lnTo>
                    <a:lnTo>
                      <a:pt x="3564" y="9317"/>
                    </a:lnTo>
                    <a:lnTo>
                      <a:pt x="3763" y="8757"/>
                    </a:lnTo>
                    <a:lnTo>
                      <a:pt x="3963" y="8231"/>
                    </a:lnTo>
                    <a:lnTo>
                      <a:pt x="4162" y="7741"/>
                    </a:lnTo>
                    <a:lnTo>
                      <a:pt x="4361" y="7250"/>
                    </a:lnTo>
                    <a:lnTo>
                      <a:pt x="4573" y="6795"/>
                    </a:lnTo>
                    <a:lnTo>
                      <a:pt x="4785" y="6305"/>
                    </a:lnTo>
                    <a:lnTo>
                      <a:pt x="4972" y="5849"/>
                    </a:lnTo>
                    <a:lnTo>
                      <a:pt x="5171" y="5394"/>
                    </a:lnTo>
                    <a:lnTo>
                      <a:pt x="5371" y="4939"/>
                    </a:lnTo>
                    <a:lnTo>
                      <a:pt x="5570" y="4553"/>
                    </a:lnTo>
                    <a:lnTo>
                      <a:pt x="5782" y="4133"/>
                    </a:lnTo>
                    <a:lnTo>
                      <a:pt x="5981" y="3783"/>
                    </a:lnTo>
                    <a:lnTo>
                      <a:pt x="6181" y="3363"/>
                    </a:lnTo>
                    <a:lnTo>
                      <a:pt x="6380" y="3012"/>
                    </a:lnTo>
                    <a:lnTo>
                      <a:pt x="6579" y="2697"/>
                    </a:lnTo>
                    <a:lnTo>
                      <a:pt x="6791" y="2347"/>
                    </a:lnTo>
                    <a:lnTo>
                      <a:pt x="6991" y="2032"/>
                    </a:lnTo>
                    <a:lnTo>
                      <a:pt x="7202" y="1786"/>
                    </a:lnTo>
                    <a:lnTo>
                      <a:pt x="7402" y="1506"/>
                    </a:lnTo>
                    <a:lnTo>
                      <a:pt x="7614" y="1226"/>
                    </a:lnTo>
                    <a:lnTo>
                      <a:pt x="7813" y="1016"/>
                    </a:lnTo>
                    <a:lnTo>
                      <a:pt x="8025" y="806"/>
                    </a:lnTo>
                    <a:lnTo>
                      <a:pt x="8237" y="630"/>
                    </a:lnTo>
                    <a:lnTo>
                      <a:pt x="8436" y="490"/>
                    </a:lnTo>
                    <a:lnTo>
                      <a:pt x="8648" y="315"/>
                    </a:lnTo>
                    <a:lnTo>
                      <a:pt x="8860" y="210"/>
                    </a:lnTo>
                    <a:lnTo>
                      <a:pt x="9059" y="105"/>
                    </a:lnTo>
                    <a:lnTo>
                      <a:pt x="9271" y="70"/>
                    </a:lnTo>
                    <a:lnTo>
                      <a:pt x="9483" y="0"/>
                    </a:lnTo>
                    <a:lnTo>
                      <a:pt x="9695" y="0"/>
                    </a:lnTo>
                    <a:lnTo>
                      <a:pt x="9907" y="0"/>
                    </a:lnTo>
                    <a:lnTo>
                      <a:pt x="10118" y="35"/>
                    </a:lnTo>
                    <a:lnTo>
                      <a:pt x="10330" y="140"/>
                    </a:lnTo>
                    <a:lnTo>
                      <a:pt x="10555" y="245"/>
                    </a:lnTo>
                    <a:lnTo>
                      <a:pt x="10791" y="420"/>
                    </a:lnTo>
                    <a:lnTo>
                      <a:pt x="11016" y="630"/>
                    </a:lnTo>
                    <a:lnTo>
                      <a:pt x="11240" y="841"/>
                    </a:lnTo>
                    <a:lnTo>
                      <a:pt x="11477" y="1121"/>
                    </a:lnTo>
                    <a:lnTo>
                      <a:pt x="11713" y="1401"/>
                    </a:lnTo>
                    <a:lnTo>
                      <a:pt x="11963" y="1716"/>
                    </a:lnTo>
                    <a:lnTo>
                      <a:pt x="12212" y="2067"/>
                    </a:lnTo>
                    <a:lnTo>
                      <a:pt x="12461" y="2452"/>
                    </a:lnTo>
                    <a:lnTo>
                      <a:pt x="12710" y="2837"/>
                    </a:lnTo>
                    <a:lnTo>
                      <a:pt x="12960" y="3222"/>
                    </a:lnTo>
                    <a:lnTo>
                      <a:pt x="13196" y="3713"/>
                    </a:lnTo>
                    <a:lnTo>
                      <a:pt x="13445" y="4168"/>
                    </a:lnTo>
                    <a:lnTo>
                      <a:pt x="13707" y="4623"/>
                    </a:lnTo>
                    <a:lnTo>
                      <a:pt x="13956" y="5114"/>
                    </a:lnTo>
                    <a:lnTo>
                      <a:pt x="14206" y="5604"/>
                    </a:lnTo>
                    <a:lnTo>
                      <a:pt x="14442" y="6165"/>
                    </a:lnTo>
                    <a:lnTo>
                      <a:pt x="14692" y="6655"/>
                    </a:lnTo>
                    <a:lnTo>
                      <a:pt x="14953" y="7215"/>
                    </a:lnTo>
                    <a:lnTo>
                      <a:pt x="15202" y="7741"/>
                    </a:lnTo>
                    <a:lnTo>
                      <a:pt x="15452" y="8336"/>
                    </a:lnTo>
                    <a:lnTo>
                      <a:pt x="15688" y="8862"/>
                    </a:lnTo>
                    <a:lnTo>
                      <a:pt x="15925" y="9387"/>
                    </a:lnTo>
                    <a:lnTo>
                      <a:pt x="16150" y="9912"/>
                    </a:lnTo>
                    <a:lnTo>
                      <a:pt x="16386" y="10508"/>
                    </a:lnTo>
                    <a:lnTo>
                      <a:pt x="16611" y="11068"/>
                    </a:lnTo>
                    <a:lnTo>
                      <a:pt x="16847" y="11594"/>
                    </a:lnTo>
                    <a:lnTo>
                      <a:pt x="17072" y="12154"/>
                    </a:lnTo>
                    <a:lnTo>
                      <a:pt x="17283" y="12680"/>
                    </a:lnTo>
                    <a:lnTo>
                      <a:pt x="17495" y="13205"/>
                    </a:lnTo>
                    <a:lnTo>
                      <a:pt x="17720" y="13730"/>
                    </a:lnTo>
                    <a:lnTo>
                      <a:pt x="17919" y="14221"/>
                    </a:lnTo>
                    <a:lnTo>
                      <a:pt x="18118" y="14746"/>
                    </a:lnTo>
                    <a:lnTo>
                      <a:pt x="18305" y="15236"/>
                    </a:lnTo>
                    <a:lnTo>
                      <a:pt x="18492" y="15692"/>
                    </a:lnTo>
                    <a:lnTo>
                      <a:pt x="18679" y="16112"/>
                    </a:lnTo>
                    <a:lnTo>
                      <a:pt x="18854" y="16567"/>
                    </a:lnTo>
                    <a:lnTo>
                      <a:pt x="19016" y="16988"/>
                    </a:lnTo>
                    <a:lnTo>
                      <a:pt x="19178" y="17338"/>
                    </a:lnTo>
                    <a:lnTo>
                      <a:pt x="19340" y="17688"/>
                    </a:lnTo>
                    <a:lnTo>
                      <a:pt x="19489" y="18074"/>
                    </a:lnTo>
                    <a:lnTo>
                      <a:pt x="19614" y="18319"/>
                    </a:lnTo>
                    <a:lnTo>
                      <a:pt x="19751" y="18634"/>
                    </a:lnTo>
                    <a:lnTo>
                      <a:pt x="19875" y="18914"/>
                    </a:lnTo>
                    <a:lnTo>
                      <a:pt x="19988" y="19124"/>
                    </a:ln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2" name="Line 42"/>
            <p:cNvSpPr>
              <a:spLocks noChangeShapeType="1"/>
            </p:cNvSpPr>
            <p:nvPr/>
          </p:nvSpPr>
          <p:spPr bwMode="auto">
            <a:xfrm>
              <a:off x="5348288" y="2335213"/>
              <a:ext cx="2841625" cy="0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Line 43"/>
            <p:cNvSpPr>
              <a:spLocks noChangeShapeType="1"/>
            </p:cNvSpPr>
            <p:nvPr/>
          </p:nvSpPr>
          <p:spPr bwMode="auto">
            <a:xfrm>
              <a:off x="5335588" y="896938"/>
              <a:ext cx="0" cy="2538760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Line 44"/>
            <p:cNvSpPr>
              <a:spLocks noChangeShapeType="1"/>
            </p:cNvSpPr>
            <p:nvPr/>
          </p:nvSpPr>
          <p:spPr bwMode="auto">
            <a:xfrm>
              <a:off x="5370513" y="1168799"/>
              <a:ext cx="68738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Line 45"/>
            <p:cNvSpPr>
              <a:spLocks noChangeShapeType="1"/>
            </p:cNvSpPr>
            <p:nvPr/>
          </p:nvSpPr>
          <p:spPr bwMode="auto">
            <a:xfrm>
              <a:off x="5370513" y="1860551"/>
              <a:ext cx="1943100" cy="31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Rectangle 47"/>
            <p:cNvSpPr>
              <a:spLocks noChangeArrowheads="1"/>
            </p:cNvSpPr>
            <p:nvPr/>
          </p:nvSpPr>
          <p:spPr bwMode="auto">
            <a:xfrm>
              <a:off x="5002212" y="975523"/>
              <a:ext cx="328613" cy="503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A</a:t>
              </a:r>
              <a:r>
                <a:rPr kumimoji="0" lang="en-US" altLang="zh-CN" sz="1600" b="0" baseline="-25000">
                  <a:solidFill>
                    <a:srgbClr val="000000"/>
                  </a:solidFill>
                  <a:ea typeface="宋体" pitchFamily="2" charset="-122"/>
                </a:rPr>
                <a:t>1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77" name="Rectangle 49"/>
            <p:cNvSpPr>
              <a:spLocks noChangeArrowheads="1"/>
            </p:cNvSpPr>
            <p:nvPr/>
          </p:nvSpPr>
          <p:spPr bwMode="auto">
            <a:xfrm>
              <a:off x="4973256" y="1654176"/>
              <a:ext cx="379413" cy="45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A</a:t>
              </a:r>
              <a:r>
                <a:rPr kumimoji="0" lang="en-US" altLang="zh-CN" sz="1600" b="0" baseline="-25000">
                  <a:solidFill>
                    <a:srgbClr val="000000"/>
                  </a:solidFill>
                  <a:ea typeface="宋体" pitchFamily="2" charset="-122"/>
                </a:rPr>
                <a:t>2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78" name="Rectangle 51"/>
            <p:cNvSpPr>
              <a:spLocks noChangeArrowheads="1"/>
            </p:cNvSpPr>
            <p:nvPr/>
          </p:nvSpPr>
          <p:spPr bwMode="auto">
            <a:xfrm>
              <a:off x="6282883" y="1118007"/>
              <a:ext cx="430212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FF0000"/>
                  </a:solidFill>
                  <a:ea typeface="宋体" pitchFamily="2" charset="-122"/>
                </a:rPr>
                <a:t>x</a:t>
              </a:r>
              <a:r>
                <a:rPr kumimoji="0" lang="en-US" altLang="zh-CN" sz="1600" b="0" baseline="-25000">
                  <a:solidFill>
                    <a:srgbClr val="FF0000"/>
                  </a:solidFill>
                  <a:ea typeface="宋体" pitchFamily="2" charset="-122"/>
                </a:rPr>
                <a:t>2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79" name="Rectangle 52"/>
            <p:cNvSpPr>
              <a:spLocks noChangeArrowheads="1"/>
            </p:cNvSpPr>
            <p:nvPr/>
          </p:nvSpPr>
          <p:spPr bwMode="auto">
            <a:xfrm>
              <a:off x="8006929" y="2325688"/>
              <a:ext cx="292100" cy="469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600" b="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  <a:endParaRPr kumimoji="0" lang="en-US" altLang="zh-CN" sz="16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3580" name="Line 53"/>
            <p:cNvSpPr>
              <a:spLocks noChangeShapeType="1"/>
            </p:cNvSpPr>
            <p:nvPr/>
          </p:nvSpPr>
          <p:spPr bwMode="auto">
            <a:xfrm>
              <a:off x="6007100" y="1186261"/>
              <a:ext cx="0" cy="165258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54"/>
            <p:cNvSpPr>
              <a:spLocks noChangeShapeType="1"/>
            </p:cNvSpPr>
            <p:nvPr/>
          </p:nvSpPr>
          <p:spPr bwMode="auto">
            <a:xfrm>
              <a:off x="7296150" y="1878013"/>
              <a:ext cx="0" cy="16541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prstDash val="dash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989" name="Group 405"/>
          <p:cNvGrpSpPr>
            <a:grpSpLocks/>
          </p:cNvGrpSpPr>
          <p:nvPr/>
        </p:nvGrpSpPr>
        <p:grpSpPr bwMode="auto">
          <a:xfrm>
            <a:off x="6151563" y="1028700"/>
            <a:ext cx="2957512" cy="587375"/>
            <a:chOff x="2990" y="453"/>
            <a:chExt cx="2063" cy="581"/>
          </a:xfrm>
        </p:grpSpPr>
        <p:sp>
          <p:nvSpPr>
            <p:cNvPr id="24801" name="Line 81"/>
            <p:cNvSpPr>
              <a:spLocks noChangeShapeType="1"/>
            </p:cNvSpPr>
            <p:nvPr/>
          </p:nvSpPr>
          <p:spPr bwMode="auto">
            <a:xfrm>
              <a:off x="2990" y="740"/>
              <a:ext cx="2063" cy="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802" name="Text Box 83"/>
            <p:cNvSpPr txBox="1">
              <a:spLocks noChangeArrowheads="1"/>
            </p:cNvSpPr>
            <p:nvPr/>
          </p:nvSpPr>
          <p:spPr bwMode="auto">
            <a:xfrm>
              <a:off x="4861" y="453"/>
              <a:ext cx="17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80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</a:p>
          </p:txBody>
        </p:sp>
        <p:grpSp>
          <p:nvGrpSpPr>
            <p:cNvPr id="24803" name="Group 207"/>
            <p:cNvGrpSpPr>
              <a:grpSpLocks/>
            </p:cNvGrpSpPr>
            <p:nvPr/>
          </p:nvGrpSpPr>
          <p:grpSpPr bwMode="auto">
            <a:xfrm>
              <a:off x="3133" y="466"/>
              <a:ext cx="1543" cy="568"/>
              <a:chOff x="2832" y="2883"/>
              <a:chExt cx="2160" cy="958"/>
            </a:xfrm>
          </p:grpSpPr>
          <p:sp>
            <p:nvSpPr>
              <p:cNvPr id="24804" name="Freeform 208"/>
              <p:cNvSpPr>
                <a:spLocks/>
              </p:cNvSpPr>
              <p:nvPr/>
            </p:nvSpPr>
            <p:spPr bwMode="auto">
              <a:xfrm>
                <a:off x="2832" y="2883"/>
                <a:ext cx="535" cy="485"/>
              </a:xfrm>
              <a:custGeom>
                <a:avLst/>
                <a:gdLst>
                  <a:gd name="T0" fmla="*/ 0 w 535"/>
                  <a:gd name="T1" fmla="*/ 485 h 485"/>
                  <a:gd name="T2" fmla="*/ 102 w 535"/>
                  <a:gd name="T3" fmla="*/ 195 h 485"/>
                  <a:gd name="T4" fmla="*/ 224 w 535"/>
                  <a:gd name="T5" fmla="*/ 28 h 485"/>
                  <a:gd name="T6" fmla="*/ 313 w 535"/>
                  <a:gd name="T7" fmla="*/ 28 h 485"/>
                  <a:gd name="T8" fmla="*/ 413 w 535"/>
                  <a:gd name="T9" fmla="*/ 172 h 485"/>
                  <a:gd name="T10" fmla="*/ 535 w 535"/>
                  <a:gd name="T11" fmla="*/ 472 h 4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5" h="485">
                    <a:moveTo>
                      <a:pt x="0" y="485"/>
                    </a:moveTo>
                    <a:cubicBezTo>
                      <a:pt x="17" y="437"/>
                      <a:pt x="65" y="271"/>
                      <a:pt x="102" y="195"/>
                    </a:cubicBezTo>
                    <a:cubicBezTo>
                      <a:pt x="139" y="119"/>
                      <a:pt x="189" y="56"/>
                      <a:pt x="224" y="28"/>
                    </a:cubicBezTo>
                    <a:cubicBezTo>
                      <a:pt x="259" y="0"/>
                      <a:pt x="282" y="4"/>
                      <a:pt x="313" y="28"/>
                    </a:cubicBezTo>
                    <a:cubicBezTo>
                      <a:pt x="344" y="52"/>
                      <a:pt x="376" y="98"/>
                      <a:pt x="413" y="172"/>
                    </a:cubicBezTo>
                    <a:cubicBezTo>
                      <a:pt x="450" y="246"/>
                      <a:pt x="510" y="410"/>
                      <a:pt x="535" y="472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05" name="Freeform 209"/>
              <p:cNvSpPr>
                <a:spLocks/>
              </p:cNvSpPr>
              <p:nvPr/>
            </p:nvSpPr>
            <p:spPr bwMode="auto">
              <a:xfrm>
                <a:off x="3360" y="3333"/>
                <a:ext cx="574" cy="508"/>
              </a:xfrm>
              <a:custGeom>
                <a:avLst/>
                <a:gdLst>
                  <a:gd name="T0" fmla="*/ 0 w 574"/>
                  <a:gd name="T1" fmla="*/ 23 h 508"/>
                  <a:gd name="T2" fmla="*/ 102 w 574"/>
                  <a:gd name="T3" fmla="*/ 313 h 508"/>
                  <a:gd name="T4" fmla="*/ 224 w 574"/>
                  <a:gd name="T5" fmla="*/ 480 h 508"/>
                  <a:gd name="T6" fmla="*/ 313 w 574"/>
                  <a:gd name="T7" fmla="*/ 480 h 508"/>
                  <a:gd name="T8" fmla="*/ 429 w 574"/>
                  <a:gd name="T9" fmla="*/ 322 h 508"/>
                  <a:gd name="T10" fmla="*/ 574 w 574"/>
                  <a:gd name="T11" fmla="*/ 0 h 5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74" h="508">
                    <a:moveTo>
                      <a:pt x="0" y="23"/>
                    </a:moveTo>
                    <a:cubicBezTo>
                      <a:pt x="17" y="71"/>
                      <a:pt x="65" y="237"/>
                      <a:pt x="102" y="313"/>
                    </a:cubicBezTo>
                    <a:cubicBezTo>
                      <a:pt x="139" y="389"/>
                      <a:pt x="189" y="452"/>
                      <a:pt x="224" y="480"/>
                    </a:cubicBezTo>
                    <a:cubicBezTo>
                      <a:pt x="259" y="508"/>
                      <a:pt x="279" y="506"/>
                      <a:pt x="313" y="480"/>
                    </a:cubicBezTo>
                    <a:cubicBezTo>
                      <a:pt x="347" y="454"/>
                      <a:pt x="386" y="402"/>
                      <a:pt x="429" y="322"/>
                    </a:cubicBezTo>
                    <a:cubicBezTo>
                      <a:pt x="472" y="242"/>
                      <a:pt x="544" y="67"/>
                      <a:pt x="574" y="0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06" name="Freeform 210"/>
              <p:cNvSpPr>
                <a:spLocks/>
              </p:cNvSpPr>
              <p:nvPr/>
            </p:nvSpPr>
            <p:spPr bwMode="auto">
              <a:xfrm>
                <a:off x="3923" y="2887"/>
                <a:ext cx="541" cy="468"/>
              </a:xfrm>
              <a:custGeom>
                <a:avLst/>
                <a:gdLst>
                  <a:gd name="T0" fmla="*/ 0 w 541"/>
                  <a:gd name="T1" fmla="*/ 468 h 468"/>
                  <a:gd name="T2" fmla="*/ 135 w 541"/>
                  <a:gd name="T3" fmla="*/ 146 h 468"/>
                  <a:gd name="T4" fmla="*/ 230 w 541"/>
                  <a:gd name="T5" fmla="*/ 21 h 468"/>
                  <a:gd name="T6" fmla="*/ 319 w 541"/>
                  <a:gd name="T7" fmla="*/ 21 h 468"/>
                  <a:gd name="T8" fmla="*/ 413 w 541"/>
                  <a:gd name="T9" fmla="*/ 146 h 468"/>
                  <a:gd name="T10" fmla="*/ 541 w 541"/>
                  <a:gd name="T11" fmla="*/ 465 h 46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1" h="468">
                    <a:moveTo>
                      <a:pt x="0" y="468"/>
                    </a:moveTo>
                    <a:cubicBezTo>
                      <a:pt x="22" y="414"/>
                      <a:pt x="97" y="220"/>
                      <a:pt x="135" y="146"/>
                    </a:cubicBezTo>
                    <a:cubicBezTo>
                      <a:pt x="173" y="72"/>
                      <a:pt x="199" y="42"/>
                      <a:pt x="230" y="21"/>
                    </a:cubicBezTo>
                    <a:cubicBezTo>
                      <a:pt x="261" y="0"/>
                      <a:pt x="288" y="0"/>
                      <a:pt x="319" y="21"/>
                    </a:cubicBezTo>
                    <a:cubicBezTo>
                      <a:pt x="350" y="42"/>
                      <a:pt x="376" y="72"/>
                      <a:pt x="413" y="146"/>
                    </a:cubicBezTo>
                    <a:cubicBezTo>
                      <a:pt x="450" y="220"/>
                      <a:pt x="514" y="399"/>
                      <a:pt x="541" y="465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807" name="Freeform 211"/>
              <p:cNvSpPr>
                <a:spLocks/>
              </p:cNvSpPr>
              <p:nvPr/>
            </p:nvSpPr>
            <p:spPr bwMode="auto">
              <a:xfrm>
                <a:off x="4457" y="3356"/>
                <a:ext cx="535" cy="483"/>
              </a:xfrm>
              <a:custGeom>
                <a:avLst/>
                <a:gdLst>
                  <a:gd name="T0" fmla="*/ 0 w 535"/>
                  <a:gd name="T1" fmla="*/ 0 h 483"/>
                  <a:gd name="T2" fmla="*/ 121 w 535"/>
                  <a:gd name="T3" fmla="*/ 299 h 483"/>
                  <a:gd name="T4" fmla="*/ 224 w 535"/>
                  <a:gd name="T5" fmla="*/ 457 h 483"/>
                  <a:gd name="T6" fmla="*/ 313 w 535"/>
                  <a:gd name="T7" fmla="*/ 457 h 483"/>
                  <a:gd name="T8" fmla="*/ 413 w 535"/>
                  <a:gd name="T9" fmla="*/ 313 h 483"/>
                  <a:gd name="T10" fmla="*/ 535 w 535"/>
                  <a:gd name="T11" fmla="*/ 13 h 48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5" h="483">
                    <a:moveTo>
                      <a:pt x="0" y="0"/>
                    </a:moveTo>
                    <a:cubicBezTo>
                      <a:pt x="20" y="50"/>
                      <a:pt x="84" y="223"/>
                      <a:pt x="121" y="299"/>
                    </a:cubicBezTo>
                    <a:cubicBezTo>
                      <a:pt x="158" y="375"/>
                      <a:pt x="192" y="431"/>
                      <a:pt x="224" y="457"/>
                    </a:cubicBezTo>
                    <a:cubicBezTo>
                      <a:pt x="256" y="483"/>
                      <a:pt x="282" y="481"/>
                      <a:pt x="313" y="457"/>
                    </a:cubicBezTo>
                    <a:cubicBezTo>
                      <a:pt x="344" y="433"/>
                      <a:pt x="376" y="387"/>
                      <a:pt x="413" y="313"/>
                    </a:cubicBezTo>
                    <a:cubicBezTo>
                      <a:pt x="450" y="239"/>
                      <a:pt x="510" y="75"/>
                      <a:pt x="535" y="13"/>
                    </a:cubicBezTo>
                  </a:path>
                </a:pathLst>
              </a:custGeom>
              <a:noFill/>
              <a:ln w="38100" cmpd="sng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95835" name="Text Box 251"/>
          <p:cNvSpPr txBox="1">
            <a:spLocks noChangeArrowheads="1"/>
          </p:cNvSpPr>
          <p:nvPr/>
        </p:nvSpPr>
        <p:spPr bwMode="auto">
          <a:xfrm>
            <a:off x="684213" y="771525"/>
            <a:ext cx="22352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特殊初位相的确定：</a:t>
            </a:r>
          </a:p>
        </p:txBody>
      </p:sp>
      <p:grpSp>
        <p:nvGrpSpPr>
          <p:cNvPr id="195910" name="Group 326"/>
          <p:cNvGrpSpPr>
            <a:grpSpLocks/>
          </p:cNvGrpSpPr>
          <p:nvPr/>
        </p:nvGrpSpPr>
        <p:grpSpPr bwMode="auto">
          <a:xfrm>
            <a:off x="1187450" y="1131888"/>
            <a:ext cx="3024188" cy="512762"/>
            <a:chOff x="249" y="527"/>
            <a:chExt cx="2041" cy="543"/>
          </a:xfrm>
        </p:grpSpPr>
        <p:grpSp>
          <p:nvGrpSpPr>
            <p:cNvPr id="24765" name="Group 289"/>
            <p:cNvGrpSpPr>
              <a:grpSpLocks/>
            </p:cNvGrpSpPr>
            <p:nvPr/>
          </p:nvGrpSpPr>
          <p:grpSpPr bwMode="auto">
            <a:xfrm>
              <a:off x="249" y="527"/>
              <a:ext cx="2041" cy="533"/>
              <a:chOff x="204" y="482"/>
              <a:chExt cx="2041" cy="533"/>
            </a:xfrm>
          </p:grpSpPr>
          <p:grpSp>
            <p:nvGrpSpPr>
              <p:cNvPr id="24767" name="Group 252"/>
              <p:cNvGrpSpPr>
                <a:grpSpLocks/>
              </p:cNvGrpSpPr>
              <p:nvPr/>
            </p:nvGrpSpPr>
            <p:grpSpPr bwMode="auto">
              <a:xfrm>
                <a:off x="204" y="504"/>
                <a:ext cx="1917" cy="295"/>
                <a:chOff x="204" y="255"/>
                <a:chExt cx="1917" cy="295"/>
              </a:xfrm>
            </p:grpSpPr>
            <p:grpSp>
              <p:nvGrpSpPr>
                <p:cNvPr id="24772" name="Group 7"/>
                <p:cNvGrpSpPr>
                  <a:grpSpLocks/>
                </p:cNvGrpSpPr>
                <p:nvPr/>
              </p:nvGrpSpPr>
              <p:grpSpPr bwMode="auto">
                <a:xfrm rot="-5400000">
                  <a:off x="818" y="-222"/>
                  <a:ext cx="136" cy="1271"/>
                  <a:chOff x="1104" y="1704"/>
                  <a:chExt cx="288" cy="926"/>
                </a:xfrm>
              </p:grpSpPr>
              <p:grpSp>
                <p:nvGrpSpPr>
                  <p:cNvPr id="24777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288" cy="854"/>
                    <a:chOff x="1104" y="1776"/>
                    <a:chExt cx="288" cy="854"/>
                  </a:xfrm>
                </p:grpSpPr>
                <p:grpSp>
                  <p:nvGrpSpPr>
                    <p:cNvPr id="24779" name="Group 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04" y="1776"/>
                      <a:ext cx="288" cy="768"/>
                      <a:chOff x="1104" y="1776"/>
                      <a:chExt cx="480" cy="768"/>
                    </a:xfrm>
                  </p:grpSpPr>
                  <p:grpSp>
                    <p:nvGrpSpPr>
                      <p:cNvPr id="24781" name="Group 1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2304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797" name="Oval 1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8" name="Oval 1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9" name="Oval 1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800" name="Oval 1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4782" name="Group 1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2112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793" name="Oval 1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4" name="Oval 1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5" name="Oval 1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6" name="Oval 1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4783" name="Group 20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1920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789" name="Oval 2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0" name="Oval 2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1" name="Oval 23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92" name="Oval 2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4784" name="Group 2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1776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785" name="Oval 2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86" name="Oval 2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87" name="Oval 28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788" name="Oval 2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24780" name="Freeform 30"/>
                    <p:cNvSpPr>
                      <a:spLocks/>
                    </p:cNvSpPr>
                    <p:nvPr/>
                  </p:nvSpPr>
                  <p:spPr bwMode="auto">
                    <a:xfrm>
                      <a:off x="1128" y="2496"/>
                      <a:ext cx="138" cy="134"/>
                    </a:xfrm>
                    <a:custGeom>
                      <a:avLst/>
                      <a:gdLst>
                        <a:gd name="T0" fmla="*/ 0 w 138"/>
                        <a:gd name="T1" fmla="*/ 2 h 134"/>
                        <a:gd name="T2" fmla="*/ 108 w 138"/>
                        <a:gd name="T3" fmla="*/ 134 h 134"/>
                        <a:gd name="T4" fmla="*/ 0 60000 65536"/>
                        <a:gd name="T5" fmla="*/ 0 60000 65536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0" t="0" r="r" b="b"/>
                      <a:pathLst>
                        <a:path w="138" h="134">
                          <a:moveTo>
                            <a:pt x="0" y="2"/>
                          </a:moveTo>
                          <a:cubicBezTo>
                            <a:pt x="138" y="48"/>
                            <a:pt x="108" y="0"/>
                            <a:pt x="108" y="134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4778" name="Freeform 31"/>
                  <p:cNvSpPr>
                    <a:spLocks/>
                  </p:cNvSpPr>
                  <p:nvPr/>
                </p:nvSpPr>
                <p:spPr bwMode="auto">
                  <a:xfrm>
                    <a:off x="1104" y="1704"/>
                    <a:ext cx="168" cy="144"/>
                  </a:xfrm>
                  <a:custGeom>
                    <a:avLst/>
                    <a:gdLst>
                      <a:gd name="T0" fmla="*/ 0 w 168"/>
                      <a:gd name="T1" fmla="*/ 132 h 144"/>
                      <a:gd name="T2" fmla="*/ 144 w 168"/>
                      <a:gd name="T3" fmla="*/ 108 h 144"/>
                      <a:gd name="T4" fmla="*/ 144 w 168"/>
                      <a:gd name="T5" fmla="*/ 0 h 1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68" h="144">
                        <a:moveTo>
                          <a:pt x="0" y="132"/>
                        </a:moveTo>
                        <a:cubicBezTo>
                          <a:pt x="46" y="117"/>
                          <a:pt x="111" y="144"/>
                          <a:pt x="144" y="108"/>
                        </a:cubicBezTo>
                        <a:cubicBezTo>
                          <a:pt x="168" y="81"/>
                          <a:pt x="144" y="36"/>
                          <a:pt x="144" y="0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4773" name="Oval 32"/>
                <p:cNvSpPr>
                  <a:spLocks noChangeArrowheads="1"/>
                </p:cNvSpPr>
                <p:nvPr/>
              </p:nvSpPr>
              <p:spPr bwMode="auto">
                <a:xfrm rot="-5400000">
                  <a:off x="1520" y="300"/>
                  <a:ext cx="227" cy="2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33CCFF"/>
                    </a:gs>
                    <a:gs pos="100000">
                      <a:srgbClr val="1D728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24774" name="Group 34"/>
                <p:cNvGrpSpPr>
                  <a:grpSpLocks/>
                </p:cNvGrpSpPr>
                <p:nvPr/>
              </p:nvGrpSpPr>
              <p:grpSpPr bwMode="auto">
                <a:xfrm>
                  <a:off x="204" y="255"/>
                  <a:ext cx="1917" cy="295"/>
                  <a:chOff x="3072" y="3216"/>
                  <a:chExt cx="2160" cy="864"/>
                </a:xfrm>
              </p:grpSpPr>
              <p:sp>
                <p:nvSpPr>
                  <p:cNvPr id="24775" name="Rectangle 35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2664" y="3624"/>
                    <a:ext cx="864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4776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4032"/>
                    <a:ext cx="2160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sp>
            <p:nvSpPr>
              <p:cNvPr id="24768" name="Text Box 37"/>
              <p:cNvSpPr txBox="1">
                <a:spLocks noChangeArrowheads="1"/>
              </p:cNvSpPr>
              <p:nvPr/>
            </p:nvSpPr>
            <p:spPr bwMode="auto">
              <a:xfrm>
                <a:off x="1610" y="744"/>
                <a:ext cx="19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lang="en-US" altLang="zh-CN" sz="15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</a:p>
            </p:txBody>
          </p:sp>
          <p:sp>
            <p:nvSpPr>
              <p:cNvPr id="24769" name="Line 39"/>
              <p:cNvSpPr>
                <a:spLocks noChangeShapeType="1"/>
              </p:cNvSpPr>
              <p:nvPr/>
            </p:nvSpPr>
            <p:spPr bwMode="auto">
              <a:xfrm>
                <a:off x="204" y="799"/>
                <a:ext cx="2041" cy="0"/>
              </a:xfrm>
              <a:prstGeom prst="line">
                <a:avLst/>
              </a:prstGeom>
              <a:noFill/>
              <a:ln w="57150">
                <a:solidFill>
                  <a:srgbClr val="E8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770" name="Text Box 40"/>
              <p:cNvSpPr txBox="1">
                <a:spLocks noChangeArrowheads="1"/>
              </p:cNvSpPr>
              <p:nvPr/>
            </p:nvSpPr>
            <p:spPr bwMode="auto">
              <a:xfrm>
                <a:off x="1927" y="482"/>
                <a:ext cx="17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lang="en-US" altLang="zh-CN" sz="1500" i="1">
                    <a:solidFill>
                      <a:srgbClr val="0000FF"/>
                    </a:solidFill>
                    <a:ea typeface="宋体" pitchFamily="2" charset="-122"/>
                  </a:rPr>
                  <a:t>x</a:t>
                </a:r>
              </a:p>
            </p:txBody>
          </p:sp>
          <p:sp>
            <p:nvSpPr>
              <p:cNvPr id="24771" name="Text Box 288"/>
              <p:cNvSpPr txBox="1">
                <a:spLocks noChangeArrowheads="1"/>
              </p:cNvSpPr>
              <p:nvPr/>
            </p:nvSpPr>
            <p:spPr bwMode="auto">
              <a:xfrm>
                <a:off x="567" y="744"/>
                <a:ext cx="23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lang="en-US" altLang="zh-CN" sz="1500" i="1">
                    <a:solidFill>
                      <a:srgbClr val="0000FF"/>
                    </a:solidFill>
                    <a:ea typeface="宋体" pitchFamily="2" charset="-122"/>
                  </a:rPr>
                  <a:t>-A</a:t>
                </a:r>
              </a:p>
            </p:txBody>
          </p:sp>
        </p:grpSp>
        <p:sp>
          <p:nvSpPr>
            <p:cNvPr id="24766" name="Text Box 291"/>
            <p:cNvSpPr txBox="1">
              <a:spLocks noChangeArrowheads="1"/>
            </p:cNvSpPr>
            <p:nvPr/>
          </p:nvSpPr>
          <p:spPr bwMode="auto">
            <a:xfrm>
              <a:off x="1287" y="799"/>
              <a:ext cx="20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O</a:t>
              </a:r>
            </a:p>
          </p:txBody>
        </p:sp>
      </p:grpSp>
      <p:grpSp>
        <p:nvGrpSpPr>
          <p:cNvPr id="195984" name="Group 400"/>
          <p:cNvGrpSpPr>
            <a:grpSpLocks/>
          </p:cNvGrpSpPr>
          <p:nvPr/>
        </p:nvGrpSpPr>
        <p:grpSpPr bwMode="auto">
          <a:xfrm>
            <a:off x="1187450" y="1903413"/>
            <a:ext cx="3024188" cy="514350"/>
            <a:chOff x="249" y="1289"/>
            <a:chExt cx="2041" cy="544"/>
          </a:xfrm>
        </p:grpSpPr>
        <p:grpSp>
          <p:nvGrpSpPr>
            <p:cNvPr id="24731" name="Group 292"/>
            <p:cNvGrpSpPr>
              <a:grpSpLocks/>
            </p:cNvGrpSpPr>
            <p:nvPr/>
          </p:nvGrpSpPr>
          <p:grpSpPr bwMode="auto">
            <a:xfrm rot="-5400000">
              <a:off x="669" y="1015"/>
              <a:ext cx="159" cy="907"/>
              <a:chOff x="1104" y="1704"/>
              <a:chExt cx="288" cy="926"/>
            </a:xfrm>
          </p:grpSpPr>
          <p:grpSp>
            <p:nvGrpSpPr>
              <p:cNvPr id="24741" name="Group 293"/>
              <p:cNvGrpSpPr>
                <a:grpSpLocks/>
              </p:cNvGrpSpPr>
              <p:nvPr/>
            </p:nvGrpSpPr>
            <p:grpSpPr bwMode="auto">
              <a:xfrm>
                <a:off x="1104" y="1776"/>
                <a:ext cx="288" cy="854"/>
                <a:chOff x="1104" y="1776"/>
                <a:chExt cx="288" cy="854"/>
              </a:xfrm>
            </p:grpSpPr>
            <p:grpSp>
              <p:nvGrpSpPr>
                <p:cNvPr id="24743" name="Group 294"/>
                <p:cNvGrpSpPr>
                  <a:grpSpLocks/>
                </p:cNvGrpSpPr>
                <p:nvPr/>
              </p:nvGrpSpPr>
              <p:grpSpPr bwMode="auto">
                <a:xfrm>
                  <a:off x="1104" y="1776"/>
                  <a:ext cx="288" cy="768"/>
                  <a:chOff x="1104" y="1776"/>
                  <a:chExt cx="480" cy="768"/>
                </a:xfrm>
              </p:grpSpPr>
              <p:grpSp>
                <p:nvGrpSpPr>
                  <p:cNvPr id="24745" name="Group 295"/>
                  <p:cNvGrpSpPr>
                    <a:grpSpLocks/>
                  </p:cNvGrpSpPr>
                  <p:nvPr/>
                </p:nvGrpSpPr>
                <p:grpSpPr bwMode="auto">
                  <a:xfrm>
                    <a:off x="1104" y="2304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61" name="Oval 29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62" name="Oval 2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63" name="Oval 2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64" name="Oval 29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746" name="Group 300"/>
                  <p:cNvGrpSpPr>
                    <a:grpSpLocks/>
                  </p:cNvGrpSpPr>
                  <p:nvPr/>
                </p:nvGrpSpPr>
                <p:grpSpPr bwMode="auto">
                  <a:xfrm>
                    <a:off x="1104" y="2112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57" name="Oval 3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8" name="Oval 30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9" name="Oval 3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60" name="Oval 3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747" name="Group 305"/>
                  <p:cNvGrpSpPr>
                    <a:grpSpLocks/>
                  </p:cNvGrpSpPr>
                  <p:nvPr/>
                </p:nvGrpSpPr>
                <p:grpSpPr bwMode="auto">
                  <a:xfrm>
                    <a:off x="1104" y="1920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53" name="Oval 30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4" name="Oval 3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5" name="Oval 30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6" name="Oval 30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748" name="Group 310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49" name="Oval 31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0" name="Oval 31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1" name="Oval 3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52" name="Oval 3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24744" name="Freeform 315"/>
                <p:cNvSpPr>
                  <a:spLocks/>
                </p:cNvSpPr>
                <p:nvPr/>
              </p:nvSpPr>
              <p:spPr bwMode="auto">
                <a:xfrm>
                  <a:off x="1128" y="2496"/>
                  <a:ext cx="138" cy="134"/>
                </a:xfrm>
                <a:custGeom>
                  <a:avLst/>
                  <a:gdLst>
                    <a:gd name="T0" fmla="*/ 0 w 138"/>
                    <a:gd name="T1" fmla="*/ 2 h 134"/>
                    <a:gd name="T2" fmla="*/ 108 w 138"/>
                    <a:gd name="T3" fmla="*/ 134 h 13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8" h="134">
                      <a:moveTo>
                        <a:pt x="0" y="2"/>
                      </a:moveTo>
                      <a:cubicBezTo>
                        <a:pt x="138" y="48"/>
                        <a:pt x="108" y="0"/>
                        <a:pt x="108" y="134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742" name="Freeform 316"/>
              <p:cNvSpPr>
                <a:spLocks/>
              </p:cNvSpPr>
              <p:nvPr/>
            </p:nvSpPr>
            <p:spPr bwMode="auto">
              <a:xfrm>
                <a:off x="1104" y="1704"/>
                <a:ext cx="168" cy="144"/>
              </a:xfrm>
              <a:custGeom>
                <a:avLst/>
                <a:gdLst>
                  <a:gd name="T0" fmla="*/ 0 w 168"/>
                  <a:gd name="T1" fmla="*/ 132 h 144"/>
                  <a:gd name="T2" fmla="*/ 144 w 168"/>
                  <a:gd name="T3" fmla="*/ 108 h 144"/>
                  <a:gd name="T4" fmla="*/ 144 w 16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44">
                    <a:moveTo>
                      <a:pt x="0" y="132"/>
                    </a:moveTo>
                    <a:cubicBezTo>
                      <a:pt x="46" y="117"/>
                      <a:pt x="111" y="144"/>
                      <a:pt x="144" y="108"/>
                    </a:cubicBezTo>
                    <a:cubicBezTo>
                      <a:pt x="168" y="81"/>
                      <a:pt x="144" y="36"/>
                      <a:pt x="144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732" name="Oval 317"/>
            <p:cNvSpPr>
              <a:spLocks noChangeArrowheads="1"/>
            </p:cNvSpPr>
            <p:nvPr/>
          </p:nvSpPr>
          <p:spPr bwMode="auto">
            <a:xfrm rot="-5400000">
              <a:off x="1202" y="1343"/>
              <a:ext cx="227" cy="227"/>
            </a:xfrm>
            <a:prstGeom prst="ellipse">
              <a:avLst/>
            </a:prstGeom>
            <a:gradFill rotWithShape="0">
              <a:gsLst>
                <a:gs pos="0">
                  <a:srgbClr val="33CCFF"/>
                </a:gs>
                <a:gs pos="100000">
                  <a:srgbClr val="1D72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24733" name="Group 318"/>
            <p:cNvGrpSpPr>
              <a:grpSpLocks/>
            </p:cNvGrpSpPr>
            <p:nvPr/>
          </p:nvGrpSpPr>
          <p:grpSpPr bwMode="auto">
            <a:xfrm>
              <a:off x="249" y="1298"/>
              <a:ext cx="1917" cy="295"/>
              <a:chOff x="3072" y="3216"/>
              <a:chExt cx="2160" cy="864"/>
            </a:xfrm>
          </p:grpSpPr>
          <p:sp>
            <p:nvSpPr>
              <p:cNvPr id="24739" name="Rectangle 319"/>
              <p:cNvSpPr>
                <a:spLocks noChangeArrowheads="1"/>
              </p:cNvSpPr>
              <p:nvPr/>
            </p:nvSpPr>
            <p:spPr bwMode="auto">
              <a:xfrm rot="-5400000">
                <a:off x="2664" y="3624"/>
                <a:ext cx="86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4740" name="Rectangle 320"/>
              <p:cNvSpPr>
                <a:spLocks noChangeArrowheads="1"/>
              </p:cNvSpPr>
              <p:nvPr/>
            </p:nvSpPr>
            <p:spPr bwMode="auto">
              <a:xfrm>
                <a:off x="3072" y="4032"/>
                <a:ext cx="2160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734" name="Text Box 321"/>
            <p:cNvSpPr txBox="1">
              <a:spLocks noChangeArrowheads="1"/>
            </p:cNvSpPr>
            <p:nvPr/>
          </p:nvSpPr>
          <p:spPr bwMode="auto">
            <a:xfrm>
              <a:off x="1655" y="1551"/>
              <a:ext cx="19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24735" name="Line 322"/>
            <p:cNvSpPr>
              <a:spLocks noChangeShapeType="1"/>
            </p:cNvSpPr>
            <p:nvPr/>
          </p:nvSpPr>
          <p:spPr bwMode="auto">
            <a:xfrm>
              <a:off x="249" y="1570"/>
              <a:ext cx="2041" cy="0"/>
            </a:xfrm>
            <a:prstGeom prst="line">
              <a:avLst/>
            </a:prstGeom>
            <a:noFill/>
            <a:ln w="57150">
              <a:solidFill>
                <a:srgbClr val="E8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36" name="Text Box 323"/>
            <p:cNvSpPr txBox="1">
              <a:spLocks noChangeArrowheads="1"/>
            </p:cNvSpPr>
            <p:nvPr/>
          </p:nvSpPr>
          <p:spPr bwMode="auto">
            <a:xfrm>
              <a:off x="1972" y="1289"/>
              <a:ext cx="17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4737" name="Text Box 324"/>
            <p:cNvSpPr txBox="1">
              <a:spLocks noChangeArrowheads="1"/>
            </p:cNvSpPr>
            <p:nvPr/>
          </p:nvSpPr>
          <p:spPr bwMode="auto">
            <a:xfrm>
              <a:off x="612" y="1561"/>
              <a:ext cx="23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-A</a:t>
              </a:r>
            </a:p>
          </p:txBody>
        </p:sp>
        <p:sp>
          <p:nvSpPr>
            <p:cNvPr id="24738" name="Text Box 325"/>
            <p:cNvSpPr txBox="1">
              <a:spLocks noChangeArrowheads="1"/>
            </p:cNvSpPr>
            <p:nvPr/>
          </p:nvSpPr>
          <p:spPr bwMode="auto">
            <a:xfrm>
              <a:off x="1287" y="1561"/>
              <a:ext cx="20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O</a:t>
              </a:r>
            </a:p>
          </p:txBody>
        </p:sp>
      </p:grpSp>
      <p:grpSp>
        <p:nvGrpSpPr>
          <p:cNvPr id="195983" name="Group 399"/>
          <p:cNvGrpSpPr>
            <a:grpSpLocks/>
          </p:cNvGrpSpPr>
          <p:nvPr/>
        </p:nvGrpSpPr>
        <p:grpSpPr bwMode="auto">
          <a:xfrm>
            <a:off x="1187450" y="2676525"/>
            <a:ext cx="3024188" cy="520700"/>
            <a:chOff x="249" y="2024"/>
            <a:chExt cx="2041" cy="552"/>
          </a:xfrm>
        </p:grpSpPr>
        <p:grpSp>
          <p:nvGrpSpPr>
            <p:cNvPr id="24697" name="Group 256"/>
            <p:cNvGrpSpPr>
              <a:grpSpLocks/>
            </p:cNvGrpSpPr>
            <p:nvPr/>
          </p:nvGrpSpPr>
          <p:grpSpPr bwMode="auto">
            <a:xfrm rot="-5400000">
              <a:off x="464" y="1968"/>
              <a:ext cx="159" cy="498"/>
              <a:chOff x="1104" y="1704"/>
              <a:chExt cx="288" cy="926"/>
            </a:xfrm>
          </p:grpSpPr>
          <p:grpSp>
            <p:nvGrpSpPr>
              <p:cNvPr id="24707" name="Group 257"/>
              <p:cNvGrpSpPr>
                <a:grpSpLocks/>
              </p:cNvGrpSpPr>
              <p:nvPr/>
            </p:nvGrpSpPr>
            <p:grpSpPr bwMode="auto">
              <a:xfrm>
                <a:off x="1104" y="1776"/>
                <a:ext cx="288" cy="854"/>
                <a:chOff x="1104" y="1776"/>
                <a:chExt cx="288" cy="854"/>
              </a:xfrm>
            </p:grpSpPr>
            <p:grpSp>
              <p:nvGrpSpPr>
                <p:cNvPr id="24709" name="Group 258"/>
                <p:cNvGrpSpPr>
                  <a:grpSpLocks/>
                </p:cNvGrpSpPr>
                <p:nvPr/>
              </p:nvGrpSpPr>
              <p:grpSpPr bwMode="auto">
                <a:xfrm>
                  <a:off x="1104" y="1776"/>
                  <a:ext cx="288" cy="768"/>
                  <a:chOff x="1104" y="1776"/>
                  <a:chExt cx="480" cy="768"/>
                </a:xfrm>
              </p:grpSpPr>
              <p:grpSp>
                <p:nvGrpSpPr>
                  <p:cNvPr id="24711" name="Group 259"/>
                  <p:cNvGrpSpPr>
                    <a:grpSpLocks/>
                  </p:cNvGrpSpPr>
                  <p:nvPr/>
                </p:nvGrpSpPr>
                <p:grpSpPr bwMode="auto">
                  <a:xfrm>
                    <a:off x="1104" y="2304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27" name="Oval 2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8" name="Oval 26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9" name="Oval 26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30" name="Oval 2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712" name="Group 264"/>
                  <p:cNvGrpSpPr>
                    <a:grpSpLocks/>
                  </p:cNvGrpSpPr>
                  <p:nvPr/>
                </p:nvGrpSpPr>
                <p:grpSpPr bwMode="auto">
                  <a:xfrm>
                    <a:off x="1104" y="2112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23" name="Oval 26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4" name="Oval 2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5" name="Oval 26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6" name="Oval 26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713" name="Group 269"/>
                  <p:cNvGrpSpPr>
                    <a:grpSpLocks/>
                  </p:cNvGrpSpPr>
                  <p:nvPr/>
                </p:nvGrpSpPr>
                <p:grpSpPr bwMode="auto">
                  <a:xfrm>
                    <a:off x="1104" y="1920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19" name="Oval 27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0" name="Oval 27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1" name="Oval 2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22" name="Oval 2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714" name="Group 274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715" name="Oval 2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16" name="Oval 2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17" name="Oval 27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718" name="Oval 2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24710" name="Freeform 279"/>
                <p:cNvSpPr>
                  <a:spLocks/>
                </p:cNvSpPr>
                <p:nvPr/>
              </p:nvSpPr>
              <p:spPr bwMode="auto">
                <a:xfrm>
                  <a:off x="1128" y="2496"/>
                  <a:ext cx="138" cy="134"/>
                </a:xfrm>
                <a:custGeom>
                  <a:avLst/>
                  <a:gdLst>
                    <a:gd name="T0" fmla="*/ 0 w 138"/>
                    <a:gd name="T1" fmla="*/ 2 h 134"/>
                    <a:gd name="T2" fmla="*/ 108 w 138"/>
                    <a:gd name="T3" fmla="*/ 134 h 13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8" h="134">
                      <a:moveTo>
                        <a:pt x="0" y="2"/>
                      </a:moveTo>
                      <a:cubicBezTo>
                        <a:pt x="138" y="48"/>
                        <a:pt x="108" y="0"/>
                        <a:pt x="108" y="134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708" name="Freeform 280"/>
              <p:cNvSpPr>
                <a:spLocks/>
              </p:cNvSpPr>
              <p:nvPr/>
            </p:nvSpPr>
            <p:spPr bwMode="auto">
              <a:xfrm>
                <a:off x="1104" y="1704"/>
                <a:ext cx="168" cy="144"/>
              </a:xfrm>
              <a:custGeom>
                <a:avLst/>
                <a:gdLst>
                  <a:gd name="T0" fmla="*/ 0 w 168"/>
                  <a:gd name="T1" fmla="*/ 132 h 144"/>
                  <a:gd name="T2" fmla="*/ 144 w 168"/>
                  <a:gd name="T3" fmla="*/ 108 h 144"/>
                  <a:gd name="T4" fmla="*/ 144 w 16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44">
                    <a:moveTo>
                      <a:pt x="0" y="132"/>
                    </a:moveTo>
                    <a:cubicBezTo>
                      <a:pt x="46" y="117"/>
                      <a:pt x="111" y="144"/>
                      <a:pt x="144" y="108"/>
                    </a:cubicBezTo>
                    <a:cubicBezTo>
                      <a:pt x="168" y="81"/>
                      <a:pt x="144" y="36"/>
                      <a:pt x="144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98" name="Oval 281"/>
            <p:cNvSpPr>
              <a:spLocks noChangeArrowheads="1"/>
            </p:cNvSpPr>
            <p:nvPr/>
          </p:nvSpPr>
          <p:spPr bwMode="auto">
            <a:xfrm rot="-5400000">
              <a:off x="793" y="2114"/>
              <a:ext cx="227" cy="227"/>
            </a:xfrm>
            <a:prstGeom prst="ellipse">
              <a:avLst/>
            </a:prstGeom>
            <a:gradFill rotWithShape="0">
              <a:gsLst>
                <a:gs pos="0">
                  <a:srgbClr val="33CCFF"/>
                </a:gs>
                <a:gs pos="100000">
                  <a:srgbClr val="1D72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24699" name="Group 282"/>
            <p:cNvGrpSpPr>
              <a:grpSpLocks/>
            </p:cNvGrpSpPr>
            <p:nvPr/>
          </p:nvGrpSpPr>
          <p:grpSpPr bwMode="auto">
            <a:xfrm>
              <a:off x="249" y="2056"/>
              <a:ext cx="1917" cy="295"/>
              <a:chOff x="3072" y="3216"/>
              <a:chExt cx="2160" cy="864"/>
            </a:xfrm>
          </p:grpSpPr>
          <p:sp>
            <p:nvSpPr>
              <p:cNvPr id="24705" name="Rectangle 283"/>
              <p:cNvSpPr>
                <a:spLocks noChangeArrowheads="1"/>
              </p:cNvSpPr>
              <p:nvPr/>
            </p:nvSpPr>
            <p:spPr bwMode="auto">
              <a:xfrm rot="-5400000">
                <a:off x="2664" y="3624"/>
                <a:ext cx="86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4706" name="Rectangle 284"/>
              <p:cNvSpPr>
                <a:spLocks noChangeArrowheads="1"/>
              </p:cNvSpPr>
              <p:nvPr/>
            </p:nvSpPr>
            <p:spPr bwMode="auto">
              <a:xfrm>
                <a:off x="3072" y="4032"/>
                <a:ext cx="2160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700" name="Text Box 285"/>
            <p:cNvSpPr txBox="1">
              <a:spLocks noChangeArrowheads="1"/>
            </p:cNvSpPr>
            <p:nvPr/>
          </p:nvSpPr>
          <p:spPr bwMode="auto">
            <a:xfrm>
              <a:off x="1655" y="2286"/>
              <a:ext cx="19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24701" name="Line 286"/>
            <p:cNvSpPr>
              <a:spLocks noChangeShapeType="1"/>
            </p:cNvSpPr>
            <p:nvPr/>
          </p:nvSpPr>
          <p:spPr bwMode="auto">
            <a:xfrm>
              <a:off x="249" y="2351"/>
              <a:ext cx="2041" cy="0"/>
            </a:xfrm>
            <a:prstGeom prst="line">
              <a:avLst/>
            </a:prstGeom>
            <a:noFill/>
            <a:ln w="57150">
              <a:solidFill>
                <a:srgbClr val="E8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2" name="Text Box 287"/>
            <p:cNvSpPr txBox="1">
              <a:spLocks noChangeArrowheads="1"/>
            </p:cNvSpPr>
            <p:nvPr/>
          </p:nvSpPr>
          <p:spPr bwMode="auto">
            <a:xfrm>
              <a:off x="1972" y="2024"/>
              <a:ext cx="17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4703" name="Text Box 290"/>
            <p:cNvSpPr txBox="1">
              <a:spLocks noChangeArrowheads="1"/>
            </p:cNvSpPr>
            <p:nvPr/>
          </p:nvSpPr>
          <p:spPr bwMode="auto">
            <a:xfrm>
              <a:off x="612" y="2296"/>
              <a:ext cx="23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-A</a:t>
              </a:r>
            </a:p>
          </p:txBody>
        </p:sp>
        <p:sp>
          <p:nvSpPr>
            <p:cNvPr id="24704" name="Text Box 327"/>
            <p:cNvSpPr txBox="1">
              <a:spLocks noChangeArrowheads="1"/>
            </p:cNvSpPr>
            <p:nvPr/>
          </p:nvSpPr>
          <p:spPr bwMode="auto">
            <a:xfrm>
              <a:off x="1292" y="2305"/>
              <a:ext cx="20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O</a:t>
              </a:r>
            </a:p>
          </p:txBody>
        </p:sp>
      </p:grpSp>
      <p:grpSp>
        <p:nvGrpSpPr>
          <p:cNvPr id="195985" name="Group 401"/>
          <p:cNvGrpSpPr>
            <a:grpSpLocks/>
          </p:cNvGrpSpPr>
          <p:nvPr/>
        </p:nvGrpSpPr>
        <p:grpSpPr bwMode="auto">
          <a:xfrm>
            <a:off x="1187450" y="3455988"/>
            <a:ext cx="3024188" cy="512762"/>
            <a:chOff x="249" y="2840"/>
            <a:chExt cx="2041" cy="544"/>
          </a:xfrm>
        </p:grpSpPr>
        <p:grpSp>
          <p:nvGrpSpPr>
            <p:cNvPr id="24663" name="Group 328"/>
            <p:cNvGrpSpPr>
              <a:grpSpLocks/>
            </p:cNvGrpSpPr>
            <p:nvPr/>
          </p:nvGrpSpPr>
          <p:grpSpPr bwMode="auto">
            <a:xfrm rot="-5400000">
              <a:off x="669" y="2566"/>
              <a:ext cx="159" cy="907"/>
              <a:chOff x="1104" y="1704"/>
              <a:chExt cx="288" cy="926"/>
            </a:xfrm>
          </p:grpSpPr>
          <p:grpSp>
            <p:nvGrpSpPr>
              <p:cNvPr id="24673" name="Group 329"/>
              <p:cNvGrpSpPr>
                <a:grpSpLocks/>
              </p:cNvGrpSpPr>
              <p:nvPr/>
            </p:nvGrpSpPr>
            <p:grpSpPr bwMode="auto">
              <a:xfrm>
                <a:off x="1104" y="1776"/>
                <a:ext cx="288" cy="854"/>
                <a:chOff x="1104" y="1776"/>
                <a:chExt cx="288" cy="854"/>
              </a:xfrm>
            </p:grpSpPr>
            <p:grpSp>
              <p:nvGrpSpPr>
                <p:cNvPr id="24675" name="Group 330"/>
                <p:cNvGrpSpPr>
                  <a:grpSpLocks/>
                </p:cNvGrpSpPr>
                <p:nvPr/>
              </p:nvGrpSpPr>
              <p:grpSpPr bwMode="auto">
                <a:xfrm>
                  <a:off x="1104" y="1776"/>
                  <a:ext cx="288" cy="768"/>
                  <a:chOff x="1104" y="1776"/>
                  <a:chExt cx="480" cy="768"/>
                </a:xfrm>
              </p:grpSpPr>
              <p:grpSp>
                <p:nvGrpSpPr>
                  <p:cNvPr id="24677" name="Group 331"/>
                  <p:cNvGrpSpPr>
                    <a:grpSpLocks/>
                  </p:cNvGrpSpPr>
                  <p:nvPr/>
                </p:nvGrpSpPr>
                <p:grpSpPr bwMode="auto">
                  <a:xfrm>
                    <a:off x="1104" y="2304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693" name="Oval 3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94" name="Oval 3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95" name="Oval 33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96" name="Oval 3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678" name="Group 336"/>
                  <p:cNvGrpSpPr>
                    <a:grpSpLocks/>
                  </p:cNvGrpSpPr>
                  <p:nvPr/>
                </p:nvGrpSpPr>
                <p:grpSpPr bwMode="auto">
                  <a:xfrm>
                    <a:off x="1104" y="2112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689" name="Oval 3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90" name="Oval 3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91" name="Oval 33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92" name="Oval 34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679" name="Group 341"/>
                  <p:cNvGrpSpPr>
                    <a:grpSpLocks/>
                  </p:cNvGrpSpPr>
                  <p:nvPr/>
                </p:nvGrpSpPr>
                <p:grpSpPr bwMode="auto">
                  <a:xfrm>
                    <a:off x="1104" y="1920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685" name="Oval 34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86" name="Oval 34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87" name="Oval 3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88" name="Oval 34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grpSp>
                <p:nvGrpSpPr>
                  <p:cNvPr id="24680" name="Group 346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480" cy="240"/>
                    <a:chOff x="1104" y="2304"/>
                    <a:chExt cx="480" cy="240"/>
                  </a:xfrm>
                </p:grpSpPr>
                <p:sp>
                  <p:nvSpPr>
                    <p:cNvPr id="24681" name="Oval 3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48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82" name="Oval 34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400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83" name="Oval 34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52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24684" name="Oval 3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104" y="2304"/>
                      <a:ext cx="480" cy="96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  <p:sp>
              <p:nvSpPr>
                <p:cNvPr id="24676" name="Freeform 351"/>
                <p:cNvSpPr>
                  <a:spLocks/>
                </p:cNvSpPr>
                <p:nvPr/>
              </p:nvSpPr>
              <p:spPr bwMode="auto">
                <a:xfrm>
                  <a:off x="1128" y="2496"/>
                  <a:ext cx="138" cy="134"/>
                </a:xfrm>
                <a:custGeom>
                  <a:avLst/>
                  <a:gdLst>
                    <a:gd name="T0" fmla="*/ 0 w 138"/>
                    <a:gd name="T1" fmla="*/ 2 h 134"/>
                    <a:gd name="T2" fmla="*/ 108 w 138"/>
                    <a:gd name="T3" fmla="*/ 134 h 134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8" h="134">
                      <a:moveTo>
                        <a:pt x="0" y="2"/>
                      </a:moveTo>
                      <a:cubicBezTo>
                        <a:pt x="138" y="48"/>
                        <a:pt x="108" y="0"/>
                        <a:pt x="108" y="134"/>
                      </a:cubicBez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674" name="Freeform 352"/>
              <p:cNvSpPr>
                <a:spLocks/>
              </p:cNvSpPr>
              <p:nvPr/>
            </p:nvSpPr>
            <p:spPr bwMode="auto">
              <a:xfrm>
                <a:off x="1104" y="1704"/>
                <a:ext cx="168" cy="144"/>
              </a:xfrm>
              <a:custGeom>
                <a:avLst/>
                <a:gdLst>
                  <a:gd name="T0" fmla="*/ 0 w 168"/>
                  <a:gd name="T1" fmla="*/ 132 h 144"/>
                  <a:gd name="T2" fmla="*/ 144 w 168"/>
                  <a:gd name="T3" fmla="*/ 108 h 144"/>
                  <a:gd name="T4" fmla="*/ 144 w 168"/>
                  <a:gd name="T5" fmla="*/ 0 h 1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44">
                    <a:moveTo>
                      <a:pt x="0" y="132"/>
                    </a:moveTo>
                    <a:cubicBezTo>
                      <a:pt x="46" y="117"/>
                      <a:pt x="111" y="144"/>
                      <a:pt x="144" y="108"/>
                    </a:cubicBezTo>
                    <a:cubicBezTo>
                      <a:pt x="168" y="81"/>
                      <a:pt x="144" y="36"/>
                      <a:pt x="144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4664" name="Oval 353"/>
            <p:cNvSpPr>
              <a:spLocks noChangeArrowheads="1"/>
            </p:cNvSpPr>
            <p:nvPr/>
          </p:nvSpPr>
          <p:spPr bwMode="auto">
            <a:xfrm rot="-5400000">
              <a:off x="1202" y="2894"/>
              <a:ext cx="227" cy="227"/>
            </a:xfrm>
            <a:prstGeom prst="ellipse">
              <a:avLst/>
            </a:prstGeom>
            <a:gradFill rotWithShape="0">
              <a:gsLst>
                <a:gs pos="0">
                  <a:srgbClr val="33CCFF"/>
                </a:gs>
                <a:gs pos="100000">
                  <a:srgbClr val="1D728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grpSp>
          <p:nvGrpSpPr>
            <p:cNvPr id="24665" name="Group 354"/>
            <p:cNvGrpSpPr>
              <a:grpSpLocks/>
            </p:cNvGrpSpPr>
            <p:nvPr/>
          </p:nvGrpSpPr>
          <p:grpSpPr bwMode="auto">
            <a:xfrm>
              <a:off x="249" y="2849"/>
              <a:ext cx="1917" cy="295"/>
              <a:chOff x="3072" y="3216"/>
              <a:chExt cx="2160" cy="864"/>
            </a:xfrm>
          </p:grpSpPr>
          <p:sp>
            <p:nvSpPr>
              <p:cNvPr id="24671" name="Rectangle 355"/>
              <p:cNvSpPr>
                <a:spLocks noChangeArrowheads="1"/>
              </p:cNvSpPr>
              <p:nvPr/>
            </p:nvSpPr>
            <p:spPr bwMode="auto">
              <a:xfrm rot="-5400000">
                <a:off x="2664" y="3624"/>
                <a:ext cx="86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4672" name="Rectangle 356"/>
              <p:cNvSpPr>
                <a:spLocks noChangeArrowheads="1"/>
              </p:cNvSpPr>
              <p:nvPr/>
            </p:nvSpPr>
            <p:spPr bwMode="auto">
              <a:xfrm>
                <a:off x="3072" y="4032"/>
                <a:ext cx="2160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4666" name="Text Box 357"/>
            <p:cNvSpPr txBox="1">
              <a:spLocks noChangeArrowheads="1"/>
            </p:cNvSpPr>
            <p:nvPr/>
          </p:nvSpPr>
          <p:spPr bwMode="auto">
            <a:xfrm>
              <a:off x="1655" y="3102"/>
              <a:ext cx="19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24667" name="Line 358"/>
            <p:cNvSpPr>
              <a:spLocks noChangeShapeType="1"/>
            </p:cNvSpPr>
            <p:nvPr/>
          </p:nvSpPr>
          <p:spPr bwMode="auto">
            <a:xfrm>
              <a:off x="249" y="3121"/>
              <a:ext cx="2041" cy="0"/>
            </a:xfrm>
            <a:prstGeom prst="line">
              <a:avLst/>
            </a:prstGeom>
            <a:noFill/>
            <a:ln w="57150">
              <a:solidFill>
                <a:srgbClr val="E8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68" name="Text Box 359"/>
            <p:cNvSpPr txBox="1">
              <a:spLocks noChangeArrowheads="1"/>
            </p:cNvSpPr>
            <p:nvPr/>
          </p:nvSpPr>
          <p:spPr bwMode="auto">
            <a:xfrm>
              <a:off x="1972" y="2840"/>
              <a:ext cx="17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4669" name="Text Box 360"/>
            <p:cNvSpPr txBox="1">
              <a:spLocks noChangeArrowheads="1"/>
            </p:cNvSpPr>
            <p:nvPr/>
          </p:nvSpPr>
          <p:spPr bwMode="auto">
            <a:xfrm>
              <a:off x="612" y="3112"/>
              <a:ext cx="23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-A</a:t>
              </a:r>
            </a:p>
          </p:txBody>
        </p:sp>
        <p:sp>
          <p:nvSpPr>
            <p:cNvPr id="24670" name="Text Box 361"/>
            <p:cNvSpPr txBox="1">
              <a:spLocks noChangeArrowheads="1"/>
            </p:cNvSpPr>
            <p:nvPr/>
          </p:nvSpPr>
          <p:spPr bwMode="auto">
            <a:xfrm>
              <a:off x="1287" y="3112"/>
              <a:ext cx="20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O</a:t>
              </a:r>
            </a:p>
          </p:txBody>
        </p:sp>
      </p:grpSp>
      <p:grpSp>
        <p:nvGrpSpPr>
          <p:cNvPr id="195946" name="Group 362"/>
          <p:cNvGrpSpPr>
            <a:grpSpLocks/>
          </p:cNvGrpSpPr>
          <p:nvPr/>
        </p:nvGrpSpPr>
        <p:grpSpPr bwMode="auto">
          <a:xfrm>
            <a:off x="1187450" y="4227513"/>
            <a:ext cx="3024188" cy="514350"/>
            <a:chOff x="249" y="527"/>
            <a:chExt cx="2041" cy="544"/>
          </a:xfrm>
        </p:grpSpPr>
        <p:grpSp>
          <p:nvGrpSpPr>
            <p:cNvPr id="24627" name="Group 363"/>
            <p:cNvGrpSpPr>
              <a:grpSpLocks/>
            </p:cNvGrpSpPr>
            <p:nvPr/>
          </p:nvGrpSpPr>
          <p:grpSpPr bwMode="auto">
            <a:xfrm>
              <a:off x="249" y="527"/>
              <a:ext cx="2041" cy="534"/>
              <a:chOff x="204" y="482"/>
              <a:chExt cx="2041" cy="534"/>
            </a:xfrm>
          </p:grpSpPr>
          <p:grpSp>
            <p:nvGrpSpPr>
              <p:cNvPr id="24629" name="Group 364"/>
              <p:cNvGrpSpPr>
                <a:grpSpLocks/>
              </p:cNvGrpSpPr>
              <p:nvPr/>
            </p:nvGrpSpPr>
            <p:grpSpPr bwMode="auto">
              <a:xfrm>
                <a:off x="204" y="504"/>
                <a:ext cx="1917" cy="295"/>
                <a:chOff x="204" y="255"/>
                <a:chExt cx="1917" cy="295"/>
              </a:xfrm>
            </p:grpSpPr>
            <p:grpSp>
              <p:nvGrpSpPr>
                <p:cNvPr id="24634" name="Group 365"/>
                <p:cNvGrpSpPr>
                  <a:grpSpLocks/>
                </p:cNvGrpSpPr>
                <p:nvPr/>
              </p:nvGrpSpPr>
              <p:grpSpPr bwMode="auto">
                <a:xfrm rot="-5400000">
                  <a:off x="818" y="-222"/>
                  <a:ext cx="136" cy="1271"/>
                  <a:chOff x="1104" y="1704"/>
                  <a:chExt cx="288" cy="926"/>
                </a:xfrm>
              </p:grpSpPr>
              <p:grpSp>
                <p:nvGrpSpPr>
                  <p:cNvPr id="24639" name="Group 366"/>
                  <p:cNvGrpSpPr>
                    <a:grpSpLocks/>
                  </p:cNvGrpSpPr>
                  <p:nvPr/>
                </p:nvGrpSpPr>
                <p:grpSpPr bwMode="auto">
                  <a:xfrm>
                    <a:off x="1104" y="1776"/>
                    <a:ext cx="288" cy="854"/>
                    <a:chOff x="1104" y="1776"/>
                    <a:chExt cx="288" cy="854"/>
                  </a:xfrm>
                </p:grpSpPr>
                <p:grpSp>
                  <p:nvGrpSpPr>
                    <p:cNvPr id="24641" name="Group 36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104" y="1776"/>
                      <a:ext cx="288" cy="768"/>
                      <a:chOff x="1104" y="1776"/>
                      <a:chExt cx="480" cy="768"/>
                    </a:xfrm>
                  </p:grpSpPr>
                  <p:grpSp>
                    <p:nvGrpSpPr>
                      <p:cNvPr id="24643" name="Group 3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2304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659" name="Oval 36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60" name="Oval 37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61" name="Oval 37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62" name="Oval 37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4644" name="Group 37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2112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655" name="Oval 37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6" name="Oval 37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7" name="Oval 37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8" name="Oval 37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4645" name="Group 37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1920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651" name="Oval 379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2" name="Oval 380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3" name="Oval 381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4" name="Oval 382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  <p:grpSp>
                    <p:nvGrpSpPr>
                      <p:cNvPr id="24646" name="Group 38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04" y="1776"/>
                        <a:ext cx="480" cy="240"/>
                        <a:chOff x="1104" y="2304"/>
                        <a:chExt cx="480" cy="240"/>
                      </a:xfrm>
                    </p:grpSpPr>
                    <p:sp>
                      <p:nvSpPr>
                        <p:cNvPr id="24647" name="Oval 384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48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48" name="Oval 38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400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49" name="Oval 386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52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  <p:sp>
                      <p:nvSpPr>
                        <p:cNvPr id="24650" name="Oval 387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1104" y="2304"/>
                          <a:ext cx="480" cy="96"/>
                        </a:xfrm>
                        <a:prstGeom prst="ellips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  <p:txBody>
                        <a:bodyPr wrap="none" anchor="ctr"/>
                        <a:lstStyle/>
                        <a:p>
                          <a:endParaRPr lang="zh-CN" altLang="en-US">
                            <a:solidFill>
                              <a:srgbClr val="000000"/>
                            </a:solidFill>
                          </a:endParaRPr>
                        </a:p>
                      </p:txBody>
                    </p:sp>
                  </p:grpSp>
                </p:grpSp>
                <p:sp>
                  <p:nvSpPr>
                    <p:cNvPr id="24642" name="Freeform 388"/>
                    <p:cNvSpPr>
                      <a:spLocks/>
                    </p:cNvSpPr>
                    <p:nvPr/>
                  </p:nvSpPr>
                  <p:spPr bwMode="auto">
                    <a:xfrm>
                      <a:off x="1128" y="2496"/>
                      <a:ext cx="138" cy="134"/>
                    </a:xfrm>
                    <a:custGeom>
                      <a:avLst/>
                      <a:gdLst>
                        <a:gd name="T0" fmla="*/ 0 w 138"/>
                        <a:gd name="T1" fmla="*/ 2 h 134"/>
                        <a:gd name="T2" fmla="*/ 108 w 138"/>
                        <a:gd name="T3" fmla="*/ 134 h 134"/>
                        <a:gd name="T4" fmla="*/ 0 60000 65536"/>
                        <a:gd name="T5" fmla="*/ 0 60000 65536"/>
                      </a:gdLst>
                      <a:ahLst/>
                      <a:cxnLst>
                        <a:cxn ang="T4">
                          <a:pos x="T0" y="T1"/>
                        </a:cxn>
                        <a:cxn ang="T5">
                          <a:pos x="T2" y="T3"/>
                        </a:cxn>
                      </a:cxnLst>
                      <a:rect l="0" t="0" r="r" b="b"/>
                      <a:pathLst>
                        <a:path w="138" h="134">
                          <a:moveTo>
                            <a:pt x="0" y="2"/>
                          </a:moveTo>
                          <a:cubicBezTo>
                            <a:pt x="138" y="48"/>
                            <a:pt x="108" y="0"/>
                            <a:pt x="108" y="134"/>
                          </a:cubicBezTo>
                        </a:path>
                      </a:pathLst>
                    </a:custGeom>
                    <a:noFill/>
                    <a:ln w="38100" cmpd="sng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4640" name="Freeform 389"/>
                  <p:cNvSpPr>
                    <a:spLocks/>
                  </p:cNvSpPr>
                  <p:nvPr/>
                </p:nvSpPr>
                <p:spPr bwMode="auto">
                  <a:xfrm>
                    <a:off x="1104" y="1704"/>
                    <a:ext cx="168" cy="144"/>
                  </a:xfrm>
                  <a:custGeom>
                    <a:avLst/>
                    <a:gdLst>
                      <a:gd name="T0" fmla="*/ 0 w 168"/>
                      <a:gd name="T1" fmla="*/ 132 h 144"/>
                      <a:gd name="T2" fmla="*/ 144 w 168"/>
                      <a:gd name="T3" fmla="*/ 108 h 144"/>
                      <a:gd name="T4" fmla="*/ 144 w 168"/>
                      <a:gd name="T5" fmla="*/ 0 h 1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68" h="144">
                        <a:moveTo>
                          <a:pt x="0" y="132"/>
                        </a:moveTo>
                        <a:cubicBezTo>
                          <a:pt x="46" y="117"/>
                          <a:pt x="111" y="144"/>
                          <a:pt x="144" y="108"/>
                        </a:cubicBezTo>
                        <a:cubicBezTo>
                          <a:pt x="168" y="81"/>
                          <a:pt x="144" y="36"/>
                          <a:pt x="144" y="0"/>
                        </a:cubicBezTo>
                      </a:path>
                    </a:pathLst>
                  </a:custGeom>
                  <a:noFill/>
                  <a:ln w="38100" cmpd="sng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4635" name="Oval 390"/>
                <p:cNvSpPr>
                  <a:spLocks noChangeArrowheads="1"/>
                </p:cNvSpPr>
                <p:nvPr/>
              </p:nvSpPr>
              <p:spPr bwMode="auto">
                <a:xfrm rot="-5400000">
                  <a:off x="1520" y="300"/>
                  <a:ext cx="227" cy="227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33CCFF"/>
                    </a:gs>
                    <a:gs pos="100000">
                      <a:srgbClr val="1D728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grpSp>
              <p:nvGrpSpPr>
                <p:cNvPr id="24636" name="Group 391"/>
                <p:cNvGrpSpPr>
                  <a:grpSpLocks/>
                </p:cNvGrpSpPr>
                <p:nvPr/>
              </p:nvGrpSpPr>
              <p:grpSpPr bwMode="auto">
                <a:xfrm>
                  <a:off x="204" y="255"/>
                  <a:ext cx="1917" cy="295"/>
                  <a:chOff x="3072" y="3216"/>
                  <a:chExt cx="2160" cy="864"/>
                </a:xfrm>
              </p:grpSpPr>
              <p:sp>
                <p:nvSpPr>
                  <p:cNvPr id="24637" name="Rectangle 39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2664" y="3624"/>
                    <a:ext cx="864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4638" name="Rectangle 393"/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4032"/>
                    <a:ext cx="2160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sp>
            <p:nvSpPr>
              <p:cNvPr id="24630" name="Text Box 394"/>
              <p:cNvSpPr txBox="1">
                <a:spLocks noChangeArrowheads="1"/>
              </p:cNvSpPr>
              <p:nvPr/>
            </p:nvSpPr>
            <p:spPr bwMode="auto">
              <a:xfrm>
                <a:off x="1610" y="744"/>
                <a:ext cx="197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lang="en-US" altLang="zh-CN" sz="1500" i="1">
                    <a:solidFill>
                      <a:srgbClr val="0000FF"/>
                    </a:solidFill>
                    <a:ea typeface="宋体" pitchFamily="2" charset="-122"/>
                  </a:rPr>
                  <a:t>A</a:t>
                </a:r>
              </a:p>
            </p:txBody>
          </p:sp>
          <p:sp>
            <p:nvSpPr>
              <p:cNvPr id="24631" name="Line 395"/>
              <p:cNvSpPr>
                <a:spLocks noChangeShapeType="1"/>
              </p:cNvSpPr>
              <p:nvPr/>
            </p:nvSpPr>
            <p:spPr bwMode="auto">
              <a:xfrm>
                <a:off x="204" y="799"/>
                <a:ext cx="2041" cy="0"/>
              </a:xfrm>
              <a:prstGeom prst="line">
                <a:avLst/>
              </a:prstGeom>
              <a:noFill/>
              <a:ln w="57150">
                <a:solidFill>
                  <a:srgbClr val="E8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2" name="Text Box 396"/>
              <p:cNvSpPr txBox="1">
                <a:spLocks noChangeArrowheads="1"/>
              </p:cNvSpPr>
              <p:nvPr/>
            </p:nvSpPr>
            <p:spPr bwMode="auto">
              <a:xfrm>
                <a:off x="1927" y="482"/>
                <a:ext cx="177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lang="en-US" altLang="zh-CN" sz="1500" i="1">
                    <a:solidFill>
                      <a:srgbClr val="0000FF"/>
                    </a:solidFill>
                    <a:ea typeface="宋体" pitchFamily="2" charset="-122"/>
                  </a:rPr>
                  <a:t>x</a:t>
                </a:r>
              </a:p>
            </p:txBody>
          </p:sp>
          <p:sp>
            <p:nvSpPr>
              <p:cNvPr id="24633" name="Text Box 397"/>
              <p:cNvSpPr txBox="1">
                <a:spLocks noChangeArrowheads="1"/>
              </p:cNvSpPr>
              <p:nvPr/>
            </p:nvSpPr>
            <p:spPr bwMode="auto">
              <a:xfrm>
                <a:off x="567" y="744"/>
                <a:ext cx="237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lang="en-US" altLang="zh-CN" sz="1500" i="1">
                    <a:solidFill>
                      <a:srgbClr val="0000FF"/>
                    </a:solidFill>
                    <a:ea typeface="宋体" pitchFamily="2" charset="-122"/>
                  </a:rPr>
                  <a:t>-A</a:t>
                </a:r>
              </a:p>
            </p:txBody>
          </p:sp>
        </p:grpSp>
        <p:sp>
          <p:nvSpPr>
            <p:cNvPr id="24628" name="Text Box 398"/>
            <p:cNvSpPr txBox="1">
              <a:spLocks noChangeArrowheads="1"/>
            </p:cNvSpPr>
            <p:nvPr/>
          </p:nvSpPr>
          <p:spPr bwMode="auto">
            <a:xfrm>
              <a:off x="1287" y="799"/>
              <a:ext cx="204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1500" i="1">
                  <a:solidFill>
                    <a:srgbClr val="0000FF"/>
                  </a:solidFill>
                  <a:ea typeface="宋体" pitchFamily="2" charset="-122"/>
                </a:rPr>
                <a:t>O</a:t>
              </a:r>
            </a:p>
          </p:txBody>
        </p:sp>
      </p:grpSp>
      <p:sp>
        <p:nvSpPr>
          <p:cNvPr id="195986" name="Line 402"/>
          <p:cNvSpPr>
            <a:spLocks noChangeShapeType="1"/>
          </p:cNvSpPr>
          <p:nvPr/>
        </p:nvSpPr>
        <p:spPr bwMode="auto">
          <a:xfrm>
            <a:off x="3473450" y="1366838"/>
            <a:ext cx="19050" cy="3152775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987" name="Line 403"/>
          <p:cNvSpPr>
            <a:spLocks noChangeShapeType="1"/>
          </p:cNvSpPr>
          <p:nvPr/>
        </p:nvSpPr>
        <p:spPr bwMode="auto">
          <a:xfrm>
            <a:off x="2867025" y="1366838"/>
            <a:ext cx="25400" cy="316071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5988" name="Line 404"/>
          <p:cNvSpPr>
            <a:spLocks noChangeShapeType="1"/>
          </p:cNvSpPr>
          <p:nvPr/>
        </p:nvSpPr>
        <p:spPr bwMode="auto">
          <a:xfrm>
            <a:off x="2265363" y="1379538"/>
            <a:ext cx="3175" cy="3148012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6005" name="Group 421"/>
          <p:cNvGrpSpPr>
            <a:grpSpLocks/>
          </p:cNvGrpSpPr>
          <p:nvPr/>
        </p:nvGrpSpPr>
        <p:grpSpPr bwMode="auto">
          <a:xfrm>
            <a:off x="6410325" y="830263"/>
            <a:ext cx="258763" cy="804862"/>
            <a:chOff x="3153" y="255"/>
            <a:chExt cx="181" cy="796"/>
          </a:xfrm>
        </p:grpSpPr>
        <p:sp>
          <p:nvSpPr>
            <p:cNvPr id="24625" name="Line 82"/>
            <p:cNvSpPr>
              <a:spLocks noChangeShapeType="1"/>
            </p:cNvSpPr>
            <p:nvPr/>
          </p:nvSpPr>
          <p:spPr bwMode="auto">
            <a:xfrm flipV="1">
              <a:off x="3320" y="346"/>
              <a:ext cx="0" cy="7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26" name="Object 412"/>
            <p:cNvGraphicFramePr>
              <a:graphicFrameLocks noChangeAspect="1"/>
            </p:cNvGraphicFramePr>
            <p:nvPr/>
          </p:nvGraphicFramePr>
          <p:xfrm>
            <a:off x="3153" y="255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2" name="Equation" r:id="rId4" imgW="139700" imgH="139700" progId="Equation.DSMT4">
                    <p:embed/>
                  </p:oleObj>
                </mc:Choice>
                <mc:Fallback>
                  <p:oleObj name="Equation" r:id="rId4" imgW="139700" imgH="139700" progId="Equation.DSMT4">
                    <p:embed/>
                    <p:pic>
                      <p:nvPicPr>
                        <p:cNvPr id="0" name="Object 4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3" y="255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04" name="Group 420"/>
          <p:cNvGrpSpPr>
            <a:grpSpLocks/>
          </p:cNvGrpSpPr>
          <p:nvPr/>
        </p:nvGrpSpPr>
        <p:grpSpPr bwMode="auto">
          <a:xfrm>
            <a:off x="6697663" y="830263"/>
            <a:ext cx="258762" cy="804862"/>
            <a:chOff x="3334" y="255"/>
            <a:chExt cx="181" cy="796"/>
          </a:xfrm>
        </p:grpSpPr>
        <p:sp>
          <p:nvSpPr>
            <p:cNvPr id="24623" name="Line 406"/>
            <p:cNvSpPr>
              <a:spLocks noChangeShapeType="1"/>
            </p:cNvSpPr>
            <p:nvPr/>
          </p:nvSpPr>
          <p:spPr bwMode="auto">
            <a:xfrm flipV="1">
              <a:off x="3515" y="346"/>
              <a:ext cx="0" cy="7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24" name="Object 413"/>
            <p:cNvGraphicFramePr>
              <a:graphicFrameLocks noChangeAspect="1"/>
            </p:cNvGraphicFramePr>
            <p:nvPr/>
          </p:nvGraphicFramePr>
          <p:xfrm>
            <a:off x="3334" y="255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3" name="Equation" r:id="rId6" imgW="139700" imgH="139700" progId="Equation.DSMT4">
                    <p:embed/>
                  </p:oleObj>
                </mc:Choice>
                <mc:Fallback>
                  <p:oleObj name="Equation" r:id="rId6" imgW="139700" imgH="139700" progId="Equation.DSMT4">
                    <p:embed/>
                    <p:pic>
                      <p:nvPicPr>
                        <p:cNvPr id="0" name="Object 4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255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03" name="Group 419"/>
          <p:cNvGrpSpPr>
            <a:grpSpLocks/>
          </p:cNvGrpSpPr>
          <p:nvPr/>
        </p:nvGrpSpPr>
        <p:grpSpPr bwMode="auto">
          <a:xfrm>
            <a:off x="6985000" y="830263"/>
            <a:ext cx="258763" cy="804862"/>
            <a:chOff x="3515" y="255"/>
            <a:chExt cx="181" cy="796"/>
          </a:xfrm>
        </p:grpSpPr>
        <p:sp>
          <p:nvSpPr>
            <p:cNvPr id="24621" name="Line 407"/>
            <p:cNvSpPr>
              <a:spLocks noChangeShapeType="1"/>
            </p:cNvSpPr>
            <p:nvPr/>
          </p:nvSpPr>
          <p:spPr bwMode="auto">
            <a:xfrm flipV="1">
              <a:off x="3696" y="346"/>
              <a:ext cx="0" cy="7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22" name="Object 414"/>
            <p:cNvGraphicFramePr>
              <a:graphicFrameLocks noChangeAspect="1"/>
            </p:cNvGraphicFramePr>
            <p:nvPr/>
          </p:nvGraphicFramePr>
          <p:xfrm>
            <a:off x="3515" y="255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4" name="Equation" r:id="rId7" imgW="139700" imgH="139700" progId="Equation.DSMT4">
                    <p:embed/>
                  </p:oleObj>
                </mc:Choice>
                <mc:Fallback>
                  <p:oleObj name="Equation" r:id="rId7" imgW="139700" imgH="139700" progId="Equation.DSMT4">
                    <p:embed/>
                    <p:pic>
                      <p:nvPicPr>
                        <p:cNvPr id="0" name="Object 4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255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02" name="Group 418"/>
          <p:cNvGrpSpPr>
            <a:grpSpLocks/>
          </p:cNvGrpSpPr>
          <p:nvPr/>
        </p:nvGrpSpPr>
        <p:grpSpPr bwMode="auto">
          <a:xfrm>
            <a:off x="7345363" y="830263"/>
            <a:ext cx="258762" cy="804862"/>
            <a:chOff x="3742" y="255"/>
            <a:chExt cx="181" cy="796"/>
          </a:xfrm>
        </p:grpSpPr>
        <p:sp>
          <p:nvSpPr>
            <p:cNvPr id="24619" name="Line 408"/>
            <p:cNvSpPr>
              <a:spLocks noChangeShapeType="1"/>
            </p:cNvSpPr>
            <p:nvPr/>
          </p:nvSpPr>
          <p:spPr bwMode="auto">
            <a:xfrm flipV="1">
              <a:off x="3923" y="346"/>
              <a:ext cx="0" cy="7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20" name="Object 415"/>
            <p:cNvGraphicFramePr>
              <a:graphicFrameLocks noChangeAspect="1"/>
            </p:cNvGraphicFramePr>
            <p:nvPr/>
          </p:nvGraphicFramePr>
          <p:xfrm>
            <a:off x="3742" y="255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5" name="Equation" r:id="rId8" imgW="139700" imgH="139700" progId="Equation.DSMT4">
                    <p:embed/>
                  </p:oleObj>
                </mc:Choice>
                <mc:Fallback>
                  <p:oleObj name="Equation" r:id="rId8" imgW="139700" imgH="139700" progId="Equation.DSMT4">
                    <p:embed/>
                    <p:pic>
                      <p:nvPicPr>
                        <p:cNvPr id="0" name="Object 4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255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01" name="Group 417"/>
          <p:cNvGrpSpPr>
            <a:grpSpLocks/>
          </p:cNvGrpSpPr>
          <p:nvPr/>
        </p:nvGrpSpPr>
        <p:grpSpPr bwMode="auto">
          <a:xfrm>
            <a:off x="7632700" y="830263"/>
            <a:ext cx="258763" cy="804862"/>
            <a:chOff x="3924" y="255"/>
            <a:chExt cx="181" cy="796"/>
          </a:xfrm>
        </p:grpSpPr>
        <p:sp>
          <p:nvSpPr>
            <p:cNvPr id="24617" name="Line 409"/>
            <p:cNvSpPr>
              <a:spLocks noChangeShapeType="1"/>
            </p:cNvSpPr>
            <p:nvPr/>
          </p:nvSpPr>
          <p:spPr bwMode="auto">
            <a:xfrm flipV="1">
              <a:off x="4105" y="346"/>
              <a:ext cx="0" cy="7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4618" name="Object 416"/>
            <p:cNvGraphicFramePr>
              <a:graphicFrameLocks noChangeAspect="1"/>
            </p:cNvGraphicFramePr>
            <p:nvPr/>
          </p:nvGraphicFramePr>
          <p:xfrm>
            <a:off x="3924" y="255"/>
            <a:ext cx="181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6" name="Equation" r:id="rId9" imgW="139700" imgH="139700" progId="Equation.DSMT4">
                    <p:embed/>
                  </p:oleObj>
                </mc:Choice>
                <mc:Fallback>
                  <p:oleObj name="Equation" r:id="rId9" imgW="139700" imgH="139700" progId="Equation.DSMT4">
                    <p:embed/>
                    <p:pic>
                      <p:nvPicPr>
                        <p:cNvPr id="0" name="Object 4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" y="255"/>
                          <a:ext cx="181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6006" name="Object 422"/>
          <p:cNvGraphicFramePr>
            <a:graphicFrameLocks noChangeAspect="1"/>
          </p:cNvGraphicFramePr>
          <p:nvPr/>
        </p:nvGraphicFramePr>
        <p:xfrm>
          <a:off x="4430713" y="1419225"/>
          <a:ext cx="2198687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7" name="Equation" r:id="rId10" imgW="1218671" imgH="431613" progId="Equation.DSMT4">
                  <p:embed/>
                </p:oleObj>
              </mc:Choice>
              <mc:Fallback>
                <p:oleObj name="Equation" r:id="rId10" imgW="1218671" imgH="431613" progId="Equation.DSMT4">
                  <p:embed/>
                  <p:pic>
                    <p:nvPicPr>
                      <p:cNvPr id="0" name="Object 4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0713" y="1419225"/>
                        <a:ext cx="2198687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029" name="Group 445"/>
          <p:cNvGrpSpPr>
            <a:grpSpLocks/>
          </p:cNvGrpSpPr>
          <p:nvPr/>
        </p:nvGrpSpPr>
        <p:grpSpPr bwMode="auto">
          <a:xfrm>
            <a:off x="4211638" y="2946400"/>
            <a:ext cx="3417887" cy="333375"/>
            <a:chOff x="2744" y="2606"/>
            <a:chExt cx="2153" cy="280"/>
          </a:xfrm>
        </p:grpSpPr>
        <p:sp>
          <p:nvSpPr>
            <p:cNvPr id="24615" name="Text Box 423"/>
            <p:cNvSpPr txBox="1">
              <a:spLocks noChangeArrowheads="1"/>
            </p:cNvSpPr>
            <p:nvPr/>
          </p:nvSpPr>
          <p:spPr bwMode="auto">
            <a:xfrm>
              <a:off x="2744" y="2606"/>
              <a:ext cx="63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4616" name="Object 424"/>
            <p:cNvGraphicFramePr>
              <a:graphicFrameLocks noChangeAspect="1"/>
            </p:cNvGraphicFramePr>
            <p:nvPr/>
          </p:nvGraphicFramePr>
          <p:xfrm>
            <a:off x="3334" y="2638"/>
            <a:ext cx="1563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8" name="公式" r:id="rId12" imgW="1117115" imgH="177723" progId="Equation.3">
                    <p:embed/>
                  </p:oleObj>
                </mc:Choice>
                <mc:Fallback>
                  <p:oleObj name="公式" r:id="rId12" imgW="1117115" imgH="177723" progId="Equation.3">
                    <p:embed/>
                    <p:pic>
                      <p:nvPicPr>
                        <p:cNvPr id="0" name="Object 4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2638"/>
                          <a:ext cx="1563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30" name="Group 446"/>
          <p:cNvGrpSpPr>
            <a:grpSpLocks/>
          </p:cNvGrpSpPr>
          <p:nvPr/>
        </p:nvGrpSpPr>
        <p:grpSpPr bwMode="auto">
          <a:xfrm>
            <a:off x="4427538" y="1762125"/>
            <a:ext cx="4105275" cy="1350963"/>
            <a:chOff x="2789" y="1435"/>
            <a:chExt cx="2586" cy="1134"/>
          </a:xfrm>
        </p:grpSpPr>
        <p:graphicFrame>
          <p:nvGraphicFramePr>
            <p:cNvPr id="24608" name="Object 426"/>
            <p:cNvGraphicFramePr>
              <a:graphicFrameLocks noChangeAspect="1"/>
            </p:cNvGraphicFramePr>
            <p:nvPr/>
          </p:nvGraphicFramePr>
          <p:xfrm>
            <a:off x="2789" y="1525"/>
            <a:ext cx="2359" cy="9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29" name="Graph" r:id="rId14" imgW="3341827" imgH="2598115" progId="Origin50.Graph">
                    <p:embed/>
                  </p:oleObj>
                </mc:Choice>
                <mc:Fallback>
                  <p:oleObj name="Graph" r:id="rId14" imgW="3341827" imgH="2598115" progId="Origin50.Graph">
                    <p:embed/>
                    <p:pic>
                      <p:nvPicPr>
                        <p:cNvPr id="0" name="Object 4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525"/>
                          <a:ext cx="2359" cy="9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9" name="Line 427"/>
            <p:cNvSpPr>
              <a:spLocks noChangeShapeType="1"/>
            </p:cNvSpPr>
            <p:nvPr/>
          </p:nvSpPr>
          <p:spPr bwMode="auto">
            <a:xfrm>
              <a:off x="2925" y="2024"/>
              <a:ext cx="222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Line 428"/>
            <p:cNvSpPr>
              <a:spLocks noChangeShapeType="1"/>
            </p:cNvSpPr>
            <p:nvPr/>
          </p:nvSpPr>
          <p:spPr bwMode="auto">
            <a:xfrm flipV="1">
              <a:off x="3969" y="1570"/>
              <a:ext cx="0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429"/>
            <p:cNvSpPr>
              <a:spLocks noChangeShapeType="1"/>
            </p:cNvSpPr>
            <p:nvPr/>
          </p:nvSpPr>
          <p:spPr bwMode="auto">
            <a:xfrm>
              <a:off x="2880" y="2387"/>
              <a:ext cx="21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Line 430"/>
            <p:cNvSpPr>
              <a:spLocks noChangeShapeType="1"/>
            </p:cNvSpPr>
            <p:nvPr/>
          </p:nvSpPr>
          <p:spPr bwMode="auto">
            <a:xfrm>
              <a:off x="2880" y="1661"/>
              <a:ext cx="21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4613" name="Object 432"/>
            <p:cNvGraphicFramePr>
              <a:graphicFrameLocks noChangeAspect="1"/>
            </p:cNvGraphicFramePr>
            <p:nvPr/>
          </p:nvGraphicFramePr>
          <p:xfrm>
            <a:off x="5122" y="1435"/>
            <a:ext cx="253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30" name="Equation" r:id="rId16" imgW="126890" imgH="228402" progId="Equation.DSMT4">
                    <p:embed/>
                  </p:oleObj>
                </mc:Choice>
                <mc:Fallback>
                  <p:oleObj name="Equation" r:id="rId16" imgW="126890" imgH="228402" progId="Equation.DSMT4">
                    <p:embed/>
                    <p:pic>
                      <p:nvPicPr>
                        <p:cNvPr id="0" name="Object 4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2" y="1435"/>
                          <a:ext cx="253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614" name="Object 433"/>
            <p:cNvGraphicFramePr>
              <a:graphicFrameLocks noChangeAspect="1"/>
            </p:cNvGraphicFramePr>
            <p:nvPr/>
          </p:nvGraphicFramePr>
          <p:xfrm>
            <a:off x="5068" y="2115"/>
            <a:ext cx="300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31" name="Equation" r:id="rId18" imgW="266469" imgH="406048" progId="Equation.DSMT4">
                    <p:embed/>
                  </p:oleObj>
                </mc:Choice>
                <mc:Fallback>
                  <p:oleObj name="Equation" r:id="rId18" imgW="266469" imgH="406048" progId="Equation.DSMT4">
                    <p:embed/>
                    <p:pic>
                      <p:nvPicPr>
                        <p:cNvPr id="0" name="Object 4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8" y="2115"/>
                          <a:ext cx="300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34" name="Group 450"/>
          <p:cNvGrpSpPr>
            <a:grpSpLocks/>
          </p:cNvGrpSpPr>
          <p:nvPr/>
        </p:nvGrpSpPr>
        <p:grpSpPr bwMode="auto">
          <a:xfrm>
            <a:off x="4211638" y="4316413"/>
            <a:ext cx="3417887" cy="342900"/>
            <a:chOff x="2653" y="3756"/>
            <a:chExt cx="2153" cy="289"/>
          </a:xfrm>
        </p:grpSpPr>
        <p:graphicFrame>
          <p:nvGraphicFramePr>
            <p:cNvPr id="24606" name="Object 431"/>
            <p:cNvGraphicFramePr>
              <a:graphicFrameLocks noChangeAspect="1"/>
            </p:cNvGraphicFramePr>
            <p:nvPr/>
          </p:nvGraphicFramePr>
          <p:xfrm>
            <a:off x="3243" y="3811"/>
            <a:ext cx="1563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32" name="公式" r:id="rId20" imgW="1180588" imgH="177723" progId="Equation.3">
                    <p:embed/>
                  </p:oleObj>
                </mc:Choice>
                <mc:Fallback>
                  <p:oleObj name="公式" r:id="rId20" imgW="1180588" imgH="177723" progId="Equation.3">
                    <p:embed/>
                    <p:pic>
                      <p:nvPicPr>
                        <p:cNvPr id="0" name="Object 4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3811"/>
                          <a:ext cx="1563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07" name="Text Box 437"/>
            <p:cNvSpPr txBox="1">
              <a:spLocks noChangeArrowheads="1"/>
            </p:cNvSpPr>
            <p:nvPr/>
          </p:nvSpPr>
          <p:spPr bwMode="auto">
            <a:xfrm>
              <a:off x="2653" y="3756"/>
              <a:ext cx="63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5</a:t>
              </a:r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</p:grpSp>
      <p:grpSp>
        <p:nvGrpSpPr>
          <p:cNvPr id="196031" name="Group 447"/>
          <p:cNvGrpSpPr>
            <a:grpSpLocks/>
          </p:cNvGrpSpPr>
          <p:nvPr/>
        </p:nvGrpSpPr>
        <p:grpSpPr bwMode="auto">
          <a:xfrm>
            <a:off x="4211638" y="3289300"/>
            <a:ext cx="4083050" cy="342900"/>
            <a:chOff x="2653" y="2894"/>
            <a:chExt cx="2572" cy="289"/>
          </a:xfrm>
        </p:grpSpPr>
        <p:sp>
          <p:nvSpPr>
            <p:cNvPr id="24604" name="Text Box 434"/>
            <p:cNvSpPr txBox="1">
              <a:spLocks noChangeArrowheads="1"/>
            </p:cNvSpPr>
            <p:nvPr/>
          </p:nvSpPr>
          <p:spPr bwMode="auto">
            <a:xfrm>
              <a:off x="2653" y="2894"/>
              <a:ext cx="63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4605" name="Object 438"/>
            <p:cNvGraphicFramePr>
              <a:graphicFrameLocks noChangeAspect="1"/>
            </p:cNvGraphicFramePr>
            <p:nvPr/>
          </p:nvGraphicFramePr>
          <p:xfrm>
            <a:off x="3253" y="2924"/>
            <a:ext cx="1972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33" name="公式" r:id="rId22" imgW="1345616" imgH="177723" progId="Equation.3">
                    <p:embed/>
                  </p:oleObj>
                </mc:Choice>
                <mc:Fallback>
                  <p:oleObj name="公式" r:id="rId22" imgW="1345616" imgH="177723" progId="Equation.3">
                    <p:embed/>
                    <p:pic>
                      <p:nvPicPr>
                        <p:cNvPr id="0" name="Object 4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3" y="2924"/>
                          <a:ext cx="1972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32" name="Group 448"/>
          <p:cNvGrpSpPr>
            <a:grpSpLocks/>
          </p:cNvGrpSpPr>
          <p:nvPr/>
        </p:nvGrpSpPr>
        <p:grpSpPr bwMode="auto">
          <a:xfrm>
            <a:off x="4211638" y="3648075"/>
            <a:ext cx="3679825" cy="333375"/>
            <a:chOff x="2653" y="3195"/>
            <a:chExt cx="2318" cy="280"/>
          </a:xfrm>
        </p:grpSpPr>
        <p:sp>
          <p:nvSpPr>
            <p:cNvPr id="24602" name="Text Box 436"/>
            <p:cNvSpPr txBox="1">
              <a:spLocks noChangeArrowheads="1"/>
            </p:cNvSpPr>
            <p:nvPr/>
          </p:nvSpPr>
          <p:spPr bwMode="auto">
            <a:xfrm>
              <a:off x="2653" y="3195"/>
              <a:ext cx="63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3</a:t>
              </a:r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4603" name="Object 439"/>
            <p:cNvGraphicFramePr>
              <a:graphicFrameLocks noChangeAspect="1"/>
            </p:cNvGraphicFramePr>
            <p:nvPr/>
          </p:nvGraphicFramePr>
          <p:xfrm>
            <a:off x="3243" y="3219"/>
            <a:ext cx="172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34" name="公式" r:id="rId24" imgW="1193282" imgH="177723" progId="Equation.3">
                    <p:embed/>
                  </p:oleObj>
                </mc:Choice>
                <mc:Fallback>
                  <p:oleObj name="公式" r:id="rId24" imgW="1193282" imgH="177723" progId="Equation.3">
                    <p:embed/>
                    <p:pic>
                      <p:nvPicPr>
                        <p:cNvPr id="0" name="Object 4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3219"/>
                          <a:ext cx="172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6033" name="Group 449"/>
          <p:cNvGrpSpPr>
            <a:grpSpLocks/>
          </p:cNvGrpSpPr>
          <p:nvPr/>
        </p:nvGrpSpPr>
        <p:grpSpPr bwMode="auto">
          <a:xfrm>
            <a:off x="4211638" y="3990975"/>
            <a:ext cx="3679825" cy="342900"/>
            <a:chOff x="2653" y="3483"/>
            <a:chExt cx="2318" cy="289"/>
          </a:xfrm>
        </p:grpSpPr>
        <p:sp>
          <p:nvSpPr>
            <p:cNvPr id="24600" name="Text Box 435"/>
            <p:cNvSpPr txBox="1">
              <a:spLocks noChangeArrowheads="1"/>
            </p:cNvSpPr>
            <p:nvPr/>
          </p:nvSpPr>
          <p:spPr bwMode="auto">
            <a:xfrm>
              <a:off x="2653" y="3483"/>
              <a:ext cx="63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（</a:t>
              </a:r>
              <a:r>
                <a:rPr lang="en-US" altLang="zh-CN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4</a:t>
              </a:r>
              <a:r>
                <a:rPr lang="zh-CN" altLang="en-US" sz="150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）</a:t>
              </a:r>
            </a:p>
          </p:txBody>
        </p:sp>
        <p:graphicFrame>
          <p:nvGraphicFramePr>
            <p:cNvPr id="24601" name="Object 440"/>
            <p:cNvGraphicFramePr>
              <a:graphicFrameLocks noChangeAspect="1"/>
            </p:cNvGraphicFramePr>
            <p:nvPr/>
          </p:nvGraphicFramePr>
          <p:xfrm>
            <a:off x="3243" y="3543"/>
            <a:ext cx="172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35" name="公式" r:id="rId26" imgW="1332921" imgH="177723" progId="Equation.3">
                    <p:embed/>
                  </p:oleObj>
                </mc:Choice>
                <mc:Fallback>
                  <p:oleObj name="公式" r:id="rId26" imgW="1332921" imgH="177723" progId="Equation.3">
                    <p:embed/>
                    <p:pic>
                      <p:nvPicPr>
                        <p:cNvPr id="0" name="Object 4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3543"/>
                          <a:ext cx="1728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958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9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9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3" dur="500"/>
                                        <p:tgtEl>
                                          <p:spTgt spid="1960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9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9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9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1960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9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9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96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3" dur="500"/>
                                        <p:tgtEl>
                                          <p:spTgt spid="1960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95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19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96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3" dur="500"/>
                                        <p:tgtEl>
                                          <p:spTgt spid="1960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9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96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9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1960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835" grpId="0" autoUpdateAnimBg="0"/>
      <p:bldP spid="195986" grpId="0" animBg="1"/>
      <p:bldP spid="195987" grpId="0" animBg="1"/>
      <p:bldP spid="19598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506413" y="773113"/>
            <a:ext cx="86026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     一质量为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的物体在光滑水平面上作简谐振动，振幅是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12cm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，在距平衡位置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6cm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处速度是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24cm/s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，求：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          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）周期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T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；      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）当速度是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12cm/s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时的位移。</a:t>
            </a:r>
          </a:p>
        </p:txBody>
      </p:sp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827088" y="1960563"/>
            <a:ext cx="108108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解</a:t>
            </a:r>
            <a:r>
              <a:rPr lang="en-US" altLang="zh-CN" sz="1800">
                <a:solidFill>
                  <a:srgbClr val="FF0000"/>
                </a:solidFill>
                <a:ea typeface="华文中宋" pitchFamily="2" charset="-122"/>
              </a:rPr>
              <a:t>: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（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1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Wingdings" pitchFamily="2" charset="2"/>
              </a:rPr>
              <a:t>）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</a:endParaRP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1116013" y="3354388"/>
            <a:ext cx="7921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）</a:t>
            </a:r>
          </a:p>
        </p:txBody>
      </p:sp>
      <p:graphicFrame>
        <p:nvGraphicFramePr>
          <p:cNvPr id="39947" name="Object 11"/>
          <p:cNvGraphicFramePr>
            <a:graphicFrameLocks noChangeAspect="1"/>
          </p:cNvGraphicFramePr>
          <p:nvPr/>
        </p:nvGraphicFramePr>
        <p:xfrm>
          <a:off x="1979613" y="3687763"/>
          <a:ext cx="1871662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公式" r:id="rId3" imgW="850531" imgH="406224" progId="Equation.3">
                  <p:embed/>
                </p:oleObj>
              </mc:Choice>
              <mc:Fallback>
                <p:oleObj name="公式" r:id="rId3" imgW="850531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687763"/>
                        <a:ext cx="1871662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9"/>
          <p:cNvGraphicFramePr>
            <a:graphicFrameLocks noChangeAspect="1"/>
          </p:cNvGraphicFramePr>
          <p:nvPr/>
        </p:nvGraphicFramePr>
        <p:xfrm>
          <a:off x="3883025" y="3724275"/>
          <a:ext cx="3568700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name="Equation" r:id="rId5" imgW="2159000" imgH="508000" progId="Equation.DSMT4">
                  <p:embed/>
                </p:oleObj>
              </mc:Choice>
              <mc:Fallback>
                <p:oleObj name="Equation" r:id="rId5" imgW="2159000" imgH="50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3025" y="3724275"/>
                        <a:ext cx="3568700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59" name="Group 23"/>
          <p:cNvGrpSpPr>
            <a:grpSpLocks/>
          </p:cNvGrpSpPr>
          <p:nvPr/>
        </p:nvGrpSpPr>
        <p:grpSpPr bwMode="auto">
          <a:xfrm>
            <a:off x="1908175" y="1941513"/>
            <a:ext cx="4248150" cy="368300"/>
            <a:chOff x="1202" y="1253"/>
            <a:chExt cx="2676" cy="310"/>
          </a:xfrm>
        </p:grpSpPr>
        <p:sp>
          <p:nvSpPr>
            <p:cNvPr id="25610" name="Text Box 6"/>
            <p:cNvSpPr txBox="1">
              <a:spLocks noChangeArrowheads="1"/>
            </p:cNvSpPr>
            <p:nvPr/>
          </p:nvSpPr>
          <p:spPr bwMode="auto">
            <a:xfrm>
              <a:off x="1202" y="1253"/>
              <a:ext cx="267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000000"/>
                  </a:solidFill>
                  <a:ea typeface="华文中宋" pitchFamily="2" charset="-122"/>
                </a:rPr>
                <a:t>由                                    ，可得：</a:t>
              </a:r>
            </a:p>
          </p:txBody>
        </p:sp>
        <p:graphicFrame>
          <p:nvGraphicFramePr>
            <p:cNvPr id="25611" name="Object 18"/>
            <p:cNvGraphicFramePr>
              <a:graphicFrameLocks noChangeAspect="1"/>
            </p:cNvGraphicFramePr>
            <p:nvPr/>
          </p:nvGraphicFramePr>
          <p:xfrm>
            <a:off x="1474" y="1253"/>
            <a:ext cx="122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9" name="公式" r:id="rId7" imgW="1091726" imgH="253890" progId="Equation.3">
                    <p:embed/>
                  </p:oleObj>
                </mc:Choice>
                <mc:Fallback>
                  <p:oleObj name="公式" r:id="rId7" imgW="1091726" imgH="25389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253"/>
                          <a:ext cx="122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9958" name="Object 22"/>
          <p:cNvGraphicFramePr>
            <a:graphicFrameLocks noChangeAspect="1"/>
          </p:cNvGraphicFramePr>
          <p:nvPr/>
        </p:nvGraphicFramePr>
        <p:xfrm>
          <a:off x="5364163" y="1852613"/>
          <a:ext cx="18002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0" name="Equation" r:id="rId9" imgW="926698" imgH="444307" progId="Equation.DSMT4">
                  <p:embed/>
                </p:oleObj>
              </mc:Choice>
              <mc:Fallback>
                <p:oleObj name="Equation" r:id="rId9" imgW="926698" imgH="444307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852613"/>
                        <a:ext cx="18002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0" name="Object 24"/>
          <p:cNvGraphicFramePr>
            <a:graphicFrameLocks noChangeAspect="1"/>
          </p:cNvGraphicFramePr>
          <p:nvPr/>
        </p:nvGraphicFramePr>
        <p:xfrm>
          <a:off x="1595438" y="2570163"/>
          <a:ext cx="60960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name="Equation" r:id="rId11" imgW="3213100" imgH="457200" progId="Equation.DSMT4">
                  <p:embed/>
                </p:oleObj>
              </mc:Choice>
              <mc:Fallback>
                <p:oleObj name="Equation" r:id="rId11" imgW="3213100" imgH="457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2570163"/>
                        <a:ext cx="60960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9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autoUpdateAnimBg="0"/>
      <p:bldP spid="3994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4643438" y="3481388"/>
            <a:ext cx="417671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注</a:t>
            </a:r>
            <a:r>
              <a:rPr lang="zh-CN" altLang="en-US" sz="16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sym typeface="Wingdings" pitchFamily="2" charset="2"/>
              </a:rPr>
              <a:t>：</a:t>
            </a:r>
            <a:r>
              <a:rPr lang="zh-CN" altLang="en-US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  <a:sym typeface="Wingdings" pitchFamily="2" charset="2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）旋转矢量端点（参考点）作匀速率圆周运动，其在</a:t>
            </a:r>
            <a:r>
              <a:rPr lang="en-US" altLang="zh-CN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x</a:t>
            </a:r>
            <a:r>
              <a:rPr lang="zh-CN" altLang="en-US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轴的投影是谐振动。</a:t>
            </a:r>
          </a:p>
        </p:txBody>
      </p:sp>
      <p:graphicFrame>
        <p:nvGraphicFramePr>
          <p:cNvPr id="33903" name="Object 111"/>
          <p:cNvGraphicFramePr>
            <a:graphicFrameLocks noChangeAspect="1"/>
          </p:cNvGraphicFramePr>
          <p:nvPr/>
        </p:nvGraphicFramePr>
        <p:xfrm>
          <a:off x="1331913" y="1282700"/>
          <a:ext cx="25923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2" name="公式" r:id="rId4" imgW="812447" imgH="177723" progId="Equation.3">
                  <p:embed/>
                </p:oleObj>
              </mc:Choice>
              <mc:Fallback>
                <p:oleObj name="公式" r:id="rId4" imgW="812447" imgH="177723" progId="Equation.3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282700"/>
                        <a:ext cx="25923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/>
          <p:cNvGraphicFramePr>
            <a:graphicFrameLocks noChangeAspect="1"/>
          </p:cNvGraphicFramePr>
          <p:nvPr/>
        </p:nvGraphicFramePr>
        <p:xfrm>
          <a:off x="5148263" y="969963"/>
          <a:ext cx="3600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3" name="公式" r:id="rId6" imgW="1333500" imgH="292100" progId="Equation.3">
                  <p:embed/>
                </p:oleObj>
              </mc:Choice>
              <mc:Fallback>
                <p:oleObj name="公式" r:id="rId6" imgW="1333500" imgH="2921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969963"/>
                        <a:ext cx="3600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958" name="Group 166"/>
          <p:cNvGrpSpPr>
            <a:grpSpLocks/>
          </p:cNvGrpSpPr>
          <p:nvPr/>
        </p:nvGrpSpPr>
        <p:grpSpPr bwMode="auto">
          <a:xfrm>
            <a:off x="5403850" y="1509713"/>
            <a:ext cx="3200400" cy="1998662"/>
            <a:chOff x="3107" y="1005"/>
            <a:chExt cx="2016" cy="1679"/>
          </a:xfrm>
        </p:grpSpPr>
        <p:sp>
          <p:nvSpPr>
            <p:cNvPr id="26689" name="Oval 124"/>
            <p:cNvSpPr>
              <a:spLocks noChangeArrowheads="1"/>
            </p:cNvSpPr>
            <p:nvPr/>
          </p:nvSpPr>
          <p:spPr bwMode="auto">
            <a:xfrm>
              <a:off x="3243" y="1298"/>
              <a:ext cx="1386" cy="138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690" name="Line 125"/>
            <p:cNvSpPr>
              <a:spLocks noChangeShapeType="1"/>
            </p:cNvSpPr>
            <p:nvPr/>
          </p:nvSpPr>
          <p:spPr bwMode="auto">
            <a:xfrm>
              <a:off x="3107" y="2013"/>
              <a:ext cx="19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1" name="Line 127"/>
            <p:cNvSpPr>
              <a:spLocks noChangeShapeType="1"/>
            </p:cNvSpPr>
            <p:nvPr/>
          </p:nvSpPr>
          <p:spPr bwMode="auto">
            <a:xfrm flipV="1">
              <a:off x="3947" y="1504"/>
              <a:ext cx="475" cy="5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2" name="Line 130"/>
            <p:cNvSpPr>
              <a:spLocks noChangeShapeType="1"/>
            </p:cNvSpPr>
            <p:nvPr/>
          </p:nvSpPr>
          <p:spPr bwMode="auto">
            <a:xfrm>
              <a:off x="4422" y="1549"/>
              <a:ext cx="0" cy="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3" name="Rectangle 134"/>
            <p:cNvSpPr>
              <a:spLocks noChangeArrowheads="1"/>
            </p:cNvSpPr>
            <p:nvPr/>
          </p:nvSpPr>
          <p:spPr bwMode="auto">
            <a:xfrm>
              <a:off x="4196" y="1685"/>
              <a:ext cx="214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</a:t>
              </a:r>
            </a:p>
          </p:txBody>
        </p:sp>
        <p:sp>
          <p:nvSpPr>
            <p:cNvPr id="26694" name="Arc 135"/>
            <p:cNvSpPr>
              <a:spLocks/>
            </p:cNvSpPr>
            <p:nvPr/>
          </p:nvSpPr>
          <p:spPr bwMode="auto">
            <a:xfrm rot="1585560">
              <a:off x="4105" y="1832"/>
              <a:ext cx="196" cy="139"/>
            </a:xfrm>
            <a:custGeom>
              <a:avLst/>
              <a:gdLst>
                <a:gd name="T0" fmla="*/ 0 w 30455"/>
                <a:gd name="T1" fmla="*/ 0 h 21600"/>
                <a:gd name="T2" fmla="*/ 0 w 30455"/>
                <a:gd name="T3" fmla="*/ 0 h 21600"/>
                <a:gd name="T4" fmla="*/ 0 w 3045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455" h="21600" fill="none" extrusionOk="0">
                  <a:moveTo>
                    <a:pt x="-1" y="1898"/>
                  </a:moveTo>
                  <a:cubicBezTo>
                    <a:pt x="2784" y="647"/>
                    <a:pt x="5802" y="-1"/>
                    <a:pt x="8855" y="0"/>
                  </a:cubicBezTo>
                  <a:cubicBezTo>
                    <a:pt x="20784" y="0"/>
                    <a:pt x="30455" y="9670"/>
                    <a:pt x="30455" y="21600"/>
                  </a:cubicBezTo>
                </a:path>
                <a:path w="30455" h="21600" stroke="0" extrusionOk="0">
                  <a:moveTo>
                    <a:pt x="-1" y="1898"/>
                  </a:moveTo>
                  <a:cubicBezTo>
                    <a:pt x="2784" y="647"/>
                    <a:pt x="5802" y="-1"/>
                    <a:pt x="8855" y="0"/>
                  </a:cubicBezTo>
                  <a:cubicBezTo>
                    <a:pt x="20784" y="0"/>
                    <a:pt x="30455" y="9670"/>
                    <a:pt x="30455" y="21600"/>
                  </a:cubicBezTo>
                  <a:lnTo>
                    <a:pt x="8855" y="21600"/>
                  </a:lnTo>
                  <a:lnTo>
                    <a:pt x="-1" y="189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5" name="Arc 139"/>
            <p:cNvSpPr>
              <a:spLocks/>
            </p:cNvSpPr>
            <p:nvPr/>
          </p:nvSpPr>
          <p:spPr bwMode="auto">
            <a:xfrm rot="-4985415">
              <a:off x="3611" y="1164"/>
              <a:ext cx="294" cy="396"/>
            </a:xfrm>
            <a:custGeom>
              <a:avLst/>
              <a:gdLst>
                <a:gd name="T0" fmla="*/ 0 w 21600"/>
                <a:gd name="T1" fmla="*/ 0 h 19136"/>
                <a:gd name="T2" fmla="*/ 0 w 21600"/>
                <a:gd name="T3" fmla="*/ 0 h 19136"/>
                <a:gd name="T4" fmla="*/ 0 w 21600"/>
                <a:gd name="T5" fmla="*/ 0 h 19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9136" fill="none" extrusionOk="0">
                  <a:moveTo>
                    <a:pt x="10018" y="0"/>
                  </a:moveTo>
                  <a:cubicBezTo>
                    <a:pt x="17138" y="3727"/>
                    <a:pt x="21600" y="11099"/>
                    <a:pt x="21600" y="19136"/>
                  </a:cubicBezTo>
                </a:path>
                <a:path w="21600" h="19136" stroke="0" extrusionOk="0">
                  <a:moveTo>
                    <a:pt x="10018" y="0"/>
                  </a:moveTo>
                  <a:cubicBezTo>
                    <a:pt x="17138" y="3727"/>
                    <a:pt x="21600" y="11099"/>
                    <a:pt x="21600" y="19136"/>
                  </a:cubicBezTo>
                  <a:lnTo>
                    <a:pt x="0" y="19136"/>
                  </a:lnTo>
                  <a:lnTo>
                    <a:pt x="10018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96" name="Rectangle 140"/>
            <p:cNvSpPr>
              <a:spLocks noChangeArrowheads="1"/>
            </p:cNvSpPr>
            <p:nvPr/>
          </p:nvSpPr>
          <p:spPr bwMode="auto">
            <a:xfrm>
              <a:off x="4332" y="1957"/>
              <a:ext cx="17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26697" name="Text Box 141"/>
            <p:cNvSpPr txBox="1">
              <a:spLocks noChangeArrowheads="1"/>
            </p:cNvSpPr>
            <p:nvPr/>
          </p:nvSpPr>
          <p:spPr bwMode="auto">
            <a:xfrm>
              <a:off x="4913" y="1957"/>
              <a:ext cx="210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6698" name="Rectangle 142"/>
            <p:cNvSpPr>
              <a:spLocks noChangeArrowheads="1"/>
            </p:cNvSpPr>
            <p:nvPr/>
          </p:nvSpPr>
          <p:spPr bwMode="auto">
            <a:xfrm>
              <a:off x="3560" y="1005"/>
              <a:ext cx="19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</a:t>
              </a:r>
            </a:p>
          </p:txBody>
        </p:sp>
        <p:sp>
          <p:nvSpPr>
            <p:cNvPr id="26699" name="Text Box 143"/>
            <p:cNvSpPr txBox="1">
              <a:spLocks noChangeArrowheads="1"/>
            </p:cNvSpPr>
            <p:nvPr/>
          </p:nvSpPr>
          <p:spPr bwMode="auto">
            <a:xfrm>
              <a:off x="3787" y="2002"/>
              <a:ext cx="25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6700" name="Oval 145"/>
            <p:cNvSpPr>
              <a:spLocks noChangeArrowheads="1"/>
            </p:cNvSpPr>
            <p:nvPr/>
          </p:nvSpPr>
          <p:spPr bwMode="auto">
            <a:xfrm>
              <a:off x="4377" y="1459"/>
              <a:ext cx="91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6701" name="Line 153"/>
            <p:cNvSpPr>
              <a:spLocks noChangeShapeType="1"/>
            </p:cNvSpPr>
            <p:nvPr/>
          </p:nvSpPr>
          <p:spPr bwMode="auto">
            <a:xfrm>
              <a:off x="3198" y="1504"/>
              <a:ext cx="18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55" name="Group 163"/>
          <p:cNvGrpSpPr>
            <a:grpSpLocks/>
          </p:cNvGrpSpPr>
          <p:nvPr/>
        </p:nvGrpSpPr>
        <p:grpSpPr bwMode="auto">
          <a:xfrm>
            <a:off x="6875463" y="1455738"/>
            <a:ext cx="2160587" cy="593725"/>
            <a:chOff x="4059" y="1005"/>
            <a:chExt cx="1361" cy="499"/>
          </a:xfrm>
        </p:grpSpPr>
        <p:sp>
          <p:nvSpPr>
            <p:cNvPr id="26687" name="Line 152"/>
            <p:cNvSpPr>
              <a:spLocks noChangeShapeType="1"/>
            </p:cNvSpPr>
            <p:nvPr/>
          </p:nvSpPr>
          <p:spPr bwMode="auto">
            <a:xfrm flipH="1" flipV="1">
              <a:off x="4059" y="1187"/>
              <a:ext cx="363" cy="317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88" name="Object 154"/>
            <p:cNvGraphicFramePr>
              <a:graphicFrameLocks noChangeAspect="1"/>
            </p:cNvGraphicFramePr>
            <p:nvPr/>
          </p:nvGraphicFramePr>
          <p:xfrm>
            <a:off x="4149" y="1005"/>
            <a:ext cx="127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4" name="Equation" r:id="rId8" imgW="1155700" imgH="254000" progId="Equation.DSMT4">
                    <p:embed/>
                  </p:oleObj>
                </mc:Choice>
                <mc:Fallback>
                  <p:oleObj name="Equation" r:id="rId8" imgW="1155700" imgH="254000" progId="Equation.DSMT4">
                    <p:embed/>
                    <p:pic>
                      <p:nvPicPr>
                        <p:cNvPr id="0" name="Object 1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9" y="1005"/>
                          <a:ext cx="127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954" name="Group 162"/>
          <p:cNvGrpSpPr>
            <a:grpSpLocks/>
          </p:cNvGrpSpPr>
          <p:nvPr/>
        </p:nvGrpSpPr>
        <p:grpSpPr bwMode="auto">
          <a:xfrm>
            <a:off x="7308850" y="1779588"/>
            <a:ext cx="1200150" cy="349250"/>
            <a:chOff x="4329" y="1253"/>
            <a:chExt cx="756" cy="293"/>
          </a:xfrm>
        </p:grpSpPr>
        <p:sp>
          <p:nvSpPr>
            <p:cNvPr id="26685" name="Arc 157"/>
            <p:cNvSpPr>
              <a:spLocks/>
            </p:cNvSpPr>
            <p:nvPr/>
          </p:nvSpPr>
          <p:spPr bwMode="auto">
            <a:xfrm rot="3906902" flipH="1">
              <a:off x="4321" y="1343"/>
              <a:ext cx="211" cy="195"/>
            </a:xfrm>
            <a:custGeom>
              <a:avLst/>
              <a:gdLst>
                <a:gd name="T0" fmla="*/ 0 w 25202"/>
                <a:gd name="T1" fmla="*/ 0 h 30924"/>
                <a:gd name="T2" fmla="*/ 0 w 25202"/>
                <a:gd name="T3" fmla="*/ 0 h 30924"/>
                <a:gd name="T4" fmla="*/ 0 w 25202"/>
                <a:gd name="T5" fmla="*/ 0 h 309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02" h="30924" fill="none" extrusionOk="0">
                  <a:moveTo>
                    <a:pt x="0" y="302"/>
                  </a:moveTo>
                  <a:cubicBezTo>
                    <a:pt x="1190" y="101"/>
                    <a:pt x="2395" y="-1"/>
                    <a:pt x="3602" y="0"/>
                  </a:cubicBezTo>
                  <a:cubicBezTo>
                    <a:pt x="15531" y="0"/>
                    <a:pt x="25202" y="9670"/>
                    <a:pt x="25202" y="21600"/>
                  </a:cubicBezTo>
                  <a:cubicBezTo>
                    <a:pt x="25202" y="24827"/>
                    <a:pt x="24478" y="28013"/>
                    <a:pt x="23085" y="30923"/>
                  </a:cubicBezTo>
                </a:path>
                <a:path w="25202" h="30924" stroke="0" extrusionOk="0">
                  <a:moveTo>
                    <a:pt x="0" y="302"/>
                  </a:moveTo>
                  <a:cubicBezTo>
                    <a:pt x="1190" y="101"/>
                    <a:pt x="2395" y="-1"/>
                    <a:pt x="3602" y="0"/>
                  </a:cubicBezTo>
                  <a:cubicBezTo>
                    <a:pt x="15531" y="0"/>
                    <a:pt x="25202" y="9670"/>
                    <a:pt x="25202" y="21600"/>
                  </a:cubicBezTo>
                  <a:cubicBezTo>
                    <a:pt x="25202" y="24827"/>
                    <a:pt x="24478" y="28013"/>
                    <a:pt x="23085" y="30923"/>
                  </a:cubicBezTo>
                  <a:lnTo>
                    <a:pt x="3602" y="21600"/>
                  </a:lnTo>
                  <a:lnTo>
                    <a:pt x="0" y="302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6686" name="Object 158"/>
            <p:cNvGraphicFramePr>
              <a:graphicFrameLocks noChangeAspect="1"/>
            </p:cNvGraphicFramePr>
            <p:nvPr/>
          </p:nvGraphicFramePr>
          <p:xfrm>
            <a:off x="4513" y="1253"/>
            <a:ext cx="572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5" name="Equation" r:id="rId10" imgW="520474" imgH="215806" progId="Equation.DSMT4">
                    <p:embed/>
                  </p:oleObj>
                </mc:Choice>
                <mc:Fallback>
                  <p:oleObj name="Equation" r:id="rId10" imgW="520474" imgH="215806" progId="Equation.DSMT4">
                    <p:embed/>
                    <p:pic>
                      <p:nvPicPr>
                        <p:cNvPr id="0" name="Object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1253"/>
                          <a:ext cx="572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959" name="Object 167"/>
          <p:cNvGraphicFramePr>
            <a:graphicFrameLocks noChangeAspect="1"/>
          </p:cNvGraphicFramePr>
          <p:nvPr/>
        </p:nvGraphicFramePr>
        <p:xfrm>
          <a:off x="520700" y="3513138"/>
          <a:ext cx="405130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6" name="公式" r:id="rId12" imgW="1447172" imgH="203112" progId="Equation.3">
                  <p:embed/>
                </p:oleObj>
              </mc:Choice>
              <mc:Fallback>
                <p:oleObj name="公式" r:id="rId12" imgW="1447172" imgH="203112" progId="Equation.3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3513138"/>
                        <a:ext cx="405130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972" name="Group 180"/>
          <p:cNvGrpSpPr>
            <a:grpSpLocks/>
          </p:cNvGrpSpPr>
          <p:nvPr/>
        </p:nvGrpSpPr>
        <p:grpSpPr bwMode="auto">
          <a:xfrm>
            <a:off x="900113" y="4246563"/>
            <a:ext cx="3095625" cy="593725"/>
            <a:chOff x="3198" y="3067"/>
            <a:chExt cx="1950" cy="499"/>
          </a:xfrm>
        </p:grpSpPr>
        <p:sp>
          <p:nvSpPr>
            <p:cNvPr id="26683" name="Line 171"/>
            <p:cNvSpPr>
              <a:spLocks noChangeShapeType="1"/>
            </p:cNvSpPr>
            <p:nvPr/>
          </p:nvSpPr>
          <p:spPr bwMode="auto">
            <a:xfrm>
              <a:off x="3198" y="3067"/>
              <a:ext cx="195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4" name="Line 172"/>
            <p:cNvSpPr>
              <a:spLocks noChangeShapeType="1"/>
            </p:cNvSpPr>
            <p:nvPr/>
          </p:nvSpPr>
          <p:spPr bwMode="auto">
            <a:xfrm flipV="1">
              <a:off x="3833" y="3067"/>
              <a:ext cx="499" cy="49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969" name="Group 177"/>
          <p:cNvGrpSpPr>
            <a:grpSpLocks/>
          </p:cNvGrpSpPr>
          <p:nvPr/>
        </p:nvGrpSpPr>
        <p:grpSpPr bwMode="auto">
          <a:xfrm>
            <a:off x="539750" y="1492250"/>
            <a:ext cx="4032250" cy="2208213"/>
            <a:chOff x="340" y="981"/>
            <a:chExt cx="2540" cy="1855"/>
          </a:xfrm>
        </p:grpSpPr>
        <p:grpSp>
          <p:nvGrpSpPr>
            <p:cNvPr id="26652" name="Group 121"/>
            <p:cNvGrpSpPr>
              <a:grpSpLocks/>
            </p:cNvGrpSpPr>
            <p:nvPr/>
          </p:nvGrpSpPr>
          <p:grpSpPr bwMode="auto">
            <a:xfrm>
              <a:off x="340" y="981"/>
              <a:ext cx="2540" cy="1855"/>
              <a:chOff x="385" y="709"/>
              <a:chExt cx="2540" cy="1855"/>
            </a:xfrm>
          </p:grpSpPr>
          <p:grpSp>
            <p:nvGrpSpPr>
              <p:cNvPr id="26654" name="Group 114"/>
              <p:cNvGrpSpPr>
                <a:grpSpLocks/>
              </p:cNvGrpSpPr>
              <p:nvPr/>
            </p:nvGrpSpPr>
            <p:grpSpPr bwMode="auto">
              <a:xfrm>
                <a:off x="748" y="709"/>
                <a:ext cx="2016" cy="1855"/>
                <a:chOff x="748" y="779"/>
                <a:chExt cx="2016" cy="1855"/>
              </a:xfrm>
            </p:grpSpPr>
            <p:sp>
              <p:nvSpPr>
                <p:cNvPr id="26660" name="Oval 28"/>
                <p:cNvSpPr>
                  <a:spLocks noChangeArrowheads="1"/>
                </p:cNvSpPr>
                <p:nvPr/>
              </p:nvSpPr>
              <p:spPr bwMode="auto">
                <a:xfrm>
                  <a:off x="899" y="1092"/>
                  <a:ext cx="1386" cy="1386"/>
                </a:xfrm>
                <a:prstGeom prst="ellips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661" name="Line 29"/>
                <p:cNvSpPr>
                  <a:spLocks noChangeShapeType="1"/>
                </p:cNvSpPr>
                <p:nvPr/>
              </p:nvSpPr>
              <p:spPr bwMode="auto">
                <a:xfrm>
                  <a:off x="748" y="1787"/>
                  <a:ext cx="197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2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1588" y="1409"/>
                  <a:ext cx="588" cy="37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3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588" y="1157"/>
                  <a:ext cx="294" cy="63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4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882" y="1157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5" name="Line 33"/>
                <p:cNvSpPr>
                  <a:spLocks noChangeShapeType="1"/>
                </p:cNvSpPr>
                <p:nvPr/>
              </p:nvSpPr>
              <p:spPr bwMode="auto">
                <a:xfrm>
                  <a:off x="1882" y="1787"/>
                  <a:ext cx="0" cy="2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6" name="Line 34"/>
                <p:cNvSpPr>
                  <a:spLocks noChangeShapeType="1"/>
                </p:cNvSpPr>
                <p:nvPr/>
              </p:nvSpPr>
              <p:spPr bwMode="auto">
                <a:xfrm>
                  <a:off x="2176" y="1409"/>
                  <a:ext cx="0" cy="37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7" name="Line 35"/>
                <p:cNvSpPr>
                  <a:spLocks noChangeShapeType="1"/>
                </p:cNvSpPr>
                <p:nvPr/>
              </p:nvSpPr>
              <p:spPr bwMode="auto">
                <a:xfrm>
                  <a:off x="1588" y="1787"/>
                  <a:ext cx="0" cy="2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8" name="Line 36"/>
                <p:cNvSpPr>
                  <a:spLocks noChangeShapeType="1"/>
                </p:cNvSpPr>
                <p:nvPr/>
              </p:nvSpPr>
              <p:spPr bwMode="auto">
                <a:xfrm>
                  <a:off x="1588" y="1997"/>
                  <a:ext cx="29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69" name="Rectangle 38"/>
                <p:cNvSpPr>
                  <a:spLocks noChangeArrowheads="1"/>
                </p:cNvSpPr>
                <p:nvPr/>
              </p:nvSpPr>
              <p:spPr bwMode="auto">
                <a:xfrm>
                  <a:off x="1630" y="1955"/>
                  <a:ext cx="210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1500" i="1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x</a:t>
                  </a:r>
                </a:p>
              </p:txBody>
            </p:sp>
            <p:sp>
              <p:nvSpPr>
                <p:cNvPr id="26670" name="Rectangle 39"/>
                <p:cNvSpPr>
                  <a:spLocks noChangeArrowheads="1"/>
                </p:cNvSpPr>
                <p:nvPr/>
              </p:nvSpPr>
              <p:spPr bwMode="auto">
                <a:xfrm>
                  <a:off x="1924" y="1520"/>
                  <a:ext cx="229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500" i="1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</a:t>
                  </a:r>
                  <a:r>
                    <a:rPr lang="en-US" altLang="zh-CN" sz="1500" baseline="-25000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0</a:t>
                  </a:r>
                </a:p>
              </p:txBody>
            </p:sp>
            <p:sp>
              <p:nvSpPr>
                <p:cNvPr id="26671" name="Arc 40"/>
                <p:cNvSpPr>
                  <a:spLocks/>
                </p:cNvSpPr>
                <p:nvPr/>
              </p:nvSpPr>
              <p:spPr bwMode="auto">
                <a:xfrm rot="1585560">
                  <a:off x="1827" y="1619"/>
                  <a:ext cx="139" cy="139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72" name="Arc 41"/>
                <p:cNvSpPr>
                  <a:spLocks/>
                </p:cNvSpPr>
                <p:nvPr/>
              </p:nvSpPr>
              <p:spPr bwMode="auto">
                <a:xfrm rot="736605">
                  <a:off x="1643" y="1644"/>
                  <a:ext cx="139" cy="14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73" name="Rectangle 42"/>
                <p:cNvSpPr>
                  <a:spLocks noChangeArrowheads="1"/>
                </p:cNvSpPr>
                <p:nvPr/>
              </p:nvSpPr>
              <p:spPr bwMode="auto">
                <a:xfrm rot="-2447043">
                  <a:off x="1699" y="1302"/>
                  <a:ext cx="444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500" i="1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t+ </a:t>
                  </a:r>
                  <a:r>
                    <a:rPr lang="en-US" altLang="zh-CN" sz="1500" i="1" baseline="-25000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0</a:t>
                  </a:r>
                </a:p>
              </p:txBody>
            </p:sp>
            <p:sp>
              <p:nvSpPr>
                <p:cNvPr id="26674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1882" y="1577"/>
                  <a:ext cx="0" cy="21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75" name="Arc 44"/>
                <p:cNvSpPr>
                  <a:spLocks/>
                </p:cNvSpPr>
                <p:nvPr/>
              </p:nvSpPr>
              <p:spPr bwMode="auto">
                <a:xfrm rot="-4286397">
                  <a:off x="1387" y="938"/>
                  <a:ext cx="294" cy="396"/>
                </a:xfrm>
                <a:custGeom>
                  <a:avLst/>
                  <a:gdLst>
                    <a:gd name="T0" fmla="*/ 0 w 21600"/>
                    <a:gd name="T1" fmla="*/ 0 h 19136"/>
                    <a:gd name="T2" fmla="*/ 0 w 21600"/>
                    <a:gd name="T3" fmla="*/ 0 h 19136"/>
                    <a:gd name="T4" fmla="*/ 0 w 21600"/>
                    <a:gd name="T5" fmla="*/ 0 h 1913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9136" fill="none" extrusionOk="0">
                      <a:moveTo>
                        <a:pt x="10018" y="0"/>
                      </a:moveTo>
                      <a:cubicBezTo>
                        <a:pt x="17138" y="3727"/>
                        <a:pt x="21600" y="11099"/>
                        <a:pt x="21600" y="19136"/>
                      </a:cubicBezTo>
                    </a:path>
                    <a:path w="21600" h="19136" stroke="0" extrusionOk="0">
                      <a:moveTo>
                        <a:pt x="10018" y="0"/>
                      </a:moveTo>
                      <a:cubicBezTo>
                        <a:pt x="17138" y="3727"/>
                        <a:pt x="21600" y="11099"/>
                        <a:pt x="21600" y="19136"/>
                      </a:cubicBezTo>
                      <a:lnTo>
                        <a:pt x="0" y="19136"/>
                      </a:lnTo>
                      <a:lnTo>
                        <a:pt x="10018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 type="stealth" w="lg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76" name="Rectangle 48"/>
                <p:cNvSpPr>
                  <a:spLocks noChangeArrowheads="1"/>
                </p:cNvSpPr>
                <p:nvPr/>
              </p:nvSpPr>
              <p:spPr bwMode="auto">
                <a:xfrm>
                  <a:off x="2050" y="1731"/>
                  <a:ext cx="217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500" i="1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x</a:t>
                  </a:r>
                  <a:r>
                    <a:rPr lang="en-US" altLang="zh-CN" sz="1500" baseline="-25000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0</a:t>
                  </a:r>
                  <a:endParaRPr lang="en-US" altLang="zh-CN" sz="1500" i="1">
                    <a:solidFill>
                      <a:srgbClr val="000000"/>
                    </a:solidFill>
                    <a:ea typeface="宋体" pitchFamily="2" charset="-122"/>
                    <a:sym typeface="Symbol" pitchFamily="18" charset="2"/>
                  </a:endParaRPr>
                </a:p>
              </p:txBody>
            </p:sp>
            <p:sp>
              <p:nvSpPr>
                <p:cNvPr id="26677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554" y="1820"/>
                  <a:ext cx="210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i="1">
                      <a:solidFill>
                        <a:srgbClr val="000000"/>
                      </a:solidFill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26678" name="Rectangle 50"/>
                <p:cNvSpPr>
                  <a:spLocks noChangeArrowheads="1"/>
                </p:cNvSpPr>
                <p:nvPr/>
              </p:nvSpPr>
              <p:spPr bwMode="auto">
                <a:xfrm>
                  <a:off x="1294" y="779"/>
                  <a:ext cx="199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500" i="1">
                      <a:solidFill>
                        <a:srgbClr val="000000"/>
                      </a:solidFill>
                      <a:ea typeface="宋体" pitchFamily="2" charset="-122"/>
                      <a:sym typeface="Symbol" pitchFamily="18" charset="2"/>
                    </a:rPr>
                    <a:t></a:t>
                  </a:r>
                </a:p>
              </p:txBody>
            </p:sp>
            <p:sp>
              <p:nvSpPr>
                <p:cNvPr id="2667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378" y="1778"/>
                  <a:ext cx="25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000" i="1">
                      <a:solidFill>
                        <a:srgbClr val="000000"/>
                      </a:solidFill>
                      <a:ea typeface="宋体" pitchFamily="2" charset="-122"/>
                    </a:rPr>
                    <a:t>O</a:t>
                  </a:r>
                </a:p>
              </p:txBody>
            </p:sp>
            <p:sp>
              <p:nvSpPr>
                <p:cNvPr id="26680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1000" y="2246"/>
                  <a:ext cx="1596" cy="3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b="0">
                    <a:solidFill>
                      <a:srgbClr val="000000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26681" name="Oval 112"/>
                <p:cNvSpPr>
                  <a:spLocks noChangeArrowheads="1"/>
                </p:cNvSpPr>
                <p:nvPr/>
              </p:nvSpPr>
              <p:spPr bwMode="auto">
                <a:xfrm>
                  <a:off x="2154" y="136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682" name="Oval 113"/>
                <p:cNvSpPr>
                  <a:spLocks noChangeArrowheads="1"/>
                </p:cNvSpPr>
                <p:nvPr/>
              </p:nvSpPr>
              <p:spPr bwMode="auto">
                <a:xfrm>
                  <a:off x="1837" y="1096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6655" name="Line 115"/>
              <p:cNvSpPr>
                <a:spLocks noChangeShapeType="1"/>
              </p:cNvSpPr>
              <p:nvPr/>
            </p:nvSpPr>
            <p:spPr bwMode="auto">
              <a:xfrm flipV="1">
                <a:off x="793" y="1979"/>
                <a:ext cx="137" cy="22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6" name="Rectangle 116"/>
              <p:cNvSpPr>
                <a:spLocks noChangeArrowheads="1"/>
              </p:cNvSpPr>
              <p:nvPr/>
            </p:nvSpPr>
            <p:spPr bwMode="auto">
              <a:xfrm>
                <a:off x="385" y="2198"/>
                <a:ext cx="771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altLang="en-US" sz="1500">
                    <a:solidFill>
                      <a:srgbClr val="000000"/>
                    </a:solidFill>
                    <a:ea typeface="楷体_GB2312" pitchFamily="49" charset="-122"/>
                  </a:rPr>
                  <a:t>参考圆</a:t>
                </a:r>
              </a:p>
            </p:txBody>
          </p:sp>
          <p:sp>
            <p:nvSpPr>
              <p:cNvPr id="26657" name="Rectangle 117"/>
              <p:cNvSpPr>
                <a:spLocks noChangeArrowheads="1"/>
              </p:cNvSpPr>
              <p:nvPr/>
            </p:nvSpPr>
            <p:spPr bwMode="auto">
              <a:xfrm>
                <a:off x="2154" y="898"/>
                <a:ext cx="771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altLang="en-US" sz="1500">
                    <a:solidFill>
                      <a:srgbClr val="000000"/>
                    </a:solidFill>
                    <a:ea typeface="楷体_GB2312" pitchFamily="49" charset="-122"/>
                  </a:rPr>
                  <a:t>参考点</a:t>
                </a:r>
              </a:p>
            </p:txBody>
          </p:sp>
          <p:sp>
            <p:nvSpPr>
              <p:cNvPr id="26658" name="Line 118"/>
              <p:cNvSpPr>
                <a:spLocks noChangeShapeType="1"/>
              </p:cNvSpPr>
              <p:nvPr/>
            </p:nvSpPr>
            <p:spPr bwMode="auto">
              <a:xfrm>
                <a:off x="1973" y="1071"/>
                <a:ext cx="36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lg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9" name="Line 119"/>
              <p:cNvSpPr>
                <a:spLocks noChangeShapeType="1"/>
              </p:cNvSpPr>
              <p:nvPr/>
            </p:nvSpPr>
            <p:spPr bwMode="auto">
              <a:xfrm flipH="1">
                <a:off x="2245" y="1162"/>
                <a:ext cx="136" cy="13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6653" name="Object 176"/>
            <p:cNvGraphicFramePr>
              <a:graphicFrameLocks noChangeAspect="1"/>
            </p:cNvGraphicFramePr>
            <p:nvPr/>
          </p:nvGraphicFramePr>
          <p:xfrm>
            <a:off x="1519" y="1389"/>
            <a:ext cx="224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7" name="公式" r:id="rId14" imgW="126725" imgH="126725" progId="Equation.3">
                    <p:embed/>
                  </p:oleObj>
                </mc:Choice>
                <mc:Fallback>
                  <p:oleObj name="公式" r:id="rId14" imgW="126725" imgH="126725" progId="Equation.3">
                    <p:embed/>
                    <p:pic>
                      <p:nvPicPr>
                        <p:cNvPr id="0" name="Object 1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389"/>
                          <a:ext cx="224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971" name="Group 179"/>
          <p:cNvGrpSpPr>
            <a:grpSpLocks/>
          </p:cNvGrpSpPr>
          <p:nvPr/>
        </p:nvGrpSpPr>
        <p:grpSpPr bwMode="auto">
          <a:xfrm>
            <a:off x="6732588" y="1670050"/>
            <a:ext cx="719137" cy="673100"/>
            <a:chOff x="3969" y="1162"/>
            <a:chExt cx="453" cy="565"/>
          </a:xfrm>
        </p:grpSpPr>
        <p:grpSp>
          <p:nvGrpSpPr>
            <p:cNvPr id="26648" name="Group 164"/>
            <p:cNvGrpSpPr>
              <a:grpSpLocks/>
            </p:cNvGrpSpPr>
            <p:nvPr/>
          </p:nvGrpSpPr>
          <p:grpSpPr bwMode="auto">
            <a:xfrm>
              <a:off x="4059" y="1162"/>
              <a:ext cx="363" cy="318"/>
              <a:chOff x="4059" y="1186"/>
              <a:chExt cx="363" cy="318"/>
            </a:xfrm>
          </p:grpSpPr>
          <p:sp>
            <p:nvSpPr>
              <p:cNvPr id="26650" name="Line 155"/>
              <p:cNvSpPr>
                <a:spLocks noChangeShapeType="1"/>
              </p:cNvSpPr>
              <p:nvPr/>
            </p:nvSpPr>
            <p:spPr bwMode="auto">
              <a:xfrm>
                <a:off x="4059" y="1186"/>
                <a:ext cx="0" cy="318"/>
              </a:xfrm>
              <a:prstGeom prst="line">
                <a:avLst/>
              </a:prstGeom>
              <a:noFill/>
              <a:ln w="25400">
                <a:solidFill>
                  <a:srgbClr val="FF00FF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1" name="Line 156"/>
              <p:cNvSpPr>
                <a:spLocks noChangeShapeType="1"/>
              </p:cNvSpPr>
              <p:nvPr/>
            </p:nvSpPr>
            <p:spPr bwMode="auto">
              <a:xfrm flipH="1">
                <a:off x="4059" y="1504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6649" name="Object 178"/>
            <p:cNvGraphicFramePr>
              <a:graphicFrameLocks noChangeAspect="1"/>
            </p:cNvGraphicFramePr>
            <p:nvPr/>
          </p:nvGraphicFramePr>
          <p:xfrm>
            <a:off x="3969" y="1525"/>
            <a:ext cx="20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8" name="公式" r:id="rId16" imgW="114102" imgH="114102" progId="Equation.3">
                    <p:embed/>
                  </p:oleObj>
                </mc:Choice>
                <mc:Fallback>
                  <p:oleObj name="公式" r:id="rId16" imgW="114102" imgH="114102" progId="Equation.3">
                    <p:embed/>
                    <p:pic>
                      <p:nvPicPr>
                        <p:cNvPr id="0" name="Object 1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1525"/>
                          <a:ext cx="201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976" name="Group 184"/>
          <p:cNvGrpSpPr>
            <a:grpSpLocks/>
          </p:cNvGrpSpPr>
          <p:nvPr/>
        </p:nvGrpSpPr>
        <p:grpSpPr bwMode="auto">
          <a:xfrm>
            <a:off x="1979613" y="3975100"/>
            <a:ext cx="792162" cy="809625"/>
            <a:chOff x="3878" y="2840"/>
            <a:chExt cx="499" cy="680"/>
          </a:xfrm>
        </p:grpSpPr>
        <p:sp>
          <p:nvSpPr>
            <p:cNvPr id="26645" name="Line 169"/>
            <p:cNvSpPr>
              <a:spLocks noChangeShapeType="1"/>
            </p:cNvSpPr>
            <p:nvPr/>
          </p:nvSpPr>
          <p:spPr bwMode="auto">
            <a:xfrm>
              <a:off x="3923" y="3112"/>
              <a:ext cx="0" cy="40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173"/>
            <p:cNvSpPr>
              <a:spLocks noChangeShapeType="1"/>
            </p:cNvSpPr>
            <p:nvPr/>
          </p:nvSpPr>
          <p:spPr bwMode="auto">
            <a:xfrm flipH="1">
              <a:off x="3923" y="3067"/>
              <a:ext cx="45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47" name="Object 181"/>
            <p:cNvGraphicFramePr>
              <a:graphicFrameLocks noChangeAspect="1"/>
            </p:cNvGraphicFramePr>
            <p:nvPr/>
          </p:nvGraphicFramePr>
          <p:xfrm>
            <a:off x="3878" y="2840"/>
            <a:ext cx="17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19" name="公式" r:id="rId18" imgW="101468" imgH="114151" progId="Equation.3">
                    <p:embed/>
                  </p:oleObj>
                </mc:Choice>
                <mc:Fallback>
                  <p:oleObj name="公式" r:id="rId18" imgW="101468" imgH="114151" progId="Equation.3">
                    <p:embed/>
                    <p:pic>
                      <p:nvPicPr>
                        <p:cNvPr id="0" name="Object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2840"/>
                          <a:ext cx="179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975" name="Group 183"/>
          <p:cNvGrpSpPr>
            <a:grpSpLocks/>
          </p:cNvGrpSpPr>
          <p:nvPr/>
        </p:nvGrpSpPr>
        <p:grpSpPr bwMode="auto">
          <a:xfrm>
            <a:off x="2051050" y="3917950"/>
            <a:ext cx="1549400" cy="1052513"/>
            <a:chOff x="4677" y="2519"/>
            <a:chExt cx="976" cy="884"/>
          </a:xfrm>
        </p:grpSpPr>
        <p:grpSp>
          <p:nvGrpSpPr>
            <p:cNvPr id="26640" name="Group 175"/>
            <p:cNvGrpSpPr>
              <a:grpSpLocks/>
            </p:cNvGrpSpPr>
            <p:nvPr/>
          </p:nvGrpSpPr>
          <p:grpSpPr bwMode="auto">
            <a:xfrm>
              <a:off x="4677" y="2519"/>
              <a:ext cx="976" cy="729"/>
              <a:chOff x="3923" y="2791"/>
              <a:chExt cx="976" cy="729"/>
            </a:xfrm>
          </p:grpSpPr>
          <p:sp>
            <p:nvSpPr>
              <p:cNvPr id="26642" name="Line 168"/>
              <p:cNvSpPr>
                <a:spLocks noChangeShapeType="1"/>
              </p:cNvSpPr>
              <p:nvPr/>
            </p:nvSpPr>
            <p:spPr bwMode="auto">
              <a:xfrm flipH="1">
                <a:off x="3923" y="3067"/>
                <a:ext cx="453" cy="453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3" name="Arc 170"/>
              <p:cNvSpPr>
                <a:spLocks/>
              </p:cNvSpPr>
              <p:nvPr/>
            </p:nvSpPr>
            <p:spPr bwMode="auto">
              <a:xfrm rot="16246043" flipV="1">
                <a:off x="4077" y="2822"/>
                <a:ext cx="415" cy="452"/>
              </a:xfrm>
              <a:custGeom>
                <a:avLst/>
                <a:gdLst>
                  <a:gd name="T0" fmla="*/ 0 w 39485"/>
                  <a:gd name="T1" fmla="*/ 0 h 43200"/>
                  <a:gd name="T2" fmla="*/ 0 w 39485"/>
                  <a:gd name="T3" fmla="*/ 0 h 43200"/>
                  <a:gd name="T4" fmla="*/ 0 w 3948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485" h="43200" fill="none" extrusionOk="0">
                    <a:moveTo>
                      <a:pt x="17884" y="0"/>
                    </a:moveTo>
                    <a:cubicBezTo>
                      <a:pt x="29814" y="0"/>
                      <a:pt x="39485" y="9670"/>
                      <a:pt x="39485" y="21600"/>
                    </a:cubicBezTo>
                    <a:cubicBezTo>
                      <a:pt x="39485" y="33529"/>
                      <a:pt x="29814" y="43200"/>
                      <a:pt x="17885" y="43200"/>
                    </a:cubicBezTo>
                    <a:cubicBezTo>
                      <a:pt x="10718" y="43200"/>
                      <a:pt x="4018" y="39645"/>
                      <a:pt x="0" y="33711"/>
                    </a:cubicBezTo>
                  </a:path>
                  <a:path w="39485" h="43200" stroke="0" extrusionOk="0">
                    <a:moveTo>
                      <a:pt x="17884" y="0"/>
                    </a:moveTo>
                    <a:cubicBezTo>
                      <a:pt x="29814" y="0"/>
                      <a:pt x="39485" y="9670"/>
                      <a:pt x="39485" y="21600"/>
                    </a:cubicBezTo>
                    <a:cubicBezTo>
                      <a:pt x="39485" y="33529"/>
                      <a:pt x="29814" y="43200"/>
                      <a:pt x="17885" y="43200"/>
                    </a:cubicBezTo>
                    <a:cubicBezTo>
                      <a:pt x="10718" y="43200"/>
                      <a:pt x="4018" y="39645"/>
                      <a:pt x="0" y="33711"/>
                    </a:cubicBezTo>
                    <a:lnTo>
                      <a:pt x="17885" y="21600"/>
                    </a:lnTo>
                    <a:lnTo>
                      <a:pt x="17884" y="0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6644" name="Object 174"/>
              <p:cNvGraphicFramePr>
                <a:graphicFrameLocks noChangeAspect="1"/>
              </p:cNvGraphicFramePr>
              <p:nvPr/>
            </p:nvGraphicFramePr>
            <p:xfrm>
              <a:off x="4457" y="2791"/>
              <a:ext cx="442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720" name="Equation" r:id="rId20" imgW="342751" imgH="203112" progId="Equation.DSMT4">
                      <p:embed/>
                    </p:oleObj>
                  </mc:Choice>
                  <mc:Fallback>
                    <p:oleObj name="Equation" r:id="rId20" imgW="342751" imgH="203112" progId="Equation.DSMT4">
                      <p:embed/>
                      <p:pic>
                        <p:nvPicPr>
                          <p:cNvPr id="0" name="Object 1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7" y="2791"/>
                            <a:ext cx="442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641" name="Object 182"/>
            <p:cNvGraphicFramePr>
              <a:graphicFrameLocks noChangeAspect="1"/>
            </p:cNvGraphicFramePr>
            <p:nvPr/>
          </p:nvGraphicFramePr>
          <p:xfrm>
            <a:off x="4740" y="3067"/>
            <a:ext cx="44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21" name="公式" r:id="rId22" imgW="253890" imgH="190417" progId="Equation.3">
                    <p:embed/>
                  </p:oleObj>
                </mc:Choice>
                <mc:Fallback>
                  <p:oleObj name="公式" r:id="rId22" imgW="253890" imgH="190417" progId="Equation.3">
                    <p:embed/>
                    <p:pic>
                      <p:nvPicPr>
                        <p:cNvPr id="0" name="Object 1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3067"/>
                          <a:ext cx="44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977" name="Text Box 185"/>
          <p:cNvSpPr txBox="1">
            <a:spLocks noChangeArrowheads="1"/>
          </p:cNvSpPr>
          <p:nvPr/>
        </p:nvSpPr>
        <p:spPr bwMode="auto">
          <a:xfrm>
            <a:off x="4716463" y="4011613"/>
            <a:ext cx="4248150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6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）利用参考点在参考圆中的位置可方便判断振动位相所在的象限。</a:t>
            </a:r>
          </a:p>
        </p:txBody>
      </p:sp>
      <p:sp>
        <p:nvSpPr>
          <p:cNvPr id="78" name="Text Box 2"/>
          <p:cNvSpPr>
            <a:spLocks noChangeArrowheads="1"/>
          </p:cNvSpPr>
          <p:nvPr/>
        </p:nvSpPr>
        <p:spPr bwMode="auto">
          <a:xfrm>
            <a:off x="736600" y="876300"/>
            <a:ext cx="3738563" cy="400050"/>
          </a:xfrm>
          <a:prstGeom prst="homePlate">
            <a:avLst>
              <a:gd name="adj" fmla="val 49885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三、谐振动的旋转矢量表示法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3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39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3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9" grpId="0" autoUpdateAnimBg="0"/>
      <p:bldP spid="33977" grpId="0" autoUpdateAnimBg="0"/>
      <p:bldP spid="7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323850" y="1212850"/>
            <a:ext cx="247173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函数表示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525463" y="835025"/>
            <a:ext cx="25209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latin typeface="楷体_GB2312" pitchFamily="49" charset="-122"/>
                <a:ea typeface="华文中宋" pitchFamily="2" charset="-122"/>
              </a:rPr>
              <a:t>谐振动的三种表示法</a:t>
            </a:r>
          </a:p>
        </p:txBody>
      </p:sp>
      <p:graphicFrame>
        <p:nvGraphicFramePr>
          <p:cNvPr id="116751" name="Object 1039"/>
          <p:cNvGraphicFramePr>
            <a:graphicFrameLocks noChangeAspect="1"/>
          </p:cNvGraphicFramePr>
          <p:nvPr/>
        </p:nvGraphicFramePr>
        <p:xfrm>
          <a:off x="468313" y="1581150"/>
          <a:ext cx="2301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2" name="公式" r:id="rId3" imgW="812447" imgH="177723" progId="Equation.3">
                  <p:embed/>
                </p:oleObj>
              </mc:Choice>
              <mc:Fallback>
                <p:oleObj name="公式" r:id="rId3" imgW="812447" imgH="177723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581150"/>
                        <a:ext cx="23018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Text Box 103"/>
          <p:cNvSpPr txBox="1">
            <a:spLocks noChangeArrowheads="1"/>
          </p:cNvSpPr>
          <p:nvPr/>
        </p:nvSpPr>
        <p:spPr bwMode="auto">
          <a:xfrm>
            <a:off x="539750" y="3067050"/>
            <a:ext cx="36449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旋转矢量与</a:t>
            </a:r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振动曲线</a:t>
            </a:r>
          </a:p>
        </p:txBody>
      </p:sp>
      <p:grpSp>
        <p:nvGrpSpPr>
          <p:cNvPr id="8" name="Group 186"/>
          <p:cNvGrpSpPr>
            <a:grpSpLocks/>
          </p:cNvGrpSpPr>
          <p:nvPr/>
        </p:nvGrpSpPr>
        <p:grpSpPr bwMode="auto">
          <a:xfrm>
            <a:off x="4760913" y="3344863"/>
            <a:ext cx="3132137" cy="1193800"/>
            <a:chOff x="2340" y="2544"/>
            <a:chExt cx="2268" cy="1152"/>
          </a:xfrm>
        </p:grpSpPr>
        <p:sp>
          <p:nvSpPr>
            <p:cNvPr id="27733" name="Freeform 187"/>
            <p:cNvSpPr>
              <a:spLocks/>
            </p:cNvSpPr>
            <p:nvPr/>
          </p:nvSpPr>
          <p:spPr bwMode="auto">
            <a:xfrm>
              <a:off x="2340" y="2544"/>
              <a:ext cx="972" cy="1152"/>
            </a:xfrm>
            <a:custGeom>
              <a:avLst/>
              <a:gdLst>
                <a:gd name="T0" fmla="*/ 0 w 972"/>
                <a:gd name="T1" fmla="*/ 0 h 1152"/>
                <a:gd name="T2" fmla="*/ 324 w 972"/>
                <a:gd name="T3" fmla="*/ 576 h 1152"/>
                <a:gd name="T4" fmla="*/ 648 w 972"/>
                <a:gd name="T5" fmla="*/ 1152 h 1152"/>
                <a:gd name="T6" fmla="*/ 972 w 972"/>
                <a:gd name="T7" fmla="*/ 576 h 1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2"/>
                <a:gd name="T13" fmla="*/ 0 h 1152"/>
                <a:gd name="T14" fmla="*/ 972 w 972"/>
                <a:gd name="T15" fmla="*/ 1152 h 1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2" h="1152">
                  <a:moveTo>
                    <a:pt x="0" y="0"/>
                  </a:moveTo>
                  <a:cubicBezTo>
                    <a:pt x="154" y="41"/>
                    <a:pt x="222" y="368"/>
                    <a:pt x="324" y="576"/>
                  </a:cubicBezTo>
                  <a:cubicBezTo>
                    <a:pt x="426" y="784"/>
                    <a:pt x="540" y="1152"/>
                    <a:pt x="648" y="1152"/>
                  </a:cubicBezTo>
                  <a:cubicBezTo>
                    <a:pt x="756" y="1152"/>
                    <a:pt x="918" y="672"/>
                    <a:pt x="972" y="576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4" name="Freeform 188"/>
            <p:cNvSpPr>
              <a:spLocks/>
            </p:cNvSpPr>
            <p:nvPr/>
          </p:nvSpPr>
          <p:spPr bwMode="auto">
            <a:xfrm>
              <a:off x="3312" y="2544"/>
              <a:ext cx="1296" cy="1152"/>
            </a:xfrm>
            <a:custGeom>
              <a:avLst/>
              <a:gdLst>
                <a:gd name="T0" fmla="*/ 0 w 2304"/>
                <a:gd name="T1" fmla="*/ 576 h 1152"/>
                <a:gd name="T2" fmla="*/ 1 w 2304"/>
                <a:gd name="T3" fmla="*/ 0 h 1152"/>
                <a:gd name="T4" fmla="*/ 1 w 2304"/>
                <a:gd name="T5" fmla="*/ 576 h 1152"/>
                <a:gd name="T6" fmla="*/ 1 w 2304"/>
                <a:gd name="T7" fmla="*/ 1152 h 1152"/>
                <a:gd name="T8" fmla="*/ 1 w 2304"/>
                <a:gd name="T9" fmla="*/ 576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89"/>
          <p:cNvGrpSpPr>
            <a:grpSpLocks/>
          </p:cNvGrpSpPr>
          <p:nvPr/>
        </p:nvGrpSpPr>
        <p:grpSpPr bwMode="auto">
          <a:xfrm>
            <a:off x="2562225" y="3003550"/>
            <a:ext cx="5754688" cy="1627188"/>
            <a:chOff x="794" y="2360"/>
            <a:chExt cx="4166" cy="1571"/>
          </a:xfrm>
        </p:grpSpPr>
        <p:grpSp>
          <p:nvGrpSpPr>
            <p:cNvPr id="27724" name="Group 190"/>
            <p:cNvGrpSpPr>
              <a:grpSpLocks/>
            </p:cNvGrpSpPr>
            <p:nvPr/>
          </p:nvGrpSpPr>
          <p:grpSpPr bwMode="auto">
            <a:xfrm>
              <a:off x="794" y="2360"/>
              <a:ext cx="4166" cy="1571"/>
              <a:chOff x="786" y="2255"/>
              <a:chExt cx="4166" cy="1571"/>
            </a:xfrm>
          </p:grpSpPr>
          <p:sp>
            <p:nvSpPr>
              <p:cNvPr id="27726" name="Line 191"/>
              <p:cNvSpPr>
                <a:spLocks noChangeShapeType="1"/>
              </p:cNvSpPr>
              <p:nvPr/>
            </p:nvSpPr>
            <p:spPr bwMode="auto">
              <a:xfrm flipV="1">
                <a:off x="2352" y="2306"/>
                <a:ext cx="0" cy="1520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7727" name="Group 192"/>
              <p:cNvGrpSpPr>
                <a:grpSpLocks/>
              </p:cNvGrpSpPr>
              <p:nvPr/>
            </p:nvGrpSpPr>
            <p:grpSpPr bwMode="auto">
              <a:xfrm>
                <a:off x="786" y="2255"/>
                <a:ext cx="4166" cy="1146"/>
                <a:chOff x="786" y="2255"/>
                <a:chExt cx="4166" cy="1146"/>
              </a:xfrm>
            </p:grpSpPr>
            <p:sp>
              <p:nvSpPr>
                <p:cNvPr id="27729" name="Line 193"/>
                <p:cNvSpPr>
                  <a:spLocks noChangeShapeType="1"/>
                </p:cNvSpPr>
                <p:nvPr/>
              </p:nvSpPr>
              <p:spPr bwMode="auto">
                <a:xfrm>
                  <a:off x="786" y="3126"/>
                  <a:ext cx="4082" cy="0"/>
                </a:xfrm>
                <a:prstGeom prst="line">
                  <a:avLst/>
                </a:prstGeom>
                <a:noFill/>
                <a:ln w="9525">
                  <a:solidFill>
                    <a:srgbClr val="00B0F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30" name="Text Box 194"/>
                <p:cNvSpPr txBox="1">
                  <a:spLocks noChangeArrowheads="1"/>
                </p:cNvSpPr>
                <p:nvPr/>
              </p:nvSpPr>
              <p:spPr bwMode="auto">
                <a:xfrm>
                  <a:off x="4777" y="3074"/>
                  <a:ext cx="175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9pPr>
                </a:lstStyle>
                <a:p>
                  <a:r>
                    <a:rPr kumimoji="0" lang="en-US" altLang="zh-CN" sz="1600" i="1">
                      <a:solidFill>
                        <a:srgbClr val="000000"/>
                      </a:solidFill>
                      <a:ea typeface="宋体" pitchFamily="2" charset="-122"/>
                    </a:rPr>
                    <a:t>t</a:t>
                  </a:r>
                </a:p>
              </p:txBody>
            </p:sp>
            <p:sp>
              <p:nvSpPr>
                <p:cNvPr id="27731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2355" y="2262"/>
                  <a:ext cx="20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9pPr>
                </a:lstStyle>
                <a:p>
                  <a:r>
                    <a:rPr kumimoji="0" lang="en-US" altLang="zh-CN" sz="1600" i="1">
                      <a:solidFill>
                        <a:srgbClr val="000000"/>
                      </a:solidFill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27732" name="Text Box 195"/>
                <p:cNvSpPr txBox="1">
                  <a:spLocks noChangeArrowheads="1"/>
                </p:cNvSpPr>
                <p:nvPr/>
              </p:nvSpPr>
              <p:spPr bwMode="auto">
                <a:xfrm>
                  <a:off x="1568" y="2255"/>
                  <a:ext cx="20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1pPr>
                  <a:lvl2pPr marL="742950" indent="-28575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2pPr>
                  <a:lvl3pPr marL="11430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3pPr>
                  <a:lvl4pPr marL="16002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4pPr>
                  <a:lvl5pPr marL="2057400" indent="-228600" eaLnBrk="0" hangingPunct="0"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itchFamily="18" charset="0"/>
                      <a:ea typeface="黑体" pitchFamily="49" charset="-122"/>
                    </a:defRPr>
                  </a:lvl9pPr>
                </a:lstStyle>
                <a:p>
                  <a:r>
                    <a:rPr kumimoji="0" lang="en-US" altLang="zh-CN" sz="1600" i="1">
                      <a:solidFill>
                        <a:srgbClr val="000000"/>
                      </a:solidFill>
                      <a:ea typeface="宋体" pitchFamily="2" charset="-122"/>
                    </a:rPr>
                    <a:t>x</a:t>
                  </a:r>
                </a:p>
              </p:txBody>
            </p:sp>
          </p:grpSp>
          <p:sp>
            <p:nvSpPr>
              <p:cNvPr id="27728" name="Line 191"/>
              <p:cNvSpPr>
                <a:spLocks noChangeShapeType="1"/>
              </p:cNvSpPr>
              <p:nvPr/>
            </p:nvSpPr>
            <p:spPr bwMode="auto">
              <a:xfrm flipV="1">
                <a:off x="1564" y="2306"/>
                <a:ext cx="0" cy="1520"/>
              </a:xfrm>
              <a:prstGeom prst="line">
                <a:avLst/>
              </a:prstGeom>
              <a:noFill/>
              <a:ln w="9525">
                <a:solidFill>
                  <a:srgbClr val="00B0F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725" name="Oval 196"/>
            <p:cNvSpPr>
              <a:spLocks noChangeArrowheads="1"/>
            </p:cNvSpPr>
            <p:nvPr/>
          </p:nvSpPr>
          <p:spPr bwMode="auto">
            <a:xfrm>
              <a:off x="1009" y="2670"/>
              <a:ext cx="1134" cy="1134"/>
            </a:xfrm>
            <a:prstGeom prst="ellipse">
              <a:avLst/>
            </a:prstGeom>
            <a:solidFill>
              <a:srgbClr val="FFFFFF">
                <a:alpha val="79999"/>
              </a:srgbClr>
            </a:solidFill>
            <a:ln w="9525">
              <a:solidFill>
                <a:srgbClr val="00B0F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grpSp>
        <p:nvGrpSpPr>
          <p:cNvPr id="12" name="Group 197"/>
          <p:cNvGrpSpPr>
            <a:grpSpLocks/>
          </p:cNvGrpSpPr>
          <p:nvPr/>
        </p:nvGrpSpPr>
        <p:grpSpPr bwMode="auto">
          <a:xfrm>
            <a:off x="3603625" y="3298825"/>
            <a:ext cx="119063" cy="588963"/>
            <a:chOff x="1548" y="2642"/>
            <a:chExt cx="86" cy="567"/>
          </a:xfrm>
        </p:grpSpPr>
        <p:sp>
          <p:nvSpPr>
            <p:cNvPr id="27722" name="Line 198"/>
            <p:cNvSpPr>
              <a:spLocks noChangeShapeType="1"/>
            </p:cNvSpPr>
            <p:nvPr/>
          </p:nvSpPr>
          <p:spPr bwMode="auto">
            <a:xfrm flipV="1">
              <a:off x="1576" y="2670"/>
              <a:ext cx="0" cy="53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3" name="Oval 199"/>
            <p:cNvSpPr>
              <a:spLocks noChangeArrowheads="1"/>
            </p:cNvSpPr>
            <p:nvPr/>
          </p:nvSpPr>
          <p:spPr bwMode="auto">
            <a:xfrm>
              <a:off x="1548" y="2642"/>
              <a:ext cx="86" cy="8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grpSp>
        <p:nvGrpSpPr>
          <p:cNvPr id="13" name="Group 200"/>
          <p:cNvGrpSpPr>
            <a:grpSpLocks/>
          </p:cNvGrpSpPr>
          <p:nvPr/>
        </p:nvGrpSpPr>
        <p:grpSpPr bwMode="auto">
          <a:xfrm>
            <a:off x="3646488" y="3305175"/>
            <a:ext cx="1136650" cy="88900"/>
            <a:chOff x="1576" y="2642"/>
            <a:chExt cx="823" cy="86"/>
          </a:xfrm>
        </p:grpSpPr>
        <p:sp>
          <p:nvSpPr>
            <p:cNvPr id="27720" name="Line 201"/>
            <p:cNvSpPr>
              <a:spLocks noChangeShapeType="1"/>
            </p:cNvSpPr>
            <p:nvPr/>
          </p:nvSpPr>
          <p:spPr bwMode="auto">
            <a:xfrm>
              <a:off x="1576" y="2670"/>
              <a:ext cx="7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1" name="Oval 202"/>
            <p:cNvSpPr>
              <a:spLocks noChangeArrowheads="1"/>
            </p:cNvSpPr>
            <p:nvPr/>
          </p:nvSpPr>
          <p:spPr bwMode="auto">
            <a:xfrm>
              <a:off x="2313" y="2642"/>
              <a:ext cx="86" cy="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135" name="Oval 203"/>
          <p:cNvSpPr>
            <a:spLocks noChangeArrowheads="1"/>
          </p:cNvSpPr>
          <p:nvPr/>
        </p:nvSpPr>
        <p:spPr bwMode="auto">
          <a:xfrm>
            <a:off x="4660900" y="3305175"/>
            <a:ext cx="119063" cy="88900"/>
          </a:xfrm>
          <a:prstGeom prst="ellipse">
            <a:avLst/>
          </a:prstGeom>
          <a:solidFill>
            <a:srgbClr val="99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kumimoji="0" lang="zh-CN" altLang="zh-CN" sz="1800" b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14" name="Group 204"/>
          <p:cNvGrpSpPr>
            <a:grpSpLocks/>
          </p:cNvGrpSpPr>
          <p:nvPr/>
        </p:nvGrpSpPr>
        <p:grpSpPr bwMode="auto">
          <a:xfrm>
            <a:off x="3046413" y="3459163"/>
            <a:ext cx="587375" cy="441325"/>
            <a:chOff x="1122" y="2784"/>
            <a:chExt cx="425" cy="425"/>
          </a:xfrm>
        </p:grpSpPr>
        <p:sp>
          <p:nvSpPr>
            <p:cNvPr id="27718" name="Line 205"/>
            <p:cNvSpPr>
              <a:spLocks noChangeShapeType="1"/>
            </p:cNvSpPr>
            <p:nvPr/>
          </p:nvSpPr>
          <p:spPr bwMode="auto">
            <a:xfrm flipH="1" flipV="1">
              <a:off x="1179" y="2840"/>
              <a:ext cx="368" cy="369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9" name="Oval 206"/>
            <p:cNvSpPr>
              <a:spLocks noChangeArrowheads="1"/>
            </p:cNvSpPr>
            <p:nvPr/>
          </p:nvSpPr>
          <p:spPr bwMode="auto">
            <a:xfrm>
              <a:off x="1122" y="2784"/>
              <a:ext cx="86" cy="8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grpSp>
        <p:nvGrpSpPr>
          <p:cNvPr id="15" name="Group 207"/>
          <p:cNvGrpSpPr>
            <a:grpSpLocks/>
          </p:cNvGrpSpPr>
          <p:nvPr/>
        </p:nvGrpSpPr>
        <p:grpSpPr bwMode="auto">
          <a:xfrm>
            <a:off x="3143250" y="3454400"/>
            <a:ext cx="1801813" cy="88900"/>
            <a:chOff x="1207" y="2784"/>
            <a:chExt cx="1304" cy="86"/>
          </a:xfrm>
        </p:grpSpPr>
        <p:sp>
          <p:nvSpPr>
            <p:cNvPr id="27716" name="Line 208"/>
            <p:cNvSpPr>
              <a:spLocks noChangeShapeType="1"/>
            </p:cNvSpPr>
            <p:nvPr/>
          </p:nvSpPr>
          <p:spPr bwMode="auto">
            <a:xfrm>
              <a:off x="1207" y="2840"/>
              <a:ext cx="13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7" name="Oval 209"/>
            <p:cNvSpPr>
              <a:spLocks noChangeArrowheads="1"/>
            </p:cNvSpPr>
            <p:nvPr/>
          </p:nvSpPr>
          <p:spPr bwMode="auto">
            <a:xfrm>
              <a:off x="2313" y="2784"/>
              <a:ext cx="86" cy="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142" name="Oval 210"/>
          <p:cNvSpPr>
            <a:spLocks noChangeArrowheads="1"/>
          </p:cNvSpPr>
          <p:nvPr/>
        </p:nvSpPr>
        <p:spPr bwMode="auto">
          <a:xfrm>
            <a:off x="4940300" y="3481388"/>
            <a:ext cx="119063" cy="88900"/>
          </a:xfrm>
          <a:prstGeom prst="ellipse">
            <a:avLst/>
          </a:prstGeom>
          <a:solidFill>
            <a:srgbClr val="99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kumimoji="0" lang="zh-CN" altLang="zh-CN" sz="1800" b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16" name="Group 211"/>
          <p:cNvGrpSpPr>
            <a:grpSpLocks/>
          </p:cNvGrpSpPr>
          <p:nvPr/>
        </p:nvGrpSpPr>
        <p:grpSpPr bwMode="auto">
          <a:xfrm>
            <a:off x="2786063" y="3849688"/>
            <a:ext cx="862012" cy="90487"/>
            <a:chOff x="952" y="3181"/>
            <a:chExt cx="624" cy="86"/>
          </a:xfrm>
        </p:grpSpPr>
        <p:sp>
          <p:nvSpPr>
            <p:cNvPr id="27714" name="Oval 212"/>
            <p:cNvSpPr>
              <a:spLocks noChangeArrowheads="1"/>
            </p:cNvSpPr>
            <p:nvPr/>
          </p:nvSpPr>
          <p:spPr bwMode="auto">
            <a:xfrm>
              <a:off x="952" y="3181"/>
              <a:ext cx="86" cy="8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7715" name="Line 213"/>
            <p:cNvSpPr>
              <a:spLocks noChangeShapeType="1"/>
            </p:cNvSpPr>
            <p:nvPr/>
          </p:nvSpPr>
          <p:spPr bwMode="auto">
            <a:xfrm flipH="1">
              <a:off x="1009" y="3237"/>
              <a:ext cx="567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214"/>
          <p:cNvGrpSpPr>
            <a:grpSpLocks/>
          </p:cNvGrpSpPr>
          <p:nvPr/>
        </p:nvGrpSpPr>
        <p:grpSpPr bwMode="auto">
          <a:xfrm>
            <a:off x="2847975" y="3849688"/>
            <a:ext cx="2311400" cy="90487"/>
            <a:chOff x="1009" y="3181"/>
            <a:chExt cx="1673" cy="86"/>
          </a:xfrm>
        </p:grpSpPr>
        <p:sp>
          <p:nvSpPr>
            <p:cNvPr id="27712" name="Line 215"/>
            <p:cNvSpPr>
              <a:spLocks noChangeShapeType="1"/>
            </p:cNvSpPr>
            <p:nvPr/>
          </p:nvSpPr>
          <p:spPr bwMode="auto">
            <a:xfrm>
              <a:off x="1009" y="3237"/>
              <a:ext cx="16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3" name="Oval 216"/>
            <p:cNvSpPr>
              <a:spLocks noChangeArrowheads="1"/>
            </p:cNvSpPr>
            <p:nvPr/>
          </p:nvSpPr>
          <p:spPr bwMode="auto">
            <a:xfrm>
              <a:off x="2313" y="3181"/>
              <a:ext cx="86" cy="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149" name="Oval 217"/>
          <p:cNvSpPr>
            <a:spLocks noChangeArrowheads="1"/>
          </p:cNvSpPr>
          <p:nvPr/>
        </p:nvSpPr>
        <p:spPr bwMode="auto">
          <a:xfrm>
            <a:off x="5146675" y="3871913"/>
            <a:ext cx="117475" cy="87312"/>
          </a:xfrm>
          <a:prstGeom prst="ellipse">
            <a:avLst/>
          </a:prstGeom>
          <a:solidFill>
            <a:srgbClr val="99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kumimoji="0" lang="zh-CN" altLang="zh-CN" sz="1800" b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18" name="Group 218"/>
          <p:cNvGrpSpPr>
            <a:grpSpLocks/>
          </p:cNvGrpSpPr>
          <p:nvPr/>
        </p:nvGrpSpPr>
        <p:grpSpPr bwMode="auto">
          <a:xfrm>
            <a:off x="3000375" y="3905250"/>
            <a:ext cx="627063" cy="439738"/>
            <a:chOff x="1122" y="3237"/>
            <a:chExt cx="454" cy="426"/>
          </a:xfrm>
        </p:grpSpPr>
        <p:sp>
          <p:nvSpPr>
            <p:cNvPr id="27710" name="Oval 219"/>
            <p:cNvSpPr>
              <a:spLocks noChangeArrowheads="1"/>
            </p:cNvSpPr>
            <p:nvPr/>
          </p:nvSpPr>
          <p:spPr bwMode="auto">
            <a:xfrm>
              <a:off x="1122" y="3577"/>
              <a:ext cx="86" cy="8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7711" name="Line 220"/>
            <p:cNvSpPr>
              <a:spLocks noChangeShapeType="1"/>
            </p:cNvSpPr>
            <p:nvPr/>
          </p:nvSpPr>
          <p:spPr bwMode="auto">
            <a:xfrm flipH="1">
              <a:off x="1179" y="3237"/>
              <a:ext cx="397" cy="39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21"/>
          <p:cNvGrpSpPr>
            <a:grpSpLocks/>
          </p:cNvGrpSpPr>
          <p:nvPr/>
        </p:nvGrpSpPr>
        <p:grpSpPr bwMode="auto">
          <a:xfrm>
            <a:off x="3098800" y="4267200"/>
            <a:ext cx="2311400" cy="88900"/>
            <a:chOff x="1179" y="3577"/>
            <a:chExt cx="1673" cy="86"/>
          </a:xfrm>
        </p:grpSpPr>
        <p:sp>
          <p:nvSpPr>
            <p:cNvPr id="27708" name="Line 222"/>
            <p:cNvSpPr>
              <a:spLocks noChangeShapeType="1"/>
            </p:cNvSpPr>
            <p:nvPr/>
          </p:nvSpPr>
          <p:spPr bwMode="auto">
            <a:xfrm>
              <a:off x="1179" y="3634"/>
              <a:ext cx="16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9" name="Oval 223"/>
            <p:cNvSpPr>
              <a:spLocks noChangeArrowheads="1"/>
            </p:cNvSpPr>
            <p:nvPr/>
          </p:nvSpPr>
          <p:spPr bwMode="auto">
            <a:xfrm>
              <a:off x="2313" y="3577"/>
              <a:ext cx="86" cy="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156" name="Oval 224"/>
          <p:cNvSpPr>
            <a:spLocks noChangeArrowheads="1"/>
          </p:cNvSpPr>
          <p:nvPr/>
        </p:nvSpPr>
        <p:spPr bwMode="auto">
          <a:xfrm>
            <a:off x="5397500" y="4287838"/>
            <a:ext cx="119063" cy="90487"/>
          </a:xfrm>
          <a:prstGeom prst="ellipse">
            <a:avLst/>
          </a:prstGeom>
          <a:solidFill>
            <a:srgbClr val="99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kumimoji="0" lang="zh-CN" altLang="zh-CN" sz="1800" b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0" name="Group 225"/>
          <p:cNvGrpSpPr>
            <a:grpSpLocks/>
          </p:cNvGrpSpPr>
          <p:nvPr/>
        </p:nvGrpSpPr>
        <p:grpSpPr bwMode="auto">
          <a:xfrm>
            <a:off x="3603625" y="3911600"/>
            <a:ext cx="119063" cy="617538"/>
            <a:chOff x="1548" y="3237"/>
            <a:chExt cx="86" cy="597"/>
          </a:xfrm>
        </p:grpSpPr>
        <p:sp>
          <p:nvSpPr>
            <p:cNvPr id="27706" name="Oval 226"/>
            <p:cNvSpPr>
              <a:spLocks noChangeArrowheads="1"/>
            </p:cNvSpPr>
            <p:nvPr/>
          </p:nvSpPr>
          <p:spPr bwMode="auto">
            <a:xfrm>
              <a:off x="1548" y="3748"/>
              <a:ext cx="86" cy="8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sp>
          <p:nvSpPr>
            <p:cNvPr id="27707" name="Line 227"/>
            <p:cNvSpPr>
              <a:spLocks noChangeShapeType="1"/>
            </p:cNvSpPr>
            <p:nvPr/>
          </p:nvSpPr>
          <p:spPr bwMode="auto">
            <a:xfrm>
              <a:off x="1576" y="3237"/>
              <a:ext cx="0" cy="567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28"/>
          <p:cNvGrpSpPr>
            <a:grpSpLocks/>
          </p:cNvGrpSpPr>
          <p:nvPr/>
        </p:nvGrpSpPr>
        <p:grpSpPr bwMode="auto">
          <a:xfrm>
            <a:off x="3717925" y="4491038"/>
            <a:ext cx="1879600" cy="88900"/>
            <a:chOff x="1633" y="3775"/>
            <a:chExt cx="1360" cy="86"/>
          </a:xfrm>
        </p:grpSpPr>
        <p:sp>
          <p:nvSpPr>
            <p:cNvPr id="27704" name="Line 229"/>
            <p:cNvSpPr>
              <a:spLocks noChangeShapeType="1"/>
            </p:cNvSpPr>
            <p:nvPr/>
          </p:nvSpPr>
          <p:spPr bwMode="auto">
            <a:xfrm>
              <a:off x="1633" y="3804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5" name="Oval 230"/>
            <p:cNvSpPr>
              <a:spLocks noChangeArrowheads="1"/>
            </p:cNvSpPr>
            <p:nvPr/>
          </p:nvSpPr>
          <p:spPr bwMode="auto">
            <a:xfrm>
              <a:off x="2313" y="3775"/>
              <a:ext cx="86" cy="86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solidFill>
                  <a:srgbClr val="000000"/>
                </a:solidFill>
                <a:ea typeface="宋体" pitchFamily="2" charset="-122"/>
              </a:endParaRPr>
            </a:p>
          </p:txBody>
        </p:sp>
      </p:grpSp>
      <p:sp>
        <p:nvSpPr>
          <p:cNvPr id="163" name="Oval 231"/>
          <p:cNvSpPr>
            <a:spLocks noChangeArrowheads="1"/>
          </p:cNvSpPr>
          <p:nvPr/>
        </p:nvSpPr>
        <p:spPr bwMode="auto">
          <a:xfrm>
            <a:off x="5586413" y="4470400"/>
            <a:ext cx="119062" cy="88900"/>
          </a:xfrm>
          <a:prstGeom prst="ellipse">
            <a:avLst/>
          </a:prstGeom>
          <a:solidFill>
            <a:srgbClr val="99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kumimoji="0" lang="zh-CN" altLang="zh-CN" sz="1800" b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64" name="Line 232"/>
          <p:cNvSpPr>
            <a:spLocks noChangeShapeType="1"/>
          </p:cNvSpPr>
          <p:nvPr/>
        </p:nvSpPr>
        <p:spPr bwMode="auto">
          <a:xfrm>
            <a:off x="4978400" y="3568700"/>
            <a:ext cx="0" cy="3444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5" name="Line 233"/>
          <p:cNvSpPr>
            <a:spLocks noChangeShapeType="1"/>
          </p:cNvSpPr>
          <p:nvPr/>
        </p:nvSpPr>
        <p:spPr bwMode="auto">
          <a:xfrm flipV="1">
            <a:off x="5445125" y="3905250"/>
            <a:ext cx="0" cy="379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6" name="Line 234"/>
          <p:cNvSpPr>
            <a:spLocks noChangeShapeType="1"/>
          </p:cNvSpPr>
          <p:nvPr/>
        </p:nvSpPr>
        <p:spPr bwMode="auto">
          <a:xfrm flipV="1">
            <a:off x="5641975" y="3898900"/>
            <a:ext cx="0" cy="552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6821" name="Group 1109"/>
          <p:cNvGrpSpPr>
            <a:grpSpLocks/>
          </p:cNvGrpSpPr>
          <p:nvPr/>
        </p:nvGrpSpPr>
        <p:grpSpPr bwMode="auto">
          <a:xfrm>
            <a:off x="3052763" y="1414463"/>
            <a:ext cx="3103562" cy="1949450"/>
            <a:chOff x="2603" y="1207"/>
            <a:chExt cx="1955" cy="1636"/>
          </a:xfrm>
        </p:grpSpPr>
        <p:grpSp>
          <p:nvGrpSpPr>
            <p:cNvPr id="27693" name="Group 1108"/>
            <p:cNvGrpSpPr>
              <a:grpSpLocks/>
            </p:cNvGrpSpPr>
            <p:nvPr/>
          </p:nvGrpSpPr>
          <p:grpSpPr bwMode="auto">
            <a:xfrm>
              <a:off x="2603" y="1661"/>
              <a:ext cx="367" cy="771"/>
              <a:chOff x="2343" y="1661"/>
              <a:chExt cx="367" cy="771"/>
            </a:xfrm>
          </p:grpSpPr>
          <p:graphicFrame>
            <p:nvGraphicFramePr>
              <p:cNvPr id="27702" name="Object 1100"/>
              <p:cNvGraphicFramePr>
                <a:graphicFrameLocks noChangeAspect="1"/>
              </p:cNvGraphicFramePr>
              <p:nvPr/>
            </p:nvGraphicFramePr>
            <p:xfrm>
              <a:off x="2392" y="1661"/>
              <a:ext cx="318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43" name="公式" r:id="rId5" imgW="253890" imgH="190417" progId="Equation.3">
                      <p:embed/>
                    </p:oleObj>
                  </mc:Choice>
                  <mc:Fallback>
                    <p:oleObj name="公式" r:id="rId5" imgW="253890" imgH="190417" progId="Equation.3">
                      <p:embed/>
                      <p:pic>
                        <p:nvPicPr>
                          <p:cNvPr id="0" name="Object 110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92" y="1661"/>
                            <a:ext cx="318" cy="3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703" name="Object 1101"/>
              <p:cNvGraphicFramePr>
                <a:graphicFrameLocks noChangeAspect="1"/>
              </p:cNvGraphicFramePr>
              <p:nvPr/>
            </p:nvGraphicFramePr>
            <p:xfrm>
              <a:off x="2343" y="2182"/>
              <a:ext cx="322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44" name="公式" r:id="rId7" imgW="241195" imgH="139639" progId="Equation.3">
                      <p:embed/>
                    </p:oleObj>
                  </mc:Choice>
                  <mc:Fallback>
                    <p:oleObj name="公式" r:id="rId7" imgW="241195" imgH="139639" progId="Equation.3">
                      <p:embed/>
                      <p:pic>
                        <p:nvPicPr>
                          <p:cNvPr id="0" name="Object 11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43" y="2182"/>
                            <a:ext cx="322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94" name="Group 1104"/>
            <p:cNvGrpSpPr>
              <a:grpSpLocks/>
            </p:cNvGrpSpPr>
            <p:nvPr/>
          </p:nvGrpSpPr>
          <p:grpSpPr bwMode="auto">
            <a:xfrm>
              <a:off x="2680" y="1207"/>
              <a:ext cx="1878" cy="1636"/>
              <a:chOff x="2045" y="1162"/>
              <a:chExt cx="1878" cy="1636"/>
            </a:xfrm>
          </p:grpSpPr>
          <p:grpSp>
            <p:nvGrpSpPr>
              <p:cNvPr id="27695" name="Group 1099"/>
              <p:cNvGrpSpPr>
                <a:grpSpLocks/>
              </p:cNvGrpSpPr>
              <p:nvPr/>
            </p:nvGrpSpPr>
            <p:grpSpPr bwMode="auto">
              <a:xfrm>
                <a:off x="2045" y="1162"/>
                <a:ext cx="1878" cy="1636"/>
                <a:chOff x="2154" y="845"/>
                <a:chExt cx="2105" cy="1636"/>
              </a:xfrm>
            </p:grpSpPr>
            <p:graphicFrame>
              <p:nvGraphicFramePr>
                <p:cNvPr id="27697" name="Object 1094"/>
                <p:cNvGraphicFramePr>
                  <a:graphicFrameLocks noChangeAspect="1"/>
                </p:cNvGraphicFramePr>
                <p:nvPr/>
              </p:nvGraphicFramePr>
              <p:xfrm>
                <a:off x="2154" y="845"/>
                <a:ext cx="2105" cy="163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745" name="Graph" r:id="rId9" imgW="3341827" imgH="2598115" progId="Origin50.Graph">
                        <p:embed/>
                      </p:oleObj>
                    </mc:Choice>
                    <mc:Fallback>
                      <p:oleObj name="Graph" r:id="rId9" imgW="3341827" imgH="2598115" progId="Origin50.Graph">
                        <p:embed/>
                        <p:pic>
                          <p:nvPicPr>
                            <p:cNvPr id="0" name="Object 109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154" y="845"/>
                              <a:ext cx="2105" cy="163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7698" name="Line 1095"/>
                <p:cNvSpPr>
                  <a:spLocks noChangeShapeType="1"/>
                </p:cNvSpPr>
                <p:nvPr/>
              </p:nvSpPr>
              <p:spPr bwMode="auto">
                <a:xfrm>
                  <a:off x="2472" y="1661"/>
                  <a:ext cx="167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699" name="Line 1096"/>
                <p:cNvSpPr>
                  <a:spLocks noChangeShapeType="1"/>
                </p:cNvSpPr>
                <p:nvPr/>
              </p:nvSpPr>
              <p:spPr bwMode="auto">
                <a:xfrm flipV="1">
                  <a:off x="2472" y="1117"/>
                  <a:ext cx="0" cy="998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00" name="Line 1097"/>
                <p:cNvSpPr>
                  <a:spLocks noChangeShapeType="1"/>
                </p:cNvSpPr>
                <p:nvPr/>
              </p:nvSpPr>
              <p:spPr bwMode="auto">
                <a:xfrm flipH="1">
                  <a:off x="2473" y="1480"/>
                  <a:ext cx="634" cy="19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7701" name="Line 1098"/>
                <p:cNvSpPr>
                  <a:spLocks noChangeShapeType="1"/>
                </p:cNvSpPr>
                <p:nvPr/>
              </p:nvSpPr>
              <p:spPr bwMode="auto">
                <a:xfrm flipH="1">
                  <a:off x="2472" y="1933"/>
                  <a:ext cx="363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7696" name="Object 1102"/>
              <p:cNvGraphicFramePr>
                <a:graphicFrameLocks noChangeAspect="1"/>
              </p:cNvGraphicFramePr>
              <p:nvPr/>
            </p:nvGraphicFramePr>
            <p:xfrm>
              <a:off x="2109" y="1480"/>
              <a:ext cx="226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746" name="公式" r:id="rId11" imgW="126725" imgH="126725" progId="Equation.3">
                      <p:embed/>
                    </p:oleObj>
                  </mc:Choice>
                  <mc:Fallback>
                    <p:oleObj name="公式" r:id="rId11" imgW="126725" imgH="126725" progId="Equation.3">
                      <p:embed/>
                      <p:pic>
                        <p:nvPicPr>
                          <p:cNvPr id="0" name="Object 1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09" y="1480"/>
                            <a:ext cx="226" cy="22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16822" name="Rectangle 1110"/>
          <p:cNvSpPr>
            <a:spLocks noChangeArrowheads="1"/>
          </p:cNvSpPr>
          <p:nvPr/>
        </p:nvSpPr>
        <p:spPr bwMode="auto">
          <a:xfrm>
            <a:off x="3276600" y="1266825"/>
            <a:ext cx="247173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振动曲线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116823" name="Rectangle 1111"/>
          <p:cNvSpPr>
            <a:spLocks noChangeArrowheads="1"/>
          </p:cNvSpPr>
          <p:nvPr/>
        </p:nvSpPr>
        <p:spPr bwMode="auto">
          <a:xfrm>
            <a:off x="6084888" y="1266825"/>
            <a:ext cx="24717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旋转矢量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  <a:sym typeface="Symbol" pitchFamily="18" charset="2"/>
            </a:endParaRPr>
          </a:p>
        </p:txBody>
      </p:sp>
      <p:grpSp>
        <p:nvGrpSpPr>
          <p:cNvPr id="116824" name="Group 1112"/>
          <p:cNvGrpSpPr>
            <a:grpSpLocks/>
          </p:cNvGrpSpPr>
          <p:nvPr/>
        </p:nvGrpSpPr>
        <p:grpSpPr bwMode="auto">
          <a:xfrm>
            <a:off x="6084888" y="1471613"/>
            <a:ext cx="2768600" cy="1782762"/>
            <a:chOff x="3107" y="1005"/>
            <a:chExt cx="2016" cy="1679"/>
          </a:xfrm>
        </p:grpSpPr>
        <p:sp>
          <p:nvSpPr>
            <p:cNvPr id="27680" name="Oval 1113"/>
            <p:cNvSpPr>
              <a:spLocks noChangeArrowheads="1"/>
            </p:cNvSpPr>
            <p:nvPr/>
          </p:nvSpPr>
          <p:spPr bwMode="auto">
            <a:xfrm>
              <a:off x="3243" y="1298"/>
              <a:ext cx="1386" cy="138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681" name="Line 1114"/>
            <p:cNvSpPr>
              <a:spLocks noChangeShapeType="1"/>
            </p:cNvSpPr>
            <p:nvPr/>
          </p:nvSpPr>
          <p:spPr bwMode="auto">
            <a:xfrm>
              <a:off x="3107" y="2013"/>
              <a:ext cx="19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2" name="Line 1115"/>
            <p:cNvSpPr>
              <a:spLocks noChangeShapeType="1"/>
            </p:cNvSpPr>
            <p:nvPr/>
          </p:nvSpPr>
          <p:spPr bwMode="auto">
            <a:xfrm flipV="1">
              <a:off x="3947" y="1504"/>
              <a:ext cx="475" cy="50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3" name="Line 1116"/>
            <p:cNvSpPr>
              <a:spLocks noChangeShapeType="1"/>
            </p:cNvSpPr>
            <p:nvPr/>
          </p:nvSpPr>
          <p:spPr bwMode="auto">
            <a:xfrm>
              <a:off x="4422" y="1549"/>
              <a:ext cx="0" cy="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4" name="Rectangle 1117"/>
            <p:cNvSpPr>
              <a:spLocks noChangeArrowheads="1"/>
            </p:cNvSpPr>
            <p:nvPr/>
          </p:nvSpPr>
          <p:spPr bwMode="auto">
            <a:xfrm>
              <a:off x="4196" y="1685"/>
              <a:ext cx="219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</a:t>
              </a:r>
            </a:p>
          </p:txBody>
        </p:sp>
        <p:sp>
          <p:nvSpPr>
            <p:cNvPr id="27685" name="Arc 1118"/>
            <p:cNvSpPr>
              <a:spLocks/>
            </p:cNvSpPr>
            <p:nvPr/>
          </p:nvSpPr>
          <p:spPr bwMode="auto">
            <a:xfrm rot="1585560">
              <a:off x="4105" y="1832"/>
              <a:ext cx="196" cy="139"/>
            </a:xfrm>
            <a:custGeom>
              <a:avLst/>
              <a:gdLst>
                <a:gd name="T0" fmla="*/ 0 w 30455"/>
                <a:gd name="T1" fmla="*/ 0 h 21600"/>
                <a:gd name="T2" fmla="*/ 0 w 30455"/>
                <a:gd name="T3" fmla="*/ 0 h 21600"/>
                <a:gd name="T4" fmla="*/ 0 w 3045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455" h="21600" fill="none" extrusionOk="0">
                  <a:moveTo>
                    <a:pt x="-1" y="1898"/>
                  </a:moveTo>
                  <a:cubicBezTo>
                    <a:pt x="2784" y="647"/>
                    <a:pt x="5802" y="-1"/>
                    <a:pt x="8855" y="0"/>
                  </a:cubicBezTo>
                  <a:cubicBezTo>
                    <a:pt x="20784" y="0"/>
                    <a:pt x="30455" y="9670"/>
                    <a:pt x="30455" y="21600"/>
                  </a:cubicBezTo>
                </a:path>
                <a:path w="30455" h="21600" stroke="0" extrusionOk="0">
                  <a:moveTo>
                    <a:pt x="-1" y="1898"/>
                  </a:moveTo>
                  <a:cubicBezTo>
                    <a:pt x="2784" y="647"/>
                    <a:pt x="5802" y="-1"/>
                    <a:pt x="8855" y="0"/>
                  </a:cubicBezTo>
                  <a:cubicBezTo>
                    <a:pt x="20784" y="0"/>
                    <a:pt x="30455" y="9670"/>
                    <a:pt x="30455" y="21600"/>
                  </a:cubicBezTo>
                  <a:lnTo>
                    <a:pt x="8855" y="21600"/>
                  </a:lnTo>
                  <a:lnTo>
                    <a:pt x="-1" y="1898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6" name="Arc 1119"/>
            <p:cNvSpPr>
              <a:spLocks/>
            </p:cNvSpPr>
            <p:nvPr/>
          </p:nvSpPr>
          <p:spPr bwMode="auto">
            <a:xfrm rot="-4985415">
              <a:off x="3611" y="1164"/>
              <a:ext cx="294" cy="396"/>
            </a:xfrm>
            <a:custGeom>
              <a:avLst/>
              <a:gdLst>
                <a:gd name="T0" fmla="*/ 0 w 21600"/>
                <a:gd name="T1" fmla="*/ 0 h 19136"/>
                <a:gd name="T2" fmla="*/ 0 w 21600"/>
                <a:gd name="T3" fmla="*/ 0 h 19136"/>
                <a:gd name="T4" fmla="*/ 0 w 21600"/>
                <a:gd name="T5" fmla="*/ 0 h 191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9136" fill="none" extrusionOk="0">
                  <a:moveTo>
                    <a:pt x="10018" y="0"/>
                  </a:moveTo>
                  <a:cubicBezTo>
                    <a:pt x="17138" y="3727"/>
                    <a:pt x="21600" y="11099"/>
                    <a:pt x="21600" y="19136"/>
                  </a:cubicBezTo>
                </a:path>
                <a:path w="21600" h="19136" stroke="0" extrusionOk="0">
                  <a:moveTo>
                    <a:pt x="10018" y="0"/>
                  </a:moveTo>
                  <a:cubicBezTo>
                    <a:pt x="17138" y="3727"/>
                    <a:pt x="21600" y="11099"/>
                    <a:pt x="21600" y="19136"/>
                  </a:cubicBezTo>
                  <a:lnTo>
                    <a:pt x="0" y="19136"/>
                  </a:lnTo>
                  <a:lnTo>
                    <a:pt x="10018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7" name="Rectangle 1120"/>
            <p:cNvSpPr>
              <a:spLocks noChangeArrowheads="1"/>
            </p:cNvSpPr>
            <p:nvPr/>
          </p:nvSpPr>
          <p:spPr bwMode="auto">
            <a:xfrm>
              <a:off x="4332" y="1957"/>
              <a:ext cx="205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x</a:t>
              </a:r>
            </a:p>
          </p:txBody>
        </p:sp>
        <p:sp>
          <p:nvSpPr>
            <p:cNvPr id="27688" name="Text Box 1121"/>
            <p:cNvSpPr txBox="1">
              <a:spLocks noChangeArrowheads="1"/>
            </p:cNvSpPr>
            <p:nvPr/>
          </p:nvSpPr>
          <p:spPr bwMode="auto">
            <a:xfrm>
              <a:off x="4913" y="1957"/>
              <a:ext cx="210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27689" name="Rectangle 1122"/>
            <p:cNvSpPr>
              <a:spLocks noChangeArrowheads="1"/>
            </p:cNvSpPr>
            <p:nvPr/>
          </p:nvSpPr>
          <p:spPr bwMode="auto">
            <a:xfrm>
              <a:off x="3560" y="1005"/>
              <a:ext cx="230" cy="3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</a:t>
              </a:r>
            </a:p>
          </p:txBody>
        </p:sp>
        <p:sp>
          <p:nvSpPr>
            <p:cNvPr id="27690" name="Text Box 1123"/>
            <p:cNvSpPr txBox="1">
              <a:spLocks noChangeArrowheads="1"/>
            </p:cNvSpPr>
            <p:nvPr/>
          </p:nvSpPr>
          <p:spPr bwMode="auto">
            <a:xfrm>
              <a:off x="3787" y="2002"/>
              <a:ext cx="252" cy="3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27691" name="Oval 1124"/>
            <p:cNvSpPr>
              <a:spLocks noChangeArrowheads="1"/>
            </p:cNvSpPr>
            <p:nvPr/>
          </p:nvSpPr>
          <p:spPr bwMode="auto">
            <a:xfrm>
              <a:off x="4377" y="1459"/>
              <a:ext cx="91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7692" name="Line 1125"/>
            <p:cNvSpPr>
              <a:spLocks noChangeShapeType="1"/>
            </p:cNvSpPr>
            <p:nvPr/>
          </p:nvSpPr>
          <p:spPr bwMode="auto">
            <a:xfrm>
              <a:off x="3198" y="1504"/>
              <a:ext cx="185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16838" name="Object 1126"/>
          <p:cNvGraphicFramePr>
            <a:graphicFrameLocks noChangeAspect="1"/>
          </p:cNvGraphicFramePr>
          <p:nvPr/>
        </p:nvGraphicFramePr>
        <p:xfrm>
          <a:off x="307975" y="2120900"/>
          <a:ext cx="2590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7" name="公式" r:id="rId13" imgW="914003" imgH="177723" progId="Equation.3">
                  <p:embed/>
                </p:oleObj>
              </mc:Choice>
              <mc:Fallback>
                <p:oleObj name="公式" r:id="rId13" imgW="914003" imgH="177723" progId="Equation.3">
                  <p:embed/>
                  <p:pic>
                    <p:nvPicPr>
                      <p:cNvPr id="0" name="Object 1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" y="2120900"/>
                        <a:ext cx="2590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9" name="Object 1127"/>
          <p:cNvGraphicFramePr>
            <a:graphicFrameLocks noChangeAspect="1"/>
          </p:cNvGraphicFramePr>
          <p:nvPr/>
        </p:nvGraphicFramePr>
        <p:xfrm>
          <a:off x="125413" y="2552700"/>
          <a:ext cx="280511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48" name="公式" r:id="rId15" imgW="990170" imgH="215806" progId="Equation.3">
                  <p:embed/>
                </p:oleObj>
              </mc:Choice>
              <mc:Fallback>
                <p:oleObj name="公式" r:id="rId15" imgW="990170" imgH="215806" progId="Equation.3">
                  <p:embed/>
                  <p:pic>
                    <p:nvPicPr>
                      <p:cNvPr id="0" name="Object 1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2552700"/>
                        <a:ext cx="280511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11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116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116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6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6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6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6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6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utoUpdateAnimBg="0"/>
      <p:bldP spid="45061" grpId="0" autoUpdateAnimBg="0"/>
      <p:bldP spid="114" grpId="0" autoUpdateAnimBg="0"/>
      <p:bldP spid="135" grpId="0" animBg="1"/>
      <p:bldP spid="142" grpId="0" animBg="1"/>
      <p:bldP spid="149" grpId="0" animBg="1"/>
      <p:bldP spid="156" grpId="0" animBg="1"/>
      <p:bldP spid="163" grpId="0" animBg="1"/>
      <p:bldP spid="164" grpId="0" animBg="1"/>
      <p:bldP spid="165" grpId="0" animBg="1"/>
      <p:bldP spid="166" grpId="0" animBg="1"/>
      <p:bldP spid="116822" grpId="0" autoUpdateAnimBg="0"/>
      <p:bldP spid="11682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539750" y="889000"/>
            <a:ext cx="8015288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    振动曲线如图 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)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(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b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)</a:t>
            </a:r>
            <a:r>
              <a:rPr lang="zh-CN" altLang="zh-CN" sz="1800">
                <a:solidFill>
                  <a:srgbClr val="0000FF"/>
                </a:solidFill>
                <a:ea typeface="华文中宋" pitchFamily="2" charset="-122"/>
              </a:rPr>
              <a:t>所示，写出它们的振动方程。</a:t>
            </a:r>
            <a:endParaRPr lang="zh-CN" altLang="en-US" sz="1800">
              <a:solidFill>
                <a:srgbClr val="0000FF"/>
              </a:solidFill>
              <a:ea typeface="华文中宋" pitchFamily="2" charset="-122"/>
            </a:endParaRPr>
          </a:p>
        </p:txBody>
      </p:sp>
      <p:grpSp>
        <p:nvGrpSpPr>
          <p:cNvPr id="28679" name="Group 7"/>
          <p:cNvGrpSpPr>
            <a:grpSpLocks/>
          </p:cNvGrpSpPr>
          <p:nvPr/>
        </p:nvGrpSpPr>
        <p:grpSpPr bwMode="auto">
          <a:xfrm>
            <a:off x="539750" y="1152525"/>
            <a:ext cx="4114800" cy="1706563"/>
            <a:chOff x="240" y="960"/>
            <a:chExt cx="2976" cy="1500"/>
          </a:xfrm>
        </p:grpSpPr>
        <p:grpSp>
          <p:nvGrpSpPr>
            <p:cNvPr id="28712" name="Group 8"/>
            <p:cNvGrpSpPr>
              <a:grpSpLocks/>
            </p:cNvGrpSpPr>
            <p:nvPr/>
          </p:nvGrpSpPr>
          <p:grpSpPr bwMode="auto">
            <a:xfrm>
              <a:off x="240" y="960"/>
              <a:ext cx="2976" cy="1344"/>
              <a:chOff x="240" y="960"/>
              <a:chExt cx="2976" cy="1344"/>
            </a:xfrm>
          </p:grpSpPr>
          <p:sp>
            <p:nvSpPr>
              <p:cNvPr id="28714" name="Line 9"/>
              <p:cNvSpPr>
                <a:spLocks noChangeShapeType="1"/>
              </p:cNvSpPr>
              <p:nvPr/>
            </p:nvSpPr>
            <p:spPr bwMode="auto">
              <a:xfrm flipV="1">
                <a:off x="240" y="1738"/>
                <a:ext cx="2496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lg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5" name="Line 10"/>
              <p:cNvSpPr>
                <a:spLocks noChangeShapeType="1"/>
              </p:cNvSpPr>
              <p:nvPr/>
            </p:nvSpPr>
            <p:spPr bwMode="auto">
              <a:xfrm>
                <a:off x="589" y="1212"/>
                <a:ext cx="0" cy="10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6" name="Freeform 11"/>
              <p:cNvSpPr>
                <a:spLocks/>
              </p:cNvSpPr>
              <p:nvPr/>
            </p:nvSpPr>
            <p:spPr bwMode="auto">
              <a:xfrm>
                <a:off x="586" y="1377"/>
                <a:ext cx="1910" cy="668"/>
              </a:xfrm>
              <a:custGeom>
                <a:avLst/>
                <a:gdLst>
                  <a:gd name="T0" fmla="*/ 0 w 1910"/>
                  <a:gd name="T1" fmla="*/ 27 h 668"/>
                  <a:gd name="T2" fmla="*/ 92 w 1910"/>
                  <a:gd name="T3" fmla="*/ 56 h 668"/>
                  <a:gd name="T4" fmla="*/ 239 w 1910"/>
                  <a:gd name="T5" fmla="*/ 363 h 668"/>
                  <a:gd name="T6" fmla="*/ 478 w 1910"/>
                  <a:gd name="T7" fmla="*/ 657 h 668"/>
                  <a:gd name="T8" fmla="*/ 722 w 1910"/>
                  <a:gd name="T9" fmla="*/ 363 h 668"/>
                  <a:gd name="T10" fmla="*/ 974 w 1910"/>
                  <a:gd name="T11" fmla="*/ 27 h 668"/>
                  <a:gd name="T12" fmla="*/ 1194 w 1910"/>
                  <a:gd name="T13" fmla="*/ 363 h 668"/>
                  <a:gd name="T14" fmla="*/ 1433 w 1910"/>
                  <a:gd name="T15" fmla="*/ 668 h 668"/>
                  <a:gd name="T16" fmla="*/ 1679 w 1910"/>
                  <a:gd name="T17" fmla="*/ 363 h 668"/>
                  <a:gd name="T18" fmla="*/ 1910 w 1910"/>
                  <a:gd name="T19" fmla="*/ 48 h 66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910" h="668">
                    <a:moveTo>
                      <a:pt x="0" y="27"/>
                    </a:moveTo>
                    <a:cubicBezTo>
                      <a:pt x="15" y="32"/>
                      <a:pt x="52" y="0"/>
                      <a:pt x="92" y="56"/>
                    </a:cubicBezTo>
                    <a:cubicBezTo>
                      <a:pt x="132" y="112"/>
                      <a:pt x="175" y="263"/>
                      <a:pt x="239" y="363"/>
                    </a:cubicBezTo>
                    <a:cubicBezTo>
                      <a:pt x="303" y="463"/>
                      <a:pt x="398" y="657"/>
                      <a:pt x="478" y="657"/>
                    </a:cubicBezTo>
                    <a:cubicBezTo>
                      <a:pt x="558" y="657"/>
                      <a:pt x="639" y="468"/>
                      <a:pt x="722" y="363"/>
                    </a:cubicBezTo>
                    <a:cubicBezTo>
                      <a:pt x="805" y="258"/>
                      <a:pt x="895" y="27"/>
                      <a:pt x="974" y="27"/>
                    </a:cubicBezTo>
                    <a:cubicBezTo>
                      <a:pt x="1053" y="27"/>
                      <a:pt x="1118" y="256"/>
                      <a:pt x="1194" y="363"/>
                    </a:cubicBezTo>
                    <a:cubicBezTo>
                      <a:pt x="1270" y="470"/>
                      <a:pt x="1352" y="668"/>
                      <a:pt x="1433" y="668"/>
                    </a:cubicBezTo>
                    <a:cubicBezTo>
                      <a:pt x="1513" y="668"/>
                      <a:pt x="1599" y="467"/>
                      <a:pt x="1679" y="363"/>
                    </a:cubicBezTo>
                    <a:cubicBezTo>
                      <a:pt x="1758" y="260"/>
                      <a:pt x="1862" y="114"/>
                      <a:pt x="1910" y="48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7" name="Text Box 12"/>
              <p:cNvSpPr txBox="1">
                <a:spLocks noChangeArrowheads="1"/>
              </p:cNvSpPr>
              <p:nvPr/>
            </p:nvSpPr>
            <p:spPr bwMode="auto">
              <a:xfrm>
                <a:off x="322" y="1357"/>
                <a:ext cx="276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5</a:t>
                </a:r>
              </a:p>
            </p:txBody>
          </p:sp>
          <p:sp>
            <p:nvSpPr>
              <p:cNvPr id="28718" name="Rectangle 13"/>
              <p:cNvSpPr>
                <a:spLocks noChangeArrowheads="1"/>
              </p:cNvSpPr>
              <p:nvPr/>
            </p:nvSpPr>
            <p:spPr bwMode="auto">
              <a:xfrm>
                <a:off x="393" y="1740"/>
                <a:ext cx="203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2" name="Line 14"/>
              <p:cNvSpPr>
                <a:spLocks noChangeShapeType="1"/>
              </p:cNvSpPr>
              <p:nvPr/>
            </p:nvSpPr>
            <p:spPr bwMode="auto">
              <a:xfrm>
                <a:off x="1056" y="1692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20" name="Line 15"/>
              <p:cNvSpPr>
                <a:spLocks noChangeShapeType="1"/>
              </p:cNvSpPr>
              <p:nvPr/>
            </p:nvSpPr>
            <p:spPr bwMode="auto">
              <a:xfrm>
                <a:off x="1536" y="1692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21" name="Line 16"/>
              <p:cNvSpPr>
                <a:spLocks noChangeShapeType="1"/>
              </p:cNvSpPr>
              <p:nvPr/>
            </p:nvSpPr>
            <p:spPr bwMode="auto">
              <a:xfrm>
                <a:off x="2016" y="1692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" name="Text Box 17"/>
              <p:cNvSpPr txBox="1">
                <a:spLocks noChangeArrowheads="1"/>
              </p:cNvSpPr>
              <p:nvPr/>
            </p:nvSpPr>
            <p:spPr bwMode="auto">
              <a:xfrm>
                <a:off x="1345" y="1692"/>
                <a:ext cx="383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0.4</a:t>
                </a:r>
              </a:p>
            </p:txBody>
          </p:sp>
          <p:sp>
            <p:nvSpPr>
              <p:cNvPr id="28723" name="Rectangle 18"/>
              <p:cNvSpPr>
                <a:spLocks noChangeArrowheads="1"/>
              </p:cNvSpPr>
              <p:nvPr/>
            </p:nvSpPr>
            <p:spPr bwMode="auto">
              <a:xfrm>
                <a:off x="1824" y="1725"/>
                <a:ext cx="307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0.6</a:t>
                </a:r>
              </a:p>
            </p:txBody>
          </p:sp>
          <p:sp>
            <p:nvSpPr>
              <p:cNvPr id="4" name="Rectangle 19"/>
              <p:cNvSpPr>
                <a:spLocks noChangeArrowheads="1"/>
              </p:cNvSpPr>
              <p:nvPr/>
            </p:nvSpPr>
            <p:spPr bwMode="auto">
              <a:xfrm>
                <a:off x="912" y="1725"/>
                <a:ext cx="307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0.2</a:t>
                </a:r>
              </a:p>
            </p:txBody>
          </p:sp>
          <p:sp>
            <p:nvSpPr>
              <p:cNvPr id="28725" name="Text Box 20"/>
              <p:cNvSpPr txBox="1">
                <a:spLocks noChangeArrowheads="1"/>
              </p:cNvSpPr>
              <p:nvPr/>
            </p:nvSpPr>
            <p:spPr bwMode="auto">
              <a:xfrm>
                <a:off x="2736" y="1596"/>
                <a:ext cx="480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i="1">
                    <a:solidFill>
                      <a:srgbClr val="000000"/>
                    </a:solidFill>
                    <a:ea typeface="宋体" pitchFamily="2" charset="-122"/>
                  </a:rPr>
                  <a:t>t</a:t>
                </a:r>
                <a:r>
                  <a:rPr lang="en-US" altLang="zh-CN" sz="1500" b="0" i="1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(s)</a:t>
                </a:r>
                <a:endParaRPr lang="en-US" altLang="zh-CN" sz="1500" b="0" i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8726" name="Text Box 21"/>
              <p:cNvSpPr txBox="1">
                <a:spLocks noChangeArrowheads="1"/>
              </p:cNvSpPr>
              <p:nvPr/>
            </p:nvSpPr>
            <p:spPr bwMode="auto">
              <a:xfrm>
                <a:off x="433" y="960"/>
                <a:ext cx="623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i="1">
                    <a:solidFill>
                      <a:srgbClr val="000000"/>
                    </a:solidFill>
                    <a:ea typeface="宋体" pitchFamily="2" charset="-122"/>
                  </a:rPr>
                  <a:t>x</a:t>
                </a: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(cm)</a:t>
                </a:r>
                <a:endParaRPr lang="en-US" altLang="zh-CN" sz="1500" b="0" i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8713" name="Text Box 22"/>
            <p:cNvSpPr txBox="1">
              <a:spLocks noChangeArrowheads="1"/>
            </p:cNvSpPr>
            <p:nvPr/>
          </p:nvSpPr>
          <p:spPr bwMode="auto">
            <a:xfrm>
              <a:off x="1248" y="2176"/>
              <a:ext cx="384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b="0">
                  <a:solidFill>
                    <a:srgbClr val="000000"/>
                  </a:solidFill>
                  <a:ea typeface="宋体" pitchFamily="2" charset="-122"/>
                </a:rPr>
                <a:t>(</a:t>
              </a:r>
              <a:r>
                <a:rPr lang="en-US" altLang="zh-CN" sz="1500" i="1">
                  <a:solidFill>
                    <a:srgbClr val="000000"/>
                  </a:solidFill>
                  <a:ea typeface="宋体" pitchFamily="2" charset="-122"/>
                </a:rPr>
                <a:t>a</a:t>
              </a:r>
              <a:r>
                <a:rPr lang="en-US" altLang="zh-CN" sz="1500" b="0">
                  <a:solidFill>
                    <a:srgbClr val="000000"/>
                  </a:solidFill>
                  <a:ea typeface="宋体" pitchFamily="2" charset="-122"/>
                </a:rPr>
                <a:t>)</a:t>
              </a:r>
            </a:p>
          </p:txBody>
        </p:sp>
      </p:grpSp>
      <p:grpSp>
        <p:nvGrpSpPr>
          <p:cNvPr id="28724" name="Group 52"/>
          <p:cNvGrpSpPr>
            <a:grpSpLocks/>
          </p:cNvGrpSpPr>
          <p:nvPr/>
        </p:nvGrpSpPr>
        <p:grpSpPr bwMode="auto">
          <a:xfrm>
            <a:off x="4859338" y="1149350"/>
            <a:ext cx="3810000" cy="1649413"/>
            <a:chOff x="3061" y="527"/>
            <a:chExt cx="2400" cy="1385"/>
          </a:xfrm>
        </p:grpSpPr>
        <p:grpSp>
          <p:nvGrpSpPr>
            <p:cNvPr id="28695" name="Group 26"/>
            <p:cNvGrpSpPr>
              <a:grpSpLocks/>
            </p:cNvGrpSpPr>
            <p:nvPr/>
          </p:nvGrpSpPr>
          <p:grpSpPr bwMode="auto">
            <a:xfrm>
              <a:off x="3061" y="527"/>
              <a:ext cx="2400" cy="1385"/>
              <a:chOff x="3168" y="2486"/>
              <a:chExt cx="2400" cy="1385"/>
            </a:xfrm>
          </p:grpSpPr>
          <p:sp>
            <p:nvSpPr>
              <p:cNvPr id="28701" name="Line 27"/>
              <p:cNvSpPr>
                <a:spLocks noChangeShapeType="1"/>
              </p:cNvSpPr>
              <p:nvPr/>
            </p:nvSpPr>
            <p:spPr bwMode="auto">
              <a:xfrm flipV="1">
                <a:off x="3168" y="3239"/>
                <a:ext cx="2013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lg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02" name="Line 28"/>
              <p:cNvSpPr>
                <a:spLocks noChangeShapeType="1"/>
              </p:cNvSpPr>
              <p:nvPr/>
            </p:nvSpPr>
            <p:spPr bwMode="auto">
              <a:xfrm>
                <a:off x="3442" y="2730"/>
                <a:ext cx="0" cy="10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stealth" w="med" len="lg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03" name="Text Box 29"/>
              <p:cNvSpPr txBox="1">
                <a:spLocks noChangeArrowheads="1"/>
              </p:cNvSpPr>
              <p:nvPr/>
            </p:nvSpPr>
            <p:spPr bwMode="auto">
              <a:xfrm>
                <a:off x="3234" y="2869"/>
                <a:ext cx="222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3</a:t>
                </a:r>
              </a:p>
            </p:txBody>
          </p:sp>
          <p:sp>
            <p:nvSpPr>
              <p:cNvPr id="28704" name="Rectangle 30"/>
              <p:cNvSpPr>
                <a:spLocks noChangeArrowheads="1"/>
              </p:cNvSpPr>
              <p:nvPr/>
            </p:nvSpPr>
            <p:spPr bwMode="auto">
              <a:xfrm>
                <a:off x="3291" y="3240"/>
                <a:ext cx="17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</a:t>
                </a:r>
              </a:p>
            </p:txBody>
          </p:sp>
          <p:sp>
            <p:nvSpPr>
              <p:cNvPr id="28705" name="Text Box 31"/>
              <p:cNvSpPr txBox="1">
                <a:spLocks noChangeArrowheads="1"/>
              </p:cNvSpPr>
              <p:nvPr/>
            </p:nvSpPr>
            <p:spPr bwMode="auto">
              <a:xfrm>
                <a:off x="3984" y="3216"/>
                <a:ext cx="568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0.2</a:t>
                </a:r>
              </a:p>
            </p:txBody>
          </p:sp>
          <p:sp>
            <p:nvSpPr>
              <p:cNvPr id="28706" name="Rectangle 32"/>
              <p:cNvSpPr>
                <a:spLocks noChangeArrowheads="1"/>
              </p:cNvSpPr>
              <p:nvPr/>
            </p:nvSpPr>
            <p:spPr bwMode="auto">
              <a:xfrm>
                <a:off x="4492" y="3260"/>
                <a:ext cx="268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0.3</a:t>
                </a:r>
              </a:p>
            </p:txBody>
          </p:sp>
          <p:sp>
            <p:nvSpPr>
              <p:cNvPr id="28707" name="Rectangle 33"/>
              <p:cNvSpPr>
                <a:spLocks noChangeArrowheads="1"/>
              </p:cNvSpPr>
              <p:nvPr/>
            </p:nvSpPr>
            <p:spPr bwMode="auto">
              <a:xfrm>
                <a:off x="3594" y="3225"/>
                <a:ext cx="268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0.1</a:t>
                </a:r>
              </a:p>
            </p:txBody>
          </p:sp>
          <p:sp>
            <p:nvSpPr>
              <p:cNvPr id="28708" name="Text Box 34"/>
              <p:cNvSpPr txBox="1">
                <a:spLocks noChangeArrowheads="1"/>
              </p:cNvSpPr>
              <p:nvPr/>
            </p:nvSpPr>
            <p:spPr bwMode="auto">
              <a:xfrm>
                <a:off x="5181" y="3101"/>
                <a:ext cx="387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500" i="1">
                    <a:solidFill>
                      <a:srgbClr val="000000"/>
                    </a:solidFill>
                    <a:ea typeface="宋体" pitchFamily="2" charset="-122"/>
                  </a:rPr>
                  <a:t>t</a:t>
                </a:r>
                <a:r>
                  <a:rPr lang="en-US" altLang="zh-CN" sz="1500" b="0" i="1">
                    <a:solidFill>
                      <a:srgbClr val="000000"/>
                    </a:solidFill>
                    <a:ea typeface="宋体" pitchFamily="2" charset="-122"/>
                  </a:rPr>
                  <a:t> </a:t>
                </a: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(s)</a:t>
                </a:r>
                <a:endParaRPr lang="en-US" altLang="zh-CN" sz="1500" b="0" i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8709" name="Text Box 35"/>
              <p:cNvSpPr txBox="1">
                <a:spLocks noChangeArrowheads="1"/>
              </p:cNvSpPr>
              <p:nvPr/>
            </p:nvSpPr>
            <p:spPr bwMode="auto">
              <a:xfrm>
                <a:off x="3322" y="2486"/>
                <a:ext cx="710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0" lang="en-US" altLang="zh-CN" sz="1500" i="1">
                    <a:solidFill>
                      <a:srgbClr val="000000"/>
                    </a:solidFill>
                    <a:ea typeface="宋体" pitchFamily="2" charset="-122"/>
                  </a:rPr>
                  <a:t>x</a:t>
                </a:r>
                <a:r>
                  <a:rPr kumimoji="0"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(</a:t>
                </a: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cm)</a:t>
                </a:r>
                <a:endParaRPr lang="en-US" altLang="zh-CN" sz="1500" b="0" i="1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28710" name="Freeform 36"/>
              <p:cNvSpPr>
                <a:spLocks/>
              </p:cNvSpPr>
              <p:nvPr/>
            </p:nvSpPr>
            <p:spPr bwMode="auto">
              <a:xfrm>
                <a:off x="3441" y="2997"/>
                <a:ext cx="1356" cy="510"/>
              </a:xfrm>
              <a:custGeom>
                <a:avLst/>
                <a:gdLst>
                  <a:gd name="T0" fmla="*/ 0 w 1596"/>
                  <a:gd name="T1" fmla="*/ 197 h 528"/>
                  <a:gd name="T2" fmla="*/ 73 w 1596"/>
                  <a:gd name="T3" fmla="*/ 9 h 528"/>
                  <a:gd name="T4" fmla="*/ 147 w 1596"/>
                  <a:gd name="T5" fmla="*/ 197 h 528"/>
                  <a:gd name="T6" fmla="*/ 223 w 1596"/>
                  <a:gd name="T7" fmla="*/ 414 h 528"/>
                  <a:gd name="T8" fmla="*/ 291 w 1596"/>
                  <a:gd name="T9" fmla="*/ 197 h 528"/>
                  <a:gd name="T10" fmla="*/ 364 w 1596"/>
                  <a:gd name="T11" fmla="*/ 0 h 528"/>
                  <a:gd name="T12" fmla="*/ 439 w 1596"/>
                  <a:gd name="T13" fmla="*/ 197 h 528"/>
                  <a:gd name="T14" fmla="*/ 511 w 1596"/>
                  <a:gd name="T15" fmla="*/ 401 h 5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96" h="528">
                    <a:moveTo>
                      <a:pt x="0" y="251"/>
                    </a:moveTo>
                    <a:cubicBezTo>
                      <a:pt x="38" y="211"/>
                      <a:pt x="152" y="9"/>
                      <a:pt x="228" y="9"/>
                    </a:cubicBezTo>
                    <a:cubicBezTo>
                      <a:pt x="305" y="9"/>
                      <a:pt x="382" y="165"/>
                      <a:pt x="461" y="251"/>
                    </a:cubicBezTo>
                    <a:cubicBezTo>
                      <a:pt x="541" y="338"/>
                      <a:pt x="627" y="528"/>
                      <a:pt x="702" y="528"/>
                    </a:cubicBezTo>
                    <a:cubicBezTo>
                      <a:pt x="778" y="528"/>
                      <a:pt x="840" y="339"/>
                      <a:pt x="912" y="251"/>
                    </a:cubicBezTo>
                    <a:cubicBezTo>
                      <a:pt x="985" y="163"/>
                      <a:pt x="1063" y="0"/>
                      <a:pt x="1140" y="0"/>
                    </a:cubicBezTo>
                    <a:cubicBezTo>
                      <a:pt x="1217" y="0"/>
                      <a:pt x="1299" y="166"/>
                      <a:pt x="1375" y="251"/>
                    </a:cubicBezTo>
                    <a:cubicBezTo>
                      <a:pt x="1451" y="336"/>
                      <a:pt x="1550" y="456"/>
                      <a:pt x="1596" y="511"/>
                    </a:cubicBezTo>
                  </a:path>
                </a:pathLst>
              </a:custGeom>
              <a:noFill/>
              <a:ln w="28575" cmpd="sng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11" name="Rectangle 37"/>
              <p:cNvSpPr>
                <a:spLocks noChangeArrowheads="1"/>
              </p:cNvSpPr>
              <p:nvPr/>
            </p:nvSpPr>
            <p:spPr bwMode="auto">
              <a:xfrm>
                <a:off x="4056" y="3600"/>
                <a:ext cx="258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(</a:t>
                </a:r>
                <a:r>
                  <a:rPr lang="en-US" altLang="zh-CN" sz="1500" i="1">
                    <a:solidFill>
                      <a:srgbClr val="000000"/>
                    </a:solidFill>
                    <a:ea typeface="宋体" pitchFamily="2" charset="-122"/>
                  </a:rPr>
                  <a:t>b</a:t>
                </a:r>
                <a:r>
                  <a:rPr lang="en-US" altLang="zh-CN" sz="1500" b="0">
                    <a:solidFill>
                      <a:srgbClr val="000000"/>
                    </a:solidFill>
                    <a:ea typeface="宋体" pitchFamily="2" charset="-122"/>
                  </a:rPr>
                  <a:t>)</a:t>
                </a:r>
              </a:p>
            </p:txBody>
          </p:sp>
        </p:grpSp>
        <p:grpSp>
          <p:nvGrpSpPr>
            <p:cNvPr id="28696" name="Group 38"/>
            <p:cNvGrpSpPr>
              <a:grpSpLocks/>
            </p:cNvGrpSpPr>
            <p:nvPr/>
          </p:nvGrpSpPr>
          <p:grpSpPr bwMode="auto">
            <a:xfrm>
              <a:off x="3357" y="1031"/>
              <a:ext cx="1154" cy="243"/>
              <a:chOff x="3446" y="2997"/>
              <a:chExt cx="1154" cy="243"/>
            </a:xfrm>
          </p:grpSpPr>
          <p:sp>
            <p:nvSpPr>
              <p:cNvPr id="28697" name="Line 39"/>
              <p:cNvSpPr>
                <a:spLocks noChangeShapeType="1"/>
              </p:cNvSpPr>
              <p:nvPr/>
            </p:nvSpPr>
            <p:spPr bwMode="auto">
              <a:xfrm>
                <a:off x="3826" y="319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98" name="Line 40"/>
              <p:cNvSpPr>
                <a:spLocks noChangeShapeType="1"/>
              </p:cNvSpPr>
              <p:nvPr/>
            </p:nvSpPr>
            <p:spPr bwMode="auto">
              <a:xfrm>
                <a:off x="4214" y="319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699" name="Line 41"/>
              <p:cNvSpPr>
                <a:spLocks noChangeShapeType="1"/>
              </p:cNvSpPr>
              <p:nvPr/>
            </p:nvSpPr>
            <p:spPr bwMode="auto">
              <a:xfrm>
                <a:off x="4600" y="319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00" name="Line 42"/>
              <p:cNvSpPr>
                <a:spLocks noChangeShapeType="1"/>
              </p:cNvSpPr>
              <p:nvPr/>
            </p:nvSpPr>
            <p:spPr bwMode="auto">
              <a:xfrm>
                <a:off x="3446" y="2997"/>
                <a:ext cx="19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8719" name="Object 47"/>
          <p:cNvGraphicFramePr>
            <a:graphicFrameLocks noChangeAspect="1"/>
          </p:cNvGraphicFramePr>
          <p:nvPr/>
        </p:nvGraphicFramePr>
        <p:xfrm>
          <a:off x="876300" y="4227513"/>
          <a:ext cx="27590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7" name="Equation" r:id="rId4" imgW="1358900" imgH="228600" progId="Equation.DSMT4">
                  <p:embed/>
                </p:oleObj>
              </mc:Choice>
              <mc:Fallback>
                <p:oleObj name="Equation" r:id="rId4" imgW="1358900" imgH="2286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4227513"/>
                        <a:ext cx="27590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2" name="Object 50"/>
          <p:cNvGraphicFramePr>
            <a:graphicFrameLocks noChangeAspect="1"/>
          </p:cNvGraphicFramePr>
          <p:nvPr/>
        </p:nvGraphicFramePr>
        <p:xfrm>
          <a:off x="4759325" y="4084638"/>
          <a:ext cx="31257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8" name="Equation" r:id="rId6" imgW="1765300" imgH="393700" progId="Equation.DSMT4">
                  <p:embed/>
                </p:oleObj>
              </mc:Choice>
              <mc:Fallback>
                <p:oleObj name="Equation" r:id="rId6" imgW="1765300" imgH="3937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325" y="4084638"/>
                        <a:ext cx="312578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35" name="Group 63"/>
          <p:cNvGrpSpPr>
            <a:grpSpLocks/>
          </p:cNvGrpSpPr>
          <p:nvPr/>
        </p:nvGrpSpPr>
        <p:grpSpPr bwMode="auto">
          <a:xfrm>
            <a:off x="1331913" y="3386138"/>
            <a:ext cx="2233612" cy="312737"/>
            <a:chOff x="793" y="2750"/>
            <a:chExt cx="1407" cy="264"/>
          </a:xfrm>
        </p:grpSpPr>
        <p:graphicFrame>
          <p:nvGraphicFramePr>
            <p:cNvPr id="28692" name="Object 53"/>
            <p:cNvGraphicFramePr>
              <a:graphicFrameLocks noChangeAspect="1"/>
            </p:cNvGraphicFramePr>
            <p:nvPr/>
          </p:nvGraphicFramePr>
          <p:xfrm>
            <a:off x="793" y="2750"/>
            <a:ext cx="43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39" name="Equation" r:id="rId8" imgW="241195" imgH="139639" progId="Equation.DSMT4">
                    <p:embed/>
                  </p:oleObj>
                </mc:Choice>
                <mc:Fallback>
                  <p:oleObj name="Equation" r:id="rId8" imgW="241195" imgH="139639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750"/>
                          <a:ext cx="43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54"/>
            <p:cNvGraphicFramePr>
              <a:graphicFrameLocks noChangeAspect="1"/>
            </p:cNvGraphicFramePr>
            <p:nvPr/>
          </p:nvGraphicFramePr>
          <p:xfrm>
            <a:off x="1565" y="2750"/>
            <a:ext cx="635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0" name="公式" r:id="rId10" imgW="355446" imgH="139639" progId="Equation.3">
                    <p:embed/>
                  </p:oleObj>
                </mc:Choice>
                <mc:Fallback>
                  <p:oleObj name="公式" r:id="rId10" imgW="355446" imgH="139639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" y="2750"/>
                          <a:ext cx="635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4" name="Rectangle 55"/>
            <p:cNvSpPr>
              <a:spLocks noChangeArrowheads="1"/>
            </p:cNvSpPr>
            <p:nvPr/>
          </p:nvSpPr>
          <p:spPr bwMode="auto">
            <a:xfrm>
              <a:off x="1157" y="2750"/>
              <a:ext cx="589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7A5C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  <a:ea typeface="楷体_GB2312" pitchFamily="49" charset="-122"/>
                </a:rPr>
                <a:t>时，</a:t>
              </a:r>
            </a:p>
          </p:txBody>
        </p:sp>
      </p:grpSp>
      <p:grpSp>
        <p:nvGrpSpPr>
          <p:cNvPr id="28736" name="Group 64"/>
          <p:cNvGrpSpPr>
            <a:grpSpLocks/>
          </p:cNvGrpSpPr>
          <p:nvPr/>
        </p:nvGrpSpPr>
        <p:grpSpPr bwMode="auto">
          <a:xfrm>
            <a:off x="5149850" y="3265488"/>
            <a:ext cx="2843213" cy="349250"/>
            <a:chOff x="3243" y="2774"/>
            <a:chExt cx="1791" cy="294"/>
          </a:xfrm>
        </p:grpSpPr>
        <p:sp>
          <p:nvSpPr>
            <p:cNvPr id="28689" name="Rectangle 56"/>
            <p:cNvSpPr>
              <a:spLocks noChangeArrowheads="1"/>
            </p:cNvSpPr>
            <p:nvPr/>
          </p:nvSpPr>
          <p:spPr bwMode="auto">
            <a:xfrm>
              <a:off x="3651" y="2795"/>
              <a:ext cx="589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7A5C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时，</a:t>
              </a:r>
            </a:p>
          </p:txBody>
        </p:sp>
        <p:graphicFrame>
          <p:nvGraphicFramePr>
            <p:cNvPr id="28690" name="Object 57"/>
            <p:cNvGraphicFramePr>
              <a:graphicFrameLocks noChangeAspect="1"/>
            </p:cNvGraphicFramePr>
            <p:nvPr/>
          </p:nvGraphicFramePr>
          <p:xfrm>
            <a:off x="3243" y="2795"/>
            <a:ext cx="43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1" name="Equation" r:id="rId12" imgW="241195" imgH="139639" progId="Equation.DSMT4">
                    <p:embed/>
                  </p:oleObj>
                </mc:Choice>
                <mc:Fallback>
                  <p:oleObj name="Equation" r:id="rId12" imgW="241195" imgH="139639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2795"/>
                          <a:ext cx="43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1" name="Object 58"/>
            <p:cNvGraphicFramePr>
              <a:graphicFrameLocks noChangeAspect="1"/>
            </p:cNvGraphicFramePr>
            <p:nvPr/>
          </p:nvGraphicFramePr>
          <p:xfrm>
            <a:off x="4014" y="2774"/>
            <a:ext cx="102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2" name="公式" r:id="rId13" imgW="571252" imgH="165028" progId="Equation.3">
                    <p:embed/>
                  </p:oleObj>
                </mc:Choice>
                <mc:Fallback>
                  <p:oleObj name="公式" r:id="rId13" imgW="571252" imgH="165028" progId="Equation.3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774"/>
                          <a:ext cx="102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734" name="Group 62"/>
          <p:cNvGrpSpPr>
            <a:grpSpLocks/>
          </p:cNvGrpSpPr>
          <p:nvPr/>
        </p:nvGrpSpPr>
        <p:grpSpPr bwMode="auto">
          <a:xfrm>
            <a:off x="395288" y="2786063"/>
            <a:ext cx="3602037" cy="523875"/>
            <a:chOff x="203" y="2207"/>
            <a:chExt cx="2269" cy="439"/>
          </a:xfrm>
        </p:grpSpPr>
        <p:graphicFrame>
          <p:nvGraphicFramePr>
            <p:cNvPr id="28687" name="Object 2"/>
            <p:cNvGraphicFramePr>
              <a:graphicFrameLocks noChangeAspect="1"/>
            </p:cNvGraphicFramePr>
            <p:nvPr/>
          </p:nvGraphicFramePr>
          <p:xfrm>
            <a:off x="764" y="2207"/>
            <a:ext cx="1708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3" name="Equation" r:id="rId15" imgW="1459866" imgH="393529" progId="Equation.DSMT4">
                    <p:embed/>
                  </p:oleObj>
                </mc:Choice>
                <mc:Fallback>
                  <p:oleObj name="Equation" r:id="rId15" imgW="1459866" imgH="393529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" y="2207"/>
                          <a:ext cx="1708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8" name="Rectangle 59"/>
            <p:cNvSpPr>
              <a:spLocks noChangeArrowheads="1"/>
            </p:cNvSpPr>
            <p:nvPr/>
          </p:nvSpPr>
          <p:spPr bwMode="auto">
            <a:xfrm>
              <a:off x="203" y="2296"/>
              <a:ext cx="681" cy="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7A5C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解</a:t>
              </a:r>
              <a:r>
                <a:rPr lang="en-US" altLang="zh-CN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  <a:sym typeface="Wingdings" pitchFamily="2" charset="2"/>
                </a:rPr>
                <a:t>: (</a:t>
              </a:r>
              <a:r>
                <a:rPr lang="en-US" altLang="zh-CN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a) </a:t>
              </a:r>
            </a:p>
          </p:txBody>
        </p:sp>
      </p:grpSp>
      <p:grpSp>
        <p:nvGrpSpPr>
          <p:cNvPr id="28733" name="Group 61"/>
          <p:cNvGrpSpPr>
            <a:grpSpLocks/>
          </p:cNvGrpSpPr>
          <p:nvPr/>
        </p:nvGrpSpPr>
        <p:grpSpPr bwMode="auto">
          <a:xfrm>
            <a:off x="4808538" y="2724150"/>
            <a:ext cx="3508375" cy="585788"/>
            <a:chOff x="2983" y="2218"/>
            <a:chExt cx="2210" cy="492"/>
          </a:xfrm>
        </p:grpSpPr>
        <p:graphicFrame>
          <p:nvGraphicFramePr>
            <p:cNvPr id="28685" name="Object 3"/>
            <p:cNvGraphicFramePr>
              <a:graphicFrameLocks noChangeAspect="1"/>
            </p:cNvGraphicFramePr>
            <p:nvPr/>
          </p:nvGraphicFramePr>
          <p:xfrm>
            <a:off x="3295" y="2218"/>
            <a:ext cx="189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44" name="Equation" r:id="rId17" imgW="1524000" imgH="393700" progId="Equation.DSMT4">
                    <p:embed/>
                  </p:oleObj>
                </mc:Choice>
                <mc:Fallback>
                  <p:oleObj name="Equation" r:id="rId17" imgW="1524000" imgH="3937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5" y="2218"/>
                          <a:ext cx="189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6" name="Rectangle 60"/>
            <p:cNvSpPr>
              <a:spLocks noChangeArrowheads="1"/>
            </p:cNvSpPr>
            <p:nvPr/>
          </p:nvSpPr>
          <p:spPr bwMode="auto">
            <a:xfrm>
              <a:off x="2983" y="2280"/>
              <a:ext cx="293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  <a:sym typeface="Wingdings" pitchFamily="2" charset="2"/>
                </a:rPr>
                <a:t>(</a:t>
              </a:r>
              <a:r>
                <a:rPr lang="en-US" altLang="zh-CN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b)</a:t>
              </a:r>
            </a:p>
          </p:txBody>
        </p:sp>
      </p:grpSp>
      <p:graphicFrame>
        <p:nvGraphicFramePr>
          <p:cNvPr id="28737" name="Object 65"/>
          <p:cNvGraphicFramePr>
            <a:graphicFrameLocks noChangeAspect="1"/>
          </p:cNvGraphicFramePr>
          <p:nvPr/>
        </p:nvGraphicFramePr>
        <p:xfrm>
          <a:off x="1908175" y="3775075"/>
          <a:ext cx="90011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公式" r:id="rId19" imgW="317087" imgH="177569" progId="Equation.3">
                  <p:embed/>
                </p:oleObj>
              </mc:Choice>
              <mc:Fallback>
                <p:oleObj name="公式" r:id="rId19" imgW="317087" imgH="177569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75075"/>
                        <a:ext cx="900113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8" name="Object 66"/>
          <p:cNvGraphicFramePr>
            <a:graphicFrameLocks noChangeAspect="1"/>
          </p:cNvGraphicFramePr>
          <p:nvPr/>
        </p:nvGraphicFramePr>
        <p:xfrm>
          <a:off x="5408613" y="3570288"/>
          <a:ext cx="21161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6" name="Equation" r:id="rId21" imgW="1117115" imgH="393529" progId="Equation.DSMT4">
                  <p:embed/>
                </p:oleObj>
              </mc:Choice>
              <mc:Fallback>
                <p:oleObj name="Equation" r:id="rId21" imgW="1117115" imgH="393529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8613" y="3570288"/>
                        <a:ext cx="21161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0" dur="500"/>
                                        <p:tgtEl>
                                          <p:spTgt spid="2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87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7"/>
          <p:cNvSpPr txBox="1">
            <a:spLocks noChangeArrowheads="1"/>
          </p:cNvSpPr>
          <p:nvPr/>
        </p:nvSpPr>
        <p:spPr bwMode="auto">
          <a:xfrm>
            <a:off x="254000" y="906463"/>
            <a:ext cx="88550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 一物体作简谐振动，振动方程为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x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=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cos(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t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+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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/4)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，在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t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=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T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/4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时，物体的加速度为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:</a:t>
            </a:r>
          </a:p>
        </p:txBody>
      </p:sp>
      <p:grpSp>
        <p:nvGrpSpPr>
          <p:cNvPr id="29699" name="Group 45"/>
          <p:cNvGrpSpPr>
            <a:grpSpLocks/>
          </p:cNvGrpSpPr>
          <p:nvPr/>
        </p:nvGrpSpPr>
        <p:grpSpPr bwMode="auto">
          <a:xfrm>
            <a:off x="1708150" y="1492250"/>
            <a:ext cx="5283200" cy="814388"/>
            <a:chOff x="835" y="598"/>
            <a:chExt cx="3861" cy="858"/>
          </a:xfrm>
        </p:grpSpPr>
        <p:graphicFrame>
          <p:nvGraphicFramePr>
            <p:cNvPr id="29704" name="Object 1028"/>
            <p:cNvGraphicFramePr>
              <a:graphicFrameLocks noChangeAspect="1"/>
            </p:cNvGraphicFramePr>
            <p:nvPr/>
          </p:nvGraphicFramePr>
          <p:xfrm>
            <a:off x="835" y="598"/>
            <a:ext cx="1709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5" name="Equation" r:id="rId3" imgW="1028254" imgH="266584" progId="Equation.DSMT4">
                    <p:embed/>
                  </p:oleObj>
                </mc:Choice>
                <mc:Fallback>
                  <p:oleObj name="Equation" r:id="rId3" imgW="1028254" imgH="266584" progId="Equation.DSMT4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" y="598"/>
                          <a:ext cx="1709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5" name="Object 1029"/>
            <p:cNvGraphicFramePr>
              <a:graphicFrameLocks noChangeAspect="1"/>
            </p:cNvGraphicFramePr>
            <p:nvPr/>
          </p:nvGraphicFramePr>
          <p:xfrm>
            <a:off x="3197" y="598"/>
            <a:ext cx="1499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6" name="Equation" r:id="rId5" imgW="901309" imgH="266584" progId="Equation.DSMT4">
                    <p:embed/>
                  </p:oleObj>
                </mc:Choice>
                <mc:Fallback>
                  <p:oleObj name="Equation" r:id="rId5" imgW="901309" imgH="266584" progId="Equation.DSMT4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" y="598"/>
                          <a:ext cx="1499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6" name="Object 1030"/>
            <p:cNvGraphicFramePr>
              <a:graphicFrameLocks noChangeAspect="1"/>
            </p:cNvGraphicFramePr>
            <p:nvPr/>
          </p:nvGraphicFramePr>
          <p:xfrm>
            <a:off x="842" y="983"/>
            <a:ext cx="1666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7" name="Equation" r:id="rId7" imgW="1002865" imgH="266584" progId="Equation.DSMT4">
                    <p:embed/>
                  </p:oleObj>
                </mc:Choice>
                <mc:Fallback>
                  <p:oleObj name="Equation" r:id="rId7" imgW="1002865" imgH="266584" progId="Equation.DSMT4">
                    <p:embed/>
                    <p:pic>
                      <p:nvPicPr>
                        <p:cNvPr id="0" name="Object 10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2" y="983"/>
                          <a:ext cx="1666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7" name="Object 1031"/>
            <p:cNvGraphicFramePr>
              <a:graphicFrameLocks noChangeAspect="1"/>
            </p:cNvGraphicFramePr>
            <p:nvPr/>
          </p:nvGraphicFramePr>
          <p:xfrm>
            <a:off x="3197" y="1011"/>
            <a:ext cx="1499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8" name="Equation" r:id="rId9" imgW="901309" imgH="266584" progId="Equation.DSMT4">
                    <p:embed/>
                  </p:oleObj>
                </mc:Choice>
                <mc:Fallback>
                  <p:oleObj name="Equation" r:id="rId9" imgW="901309" imgH="266584" progId="Equation.DSMT4">
                    <p:embed/>
                    <p:pic>
                      <p:nvPicPr>
                        <p:cNvPr id="0" name="Object 10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" y="1011"/>
                          <a:ext cx="1499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6744" name="Text Box 1032"/>
          <p:cNvSpPr txBox="1">
            <a:spLocks noChangeArrowheads="1"/>
          </p:cNvSpPr>
          <p:nvPr/>
        </p:nvSpPr>
        <p:spPr bwMode="auto">
          <a:xfrm>
            <a:off x="746125" y="2274888"/>
            <a:ext cx="28892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答：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选（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B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）</a:t>
            </a:r>
          </a:p>
        </p:txBody>
      </p:sp>
      <p:graphicFrame>
        <p:nvGraphicFramePr>
          <p:cNvPr id="116745" name="Object 1033"/>
          <p:cNvGraphicFramePr>
            <a:graphicFrameLocks noChangeAspect="1"/>
          </p:cNvGraphicFramePr>
          <p:nvPr/>
        </p:nvGraphicFramePr>
        <p:xfrm>
          <a:off x="1560513" y="2617788"/>
          <a:ext cx="43068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Equation" r:id="rId11" imgW="2235200" imgH="444500" progId="Equation.DSMT4">
                  <p:embed/>
                </p:oleObj>
              </mc:Choice>
              <mc:Fallback>
                <p:oleObj name="Equation" r:id="rId11" imgW="2235200" imgH="444500" progId="Equation.DSMT4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2617788"/>
                        <a:ext cx="4306887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6" name="Object 1034"/>
          <p:cNvGraphicFramePr>
            <a:graphicFrameLocks noChangeAspect="1"/>
          </p:cNvGraphicFramePr>
          <p:nvPr/>
        </p:nvGraphicFramePr>
        <p:xfrm>
          <a:off x="2538413" y="3375025"/>
          <a:ext cx="224948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name="Equation" r:id="rId13" imgW="1231366" imgH="393529" progId="Equation.DSMT4">
                  <p:embed/>
                </p:oleObj>
              </mc:Choice>
              <mc:Fallback>
                <p:oleObj name="Equation" r:id="rId13" imgW="1231366" imgH="393529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3375025"/>
                        <a:ext cx="2249487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7" name="Object 1035"/>
          <p:cNvGraphicFramePr>
            <a:graphicFrameLocks noChangeAspect="1"/>
          </p:cNvGraphicFramePr>
          <p:nvPr/>
        </p:nvGraphicFramePr>
        <p:xfrm>
          <a:off x="1493838" y="4029075"/>
          <a:ext cx="4878387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1" name="Equation" r:id="rId15" imgW="2781300" imgH="431800" progId="Equation.DSMT4">
                  <p:embed/>
                </p:oleObj>
              </mc:Choice>
              <mc:Fallback>
                <p:oleObj name="Equation" r:id="rId15" imgW="2781300" imgH="431800" progId="Equation.DSMT4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8" y="4029075"/>
                        <a:ext cx="4878387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9" name="Text Box 9"/>
          <p:cNvSpPr txBox="1">
            <a:spLocks noChangeArrowheads="1"/>
          </p:cNvSpPr>
          <p:nvPr/>
        </p:nvSpPr>
        <p:spPr bwMode="auto">
          <a:xfrm>
            <a:off x="828675" y="2211388"/>
            <a:ext cx="10064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动能</a:t>
            </a:r>
            <a:endParaRPr lang="zh-CN" altLang="en-US" sz="1800" b="0">
              <a:solidFill>
                <a:srgbClr val="8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46091" name="Object 11"/>
          <p:cNvGraphicFramePr>
            <a:graphicFrameLocks noChangeAspect="1"/>
          </p:cNvGraphicFramePr>
          <p:nvPr/>
        </p:nvGraphicFramePr>
        <p:xfrm>
          <a:off x="2266950" y="2146300"/>
          <a:ext cx="45370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公式" r:id="rId5" imgW="1714500" imgH="292100" progId="Equation.3">
                  <p:embed/>
                </p:oleObj>
              </mc:Choice>
              <mc:Fallback>
                <p:oleObj name="公式" r:id="rId5" imgW="1714500" imgH="292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2146300"/>
                        <a:ext cx="45370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7C8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12"/>
          <p:cNvGraphicFramePr>
            <a:graphicFrameLocks noChangeAspect="1"/>
          </p:cNvGraphicFramePr>
          <p:nvPr/>
        </p:nvGraphicFramePr>
        <p:xfrm>
          <a:off x="6723063" y="2741613"/>
          <a:ext cx="1449387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公式" r:id="rId7" imgW="545863" imgH="291973" progId="Equation.3">
                  <p:embed/>
                </p:oleObj>
              </mc:Choice>
              <mc:Fallback>
                <p:oleObj name="公式" r:id="rId7" imgW="545863" imgH="29197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063" y="2741613"/>
                        <a:ext cx="1449387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7C8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Text Box 13"/>
          <p:cNvSpPr txBox="1">
            <a:spLocks noChangeArrowheads="1"/>
          </p:cNvSpPr>
          <p:nvPr/>
        </p:nvSpPr>
        <p:spPr bwMode="auto">
          <a:xfrm>
            <a:off x="828675" y="2859088"/>
            <a:ext cx="10064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势能</a:t>
            </a:r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/>
        </p:nvGraphicFramePr>
        <p:xfrm>
          <a:off x="2197100" y="2741613"/>
          <a:ext cx="431958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公式" r:id="rId9" imgW="1511300" imgH="292100" progId="Equation.3">
                  <p:embed/>
                </p:oleObj>
              </mc:Choice>
              <mc:Fallback>
                <p:oleObj name="公式" r:id="rId9" imgW="1511300" imgH="292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2741613"/>
                        <a:ext cx="4319588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827088" y="3938588"/>
            <a:ext cx="10080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800000"/>
                </a:solidFill>
                <a:latin typeface="华文中宋" pitchFamily="2" charset="-122"/>
                <a:ea typeface="华文中宋" pitchFamily="2" charset="-122"/>
              </a:rPr>
              <a:t>总能</a:t>
            </a:r>
          </a:p>
        </p:txBody>
      </p:sp>
      <p:graphicFrame>
        <p:nvGraphicFramePr>
          <p:cNvPr id="46096" name="Object 16"/>
          <p:cNvGraphicFramePr>
            <a:graphicFrameLocks noChangeAspect="1"/>
          </p:cNvGraphicFramePr>
          <p:nvPr/>
        </p:nvGraphicFramePr>
        <p:xfrm>
          <a:off x="2195513" y="3854450"/>
          <a:ext cx="424973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4" name="公式" r:id="rId11" imgW="1524000" imgH="292100" progId="Equation.3">
                  <p:embed/>
                </p:oleObj>
              </mc:Choice>
              <mc:Fallback>
                <p:oleObj name="公式" r:id="rId11" imgW="1524000" imgH="292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854450"/>
                        <a:ext cx="424973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7" name="Object 27"/>
          <p:cNvGraphicFramePr>
            <a:graphicFrameLocks noChangeAspect="1"/>
          </p:cNvGraphicFramePr>
          <p:nvPr/>
        </p:nvGraphicFramePr>
        <p:xfrm>
          <a:off x="3622675" y="3335338"/>
          <a:ext cx="28384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5" name="公式" r:id="rId13" imgW="1155700" imgH="292100" progId="Equation.3">
                  <p:embed/>
                </p:oleObj>
              </mc:Choice>
              <mc:Fallback>
                <p:oleObj name="公式" r:id="rId13" imgW="1155700" imgH="2921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675" y="3335338"/>
                        <a:ext cx="28384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7C8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1" name="Rectangle 1037"/>
          <p:cNvSpPr>
            <a:spLocks noChangeArrowheads="1"/>
          </p:cNvSpPr>
          <p:nvPr/>
        </p:nvSpPr>
        <p:spPr bwMode="auto">
          <a:xfrm>
            <a:off x="2052638" y="1266825"/>
            <a:ext cx="539908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800">
                <a:solidFill>
                  <a:srgbClr val="000000"/>
                </a:solidFill>
                <a:latin typeface="华文中宋" pitchFamily="2" charset="-122"/>
                <a:ea typeface="华文中宋" pitchFamily="2" charset="-122"/>
              </a:rPr>
              <a:t>以弹簧振子为例，得到能量的一般表示式。</a:t>
            </a:r>
            <a:endParaRPr lang="zh-CN" altLang="en-US" sz="1800" i="1">
              <a:solidFill>
                <a:srgbClr val="000000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48142" name="Object 1038"/>
          <p:cNvGraphicFramePr>
            <a:graphicFrameLocks noChangeAspect="1"/>
          </p:cNvGraphicFramePr>
          <p:nvPr/>
        </p:nvGraphicFramePr>
        <p:xfrm>
          <a:off x="1619250" y="1684338"/>
          <a:ext cx="23018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公式" r:id="rId15" imgW="812447" imgH="177723" progId="Equation.3">
                  <p:embed/>
                </p:oleObj>
              </mc:Choice>
              <mc:Fallback>
                <p:oleObj name="公式" r:id="rId15" imgW="812447" imgH="177723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684338"/>
                        <a:ext cx="23018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7"/>
          <p:cNvGraphicFramePr>
            <a:graphicFrameLocks noChangeAspect="1"/>
          </p:cNvGraphicFramePr>
          <p:nvPr/>
        </p:nvGraphicFramePr>
        <p:xfrm>
          <a:off x="4676775" y="1584325"/>
          <a:ext cx="2973388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17" imgW="1612900" imgH="393700" progId="Equation.DSMT4">
                  <p:embed/>
                </p:oleObj>
              </mc:Choice>
              <mc:Fallback>
                <p:oleObj name="Equation" r:id="rId17" imgW="1612900" imgH="3937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6775" y="1584325"/>
                        <a:ext cx="2973388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"/>
          <p:cNvSpPr>
            <a:spLocks noChangeArrowheads="1"/>
          </p:cNvSpPr>
          <p:nvPr/>
        </p:nvSpPr>
        <p:spPr bwMode="auto">
          <a:xfrm>
            <a:off x="736600" y="876300"/>
            <a:ext cx="2827338" cy="400050"/>
          </a:xfrm>
          <a:prstGeom prst="homePlate">
            <a:avLst>
              <a:gd name="adj" fmla="val 49898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一、简谐振动的能量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6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9" grpId="0" autoUpdateAnimBg="0"/>
      <p:bldP spid="46093" grpId="0" autoUpdateAnimBg="0"/>
      <p:bldP spid="46095" grpId="0" autoUpdateAnimBg="0"/>
      <p:bldP spid="48141" grpId="0" autoUpdateAnimBg="0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Text Box 4"/>
          <p:cNvSpPr txBox="1">
            <a:spLocks noChangeArrowheads="1"/>
          </p:cNvSpPr>
          <p:nvPr/>
        </p:nvSpPr>
        <p:spPr bwMode="auto">
          <a:xfrm>
            <a:off x="468313" y="906463"/>
            <a:ext cx="14398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讨论：</a:t>
            </a:r>
          </a:p>
        </p:txBody>
      </p:sp>
      <p:sp>
        <p:nvSpPr>
          <p:cNvPr id="197637" name="Text Box 5"/>
          <p:cNvSpPr txBox="1">
            <a:spLocks noChangeArrowheads="1"/>
          </p:cNvSpPr>
          <p:nvPr/>
        </p:nvSpPr>
        <p:spPr bwMode="auto">
          <a:xfrm>
            <a:off x="1258888" y="1136650"/>
            <a:ext cx="6313487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） 谐振动是等幅振动，其能量是守恒的；</a:t>
            </a:r>
          </a:p>
        </p:txBody>
      </p:sp>
      <p:sp>
        <p:nvSpPr>
          <p:cNvPr id="197638" name="Text Box 6"/>
          <p:cNvSpPr txBox="1">
            <a:spLocks noChangeArrowheads="1"/>
          </p:cNvSpPr>
          <p:nvPr/>
        </p:nvSpPr>
        <p:spPr bwMode="auto">
          <a:xfrm>
            <a:off x="1258888" y="1549400"/>
            <a:ext cx="36004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）  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</a:rPr>
              <a:t>E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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</a:t>
            </a:r>
            <a:r>
              <a:rPr lang="en-US" altLang="zh-CN" sz="1800" i="1" baseline="30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2</a:t>
            </a:r>
            <a:r>
              <a:rPr lang="zh-CN" altLang="en-US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、</a:t>
            </a:r>
            <a:r>
              <a:rPr lang="en-US" altLang="zh-CN" sz="1800" i="1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A</a:t>
            </a:r>
            <a:r>
              <a:rPr lang="en-US" altLang="zh-CN" sz="1800" i="1" baseline="300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2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  <a:sym typeface="Symbol" pitchFamily="18" charset="2"/>
              </a:rPr>
              <a:t>；</a:t>
            </a:r>
            <a:endParaRPr lang="zh-CN" altLang="en-US" sz="1800">
              <a:solidFill>
                <a:srgbClr val="000000"/>
              </a:solidFill>
              <a:ea typeface="华文中宋" pitchFamily="2" charset="-122"/>
            </a:endParaRPr>
          </a:p>
        </p:txBody>
      </p:sp>
      <p:sp>
        <p:nvSpPr>
          <p:cNvPr id="197640" name="Rectangle 8"/>
          <p:cNvSpPr>
            <a:spLocks noChangeArrowheads="1"/>
          </p:cNvSpPr>
          <p:nvPr/>
        </p:nvSpPr>
        <p:spPr bwMode="auto">
          <a:xfrm>
            <a:off x="1258888" y="1946275"/>
            <a:ext cx="69135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000000"/>
                </a:solidFill>
                <a:ea typeface="华文中宋" pitchFamily="2" charset="-122"/>
              </a:rPr>
              <a:t>3</a:t>
            </a:r>
            <a:r>
              <a:rPr lang="zh-CN" altLang="en-US" sz="1800">
                <a:solidFill>
                  <a:srgbClr val="000000"/>
                </a:solidFill>
                <a:ea typeface="华文中宋" pitchFamily="2" charset="-122"/>
              </a:rPr>
              <a:t>） 以弹簧振子为例所得，但结果具有一般性。</a:t>
            </a:r>
            <a:endParaRPr lang="zh-CN" altLang="en-US" sz="1800" i="1">
              <a:solidFill>
                <a:srgbClr val="000000"/>
              </a:solidFill>
              <a:ea typeface="华文中宋" pitchFamily="2" charset="-122"/>
            </a:endParaRPr>
          </a:p>
        </p:txBody>
      </p:sp>
      <p:graphicFrame>
        <p:nvGraphicFramePr>
          <p:cNvPr id="197641" name="Object 9"/>
          <p:cNvGraphicFramePr>
            <a:graphicFrameLocks noChangeAspect="1"/>
          </p:cNvGraphicFramePr>
          <p:nvPr/>
        </p:nvGraphicFramePr>
        <p:xfrm>
          <a:off x="900113" y="3057525"/>
          <a:ext cx="34607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公式" r:id="rId5" imgW="1307532" imgH="291973" progId="Equation.3">
                  <p:embed/>
                </p:oleObj>
              </mc:Choice>
              <mc:Fallback>
                <p:oleObj name="公式" r:id="rId5" imgW="1307532" imgH="29197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057525"/>
                        <a:ext cx="346075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7C8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2" name="Object 10"/>
          <p:cNvGraphicFramePr>
            <a:graphicFrameLocks noChangeAspect="1"/>
          </p:cNvGraphicFramePr>
          <p:nvPr/>
        </p:nvGraphicFramePr>
        <p:xfrm>
          <a:off x="3635375" y="2540000"/>
          <a:ext cx="18415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公式" r:id="rId7" imgW="660113" imgH="291973" progId="Equation.3">
                  <p:embed/>
                </p:oleObj>
              </mc:Choice>
              <mc:Fallback>
                <p:oleObj name="公式" r:id="rId7" imgW="660113" imgH="29197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2540000"/>
                        <a:ext cx="18415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43" name="Object 11"/>
          <p:cNvGraphicFramePr>
            <a:graphicFrameLocks noChangeAspect="1"/>
          </p:cNvGraphicFramePr>
          <p:nvPr/>
        </p:nvGraphicFramePr>
        <p:xfrm>
          <a:off x="4700588" y="3057525"/>
          <a:ext cx="341788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name="公式" r:id="rId9" imgW="1333500" imgH="292100" progId="Equation.3">
                  <p:embed/>
                </p:oleObj>
              </mc:Choice>
              <mc:Fallback>
                <p:oleObj name="公式" r:id="rId9" imgW="1333500" imgH="292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3057525"/>
                        <a:ext cx="3417887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7C8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7645" name="Group 13"/>
          <p:cNvGrpSpPr>
            <a:grpSpLocks/>
          </p:cNvGrpSpPr>
          <p:nvPr/>
        </p:nvGrpSpPr>
        <p:grpSpPr bwMode="auto">
          <a:xfrm>
            <a:off x="827088" y="3760788"/>
            <a:ext cx="7702550" cy="669925"/>
            <a:chOff x="340" y="3566"/>
            <a:chExt cx="4852" cy="563"/>
          </a:xfrm>
        </p:grpSpPr>
        <p:sp>
          <p:nvSpPr>
            <p:cNvPr id="31754" name="Text Box 14"/>
            <p:cNvSpPr txBox="1">
              <a:spLocks noChangeArrowheads="1"/>
            </p:cNvSpPr>
            <p:nvPr/>
          </p:nvSpPr>
          <p:spPr bwMode="auto">
            <a:xfrm>
              <a:off x="340" y="3737"/>
              <a:ext cx="1085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FF"/>
                  </a:solidFill>
                  <a:ea typeface="楷体_GB2312" pitchFamily="49" charset="-122"/>
                </a:rPr>
                <a:t>弹簧振子</a:t>
              </a:r>
            </a:p>
          </p:txBody>
        </p:sp>
        <p:sp>
          <p:nvSpPr>
            <p:cNvPr id="31755" name="Text Box 15"/>
            <p:cNvSpPr txBox="1">
              <a:spLocks noChangeArrowheads="1"/>
            </p:cNvSpPr>
            <p:nvPr/>
          </p:nvSpPr>
          <p:spPr bwMode="auto">
            <a:xfrm>
              <a:off x="2109" y="3737"/>
              <a:ext cx="77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FF"/>
                  </a:solidFill>
                  <a:ea typeface="楷体_GB2312" pitchFamily="49" charset="-122"/>
                </a:rPr>
                <a:t>单摆</a:t>
              </a:r>
            </a:p>
          </p:txBody>
        </p:sp>
        <p:sp>
          <p:nvSpPr>
            <p:cNvPr id="31756" name="Text Box 16"/>
            <p:cNvSpPr txBox="1">
              <a:spLocks noChangeArrowheads="1"/>
            </p:cNvSpPr>
            <p:nvPr/>
          </p:nvSpPr>
          <p:spPr bwMode="auto">
            <a:xfrm>
              <a:off x="3560" y="3721"/>
              <a:ext cx="68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0000FF"/>
                  </a:solidFill>
                  <a:ea typeface="楷体_GB2312" pitchFamily="49" charset="-122"/>
                </a:rPr>
                <a:t>复摆</a:t>
              </a:r>
            </a:p>
          </p:txBody>
        </p:sp>
        <p:graphicFrame>
          <p:nvGraphicFramePr>
            <p:cNvPr id="31757" name="Object 17"/>
            <p:cNvGraphicFramePr>
              <a:graphicFrameLocks noChangeAspect="1"/>
            </p:cNvGraphicFramePr>
            <p:nvPr/>
          </p:nvGraphicFramePr>
          <p:xfrm>
            <a:off x="1292" y="3612"/>
            <a:ext cx="680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69" name="Equation" r:id="rId11" imgW="583947" imgH="444307" progId="Equation.DSMT4">
                    <p:embed/>
                  </p:oleObj>
                </mc:Choice>
                <mc:Fallback>
                  <p:oleObj name="Equation" r:id="rId11" imgW="583947" imgH="444307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3612"/>
                          <a:ext cx="680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8" name="Object 18"/>
            <p:cNvGraphicFramePr>
              <a:graphicFrameLocks noChangeAspect="1"/>
            </p:cNvGraphicFramePr>
            <p:nvPr/>
          </p:nvGraphicFramePr>
          <p:xfrm>
            <a:off x="2744" y="3612"/>
            <a:ext cx="635" cy="5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0" name="Equation" r:id="rId13" imgW="545863" imgH="444307" progId="Equation.DSMT4">
                    <p:embed/>
                  </p:oleObj>
                </mc:Choice>
                <mc:Fallback>
                  <p:oleObj name="Equation" r:id="rId13" imgW="545863" imgH="444307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3612"/>
                          <a:ext cx="635" cy="5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9" name="Object 19"/>
            <p:cNvGraphicFramePr>
              <a:graphicFrameLocks noChangeAspect="1"/>
            </p:cNvGraphicFramePr>
            <p:nvPr/>
          </p:nvGraphicFramePr>
          <p:xfrm>
            <a:off x="4195" y="3566"/>
            <a:ext cx="99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71" name="Equation" r:id="rId15" imgW="787058" imgH="444307" progId="Equation.DSMT4">
                    <p:embed/>
                  </p:oleObj>
                </mc:Choice>
                <mc:Fallback>
                  <p:oleObj name="Equation" r:id="rId15" imgW="787058" imgH="444307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3566"/>
                          <a:ext cx="99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7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6" grpId="0" autoUpdateAnimBg="0"/>
      <p:bldP spid="197637" grpId="0" autoUpdateAnimBg="0"/>
      <p:bldP spid="197638" grpId="0" autoUpdateAnimBg="0"/>
      <p:bldP spid="197640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417638" y="1781175"/>
            <a:ext cx="6356350" cy="1349375"/>
            <a:chOff x="764" y="1123"/>
            <a:chExt cx="4004" cy="1133"/>
          </a:xfrm>
        </p:grpSpPr>
        <p:sp>
          <p:nvSpPr>
            <p:cNvPr id="32810" name="Line 5"/>
            <p:cNvSpPr>
              <a:spLocks noChangeShapeType="1"/>
            </p:cNvSpPr>
            <p:nvPr/>
          </p:nvSpPr>
          <p:spPr bwMode="auto">
            <a:xfrm>
              <a:off x="960" y="1584"/>
              <a:ext cx="3763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1" name="Line 6"/>
            <p:cNvSpPr>
              <a:spLocks noChangeShapeType="1"/>
            </p:cNvSpPr>
            <p:nvPr/>
          </p:nvSpPr>
          <p:spPr bwMode="auto">
            <a:xfrm flipV="1">
              <a:off x="960" y="1182"/>
              <a:ext cx="0" cy="1074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2" name="Text Box 7"/>
            <p:cNvSpPr txBox="1">
              <a:spLocks noChangeArrowheads="1"/>
            </p:cNvSpPr>
            <p:nvPr/>
          </p:nvSpPr>
          <p:spPr bwMode="auto">
            <a:xfrm>
              <a:off x="788" y="1123"/>
              <a:ext cx="17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32813" name="Text Box 8"/>
            <p:cNvSpPr txBox="1">
              <a:spLocks noChangeArrowheads="1"/>
            </p:cNvSpPr>
            <p:nvPr/>
          </p:nvSpPr>
          <p:spPr bwMode="auto">
            <a:xfrm>
              <a:off x="764" y="1465"/>
              <a:ext cx="20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O</a:t>
              </a:r>
            </a:p>
          </p:txBody>
        </p:sp>
        <p:sp>
          <p:nvSpPr>
            <p:cNvPr id="32814" name="Text Box 9"/>
            <p:cNvSpPr txBox="1">
              <a:spLocks noChangeArrowheads="1"/>
            </p:cNvSpPr>
            <p:nvPr/>
          </p:nvSpPr>
          <p:spPr bwMode="auto">
            <a:xfrm>
              <a:off x="4618" y="1523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 flipV="1">
            <a:off x="1758950" y="1916113"/>
            <a:ext cx="5632450" cy="820737"/>
            <a:chOff x="1230" y="1530"/>
            <a:chExt cx="3548" cy="690"/>
          </a:xfrm>
        </p:grpSpPr>
        <p:sp>
          <p:nvSpPr>
            <p:cNvPr id="32807" name="Freeform 11"/>
            <p:cNvSpPr>
              <a:spLocks/>
            </p:cNvSpPr>
            <p:nvPr/>
          </p:nvSpPr>
          <p:spPr bwMode="auto">
            <a:xfrm>
              <a:off x="1230" y="1530"/>
              <a:ext cx="962" cy="672"/>
            </a:xfrm>
            <a:custGeom>
              <a:avLst/>
              <a:gdLst>
                <a:gd name="T0" fmla="*/ 0 w 972"/>
                <a:gd name="T1" fmla="*/ 0 h 1152"/>
                <a:gd name="T2" fmla="*/ 270 w 972"/>
                <a:gd name="T3" fmla="*/ 1 h 1152"/>
                <a:gd name="T4" fmla="*/ 537 w 972"/>
                <a:gd name="T5" fmla="*/ 1 h 1152"/>
                <a:gd name="T6" fmla="*/ 807 w 972"/>
                <a:gd name="T7" fmla="*/ 1 h 11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72"/>
                <a:gd name="T13" fmla="*/ 0 h 1152"/>
                <a:gd name="T14" fmla="*/ 972 w 972"/>
                <a:gd name="T15" fmla="*/ 1152 h 11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72" h="1152">
                  <a:moveTo>
                    <a:pt x="0" y="0"/>
                  </a:moveTo>
                  <a:cubicBezTo>
                    <a:pt x="154" y="41"/>
                    <a:pt x="222" y="368"/>
                    <a:pt x="324" y="576"/>
                  </a:cubicBezTo>
                  <a:cubicBezTo>
                    <a:pt x="426" y="784"/>
                    <a:pt x="540" y="1152"/>
                    <a:pt x="648" y="1152"/>
                  </a:cubicBezTo>
                  <a:cubicBezTo>
                    <a:pt x="756" y="1152"/>
                    <a:pt x="918" y="672"/>
                    <a:pt x="972" y="576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8" name="Freeform 12"/>
            <p:cNvSpPr>
              <a:spLocks/>
            </p:cNvSpPr>
            <p:nvPr/>
          </p:nvSpPr>
          <p:spPr bwMode="auto">
            <a:xfrm>
              <a:off x="2195" y="1530"/>
              <a:ext cx="1310" cy="672"/>
            </a:xfrm>
            <a:custGeom>
              <a:avLst/>
              <a:gdLst>
                <a:gd name="T0" fmla="*/ 0 w 2304"/>
                <a:gd name="T1" fmla="*/ 1 h 1152"/>
                <a:gd name="T2" fmla="*/ 1 w 2304"/>
                <a:gd name="T3" fmla="*/ 0 h 1152"/>
                <a:gd name="T4" fmla="*/ 1 w 2304"/>
                <a:gd name="T5" fmla="*/ 1 h 1152"/>
                <a:gd name="T6" fmla="*/ 1 w 2304"/>
                <a:gd name="T7" fmla="*/ 1 h 1152"/>
                <a:gd name="T8" fmla="*/ 1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9" name="Freeform 13"/>
            <p:cNvSpPr>
              <a:spLocks/>
            </p:cNvSpPr>
            <p:nvPr/>
          </p:nvSpPr>
          <p:spPr bwMode="auto">
            <a:xfrm>
              <a:off x="3493" y="1542"/>
              <a:ext cx="1285" cy="678"/>
            </a:xfrm>
            <a:custGeom>
              <a:avLst/>
              <a:gdLst>
                <a:gd name="T0" fmla="*/ 0 w 10000"/>
                <a:gd name="T1" fmla="*/ 0 h 10086"/>
                <a:gd name="T2" fmla="*/ 0 w 10000"/>
                <a:gd name="T3" fmla="*/ 0 h 10086"/>
                <a:gd name="T4" fmla="*/ 0 w 10000"/>
                <a:gd name="T5" fmla="*/ 0 h 10086"/>
                <a:gd name="T6" fmla="*/ 0 w 10000"/>
                <a:gd name="T7" fmla="*/ 0 h 10086"/>
                <a:gd name="T8" fmla="*/ 0 w 10000"/>
                <a:gd name="T9" fmla="*/ 0 h 100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86"/>
                <a:gd name="T17" fmla="*/ 10000 w 10000"/>
                <a:gd name="T18" fmla="*/ 10086 h 100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86">
                  <a:moveTo>
                    <a:pt x="0" y="5000"/>
                  </a:moveTo>
                  <a:cubicBezTo>
                    <a:pt x="882" y="2500"/>
                    <a:pt x="1742" y="14"/>
                    <a:pt x="2646" y="0"/>
                  </a:cubicBezTo>
                  <a:cubicBezTo>
                    <a:pt x="3550" y="-14"/>
                    <a:pt x="4805" y="3147"/>
                    <a:pt x="5426" y="4914"/>
                  </a:cubicBezTo>
                  <a:cubicBezTo>
                    <a:pt x="6047" y="6681"/>
                    <a:pt x="6832" y="10086"/>
                    <a:pt x="7713" y="10086"/>
                  </a:cubicBezTo>
                  <a:cubicBezTo>
                    <a:pt x="8595" y="10086"/>
                    <a:pt x="9559" y="5833"/>
                    <a:pt x="10000" y="5000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2881313" y="1708150"/>
            <a:ext cx="205422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0" lang="en-US" altLang="zh-CN" sz="1500" i="1">
                <a:solidFill>
                  <a:srgbClr val="000000"/>
                </a:solidFill>
                <a:ea typeface="宋体" pitchFamily="2" charset="-122"/>
              </a:rPr>
              <a:t>x </a:t>
            </a:r>
            <a:r>
              <a:rPr kumimoji="0" lang="en-US" altLang="zh-CN" sz="1500">
                <a:solidFill>
                  <a:srgbClr val="000000"/>
                </a:solidFill>
                <a:ea typeface="宋体" pitchFamily="2" charset="-122"/>
              </a:rPr>
              <a:t>=</a:t>
            </a:r>
            <a:r>
              <a:rPr kumimoji="0" lang="en-US" altLang="zh-CN" sz="1500" i="1">
                <a:solidFill>
                  <a:srgbClr val="000000"/>
                </a:solidFill>
                <a:ea typeface="宋体" pitchFamily="2" charset="-122"/>
              </a:rPr>
              <a:t>A</a:t>
            </a:r>
            <a:r>
              <a:rPr kumimoji="0" lang="en-US" altLang="zh-CN" sz="1500">
                <a:solidFill>
                  <a:srgbClr val="000000"/>
                </a:solidFill>
                <a:ea typeface="宋体" pitchFamily="2" charset="-122"/>
              </a:rPr>
              <a:t>cos(</a:t>
            </a:r>
            <a:r>
              <a:rPr kumimoji="0" lang="en-US" altLang="zh-CN" sz="1500" i="1">
                <a:solidFill>
                  <a:srgbClr val="000000"/>
                </a:solidFill>
                <a:ea typeface="宋体" pitchFamily="2" charset="-122"/>
              </a:rPr>
              <a:t>ωt</a:t>
            </a:r>
            <a:r>
              <a:rPr kumimoji="0" lang="zh-CN" altLang="en-US" sz="1500">
                <a:solidFill>
                  <a:srgbClr val="000000"/>
                </a:solidFill>
                <a:ea typeface="宋体" pitchFamily="2" charset="-122"/>
              </a:rPr>
              <a:t>＋</a:t>
            </a:r>
            <a:r>
              <a:rPr kumimoji="0" lang="en-US" altLang="zh-CN" sz="1500">
                <a:solidFill>
                  <a:srgbClr val="000000"/>
                </a:solidFill>
                <a:ea typeface="宋体" pitchFamily="2" charset="-122"/>
                <a:cs typeface="Times New Roman" pitchFamily="18" charset="0"/>
              </a:rPr>
              <a:t>π)</a:t>
            </a:r>
            <a:endParaRPr kumimoji="0" lang="en-US" altLang="zh-CN" sz="150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433513" y="3167063"/>
            <a:ext cx="6629400" cy="1293812"/>
            <a:chOff x="774" y="2287"/>
            <a:chExt cx="4176" cy="1087"/>
          </a:xfrm>
        </p:grpSpPr>
        <p:sp>
          <p:nvSpPr>
            <p:cNvPr id="32803" name="Line 16"/>
            <p:cNvSpPr>
              <a:spLocks noChangeShapeType="1"/>
            </p:cNvSpPr>
            <p:nvPr/>
          </p:nvSpPr>
          <p:spPr bwMode="auto">
            <a:xfrm>
              <a:off x="960" y="3216"/>
              <a:ext cx="3888" cy="0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4" name="Line 17"/>
            <p:cNvSpPr>
              <a:spLocks noChangeShapeType="1"/>
            </p:cNvSpPr>
            <p:nvPr/>
          </p:nvSpPr>
          <p:spPr bwMode="auto">
            <a:xfrm flipV="1">
              <a:off x="960" y="2376"/>
              <a:ext cx="0" cy="972"/>
            </a:xfrm>
            <a:prstGeom prst="line">
              <a:avLst/>
            </a:prstGeom>
            <a:noFill/>
            <a:ln w="9525">
              <a:solidFill>
                <a:srgbClr val="0070C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5" name="Text Box 18"/>
            <p:cNvSpPr txBox="1">
              <a:spLocks noChangeArrowheads="1"/>
            </p:cNvSpPr>
            <p:nvPr/>
          </p:nvSpPr>
          <p:spPr bwMode="auto">
            <a:xfrm>
              <a:off x="774" y="2287"/>
              <a:ext cx="19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E</a:t>
              </a:r>
            </a:p>
          </p:txBody>
        </p:sp>
        <p:sp>
          <p:nvSpPr>
            <p:cNvPr id="32806" name="Text Box 19"/>
            <p:cNvSpPr txBox="1">
              <a:spLocks noChangeArrowheads="1"/>
            </p:cNvSpPr>
            <p:nvPr/>
          </p:nvSpPr>
          <p:spPr bwMode="auto">
            <a:xfrm>
              <a:off x="4800" y="3103"/>
              <a:ext cx="15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en-US" altLang="zh-CN" sz="1500" i="1">
                  <a:solidFill>
                    <a:srgbClr val="000000"/>
                  </a:solidFill>
                  <a:ea typeface="宋体" pitchFamily="2" charset="-122"/>
                </a:rPr>
                <a:t>t</a:t>
              </a: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1757363" y="3473450"/>
            <a:ext cx="5867400" cy="800100"/>
            <a:chOff x="1200" y="1200"/>
            <a:chExt cx="3696" cy="672"/>
          </a:xfrm>
        </p:grpSpPr>
        <p:sp>
          <p:nvSpPr>
            <p:cNvPr id="32796" name="Freeform 21"/>
            <p:cNvSpPr>
              <a:spLocks/>
            </p:cNvSpPr>
            <p:nvPr/>
          </p:nvSpPr>
          <p:spPr bwMode="auto">
            <a:xfrm>
              <a:off x="2976" y="1200"/>
              <a:ext cx="672" cy="672"/>
            </a:xfrm>
            <a:custGeom>
              <a:avLst/>
              <a:gdLst>
                <a:gd name="T0" fmla="*/ 0 w 2304"/>
                <a:gd name="T1" fmla="*/ 1 h 1152"/>
                <a:gd name="T2" fmla="*/ 0 w 2304"/>
                <a:gd name="T3" fmla="*/ 0 h 1152"/>
                <a:gd name="T4" fmla="*/ 0 w 2304"/>
                <a:gd name="T5" fmla="*/ 1 h 1152"/>
                <a:gd name="T6" fmla="*/ 0 w 2304"/>
                <a:gd name="T7" fmla="*/ 1 h 1152"/>
                <a:gd name="T8" fmla="*/ 0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rgbClr val="0000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97" name="Group 22"/>
            <p:cNvGrpSpPr>
              <a:grpSpLocks/>
            </p:cNvGrpSpPr>
            <p:nvPr/>
          </p:nvGrpSpPr>
          <p:grpSpPr bwMode="auto">
            <a:xfrm>
              <a:off x="1200" y="1200"/>
              <a:ext cx="1776" cy="672"/>
              <a:chOff x="1200" y="1536"/>
              <a:chExt cx="3552" cy="672"/>
            </a:xfrm>
          </p:grpSpPr>
          <p:sp>
            <p:nvSpPr>
              <p:cNvPr id="32800" name="Freeform 23"/>
              <p:cNvSpPr>
                <a:spLocks/>
              </p:cNvSpPr>
              <p:nvPr/>
            </p:nvSpPr>
            <p:spPr bwMode="auto">
              <a:xfrm>
                <a:off x="1200" y="1536"/>
                <a:ext cx="972" cy="672"/>
              </a:xfrm>
              <a:custGeom>
                <a:avLst/>
                <a:gdLst>
                  <a:gd name="T0" fmla="*/ 0 w 972"/>
                  <a:gd name="T1" fmla="*/ 0 h 1152"/>
                  <a:gd name="T2" fmla="*/ 324 w 972"/>
                  <a:gd name="T3" fmla="*/ 1 h 1152"/>
                  <a:gd name="T4" fmla="*/ 648 w 972"/>
                  <a:gd name="T5" fmla="*/ 1 h 1152"/>
                  <a:gd name="T6" fmla="*/ 972 w 972"/>
                  <a:gd name="T7" fmla="*/ 1 h 11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72"/>
                  <a:gd name="T13" fmla="*/ 0 h 1152"/>
                  <a:gd name="T14" fmla="*/ 972 w 972"/>
                  <a:gd name="T15" fmla="*/ 1152 h 11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72" h="1152">
                    <a:moveTo>
                      <a:pt x="0" y="0"/>
                    </a:moveTo>
                    <a:cubicBezTo>
                      <a:pt x="154" y="41"/>
                      <a:pt x="222" y="368"/>
                      <a:pt x="324" y="576"/>
                    </a:cubicBezTo>
                    <a:cubicBezTo>
                      <a:pt x="426" y="784"/>
                      <a:pt x="540" y="1152"/>
                      <a:pt x="648" y="1152"/>
                    </a:cubicBezTo>
                    <a:cubicBezTo>
                      <a:pt x="756" y="1152"/>
                      <a:pt x="918" y="672"/>
                      <a:pt x="972" y="576"/>
                    </a:cubicBezTo>
                  </a:path>
                </a:pathLst>
              </a:custGeom>
              <a:noFill/>
              <a:ln w="19050">
                <a:solidFill>
                  <a:srgbClr val="00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1" name="Freeform 24"/>
              <p:cNvSpPr>
                <a:spLocks/>
              </p:cNvSpPr>
              <p:nvPr/>
            </p:nvSpPr>
            <p:spPr bwMode="auto">
              <a:xfrm>
                <a:off x="2160" y="1536"/>
                <a:ext cx="1296" cy="672"/>
              </a:xfrm>
              <a:custGeom>
                <a:avLst/>
                <a:gdLst>
                  <a:gd name="T0" fmla="*/ 0 w 2304"/>
                  <a:gd name="T1" fmla="*/ 1 h 1152"/>
                  <a:gd name="T2" fmla="*/ 1 w 2304"/>
                  <a:gd name="T3" fmla="*/ 0 h 1152"/>
                  <a:gd name="T4" fmla="*/ 1 w 2304"/>
                  <a:gd name="T5" fmla="*/ 1 h 1152"/>
                  <a:gd name="T6" fmla="*/ 1 w 2304"/>
                  <a:gd name="T7" fmla="*/ 1 h 1152"/>
                  <a:gd name="T8" fmla="*/ 1 w 2304"/>
                  <a:gd name="T9" fmla="*/ 1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152"/>
                  <a:gd name="T17" fmla="*/ 2304 w 2304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152">
                    <a:moveTo>
                      <a:pt x="0" y="576"/>
                    </a:moveTo>
                    <a:cubicBezTo>
                      <a:pt x="192" y="288"/>
                      <a:pt x="384" y="0"/>
                      <a:pt x="576" y="0"/>
                    </a:cubicBezTo>
                    <a:cubicBezTo>
                      <a:pt x="768" y="0"/>
                      <a:pt x="970" y="368"/>
                      <a:pt x="1152" y="576"/>
                    </a:cubicBezTo>
                    <a:cubicBezTo>
                      <a:pt x="1334" y="784"/>
                      <a:pt x="1536" y="1152"/>
                      <a:pt x="1728" y="1152"/>
                    </a:cubicBezTo>
                    <a:cubicBezTo>
                      <a:pt x="1920" y="1152"/>
                      <a:pt x="2208" y="672"/>
                      <a:pt x="2304" y="576"/>
                    </a:cubicBezTo>
                  </a:path>
                </a:pathLst>
              </a:custGeom>
              <a:noFill/>
              <a:ln w="19050">
                <a:solidFill>
                  <a:srgbClr val="00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2" name="Freeform 25"/>
              <p:cNvSpPr>
                <a:spLocks/>
              </p:cNvSpPr>
              <p:nvPr/>
            </p:nvSpPr>
            <p:spPr bwMode="auto">
              <a:xfrm>
                <a:off x="3456" y="1536"/>
                <a:ext cx="1296" cy="672"/>
              </a:xfrm>
              <a:custGeom>
                <a:avLst/>
                <a:gdLst>
                  <a:gd name="T0" fmla="*/ 0 w 2304"/>
                  <a:gd name="T1" fmla="*/ 1 h 1152"/>
                  <a:gd name="T2" fmla="*/ 1 w 2304"/>
                  <a:gd name="T3" fmla="*/ 0 h 1152"/>
                  <a:gd name="T4" fmla="*/ 1 w 2304"/>
                  <a:gd name="T5" fmla="*/ 1 h 1152"/>
                  <a:gd name="T6" fmla="*/ 1 w 2304"/>
                  <a:gd name="T7" fmla="*/ 1 h 1152"/>
                  <a:gd name="T8" fmla="*/ 1 w 2304"/>
                  <a:gd name="T9" fmla="*/ 1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152"/>
                  <a:gd name="T17" fmla="*/ 2304 w 2304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152">
                    <a:moveTo>
                      <a:pt x="0" y="576"/>
                    </a:moveTo>
                    <a:cubicBezTo>
                      <a:pt x="192" y="288"/>
                      <a:pt x="384" y="0"/>
                      <a:pt x="576" y="0"/>
                    </a:cubicBezTo>
                    <a:cubicBezTo>
                      <a:pt x="768" y="0"/>
                      <a:pt x="970" y="368"/>
                      <a:pt x="1152" y="576"/>
                    </a:cubicBezTo>
                    <a:cubicBezTo>
                      <a:pt x="1334" y="784"/>
                      <a:pt x="1536" y="1152"/>
                      <a:pt x="1728" y="1152"/>
                    </a:cubicBezTo>
                    <a:cubicBezTo>
                      <a:pt x="1920" y="1152"/>
                      <a:pt x="2208" y="672"/>
                      <a:pt x="2304" y="576"/>
                    </a:cubicBezTo>
                  </a:path>
                </a:pathLst>
              </a:custGeom>
              <a:noFill/>
              <a:ln w="19050">
                <a:solidFill>
                  <a:srgbClr val="0000CC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798" name="Freeform 26"/>
            <p:cNvSpPr>
              <a:spLocks/>
            </p:cNvSpPr>
            <p:nvPr/>
          </p:nvSpPr>
          <p:spPr bwMode="auto">
            <a:xfrm>
              <a:off x="3648" y="1200"/>
              <a:ext cx="672" cy="672"/>
            </a:xfrm>
            <a:custGeom>
              <a:avLst/>
              <a:gdLst>
                <a:gd name="T0" fmla="*/ 0 w 2304"/>
                <a:gd name="T1" fmla="*/ 1 h 1152"/>
                <a:gd name="T2" fmla="*/ 0 w 2304"/>
                <a:gd name="T3" fmla="*/ 0 h 1152"/>
                <a:gd name="T4" fmla="*/ 0 w 2304"/>
                <a:gd name="T5" fmla="*/ 1 h 1152"/>
                <a:gd name="T6" fmla="*/ 0 w 2304"/>
                <a:gd name="T7" fmla="*/ 1 h 1152"/>
                <a:gd name="T8" fmla="*/ 0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rgbClr val="0000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Freeform 27"/>
            <p:cNvSpPr>
              <a:spLocks/>
            </p:cNvSpPr>
            <p:nvPr/>
          </p:nvSpPr>
          <p:spPr bwMode="auto">
            <a:xfrm>
              <a:off x="4320" y="1200"/>
              <a:ext cx="576" cy="672"/>
            </a:xfrm>
            <a:custGeom>
              <a:avLst/>
              <a:gdLst>
                <a:gd name="T0" fmla="*/ 0 w 2304"/>
                <a:gd name="T1" fmla="*/ 1 h 1152"/>
                <a:gd name="T2" fmla="*/ 0 w 2304"/>
                <a:gd name="T3" fmla="*/ 0 h 1152"/>
                <a:gd name="T4" fmla="*/ 0 w 2304"/>
                <a:gd name="T5" fmla="*/ 1 h 1152"/>
                <a:gd name="T6" fmla="*/ 0 w 2304"/>
                <a:gd name="T7" fmla="*/ 1 h 1152"/>
                <a:gd name="T8" fmla="*/ 0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rgbClr val="0000CC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9"/>
          <p:cNvGrpSpPr>
            <a:grpSpLocks/>
          </p:cNvGrpSpPr>
          <p:nvPr/>
        </p:nvGrpSpPr>
        <p:grpSpPr bwMode="auto">
          <a:xfrm>
            <a:off x="2259013" y="2325688"/>
            <a:ext cx="5143500" cy="1943100"/>
            <a:chOff x="1290" y="1584"/>
            <a:chExt cx="3240" cy="1632"/>
          </a:xfrm>
        </p:grpSpPr>
        <p:sp>
          <p:nvSpPr>
            <p:cNvPr id="32790" name="Line 40"/>
            <p:cNvSpPr>
              <a:spLocks noChangeShapeType="1"/>
            </p:cNvSpPr>
            <p:nvPr/>
          </p:nvSpPr>
          <p:spPr bwMode="auto">
            <a:xfrm>
              <a:off x="1290" y="15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1" name="Line 41"/>
            <p:cNvSpPr>
              <a:spLocks noChangeShapeType="1"/>
            </p:cNvSpPr>
            <p:nvPr/>
          </p:nvSpPr>
          <p:spPr bwMode="auto">
            <a:xfrm>
              <a:off x="1938" y="15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2" name="Line 42"/>
            <p:cNvSpPr>
              <a:spLocks noChangeShapeType="1"/>
            </p:cNvSpPr>
            <p:nvPr/>
          </p:nvSpPr>
          <p:spPr bwMode="auto">
            <a:xfrm>
              <a:off x="2580" y="15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3" name="Line 43"/>
            <p:cNvSpPr>
              <a:spLocks noChangeShapeType="1"/>
            </p:cNvSpPr>
            <p:nvPr/>
          </p:nvSpPr>
          <p:spPr bwMode="auto">
            <a:xfrm>
              <a:off x="3246" y="15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4" name="Line 44"/>
            <p:cNvSpPr>
              <a:spLocks noChangeShapeType="1"/>
            </p:cNvSpPr>
            <p:nvPr/>
          </p:nvSpPr>
          <p:spPr bwMode="auto">
            <a:xfrm>
              <a:off x="3918" y="15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5" name="Line 45"/>
            <p:cNvSpPr>
              <a:spLocks noChangeShapeType="1"/>
            </p:cNvSpPr>
            <p:nvPr/>
          </p:nvSpPr>
          <p:spPr bwMode="auto">
            <a:xfrm>
              <a:off x="4530" y="1584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 flipV="1">
            <a:off x="1757363" y="3473450"/>
            <a:ext cx="5867400" cy="800100"/>
            <a:chOff x="1200" y="1200"/>
            <a:chExt cx="3696" cy="672"/>
          </a:xfrm>
        </p:grpSpPr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2976" y="1200"/>
              <a:ext cx="672" cy="672"/>
            </a:xfrm>
            <a:custGeom>
              <a:avLst/>
              <a:gdLst>
                <a:gd name="T0" fmla="*/ 0 w 2304"/>
                <a:gd name="T1" fmla="*/ 1 h 1152"/>
                <a:gd name="T2" fmla="*/ 0 w 2304"/>
                <a:gd name="T3" fmla="*/ 0 h 1152"/>
                <a:gd name="T4" fmla="*/ 0 w 2304"/>
                <a:gd name="T5" fmla="*/ 1 h 1152"/>
                <a:gd name="T6" fmla="*/ 0 w 2304"/>
                <a:gd name="T7" fmla="*/ 1 h 1152"/>
                <a:gd name="T8" fmla="*/ 0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chemeClr val="accent6">
                  <a:lumMod val="50000"/>
                </a:schemeClr>
              </a:solidFill>
              <a:prstDash val="sysDash"/>
              <a:round/>
              <a:headEnd/>
              <a:tailEnd/>
            </a:ln>
            <a:extLst/>
          </p:spPr>
          <p:txBody>
            <a:bodyPr/>
            <a:lstStyle/>
            <a:p>
              <a:pPr>
                <a:defRPr/>
              </a:pPr>
              <a:endParaRPr kumimoji="0" lang="zh-CN" altLang="en-US" sz="1800" b="0">
                <a:solidFill>
                  <a:prstClr val="black"/>
                </a:solidFill>
                <a:ea typeface="宋体" pitchFamily="2" charset="-122"/>
              </a:endParaRPr>
            </a:p>
          </p:txBody>
        </p:sp>
        <p:grpSp>
          <p:nvGrpSpPr>
            <p:cNvPr id="32784" name="Group 48"/>
            <p:cNvGrpSpPr>
              <a:grpSpLocks/>
            </p:cNvGrpSpPr>
            <p:nvPr/>
          </p:nvGrpSpPr>
          <p:grpSpPr bwMode="auto">
            <a:xfrm>
              <a:off x="1200" y="1200"/>
              <a:ext cx="1776" cy="672"/>
              <a:chOff x="1200" y="1536"/>
              <a:chExt cx="3552" cy="672"/>
            </a:xfrm>
          </p:grpSpPr>
          <p:sp>
            <p:nvSpPr>
              <p:cNvPr id="39" name="Freeform 49"/>
              <p:cNvSpPr>
                <a:spLocks/>
              </p:cNvSpPr>
              <p:nvPr/>
            </p:nvSpPr>
            <p:spPr bwMode="auto">
              <a:xfrm>
                <a:off x="1200" y="1536"/>
                <a:ext cx="972" cy="672"/>
              </a:xfrm>
              <a:custGeom>
                <a:avLst/>
                <a:gdLst>
                  <a:gd name="T0" fmla="*/ 0 w 972"/>
                  <a:gd name="T1" fmla="*/ 0 h 1152"/>
                  <a:gd name="T2" fmla="*/ 324 w 972"/>
                  <a:gd name="T3" fmla="*/ 1 h 1152"/>
                  <a:gd name="T4" fmla="*/ 648 w 972"/>
                  <a:gd name="T5" fmla="*/ 1 h 1152"/>
                  <a:gd name="T6" fmla="*/ 972 w 972"/>
                  <a:gd name="T7" fmla="*/ 1 h 11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72"/>
                  <a:gd name="T13" fmla="*/ 0 h 1152"/>
                  <a:gd name="T14" fmla="*/ 972 w 972"/>
                  <a:gd name="T15" fmla="*/ 1152 h 11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72" h="1152">
                    <a:moveTo>
                      <a:pt x="0" y="0"/>
                    </a:moveTo>
                    <a:cubicBezTo>
                      <a:pt x="154" y="41"/>
                      <a:pt x="222" y="368"/>
                      <a:pt x="324" y="576"/>
                    </a:cubicBezTo>
                    <a:cubicBezTo>
                      <a:pt x="426" y="784"/>
                      <a:pt x="540" y="1152"/>
                      <a:pt x="648" y="1152"/>
                    </a:cubicBezTo>
                    <a:cubicBezTo>
                      <a:pt x="756" y="1152"/>
                      <a:pt x="918" y="672"/>
                      <a:pt x="972" y="576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50000"/>
                  </a:schemeClr>
                </a:solidFill>
                <a:prstDash val="sysDash"/>
                <a:round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kumimoji="0" lang="zh-CN" altLang="en-US" sz="1800" b="0">
                  <a:solidFill>
                    <a:prstClr val="black"/>
                  </a:solidFill>
                  <a:ea typeface="宋体" pitchFamily="2" charset="-122"/>
                </a:endParaRPr>
              </a:p>
            </p:txBody>
          </p:sp>
          <p:sp>
            <p:nvSpPr>
              <p:cNvPr id="40" name="Freeform 50"/>
              <p:cNvSpPr>
                <a:spLocks/>
              </p:cNvSpPr>
              <p:nvPr/>
            </p:nvSpPr>
            <p:spPr bwMode="auto">
              <a:xfrm>
                <a:off x="2184" y="1536"/>
                <a:ext cx="1296" cy="672"/>
              </a:xfrm>
              <a:custGeom>
                <a:avLst/>
                <a:gdLst>
                  <a:gd name="T0" fmla="*/ 0 w 2304"/>
                  <a:gd name="T1" fmla="*/ 1 h 1152"/>
                  <a:gd name="T2" fmla="*/ 1 w 2304"/>
                  <a:gd name="T3" fmla="*/ 0 h 1152"/>
                  <a:gd name="T4" fmla="*/ 1 w 2304"/>
                  <a:gd name="T5" fmla="*/ 1 h 1152"/>
                  <a:gd name="T6" fmla="*/ 1 w 2304"/>
                  <a:gd name="T7" fmla="*/ 1 h 1152"/>
                  <a:gd name="T8" fmla="*/ 1 w 2304"/>
                  <a:gd name="T9" fmla="*/ 1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152"/>
                  <a:gd name="T17" fmla="*/ 2304 w 2304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152">
                    <a:moveTo>
                      <a:pt x="0" y="576"/>
                    </a:moveTo>
                    <a:cubicBezTo>
                      <a:pt x="192" y="288"/>
                      <a:pt x="384" y="0"/>
                      <a:pt x="576" y="0"/>
                    </a:cubicBezTo>
                    <a:cubicBezTo>
                      <a:pt x="768" y="0"/>
                      <a:pt x="970" y="368"/>
                      <a:pt x="1152" y="576"/>
                    </a:cubicBezTo>
                    <a:cubicBezTo>
                      <a:pt x="1334" y="784"/>
                      <a:pt x="1536" y="1152"/>
                      <a:pt x="1728" y="1152"/>
                    </a:cubicBezTo>
                    <a:cubicBezTo>
                      <a:pt x="1920" y="1152"/>
                      <a:pt x="2208" y="672"/>
                      <a:pt x="2304" y="576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50000"/>
                  </a:schemeClr>
                </a:solidFill>
                <a:prstDash val="sysDash"/>
                <a:round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kumimoji="0" lang="zh-CN" altLang="en-US" sz="1800" b="0">
                  <a:solidFill>
                    <a:prstClr val="black"/>
                  </a:solidFill>
                  <a:ea typeface="宋体" pitchFamily="2" charset="-122"/>
                </a:endParaRPr>
              </a:p>
            </p:txBody>
          </p:sp>
          <p:sp>
            <p:nvSpPr>
              <p:cNvPr id="41" name="Freeform 51"/>
              <p:cNvSpPr>
                <a:spLocks/>
              </p:cNvSpPr>
              <p:nvPr/>
            </p:nvSpPr>
            <p:spPr bwMode="auto">
              <a:xfrm>
                <a:off x="3456" y="1536"/>
                <a:ext cx="1296" cy="672"/>
              </a:xfrm>
              <a:custGeom>
                <a:avLst/>
                <a:gdLst>
                  <a:gd name="T0" fmla="*/ 0 w 2304"/>
                  <a:gd name="T1" fmla="*/ 1 h 1152"/>
                  <a:gd name="T2" fmla="*/ 1 w 2304"/>
                  <a:gd name="T3" fmla="*/ 0 h 1152"/>
                  <a:gd name="T4" fmla="*/ 1 w 2304"/>
                  <a:gd name="T5" fmla="*/ 1 h 1152"/>
                  <a:gd name="T6" fmla="*/ 1 w 2304"/>
                  <a:gd name="T7" fmla="*/ 1 h 1152"/>
                  <a:gd name="T8" fmla="*/ 1 w 2304"/>
                  <a:gd name="T9" fmla="*/ 1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04"/>
                  <a:gd name="T16" fmla="*/ 0 h 1152"/>
                  <a:gd name="T17" fmla="*/ 2304 w 2304"/>
                  <a:gd name="T18" fmla="*/ 1152 h 11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04" h="1152">
                    <a:moveTo>
                      <a:pt x="0" y="576"/>
                    </a:moveTo>
                    <a:cubicBezTo>
                      <a:pt x="192" y="288"/>
                      <a:pt x="384" y="0"/>
                      <a:pt x="576" y="0"/>
                    </a:cubicBezTo>
                    <a:cubicBezTo>
                      <a:pt x="768" y="0"/>
                      <a:pt x="970" y="368"/>
                      <a:pt x="1152" y="576"/>
                    </a:cubicBezTo>
                    <a:cubicBezTo>
                      <a:pt x="1334" y="784"/>
                      <a:pt x="1536" y="1152"/>
                      <a:pt x="1728" y="1152"/>
                    </a:cubicBezTo>
                    <a:cubicBezTo>
                      <a:pt x="1920" y="1152"/>
                      <a:pt x="2208" y="672"/>
                      <a:pt x="2304" y="576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50000"/>
                  </a:schemeClr>
                </a:solidFill>
                <a:prstDash val="sysDash"/>
                <a:round/>
                <a:headEnd/>
                <a:tailEnd/>
              </a:ln>
              <a:extLst/>
            </p:spPr>
            <p:txBody>
              <a:bodyPr/>
              <a:lstStyle/>
              <a:p>
                <a:pPr>
                  <a:defRPr/>
                </a:pPr>
                <a:endParaRPr kumimoji="0" lang="zh-CN" altLang="en-US" sz="1800" b="0">
                  <a:solidFill>
                    <a:prstClr val="black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37" name="Freeform 52"/>
            <p:cNvSpPr>
              <a:spLocks/>
            </p:cNvSpPr>
            <p:nvPr/>
          </p:nvSpPr>
          <p:spPr bwMode="auto">
            <a:xfrm>
              <a:off x="3648" y="1200"/>
              <a:ext cx="672" cy="672"/>
            </a:xfrm>
            <a:custGeom>
              <a:avLst/>
              <a:gdLst>
                <a:gd name="T0" fmla="*/ 0 w 2304"/>
                <a:gd name="T1" fmla="*/ 1 h 1152"/>
                <a:gd name="T2" fmla="*/ 0 w 2304"/>
                <a:gd name="T3" fmla="*/ 0 h 1152"/>
                <a:gd name="T4" fmla="*/ 0 w 2304"/>
                <a:gd name="T5" fmla="*/ 1 h 1152"/>
                <a:gd name="T6" fmla="*/ 0 w 2304"/>
                <a:gd name="T7" fmla="*/ 1 h 1152"/>
                <a:gd name="T8" fmla="*/ 0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chemeClr val="accent6">
                  <a:lumMod val="50000"/>
                </a:schemeClr>
              </a:solidFill>
              <a:prstDash val="sysDash"/>
              <a:round/>
              <a:headEnd/>
              <a:tailEnd/>
            </a:ln>
            <a:extLst/>
          </p:spPr>
          <p:txBody>
            <a:bodyPr/>
            <a:lstStyle/>
            <a:p>
              <a:pPr>
                <a:defRPr/>
              </a:pPr>
              <a:endParaRPr kumimoji="0" lang="zh-CN" altLang="en-US" sz="1800" b="0">
                <a:solidFill>
                  <a:prstClr val="black"/>
                </a:solidFill>
                <a:ea typeface="宋体" pitchFamily="2" charset="-122"/>
              </a:endParaRPr>
            </a:p>
          </p:txBody>
        </p:sp>
        <p:sp>
          <p:nvSpPr>
            <p:cNvPr id="38" name="Freeform 53"/>
            <p:cNvSpPr>
              <a:spLocks/>
            </p:cNvSpPr>
            <p:nvPr/>
          </p:nvSpPr>
          <p:spPr bwMode="auto">
            <a:xfrm>
              <a:off x="4320" y="1200"/>
              <a:ext cx="576" cy="672"/>
            </a:xfrm>
            <a:custGeom>
              <a:avLst/>
              <a:gdLst>
                <a:gd name="T0" fmla="*/ 0 w 2304"/>
                <a:gd name="T1" fmla="*/ 1 h 1152"/>
                <a:gd name="T2" fmla="*/ 0 w 2304"/>
                <a:gd name="T3" fmla="*/ 0 h 1152"/>
                <a:gd name="T4" fmla="*/ 0 w 2304"/>
                <a:gd name="T5" fmla="*/ 1 h 1152"/>
                <a:gd name="T6" fmla="*/ 0 w 2304"/>
                <a:gd name="T7" fmla="*/ 1 h 1152"/>
                <a:gd name="T8" fmla="*/ 0 w 2304"/>
                <a:gd name="T9" fmla="*/ 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04"/>
                <a:gd name="T16" fmla="*/ 0 h 1152"/>
                <a:gd name="T17" fmla="*/ 2304 w 2304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04" h="1152">
                  <a:moveTo>
                    <a:pt x="0" y="576"/>
                  </a:moveTo>
                  <a:cubicBezTo>
                    <a:pt x="192" y="288"/>
                    <a:pt x="384" y="0"/>
                    <a:pt x="576" y="0"/>
                  </a:cubicBezTo>
                  <a:cubicBezTo>
                    <a:pt x="768" y="0"/>
                    <a:pt x="970" y="368"/>
                    <a:pt x="1152" y="576"/>
                  </a:cubicBezTo>
                  <a:cubicBezTo>
                    <a:pt x="1334" y="784"/>
                    <a:pt x="1536" y="1152"/>
                    <a:pt x="1728" y="1152"/>
                  </a:cubicBezTo>
                  <a:cubicBezTo>
                    <a:pt x="1920" y="1152"/>
                    <a:pt x="2208" y="672"/>
                    <a:pt x="2304" y="576"/>
                  </a:cubicBezTo>
                </a:path>
              </a:pathLst>
            </a:custGeom>
            <a:noFill/>
            <a:ln w="19050">
              <a:solidFill>
                <a:schemeClr val="accent6">
                  <a:lumMod val="50000"/>
                </a:schemeClr>
              </a:solidFill>
              <a:prstDash val="sysDash"/>
              <a:round/>
              <a:headEnd/>
              <a:tailEnd/>
            </a:ln>
            <a:extLst/>
          </p:spPr>
          <p:txBody>
            <a:bodyPr/>
            <a:lstStyle/>
            <a:p>
              <a:pPr>
                <a:defRPr/>
              </a:pPr>
              <a:endParaRPr kumimoji="0" lang="zh-CN" altLang="en-US" sz="1800" b="0">
                <a:solidFill>
                  <a:prstClr val="black"/>
                </a:solidFill>
                <a:ea typeface="宋体" pitchFamily="2" charset="-122"/>
              </a:endParaRPr>
            </a:p>
          </p:txBody>
        </p:sp>
      </p:grpSp>
      <p:grpSp>
        <p:nvGrpSpPr>
          <p:cNvPr id="11" name="Group 54"/>
          <p:cNvGrpSpPr>
            <a:grpSpLocks/>
          </p:cNvGrpSpPr>
          <p:nvPr/>
        </p:nvGrpSpPr>
        <p:grpSpPr bwMode="auto">
          <a:xfrm>
            <a:off x="1728788" y="3381375"/>
            <a:ext cx="6731000" cy="401638"/>
            <a:chOff x="960" y="2491"/>
            <a:chExt cx="4240" cy="338"/>
          </a:xfrm>
        </p:grpSpPr>
        <p:graphicFrame>
          <p:nvGraphicFramePr>
            <p:cNvPr id="32781" name="Object 55"/>
            <p:cNvGraphicFramePr>
              <a:graphicFrameLocks noChangeAspect="1"/>
            </p:cNvGraphicFramePr>
            <p:nvPr/>
          </p:nvGraphicFramePr>
          <p:xfrm>
            <a:off x="4640" y="2491"/>
            <a:ext cx="560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7" name="公式" r:id="rId4" imgW="672808" imgH="406224" progId="Equation.3">
                    <p:embed/>
                  </p:oleObj>
                </mc:Choice>
                <mc:Fallback>
                  <p:oleObj name="公式" r:id="rId4" imgW="672808" imgH="406224" progId="Equation.3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0" y="2491"/>
                          <a:ext cx="560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2" name="Line 56"/>
            <p:cNvSpPr>
              <a:spLocks noChangeShapeType="1"/>
            </p:cNvSpPr>
            <p:nvPr/>
          </p:nvSpPr>
          <p:spPr bwMode="auto">
            <a:xfrm>
              <a:off x="960" y="2550"/>
              <a:ext cx="384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778" name="Group 49"/>
          <p:cNvGrpSpPr>
            <a:grpSpLocks/>
          </p:cNvGrpSpPr>
          <p:nvPr/>
        </p:nvGrpSpPr>
        <p:grpSpPr bwMode="auto">
          <a:xfrm>
            <a:off x="684213" y="933450"/>
            <a:ext cx="4287837" cy="558800"/>
            <a:chOff x="703" y="164"/>
            <a:chExt cx="2528" cy="469"/>
          </a:xfrm>
        </p:grpSpPr>
        <p:sp>
          <p:nvSpPr>
            <p:cNvPr id="32779" name="Text Box 106"/>
            <p:cNvSpPr txBox="1">
              <a:spLocks noChangeArrowheads="1"/>
            </p:cNvSpPr>
            <p:nvPr/>
          </p:nvSpPr>
          <p:spPr bwMode="auto">
            <a:xfrm>
              <a:off x="703" y="255"/>
              <a:ext cx="2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r>
                <a:rPr kumimoji="0"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（</a:t>
              </a:r>
              <a:r>
                <a:rPr kumimoji="0" lang="en-US" altLang="zh-CN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4</a:t>
              </a:r>
              <a:r>
                <a:rPr kumimoji="0" lang="zh-CN" altLang="en-US" sz="180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）动能和势能的位相差为 </a:t>
              </a:r>
            </a:p>
          </p:txBody>
        </p:sp>
        <p:graphicFrame>
          <p:nvGraphicFramePr>
            <p:cNvPr id="32780" name="Object 107"/>
            <p:cNvGraphicFramePr>
              <a:graphicFrameLocks noChangeAspect="1"/>
            </p:cNvGraphicFramePr>
            <p:nvPr/>
          </p:nvGraphicFramePr>
          <p:xfrm>
            <a:off x="2485" y="164"/>
            <a:ext cx="183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18" name="Equation" r:id="rId6" imgW="152334" imgH="393529" progId="Equation.DSMT4">
                    <p:embed/>
                  </p:oleObj>
                </mc:Choice>
                <mc:Fallback>
                  <p:oleObj name="Equation" r:id="rId6" imgW="152334" imgH="393529" progId="Equation.DSMT4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5" y="164"/>
                          <a:ext cx="183" cy="4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611188" y="3292475"/>
            <a:ext cx="24034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平均势能</a:t>
            </a:r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1612900" y="3219450"/>
          <a:ext cx="648811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2" name="Equation" r:id="rId5" imgW="2908080" imgH="393480" progId="Equation.DSMT4">
                  <p:embed/>
                </p:oleObj>
              </mc:Choice>
              <mc:Fallback>
                <p:oleObj name="Equation" r:id="rId5" imgW="290808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3219450"/>
                        <a:ext cx="648811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5"/>
          <p:cNvGraphicFramePr>
            <a:graphicFrameLocks noChangeAspect="1"/>
          </p:cNvGraphicFramePr>
          <p:nvPr/>
        </p:nvGraphicFramePr>
        <p:xfrm>
          <a:off x="2698750" y="3724275"/>
          <a:ext cx="30972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3" name="公式" r:id="rId7" imgW="1257300" imgH="292100" progId="Equation.3">
                  <p:embed/>
                </p:oleObj>
              </mc:Choice>
              <mc:Fallback>
                <p:oleObj name="公式" r:id="rId7" imgW="1257300" imgH="292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3724275"/>
                        <a:ext cx="309721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2" name="Text Box 38"/>
          <p:cNvSpPr txBox="1">
            <a:spLocks noChangeArrowheads="1"/>
          </p:cNvSpPr>
          <p:nvPr/>
        </p:nvSpPr>
        <p:spPr bwMode="auto">
          <a:xfrm>
            <a:off x="4068763" y="1050925"/>
            <a:ext cx="28067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1800">
                <a:latin typeface="华文中宋" pitchFamily="2" charset="-122"/>
                <a:ea typeface="华文中宋" pitchFamily="2" charset="-122"/>
              </a:rPr>
              <a:t>在一个周期内的平均动能</a:t>
            </a:r>
            <a:endParaRPr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47143" name="Object 39"/>
          <p:cNvGraphicFramePr>
            <a:graphicFrameLocks noChangeAspect="1"/>
          </p:cNvGraphicFramePr>
          <p:nvPr/>
        </p:nvGraphicFramePr>
        <p:xfrm>
          <a:off x="920750" y="1393825"/>
          <a:ext cx="45148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4" name="Equation" r:id="rId9" imgW="2298600" imgH="393480" progId="Equation.DSMT4">
                  <p:embed/>
                </p:oleObj>
              </mc:Choice>
              <mc:Fallback>
                <p:oleObj name="Equation" r:id="rId9" imgW="2298600" imgH="3934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1393825"/>
                        <a:ext cx="451485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4" name="Object 40"/>
          <p:cNvGraphicFramePr>
            <a:graphicFrameLocks noChangeAspect="1"/>
          </p:cNvGraphicFramePr>
          <p:nvPr/>
        </p:nvGraphicFramePr>
        <p:xfrm>
          <a:off x="1479550" y="2571750"/>
          <a:ext cx="136366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公式" r:id="rId11" imgW="558558" imgH="291973" progId="Equation.3">
                  <p:embed/>
                </p:oleObj>
              </mc:Choice>
              <mc:Fallback>
                <p:oleObj name="公式" r:id="rId11" imgW="558558" imgH="291973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2571750"/>
                        <a:ext cx="136366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6" name="Object 42"/>
          <p:cNvGraphicFramePr>
            <a:graphicFrameLocks noChangeAspect="1"/>
          </p:cNvGraphicFramePr>
          <p:nvPr/>
        </p:nvGraphicFramePr>
        <p:xfrm>
          <a:off x="1258888" y="1995488"/>
          <a:ext cx="51244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name="Equation" r:id="rId13" imgW="2666880" imgH="393480" progId="Equation.DSMT4">
                  <p:embed/>
                </p:oleObj>
              </mc:Choice>
              <mc:Fallback>
                <p:oleObj name="Equation" r:id="rId13" imgW="2666880" imgH="3934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995488"/>
                        <a:ext cx="51244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47" name="Text Box 43"/>
          <p:cNvSpPr txBox="1">
            <a:spLocks noChangeArrowheads="1"/>
          </p:cNvSpPr>
          <p:nvPr/>
        </p:nvSpPr>
        <p:spPr bwMode="auto">
          <a:xfrm>
            <a:off x="571500" y="835025"/>
            <a:ext cx="299243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5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） 一个周期内的平均值</a:t>
            </a:r>
          </a:p>
        </p:txBody>
      </p:sp>
      <p:graphicFrame>
        <p:nvGraphicFramePr>
          <p:cNvPr id="47148" name="Object 44"/>
          <p:cNvGraphicFramePr>
            <a:graphicFrameLocks noChangeAspect="1"/>
          </p:cNvGraphicFramePr>
          <p:nvPr/>
        </p:nvGraphicFramePr>
        <p:xfrm>
          <a:off x="6372225" y="1330325"/>
          <a:ext cx="252095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7" name="公式" r:id="rId15" imgW="965200" imgH="292100" progId="Equation.3">
                  <p:embed/>
                </p:oleObj>
              </mc:Choice>
              <mc:Fallback>
                <p:oleObj name="公式" r:id="rId15" imgW="965200" imgH="2921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330325"/>
                        <a:ext cx="252095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4" name="Object 12"/>
          <p:cNvGraphicFramePr>
            <a:graphicFrameLocks noChangeAspect="1"/>
          </p:cNvGraphicFramePr>
          <p:nvPr/>
        </p:nvGraphicFramePr>
        <p:xfrm>
          <a:off x="6381750" y="2541588"/>
          <a:ext cx="2582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8" name="公式" r:id="rId17" imgW="990170" imgH="291973" progId="Equation.3">
                  <p:embed/>
                </p:oleObj>
              </mc:Choice>
              <mc:Fallback>
                <p:oleObj name="公式" r:id="rId17" imgW="990170" imgH="29197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2541588"/>
                        <a:ext cx="2582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5" name="Text Box 13"/>
          <p:cNvSpPr txBox="1">
            <a:spLocks noChangeArrowheads="1"/>
          </p:cNvSpPr>
          <p:nvPr/>
        </p:nvSpPr>
        <p:spPr bwMode="auto">
          <a:xfrm>
            <a:off x="1042988" y="4217988"/>
            <a:ext cx="69850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动能与势能的平均值相等，等于总能的一半。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/>
      <p:bldP spid="47142" grpId="0" autoUpdateAnimBg="0"/>
      <p:bldP spid="47147" grpId="0" autoUpdateAnimBg="0"/>
      <p:bldP spid="1157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90550" y="1293813"/>
            <a:ext cx="8077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altLang="zh-CN" sz="1800">
                <a:ea typeface="华文中宋" pitchFamily="2" charset="-122"/>
              </a:rPr>
              <a:t>        </a:t>
            </a:r>
            <a:r>
              <a:rPr lang="zh-CN" altLang="en-US" sz="1800">
                <a:ea typeface="华文中宋" pitchFamily="2" charset="-122"/>
              </a:rPr>
              <a:t>系统沿</a:t>
            </a:r>
            <a:r>
              <a:rPr lang="en-US" altLang="zh-CN" sz="1800" i="1">
                <a:ea typeface="华文中宋" pitchFamily="2" charset="-122"/>
              </a:rPr>
              <a:t>x</a:t>
            </a:r>
            <a:r>
              <a:rPr lang="zh-CN" altLang="en-US" sz="1800">
                <a:ea typeface="华文中宋" pitchFamily="2" charset="-122"/>
              </a:rPr>
              <a:t>轴振动，势能函数为</a:t>
            </a:r>
            <a:r>
              <a:rPr lang="en-US" altLang="zh-CN" sz="1800" i="1">
                <a:ea typeface="华文中宋" pitchFamily="2" charset="-122"/>
              </a:rPr>
              <a:t>E</a:t>
            </a:r>
            <a:r>
              <a:rPr lang="en-US" altLang="zh-CN" sz="1500" baseline="-25000">
                <a:ea typeface="华文中宋" pitchFamily="2" charset="-122"/>
              </a:rPr>
              <a:t>p</a:t>
            </a:r>
            <a:r>
              <a:rPr lang="en-US" altLang="zh-CN" sz="1800">
                <a:ea typeface="华文中宋" pitchFamily="2" charset="-122"/>
              </a:rPr>
              <a:t>(</a:t>
            </a:r>
            <a:r>
              <a:rPr lang="en-US" altLang="zh-CN" sz="1800" i="1">
                <a:ea typeface="华文中宋" pitchFamily="2" charset="-122"/>
              </a:rPr>
              <a:t>x</a:t>
            </a:r>
            <a:r>
              <a:rPr lang="en-US" altLang="zh-CN" sz="1800">
                <a:ea typeface="华文中宋" pitchFamily="2" charset="-122"/>
              </a:rPr>
              <a:t>)</a:t>
            </a:r>
            <a:r>
              <a:rPr lang="zh-CN" altLang="en-US" sz="1800">
                <a:ea typeface="华文中宋" pitchFamily="2" charset="-122"/>
              </a:rPr>
              <a:t>，势能曲线存在极小值，该位置就是系统的稳定平衡位置。</a:t>
            </a:r>
            <a:endParaRPr lang="zh-CN" altLang="zh-CN" sz="1800" i="1">
              <a:solidFill>
                <a:srgbClr val="66FF66"/>
              </a:solidFill>
              <a:ea typeface="华文中宋" pitchFamily="2" charset="-122"/>
            </a:endParaRPr>
          </a:p>
        </p:txBody>
      </p:sp>
      <p:graphicFrame>
        <p:nvGraphicFramePr>
          <p:cNvPr id="14" name="Object 38"/>
          <p:cNvGraphicFramePr>
            <a:graphicFrameLocks noChangeAspect="1"/>
          </p:cNvGraphicFramePr>
          <p:nvPr/>
        </p:nvGraphicFramePr>
        <p:xfrm>
          <a:off x="2184400" y="3346450"/>
          <a:ext cx="5195888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4" name="Equation" r:id="rId3" imgW="3809880" imgH="431640" progId="Equation.DSMT4">
                  <p:embed/>
                </p:oleObj>
              </mc:Choice>
              <mc:Fallback>
                <p:oleObj name="Equation" r:id="rId3" imgW="3809880" imgH="43164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400" y="3346450"/>
                        <a:ext cx="5195888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9718" name="Group 38"/>
          <p:cNvGrpSpPr>
            <a:grpSpLocks/>
          </p:cNvGrpSpPr>
          <p:nvPr/>
        </p:nvGrpSpPr>
        <p:grpSpPr bwMode="auto">
          <a:xfrm>
            <a:off x="1169988" y="1716088"/>
            <a:ext cx="6715125" cy="1576387"/>
            <a:chOff x="521" y="981"/>
            <a:chExt cx="4673" cy="1640"/>
          </a:xfrm>
        </p:grpSpPr>
        <p:grpSp>
          <p:nvGrpSpPr>
            <p:cNvPr id="34826" name="Group 32"/>
            <p:cNvGrpSpPr>
              <a:grpSpLocks/>
            </p:cNvGrpSpPr>
            <p:nvPr/>
          </p:nvGrpSpPr>
          <p:grpSpPr bwMode="auto">
            <a:xfrm>
              <a:off x="887" y="981"/>
              <a:ext cx="4292" cy="1450"/>
              <a:chOff x="887" y="1162"/>
              <a:chExt cx="4292" cy="1450"/>
            </a:xfrm>
          </p:grpSpPr>
          <p:sp>
            <p:nvSpPr>
              <p:cNvPr id="34829" name="Line 22"/>
              <p:cNvSpPr>
                <a:spLocks noChangeShapeType="1"/>
              </p:cNvSpPr>
              <p:nvPr/>
            </p:nvSpPr>
            <p:spPr bwMode="auto">
              <a:xfrm>
                <a:off x="996" y="2160"/>
                <a:ext cx="1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0" name="Line 23"/>
              <p:cNvSpPr>
                <a:spLocks noChangeShapeType="1"/>
              </p:cNvSpPr>
              <p:nvPr/>
            </p:nvSpPr>
            <p:spPr bwMode="auto">
              <a:xfrm flipV="1">
                <a:off x="1166" y="1405"/>
                <a:ext cx="0" cy="104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1" name="Text Box 24"/>
              <p:cNvSpPr txBox="1">
                <a:spLocks noChangeArrowheads="1"/>
              </p:cNvSpPr>
              <p:nvPr/>
            </p:nvSpPr>
            <p:spPr bwMode="auto">
              <a:xfrm>
                <a:off x="930" y="2147"/>
                <a:ext cx="25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kumimoji="0" lang="en-US" altLang="zh-CN" sz="1500" i="1">
                    <a:ea typeface="宋体" pitchFamily="2" charset="-122"/>
                  </a:rPr>
                  <a:t>O</a:t>
                </a:r>
              </a:p>
            </p:txBody>
          </p:sp>
          <p:sp>
            <p:nvSpPr>
              <p:cNvPr id="34832" name="Text Box 25"/>
              <p:cNvSpPr txBox="1">
                <a:spLocks noChangeArrowheads="1"/>
              </p:cNvSpPr>
              <p:nvPr/>
            </p:nvSpPr>
            <p:spPr bwMode="auto">
              <a:xfrm>
                <a:off x="2395" y="1888"/>
                <a:ext cx="21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kumimoji="0" lang="en-US" altLang="zh-CN" sz="1500" i="1">
                    <a:ea typeface="宋体" pitchFamily="2" charset="-122"/>
                  </a:rPr>
                  <a:t>x</a:t>
                </a:r>
              </a:p>
            </p:txBody>
          </p:sp>
          <p:sp>
            <p:nvSpPr>
              <p:cNvPr id="34833" name="Text Box 26"/>
              <p:cNvSpPr txBox="1">
                <a:spLocks noChangeArrowheads="1"/>
              </p:cNvSpPr>
              <p:nvPr/>
            </p:nvSpPr>
            <p:spPr bwMode="auto">
              <a:xfrm>
                <a:off x="887" y="1298"/>
                <a:ext cx="31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kumimoji="0" lang="en-US" altLang="zh-CN" sz="1500" i="1">
                    <a:solidFill>
                      <a:srgbClr val="FF0000"/>
                    </a:solidFill>
                    <a:ea typeface="宋体" pitchFamily="2" charset="-122"/>
                  </a:rPr>
                  <a:t>E</a:t>
                </a:r>
                <a:r>
                  <a:rPr kumimoji="0" lang="en-US" altLang="zh-CN" sz="1500" baseline="-25000">
                    <a:solidFill>
                      <a:srgbClr val="FF0000"/>
                    </a:solidFill>
                    <a:ea typeface="宋体" pitchFamily="2" charset="-122"/>
                  </a:rPr>
                  <a:t>p</a:t>
                </a:r>
              </a:p>
            </p:txBody>
          </p:sp>
          <p:sp>
            <p:nvSpPr>
              <p:cNvPr id="34834" name="Freeform 28"/>
              <p:cNvSpPr>
                <a:spLocks/>
              </p:cNvSpPr>
              <p:nvPr/>
            </p:nvSpPr>
            <p:spPr bwMode="auto">
              <a:xfrm>
                <a:off x="1251" y="1423"/>
                <a:ext cx="1188" cy="1046"/>
              </a:xfrm>
              <a:custGeom>
                <a:avLst/>
                <a:gdLst>
                  <a:gd name="T0" fmla="*/ 0 w 1188"/>
                  <a:gd name="T1" fmla="*/ 0 h 1046"/>
                  <a:gd name="T2" fmla="*/ 101 w 1188"/>
                  <a:gd name="T3" fmla="*/ 780 h 1046"/>
                  <a:gd name="T4" fmla="*/ 299 w 1188"/>
                  <a:gd name="T5" fmla="*/ 1037 h 1046"/>
                  <a:gd name="T6" fmla="*/ 583 w 1188"/>
                  <a:gd name="T7" fmla="*/ 833 h 1046"/>
                  <a:gd name="T8" fmla="*/ 969 w 1188"/>
                  <a:gd name="T9" fmla="*/ 770 h 1046"/>
                  <a:gd name="T10" fmla="*/ 1188 w 1188"/>
                  <a:gd name="T11" fmla="*/ 770 h 10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88"/>
                  <a:gd name="T19" fmla="*/ 0 h 1046"/>
                  <a:gd name="T20" fmla="*/ 1188 w 1188"/>
                  <a:gd name="T21" fmla="*/ 1046 h 104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88" h="1046">
                    <a:moveTo>
                      <a:pt x="0" y="0"/>
                    </a:moveTo>
                    <a:cubicBezTo>
                      <a:pt x="16" y="129"/>
                      <a:pt x="51" y="607"/>
                      <a:pt x="101" y="780"/>
                    </a:cubicBezTo>
                    <a:cubicBezTo>
                      <a:pt x="151" y="953"/>
                      <a:pt x="219" y="1028"/>
                      <a:pt x="299" y="1037"/>
                    </a:cubicBezTo>
                    <a:cubicBezTo>
                      <a:pt x="379" y="1046"/>
                      <a:pt x="471" y="877"/>
                      <a:pt x="583" y="833"/>
                    </a:cubicBezTo>
                    <a:cubicBezTo>
                      <a:pt x="695" y="789"/>
                      <a:pt x="868" y="780"/>
                      <a:pt x="969" y="770"/>
                    </a:cubicBezTo>
                    <a:cubicBezTo>
                      <a:pt x="1070" y="760"/>
                      <a:pt x="1143" y="770"/>
                      <a:pt x="1188" y="77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5" name="Line 29"/>
              <p:cNvSpPr>
                <a:spLocks noChangeShapeType="1"/>
              </p:cNvSpPr>
              <p:nvPr/>
            </p:nvSpPr>
            <p:spPr bwMode="auto">
              <a:xfrm>
                <a:off x="1544" y="2160"/>
                <a:ext cx="0" cy="28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36" name="Rectangle 30"/>
              <p:cNvSpPr>
                <a:spLocks noChangeArrowheads="1"/>
              </p:cNvSpPr>
              <p:nvPr/>
            </p:nvSpPr>
            <p:spPr bwMode="auto">
              <a:xfrm>
                <a:off x="1429" y="1888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500" i="1">
                    <a:ea typeface="宋体" pitchFamily="2" charset="-122"/>
                  </a:rPr>
                  <a:t>x</a:t>
                </a:r>
                <a:r>
                  <a:rPr lang="en-US" altLang="zh-CN" sz="1500" baseline="-25000">
                    <a:ea typeface="宋体" pitchFamily="2" charset="-122"/>
                  </a:rPr>
                  <a:t>0</a:t>
                </a:r>
              </a:p>
            </p:txBody>
          </p:sp>
          <p:grpSp>
            <p:nvGrpSpPr>
              <p:cNvPr id="34837" name="Group 26"/>
              <p:cNvGrpSpPr>
                <a:grpSpLocks/>
              </p:cNvGrpSpPr>
              <p:nvPr/>
            </p:nvGrpSpPr>
            <p:grpSpPr bwMode="auto">
              <a:xfrm>
                <a:off x="3016" y="1298"/>
                <a:ext cx="2132" cy="1134"/>
                <a:chOff x="2880" y="1207"/>
                <a:chExt cx="2404" cy="1366"/>
              </a:xfrm>
            </p:grpSpPr>
            <p:grpSp>
              <p:nvGrpSpPr>
                <p:cNvPr id="34842" name="Group 23"/>
                <p:cNvGrpSpPr>
                  <a:grpSpLocks/>
                </p:cNvGrpSpPr>
                <p:nvPr/>
              </p:nvGrpSpPr>
              <p:grpSpPr bwMode="auto">
                <a:xfrm>
                  <a:off x="3203" y="1298"/>
                  <a:ext cx="1712" cy="1275"/>
                  <a:chOff x="3203" y="1253"/>
                  <a:chExt cx="1712" cy="1275"/>
                </a:xfrm>
              </p:grpSpPr>
              <p:graphicFrame>
                <p:nvGraphicFramePr>
                  <p:cNvPr id="34845" name="Object 17"/>
                  <p:cNvGraphicFramePr>
                    <a:graphicFrameLocks noChangeAspect="1"/>
                  </p:cNvGraphicFramePr>
                  <p:nvPr/>
                </p:nvGraphicFramePr>
                <p:xfrm>
                  <a:off x="3696" y="1298"/>
                  <a:ext cx="720" cy="123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4855" name="Graph" r:id="rId5" imgW="4113581" imgH="3138221" progId="Origin50.Graph">
                          <p:embed/>
                        </p:oleObj>
                      </mc:Choice>
                      <mc:Fallback>
                        <p:oleObj name="Graph" r:id="rId5" imgW="4113581" imgH="3138221" progId="Origin50.Graph">
                          <p:embed/>
                          <p:pic>
                            <p:nvPicPr>
                              <p:cNvPr id="0" name="Object 17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 l="44095" t="17197" r="24409" b="21504"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696" y="1298"/>
                                <a:ext cx="720" cy="123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4846" name="Object 19"/>
                  <p:cNvGraphicFramePr>
                    <a:graphicFrameLocks noChangeAspect="1"/>
                  </p:cNvGraphicFramePr>
                  <p:nvPr/>
                </p:nvGraphicFramePr>
                <p:xfrm>
                  <a:off x="4195" y="1253"/>
                  <a:ext cx="720" cy="121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4856" name="Graph" r:id="rId7" imgW="4113581" imgH="3138221" progId="Origin50.Graph">
                          <p:embed/>
                        </p:oleObj>
                      </mc:Choice>
                      <mc:Fallback>
                        <p:oleObj name="Graph" r:id="rId7" imgW="4113581" imgH="3138221" progId="Origin50.Graph">
                          <p:embed/>
                          <p:pic>
                            <p:nvPicPr>
                              <p:cNvPr id="0" name="Object 19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 l="44095" t="17197" r="24409" b="22102"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4195" y="1253"/>
                                <a:ext cx="720" cy="121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4847" name="Object 21"/>
                  <p:cNvGraphicFramePr>
                    <a:graphicFrameLocks noChangeAspect="1"/>
                  </p:cNvGraphicFramePr>
                  <p:nvPr/>
                </p:nvGraphicFramePr>
                <p:xfrm>
                  <a:off x="3203" y="1260"/>
                  <a:ext cx="720" cy="121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4857" name="Graph" r:id="rId9" imgW="4113581" imgH="3138221" progId="Origin50.Graph">
                          <p:embed/>
                        </p:oleObj>
                      </mc:Choice>
                      <mc:Fallback>
                        <p:oleObj name="Graph" r:id="rId9" imgW="4113581" imgH="3138221" progId="Origin50.Graph">
                          <p:embed/>
                          <p:pic>
                            <p:nvPicPr>
                              <p:cNvPr id="0" name="Object 21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 l="44095" t="17197" r="24409" b="22102"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203" y="1260"/>
                                <a:ext cx="720" cy="121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34843" name="Line 24"/>
                <p:cNvSpPr>
                  <a:spLocks noChangeShapeType="1"/>
                </p:cNvSpPr>
                <p:nvPr/>
              </p:nvSpPr>
              <p:spPr bwMode="auto">
                <a:xfrm>
                  <a:off x="2880" y="2523"/>
                  <a:ext cx="240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4" name="Line 25"/>
                <p:cNvSpPr>
                  <a:spLocks noChangeShapeType="1"/>
                </p:cNvSpPr>
                <p:nvPr/>
              </p:nvSpPr>
              <p:spPr bwMode="auto">
                <a:xfrm flipV="1">
                  <a:off x="4059" y="1207"/>
                  <a:ext cx="0" cy="1316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838" name="Text Box 25"/>
              <p:cNvSpPr txBox="1">
                <a:spLocks noChangeArrowheads="1"/>
              </p:cNvSpPr>
              <p:nvPr/>
            </p:nvSpPr>
            <p:spPr bwMode="auto">
              <a:xfrm>
                <a:off x="4967" y="2115"/>
                <a:ext cx="212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kumimoji="0" lang="en-US" altLang="zh-CN" sz="1500" i="1">
                    <a:ea typeface="宋体" pitchFamily="2" charset="-122"/>
                  </a:rPr>
                  <a:t>x</a:t>
                </a:r>
              </a:p>
            </p:txBody>
          </p:sp>
          <p:sp>
            <p:nvSpPr>
              <p:cNvPr id="34839" name="Text Box 26"/>
              <p:cNvSpPr txBox="1">
                <a:spLocks noChangeArrowheads="1"/>
              </p:cNvSpPr>
              <p:nvPr/>
            </p:nvSpPr>
            <p:spPr bwMode="auto">
              <a:xfrm>
                <a:off x="3742" y="1162"/>
                <a:ext cx="31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kumimoji="0" lang="en-US" altLang="zh-CN" sz="1500" i="1">
                    <a:solidFill>
                      <a:srgbClr val="FF0000"/>
                    </a:solidFill>
                    <a:ea typeface="宋体" pitchFamily="2" charset="-122"/>
                  </a:rPr>
                  <a:t>E</a:t>
                </a:r>
                <a:r>
                  <a:rPr kumimoji="0" lang="en-US" altLang="zh-CN" sz="1500" baseline="-25000">
                    <a:solidFill>
                      <a:srgbClr val="FF0000"/>
                    </a:solidFill>
                    <a:ea typeface="宋体" pitchFamily="2" charset="-122"/>
                  </a:rPr>
                  <a:t>p</a:t>
                </a:r>
              </a:p>
            </p:txBody>
          </p:sp>
          <p:sp>
            <p:nvSpPr>
              <p:cNvPr id="34840" name="Text Box 24"/>
              <p:cNvSpPr txBox="1">
                <a:spLocks noChangeArrowheads="1"/>
              </p:cNvSpPr>
              <p:nvPr/>
            </p:nvSpPr>
            <p:spPr bwMode="auto">
              <a:xfrm>
                <a:off x="2971" y="2341"/>
                <a:ext cx="25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/>
                <a:r>
                  <a:rPr kumimoji="0" lang="en-US" altLang="zh-CN" sz="1500" i="1">
                    <a:ea typeface="宋体" pitchFamily="2" charset="-122"/>
                  </a:rPr>
                  <a:t>O</a:t>
                </a:r>
              </a:p>
            </p:txBody>
          </p:sp>
          <p:sp>
            <p:nvSpPr>
              <p:cNvPr id="34841" name="Rectangle 30"/>
              <p:cNvSpPr>
                <a:spLocks noChangeArrowheads="1"/>
              </p:cNvSpPr>
              <p:nvPr/>
            </p:nvSpPr>
            <p:spPr bwMode="auto">
              <a:xfrm>
                <a:off x="3969" y="2341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500" i="1">
                    <a:ea typeface="宋体" pitchFamily="2" charset="-122"/>
                  </a:rPr>
                  <a:t>x</a:t>
                </a:r>
                <a:r>
                  <a:rPr lang="en-US" altLang="zh-CN" sz="1500" baseline="-25000">
                    <a:ea typeface="宋体" pitchFamily="2" charset="-122"/>
                  </a:rPr>
                  <a:t>0</a:t>
                </a:r>
              </a:p>
            </p:txBody>
          </p:sp>
        </p:grpSp>
        <p:sp>
          <p:nvSpPr>
            <p:cNvPr id="34827" name="Text Box 5"/>
            <p:cNvSpPr txBox="1">
              <a:spLocks noChangeArrowheads="1"/>
            </p:cNvSpPr>
            <p:nvPr/>
          </p:nvSpPr>
          <p:spPr bwMode="auto">
            <a:xfrm>
              <a:off x="521" y="2348"/>
              <a:ext cx="2223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1500">
                  <a:ea typeface="楷体_GB2312" pitchFamily="49" charset="-122"/>
                </a:rPr>
                <a:t>双原子分子的势能曲线</a:t>
              </a:r>
              <a:endParaRPr lang="zh-CN" altLang="zh-CN" sz="1500" i="1">
                <a:solidFill>
                  <a:srgbClr val="66FF66"/>
                </a:solidFill>
                <a:ea typeface="楷体_GB2312" pitchFamily="49" charset="-122"/>
              </a:endParaRPr>
            </a:p>
          </p:txBody>
        </p:sp>
        <p:sp>
          <p:nvSpPr>
            <p:cNvPr id="34828" name="Text Box 5"/>
            <p:cNvSpPr txBox="1">
              <a:spLocks noChangeArrowheads="1"/>
            </p:cNvSpPr>
            <p:nvPr/>
          </p:nvSpPr>
          <p:spPr bwMode="auto">
            <a:xfrm>
              <a:off x="2971" y="2341"/>
              <a:ext cx="2223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1500">
                  <a:ea typeface="楷体_GB2312" pitchFamily="49" charset="-122"/>
                </a:rPr>
                <a:t>晶格离子的势能曲线</a:t>
              </a:r>
              <a:endParaRPr lang="zh-CN" altLang="zh-CN" sz="1500" i="1">
                <a:solidFill>
                  <a:srgbClr val="66FF66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199720" name="Group 40"/>
          <p:cNvGrpSpPr>
            <a:grpSpLocks/>
          </p:cNvGrpSpPr>
          <p:nvPr/>
        </p:nvGrpSpPr>
        <p:grpSpPr bwMode="auto">
          <a:xfrm>
            <a:off x="107950" y="3962400"/>
            <a:ext cx="4464050" cy="476250"/>
            <a:chOff x="612" y="3380"/>
            <a:chExt cx="2844" cy="483"/>
          </a:xfrm>
        </p:grpSpPr>
        <p:graphicFrame>
          <p:nvGraphicFramePr>
            <p:cNvPr id="34824" name="Object 45"/>
            <p:cNvGraphicFramePr>
              <a:graphicFrameLocks noChangeAspect="1"/>
            </p:cNvGraphicFramePr>
            <p:nvPr/>
          </p:nvGraphicFramePr>
          <p:xfrm>
            <a:off x="1032" y="3380"/>
            <a:ext cx="714" cy="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58" name="Equation" r:id="rId10" imgW="838080" imgH="419040" progId="Equation.DSMT4">
                    <p:embed/>
                  </p:oleObj>
                </mc:Choice>
                <mc:Fallback>
                  <p:oleObj name="Equation" r:id="rId10" imgW="838080" imgH="41904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3380"/>
                          <a:ext cx="714" cy="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25" name="Text Box 5"/>
            <p:cNvSpPr txBox="1">
              <a:spLocks noChangeArrowheads="1"/>
            </p:cNvSpPr>
            <p:nvPr/>
          </p:nvSpPr>
          <p:spPr bwMode="auto">
            <a:xfrm>
              <a:off x="612" y="3460"/>
              <a:ext cx="2844" cy="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1800">
                  <a:latin typeface="华文中宋" pitchFamily="2" charset="-122"/>
                  <a:ea typeface="华文中宋" pitchFamily="2" charset="-122"/>
                </a:rPr>
                <a:t>考虑                 且略去三次及以上高阶项 </a:t>
              </a:r>
              <a:endParaRPr lang="zh-CN" altLang="zh-CN" sz="1800" i="1">
                <a:solidFill>
                  <a:srgbClr val="66FF66"/>
                </a:solidFill>
                <a:latin typeface="华文中宋" pitchFamily="2" charset="-122"/>
                <a:ea typeface="华文中宋" pitchFamily="2" charset="-122"/>
              </a:endParaRPr>
            </a:p>
          </p:txBody>
        </p:sp>
      </p:grpSp>
      <p:graphicFrame>
        <p:nvGraphicFramePr>
          <p:cNvPr id="7" name="对象 2"/>
          <p:cNvGraphicFramePr>
            <a:graphicFrameLocks noChangeAspect="1"/>
          </p:cNvGraphicFramePr>
          <p:nvPr/>
        </p:nvGraphicFramePr>
        <p:xfrm>
          <a:off x="4529138" y="3932238"/>
          <a:ext cx="42910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9" name="Equation" r:id="rId12" imgW="2374560" imgH="431640" progId="Equation.DSMT4">
                  <p:embed/>
                </p:oleObj>
              </mc:Choice>
              <mc:Fallback>
                <p:oleObj name="Equation" r:id="rId12" imgW="2374560" imgH="4316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3932238"/>
                        <a:ext cx="42910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2"/>
          <p:cNvSpPr>
            <a:spLocks noChangeArrowheads="1"/>
          </p:cNvSpPr>
          <p:nvPr/>
        </p:nvSpPr>
        <p:spPr bwMode="auto">
          <a:xfrm>
            <a:off x="736600" y="876300"/>
            <a:ext cx="3548063" cy="400050"/>
          </a:xfrm>
          <a:prstGeom prst="homePlate">
            <a:avLst>
              <a:gd name="adj" fmla="val 49929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二、实际振动系统简谐近似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27088" y="915988"/>
          <a:ext cx="421322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Equation" r:id="rId3" imgW="2374560" imgH="431640" progId="Equation.DSMT4">
                  <p:embed/>
                </p:oleObj>
              </mc:Choice>
              <mc:Fallback>
                <p:oleObj name="Equation" r:id="rId3" imgW="2374560" imgH="43164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915988"/>
                        <a:ext cx="421322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87450" y="2066925"/>
          <a:ext cx="69802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1" name="Equation" r:id="rId5" imgW="3848040" imgH="469800" progId="Equation.DSMT4">
                  <p:embed/>
                </p:oleObj>
              </mc:Choice>
              <mc:Fallback>
                <p:oleObj name="Equation" r:id="rId5" imgW="3848040" imgH="469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066925"/>
                        <a:ext cx="6980238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250825" y="4137025"/>
            <a:ext cx="8713788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sz="1600">
                <a:ea typeface="华文中宋" pitchFamily="2" charset="-122"/>
              </a:rPr>
              <a:t>势能曲线若有极小值</a:t>
            </a:r>
            <a:r>
              <a:rPr lang="en-US" altLang="zh-CN" sz="1600">
                <a:ea typeface="华文中宋" pitchFamily="2" charset="-122"/>
              </a:rPr>
              <a:t>,</a:t>
            </a:r>
            <a:r>
              <a:rPr lang="zh-CN" altLang="en-US" sz="1600">
                <a:ea typeface="华文中宋" pitchFamily="2" charset="-122"/>
              </a:rPr>
              <a:t>物体在其稳定平衡位置附近的无阻尼微小振动，总可以看成是简谐振动。</a:t>
            </a:r>
          </a:p>
        </p:txBody>
      </p:sp>
      <p:grpSp>
        <p:nvGrpSpPr>
          <p:cNvPr id="200716" name="Group 12"/>
          <p:cNvGrpSpPr>
            <a:grpSpLocks/>
          </p:cNvGrpSpPr>
          <p:nvPr/>
        </p:nvGrpSpPr>
        <p:grpSpPr bwMode="auto">
          <a:xfrm>
            <a:off x="527050" y="1579563"/>
            <a:ext cx="3751263" cy="415925"/>
            <a:chOff x="332" y="707"/>
            <a:chExt cx="2363" cy="349"/>
          </a:xfrm>
        </p:grpSpPr>
        <p:sp>
          <p:nvSpPr>
            <p:cNvPr id="35858" name="Text Box 5"/>
            <p:cNvSpPr txBox="1">
              <a:spLocks noChangeArrowheads="1"/>
            </p:cNvSpPr>
            <p:nvPr/>
          </p:nvSpPr>
          <p:spPr bwMode="auto">
            <a:xfrm>
              <a:off x="332" y="715"/>
              <a:ext cx="1868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zh-CN" altLang="en-US" sz="1800">
                  <a:ea typeface="华文中宋" pitchFamily="2" charset="-122"/>
                </a:rPr>
                <a:t>依据势能的定义：</a:t>
              </a:r>
              <a:endParaRPr lang="zh-CN" altLang="zh-CN" sz="1800" i="1">
                <a:solidFill>
                  <a:srgbClr val="66FF66"/>
                </a:solidFill>
                <a:ea typeface="华文中宋" pitchFamily="2" charset="-122"/>
              </a:endParaRPr>
            </a:p>
          </p:txBody>
        </p:sp>
        <p:graphicFrame>
          <p:nvGraphicFramePr>
            <p:cNvPr id="35859" name="对象 3"/>
            <p:cNvGraphicFramePr>
              <a:graphicFrameLocks noChangeAspect="1"/>
            </p:cNvGraphicFramePr>
            <p:nvPr/>
          </p:nvGraphicFramePr>
          <p:xfrm>
            <a:off x="1474" y="707"/>
            <a:ext cx="1221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2" name="Equation" r:id="rId7" imgW="1041120" imgH="266400" progId="Equation.DSMT4">
                    <p:embed/>
                  </p:oleObj>
                </mc:Choice>
                <mc:Fallback>
                  <p:oleObj name="Equation" r:id="rId7" imgW="1041120" imgH="266400" progId="Equation.DSMT4">
                    <p:embed/>
                    <p:pic>
                      <p:nvPicPr>
                        <p:cNvPr id="0" name="对象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707"/>
                          <a:ext cx="1221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0717" name="Object 13"/>
          <p:cNvGraphicFramePr>
            <a:graphicFrameLocks noChangeAspect="1"/>
          </p:cNvGraphicFramePr>
          <p:nvPr/>
        </p:nvGraphicFramePr>
        <p:xfrm>
          <a:off x="5349875" y="920750"/>
          <a:ext cx="404653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Equation" r:id="rId9" imgW="2298600" imgH="469800" progId="Equation.DSMT4">
                  <p:embed/>
                </p:oleObj>
              </mc:Choice>
              <mc:Fallback>
                <p:oleObj name="Equation" r:id="rId9" imgW="2298600" imgH="469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5" y="920750"/>
                        <a:ext cx="404653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27" name="Group 23"/>
          <p:cNvGrpSpPr>
            <a:grpSpLocks/>
          </p:cNvGrpSpPr>
          <p:nvPr/>
        </p:nvGrpSpPr>
        <p:grpSpPr bwMode="auto">
          <a:xfrm>
            <a:off x="395288" y="2871788"/>
            <a:ext cx="8208962" cy="492125"/>
            <a:chOff x="249" y="2316"/>
            <a:chExt cx="5171" cy="414"/>
          </a:xfrm>
        </p:grpSpPr>
        <p:grpSp>
          <p:nvGrpSpPr>
            <p:cNvPr id="35854" name="Group 15"/>
            <p:cNvGrpSpPr>
              <a:grpSpLocks/>
            </p:cNvGrpSpPr>
            <p:nvPr/>
          </p:nvGrpSpPr>
          <p:grpSpPr bwMode="auto">
            <a:xfrm>
              <a:off x="744" y="2316"/>
              <a:ext cx="2272" cy="414"/>
              <a:chOff x="723" y="2275"/>
              <a:chExt cx="2272" cy="414"/>
            </a:xfrm>
          </p:grpSpPr>
          <p:graphicFrame>
            <p:nvGraphicFramePr>
              <p:cNvPr id="35856" name="对象 4"/>
              <p:cNvGraphicFramePr>
                <a:graphicFrameLocks noChangeAspect="1"/>
              </p:cNvGraphicFramePr>
              <p:nvPr/>
            </p:nvGraphicFramePr>
            <p:xfrm>
              <a:off x="723" y="2275"/>
              <a:ext cx="969" cy="4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4" name="Equation" r:id="rId11" imgW="1002960" imgH="431640" progId="Equation.DSMT4">
                      <p:embed/>
                    </p:oleObj>
                  </mc:Choice>
                  <mc:Fallback>
                    <p:oleObj name="Equation" r:id="rId11" imgW="1002960" imgH="431640" progId="Equation.DSMT4">
                      <p:embed/>
                      <p:pic>
                        <p:nvPicPr>
                          <p:cNvPr id="0" name="对象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3" y="2275"/>
                            <a:ext cx="969" cy="4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57" name="对象 5"/>
              <p:cNvGraphicFramePr>
                <a:graphicFrameLocks noChangeAspect="1"/>
              </p:cNvGraphicFramePr>
              <p:nvPr/>
            </p:nvGraphicFramePr>
            <p:xfrm>
              <a:off x="1861" y="2387"/>
              <a:ext cx="1134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875" name="公式" r:id="rId13" imgW="1206500" imgH="228600" progId="Equation.3">
                      <p:embed/>
                    </p:oleObj>
                  </mc:Choice>
                  <mc:Fallback>
                    <p:oleObj name="公式" r:id="rId13" imgW="1206500" imgH="228600" progId="Equation.3">
                      <p:embed/>
                      <p:pic>
                        <p:nvPicPr>
                          <p:cNvPr id="0" name="对象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1" y="2387"/>
                            <a:ext cx="1134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55" name="Text Box 5"/>
            <p:cNvSpPr txBox="1">
              <a:spLocks noChangeArrowheads="1"/>
            </p:cNvSpPr>
            <p:nvPr/>
          </p:nvSpPr>
          <p:spPr bwMode="auto">
            <a:xfrm>
              <a:off x="249" y="2350"/>
              <a:ext cx="5171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en-US" altLang="zh-CN" sz="1800">
                  <a:ea typeface="华文中宋" pitchFamily="2" charset="-122"/>
                </a:rPr>
                <a:t>        </a:t>
              </a:r>
              <a:r>
                <a:rPr lang="zh-CN" altLang="en-US" sz="1800">
                  <a:ea typeface="华文中宋" pitchFamily="2" charset="-122"/>
                </a:rPr>
                <a:t>令                          则                                 为线性回复力，依据牛顿第二定律：   </a:t>
              </a:r>
              <a:endParaRPr lang="zh-CN" altLang="zh-CN" sz="1800" i="1">
                <a:solidFill>
                  <a:srgbClr val="66FF66"/>
                </a:solidFill>
                <a:ea typeface="华文中宋" pitchFamily="2" charset="-122"/>
              </a:endParaRPr>
            </a:p>
          </p:txBody>
        </p:sp>
      </p:grp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58788" y="3440113"/>
          <a:ext cx="4473575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6" name="Equation" r:id="rId15" imgW="2577960" imgH="431640" progId="Equation.DSMT4">
                  <p:embed/>
                </p:oleObj>
              </mc:Choice>
              <mc:Fallback>
                <p:oleObj name="Equation" r:id="rId15" imgW="2577960" imgH="4316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3440113"/>
                        <a:ext cx="4473575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5"/>
          <p:cNvGraphicFramePr>
            <a:graphicFrameLocks noChangeAspect="1"/>
          </p:cNvGraphicFramePr>
          <p:nvPr/>
        </p:nvGraphicFramePr>
        <p:xfrm>
          <a:off x="6708775" y="3463925"/>
          <a:ext cx="139223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7" name="Equation" r:id="rId17" imgW="901440" imgH="419040" progId="Equation.DSMT4">
                  <p:embed/>
                </p:oleObj>
              </mc:Choice>
              <mc:Fallback>
                <p:oleObj name="Equation" r:id="rId17" imgW="901440" imgH="419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775" y="3463925"/>
                        <a:ext cx="139223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26" name="Group 22"/>
          <p:cNvGrpSpPr>
            <a:grpSpLocks/>
          </p:cNvGrpSpPr>
          <p:nvPr/>
        </p:nvGrpSpPr>
        <p:grpSpPr bwMode="auto">
          <a:xfrm>
            <a:off x="4932363" y="3427413"/>
            <a:ext cx="1584325" cy="660400"/>
            <a:chOff x="3107" y="2878"/>
            <a:chExt cx="998" cy="555"/>
          </a:xfrm>
        </p:grpSpPr>
        <p:sp>
          <p:nvSpPr>
            <p:cNvPr id="35851" name="Line 19"/>
            <p:cNvSpPr>
              <a:spLocks noChangeShapeType="1"/>
            </p:cNvSpPr>
            <p:nvPr/>
          </p:nvSpPr>
          <p:spPr bwMode="auto">
            <a:xfrm>
              <a:off x="3107" y="3158"/>
              <a:ext cx="9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35852" name="对象 5"/>
            <p:cNvGraphicFramePr>
              <a:graphicFrameLocks noChangeAspect="1"/>
            </p:cNvGraphicFramePr>
            <p:nvPr/>
          </p:nvGraphicFramePr>
          <p:xfrm>
            <a:off x="3288" y="2878"/>
            <a:ext cx="67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8" name="公式" r:id="rId19" imgW="482181" imgH="177646" progId="Equation.3">
                    <p:embed/>
                  </p:oleObj>
                </mc:Choice>
                <mc:Fallback>
                  <p:oleObj name="公式" r:id="rId19" imgW="482181" imgH="177646" progId="Equation.3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2878"/>
                          <a:ext cx="67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3" name="对象 5"/>
            <p:cNvGraphicFramePr>
              <a:graphicFrameLocks noChangeAspect="1"/>
            </p:cNvGraphicFramePr>
            <p:nvPr/>
          </p:nvGraphicFramePr>
          <p:xfrm>
            <a:off x="3267" y="3113"/>
            <a:ext cx="656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9" name="公式" r:id="rId21" imgW="469696" imgH="203112" progId="Equation.3">
                    <p:embed/>
                  </p:oleObj>
                </mc:Choice>
                <mc:Fallback>
                  <p:oleObj name="公式" r:id="rId21" imgW="469696" imgH="203112" progId="Equation.3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7" y="3113"/>
                          <a:ext cx="656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5"/>
          <p:cNvGrpSpPr>
            <a:grpSpLocks/>
          </p:cNvGrpSpPr>
          <p:nvPr/>
        </p:nvGrpSpPr>
        <p:grpSpPr bwMode="auto">
          <a:xfrm>
            <a:off x="241300" y="771525"/>
            <a:ext cx="8597900" cy="974725"/>
            <a:chOff x="152" y="267"/>
            <a:chExt cx="5416" cy="818"/>
          </a:xfrm>
        </p:grpSpPr>
        <p:sp>
          <p:nvSpPr>
            <p:cNvPr id="36874" name="Text Box 2"/>
            <p:cNvSpPr txBox="1">
              <a:spLocks noChangeArrowheads="1"/>
            </p:cNvSpPr>
            <p:nvPr/>
          </p:nvSpPr>
          <p:spPr bwMode="auto">
            <a:xfrm>
              <a:off x="152" y="267"/>
              <a:ext cx="541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</a:rPr>
                <a:t>例    谐振动过程中，动能和势能相等的位置的位移等于：</a:t>
              </a:r>
            </a:p>
          </p:txBody>
        </p:sp>
        <p:graphicFrame>
          <p:nvGraphicFramePr>
            <p:cNvPr id="36875" name="Object 3"/>
            <p:cNvGraphicFramePr>
              <a:graphicFrameLocks noChangeAspect="1"/>
            </p:cNvGraphicFramePr>
            <p:nvPr/>
          </p:nvGraphicFramePr>
          <p:xfrm>
            <a:off x="339" y="630"/>
            <a:ext cx="4129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881" name="Equation" r:id="rId4" imgW="3886200" imgH="431640" progId="Equation.DSMT4">
                    <p:embed/>
                  </p:oleObj>
                </mc:Choice>
                <mc:Fallback>
                  <p:oleObj name="Equation" r:id="rId4" imgW="3886200" imgH="43164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" y="630"/>
                          <a:ext cx="4129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1254125" y="1947863"/>
            <a:ext cx="7969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解：</a:t>
            </a:r>
          </a:p>
        </p:txBody>
      </p:sp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2700338" y="1851025"/>
          <a:ext cx="30956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公式" r:id="rId6" imgW="1117600" imgH="292100" progId="Equation.3">
                  <p:embed/>
                </p:oleObj>
              </mc:Choice>
              <mc:Fallback>
                <p:oleObj name="公式" r:id="rId6" imgW="1117600" imgH="292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851025"/>
                        <a:ext cx="30956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3924300" y="2554288"/>
          <a:ext cx="17351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3" name="公式" r:id="rId8" imgW="672808" imgH="291973" progId="Equation.3">
                  <p:embed/>
                </p:oleObj>
              </mc:Choice>
              <mc:Fallback>
                <p:oleObj name="公式" r:id="rId8" imgW="672808" imgH="29197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554288"/>
                        <a:ext cx="17351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2987675" y="3255963"/>
          <a:ext cx="23177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公式" r:id="rId10" imgW="888614" imgH="291973" progId="Equation.3">
                  <p:embed/>
                </p:oleObj>
              </mc:Choice>
              <mc:Fallback>
                <p:oleObj name="公式" r:id="rId10" imgW="888614" imgH="29197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255963"/>
                        <a:ext cx="23177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/>
        </p:nvGraphicFramePr>
        <p:xfrm>
          <a:off x="3478213" y="3959225"/>
          <a:ext cx="1525587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公式" r:id="rId12" imgW="533169" imgH="330057" progId="Equation.3">
                  <p:embed/>
                </p:oleObj>
              </mc:Choice>
              <mc:Fallback>
                <p:oleObj name="公式" r:id="rId12" imgW="533169" imgH="330057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3" y="3959225"/>
                        <a:ext cx="1525587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5573713" y="4162425"/>
            <a:ext cx="254952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故选择答案（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D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）</a:t>
            </a:r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1908175" y="2649538"/>
            <a:ext cx="20224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由题意可知：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0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8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90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190467" grpId="0"/>
      <p:bldP spid="19046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026"/>
          <p:cNvSpPr txBox="1">
            <a:spLocks noChangeArrowheads="1"/>
          </p:cNvSpPr>
          <p:nvPr/>
        </p:nvSpPr>
        <p:spPr bwMode="auto">
          <a:xfrm>
            <a:off x="304800" y="784225"/>
            <a:ext cx="8458200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  一物体质量为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0.25kg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，在弹性力作用下作简谐振动，弹簧的倔强系数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k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=25 N∙m</a:t>
            </a:r>
            <a:r>
              <a:rPr lang="en-US" altLang="zh-CN" sz="1800" baseline="30000">
                <a:solidFill>
                  <a:srgbClr val="0000FF"/>
                </a:solidFill>
                <a:ea typeface="华文中宋" pitchFamily="2" charset="-122"/>
              </a:rPr>
              <a:t>-1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，如果起始振动具有势能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0.06J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和动能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0.02J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，求（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）振幅；（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）经过平衡位置时物体的速度。</a:t>
            </a:r>
          </a:p>
        </p:txBody>
      </p:sp>
      <p:grpSp>
        <p:nvGrpSpPr>
          <p:cNvPr id="50184" name="Group 8"/>
          <p:cNvGrpSpPr>
            <a:grpSpLocks/>
          </p:cNvGrpSpPr>
          <p:nvPr/>
        </p:nvGrpSpPr>
        <p:grpSpPr bwMode="auto">
          <a:xfrm>
            <a:off x="1187450" y="1755775"/>
            <a:ext cx="3857625" cy="552450"/>
            <a:chOff x="748" y="1092"/>
            <a:chExt cx="2430" cy="463"/>
          </a:xfrm>
        </p:grpSpPr>
        <p:sp>
          <p:nvSpPr>
            <p:cNvPr id="37896" name="Text Box 1027"/>
            <p:cNvSpPr txBox="1">
              <a:spLocks noChangeArrowheads="1"/>
            </p:cNvSpPr>
            <p:nvPr/>
          </p:nvSpPr>
          <p:spPr bwMode="auto">
            <a:xfrm>
              <a:off x="748" y="1168"/>
              <a:ext cx="143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195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007A5C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华文中宋" pitchFamily="2" charset="-122"/>
                </a:rPr>
                <a:t>解（</a:t>
              </a:r>
              <a:r>
                <a:rPr lang="en-US" altLang="zh-CN" sz="1800">
                  <a:ea typeface="华文中宋" pitchFamily="2" charset="-122"/>
                  <a:sym typeface="Wingdings" pitchFamily="2" charset="2"/>
                </a:rPr>
                <a:t>1</a:t>
              </a:r>
              <a:r>
                <a:rPr lang="zh-CN" altLang="en-US" sz="1800">
                  <a:ea typeface="华文中宋" pitchFamily="2" charset="-122"/>
                  <a:sym typeface="Wingdings" pitchFamily="2" charset="2"/>
                </a:rPr>
                <a:t>）振幅：</a:t>
              </a:r>
              <a:endParaRPr lang="zh-CN" altLang="en-US" sz="1800">
                <a:ea typeface="华文中宋" pitchFamily="2" charset="-122"/>
              </a:endParaRPr>
            </a:p>
          </p:txBody>
        </p:sp>
        <p:graphicFrame>
          <p:nvGraphicFramePr>
            <p:cNvPr id="37897" name="Object 1028"/>
            <p:cNvGraphicFramePr>
              <a:graphicFrameLocks noChangeAspect="1"/>
            </p:cNvGraphicFramePr>
            <p:nvPr/>
          </p:nvGraphicFramePr>
          <p:xfrm>
            <a:off x="1791" y="1092"/>
            <a:ext cx="1387" cy="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902" name="Equation" r:id="rId4" imgW="1244520" imgH="393480" progId="Equation.DSMT4">
                    <p:embed/>
                  </p:oleObj>
                </mc:Choice>
                <mc:Fallback>
                  <p:oleObj name="Equation" r:id="rId4" imgW="1244520" imgH="393480" progId="Equation.DSMT4">
                    <p:embed/>
                    <p:pic>
                      <p:nvPicPr>
                        <p:cNvPr id="0" name="Object 10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092"/>
                          <a:ext cx="1387" cy="4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5717" name="Text Box 1029"/>
          <p:cNvSpPr txBox="1">
            <a:spLocks noChangeArrowheads="1"/>
          </p:cNvSpPr>
          <p:nvPr/>
        </p:nvSpPr>
        <p:spPr bwMode="auto">
          <a:xfrm>
            <a:off x="1403350" y="3151188"/>
            <a:ext cx="63309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007A5C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（</a:t>
            </a:r>
            <a:r>
              <a:rPr lang="en-US" altLang="zh-CN" sz="1800">
                <a:ea typeface="华文中宋" pitchFamily="2" charset="-122"/>
              </a:rPr>
              <a:t>2</a:t>
            </a:r>
            <a:r>
              <a:rPr lang="zh-CN" altLang="en-US" sz="1800">
                <a:ea typeface="华文中宋" pitchFamily="2" charset="-122"/>
                <a:sym typeface="Wingdings" pitchFamily="2" charset="2"/>
              </a:rPr>
              <a:t>）过平衡点时，</a:t>
            </a:r>
            <a:r>
              <a:rPr lang="en-US" altLang="zh-CN" sz="1800" i="1">
                <a:ea typeface="华文中宋" pitchFamily="2" charset="-122"/>
                <a:sym typeface="Wingdings" pitchFamily="2" charset="2"/>
              </a:rPr>
              <a:t>x</a:t>
            </a:r>
            <a:r>
              <a:rPr lang="en-US" altLang="zh-CN" sz="1800">
                <a:ea typeface="华文中宋" pitchFamily="2" charset="-122"/>
                <a:sym typeface="Wingdings" pitchFamily="2" charset="2"/>
              </a:rPr>
              <a:t>=0</a:t>
            </a:r>
            <a:r>
              <a:rPr lang="zh-CN" altLang="en-US" sz="1800">
                <a:ea typeface="华文中宋" pitchFamily="2" charset="-122"/>
                <a:sym typeface="Wingdings" pitchFamily="2" charset="2"/>
              </a:rPr>
              <a:t>，此时动能等于总能量</a:t>
            </a:r>
            <a:endParaRPr lang="zh-CN" altLang="en-US" sz="1800">
              <a:ea typeface="华文中宋" pitchFamily="2" charset="-122"/>
            </a:endParaRPr>
          </a:p>
        </p:txBody>
      </p:sp>
      <p:graphicFrame>
        <p:nvGraphicFramePr>
          <p:cNvPr id="115718" name="Object 1030"/>
          <p:cNvGraphicFramePr>
            <a:graphicFrameLocks noChangeAspect="1"/>
          </p:cNvGraphicFramePr>
          <p:nvPr/>
        </p:nvGraphicFramePr>
        <p:xfrm>
          <a:off x="2838450" y="3508375"/>
          <a:ext cx="27416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3" name="Equation" r:id="rId6" imgW="1282680" imgH="393480" progId="Equation.DSMT4">
                  <p:embed/>
                </p:oleObj>
              </mc:Choice>
              <mc:Fallback>
                <p:oleObj name="Equation" r:id="rId6" imgW="1282680" imgH="39348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3508375"/>
                        <a:ext cx="27416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2" name="Object 1034"/>
          <p:cNvGraphicFramePr>
            <a:graphicFrameLocks noChangeAspect="1"/>
          </p:cNvGraphicFramePr>
          <p:nvPr/>
        </p:nvGraphicFramePr>
        <p:xfrm>
          <a:off x="2082800" y="2476500"/>
          <a:ext cx="38576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4" name="Equation" r:id="rId8" imgW="1777680" imgH="279360" progId="Equation.DSMT4">
                  <p:embed/>
                </p:oleObj>
              </mc:Choice>
              <mc:Fallback>
                <p:oleObj name="Equation" r:id="rId8" imgW="1777680" imgH="279360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2476500"/>
                        <a:ext cx="38576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723" name="Object 1035"/>
          <p:cNvGraphicFramePr>
            <a:graphicFrameLocks noChangeAspect="1"/>
          </p:cNvGraphicFramePr>
          <p:nvPr/>
        </p:nvGraphicFramePr>
        <p:xfrm>
          <a:off x="2276475" y="4156075"/>
          <a:ext cx="424021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5" name="Equation" r:id="rId10" imgW="2031840" imgH="279360" progId="Equation.DSMT4">
                  <p:embed/>
                </p:oleObj>
              </mc:Choice>
              <mc:Fallback>
                <p:oleObj name="Equation" r:id="rId10" imgW="2031840" imgH="279360" progId="Equation.DSMT4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4156075"/>
                        <a:ext cx="424021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611188" y="2135188"/>
            <a:ext cx="936625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zh-CN" sz="1800">
                <a:latin typeface="华文中宋" pitchFamily="2" charset="-122"/>
                <a:ea typeface="华文中宋" pitchFamily="2" charset="-122"/>
              </a:rPr>
              <a:t>求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：</a:t>
            </a:r>
            <a:endParaRPr lang="zh-CN" altLang="en-US" sz="1800" i="1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971550" y="2444750"/>
            <a:ext cx="266700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三角函数</a:t>
            </a:r>
            <a:r>
              <a:rPr lang="zh-CN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计算</a:t>
            </a:r>
            <a:endParaRPr lang="zh-CN" altLang="en-US" sz="180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/>
        </p:nvGraphicFramePr>
        <p:xfrm>
          <a:off x="971550" y="2928938"/>
          <a:ext cx="2624138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1" name="公式" r:id="rId4" imgW="825142" imgH="177723" progId="Equation.3">
                  <p:embed/>
                </p:oleObj>
              </mc:Choice>
              <mc:Fallback>
                <p:oleObj name="公式" r:id="rId4" imgW="825142" imgH="17772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28938"/>
                        <a:ext cx="2624138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1403350" y="1330325"/>
          <a:ext cx="2660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2" name="公式" r:id="rId6" imgW="939392" imgH="177723" progId="Equation.3">
                  <p:embed/>
                </p:oleObj>
              </mc:Choice>
              <mc:Fallback>
                <p:oleObj name="公式" r:id="rId6" imgW="939392" imgH="177723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330325"/>
                        <a:ext cx="2660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1403350" y="1697038"/>
          <a:ext cx="26638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3" name="公式" r:id="rId8" imgW="964781" imgH="177723" progId="Equation.3">
                  <p:embed/>
                </p:oleObj>
              </mc:Choice>
              <mc:Fallback>
                <p:oleObj name="公式" r:id="rId8" imgW="964781" imgH="17772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697038"/>
                        <a:ext cx="26638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22"/>
          <p:cNvGraphicFramePr>
            <a:graphicFrameLocks noChangeAspect="1"/>
          </p:cNvGraphicFramePr>
          <p:nvPr/>
        </p:nvGraphicFramePr>
        <p:xfrm>
          <a:off x="1403350" y="2071688"/>
          <a:ext cx="15113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4" name="公式" r:id="rId10" imgW="532937" imgH="164957" progId="Equation.3">
                  <p:embed/>
                </p:oleObj>
              </mc:Choice>
              <mc:Fallback>
                <p:oleObj name="公式" r:id="rId10" imgW="532937" imgH="16495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071688"/>
                        <a:ext cx="15113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58"/>
          <p:cNvGrpSpPr>
            <a:grpSpLocks/>
          </p:cNvGrpSpPr>
          <p:nvPr/>
        </p:nvGrpSpPr>
        <p:grpSpPr bwMode="auto">
          <a:xfrm>
            <a:off x="4911725" y="2841625"/>
            <a:ext cx="3630613" cy="428625"/>
            <a:chOff x="5094034" y="3238568"/>
            <a:chExt cx="3630866" cy="571936"/>
          </a:xfrm>
        </p:grpSpPr>
        <p:sp>
          <p:nvSpPr>
            <p:cNvPr id="38962" name="Line 9"/>
            <p:cNvSpPr>
              <a:spLocks noChangeShapeType="1"/>
            </p:cNvSpPr>
            <p:nvPr/>
          </p:nvSpPr>
          <p:spPr bwMode="auto">
            <a:xfrm>
              <a:off x="5372100" y="3429000"/>
              <a:ext cx="3352800" cy="0"/>
            </a:xfrm>
            <a:prstGeom prst="line">
              <a:avLst/>
            </a:prstGeom>
            <a:noFill/>
            <a:ln w="12700">
              <a:solidFill>
                <a:srgbClr val="793905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3" name="Text Box 10"/>
            <p:cNvSpPr txBox="1">
              <a:spLocks noChangeArrowheads="1"/>
            </p:cNvSpPr>
            <p:nvPr/>
          </p:nvSpPr>
          <p:spPr bwMode="auto">
            <a:xfrm>
              <a:off x="8358162" y="3319323"/>
              <a:ext cx="328635" cy="491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>
                  <a:ea typeface="宋体" pitchFamily="2" charset="-122"/>
                </a:rPr>
                <a:t>x</a:t>
              </a:r>
            </a:p>
          </p:txBody>
        </p:sp>
        <p:sp>
          <p:nvSpPr>
            <p:cNvPr id="38964" name="Rectangle 37"/>
            <p:cNvSpPr>
              <a:spLocks noChangeArrowheads="1"/>
            </p:cNvSpPr>
            <p:nvPr/>
          </p:nvSpPr>
          <p:spPr bwMode="auto">
            <a:xfrm>
              <a:off x="5094034" y="3238568"/>
              <a:ext cx="351402" cy="491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b="0" i="1">
                  <a:ea typeface="宋体" pitchFamily="2" charset="-122"/>
                </a:rPr>
                <a:t>O</a:t>
              </a:r>
            </a:p>
          </p:txBody>
        </p:sp>
      </p:grpSp>
      <p:grpSp>
        <p:nvGrpSpPr>
          <p:cNvPr id="6" name="组合 62"/>
          <p:cNvGrpSpPr>
            <a:grpSpLocks/>
          </p:cNvGrpSpPr>
          <p:nvPr/>
        </p:nvGrpSpPr>
        <p:grpSpPr bwMode="auto">
          <a:xfrm>
            <a:off x="5189538" y="1557338"/>
            <a:ext cx="2933700" cy="1443037"/>
            <a:chOff x="5372100" y="1517650"/>
            <a:chExt cx="2933700" cy="1923346"/>
          </a:xfrm>
        </p:grpSpPr>
        <p:sp>
          <p:nvSpPr>
            <p:cNvPr id="38955" name="Line 19"/>
            <p:cNvSpPr>
              <a:spLocks noChangeShapeType="1"/>
            </p:cNvSpPr>
            <p:nvPr/>
          </p:nvSpPr>
          <p:spPr bwMode="auto">
            <a:xfrm>
              <a:off x="8289127" y="1519676"/>
              <a:ext cx="0" cy="192132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8956" name="组合 58"/>
            <p:cNvGrpSpPr>
              <a:grpSpLocks/>
            </p:cNvGrpSpPr>
            <p:nvPr/>
          </p:nvGrpSpPr>
          <p:grpSpPr bwMode="auto">
            <a:xfrm>
              <a:off x="5372100" y="1517650"/>
              <a:ext cx="2933700" cy="1899544"/>
              <a:chOff x="5372100" y="1517650"/>
              <a:chExt cx="2933700" cy="1899544"/>
            </a:xfrm>
          </p:grpSpPr>
          <p:sp>
            <p:nvSpPr>
              <p:cNvPr id="38957" name="Line 16"/>
              <p:cNvSpPr>
                <a:spLocks noChangeShapeType="1"/>
              </p:cNvSpPr>
              <p:nvPr/>
            </p:nvSpPr>
            <p:spPr bwMode="auto">
              <a:xfrm flipV="1">
                <a:off x="7893050" y="1517650"/>
                <a:ext cx="412750" cy="1206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8" name="Line 17"/>
              <p:cNvSpPr>
                <a:spLocks noChangeShapeType="1"/>
              </p:cNvSpPr>
              <p:nvPr/>
            </p:nvSpPr>
            <p:spPr bwMode="auto">
              <a:xfrm flipV="1">
                <a:off x="5861051" y="1526794"/>
                <a:ext cx="2355850" cy="6413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9" name="Line 18"/>
              <p:cNvSpPr>
                <a:spLocks noChangeShapeType="1"/>
              </p:cNvSpPr>
              <p:nvPr/>
            </p:nvSpPr>
            <p:spPr bwMode="auto">
              <a:xfrm flipV="1">
                <a:off x="5372100" y="1517650"/>
                <a:ext cx="2933700" cy="189230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0" name="Arc 28"/>
              <p:cNvSpPr>
                <a:spLocks/>
              </p:cNvSpPr>
              <p:nvPr/>
            </p:nvSpPr>
            <p:spPr bwMode="auto">
              <a:xfrm rot="422747">
                <a:off x="5942077" y="3021724"/>
                <a:ext cx="234192" cy="395470"/>
              </a:xfrm>
              <a:custGeom>
                <a:avLst/>
                <a:gdLst>
                  <a:gd name="T0" fmla="*/ 0 w 23577"/>
                  <a:gd name="T1" fmla="*/ 0 h 21600"/>
                  <a:gd name="T2" fmla="*/ 0 w 23577"/>
                  <a:gd name="T3" fmla="*/ 0 h 21600"/>
                  <a:gd name="T4" fmla="*/ 0 w 2357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3577"/>
                  <a:gd name="T10" fmla="*/ 0 h 21600"/>
                  <a:gd name="T11" fmla="*/ 23577 w 2357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577" h="21600" fill="none" extrusionOk="0">
                    <a:moveTo>
                      <a:pt x="-1" y="90"/>
                    </a:moveTo>
                    <a:cubicBezTo>
                      <a:pt x="657" y="30"/>
                      <a:pt x="1316" y="-1"/>
                      <a:pt x="1977" y="0"/>
                    </a:cubicBezTo>
                    <a:cubicBezTo>
                      <a:pt x="13906" y="0"/>
                      <a:pt x="23577" y="9670"/>
                      <a:pt x="23577" y="21600"/>
                    </a:cubicBezTo>
                  </a:path>
                  <a:path w="23577" h="21600" stroke="0" extrusionOk="0">
                    <a:moveTo>
                      <a:pt x="-1" y="90"/>
                    </a:moveTo>
                    <a:cubicBezTo>
                      <a:pt x="657" y="30"/>
                      <a:pt x="1316" y="-1"/>
                      <a:pt x="1977" y="0"/>
                    </a:cubicBezTo>
                    <a:cubicBezTo>
                      <a:pt x="13906" y="0"/>
                      <a:pt x="23577" y="9670"/>
                      <a:pt x="23577" y="21600"/>
                    </a:cubicBezTo>
                    <a:lnTo>
                      <a:pt x="1977" y="21600"/>
                    </a:lnTo>
                    <a:lnTo>
                      <a:pt x="-1" y="90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round/>
                <a:headEnd type="triangle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1" name="Text Box 42"/>
              <p:cNvSpPr txBox="1">
                <a:spLocks noChangeArrowheads="1"/>
              </p:cNvSpPr>
              <p:nvPr/>
            </p:nvSpPr>
            <p:spPr bwMode="auto">
              <a:xfrm>
                <a:off x="6018213" y="2796708"/>
                <a:ext cx="501650" cy="4922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zh-CN" sz="1800" i="1">
                    <a:solidFill>
                      <a:srgbClr val="FF0000"/>
                    </a:solidFill>
                    <a:ea typeface="宋体" pitchFamily="2" charset="-122"/>
                    <a:sym typeface="Symbol" pitchFamily="18" charset="2"/>
                  </a:rPr>
                  <a:t></a:t>
                </a:r>
                <a:r>
                  <a:rPr lang="en-US" altLang="zh-CN" sz="1800" baseline="-25000">
                    <a:solidFill>
                      <a:srgbClr val="FF0000"/>
                    </a:solidFill>
                    <a:ea typeface="宋体" pitchFamily="2" charset="-122"/>
                    <a:sym typeface="Symbol" pitchFamily="18" charset="2"/>
                  </a:rPr>
                  <a:t>0</a:t>
                </a:r>
                <a:endParaRPr lang="en-US" altLang="zh-CN" sz="1800">
                  <a:solidFill>
                    <a:srgbClr val="FF0000"/>
                  </a:solidFill>
                  <a:ea typeface="宋体" pitchFamily="2" charset="-122"/>
                </a:endParaRPr>
              </a:p>
            </p:txBody>
          </p:sp>
        </p:grpSp>
      </p:grpSp>
      <p:grpSp>
        <p:nvGrpSpPr>
          <p:cNvPr id="8" name="组合 70"/>
          <p:cNvGrpSpPr>
            <a:grpSpLocks/>
          </p:cNvGrpSpPr>
          <p:nvPr/>
        </p:nvGrpSpPr>
        <p:grpSpPr bwMode="auto">
          <a:xfrm>
            <a:off x="5238750" y="1327150"/>
            <a:ext cx="2879725" cy="1239838"/>
            <a:chOff x="5421884" y="1218452"/>
            <a:chExt cx="2879441" cy="1655116"/>
          </a:xfrm>
        </p:grpSpPr>
        <p:sp>
          <p:nvSpPr>
            <p:cNvPr id="38950" name="Arc 32"/>
            <p:cNvSpPr>
              <a:spLocks/>
            </p:cNvSpPr>
            <p:nvPr/>
          </p:nvSpPr>
          <p:spPr bwMode="auto">
            <a:xfrm rot="505810">
              <a:off x="7759092" y="1218452"/>
              <a:ext cx="542233" cy="514515"/>
            </a:xfrm>
            <a:custGeom>
              <a:avLst/>
              <a:gdLst>
                <a:gd name="T0" fmla="*/ 0 w 20153"/>
                <a:gd name="T1" fmla="*/ 0 h 20015"/>
                <a:gd name="T2" fmla="*/ 0 w 20153"/>
                <a:gd name="T3" fmla="*/ 0 h 20015"/>
                <a:gd name="T4" fmla="*/ 0 w 20153"/>
                <a:gd name="T5" fmla="*/ 0 h 20015"/>
                <a:gd name="T6" fmla="*/ 0 60000 65536"/>
                <a:gd name="T7" fmla="*/ 0 60000 65536"/>
                <a:gd name="T8" fmla="*/ 0 60000 65536"/>
                <a:gd name="T9" fmla="*/ 0 w 20153"/>
                <a:gd name="T10" fmla="*/ 0 h 20015"/>
                <a:gd name="T11" fmla="*/ 20153 w 20153"/>
                <a:gd name="T12" fmla="*/ 20015 h 200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53" h="20015" fill="none" extrusionOk="0">
                  <a:moveTo>
                    <a:pt x="8121" y="0"/>
                  </a:moveTo>
                  <a:cubicBezTo>
                    <a:pt x="13651" y="2243"/>
                    <a:pt x="18005" y="6674"/>
                    <a:pt x="20152" y="12242"/>
                  </a:cubicBezTo>
                </a:path>
                <a:path w="20153" h="20015" stroke="0" extrusionOk="0">
                  <a:moveTo>
                    <a:pt x="8121" y="0"/>
                  </a:moveTo>
                  <a:cubicBezTo>
                    <a:pt x="13651" y="2243"/>
                    <a:pt x="18005" y="6674"/>
                    <a:pt x="20152" y="12242"/>
                  </a:cubicBezTo>
                  <a:lnTo>
                    <a:pt x="0" y="20015"/>
                  </a:lnTo>
                  <a:lnTo>
                    <a:pt x="8121" y="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51" name="Rectangle 34"/>
            <p:cNvSpPr>
              <a:spLocks noChangeArrowheads="1"/>
            </p:cNvSpPr>
            <p:nvPr/>
          </p:nvSpPr>
          <p:spPr bwMode="auto">
            <a:xfrm>
              <a:off x="6867954" y="1974006"/>
              <a:ext cx="301656" cy="431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b="0" i="1">
                  <a:ea typeface="宋体" pitchFamily="2" charset="-122"/>
                </a:rPr>
                <a:t>A</a:t>
              </a:r>
            </a:p>
          </p:txBody>
        </p:sp>
        <p:sp>
          <p:nvSpPr>
            <p:cNvPr id="38952" name="Rectangle 35"/>
            <p:cNvSpPr>
              <a:spLocks noChangeArrowheads="1"/>
            </p:cNvSpPr>
            <p:nvPr/>
          </p:nvSpPr>
          <p:spPr bwMode="auto">
            <a:xfrm>
              <a:off x="7414000" y="2442258"/>
              <a:ext cx="365770" cy="431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b="0" i="1">
                  <a:ea typeface="宋体" pitchFamily="2" charset="-122"/>
                </a:rPr>
                <a:t>A</a:t>
              </a:r>
              <a:r>
                <a:rPr lang="en-US" altLang="zh-CN" sz="1500" b="0" baseline="-25000">
                  <a:ea typeface="宋体" pitchFamily="2" charset="-122"/>
                </a:rPr>
                <a:t>1</a:t>
              </a:r>
              <a:endParaRPr lang="en-US" altLang="zh-CN" sz="1500" b="0" i="1">
                <a:ea typeface="宋体" pitchFamily="2" charset="-122"/>
              </a:endParaRPr>
            </a:p>
          </p:txBody>
        </p:sp>
        <p:sp>
          <p:nvSpPr>
            <p:cNvPr id="38953" name="Rectangle 36"/>
            <p:cNvSpPr>
              <a:spLocks noChangeArrowheads="1"/>
            </p:cNvSpPr>
            <p:nvPr/>
          </p:nvSpPr>
          <p:spPr bwMode="auto">
            <a:xfrm>
              <a:off x="5421884" y="2042260"/>
              <a:ext cx="365770" cy="431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b="0" i="1">
                  <a:ea typeface="宋体" pitchFamily="2" charset="-122"/>
                </a:rPr>
                <a:t>A</a:t>
              </a:r>
              <a:r>
                <a:rPr lang="en-US" altLang="zh-CN" sz="1500" b="0" baseline="-25000">
                  <a:ea typeface="宋体" pitchFamily="2" charset="-122"/>
                </a:rPr>
                <a:t>2</a:t>
              </a:r>
              <a:endParaRPr lang="en-US" altLang="zh-CN" sz="1500" b="0" i="1">
                <a:ea typeface="宋体" pitchFamily="2" charset="-122"/>
              </a:endParaRPr>
            </a:p>
          </p:txBody>
        </p:sp>
        <p:sp>
          <p:nvSpPr>
            <p:cNvPr id="38954" name="Rectangle 44"/>
            <p:cNvSpPr>
              <a:spLocks noChangeArrowheads="1"/>
            </p:cNvSpPr>
            <p:nvPr/>
          </p:nvSpPr>
          <p:spPr bwMode="auto">
            <a:xfrm>
              <a:off x="7799040" y="1219804"/>
              <a:ext cx="316081" cy="369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zh-CN" altLang="zh-CN" sz="1500" b="0" i="1">
                  <a:solidFill>
                    <a:srgbClr val="3333FF"/>
                  </a:solidFill>
                  <a:ea typeface="宋体" pitchFamily="2" charset="-122"/>
                  <a:sym typeface="Symbol" pitchFamily="18" charset="2"/>
                </a:rPr>
                <a:t></a:t>
              </a:r>
              <a:endParaRPr lang="en-US" altLang="zh-CN" sz="1500" b="0" i="1">
                <a:solidFill>
                  <a:srgbClr val="3333FF"/>
                </a:solidFill>
                <a:ea typeface="宋体" pitchFamily="2" charset="-122"/>
                <a:sym typeface="Symbol" pitchFamily="18" charset="2"/>
              </a:endParaRPr>
            </a:p>
          </p:txBody>
        </p:sp>
      </p:grpSp>
      <p:grpSp>
        <p:nvGrpSpPr>
          <p:cNvPr id="9" name="组合 76"/>
          <p:cNvGrpSpPr>
            <a:grpSpLocks/>
          </p:cNvGrpSpPr>
          <p:nvPr/>
        </p:nvGrpSpPr>
        <p:grpSpPr bwMode="auto">
          <a:xfrm>
            <a:off x="5189538" y="2982913"/>
            <a:ext cx="2943225" cy="369887"/>
            <a:chOff x="5372100" y="3429000"/>
            <a:chExt cx="2942844" cy="492603"/>
          </a:xfrm>
        </p:grpSpPr>
        <p:sp>
          <p:nvSpPr>
            <p:cNvPr id="38944" name="Line 12"/>
            <p:cNvSpPr>
              <a:spLocks noChangeShapeType="1"/>
            </p:cNvSpPr>
            <p:nvPr/>
          </p:nvSpPr>
          <p:spPr bwMode="auto">
            <a:xfrm>
              <a:off x="5372100" y="3429000"/>
              <a:ext cx="0" cy="3702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5" name="Line 22"/>
            <p:cNvSpPr>
              <a:spLocks noChangeShapeType="1"/>
            </p:cNvSpPr>
            <p:nvPr/>
          </p:nvSpPr>
          <p:spPr bwMode="auto">
            <a:xfrm>
              <a:off x="8305800" y="3429000"/>
              <a:ext cx="0" cy="3884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6" name="Line 45"/>
            <p:cNvSpPr>
              <a:spLocks noChangeShapeType="1"/>
            </p:cNvSpPr>
            <p:nvPr/>
          </p:nvSpPr>
          <p:spPr bwMode="auto">
            <a:xfrm>
              <a:off x="5389118" y="3737836"/>
              <a:ext cx="12192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7" name="Line 46"/>
            <p:cNvSpPr>
              <a:spLocks noChangeShapeType="1"/>
            </p:cNvSpPr>
            <p:nvPr/>
          </p:nvSpPr>
          <p:spPr bwMode="auto">
            <a:xfrm>
              <a:off x="7150100" y="3737836"/>
              <a:ext cx="114300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8" name="Rectangle 47"/>
            <p:cNvSpPr>
              <a:spLocks noChangeArrowheads="1"/>
            </p:cNvSpPr>
            <p:nvPr/>
          </p:nvSpPr>
          <p:spPr bwMode="auto">
            <a:xfrm>
              <a:off x="6703840" y="3490396"/>
              <a:ext cx="269591" cy="431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500" b="0" i="1">
                  <a:solidFill>
                    <a:srgbClr val="FF0000"/>
                  </a:solidFill>
                  <a:ea typeface="宋体" pitchFamily="2" charset="-122"/>
                </a:rPr>
                <a:t>x</a:t>
              </a:r>
            </a:p>
          </p:txBody>
        </p:sp>
        <p:sp>
          <p:nvSpPr>
            <p:cNvPr id="38949" name="Line 49"/>
            <p:cNvSpPr>
              <a:spLocks noChangeShapeType="1"/>
            </p:cNvSpPr>
            <p:nvPr/>
          </p:nvSpPr>
          <p:spPr bwMode="auto">
            <a:xfrm>
              <a:off x="5376672" y="3429000"/>
              <a:ext cx="2938272" cy="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83"/>
          <p:cNvGrpSpPr>
            <a:grpSpLocks/>
          </p:cNvGrpSpPr>
          <p:nvPr/>
        </p:nvGrpSpPr>
        <p:grpSpPr bwMode="auto">
          <a:xfrm>
            <a:off x="5207000" y="2459038"/>
            <a:ext cx="2674938" cy="762000"/>
            <a:chOff x="5389563" y="2727325"/>
            <a:chExt cx="2676287" cy="1017877"/>
          </a:xfrm>
        </p:grpSpPr>
        <p:grpSp>
          <p:nvGrpSpPr>
            <p:cNvPr id="38938" name="组合 51"/>
            <p:cNvGrpSpPr>
              <a:grpSpLocks/>
            </p:cNvGrpSpPr>
            <p:nvPr/>
          </p:nvGrpSpPr>
          <p:grpSpPr bwMode="auto">
            <a:xfrm>
              <a:off x="5389563" y="2727325"/>
              <a:ext cx="2514600" cy="734116"/>
              <a:chOff x="5389563" y="2727325"/>
              <a:chExt cx="2514600" cy="734116"/>
            </a:xfrm>
          </p:grpSpPr>
          <p:sp>
            <p:nvSpPr>
              <p:cNvPr id="38941" name="Line 14"/>
              <p:cNvSpPr>
                <a:spLocks noChangeShapeType="1"/>
              </p:cNvSpPr>
              <p:nvPr/>
            </p:nvSpPr>
            <p:spPr bwMode="auto">
              <a:xfrm flipV="1">
                <a:off x="5389563" y="2727325"/>
                <a:ext cx="2514600" cy="685800"/>
              </a:xfrm>
              <a:prstGeom prst="line">
                <a:avLst/>
              </a:prstGeom>
              <a:noFill/>
              <a:ln w="19050">
                <a:solidFill>
                  <a:srgbClr val="0000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42" name="Arc 29"/>
              <p:cNvSpPr>
                <a:spLocks/>
              </p:cNvSpPr>
              <p:nvPr/>
            </p:nvSpPr>
            <p:spPr bwMode="auto">
              <a:xfrm rot="1416566">
                <a:off x="6370212" y="3112551"/>
                <a:ext cx="285750" cy="262044"/>
              </a:xfrm>
              <a:custGeom>
                <a:avLst/>
                <a:gdLst>
                  <a:gd name="T0" fmla="*/ 0 w 21600"/>
                  <a:gd name="T1" fmla="*/ 0 h 21951"/>
                  <a:gd name="T2" fmla="*/ 0 w 21600"/>
                  <a:gd name="T3" fmla="*/ 0 h 21951"/>
                  <a:gd name="T4" fmla="*/ 0 w 21600"/>
                  <a:gd name="T5" fmla="*/ 0 h 2195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951"/>
                  <a:gd name="T11" fmla="*/ 21600 w 21600"/>
                  <a:gd name="T12" fmla="*/ 21951 h 219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951" fill="none" extrusionOk="0">
                    <a:moveTo>
                      <a:pt x="6366" y="-1"/>
                    </a:moveTo>
                    <a:cubicBezTo>
                      <a:pt x="15422" y="2792"/>
                      <a:pt x="21600" y="11162"/>
                      <a:pt x="21600" y="20640"/>
                    </a:cubicBezTo>
                    <a:cubicBezTo>
                      <a:pt x="21600" y="21077"/>
                      <a:pt x="21586" y="21514"/>
                      <a:pt x="21560" y="21951"/>
                    </a:cubicBezTo>
                  </a:path>
                  <a:path w="21600" h="21951" stroke="0" extrusionOk="0">
                    <a:moveTo>
                      <a:pt x="6366" y="-1"/>
                    </a:moveTo>
                    <a:cubicBezTo>
                      <a:pt x="15422" y="2792"/>
                      <a:pt x="21600" y="11162"/>
                      <a:pt x="21600" y="20640"/>
                    </a:cubicBezTo>
                    <a:cubicBezTo>
                      <a:pt x="21600" y="21077"/>
                      <a:pt x="21586" y="21514"/>
                      <a:pt x="21560" y="21951"/>
                    </a:cubicBezTo>
                    <a:lnTo>
                      <a:pt x="0" y="20640"/>
                    </a:lnTo>
                    <a:lnTo>
                      <a:pt x="6366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 type="triangle" w="sm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43" name="Text Box 33"/>
              <p:cNvSpPr txBox="1">
                <a:spLocks noChangeArrowheads="1"/>
              </p:cNvSpPr>
              <p:nvPr/>
            </p:nvSpPr>
            <p:spPr bwMode="auto">
              <a:xfrm>
                <a:off x="6548649" y="3029849"/>
                <a:ext cx="609600" cy="431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itchFamily="18" charset="0"/>
                    <a:ea typeface="黑体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zh-CN" sz="1500" i="1">
                    <a:solidFill>
                      <a:srgbClr val="0000CC"/>
                    </a:solidFill>
                    <a:ea typeface="宋体" pitchFamily="2" charset="-122"/>
                    <a:sym typeface="Symbol" pitchFamily="18" charset="2"/>
                  </a:rPr>
                  <a:t></a:t>
                </a:r>
                <a:r>
                  <a:rPr lang="zh-CN" altLang="zh-CN" sz="1500" baseline="-25000">
                    <a:solidFill>
                      <a:srgbClr val="0000CC"/>
                    </a:solidFill>
                    <a:ea typeface="宋体" pitchFamily="2" charset="-122"/>
                    <a:sym typeface="Symbol" pitchFamily="18" charset="2"/>
                  </a:rPr>
                  <a:t>1</a:t>
                </a:r>
                <a:r>
                  <a:rPr lang="en-US" altLang="zh-CN" sz="1500" baseline="-25000">
                    <a:solidFill>
                      <a:srgbClr val="0000CC"/>
                    </a:solidFill>
                    <a:ea typeface="宋体" pitchFamily="2" charset="-122"/>
                    <a:sym typeface="Symbol" pitchFamily="18" charset="2"/>
                  </a:rPr>
                  <a:t>0</a:t>
                </a:r>
                <a:endParaRPr lang="en-US" altLang="zh-CN" sz="1500">
                  <a:solidFill>
                    <a:srgbClr val="0000CC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38939" name="Rectangle 38"/>
            <p:cNvSpPr>
              <a:spLocks noChangeArrowheads="1"/>
            </p:cNvSpPr>
            <p:nvPr/>
          </p:nvSpPr>
          <p:spPr bwMode="auto">
            <a:xfrm>
              <a:off x="7731910" y="3313610"/>
              <a:ext cx="333940" cy="431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b="0" i="1">
                  <a:solidFill>
                    <a:srgbClr val="3333FF"/>
                  </a:solidFill>
                  <a:ea typeface="宋体" pitchFamily="2" charset="-122"/>
                </a:rPr>
                <a:t>x</a:t>
              </a:r>
              <a:r>
                <a:rPr lang="en-US" altLang="zh-CN" sz="1500" b="0" baseline="-25000">
                  <a:solidFill>
                    <a:srgbClr val="3333FF"/>
                  </a:solidFill>
                  <a:ea typeface="宋体" pitchFamily="2" charset="-122"/>
                </a:rPr>
                <a:t>1</a:t>
              </a:r>
            </a:p>
          </p:txBody>
        </p:sp>
        <p:sp>
          <p:nvSpPr>
            <p:cNvPr id="38940" name="Line 15"/>
            <p:cNvSpPr>
              <a:spLocks noChangeShapeType="1"/>
            </p:cNvSpPr>
            <p:nvPr/>
          </p:nvSpPr>
          <p:spPr bwMode="auto">
            <a:xfrm>
              <a:off x="7904163" y="2727325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组合 91"/>
          <p:cNvGrpSpPr>
            <a:grpSpLocks/>
          </p:cNvGrpSpPr>
          <p:nvPr/>
        </p:nvGrpSpPr>
        <p:grpSpPr bwMode="auto">
          <a:xfrm>
            <a:off x="5189538" y="2017713"/>
            <a:ext cx="719137" cy="1201737"/>
            <a:chOff x="5372100" y="2139950"/>
            <a:chExt cx="720185" cy="1603364"/>
          </a:xfrm>
        </p:grpSpPr>
        <p:sp>
          <p:nvSpPr>
            <p:cNvPr id="38933" name="Line 11"/>
            <p:cNvSpPr>
              <a:spLocks noChangeShapeType="1"/>
            </p:cNvSpPr>
            <p:nvPr/>
          </p:nvSpPr>
          <p:spPr bwMode="auto">
            <a:xfrm flipV="1">
              <a:off x="5372100" y="2139950"/>
              <a:ext cx="488950" cy="12954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4" name="Line 13"/>
            <p:cNvSpPr>
              <a:spLocks noChangeShapeType="1"/>
            </p:cNvSpPr>
            <p:nvPr/>
          </p:nvSpPr>
          <p:spPr bwMode="auto">
            <a:xfrm>
              <a:off x="5861050" y="2139950"/>
              <a:ext cx="0" cy="1296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Arc 27"/>
            <p:cNvSpPr>
              <a:spLocks/>
            </p:cNvSpPr>
            <p:nvPr/>
          </p:nvSpPr>
          <p:spPr bwMode="auto">
            <a:xfrm>
              <a:off x="5541346" y="3046322"/>
              <a:ext cx="194210" cy="3795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Rectangle 39"/>
            <p:cNvSpPr>
              <a:spLocks noChangeArrowheads="1"/>
            </p:cNvSpPr>
            <p:nvPr/>
          </p:nvSpPr>
          <p:spPr bwMode="auto">
            <a:xfrm>
              <a:off x="5705961" y="3312124"/>
              <a:ext cx="334232" cy="431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b="0" i="1">
                  <a:solidFill>
                    <a:srgbClr val="3333FF"/>
                  </a:solidFill>
                  <a:ea typeface="宋体" pitchFamily="2" charset="-122"/>
                </a:rPr>
                <a:t>x</a:t>
              </a:r>
              <a:r>
                <a:rPr lang="en-US" altLang="zh-CN" sz="1500" b="0" baseline="-25000">
                  <a:solidFill>
                    <a:srgbClr val="3333FF"/>
                  </a:solidFill>
                  <a:ea typeface="宋体" pitchFamily="2" charset="-122"/>
                </a:rPr>
                <a:t>2</a:t>
              </a:r>
              <a:endParaRPr lang="en-US" altLang="zh-CN" sz="1500" b="0" i="1">
                <a:solidFill>
                  <a:srgbClr val="3333FF"/>
                </a:solidFill>
                <a:ea typeface="宋体" pitchFamily="2" charset="-122"/>
              </a:endParaRPr>
            </a:p>
          </p:txBody>
        </p:sp>
        <p:sp>
          <p:nvSpPr>
            <p:cNvPr id="38937" name="Text Box 43"/>
            <p:cNvSpPr txBox="1">
              <a:spLocks noChangeArrowheads="1"/>
            </p:cNvSpPr>
            <p:nvPr/>
          </p:nvSpPr>
          <p:spPr bwMode="auto">
            <a:xfrm>
              <a:off x="5483387" y="2741921"/>
              <a:ext cx="608898" cy="431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zh-CN" sz="1500" i="1">
                  <a:solidFill>
                    <a:srgbClr val="0000CC"/>
                  </a:solidFill>
                  <a:ea typeface="宋体" pitchFamily="2" charset="-122"/>
                  <a:sym typeface="Symbol" pitchFamily="18" charset="2"/>
                </a:rPr>
                <a:t></a:t>
              </a:r>
              <a:r>
                <a:rPr lang="zh-CN" altLang="zh-CN" sz="1500" baseline="-25000">
                  <a:solidFill>
                    <a:srgbClr val="0000CC"/>
                  </a:solidFill>
                  <a:ea typeface="宋体" pitchFamily="2" charset="-122"/>
                  <a:sym typeface="Symbol" pitchFamily="18" charset="2"/>
                </a:rPr>
                <a:t>2</a:t>
              </a:r>
              <a:r>
                <a:rPr lang="en-US" altLang="zh-CN" sz="1500" baseline="-25000">
                  <a:solidFill>
                    <a:srgbClr val="0000CC"/>
                  </a:solidFill>
                  <a:ea typeface="宋体" pitchFamily="2" charset="-122"/>
                  <a:sym typeface="Symbol" pitchFamily="18" charset="2"/>
                </a:rPr>
                <a:t>0</a:t>
              </a:r>
              <a:endParaRPr lang="en-US" altLang="zh-CN" sz="1500" i="1">
                <a:solidFill>
                  <a:srgbClr val="0000CC"/>
                </a:solidFill>
                <a:ea typeface="宋体" pitchFamily="2" charset="-122"/>
              </a:endParaRPr>
            </a:p>
          </p:txBody>
        </p:sp>
      </p:grpSp>
      <p:sp>
        <p:nvSpPr>
          <p:cNvPr id="49274" name="Text Box 122"/>
          <p:cNvSpPr txBox="1">
            <a:spLocks noChangeArrowheads="1"/>
          </p:cNvSpPr>
          <p:nvPr/>
        </p:nvSpPr>
        <p:spPr bwMode="auto">
          <a:xfrm>
            <a:off x="1331913" y="3411538"/>
            <a:ext cx="1770062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合振幅</a:t>
            </a:r>
          </a:p>
        </p:txBody>
      </p:sp>
      <p:graphicFrame>
        <p:nvGraphicFramePr>
          <p:cNvPr id="49275" name="Object 123"/>
          <p:cNvGraphicFramePr>
            <a:graphicFrameLocks noChangeAspect="1"/>
          </p:cNvGraphicFramePr>
          <p:nvPr/>
        </p:nvGraphicFramePr>
        <p:xfrm>
          <a:off x="2725738" y="3294063"/>
          <a:ext cx="429418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5" name="Equation" r:id="rId12" imgW="1790700" imgH="254000" progId="Equation.DSMT4">
                  <p:embed/>
                </p:oleObj>
              </mc:Choice>
              <mc:Fallback>
                <p:oleObj name="Equation" r:id="rId12" imgW="1790700" imgH="25400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3294063"/>
                        <a:ext cx="429418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77" name="Text Box 125"/>
          <p:cNvSpPr txBox="1">
            <a:spLocks noChangeArrowheads="1"/>
          </p:cNvSpPr>
          <p:nvPr/>
        </p:nvSpPr>
        <p:spPr bwMode="auto">
          <a:xfrm>
            <a:off x="1331913" y="3843338"/>
            <a:ext cx="14605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初位相</a:t>
            </a:r>
          </a:p>
        </p:txBody>
      </p:sp>
      <p:graphicFrame>
        <p:nvGraphicFramePr>
          <p:cNvPr id="49278" name="Object 126"/>
          <p:cNvGraphicFramePr>
            <a:graphicFrameLocks noChangeAspect="1"/>
          </p:cNvGraphicFramePr>
          <p:nvPr/>
        </p:nvGraphicFramePr>
        <p:xfrm>
          <a:off x="2786063" y="3795713"/>
          <a:ext cx="337026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6" name="Equation" r:id="rId14" imgW="1981080" imgH="431640" progId="Equation.DSMT4">
                  <p:embed/>
                </p:oleObj>
              </mc:Choice>
              <mc:Fallback>
                <p:oleObj name="Equation" r:id="rId14" imgW="1981080" imgH="431640" progId="Equation.DSMT4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795713"/>
                        <a:ext cx="3370262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279" name="Text Box 127"/>
          <p:cNvSpPr txBox="1">
            <a:spLocks noChangeArrowheads="1"/>
          </p:cNvSpPr>
          <p:nvPr/>
        </p:nvSpPr>
        <p:spPr bwMode="auto">
          <a:xfrm>
            <a:off x="5435600" y="1058863"/>
            <a:ext cx="26670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5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旋转矢量合成</a:t>
            </a:r>
          </a:p>
        </p:txBody>
      </p:sp>
      <p:sp>
        <p:nvSpPr>
          <p:cNvPr id="49280" name="Text Box 128"/>
          <p:cNvSpPr txBox="1">
            <a:spLocks noChangeArrowheads="1"/>
          </p:cNvSpPr>
          <p:nvPr/>
        </p:nvSpPr>
        <p:spPr bwMode="auto">
          <a:xfrm>
            <a:off x="827088" y="4330700"/>
            <a:ext cx="7642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7620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两个同方向、同频率的谐振动的合振动仍然是一个同频率的谐振动。</a:t>
            </a:r>
          </a:p>
        </p:txBody>
      </p:sp>
      <p:sp>
        <p:nvSpPr>
          <p:cNvPr id="54" name="Text Box 2"/>
          <p:cNvSpPr>
            <a:spLocks noChangeArrowheads="1"/>
          </p:cNvSpPr>
          <p:nvPr/>
        </p:nvSpPr>
        <p:spPr bwMode="auto">
          <a:xfrm>
            <a:off x="758825" y="874713"/>
            <a:ext cx="4697413" cy="401637"/>
          </a:xfrm>
          <a:prstGeom prst="homePlate">
            <a:avLst>
              <a:gd name="adj" fmla="val 49707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一、两个同方向、同频率谐振动的合成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4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56" grpId="0" autoUpdateAnimBg="0"/>
      <p:bldP spid="49274" grpId="0"/>
      <p:bldP spid="49277" grpId="0"/>
      <p:bldP spid="49279" grpId="0" autoUpdateAnimBg="0"/>
      <p:bldP spid="49280" grpId="0" autoUpdateAnimBg="0"/>
      <p:bldP spid="5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539750" y="835025"/>
            <a:ext cx="4968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讨论：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位相差对合振幅的影响</a:t>
            </a:r>
          </a:p>
        </p:txBody>
      </p:sp>
      <p:graphicFrame>
        <p:nvGraphicFramePr>
          <p:cNvPr id="4" name="Object 37"/>
          <p:cNvGraphicFramePr>
            <a:graphicFrameLocks noChangeAspect="1"/>
          </p:cNvGraphicFramePr>
          <p:nvPr/>
        </p:nvGraphicFramePr>
        <p:xfrm>
          <a:off x="1906588" y="1211263"/>
          <a:ext cx="38179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7" name="公式" r:id="rId3" imgW="1727200" imgH="228600" progId="Equation.3">
                  <p:embed/>
                </p:oleObj>
              </mc:Choice>
              <mc:Fallback>
                <p:oleObj name="公式" r:id="rId3" imgW="1727200" imgH="2286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1211263"/>
                        <a:ext cx="38179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728663" y="1609725"/>
            <a:ext cx="5046662" cy="522288"/>
            <a:chOff x="45" y="2350"/>
            <a:chExt cx="3998" cy="439"/>
          </a:xfrm>
        </p:grpSpPr>
        <p:sp>
          <p:nvSpPr>
            <p:cNvPr id="39966" name="Text Box 39"/>
            <p:cNvSpPr txBox="1">
              <a:spLocks noChangeArrowheads="1"/>
            </p:cNvSpPr>
            <p:nvPr/>
          </p:nvSpPr>
          <p:spPr bwMode="auto">
            <a:xfrm>
              <a:off x="45" y="2350"/>
              <a:ext cx="479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ea typeface="宋体" pitchFamily="2" charset="-122"/>
                </a:rPr>
                <a:t>(1)</a:t>
              </a:r>
            </a:p>
          </p:txBody>
        </p:sp>
        <p:graphicFrame>
          <p:nvGraphicFramePr>
            <p:cNvPr id="39967" name="Object 40"/>
            <p:cNvGraphicFramePr>
              <a:graphicFrameLocks noChangeAspect="1"/>
            </p:cNvGraphicFramePr>
            <p:nvPr/>
          </p:nvGraphicFramePr>
          <p:xfrm>
            <a:off x="598" y="2439"/>
            <a:ext cx="344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8" name="公式" r:id="rId5" imgW="2540000" imgH="228600" progId="Equation.3">
                    <p:embed/>
                  </p:oleObj>
                </mc:Choice>
                <mc:Fallback>
                  <p:oleObj name="公式" r:id="rId5" imgW="25400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8" y="2439"/>
                          <a:ext cx="344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53"/>
          <p:cNvSpPr txBox="1">
            <a:spLocks noChangeArrowheads="1"/>
          </p:cNvSpPr>
          <p:nvPr/>
        </p:nvSpPr>
        <p:spPr bwMode="auto">
          <a:xfrm>
            <a:off x="1519238" y="2176463"/>
            <a:ext cx="4545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i="1" baseline="-25000">
                <a:solidFill>
                  <a:srgbClr val="0000CC"/>
                </a:solidFill>
                <a:ea typeface="华文中宋" pitchFamily="2" charset="-122"/>
              </a:rPr>
              <a:t>max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</a:rPr>
              <a:t>=|</a:t>
            </a: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baseline="-25000">
                <a:solidFill>
                  <a:srgbClr val="0000CC"/>
                </a:solidFill>
                <a:ea typeface="华文中宋" pitchFamily="2" charset="-122"/>
              </a:rPr>
              <a:t>1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</a:rPr>
              <a:t>+</a:t>
            </a: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baseline="-25000">
                <a:solidFill>
                  <a:srgbClr val="0000CC"/>
                </a:solidFill>
                <a:ea typeface="华文中宋" pitchFamily="2" charset="-122"/>
              </a:rPr>
              <a:t>2 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</a:rPr>
              <a:t>|</a:t>
            </a:r>
            <a:r>
              <a:rPr lang="en-US" altLang="zh-CN" sz="1800">
                <a:ea typeface="华文中宋" pitchFamily="2" charset="-122"/>
              </a:rPr>
              <a:t>, </a:t>
            </a:r>
            <a:r>
              <a:rPr lang="zh-CN" altLang="en-US" sz="1800">
                <a:ea typeface="华文中宋" pitchFamily="2" charset="-122"/>
              </a:rPr>
              <a:t>相互加强 </a:t>
            </a:r>
          </a:p>
        </p:txBody>
      </p:sp>
      <p:grpSp>
        <p:nvGrpSpPr>
          <p:cNvPr id="6" name="组合 8"/>
          <p:cNvGrpSpPr>
            <a:grpSpLocks/>
          </p:cNvGrpSpPr>
          <p:nvPr/>
        </p:nvGrpSpPr>
        <p:grpSpPr bwMode="auto">
          <a:xfrm>
            <a:off x="6591300" y="896938"/>
            <a:ext cx="1711325" cy="1463675"/>
            <a:chOff x="6591300" y="1284288"/>
            <a:chExt cx="1711326" cy="1949174"/>
          </a:xfrm>
        </p:grpSpPr>
        <p:sp>
          <p:nvSpPr>
            <p:cNvPr id="39958" name="Line 45"/>
            <p:cNvSpPr>
              <a:spLocks noChangeShapeType="1"/>
            </p:cNvSpPr>
            <p:nvPr/>
          </p:nvSpPr>
          <p:spPr bwMode="auto">
            <a:xfrm flipV="1">
              <a:off x="7888288" y="1284288"/>
              <a:ext cx="414338" cy="1697038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9" name="Line 46"/>
            <p:cNvSpPr>
              <a:spLocks noChangeShapeType="1"/>
            </p:cNvSpPr>
            <p:nvPr/>
          </p:nvSpPr>
          <p:spPr bwMode="auto">
            <a:xfrm flipV="1">
              <a:off x="6816725" y="1841501"/>
              <a:ext cx="223838" cy="99060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0" name="Text Box 47"/>
            <p:cNvSpPr txBox="1">
              <a:spLocks noChangeArrowheads="1"/>
            </p:cNvSpPr>
            <p:nvPr/>
          </p:nvSpPr>
          <p:spPr bwMode="auto">
            <a:xfrm>
              <a:off x="6591300" y="2741169"/>
              <a:ext cx="351378" cy="492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ea typeface="宋体" pitchFamily="2" charset="-122"/>
                </a:rPr>
                <a:t>O</a:t>
              </a:r>
            </a:p>
          </p:txBody>
        </p:sp>
        <p:sp>
          <p:nvSpPr>
            <p:cNvPr id="39961" name="Line 50"/>
            <p:cNvSpPr>
              <a:spLocks noChangeShapeType="1"/>
            </p:cNvSpPr>
            <p:nvPr/>
          </p:nvSpPr>
          <p:spPr bwMode="auto">
            <a:xfrm flipV="1">
              <a:off x="6861175" y="2111376"/>
              <a:ext cx="179388" cy="7207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62" name="AutoShape 52"/>
            <p:cNvSpPr>
              <a:spLocks noChangeArrowheads="1"/>
            </p:cNvSpPr>
            <p:nvPr/>
          </p:nvSpPr>
          <p:spPr bwMode="auto">
            <a:xfrm>
              <a:off x="7445375" y="2305051"/>
              <a:ext cx="406400" cy="315913"/>
            </a:xfrm>
            <a:prstGeom prst="rightArrow">
              <a:avLst>
                <a:gd name="adj1" fmla="val 50000"/>
                <a:gd name="adj2" fmla="val 32161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ea typeface="宋体" pitchFamily="2" charset="-122"/>
              </a:endParaRPr>
            </a:p>
          </p:txBody>
        </p:sp>
        <p:graphicFrame>
          <p:nvGraphicFramePr>
            <p:cNvPr id="39963" name="对象 5"/>
            <p:cNvGraphicFramePr>
              <a:graphicFrameLocks noChangeAspect="1"/>
            </p:cNvGraphicFramePr>
            <p:nvPr/>
          </p:nvGraphicFramePr>
          <p:xfrm>
            <a:off x="7955026" y="1587246"/>
            <a:ext cx="225196" cy="259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9" name="公式" r:id="rId7" imgW="164957" imgH="190335" progId="Equation.3">
                    <p:embed/>
                  </p:oleObj>
                </mc:Choice>
                <mc:Fallback>
                  <p:oleObj name="公式" r:id="rId7" imgW="164957" imgH="190335" progId="Equation.3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5026" y="1587246"/>
                          <a:ext cx="225196" cy="2598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4" name="对象 33"/>
            <p:cNvGraphicFramePr>
              <a:graphicFrameLocks noChangeAspect="1"/>
            </p:cNvGraphicFramePr>
            <p:nvPr/>
          </p:nvGraphicFramePr>
          <p:xfrm>
            <a:off x="7050088" y="2073275"/>
            <a:ext cx="26035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0" name="公式" r:id="rId9" imgW="190500" imgH="228600" progId="Equation.3">
                    <p:embed/>
                  </p:oleObj>
                </mc:Choice>
                <mc:Fallback>
                  <p:oleObj name="公式" r:id="rId9" imgW="190500" imgH="228600" progId="Equation.3">
                    <p:embed/>
                    <p:pic>
                      <p:nvPicPr>
                        <p:cNvPr id="0" name="对象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50088" y="2073275"/>
                          <a:ext cx="260350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65" name="对象 35"/>
            <p:cNvGraphicFramePr>
              <a:graphicFrameLocks noChangeAspect="1"/>
            </p:cNvGraphicFramePr>
            <p:nvPr/>
          </p:nvGraphicFramePr>
          <p:xfrm>
            <a:off x="7061200" y="1606550"/>
            <a:ext cx="277813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1" name="公式" r:id="rId11" imgW="203112" imgH="228501" progId="Equation.3">
                    <p:embed/>
                  </p:oleObj>
                </mc:Choice>
                <mc:Fallback>
                  <p:oleObj name="公式" r:id="rId11" imgW="203112" imgH="228501" progId="Equation.3">
                    <p:embed/>
                    <p:pic>
                      <p:nvPicPr>
                        <p:cNvPr id="0" name="对象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1200" y="1606550"/>
                          <a:ext cx="277813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693738" y="2817813"/>
            <a:ext cx="5251450" cy="522287"/>
            <a:chOff x="45" y="3186"/>
            <a:chExt cx="4050" cy="439"/>
          </a:xfrm>
        </p:grpSpPr>
        <p:graphicFrame>
          <p:nvGraphicFramePr>
            <p:cNvPr id="39956" name="Object 42"/>
            <p:cNvGraphicFramePr>
              <a:graphicFrameLocks noChangeAspect="1"/>
            </p:cNvGraphicFramePr>
            <p:nvPr/>
          </p:nvGraphicFramePr>
          <p:xfrm>
            <a:off x="638" y="3240"/>
            <a:ext cx="345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2" name="公式" r:id="rId13" imgW="2514600" imgH="215900" progId="Equation.3">
                    <p:embed/>
                  </p:oleObj>
                </mc:Choice>
                <mc:Fallback>
                  <p:oleObj name="公式" r:id="rId13" imgW="2514600" imgH="21590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3240"/>
                          <a:ext cx="345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7" name="Text Box 43"/>
            <p:cNvSpPr txBox="1">
              <a:spLocks noChangeArrowheads="1"/>
            </p:cNvSpPr>
            <p:nvPr/>
          </p:nvSpPr>
          <p:spPr bwMode="auto">
            <a:xfrm>
              <a:off x="45" y="3186"/>
              <a:ext cx="466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en-US" altLang="zh-CN" sz="2800">
                  <a:ea typeface="宋体" pitchFamily="2" charset="-122"/>
                </a:rPr>
                <a:t>(2)</a:t>
              </a:r>
            </a:p>
          </p:txBody>
        </p:sp>
      </p:grpSp>
      <p:sp>
        <p:nvSpPr>
          <p:cNvPr id="21" name="Text Box 63"/>
          <p:cNvSpPr txBox="1">
            <a:spLocks noChangeArrowheads="1"/>
          </p:cNvSpPr>
          <p:nvPr/>
        </p:nvSpPr>
        <p:spPr bwMode="auto">
          <a:xfrm>
            <a:off x="1474788" y="3319463"/>
            <a:ext cx="4275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i="1" baseline="-25000">
                <a:solidFill>
                  <a:srgbClr val="0000CC"/>
                </a:solidFill>
                <a:ea typeface="华文中宋" pitchFamily="2" charset="-122"/>
              </a:rPr>
              <a:t>min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</a:rPr>
              <a:t>= |</a:t>
            </a: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baseline="-25000">
                <a:solidFill>
                  <a:srgbClr val="0000CC"/>
                </a:solidFill>
                <a:ea typeface="华文中宋" pitchFamily="2" charset="-122"/>
              </a:rPr>
              <a:t>2 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  <a:sym typeface="Symbol" pitchFamily="18" charset="2"/>
              </a:rPr>
              <a:t> </a:t>
            </a: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baseline="-25000">
                <a:solidFill>
                  <a:srgbClr val="0000CC"/>
                </a:solidFill>
                <a:ea typeface="华文中宋" pitchFamily="2" charset="-122"/>
              </a:rPr>
              <a:t>1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</a:rPr>
              <a:t>|</a:t>
            </a:r>
            <a:r>
              <a:rPr lang="en-US" altLang="zh-CN" sz="1800">
                <a:ea typeface="华文中宋" pitchFamily="2" charset="-122"/>
              </a:rPr>
              <a:t> , </a:t>
            </a:r>
            <a:r>
              <a:rPr lang="zh-CN" altLang="en-US" sz="1800">
                <a:ea typeface="华文中宋" pitchFamily="2" charset="-122"/>
              </a:rPr>
              <a:t>相互减弱 </a:t>
            </a:r>
          </a:p>
        </p:txBody>
      </p:sp>
      <p:grpSp>
        <p:nvGrpSpPr>
          <p:cNvPr id="9" name="组合 21"/>
          <p:cNvGrpSpPr>
            <a:grpSpLocks/>
          </p:cNvGrpSpPr>
          <p:nvPr/>
        </p:nvGrpSpPr>
        <p:grpSpPr bwMode="auto">
          <a:xfrm>
            <a:off x="6283325" y="2247900"/>
            <a:ext cx="1889125" cy="1531938"/>
            <a:chOff x="6345492" y="3724275"/>
            <a:chExt cx="1889594" cy="2041976"/>
          </a:xfrm>
        </p:grpSpPr>
        <p:sp>
          <p:nvSpPr>
            <p:cNvPr id="39948" name="Line 55"/>
            <p:cNvSpPr>
              <a:spLocks noChangeShapeType="1"/>
            </p:cNvSpPr>
            <p:nvPr/>
          </p:nvSpPr>
          <p:spPr bwMode="auto">
            <a:xfrm flipV="1">
              <a:off x="6607176" y="3724275"/>
              <a:ext cx="414338" cy="1697038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Line 56"/>
            <p:cNvSpPr>
              <a:spLocks noChangeShapeType="1"/>
            </p:cNvSpPr>
            <p:nvPr/>
          </p:nvSpPr>
          <p:spPr bwMode="auto">
            <a:xfrm flipV="1">
              <a:off x="7823201" y="4579938"/>
              <a:ext cx="223838" cy="99060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Text Box 57"/>
            <p:cNvSpPr txBox="1">
              <a:spLocks noChangeArrowheads="1"/>
            </p:cNvSpPr>
            <p:nvPr/>
          </p:nvSpPr>
          <p:spPr bwMode="auto">
            <a:xfrm>
              <a:off x="6345492" y="5335446"/>
              <a:ext cx="324208" cy="4308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O</a:t>
              </a:r>
            </a:p>
          </p:txBody>
        </p:sp>
        <p:sp>
          <p:nvSpPr>
            <p:cNvPr id="39951" name="Line 60"/>
            <p:cNvSpPr>
              <a:spLocks noChangeShapeType="1"/>
            </p:cNvSpPr>
            <p:nvPr/>
          </p:nvSpPr>
          <p:spPr bwMode="auto">
            <a:xfrm flipV="1">
              <a:off x="6651626" y="4759325"/>
              <a:ext cx="179388" cy="72072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AutoShape 62"/>
            <p:cNvSpPr>
              <a:spLocks noChangeArrowheads="1"/>
            </p:cNvSpPr>
            <p:nvPr/>
          </p:nvSpPr>
          <p:spPr bwMode="auto">
            <a:xfrm>
              <a:off x="7372351" y="4805363"/>
              <a:ext cx="360363" cy="314325"/>
            </a:xfrm>
            <a:prstGeom prst="rightArrow">
              <a:avLst>
                <a:gd name="adj1" fmla="val 50000"/>
                <a:gd name="adj2" fmla="val 2866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ea typeface="宋体" pitchFamily="2" charset="-122"/>
              </a:endParaRPr>
            </a:p>
          </p:txBody>
        </p:sp>
        <p:graphicFrame>
          <p:nvGraphicFramePr>
            <p:cNvPr id="39953" name="对象 50"/>
            <p:cNvGraphicFramePr>
              <a:graphicFrameLocks noChangeAspect="1"/>
            </p:cNvGraphicFramePr>
            <p:nvPr/>
          </p:nvGraphicFramePr>
          <p:xfrm>
            <a:off x="6693472" y="5310251"/>
            <a:ext cx="260350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3" name="公式" r:id="rId15" imgW="190500" imgH="228600" progId="Equation.3">
                    <p:embed/>
                  </p:oleObj>
                </mc:Choice>
                <mc:Fallback>
                  <p:oleObj name="公式" r:id="rId15" imgW="190500" imgH="228600" progId="Equation.3">
                    <p:embed/>
                    <p:pic>
                      <p:nvPicPr>
                        <p:cNvPr id="0" name="对象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93472" y="5310251"/>
                          <a:ext cx="260350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4" name="对象 51"/>
            <p:cNvGraphicFramePr>
              <a:graphicFrameLocks noChangeAspect="1"/>
            </p:cNvGraphicFramePr>
            <p:nvPr/>
          </p:nvGraphicFramePr>
          <p:xfrm>
            <a:off x="6988048" y="3782822"/>
            <a:ext cx="277813" cy="312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4" name="公式" r:id="rId17" imgW="203112" imgH="228501" progId="Equation.3">
                    <p:embed/>
                  </p:oleObj>
                </mc:Choice>
                <mc:Fallback>
                  <p:oleObj name="公式" r:id="rId17" imgW="203112" imgH="228501" progId="Equation.3">
                    <p:embed/>
                    <p:pic>
                      <p:nvPicPr>
                        <p:cNvPr id="0" name="对象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8048" y="3782822"/>
                          <a:ext cx="277813" cy="3127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5" name="对象 52"/>
            <p:cNvGraphicFramePr>
              <a:graphicFrameLocks noChangeAspect="1"/>
            </p:cNvGraphicFramePr>
            <p:nvPr/>
          </p:nvGraphicFramePr>
          <p:xfrm>
            <a:off x="8009890" y="4394454"/>
            <a:ext cx="225196" cy="2598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5" name="公式" r:id="rId19" imgW="164957" imgH="190335" progId="Equation.3">
                    <p:embed/>
                  </p:oleObj>
                </mc:Choice>
                <mc:Fallback>
                  <p:oleObj name="公式" r:id="rId19" imgW="164957" imgH="190335" progId="Equation.3">
                    <p:embed/>
                    <p:pic>
                      <p:nvPicPr>
                        <p:cNvPr id="0" name="对象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09890" y="4394454"/>
                          <a:ext cx="225196" cy="2598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Text Box 64"/>
          <p:cNvSpPr txBox="1">
            <a:spLocks noChangeArrowheads="1"/>
          </p:cNvSpPr>
          <p:nvPr/>
        </p:nvSpPr>
        <p:spPr bwMode="auto">
          <a:xfrm>
            <a:off x="703263" y="3911600"/>
            <a:ext cx="2644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ea typeface="华文中宋" pitchFamily="2" charset="-122"/>
              </a:rPr>
              <a:t>(3)   </a:t>
            </a:r>
            <a:r>
              <a:rPr lang="zh-CN" altLang="en-US" sz="1800">
                <a:ea typeface="华文中宋" pitchFamily="2" charset="-122"/>
              </a:rPr>
              <a:t>一般情形</a:t>
            </a:r>
          </a:p>
        </p:txBody>
      </p:sp>
      <p:sp>
        <p:nvSpPr>
          <p:cNvPr id="32" name="Text Box 65"/>
          <p:cNvSpPr txBox="1">
            <a:spLocks noChangeArrowheads="1"/>
          </p:cNvSpPr>
          <p:nvPr/>
        </p:nvSpPr>
        <p:spPr bwMode="auto">
          <a:xfrm>
            <a:off x="1563688" y="4291013"/>
            <a:ext cx="32861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i="1" baseline="-25000">
                <a:solidFill>
                  <a:srgbClr val="0000CC"/>
                </a:solidFill>
                <a:ea typeface="华文中宋" pitchFamily="2" charset="-122"/>
              </a:rPr>
              <a:t>min</a:t>
            </a:r>
            <a:r>
              <a:rPr lang="zh-CN" altLang="en-US" sz="1800">
                <a:solidFill>
                  <a:srgbClr val="0000CC"/>
                </a:solidFill>
                <a:ea typeface="华文中宋" pitchFamily="2" charset="-122"/>
              </a:rPr>
              <a:t>＜</a:t>
            </a:r>
            <a:r>
              <a:rPr lang="en-US" altLang="zh-CN" sz="1800">
                <a:solidFill>
                  <a:srgbClr val="0000CC"/>
                </a:solidFill>
                <a:ea typeface="华文中宋" pitchFamily="2" charset="-122"/>
              </a:rPr>
              <a:t>A </a:t>
            </a:r>
            <a:r>
              <a:rPr lang="zh-CN" altLang="en-US" sz="1800">
                <a:solidFill>
                  <a:srgbClr val="0000CC"/>
                </a:solidFill>
                <a:ea typeface="华文中宋" pitchFamily="2" charset="-122"/>
              </a:rPr>
              <a:t>＜ </a:t>
            </a:r>
            <a:r>
              <a:rPr lang="zh-CN" altLang="en-US" sz="1800" i="1">
                <a:solidFill>
                  <a:srgbClr val="0000CC"/>
                </a:solidFill>
                <a:ea typeface="华文中宋" pitchFamily="2" charset="-122"/>
              </a:rPr>
              <a:t> </a:t>
            </a:r>
            <a:r>
              <a:rPr lang="en-US" altLang="zh-CN" sz="1800" i="1">
                <a:solidFill>
                  <a:srgbClr val="0000CC"/>
                </a:solidFill>
                <a:ea typeface="华文中宋" pitchFamily="2" charset="-122"/>
              </a:rPr>
              <a:t>A</a:t>
            </a:r>
            <a:r>
              <a:rPr lang="en-US" altLang="zh-CN" sz="1800" i="1" baseline="-25000">
                <a:solidFill>
                  <a:srgbClr val="0000CC"/>
                </a:solidFill>
                <a:ea typeface="华文中宋" pitchFamily="2" charset="-122"/>
              </a:rPr>
              <a:t>max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8" grpId="0" autoUpdateAnimBg="0"/>
      <p:bldP spid="21" grpId="0" autoUpdateAnimBg="0"/>
      <p:bldP spid="31" grpId="0" autoUpdateAnimBg="0"/>
      <p:bldP spid="32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5" name="Text Box 7"/>
          <p:cNvSpPr txBox="1">
            <a:spLocks noChangeArrowheads="1"/>
          </p:cNvSpPr>
          <p:nvPr/>
        </p:nvSpPr>
        <p:spPr bwMode="auto">
          <a:xfrm>
            <a:off x="468313" y="3168650"/>
            <a:ext cx="38163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6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旋转矢量法：</a:t>
            </a:r>
            <a:r>
              <a:rPr lang="zh-CN" altLang="en-US" sz="1600">
                <a:latin typeface="华文中宋" pitchFamily="2" charset="-122"/>
                <a:ea typeface="华文中宋" pitchFamily="2" charset="-122"/>
              </a:rPr>
              <a:t>这两个谐振动的位相差为</a:t>
            </a:r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4284663" y="3076575"/>
          <a:ext cx="210978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5" name="Equation" r:id="rId4" imgW="1600200" imgH="393480" progId="Equation.DSMT4">
                  <p:embed/>
                </p:oleObj>
              </mc:Choice>
              <mc:Fallback>
                <p:oleObj name="Equation" r:id="rId4" imgW="160020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076575"/>
                        <a:ext cx="210978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466725" y="3697288"/>
            <a:ext cx="46101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lang="zh-CN" altLang="en-US" sz="1600">
                <a:latin typeface="华文中宋" pitchFamily="2" charset="-122"/>
                <a:ea typeface="华文中宋" pitchFamily="2" charset="-122"/>
              </a:rPr>
              <a:t>作旋转矢量图，利用旋转矢量合成法，合振动为</a:t>
            </a:r>
          </a:p>
        </p:txBody>
      </p:sp>
      <p:graphicFrame>
        <p:nvGraphicFramePr>
          <p:cNvPr id="53258" name="Object 10"/>
          <p:cNvGraphicFramePr>
            <a:graphicFrameLocks noChangeAspect="1"/>
          </p:cNvGraphicFramePr>
          <p:nvPr/>
        </p:nvGraphicFramePr>
        <p:xfrm>
          <a:off x="755650" y="3987800"/>
          <a:ext cx="49466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6" name="Equation" r:id="rId6" imgW="3149280" imgH="393480" progId="Equation.DSMT4">
                  <p:embed/>
                </p:oleObj>
              </mc:Choice>
              <mc:Fallback>
                <p:oleObj name="Equation" r:id="rId6" imgW="3149280" imgH="3934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987800"/>
                        <a:ext cx="49466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93" name="Group 21"/>
          <p:cNvGrpSpPr>
            <a:grpSpLocks/>
          </p:cNvGrpSpPr>
          <p:nvPr/>
        </p:nvGrpSpPr>
        <p:grpSpPr bwMode="auto">
          <a:xfrm>
            <a:off x="6299200" y="2682875"/>
            <a:ext cx="2520950" cy="2049463"/>
            <a:chOff x="3487" y="1117"/>
            <a:chExt cx="1773" cy="2160"/>
          </a:xfrm>
        </p:grpSpPr>
        <p:sp>
          <p:nvSpPr>
            <p:cNvPr id="40978" name="Line 14"/>
            <p:cNvSpPr>
              <a:spLocks noChangeShapeType="1"/>
            </p:cNvSpPr>
            <p:nvPr/>
          </p:nvSpPr>
          <p:spPr bwMode="auto">
            <a:xfrm>
              <a:off x="3641" y="2997"/>
              <a:ext cx="161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15"/>
            <p:cNvSpPr>
              <a:spLocks noChangeShapeType="1"/>
            </p:cNvSpPr>
            <p:nvPr/>
          </p:nvSpPr>
          <p:spPr bwMode="auto">
            <a:xfrm flipV="1">
              <a:off x="4325" y="2538"/>
              <a:ext cx="822" cy="459"/>
            </a:xfrm>
            <a:prstGeom prst="line">
              <a:avLst/>
            </a:prstGeom>
            <a:noFill/>
            <a:ln w="28575">
              <a:solidFill>
                <a:srgbClr val="0CC903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16"/>
            <p:cNvSpPr>
              <a:spLocks noChangeShapeType="1"/>
            </p:cNvSpPr>
            <p:nvPr/>
          </p:nvSpPr>
          <p:spPr bwMode="auto">
            <a:xfrm rot="16200000" flipV="1">
              <a:off x="3506" y="2178"/>
              <a:ext cx="1056" cy="5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Line 17"/>
            <p:cNvSpPr>
              <a:spLocks noChangeShapeType="1"/>
            </p:cNvSpPr>
            <p:nvPr/>
          </p:nvSpPr>
          <p:spPr bwMode="auto">
            <a:xfrm flipV="1">
              <a:off x="3732" y="1482"/>
              <a:ext cx="821" cy="4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2" name="Line 18"/>
            <p:cNvSpPr>
              <a:spLocks noChangeShapeType="1"/>
            </p:cNvSpPr>
            <p:nvPr/>
          </p:nvSpPr>
          <p:spPr bwMode="auto">
            <a:xfrm rot="16200000" flipV="1">
              <a:off x="4328" y="1718"/>
              <a:ext cx="1056" cy="5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3" name="Line 19"/>
            <p:cNvSpPr>
              <a:spLocks noChangeShapeType="1"/>
            </p:cNvSpPr>
            <p:nvPr/>
          </p:nvSpPr>
          <p:spPr bwMode="auto">
            <a:xfrm flipV="1">
              <a:off x="4325" y="1482"/>
              <a:ext cx="228" cy="151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4" name="Line 20"/>
            <p:cNvSpPr>
              <a:spLocks noChangeShapeType="1"/>
            </p:cNvSpPr>
            <p:nvPr/>
          </p:nvSpPr>
          <p:spPr bwMode="auto">
            <a:xfrm flipV="1">
              <a:off x="4230" y="2777"/>
              <a:ext cx="137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5" name="Line 21"/>
            <p:cNvSpPr>
              <a:spLocks noChangeShapeType="1"/>
            </p:cNvSpPr>
            <p:nvPr/>
          </p:nvSpPr>
          <p:spPr bwMode="auto">
            <a:xfrm rot="16200000" flipV="1">
              <a:off x="4340" y="2804"/>
              <a:ext cx="138" cy="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6" name="Arc 24"/>
            <p:cNvSpPr>
              <a:spLocks/>
            </p:cNvSpPr>
            <p:nvPr/>
          </p:nvSpPr>
          <p:spPr bwMode="auto">
            <a:xfrm rot="1865484">
              <a:off x="4508" y="2882"/>
              <a:ext cx="113" cy="115"/>
            </a:xfrm>
            <a:custGeom>
              <a:avLst/>
              <a:gdLst>
                <a:gd name="T0" fmla="*/ 0 w 21176"/>
                <a:gd name="T1" fmla="*/ 0 h 21192"/>
                <a:gd name="T2" fmla="*/ 1 w 21176"/>
                <a:gd name="T3" fmla="*/ 0 h 21192"/>
                <a:gd name="T4" fmla="*/ 0 w 21176"/>
                <a:gd name="T5" fmla="*/ 1 h 21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76" h="21192" fill="none" extrusionOk="0">
                  <a:moveTo>
                    <a:pt x="4178" y="0"/>
                  </a:moveTo>
                  <a:cubicBezTo>
                    <a:pt x="12746" y="1689"/>
                    <a:pt x="19454" y="8371"/>
                    <a:pt x="21175" y="16933"/>
                  </a:cubicBezTo>
                </a:path>
                <a:path w="21176" h="21192" stroke="0" extrusionOk="0">
                  <a:moveTo>
                    <a:pt x="4178" y="0"/>
                  </a:moveTo>
                  <a:cubicBezTo>
                    <a:pt x="12746" y="1689"/>
                    <a:pt x="19454" y="8371"/>
                    <a:pt x="21175" y="16933"/>
                  </a:cubicBezTo>
                  <a:lnTo>
                    <a:pt x="0" y="21192"/>
                  </a:lnTo>
                  <a:lnTo>
                    <a:pt x="4178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0987" name="Object 25"/>
            <p:cNvGraphicFramePr>
              <a:graphicFrameLocks noChangeAspect="1"/>
            </p:cNvGraphicFramePr>
            <p:nvPr/>
          </p:nvGraphicFramePr>
          <p:xfrm>
            <a:off x="4779" y="2642"/>
            <a:ext cx="196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7" name="Equation" r:id="rId8" imgW="152280" imgH="393480" progId="Equation.DSMT4">
                    <p:embed/>
                  </p:oleObj>
                </mc:Choice>
                <mc:Fallback>
                  <p:oleObj name="Equation" r:id="rId8" imgW="152280" imgH="39348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2642"/>
                          <a:ext cx="196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88" name="Rectangle 27"/>
            <p:cNvSpPr>
              <a:spLocks noChangeArrowheads="1"/>
            </p:cNvSpPr>
            <p:nvPr/>
          </p:nvSpPr>
          <p:spPr bwMode="auto">
            <a:xfrm>
              <a:off x="3779" y="1298"/>
              <a:ext cx="210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ea typeface="宋体" pitchFamily="2" charset="-122"/>
                  <a:sym typeface="Symbol" pitchFamily="18" charset="2"/>
                </a:rPr>
                <a:t></a:t>
              </a:r>
            </a:p>
          </p:txBody>
        </p:sp>
        <p:sp>
          <p:nvSpPr>
            <p:cNvPr id="40989" name="Arc 28"/>
            <p:cNvSpPr>
              <a:spLocks/>
            </p:cNvSpPr>
            <p:nvPr/>
          </p:nvSpPr>
          <p:spPr bwMode="auto">
            <a:xfrm rot="-578474">
              <a:off x="3487" y="1548"/>
              <a:ext cx="565" cy="347"/>
            </a:xfrm>
            <a:custGeom>
              <a:avLst/>
              <a:gdLst>
                <a:gd name="T0" fmla="*/ 6 w 20153"/>
                <a:gd name="T1" fmla="*/ 0 h 20015"/>
                <a:gd name="T2" fmla="*/ 16 w 20153"/>
                <a:gd name="T3" fmla="*/ 4 h 20015"/>
                <a:gd name="T4" fmla="*/ 0 w 20153"/>
                <a:gd name="T5" fmla="*/ 6 h 200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153" h="20015" fill="none" extrusionOk="0">
                  <a:moveTo>
                    <a:pt x="8121" y="0"/>
                  </a:moveTo>
                  <a:cubicBezTo>
                    <a:pt x="13651" y="2243"/>
                    <a:pt x="18005" y="6674"/>
                    <a:pt x="20152" y="12242"/>
                  </a:cubicBezTo>
                </a:path>
                <a:path w="20153" h="20015" stroke="0" extrusionOk="0">
                  <a:moveTo>
                    <a:pt x="8121" y="0"/>
                  </a:moveTo>
                  <a:cubicBezTo>
                    <a:pt x="13651" y="2243"/>
                    <a:pt x="18005" y="6674"/>
                    <a:pt x="20152" y="12242"/>
                  </a:cubicBezTo>
                  <a:lnTo>
                    <a:pt x="0" y="20015"/>
                  </a:lnTo>
                  <a:lnTo>
                    <a:pt x="812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90" name="Text Box 29"/>
            <p:cNvSpPr txBox="1">
              <a:spLocks noChangeArrowheads="1"/>
            </p:cNvSpPr>
            <p:nvPr/>
          </p:nvSpPr>
          <p:spPr bwMode="auto">
            <a:xfrm>
              <a:off x="4874" y="2341"/>
              <a:ext cx="229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ea typeface="宋体" pitchFamily="2" charset="-122"/>
                </a:rPr>
                <a:t>3</a:t>
              </a:r>
            </a:p>
          </p:txBody>
        </p:sp>
        <p:sp>
          <p:nvSpPr>
            <p:cNvPr id="40991" name="Rectangle 30"/>
            <p:cNvSpPr>
              <a:spLocks noChangeArrowheads="1"/>
            </p:cNvSpPr>
            <p:nvPr/>
          </p:nvSpPr>
          <p:spPr bwMode="auto">
            <a:xfrm>
              <a:off x="3651" y="2115"/>
              <a:ext cx="187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>
                  <a:ea typeface="宋体" pitchFamily="2" charset="-122"/>
                </a:rPr>
                <a:t>4</a:t>
              </a:r>
            </a:p>
          </p:txBody>
        </p:sp>
        <p:sp>
          <p:nvSpPr>
            <p:cNvPr id="40992" name="Text Box 31"/>
            <p:cNvSpPr txBox="1">
              <a:spLocks noChangeArrowheads="1"/>
            </p:cNvSpPr>
            <p:nvPr/>
          </p:nvSpPr>
          <p:spPr bwMode="auto">
            <a:xfrm>
              <a:off x="4195" y="2976"/>
              <a:ext cx="274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500" i="1">
                  <a:ea typeface="宋体" pitchFamily="2" charset="-122"/>
                </a:rPr>
                <a:t>O</a:t>
              </a:r>
            </a:p>
          </p:txBody>
        </p:sp>
        <p:sp>
          <p:nvSpPr>
            <p:cNvPr id="40993" name="Rectangle 32"/>
            <p:cNvSpPr>
              <a:spLocks noChangeArrowheads="1"/>
            </p:cNvSpPr>
            <p:nvPr/>
          </p:nvSpPr>
          <p:spPr bwMode="auto">
            <a:xfrm>
              <a:off x="5032" y="2952"/>
              <a:ext cx="187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ea typeface="宋体" pitchFamily="2" charset="-122"/>
                </a:rPr>
                <a:t>x</a:t>
              </a:r>
            </a:p>
          </p:txBody>
        </p:sp>
        <p:graphicFrame>
          <p:nvGraphicFramePr>
            <p:cNvPr id="40994" name="Object 33"/>
            <p:cNvGraphicFramePr>
              <a:graphicFrameLocks noChangeAspect="1"/>
            </p:cNvGraphicFramePr>
            <p:nvPr/>
          </p:nvGraphicFramePr>
          <p:xfrm>
            <a:off x="4422" y="1117"/>
            <a:ext cx="26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8" name="公式" r:id="rId10" imgW="126835" imgH="152202" progId="Equation.3">
                    <p:embed/>
                  </p:oleObj>
                </mc:Choice>
                <mc:Fallback>
                  <p:oleObj name="公式" r:id="rId10" imgW="126835" imgH="152202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1117"/>
                          <a:ext cx="26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967" name="Group 20"/>
          <p:cNvGrpSpPr>
            <a:grpSpLocks/>
          </p:cNvGrpSpPr>
          <p:nvPr/>
        </p:nvGrpSpPr>
        <p:grpSpPr bwMode="auto">
          <a:xfrm>
            <a:off x="323850" y="771525"/>
            <a:ext cx="7988300" cy="720725"/>
            <a:chOff x="113" y="48"/>
            <a:chExt cx="5370" cy="714"/>
          </a:xfrm>
        </p:grpSpPr>
        <p:sp>
          <p:nvSpPr>
            <p:cNvPr id="40973" name="Text Box 3"/>
            <p:cNvSpPr txBox="1">
              <a:spLocks noChangeArrowheads="1"/>
            </p:cNvSpPr>
            <p:nvPr/>
          </p:nvSpPr>
          <p:spPr bwMode="auto">
            <a:xfrm>
              <a:off x="113" y="119"/>
              <a:ext cx="2086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</a:rPr>
                <a:t>例  两谐振动振动方程分别为</a:t>
              </a:r>
            </a:p>
          </p:txBody>
        </p:sp>
        <p:grpSp>
          <p:nvGrpSpPr>
            <p:cNvPr id="40974" name="Group 19"/>
            <p:cNvGrpSpPr>
              <a:grpSpLocks/>
            </p:cNvGrpSpPr>
            <p:nvPr/>
          </p:nvGrpSpPr>
          <p:grpSpPr bwMode="auto">
            <a:xfrm>
              <a:off x="2146" y="48"/>
              <a:ext cx="3337" cy="505"/>
              <a:chOff x="2010" y="84"/>
              <a:chExt cx="3337" cy="505"/>
            </a:xfrm>
          </p:grpSpPr>
          <p:graphicFrame>
            <p:nvGraphicFramePr>
              <p:cNvPr id="40976" name="Object 4"/>
              <p:cNvGraphicFramePr>
                <a:graphicFrameLocks noChangeAspect="1"/>
              </p:cNvGraphicFramePr>
              <p:nvPr/>
            </p:nvGraphicFramePr>
            <p:xfrm>
              <a:off x="2010" y="128"/>
              <a:ext cx="1594" cy="4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09" name="Equation" r:id="rId12" imgW="1447560" imgH="393480" progId="Equation.DSMT4">
                      <p:embed/>
                    </p:oleObj>
                  </mc:Choice>
                  <mc:Fallback>
                    <p:oleObj name="Equation" r:id="rId12" imgW="1447560" imgH="393480" progId="Equation.DSMT4">
                      <p:embed/>
                      <p:pic>
                        <p:nvPicPr>
                          <p:cNvPr id="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0" y="128"/>
                            <a:ext cx="1594" cy="46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977" name="Object 5"/>
              <p:cNvGraphicFramePr>
                <a:graphicFrameLocks noChangeAspect="1"/>
              </p:cNvGraphicFramePr>
              <p:nvPr/>
            </p:nvGraphicFramePr>
            <p:xfrm>
              <a:off x="3683" y="84"/>
              <a:ext cx="1664" cy="4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10" name="Equation" r:id="rId14" imgW="1574640" imgH="393480" progId="Equation.DSMT4">
                      <p:embed/>
                    </p:oleObj>
                  </mc:Choice>
                  <mc:Fallback>
                    <p:oleObj name="Equation" r:id="rId14" imgW="1574640" imgH="39348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83" y="84"/>
                            <a:ext cx="1664" cy="4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0975" name="Rectangle 18"/>
            <p:cNvSpPr>
              <a:spLocks noChangeArrowheads="1"/>
            </p:cNvSpPr>
            <p:nvPr/>
          </p:nvSpPr>
          <p:spPr bwMode="auto">
            <a:xfrm>
              <a:off x="355" y="426"/>
              <a:ext cx="831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</a:rPr>
                <a:t>求合振动。</a:t>
              </a:r>
            </a:p>
          </p:txBody>
        </p:sp>
      </p:grpSp>
      <p:sp>
        <p:nvSpPr>
          <p:cNvPr id="54294" name="Rectangle 22"/>
          <p:cNvSpPr>
            <a:spLocks noChangeArrowheads="1"/>
          </p:cNvSpPr>
          <p:nvPr/>
        </p:nvSpPr>
        <p:spPr bwMode="auto">
          <a:xfrm>
            <a:off x="323850" y="1441450"/>
            <a:ext cx="223202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解：</a:t>
            </a:r>
            <a:r>
              <a:rPr lang="zh-CN" altLang="en-US" sz="16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三角函数计算法：</a:t>
            </a:r>
          </a:p>
        </p:txBody>
      </p:sp>
      <p:graphicFrame>
        <p:nvGraphicFramePr>
          <p:cNvPr id="54295" name="Object 23"/>
          <p:cNvGraphicFramePr>
            <a:graphicFrameLocks noChangeAspect="1"/>
          </p:cNvGraphicFramePr>
          <p:nvPr/>
        </p:nvGraphicFramePr>
        <p:xfrm>
          <a:off x="466725" y="1741488"/>
          <a:ext cx="2624138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1" name="公式" r:id="rId16" imgW="825142" imgH="177723" progId="Equation.3">
                  <p:embed/>
                </p:oleObj>
              </mc:Choice>
              <mc:Fallback>
                <p:oleObj name="公式" r:id="rId16" imgW="825142" imgH="17772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1741488"/>
                        <a:ext cx="2624138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6" name="Object 24"/>
          <p:cNvGraphicFramePr>
            <a:graphicFrameLocks noChangeAspect="1"/>
          </p:cNvGraphicFramePr>
          <p:nvPr/>
        </p:nvGraphicFramePr>
        <p:xfrm>
          <a:off x="3113088" y="1708150"/>
          <a:ext cx="45545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2" name="Equation" r:id="rId18" imgW="2743200" imgH="291960" progId="Equation.DSMT4">
                  <p:embed/>
                </p:oleObj>
              </mc:Choice>
              <mc:Fallback>
                <p:oleObj name="Equation" r:id="rId18" imgW="2743200" imgH="29196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3088" y="1708150"/>
                        <a:ext cx="45545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7" name="Object 25"/>
          <p:cNvGraphicFramePr>
            <a:graphicFrameLocks noChangeAspect="1"/>
          </p:cNvGraphicFramePr>
          <p:nvPr/>
        </p:nvGraphicFramePr>
        <p:xfrm>
          <a:off x="611188" y="2355850"/>
          <a:ext cx="432117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3" name="Equation" r:id="rId20" imgW="2628720" imgH="431640" progId="Equation.DSMT4">
                  <p:embed/>
                </p:oleObj>
              </mc:Choice>
              <mc:Fallback>
                <p:oleObj name="Equation" r:id="rId20" imgW="2628720" imgH="43164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355850"/>
                        <a:ext cx="432117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8" name="Object 26"/>
          <p:cNvGraphicFramePr>
            <a:graphicFrameLocks noChangeAspect="1"/>
          </p:cNvGraphicFramePr>
          <p:nvPr/>
        </p:nvGraphicFramePr>
        <p:xfrm>
          <a:off x="5292725" y="2152650"/>
          <a:ext cx="36718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4" name="Equation" r:id="rId22" imgW="2006280" imgH="393480" progId="Equation.DSMT4">
                  <p:embed/>
                </p:oleObj>
              </mc:Choice>
              <mc:Fallback>
                <p:oleObj name="Equation" r:id="rId22" imgW="2006280" imgH="3934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152650"/>
                        <a:ext cx="3671888" cy="563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/>
      <p:bldP spid="53257" grpId="0" autoUpdateAnimBg="0"/>
      <p:bldP spid="5429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74" name="Object 2"/>
          <p:cNvGraphicFramePr>
            <a:graphicFrameLocks noChangeAspect="1"/>
          </p:cNvGraphicFramePr>
          <p:nvPr/>
        </p:nvGraphicFramePr>
        <p:xfrm>
          <a:off x="2187575" y="1981200"/>
          <a:ext cx="40052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1" name="公式" r:id="rId4" imgW="1651000" imgH="241300" progId="Equation.3">
                  <p:embed/>
                </p:oleObj>
              </mc:Choice>
              <mc:Fallback>
                <p:oleObj name="公式" r:id="rId4" imgW="1651000" imgH="2413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5" y="1981200"/>
                        <a:ext cx="40052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9E7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3613150" y="2500313"/>
          <a:ext cx="1895475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Equation" r:id="rId6" imgW="1143000" imgH="431640" progId="Equation.DSMT4">
                  <p:embed/>
                </p:oleObj>
              </mc:Choice>
              <mc:Fallback>
                <p:oleObj name="Equation" r:id="rId6" imgW="114300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500313"/>
                        <a:ext cx="1895475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2147888" y="3225800"/>
          <a:ext cx="45116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Equation" r:id="rId8" imgW="1638300" imgH="241300" progId="Equation.DSMT4">
                  <p:embed/>
                </p:oleObj>
              </mc:Choice>
              <mc:Fallback>
                <p:oleObj name="Equation" r:id="rId8" imgW="16383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3225800"/>
                        <a:ext cx="45116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2557463" y="3795713"/>
          <a:ext cx="36703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4" name="Equation" r:id="rId10" imgW="2501640" imgH="583920" progId="Equation.DSMT4">
                  <p:embed/>
                </p:oleObj>
              </mc:Choice>
              <mc:Fallback>
                <p:oleObj name="Equation" r:id="rId10" imgW="2501640" imgH="5839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7463" y="3795713"/>
                        <a:ext cx="3670300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344488" y="1381125"/>
            <a:ext cx="2328862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解：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设合振动为</a:t>
            </a: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3060700" y="1423988"/>
          <a:ext cx="2303463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5" name="公式" r:id="rId12" imgW="825142" imgH="177723" progId="Equation.3">
                  <p:embed/>
                </p:oleObj>
              </mc:Choice>
              <mc:Fallback>
                <p:oleObj name="公式" r:id="rId12" imgW="825142" imgH="17772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1423988"/>
                        <a:ext cx="2303463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2" name="Text Box 10"/>
          <p:cNvSpPr txBox="1">
            <a:spLocks noChangeArrowheads="1"/>
          </p:cNvSpPr>
          <p:nvPr/>
        </p:nvSpPr>
        <p:spPr bwMode="auto">
          <a:xfrm>
            <a:off x="304800" y="906463"/>
            <a:ext cx="807720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例  两谐振动方程分别为</a:t>
            </a:r>
          </a:p>
        </p:txBody>
      </p:sp>
      <p:graphicFrame>
        <p:nvGraphicFramePr>
          <p:cNvPr id="41993" name="Object 11"/>
          <p:cNvGraphicFramePr>
            <a:graphicFrameLocks noChangeAspect="1"/>
          </p:cNvGraphicFramePr>
          <p:nvPr/>
        </p:nvGraphicFramePr>
        <p:xfrm>
          <a:off x="2878138" y="819150"/>
          <a:ext cx="3997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Equation" r:id="rId14" imgW="2768400" imgH="393480" progId="Equation.DSMT4">
                  <p:embed/>
                </p:oleObj>
              </mc:Choice>
              <mc:Fallback>
                <p:oleObj name="Equation" r:id="rId14" imgW="276840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819150"/>
                        <a:ext cx="39973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4" name="Rectangle 16"/>
          <p:cNvSpPr>
            <a:spLocks noChangeArrowheads="1"/>
          </p:cNvSpPr>
          <p:nvPr/>
        </p:nvSpPr>
        <p:spPr bwMode="auto">
          <a:xfrm>
            <a:off x="6875463" y="915988"/>
            <a:ext cx="14097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求合振动。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26" name="Rectangle 30"/>
          <p:cNvSpPr>
            <a:spLocks noChangeArrowheads="1"/>
          </p:cNvSpPr>
          <p:nvPr/>
        </p:nvSpPr>
        <p:spPr bwMode="auto">
          <a:xfrm>
            <a:off x="1073150" y="2608263"/>
            <a:ext cx="2635250" cy="3238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500" dirty="0">
                <a:solidFill>
                  <a:schemeClr val="accent2"/>
                </a:solidFill>
                <a:latin typeface="楷体_GB2312" pitchFamily="49" charset="-122"/>
                <a:ea typeface="华文中宋" pitchFamily="2" charset="-122"/>
              </a:rPr>
              <a:t>利用旋转矢量合成</a:t>
            </a:r>
          </a:p>
        </p:txBody>
      </p:sp>
      <p:sp>
        <p:nvSpPr>
          <p:cNvPr id="56339" name="Text Box 19"/>
          <p:cNvSpPr txBox="1">
            <a:spLocks noChangeArrowheads="1"/>
          </p:cNvSpPr>
          <p:nvPr/>
        </p:nvSpPr>
        <p:spPr bwMode="auto">
          <a:xfrm>
            <a:off x="1298575" y="1203325"/>
            <a:ext cx="161766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楷体_GB2312" pitchFamily="49" charset="-122"/>
                <a:ea typeface="华文中宋" pitchFamily="2" charset="-122"/>
              </a:rPr>
              <a:t>设分振动为：</a:t>
            </a:r>
          </a:p>
        </p:txBody>
      </p:sp>
      <p:graphicFrame>
        <p:nvGraphicFramePr>
          <p:cNvPr id="56341" name="Object 21"/>
          <p:cNvGraphicFramePr>
            <a:graphicFrameLocks noChangeAspect="1"/>
          </p:cNvGraphicFramePr>
          <p:nvPr/>
        </p:nvGraphicFramePr>
        <p:xfrm>
          <a:off x="2700338" y="1222375"/>
          <a:ext cx="27162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3" name="公式" r:id="rId4" imgW="914003" imgH="177723" progId="Equation.3">
                  <p:embed/>
                </p:oleObj>
              </mc:Choice>
              <mc:Fallback>
                <p:oleObj name="公式" r:id="rId4" imgW="914003" imgH="177723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222375"/>
                        <a:ext cx="27162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22"/>
          <p:cNvGraphicFramePr>
            <a:graphicFrameLocks noChangeAspect="1"/>
          </p:cNvGraphicFramePr>
          <p:nvPr/>
        </p:nvGraphicFramePr>
        <p:xfrm>
          <a:off x="5580063" y="1220788"/>
          <a:ext cx="28797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4" name="公式" r:id="rId6" imgW="926698" imgH="177723" progId="Equation.3">
                  <p:embed/>
                </p:oleObj>
              </mc:Choice>
              <mc:Fallback>
                <p:oleObj name="公式" r:id="rId6" imgW="926698" imgH="177723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220788"/>
                        <a:ext cx="28797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3" name="Object 23"/>
          <p:cNvGraphicFramePr>
            <a:graphicFrameLocks noChangeAspect="1"/>
          </p:cNvGraphicFramePr>
          <p:nvPr/>
        </p:nvGraphicFramePr>
        <p:xfrm>
          <a:off x="1906588" y="1563688"/>
          <a:ext cx="4846637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5" name="公式" r:id="rId8" imgW="1727200" imgH="292100" progId="Equation.3">
                  <p:embed/>
                </p:oleObj>
              </mc:Choice>
              <mc:Fallback>
                <p:oleObj name="公式" r:id="rId8" imgW="1727200" imgH="2921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1563688"/>
                        <a:ext cx="4846637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4" name="Object 24"/>
          <p:cNvGraphicFramePr>
            <a:graphicFrameLocks noChangeAspect="1"/>
          </p:cNvGraphicFramePr>
          <p:nvPr/>
        </p:nvGraphicFramePr>
        <p:xfrm>
          <a:off x="827088" y="2122488"/>
          <a:ext cx="618648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36" name="公式" r:id="rId10" imgW="2374900" imgH="292100" progId="Equation.3">
                  <p:embed/>
                </p:oleObj>
              </mc:Choice>
              <mc:Fallback>
                <p:oleObj name="公式" r:id="rId10" imgW="2374900" imgH="2921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122488"/>
                        <a:ext cx="6186487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52" name="Group 32"/>
          <p:cNvGrpSpPr>
            <a:grpSpLocks/>
          </p:cNvGrpSpPr>
          <p:nvPr/>
        </p:nvGrpSpPr>
        <p:grpSpPr bwMode="auto">
          <a:xfrm>
            <a:off x="827088" y="3065463"/>
            <a:ext cx="3095625" cy="1503362"/>
            <a:chOff x="385" y="2160"/>
            <a:chExt cx="2132" cy="1497"/>
          </a:xfrm>
        </p:grpSpPr>
        <p:sp>
          <p:nvSpPr>
            <p:cNvPr id="43106" name="Line 63"/>
            <p:cNvSpPr>
              <a:spLocks noChangeShapeType="1"/>
            </p:cNvSpPr>
            <p:nvPr/>
          </p:nvSpPr>
          <p:spPr bwMode="auto">
            <a:xfrm flipH="1" flipV="1">
              <a:off x="566" y="3657"/>
              <a:ext cx="19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07" name="Arc 68"/>
            <p:cNvSpPr>
              <a:spLocks/>
            </p:cNvSpPr>
            <p:nvPr/>
          </p:nvSpPr>
          <p:spPr bwMode="auto">
            <a:xfrm rot="-1575225">
              <a:off x="385" y="2795"/>
              <a:ext cx="412" cy="265"/>
            </a:xfrm>
            <a:custGeom>
              <a:avLst/>
              <a:gdLst>
                <a:gd name="T0" fmla="*/ 1 w 20153"/>
                <a:gd name="T1" fmla="*/ 0 h 21456"/>
                <a:gd name="T2" fmla="*/ 8 w 20153"/>
                <a:gd name="T3" fmla="*/ 2 h 21456"/>
                <a:gd name="T4" fmla="*/ 0 w 20153"/>
                <a:gd name="T5" fmla="*/ 3 h 214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153" h="21456" fill="none" extrusionOk="0">
                  <a:moveTo>
                    <a:pt x="2487" y="-1"/>
                  </a:moveTo>
                  <a:cubicBezTo>
                    <a:pt x="10460" y="923"/>
                    <a:pt x="17264" y="6193"/>
                    <a:pt x="20152" y="13683"/>
                  </a:cubicBezTo>
                </a:path>
                <a:path w="20153" h="21456" stroke="0" extrusionOk="0">
                  <a:moveTo>
                    <a:pt x="2487" y="-1"/>
                  </a:moveTo>
                  <a:cubicBezTo>
                    <a:pt x="10460" y="923"/>
                    <a:pt x="17264" y="6193"/>
                    <a:pt x="20152" y="13683"/>
                  </a:cubicBezTo>
                  <a:lnTo>
                    <a:pt x="0" y="21456"/>
                  </a:lnTo>
                  <a:lnTo>
                    <a:pt x="2487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08" name="Line 71"/>
            <p:cNvSpPr>
              <a:spLocks noChangeShapeType="1"/>
            </p:cNvSpPr>
            <p:nvPr/>
          </p:nvSpPr>
          <p:spPr bwMode="auto">
            <a:xfrm flipV="1">
              <a:off x="566" y="3294"/>
              <a:ext cx="1497" cy="363"/>
            </a:xfrm>
            <a:prstGeom prst="line">
              <a:avLst/>
            </a:prstGeom>
            <a:noFill/>
            <a:ln w="28575">
              <a:solidFill>
                <a:srgbClr val="0CC903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09" name="Line 72"/>
            <p:cNvSpPr>
              <a:spLocks noChangeShapeType="1"/>
            </p:cNvSpPr>
            <p:nvPr/>
          </p:nvSpPr>
          <p:spPr bwMode="auto">
            <a:xfrm flipV="1">
              <a:off x="566" y="2886"/>
              <a:ext cx="227" cy="75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0" name="Line 73"/>
            <p:cNvSpPr>
              <a:spLocks noChangeShapeType="1"/>
            </p:cNvSpPr>
            <p:nvPr/>
          </p:nvSpPr>
          <p:spPr bwMode="auto">
            <a:xfrm flipH="1">
              <a:off x="794" y="2478"/>
              <a:ext cx="1541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1" name="Line 74"/>
            <p:cNvSpPr>
              <a:spLocks noChangeShapeType="1"/>
            </p:cNvSpPr>
            <p:nvPr/>
          </p:nvSpPr>
          <p:spPr bwMode="auto">
            <a:xfrm flipV="1">
              <a:off x="2063" y="2478"/>
              <a:ext cx="272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2" name="Line 75"/>
            <p:cNvSpPr>
              <a:spLocks noChangeShapeType="1"/>
            </p:cNvSpPr>
            <p:nvPr/>
          </p:nvSpPr>
          <p:spPr bwMode="auto">
            <a:xfrm flipV="1">
              <a:off x="566" y="2478"/>
              <a:ext cx="1769" cy="117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3" name="Rectangle 76"/>
            <p:cNvSpPr>
              <a:spLocks noChangeArrowheads="1"/>
            </p:cNvSpPr>
            <p:nvPr/>
          </p:nvSpPr>
          <p:spPr bwMode="auto">
            <a:xfrm flipH="1">
              <a:off x="1927" y="2659"/>
              <a:ext cx="19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A</a:t>
              </a:r>
            </a:p>
          </p:txBody>
        </p:sp>
        <p:sp>
          <p:nvSpPr>
            <p:cNvPr id="43114" name="Arc 77"/>
            <p:cNvSpPr>
              <a:spLocks/>
            </p:cNvSpPr>
            <p:nvPr/>
          </p:nvSpPr>
          <p:spPr bwMode="auto">
            <a:xfrm rot="-299993">
              <a:off x="1882" y="2341"/>
              <a:ext cx="439" cy="249"/>
            </a:xfrm>
            <a:custGeom>
              <a:avLst/>
              <a:gdLst>
                <a:gd name="T0" fmla="*/ 1 w 20153"/>
                <a:gd name="T1" fmla="*/ 0 h 21456"/>
                <a:gd name="T2" fmla="*/ 10 w 20153"/>
                <a:gd name="T3" fmla="*/ 2 h 21456"/>
                <a:gd name="T4" fmla="*/ 0 w 20153"/>
                <a:gd name="T5" fmla="*/ 3 h 214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153" h="21456" fill="none" extrusionOk="0">
                  <a:moveTo>
                    <a:pt x="2487" y="-1"/>
                  </a:moveTo>
                  <a:cubicBezTo>
                    <a:pt x="10460" y="923"/>
                    <a:pt x="17264" y="6193"/>
                    <a:pt x="20152" y="13683"/>
                  </a:cubicBezTo>
                </a:path>
                <a:path w="20153" h="21456" stroke="0" extrusionOk="0">
                  <a:moveTo>
                    <a:pt x="2487" y="-1"/>
                  </a:moveTo>
                  <a:cubicBezTo>
                    <a:pt x="10460" y="923"/>
                    <a:pt x="17264" y="6193"/>
                    <a:pt x="20152" y="13683"/>
                  </a:cubicBezTo>
                  <a:lnTo>
                    <a:pt x="0" y="21456"/>
                  </a:lnTo>
                  <a:lnTo>
                    <a:pt x="2487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5" name="Arc 78"/>
            <p:cNvSpPr>
              <a:spLocks/>
            </p:cNvSpPr>
            <p:nvPr/>
          </p:nvSpPr>
          <p:spPr bwMode="auto">
            <a:xfrm>
              <a:off x="1651" y="3120"/>
              <a:ext cx="412" cy="265"/>
            </a:xfrm>
            <a:custGeom>
              <a:avLst/>
              <a:gdLst>
                <a:gd name="T0" fmla="*/ 1 w 20153"/>
                <a:gd name="T1" fmla="*/ 0 h 21456"/>
                <a:gd name="T2" fmla="*/ 8 w 20153"/>
                <a:gd name="T3" fmla="*/ 2 h 21456"/>
                <a:gd name="T4" fmla="*/ 0 w 20153"/>
                <a:gd name="T5" fmla="*/ 3 h 214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153" h="21456" fill="none" extrusionOk="0">
                  <a:moveTo>
                    <a:pt x="2487" y="-1"/>
                  </a:moveTo>
                  <a:cubicBezTo>
                    <a:pt x="10460" y="923"/>
                    <a:pt x="17264" y="6193"/>
                    <a:pt x="20152" y="13683"/>
                  </a:cubicBezTo>
                </a:path>
                <a:path w="20153" h="21456" stroke="0" extrusionOk="0">
                  <a:moveTo>
                    <a:pt x="2487" y="-1"/>
                  </a:moveTo>
                  <a:cubicBezTo>
                    <a:pt x="10460" y="923"/>
                    <a:pt x="17264" y="6193"/>
                    <a:pt x="20152" y="13683"/>
                  </a:cubicBezTo>
                  <a:lnTo>
                    <a:pt x="0" y="21456"/>
                  </a:lnTo>
                  <a:lnTo>
                    <a:pt x="2487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16" name="Arc 82"/>
            <p:cNvSpPr>
              <a:spLocks/>
            </p:cNvSpPr>
            <p:nvPr/>
          </p:nvSpPr>
          <p:spPr bwMode="auto">
            <a:xfrm rot="4338535" flipH="1">
              <a:off x="628" y="3428"/>
              <a:ext cx="258" cy="199"/>
            </a:xfrm>
            <a:custGeom>
              <a:avLst/>
              <a:gdLst>
                <a:gd name="T0" fmla="*/ 0 w 21535"/>
                <a:gd name="T1" fmla="*/ 0 h 21456"/>
                <a:gd name="T2" fmla="*/ 3 w 21535"/>
                <a:gd name="T3" fmla="*/ 2 h 21456"/>
                <a:gd name="T4" fmla="*/ 0 w 21535"/>
                <a:gd name="T5" fmla="*/ 2 h 214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35" h="21456" fill="none" extrusionOk="0">
                  <a:moveTo>
                    <a:pt x="2487" y="-1"/>
                  </a:moveTo>
                  <a:cubicBezTo>
                    <a:pt x="12749" y="1189"/>
                    <a:pt x="20732" y="9478"/>
                    <a:pt x="21534" y="19778"/>
                  </a:cubicBezTo>
                </a:path>
                <a:path w="21535" h="21456" stroke="0" extrusionOk="0">
                  <a:moveTo>
                    <a:pt x="2487" y="-1"/>
                  </a:moveTo>
                  <a:cubicBezTo>
                    <a:pt x="12749" y="1189"/>
                    <a:pt x="20732" y="9478"/>
                    <a:pt x="21534" y="19778"/>
                  </a:cubicBezTo>
                  <a:lnTo>
                    <a:pt x="0" y="21456"/>
                  </a:lnTo>
                  <a:lnTo>
                    <a:pt x="2487" y="-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non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3117" name="Object 25"/>
            <p:cNvGraphicFramePr>
              <a:graphicFrameLocks noChangeAspect="1"/>
            </p:cNvGraphicFramePr>
            <p:nvPr/>
          </p:nvGraphicFramePr>
          <p:xfrm>
            <a:off x="2290" y="3432"/>
            <a:ext cx="225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7" name="Equation" r:id="rId12" imgW="139700" imgH="139700" progId="Equation.DSMT4">
                    <p:embed/>
                  </p:oleObj>
                </mc:Choice>
                <mc:Fallback>
                  <p:oleObj name="Equation" r:id="rId12" imgW="139700" imgH="1397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3432"/>
                          <a:ext cx="225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118" name="Rectangle 26"/>
            <p:cNvSpPr>
              <a:spLocks noChangeArrowheads="1"/>
            </p:cNvSpPr>
            <p:nvPr/>
          </p:nvSpPr>
          <p:spPr bwMode="auto">
            <a:xfrm flipH="1">
              <a:off x="1746" y="3294"/>
              <a:ext cx="23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9900"/>
                  </a:solidFill>
                  <a:ea typeface="宋体" pitchFamily="2" charset="-122"/>
                  <a:sym typeface="Symbol" pitchFamily="18" charset="2"/>
                </a:rPr>
                <a:t>A</a:t>
              </a:r>
              <a:r>
                <a:rPr lang="en-US" altLang="zh-CN" sz="1500" baseline="-25000">
                  <a:solidFill>
                    <a:srgbClr val="009900"/>
                  </a:solidFill>
                  <a:ea typeface="宋体" pitchFamily="2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43119" name="Rectangle 27"/>
            <p:cNvSpPr>
              <a:spLocks noChangeArrowheads="1"/>
            </p:cNvSpPr>
            <p:nvPr/>
          </p:nvSpPr>
          <p:spPr bwMode="auto">
            <a:xfrm flipH="1">
              <a:off x="712" y="2976"/>
              <a:ext cx="237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500" i="1">
                  <a:solidFill>
                    <a:srgbClr val="0033CC"/>
                  </a:solidFill>
                  <a:ea typeface="宋体" pitchFamily="2" charset="-122"/>
                  <a:sym typeface="Symbol" pitchFamily="18" charset="2"/>
                </a:rPr>
                <a:t>A</a:t>
              </a:r>
              <a:r>
                <a:rPr lang="en-US" altLang="zh-CN" sz="1500" baseline="-25000">
                  <a:solidFill>
                    <a:srgbClr val="0033CC"/>
                  </a:solidFill>
                  <a:ea typeface="宋体" pitchFamily="2" charset="-122"/>
                  <a:sym typeface="Symbol" pitchFamily="18" charset="2"/>
                </a:rPr>
                <a:t>1</a:t>
              </a:r>
            </a:p>
          </p:txBody>
        </p:sp>
        <p:graphicFrame>
          <p:nvGraphicFramePr>
            <p:cNvPr id="43120" name="Object 28"/>
            <p:cNvGraphicFramePr>
              <a:graphicFrameLocks noChangeAspect="1"/>
            </p:cNvGraphicFramePr>
            <p:nvPr/>
          </p:nvGraphicFramePr>
          <p:xfrm>
            <a:off x="748" y="3249"/>
            <a:ext cx="18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8" name="Equation" r:id="rId14" imgW="139579" imgH="177646" progId="Equation.DSMT4">
                    <p:embed/>
                  </p:oleObj>
                </mc:Choice>
                <mc:Fallback>
                  <p:oleObj name="Equation" r:id="rId14" imgW="139579" imgH="177646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" y="3249"/>
                          <a:ext cx="186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21" name="Object 29"/>
            <p:cNvGraphicFramePr>
              <a:graphicFrameLocks noChangeAspect="1"/>
            </p:cNvGraphicFramePr>
            <p:nvPr/>
          </p:nvGraphicFramePr>
          <p:xfrm>
            <a:off x="401" y="2587"/>
            <a:ext cx="211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39" name="Equation" r:id="rId16" imgW="190500" imgH="228600" progId="Equation.DSMT4">
                    <p:embed/>
                  </p:oleObj>
                </mc:Choice>
                <mc:Fallback>
                  <p:oleObj name="Equation" r:id="rId16" imgW="190500" imgH="228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" y="2587"/>
                          <a:ext cx="211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22" name="Object 30"/>
            <p:cNvGraphicFramePr>
              <a:graphicFrameLocks noChangeAspect="1"/>
            </p:cNvGraphicFramePr>
            <p:nvPr/>
          </p:nvGraphicFramePr>
          <p:xfrm>
            <a:off x="1746" y="2886"/>
            <a:ext cx="210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40" name="Equation" r:id="rId18" imgW="190500" imgH="228600" progId="Equation.DSMT4">
                    <p:embed/>
                  </p:oleObj>
                </mc:Choice>
                <mc:Fallback>
                  <p:oleObj name="Equation" r:id="rId18" imgW="190500" imgH="2286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2886"/>
                          <a:ext cx="210" cy="2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123" name="Object 31"/>
            <p:cNvGraphicFramePr>
              <a:graphicFrameLocks noChangeAspect="1"/>
            </p:cNvGraphicFramePr>
            <p:nvPr/>
          </p:nvGraphicFramePr>
          <p:xfrm>
            <a:off x="1972" y="2160"/>
            <a:ext cx="184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41" name="Equation" r:id="rId20" imgW="152334" imgH="139639" progId="Equation.DSMT4">
                    <p:embed/>
                  </p:oleObj>
                </mc:Choice>
                <mc:Fallback>
                  <p:oleObj name="Equation" r:id="rId20" imgW="152334" imgH="139639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2" y="2160"/>
                          <a:ext cx="184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53" name="Rectangle 33"/>
          <p:cNvSpPr>
            <a:spLocks noChangeArrowheads="1"/>
          </p:cNvSpPr>
          <p:nvPr/>
        </p:nvSpPr>
        <p:spPr bwMode="auto">
          <a:xfrm>
            <a:off x="7010400" y="2211388"/>
            <a:ext cx="1593850" cy="3698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800" dirty="0">
                <a:solidFill>
                  <a:srgbClr val="FF0000"/>
                </a:solidFill>
                <a:latin typeface="楷体_GB2312" pitchFamily="49" charset="-122"/>
                <a:ea typeface="华文中宋" pitchFamily="2" charset="-122"/>
              </a:rPr>
              <a:t>不是简谐振动</a:t>
            </a:r>
          </a:p>
        </p:txBody>
      </p:sp>
      <p:grpSp>
        <p:nvGrpSpPr>
          <p:cNvPr id="56463" name="Group 143"/>
          <p:cNvGrpSpPr>
            <a:grpSpLocks/>
          </p:cNvGrpSpPr>
          <p:nvPr/>
        </p:nvGrpSpPr>
        <p:grpSpPr bwMode="auto">
          <a:xfrm>
            <a:off x="4395788" y="2894013"/>
            <a:ext cx="3786187" cy="1693862"/>
            <a:chOff x="2653" y="2247"/>
            <a:chExt cx="2710" cy="1773"/>
          </a:xfrm>
        </p:grpSpPr>
        <p:cxnSp>
          <p:nvCxnSpPr>
            <p:cNvPr id="43021" name="直接连接符 106"/>
            <p:cNvCxnSpPr>
              <a:cxnSpLocks noChangeShapeType="1"/>
            </p:cNvCxnSpPr>
            <p:nvPr/>
          </p:nvCxnSpPr>
          <p:spPr bwMode="auto">
            <a:xfrm flipV="1">
              <a:off x="4892" y="2432"/>
              <a:ext cx="0" cy="126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2" name="直接连接符 107"/>
            <p:cNvCxnSpPr>
              <a:cxnSpLocks noChangeShapeType="1"/>
            </p:cNvCxnSpPr>
            <p:nvPr/>
          </p:nvCxnSpPr>
          <p:spPr bwMode="auto">
            <a:xfrm flipV="1">
              <a:off x="3211" y="2461"/>
              <a:ext cx="0" cy="123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3" name="直接连接符 108"/>
            <p:cNvCxnSpPr>
              <a:cxnSpLocks noChangeShapeType="1"/>
            </p:cNvCxnSpPr>
            <p:nvPr/>
          </p:nvCxnSpPr>
          <p:spPr bwMode="auto">
            <a:xfrm flipV="1">
              <a:off x="4050" y="2444"/>
              <a:ext cx="0" cy="125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4" name="直接箭头连接符 56"/>
            <p:cNvCxnSpPr>
              <a:cxnSpLocks noChangeShapeType="1"/>
            </p:cNvCxnSpPr>
            <p:nvPr/>
          </p:nvCxnSpPr>
          <p:spPr bwMode="auto">
            <a:xfrm>
              <a:off x="2860" y="2564"/>
              <a:ext cx="2333" cy="0"/>
            </a:xfrm>
            <a:prstGeom prst="straightConnector1">
              <a:avLst/>
            </a:prstGeom>
            <a:noFill/>
            <a:ln w="952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5" name="直接箭头连接符 57"/>
            <p:cNvCxnSpPr>
              <a:cxnSpLocks noChangeShapeType="1"/>
            </p:cNvCxnSpPr>
            <p:nvPr/>
          </p:nvCxnSpPr>
          <p:spPr bwMode="auto">
            <a:xfrm flipV="1">
              <a:off x="2853" y="2339"/>
              <a:ext cx="0" cy="442"/>
            </a:xfrm>
            <a:prstGeom prst="straightConnector1">
              <a:avLst/>
            </a:prstGeom>
            <a:noFill/>
            <a:ln w="952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26" name="TextBox 109"/>
            <p:cNvSpPr txBox="1">
              <a:spLocks noChangeArrowheads="1"/>
            </p:cNvSpPr>
            <p:nvPr/>
          </p:nvSpPr>
          <p:spPr bwMode="auto">
            <a:xfrm>
              <a:off x="2653" y="2247"/>
              <a:ext cx="24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x</a:t>
              </a:r>
              <a:r>
                <a:rPr kumimoji="0" lang="en-US" altLang="zh-CN" sz="1500" baseline="-25000">
                  <a:ea typeface="宋体" pitchFamily="2" charset="-122"/>
                </a:rPr>
                <a:t>1</a:t>
              </a:r>
            </a:p>
          </p:txBody>
        </p:sp>
        <p:sp>
          <p:nvSpPr>
            <p:cNvPr id="43027" name="TextBox 113"/>
            <p:cNvSpPr txBox="1">
              <a:spLocks noChangeArrowheads="1"/>
            </p:cNvSpPr>
            <p:nvPr/>
          </p:nvSpPr>
          <p:spPr bwMode="auto">
            <a:xfrm>
              <a:off x="5173" y="2437"/>
              <a:ext cx="17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t</a:t>
              </a:r>
              <a:endParaRPr kumimoji="0" lang="en-US" altLang="zh-CN" sz="1500" baseline="-25000">
                <a:ea typeface="宋体" pitchFamily="2" charset="-122"/>
              </a:endParaRPr>
            </a:p>
          </p:txBody>
        </p:sp>
        <p:cxnSp>
          <p:nvCxnSpPr>
            <p:cNvPr id="43028" name="直接箭头连接符 59"/>
            <p:cNvCxnSpPr>
              <a:cxnSpLocks noChangeShapeType="1"/>
            </p:cNvCxnSpPr>
            <p:nvPr/>
          </p:nvCxnSpPr>
          <p:spPr bwMode="auto">
            <a:xfrm>
              <a:off x="2857" y="3026"/>
              <a:ext cx="2352" cy="0"/>
            </a:xfrm>
            <a:prstGeom prst="straightConnector1">
              <a:avLst/>
            </a:prstGeom>
            <a:noFill/>
            <a:ln w="952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29" name="直接箭头连接符 60"/>
            <p:cNvCxnSpPr>
              <a:cxnSpLocks noChangeShapeType="1"/>
            </p:cNvCxnSpPr>
            <p:nvPr/>
          </p:nvCxnSpPr>
          <p:spPr bwMode="auto">
            <a:xfrm flipV="1">
              <a:off x="2857" y="2813"/>
              <a:ext cx="0" cy="442"/>
            </a:xfrm>
            <a:prstGeom prst="straightConnector1">
              <a:avLst/>
            </a:prstGeom>
            <a:noFill/>
            <a:ln w="952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30" name="TextBox 110"/>
            <p:cNvSpPr txBox="1">
              <a:spLocks noChangeArrowheads="1"/>
            </p:cNvSpPr>
            <p:nvPr/>
          </p:nvSpPr>
          <p:spPr bwMode="auto">
            <a:xfrm>
              <a:off x="2653" y="2704"/>
              <a:ext cx="247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x</a:t>
              </a:r>
              <a:r>
                <a:rPr kumimoji="0" lang="en-US" altLang="zh-CN" sz="1500" baseline="-25000">
                  <a:ea typeface="宋体" pitchFamily="2" charset="-122"/>
                </a:rPr>
                <a:t>2</a:t>
              </a:r>
            </a:p>
          </p:txBody>
        </p:sp>
        <p:sp>
          <p:nvSpPr>
            <p:cNvPr id="43031" name="TextBox 114"/>
            <p:cNvSpPr txBox="1">
              <a:spLocks noChangeArrowheads="1"/>
            </p:cNvSpPr>
            <p:nvPr/>
          </p:nvSpPr>
          <p:spPr bwMode="auto">
            <a:xfrm>
              <a:off x="5193" y="2889"/>
              <a:ext cx="17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t</a:t>
              </a:r>
              <a:endParaRPr kumimoji="0" lang="en-US" altLang="zh-CN" sz="1500" baseline="-25000">
                <a:ea typeface="宋体" pitchFamily="2" charset="-122"/>
              </a:endParaRPr>
            </a:p>
          </p:txBody>
        </p:sp>
        <p:cxnSp>
          <p:nvCxnSpPr>
            <p:cNvPr id="43032" name="直接箭头连接符 188"/>
            <p:cNvCxnSpPr>
              <a:cxnSpLocks noChangeShapeType="1"/>
            </p:cNvCxnSpPr>
            <p:nvPr/>
          </p:nvCxnSpPr>
          <p:spPr bwMode="auto">
            <a:xfrm>
              <a:off x="2861" y="3680"/>
              <a:ext cx="2351" cy="0"/>
            </a:xfrm>
            <a:prstGeom prst="straightConnector1">
              <a:avLst/>
            </a:prstGeom>
            <a:noFill/>
            <a:ln w="952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033" name="直接箭头连接符 189"/>
            <p:cNvCxnSpPr>
              <a:cxnSpLocks noChangeShapeType="1"/>
            </p:cNvCxnSpPr>
            <p:nvPr/>
          </p:nvCxnSpPr>
          <p:spPr bwMode="auto">
            <a:xfrm flipV="1">
              <a:off x="2861" y="3340"/>
              <a:ext cx="0" cy="680"/>
            </a:xfrm>
            <a:prstGeom prst="straightConnector1">
              <a:avLst/>
            </a:prstGeom>
            <a:noFill/>
            <a:ln w="9525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34" name="TextBox 190"/>
            <p:cNvSpPr txBox="1">
              <a:spLocks noChangeArrowheads="1"/>
            </p:cNvSpPr>
            <p:nvPr/>
          </p:nvSpPr>
          <p:spPr bwMode="auto">
            <a:xfrm>
              <a:off x="2699" y="3249"/>
              <a:ext cx="201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x</a:t>
              </a:r>
              <a:endParaRPr kumimoji="0" lang="en-US" altLang="zh-CN" sz="1500" baseline="-25000">
                <a:ea typeface="宋体" pitchFamily="2" charset="-122"/>
              </a:endParaRPr>
            </a:p>
          </p:txBody>
        </p:sp>
        <p:sp>
          <p:nvSpPr>
            <p:cNvPr id="43035" name="TextBox 192"/>
            <p:cNvSpPr txBox="1">
              <a:spLocks noChangeArrowheads="1"/>
            </p:cNvSpPr>
            <p:nvPr/>
          </p:nvSpPr>
          <p:spPr bwMode="auto">
            <a:xfrm>
              <a:off x="5173" y="3526"/>
              <a:ext cx="170" cy="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t</a:t>
              </a:r>
              <a:endParaRPr kumimoji="0" lang="en-US" altLang="zh-CN" sz="1500" baseline="-25000">
                <a:ea typeface="宋体" pitchFamily="2" charset="-122"/>
              </a:endParaRPr>
            </a:p>
          </p:txBody>
        </p:sp>
        <p:grpSp>
          <p:nvGrpSpPr>
            <p:cNvPr id="43036" name="组合 207"/>
            <p:cNvGrpSpPr>
              <a:grpSpLocks/>
            </p:cNvGrpSpPr>
            <p:nvPr/>
          </p:nvGrpSpPr>
          <p:grpSpPr bwMode="auto">
            <a:xfrm>
              <a:off x="2881" y="2443"/>
              <a:ext cx="362" cy="261"/>
              <a:chOff x="1513985" y="2637964"/>
              <a:chExt cx="5373973" cy="1590676"/>
            </a:xfrm>
          </p:grpSpPr>
          <p:sp>
            <p:nvSpPr>
              <p:cNvPr id="43103" name="Freeform 188"/>
              <p:cNvSpPr>
                <a:spLocks/>
              </p:cNvSpPr>
              <p:nvPr/>
            </p:nvSpPr>
            <p:spPr bwMode="auto">
              <a:xfrm>
                <a:off x="1513985" y="2637964"/>
                <a:ext cx="1789791" cy="1590676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4" name="Freeform 188"/>
              <p:cNvSpPr>
                <a:spLocks/>
              </p:cNvSpPr>
              <p:nvPr/>
            </p:nvSpPr>
            <p:spPr bwMode="auto">
              <a:xfrm>
                <a:off x="3297065" y="2637965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5" name="Freeform 188"/>
              <p:cNvSpPr>
                <a:spLocks/>
              </p:cNvSpPr>
              <p:nvPr/>
            </p:nvSpPr>
            <p:spPr bwMode="auto">
              <a:xfrm>
                <a:off x="5098167" y="2637965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7" name="组合 208"/>
            <p:cNvGrpSpPr>
              <a:grpSpLocks/>
            </p:cNvGrpSpPr>
            <p:nvPr/>
          </p:nvGrpSpPr>
          <p:grpSpPr bwMode="auto">
            <a:xfrm>
              <a:off x="3242" y="2442"/>
              <a:ext cx="362" cy="261"/>
              <a:chOff x="1513985" y="2613874"/>
              <a:chExt cx="5373973" cy="1590675"/>
            </a:xfrm>
          </p:grpSpPr>
          <p:sp>
            <p:nvSpPr>
              <p:cNvPr id="43100" name="Freeform 188"/>
              <p:cNvSpPr>
                <a:spLocks/>
              </p:cNvSpPr>
              <p:nvPr/>
            </p:nvSpPr>
            <p:spPr bwMode="auto">
              <a:xfrm>
                <a:off x="1513985" y="261387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1" name="Freeform 188"/>
              <p:cNvSpPr>
                <a:spLocks/>
              </p:cNvSpPr>
              <p:nvPr/>
            </p:nvSpPr>
            <p:spPr bwMode="auto">
              <a:xfrm>
                <a:off x="3297065" y="261387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02" name="Freeform 188"/>
              <p:cNvSpPr>
                <a:spLocks/>
              </p:cNvSpPr>
              <p:nvPr/>
            </p:nvSpPr>
            <p:spPr bwMode="auto">
              <a:xfrm>
                <a:off x="5098167" y="261387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8" name="组合 209"/>
            <p:cNvGrpSpPr>
              <a:grpSpLocks/>
            </p:cNvGrpSpPr>
            <p:nvPr/>
          </p:nvGrpSpPr>
          <p:grpSpPr bwMode="auto">
            <a:xfrm>
              <a:off x="3604" y="2443"/>
              <a:ext cx="359" cy="261"/>
              <a:chOff x="1513985" y="2613874"/>
              <a:chExt cx="5327303" cy="1590675"/>
            </a:xfrm>
          </p:grpSpPr>
          <p:sp>
            <p:nvSpPr>
              <p:cNvPr id="43097" name="Freeform 188"/>
              <p:cNvSpPr>
                <a:spLocks/>
              </p:cNvSpPr>
              <p:nvPr/>
            </p:nvSpPr>
            <p:spPr bwMode="auto">
              <a:xfrm>
                <a:off x="1513985" y="261387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8" name="Freeform 188"/>
              <p:cNvSpPr>
                <a:spLocks/>
              </p:cNvSpPr>
              <p:nvPr/>
            </p:nvSpPr>
            <p:spPr bwMode="auto">
              <a:xfrm>
                <a:off x="3297063" y="261387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9" name="Freeform 188"/>
              <p:cNvSpPr>
                <a:spLocks/>
              </p:cNvSpPr>
              <p:nvPr/>
            </p:nvSpPr>
            <p:spPr bwMode="auto">
              <a:xfrm>
                <a:off x="5051493" y="261387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39" name="组合 210"/>
            <p:cNvGrpSpPr>
              <a:grpSpLocks/>
            </p:cNvGrpSpPr>
            <p:nvPr/>
          </p:nvGrpSpPr>
          <p:grpSpPr bwMode="auto">
            <a:xfrm>
              <a:off x="3963" y="2442"/>
              <a:ext cx="358" cy="261"/>
              <a:chOff x="1467315" y="2589784"/>
              <a:chExt cx="5327302" cy="1590675"/>
            </a:xfrm>
          </p:grpSpPr>
          <p:sp>
            <p:nvSpPr>
              <p:cNvPr id="43094" name="Freeform 188"/>
              <p:cNvSpPr>
                <a:spLocks/>
              </p:cNvSpPr>
              <p:nvPr/>
            </p:nvSpPr>
            <p:spPr bwMode="auto">
              <a:xfrm>
                <a:off x="1467315" y="258978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5" name="Freeform 188"/>
              <p:cNvSpPr>
                <a:spLocks/>
              </p:cNvSpPr>
              <p:nvPr/>
            </p:nvSpPr>
            <p:spPr bwMode="auto">
              <a:xfrm>
                <a:off x="3250395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6" name="Freeform 188"/>
              <p:cNvSpPr>
                <a:spLocks/>
              </p:cNvSpPr>
              <p:nvPr/>
            </p:nvSpPr>
            <p:spPr bwMode="auto">
              <a:xfrm>
                <a:off x="5004826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40" name="组合 211"/>
            <p:cNvGrpSpPr>
              <a:grpSpLocks/>
            </p:cNvGrpSpPr>
            <p:nvPr/>
          </p:nvGrpSpPr>
          <p:grpSpPr bwMode="auto">
            <a:xfrm>
              <a:off x="4321" y="2442"/>
              <a:ext cx="358" cy="261"/>
              <a:chOff x="1467315" y="2589784"/>
              <a:chExt cx="5327302" cy="1590675"/>
            </a:xfrm>
          </p:grpSpPr>
          <p:sp>
            <p:nvSpPr>
              <p:cNvPr id="43091" name="Freeform 188"/>
              <p:cNvSpPr>
                <a:spLocks/>
              </p:cNvSpPr>
              <p:nvPr/>
            </p:nvSpPr>
            <p:spPr bwMode="auto">
              <a:xfrm>
                <a:off x="1467315" y="258978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2" name="Freeform 188"/>
              <p:cNvSpPr>
                <a:spLocks/>
              </p:cNvSpPr>
              <p:nvPr/>
            </p:nvSpPr>
            <p:spPr bwMode="auto">
              <a:xfrm>
                <a:off x="3250395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3" name="Freeform 188"/>
              <p:cNvSpPr>
                <a:spLocks/>
              </p:cNvSpPr>
              <p:nvPr/>
            </p:nvSpPr>
            <p:spPr bwMode="auto">
              <a:xfrm>
                <a:off x="5004826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41" name="组合 212"/>
            <p:cNvGrpSpPr>
              <a:grpSpLocks/>
            </p:cNvGrpSpPr>
            <p:nvPr/>
          </p:nvGrpSpPr>
          <p:grpSpPr bwMode="auto">
            <a:xfrm>
              <a:off x="4679" y="2442"/>
              <a:ext cx="366" cy="261"/>
              <a:chOff x="1467315" y="2589784"/>
              <a:chExt cx="5440617" cy="1590675"/>
            </a:xfrm>
          </p:grpSpPr>
          <p:sp>
            <p:nvSpPr>
              <p:cNvPr id="43088" name="Freeform 188"/>
              <p:cNvSpPr>
                <a:spLocks/>
              </p:cNvSpPr>
              <p:nvPr/>
            </p:nvSpPr>
            <p:spPr bwMode="auto">
              <a:xfrm>
                <a:off x="1467315" y="258978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9" name="Freeform 188"/>
              <p:cNvSpPr>
                <a:spLocks/>
              </p:cNvSpPr>
              <p:nvPr/>
            </p:nvSpPr>
            <p:spPr bwMode="auto">
              <a:xfrm>
                <a:off x="3307054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90" name="Freeform 188"/>
              <p:cNvSpPr>
                <a:spLocks/>
              </p:cNvSpPr>
              <p:nvPr/>
            </p:nvSpPr>
            <p:spPr bwMode="auto">
              <a:xfrm>
                <a:off x="5118141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42" name="Freeform 188"/>
            <p:cNvSpPr>
              <a:spLocks/>
            </p:cNvSpPr>
            <p:nvPr/>
          </p:nvSpPr>
          <p:spPr bwMode="auto">
            <a:xfrm>
              <a:off x="2899" y="2901"/>
              <a:ext cx="140" cy="260"/>
            </a:xfrm>
            <a:custGeom>
              <a:avLst/>
              <a:gdLst>
                <a:gd name="T0" fmla="*/ 0 w 10000"/>
                <a:gd name="T1" fmla="*/ 1451699 h 10000"/>
                <a:gd name="T2" fmla="*/ 420907 w 10000"/>
                <a:gd name="T3" fmla="*/ 0 h 10000"/>
                <a:gd name="T4" fmla="*/ 420907 w 10000"/>
                <a:gd name="T5" fmla="*/ 1451699 h 10000"/>
                <a:gd name="T6" fmla="*/ 420907 w 10000"/>
                <a:gd name="T7" fmla="*/ 1451699 h 10000"/>
                <a:gd name="T8" fmla="*/ 420907 w 10000"/>
                <a:gd name="T9" fmla="*/ 1451699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43" name="组合 237"/>
            <p:cNvGrpSpPr>
              <a:grpSpLocks/>
            </p:cNvGrpSpPr>
            <p:nvPr/>
          </p:nvGrpSpPr>
          <p:grpSpPr bwMode="auto">
            <a:xfrm>
              <a:off x="3039" y="2900"/>
              <a:ext cx="420" cy="260"/>
              <a:chOff x="1465713" y="2613874"/>
              <a:chExt cx="5373973" cy="1590675"/>
            </a:xfrm>
          </p:grpSpPr>
          <p:sp>
            <p:nvSpPr>
              <p:cNvPr id="43085" name="Freeform 188"/>
              <p:cNvSpPr>
                <a:spLocks/>
              </p:cNvSpPr>
              <p:nvPr/>
            </p:nvSpPr>
            <p:spPr bwMode="auto">
              <a:xfrm>
                <a:off x="1465713" y="2613874"/>
                <a:ext cx="1789793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6" name="Freeform 188"/>
              <p:cNvSpPr>
                <a:spLocks/>
              </p:cNvSpPr>
              <p:nvPr/>
            </p:nvSpPr>
            <p:spPr bwMode="auto">
              <a:xfrm>
                <a:off x="3248791" y="2613874"/>
                <a:ext cx="1789793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7" name="Freeform 188"/>
              <p:cNvSpPr>
                <a:spLocks/>
              </p:cNvSpPr>
              <p:nvPr/>
            </p:nvSpPr>
            <p:spPr bwMode="auto">
              <a:xfrm>
                <a:off x="5049893" y="2613874"/>
                <a:ext cx="1789793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44" name="组合 238"/>
            <p:cNvGrpSpPr>
              <a:grpSpLocks/>
            </p:cNvGrpSpPr>
            <p:nvPr/>
          </p:nvGrpSpPr>
          <p:grpSpPr bwMode="auto">
            <a:xfrm>
              <a:off x="3459" y="2901"/>
              <a:ext cx="420" cy="260"/>
              <a:chOff x="1465713" y="2613874"/>
              <a:chExt cx="5375575" cy="1590675"/>
            </a:xfrm>
          </p:grpSpPr>
          <p:sp>
            <p:nvSpPr>
              <p:cNvPr id="43082" name="Freeform 188"/>
              <p:cNvSpPr>
                <a:spLocks/>
              </p:cNvSpPr>
              <p:nvPr/>
            </p:nvSpPr>
            <p:spPr bwMode="auto">
              <a:xfrm>
                <a:off x="1465713" y="2613874"/>
                <a:ext cx="1789792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3" name="Freeform 188"/>
              <p:cNvSpPr>
                <a:spLocks/>
              </p:cNvSpPr>
              <p:nvPr/>
            </p:nvSpPr>
            <p:spPr bwMode="auto">
              <a:xfrm>
                <a:off x="3248790" y="2613874"/>
                <a:ext cx="1789792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4" name="Freeform 188"/>
              <p:cNvSpPr>
                <a:spLocks/>
              </p:cNvSpPr>
              <p:nvPr/>
            </p:nvSpPr>
            <p:spPr bwMode="auto">
              <a:xfrm>
                <a:off x="5051493" y="261387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45" name="组合 239"/>
            <p:cNvGrpSpPr>
              <a:grpSpLocks/>
            </p:cNvGrpSpPr>
            <p:nvPr/>
          </p:nvGrpSpPr>
          <p:grpSpPr bwMode="auto">
            <a:xfrm>
              <a:off x="3879" y="2900"/>
              <a:ext cx="420" cy="260"/>
              <a:chOff x="1467315" y="2589784"/>
              <a:chExt cx="5375574" cy="1590675"/>
            </a:xfrm>
          </p:grpSpPr>
          <p:sp>
            <p:nvSpPr>
              <p:cNvPr id="43079" name="Freeform 188"/>
              <p:cNvSpPr>
                <a:spLocks/>
              </p:cNvSpPr>
              <p:nvPr/>
            </p:nvSpPr>
            <p:spPr bwMode="auto">
              <a:xfrm>
                <a:off x="1467315" y="2589784"/>
                <a:ext cx="1789795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0" name="Freeform 188"/>
              <p:cNvSpPr>
                <a:spLocks/>
              </p:cNvSpPr>
              <p:nvPr/>
            </p:nvSpPr>
            <p:spPr bwMode="auto">
              <a:xfrm>
                <a:off x="3250395" y="2589784"/>
                <a:ext cx="1789791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81" name="Freeform 188"/>
              <p:cNvSpPr>
                <a:spLocks/>
              </p:cNvSpPr>
              <p:nvPr/>
            </p:nvSpPr>
            <p:spPr bwMode="auto">
              <a:xfrm>
                <a:off x="5053097" y="2589784"/>
                <a:ext cx="1789792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46" name="组合 240"/>
            <p:cNvGrpSpPr>
              <a:grpSpLocks/>
            </p:cNvGrpSpPr>
            <p:nvPr/>
          </p:nvGrpSpPr>
          <p:grpSpPr bwMode="auto">
            <a:xfrm>
              <a:off x="4299" y="2900"/>
              <a:ext cx="420" cy="260"/>
              <a:chOff x="1515587" y="2589784"/>
              <a:chExt cx="5375574" cy="1590675"/>
            </a:xfrm>
          </p:grpSpPr>
          <p:sp>
            <p:nvSpPr>
              <p:cNvPr id="43076" name="Freeform 188"/>
              <p:cNvSpPr>
                <a:spLocks/>
              </p:cNvSpPr>
              <p:nvPr/>
            </p:nvSpPr>
            <p:spPr bwMode="auto">
              <a:xfrm>
                <a:off x="1515587" y="2589784"/>
                <a:ext cx="1789797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7" name="Freeform 188"/>
              <p:cNvSpPr>
                <a:spLocks/>
              </p:cNvSpPr>
              <p:nvPr/>
            </p:nvSpPr>
            <p:spPr bwMode="auto">
              <a:xfrm>
                <a:off x="3298666" y="2589784"/>
                <a:ext cx="1789789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8" name="Freeform 188"/>
              <p:cNvSpPr>
                <a:spLocks/>
              </p:cNvSpPr>
              <p:nvPr/>
            </p:nvSpPr>
            <p:spPr bwMode="auto">
              <a:xfrm>
                <a:off x="5101374" y="2589784"/>
                <a:ext cx="1789787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47" name="组合 241"/>
            <p:cNvGrpSpPr>
              <a:grpSpLocks/>
            </p:cNvGrpSpPr>
            <p:nvPr/>
          </p:nvGrpSpPr>
          <p:grpSpPr bwMode="auto">
            <a:xfrm>
              <a:off x="4718" y="2900"/>
              <a:ext cx="422" cy="260"/>
              <a:chOff x="1563859" y="2589784"/>
              <a:chExt cx="5392710" cy="1590675"/>
            </a:xfrm>
          </p:grpSpPr>
          <p:sp>
            <p:nvSpPr>
              <p:cNvPr id="43073" name="Freeform 188"/>
              <p:cNvSpPr>
                <a:spLocks/>
              </p:cNvSpPr>
              <p:nvPr/>
            </p:nvSpPr>
            <p:spPr bwMode="auto">
              <a:xfrm>
                <a:off x="1563859" y="2589784"/>
                <a:ext cx="1789797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4" name="Freeform 188"/>
              <p:cNvSpPr>
                <a:spLocks/>
              </p:cNvSpPr>
              <p:nvPr/>
            </p:nvSpPr>
            <p:spPr bwMode="auto">
              <a:xfrm>
                <a:off x="3355326" y="2589784"/>
                <a:ext cx="1789788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5" name="Freeform 188"/>
              <p:cNvSpPr>
                <a:spLocks/>
              </p:cNvSpPr>
              <p:nvPr/>
            </p:nvSpPr>
            <p:spPr bwMode="auto">
              <a:xfrm>
                <a:off x="5166779" y="2589784"/>
                <a:ext cx="1789790" cy="1590675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48" name="Freeform 188"/>
            <p:cNvSpPr>
              <a:spLocks/>
            </p:cNvSpPr>
            <p:nvPr/>
          </p:nvSpPr>
          <p:spPr bwMode="auto">
            <a:xfrm>
              <a:off x="4440" y="3352"/>
              <a:ext cx="140" cy="636"/>
            </a:xfrm>
            <a:custGeom>
              <a:avLst/>
              <a:gdLst>
                <a:gd name="T0" fmla="*/ 0 w 10000"/>
                <a:gd name="T1" fmla="*/ 8686485 h 10000"/>
                <a:gd name="T2" fmla="*/ 420907 w 10000"/>
                <a:gd name="T3" fmla="*/ 0 h 10000"/>
                <a:gd name="T4" fmla="*/ 420907 w 10000"/>
                <a:gd name="T5" fmla="*/ 8686485 h 10000"/>
                <a:gd name="T6" fmla="*/ 420907 w 10000"/>
                <a:gd name="T7" fmla="*/ 8686485 h 10000"/>
                <a:gd name="T8" fmla="*/ 420907 w 10000"/>
                <a:gd name="T9" fmla="*/ 8686485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424"/>
                    <a:pt x="10000" y="4441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9" name="Freeform 188"/>
            <p:cNvSpPr>
              <a:spLocks/>
            </p:cNvSpPr>
            <p:nvPr/>
          </p:nvSpPr>
          <p:spPr bwMode="auto">
            <a:xfrm>
              <a:off x="3212" y="3352"/>
              <a:ext cx="1680" cy="656"/>
            </a:xfrm>
            <a:custGeom>
              <a:avLst/>
              <a:gdLst>
                <a:gd name="T0" fmla="*/ 0 w 10000"/>
                <a:gd name="T1" fmla="*/ 9241395 h 10000"/>
                <a:gd name="T2" fmla="*/ 60610579 w 10000"/>
                <a:gd name="T3" fmla="*/ 0 h 10000"/>
                <a:gd name="T4" fmla="*/ 60610579 w 10000"/>
                <a:gd name="T5" fmla="*/ 9241395 h 10000"/>
                <a:gd name="T6" fmla="*/ 60610579 w 10000"/>
                <a:gd name="T7" fmla="*/ 9241395 h 10000"/>
                <a:gd name="T8" fmla="*/ 60610579 w 10000"/>
                <a:gd name="T9" fmla="*/ 9241395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Freeform 188"/>
            <p:cNvSpPr>
              <a:spLocks/>
            </p:cNvSpPr>
            <p:nvPr/>
          </p:nvSpPr>
          <p:spPr bwMode="auto">
            <a:xfrm flipH="1">
              <a:off x="3212" y="3348"/>
              <a:ext cx="1680" cy="656"/>
            </a:xfrm>
            <a:custGeom>
              <a:avLst/>
              <a:gdLst>
                <a:gd name="T0" fmla="*/ 0 w 10000"/>
                <a:gd name="T1" fmla="*/ 9241395 h 10000"/>
                <a:gd name="T2" fmla="*/ 60610579 w 10000"/>
                <a:gd name="T3" fmla="*/ 0 h 10000"/>
                <a:gd name="T4" fmla="*/ 60610579 w 10000"/>
                <a:gd name="T5" fmla="*/ 9241395 h 10000"/>
                <a:gd name="T6" fmla="*/ 60610579 w 10000"/>
                <a:gd name="T7" fmla="*/ 9241395 h 10000"/>
                <a:gd name="T8" fmla="*/ 60610579 w 10000"/>
                <a:gd name="T9" fmla="*/ 9241395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1" name="Freeform 188"/>
            <p:cNvSpPr>
              <a:spLocks/>
            </p:cNvSpPr>
            <p:nvPr/>
          </p:nvSpPr>
          <p:spPr bwMode="auto">
            <a:xfrm>
              <a:off x="2898" y="3411"/>
              <a:ext cx="140" cy="506"/>
            </a:xfrm>
            <a:custGeom>
              <a:avLst/>
              <a:gdLst>
                <a:gd name="T0" fmla="*/ 0 w 10000"/>
                <a:gd name="T1" fmla="*/ 5498331 h 10000"/>
                <a:gd name="T2" fmla="*/ 420907 w 10000"/>
                <a:gd name="T3" fmla="*/ 0 h 10000"/>
                <a:gd name="T4" fmla="*/ 420907 w 10000"/>
                <a:gd name="T5" fmla="*/ 5498331 h 10000"/>
                <a:gd name="T6" fmla="*/ 420907 w 10000"/>
                <a:gd name="T7" fmla="*/ 5498331 h 10000"/>
                <a:gd name="T8" fmla="*/ 420907 w 10000"/>
                <a:gd name="T9" fmla="*/ 5498331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52" name="组合 261"/>
            <p:cNvGrpSpPr>
              <a:grpSpLocks/>
            </p:cNvGrpSpPr>
            <p:nvPr/>
          </p:nvGrpSpPr>
          <p:grpSpPr bwMode="auto">
            <a:xfrm>
              <a:off x="3037" y="3522"/>
              <a:ext cx="426" cy="383"/>
              <a:chOff x="1465708" y="2421133"/>
              <a:chExt cx="5422557" cy="2337491"/>
            </a:xfrm>
          </p:grpSpPr>
          <p:sp>
            <p:nvSpPr>
              <p:cNvPr id="43070" name="Freeform 188"/>
              <p:cNvSpPr>
                <a:spLocks/>
              </p:cNvSpPr>
              <p:nvPr/>
            </p:nvSpPr>
            <p:spPr bwMode="auto">
              <a:xfrm>
                <a:off x="1465708" y="2421133"/>
                <a:ext cx="1741106" cy="1470242"/>
              </a:xfrm>
              <a:custGeom>
                <a:avLst/>
                <a:gdLst>
                  <a:gd name="T0" fmla="*/ 0 w 9728"/>
                  <a:gd name="T1" fmla="*/ 2147483647 h 10005"/>
                  <a:gd name="T2" fmla="*/ 2147483647 w 9728"/>
                  <a:gd name="T3" fmla="*/ 2147483647 h 10005"/>
                  <a:gd name="T4" fmla="*/ 2147483647 w 9728"/>
                  <a:gd name="T5" fmla="*/ 2147483647 h 10005"/>
                  <a:gd name="T6" fmla="*/ 2147483647 w 9728"/>
                  <a:gd name="T7" fmla="*/ 2147483647 h 10005"/>
                  <a:gd name="T8" fmla="*/ 2147483647 w 9728"/>
                  <a:gd name="T9" fmla="*/ 2147483647 h 100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728"/>
                  <a:gd name="T16" fmla="*/ 0 h 10005"/>
                  <a:gd name="T17" fmla="*/ 9728 w 9728"/>
                  <a:gd name="T18" fmla="*/ 10005 h 100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728" h="10005">
                    <a:moveTo>
                      <a:pt x="0" y="5989"/>
                    </a:moveTo>
                    <a:cubicBezTo>
                      <a:pt x="833" y="3489"/>
                      <a:pt x="1667" y="169"/>
                      <a:pt x="2500" y="5"/>
                    </a:cubicBezTo>
                    <a:cubicBezTo>
                      <a:pt x="3333" y="-159"/>
                      <a:pt x="4465" y="3486"/>
                      <a:pt x="5000" y="5005"/>
                    </a:cubicBezTo>
                    <a:cubicBezTo>
                      <a:pt x="5535" y="6524"/>
                      <a:pt x="6718" y="10062"/>
                      <a:pt x="7500" y="10005"/>
                    </a:cubicBezTo>
                    <a:cubicBezTo>
                      <a:pt x="8486" y="10005"/>
                      <a:pt x="9107" y="7808"/>
                      <a:pt x="9728" y="5825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1" name="Freeform 188"/>
              <p:cNvSpPr>
                <a:spLocks/>
              </p:cNvSpPr>
              <p:nvPr/>
            </p:nvSpPr>
            <p:spPr bwMode="auto">
              <a:xfrm>
                <a:off x="3248791" y="3142249"/>
                <a:ext cx="1887011" cy="749126"/>
              </a:xfrm>
              <a:custGeom>
                <a:avLst/>
                <a:gdLst>
                  <a:gd name="T0" fmla="*/ 0 w 10838"/>
                  <a:gd name="T1" fmla="*/ 2147483647 h 10000"/>
                  <a:gd name="T2" fmla="*/ 2147483647 w 10838"/>
                  <a:gd name="T3" fmla="*/ 2147483647 h 10000"/>
                  <a:gd name="T4" fmla="*/ 2147483647 w 10838"/>
                  <a:gd name="T5" fmla="*/ 2147483647 h 10000"/>
                  <a:gd name="T6" fmla="*/ 2147483647 w 10838"/>
                  <a:gd name="T7" fmla="*/ 2147483647 h 10000"/>
                  <a:gd name="T8" fmla="*/ 2147483647 w 10838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38"/>
                  <a:gd name="T16" fmla="*/ 0 h 10000"/>
                  <a:gd name="T17" fmla="*/ 10838 w 10838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38" h="10000">
                    <a:moveTo>
                      <a:pt x="0" y="1473"/>
                    </a:moveTo>
                    <a:cubicBezTo>
                      <a:pt x="856" y="-2790"/>
                      <a:pt x="1714" y="3559"/>
                      <a:pt x="2570" y="3559"/>
                    </a:cubicBezTo>
                    <a:cubicBezTo>
                      <a:pt x="3426" y="3559"/>
                      <a:pt x="4284" y="401"/>
                      <a:pt x="5140" y="1473"/>
                    </a:cubicBezTo>
                    <a:cubicBezTo>
                      <a:pt x="5996" y="2548"/>
                      <a:pt x="6906" y="10097"/>
                      <a:pt x="7710" y="10000"/>
                    </a:cubicBezTo>
                    <a:cubicBezTo>
                      <a:pt x="8723" y="10000"/>
                      <a:pt x="10200" y="6785"/>
                      <a:pt x="10838" y="3403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72" name="Freeform 188"/>
              <p:cNvSpPr>
                <a:spLocks/>
              </p:cNvSpPr>
              <p:nvPr/>
            </p:nvSpPr>
            <p:spPr bwMode="auto">
              <a:xfrm>
                <a:off x="5147084" y="2490514"/>
                <a:ext cx="1741181" cy="2268110"/>
              </a:xfrm>
              <a:custGeom>
                <a:avLst/>
                <a:gdLst>
                  <a:gd name="T0" fmla="*/ 0 w 10287"/>
                  <a:gd name="T1" fmla="*/ 2147483647 h 10000"/>
                  <a:gd name="T2" fmla="*/ 2147483647 w 10287"/>
                  <a:gd name="T3" fmla="*/ 2147483647 h 10000"/>
                  <a:gd name="T4" fmla="*/ 2147483647 w 10287"/>
                  <a:gd name="T5" fmla="*/ 2147483647 h 10000"/>
                  <a:gd name="T6" fmla="*/ 2147483647 w 10287"/>
                  <a:gd name="T7" fmla="*/ 2147483647 h 10000"/>
                  <a:gd name="T8" fmla="*/ 2147483647 w 10287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87"/>
                  <a:gd name="T16" fmla="*/ 0 h 10000"/>
                  <a:gd name="T17" fmla="*/ 10287 w 10287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87" h="10000">
                    <a:moveTo>
                      <a:pt x="0" y="3840"/>
                    </a:moveTo>
                    <a:cubicBezTo>
                      <a:pt x="881" y="1344"/>
                      <a:pt x="1284" y="-179"/>
                      <a:pt x="2069" y="16"/>
                    </a:cubicBezTo>
                    <a:cubicBezTo>
                      <a:pt x="2855" y="211"/>
                      <a:pt x="4147" y="3491"/>
                      <a:pt x="4713" y="5008"/>
                    </a:cubicBezTo>
                    <a:cubicBezTo>
                      <a:pt x="5279" y="6525"/>
                      <a:pt x="6530" y="10057"/>
                      <a:pt x="7356" y="10000"/>
                    </a:cubicBezTo>
                    <a:cubicBezTo>
                      <a:pt x="8399" y="10000"/>
                      <a:pt x="9630" y="6032"/>
                      <a:pt x="10287" y="4052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53" name="Freeform 188"/>
            <p:cNvSpPr>
              <a:spLocks/>
            </p:cNvSpPr>
            <p:nvPr/>
          </p:nvSpPr>
          <p:spPr bwMode="auto">
            <a:xfrm>
              <a:off x="3459" y="3407"/>
              <a:ext cx="140" cy="585"/>
            </a:xfrm>
            <a:custGeom>
              <a:avLst/>
              <a:gdLst>
                <a:gd name="T0" fmla="*/ 0 w 10000"/>
                <a:gd name="T1" fmla="*/ 7349226 h 10000"/>
                <a:gd name="T2" fmla="*/ 420907 w 10000"/>
                <a:gd name="T3" fmla="*/ 0 h 10000"/>
                <a:gd name="T4" fmla="*/ 420907 w 10000"/>
                <a:gd name="T5" fmla="*/ 7349226 h 10000"/>
                <a:gd name="T6" fmla="*/ 420907 w 10000"/>
                <a:gd name="T7" fmla="*/ 7349226 h 10000"/>
                <a:gd name="T8" fmla="*/ 420907 w 10000"/>
                <a:gd name="T9" fmla="*/ 7349226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780"/>
                    <a:pt x="10000" y="4797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4" name="Freeform 188"/>
            <p:cNvSpPr>
              <a:spLocks/>
            </p:cNvSpPr>
            <p:nvPr/>
          </p:nvSpPr>
          <p:spPr bwMode="auto">
            <a:xfrm>
              <a:off x="3599" y="3360"/>
              <a:ext cx="144" cy="624"/>
            </a:xfrm>
            <a:custGeom>
              <a:avLst/>
              <a:gdLst>
                <a:gd name="T0" fmla="*/ 0 w 10272"/>
                <a:gd name="T1" fmla="*/ 8361786 h 10000"/>
                <a:gd name="T2" fmla="*/ 422031 w 10272"/>
                <a:gd name="T3" fmla="*/ 0 h 10000"/>
                <a:gd name="T4" fmla="*/ 422031 w 10272"/>
                <a:gd name="T5" fmla="*/ 8361786 h 10000"/>
                <a:gd name="T6" fmla="*/ 422031 w 10272"/>
                <a:gd name="T7" fmla="*/ 8361786 h 10000"/>
                <a:gd name="T8" fmla="*/ 422031 w 10272"/>
                <a:gd name="T9" fmla="*/ 8361786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2"/>
                <a:gd name="T16" fmla="*/ 0 h 10000"/>
                <a:gd name="T17" fmla="*/ 10272 w 10272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2" h="10000">
                  <a:moveTo>
                    <a:pt x="0" y="5190"/>
                  </a:moveTo>
                  <a:cubicBezTo>
                    <a:pt x="833" y="2690"/>
                    <a:pt x="1667" y="32"/>
                    <a:pt x="2500" y="0"/>
                  </a:cubicBezTo>
                  <a:cubicBezTo>
                    <a:pt x="3333" y="-32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651" y="6414"/>
                    <a:pt x="10272" y="4431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5" name="Freeform 188"/>
            <p:cNvSpPr>
              <a:spLocks/>
            </p:cNvSpPr>
            <p:nvPr/>
          </p:nvSpPr>
          <p:spPr bwMode="auto">
            <a:xfrm>
              <a:off x="3740" y="3420"/>
              <a:ext cx="141" cy="466"/>
            </a:xfrm>
            <a:custGeom>
              <a:avLst/>
              <a:gdLst>
                <a:gd name="T0" fmla="*/ 0 w 10000"/>
                <a:gd name="T1" fmla="*/ 4663390 h 10000"/>
                <a:gd name="T2" fmla="*/ 426941 w 10000"/>
                <a:gd name="T3" fmla="*/ 0 h 10000"/>
                <a:gd name="T4" fmla="*/ 426941 w 10000"/>
                <a:gd name="T5" fmla="*/ 4663390 h 10000"/>
                <a:gd name="T6" fmla="*/ 426941 w 10000"/>
                <a:gd name="T7" fmla="*/ 4663390 h 10000"/>
                <a:gd name="T8" fmla="*/ 426941 w 10000"/>
                <a:gd name="T9" fmla="*/ 466339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644"/>
                    <a:pt x="10000" y="4661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56" name="组合 268"/>
            <p:cNvGrpSpPr>
              <a:grpSpLocks/>
            </p:cNvGrpSpPr>
            <p:nvPr/>
          </p:nvGrpSpPr>
          <p:grpSpPr bwMode="auto">
            <a:xfrm>
              <a:off x="3880" y="3534"/>
              <a:ext cx="421" cy="363"/>
              <a:chOff x="1467315" y="2468716"/>
              <a:chExt cx="5375574" cy="2217637"/>
            </a:xfrm>
          </p:grpSpPr>
          <p:sp>
            <p:nvSpPr>
              <p:cNvPr id="43067" name="Freeform 188"/>
              <p:cNvSpPr>
                <a:spLocks/>
              </p:cNvSpPr>
              <p:nvPr/>
            </p:nvSpPr>
            <p:spPr bwMode="auto">
              <a:xfrm>
                <a:off x="1467315" y="2518229"/>
                <a:ext cx="1789796" cy="1276784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8" name="Freeform 188"/>
              <p:cNvSpPr>
                <a:spLocks/>
              </p:cNvSpPr>
              <p:nvPr/>
            </p:nvSpPr>
            <p:spPr bwMode="auto">
              <a:xfrm>
                <a:off x="3250393" y="3102778"/>
                <a:ext cx="1838475" cy="716326"/>
              </a:xfrm>
              <a:custGeom>
                <a:avLst/>
                <a:gdLst>
                  <a:gd name="T0" fmla="*/ 0 w 10272"/>
                  <a:gd name="T1" fmla="*/ 2147483647 h 5827"/>
                  <a:gd name="T2" fmla="*/ 2147483647 w 10272"/>
                  <a:gd name="T3" fmla="*/ 2147483647 h 5827"/>
                  <a:gd name="T4" fmla="*/ 2147483647 w 10272"/>
                  <a:gd name="T5" fmla="*/ 2147483647 h 5827"/>
                  <a:gd name="T6" fmla="*/ 2147483647 w 10272"/>
                  <a:gd name="T7" fmla="*/ 2147483647 h 5827"/>
                  <a:gd name="T8" fmla="*/ 2147483647 w 10272"/>
                  <a:gd name="T9" fmla="*/ 2147483647 h 58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72"/>
                  <a:gd name="T16" fmla="*/ 0 h 5827"/>
                  <a:gd name="T17" fmla="*/ 10272 w 10272"/>
                  <a:gd name="T18" fmla="*/ 5827 h 58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72" h="5827">
                    <a:moveTo>
                      <a:pt x="0" y="827"/>
                    </a:moveTo>
                    <a:cubicBezTo>
                      <a:pt x="833" y="-1673"/>
                      <a:pt x="1667" y="2294"/>
                      <a:pt x="2500" y="2294"/>
                    </a:cubicBezTo>
                    <a:cubicBezTo>
                      <a:pt x="3333" y="2294"/>
                      <a:pt x="4167" y="238"/>
                      <a:pt x="5000" y="827"/>
                    </a:cubicBezTo>
                    <a:cubicBezTo>
                      <a:pt x="5833" y="1416"/>
                      <a:pt x="6718" y="5884"/>
                      <a:pt x="7500" y="5827"/>
                    </a:cubicBezTo>
                    <a:cubicBezTo>
                      <a:pt x="8486" y="5827"/>
                      <a:pt x="9651" y="3986"/>
                      <a:pt x="10272" y="2003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9" name="Freeform 188"/>
              <p:cNvSpPr>
                <a:spLocks/>
              </p:cNvSpPr>
              <p:nvPr/>
            </p:nvSpPr>
            <p:spPr bwMode="auto">
              <a:xfrm>
                <a:off x="5150287" y="2468716"/>
                <a:ext cx="1692602" cy="2217637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2147483647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4242"/>
                    </a:moveTo>
                    <a:cubicBezTo>
                      <a:pt x="881" y="1744"/>
                      <a:pt x="1284" y="-121"/>
                      <a:pt x="2069" y="6"/>
                    </a:cubicBezTo>
                    <a:cubicBezTo>
                      <a:pt x="2855" y="133"/>
                      <a:pt x="4147" y="3485"/>
                      <a:pt x="4713" y="5003"/>
                    </a:cubicBezTo>
                    <a:cubicBezTo>
                      <a:pt x="5279" y="6521"/>
                      <a:pt x="6530" y="10057"/>
                      <a:pt x="7356" y="10000"/>
                    </a:cubicBezTo>
                    <a:cubicBezTo>
                      <a:pt x="8399" y="10000"/>
                      <a:pt x="9343" y="6442"/>
                      <a:pt x="10000" y="4460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57" name="Freeform 188"/>
            <p:cNvSpPr>
              <a:spLocks/>
            </p:cNvSpPr>
            <p:nvPr/>
          </p:nvSpPr>
          <p:spPr bwMode="auto">
            <a:xfrm>
              <a:off x="4301" y="3411"/>
              <a:ext cx="140" cy="581"/>
            </a:xfrm>
            <a:custGeom>
              <a:avLst/>
              <a:gdLst>
                <a:gd name="T0" fmla="*/ 0 w 10000"/>
                <a:gd name="T1" fmla="*/ 7249067 h 10000"/>
                <a:gd name="T2" fmla="*/ 420907 w 10000"/>
                <a:gd name="T3" fmla="*/ 0 h 10000"/>
                <a:gd name="T4" fmla="*/ 420907 w 10000"/>
                <a:gd name="T5" fmla="*/ 7249067 h 10000"/>
                <a:gd name="T6" fmla="*/ 420907 w 10000"/>
                <a:gd name="T7" fmla="*/ 7249067 h 10000"/>
                <a:gd name="T8" fmla="*/ 420907 w 10000"/>
                <a:gd name="T9" fmla="*/ 724906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371"/>
                    <a:pt x="10000" y="4388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Freeform 188"/>
            <p:cNvSpPr>
              <a:spLocks/>
            </p:cNvSpPr>
            <p:nvPr/>
          </p:nvSpPr>
          <p:spPr bwMode="auto">
            <a:xfrm>
              <a:off x="4581" y="3404"/>
              <a:ext cx="144" cy="497"/>
            </a:xfrm>
            <a:custGeom>
              <a:avLst/>
              <a:gdLst>
                <a:gd name="T0" fmla="*/ 0 w 10000"/>
                <a:gd name="T1" fmla="*/ 5304478 h 10000"/>
                <a:gd name="T2" fmla="*/ 445302 w 10000"/>
                <a:gd name="T3" fmla="*/ 0 h 10000"/>
                <a:gd name="T4" fmla="*/ 445302 w 10000"/>
                <a:gd name="T5" fmla="*/ 5304478 h 10000"/>
                <a:gd name="T6" fmla="*/ 445302 w 10000"/>
                <a:gd name="T7" fmla="*/ 5304478 h 10000"/>
                <a:gd name="T8" fmla="*/ 445302 w 10000"/>
                <a:gd name="T9" fmla="*/ 5304478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59" name="组合 275"/>
            <p:cNvGrpSpPr>
              <a:grpSpLocks/>
            </p:cNvGrpSpPr>
            <p:nvPr/>
          </p:nvGrpSpPr>
          <p:grpSpPr bwMode="auto">
            <a:xfrm>
              <a:off x="4722" y="3522"/>
              <a:ext cx="422" cy="391"/>
              <a:chOff x="1563859" y="2394681"/>
              <a:chExt cx="5392710" cy="2454801"/>
            </a:xfrm>
          </p:grpSpPr>
          <p:sp>
            <p:nvSpPr>
              <p:cNvPr id="43064" name="Freeform 188"/>
              <p:cNvSpPr>
                <a:spLocks/>
              </p:cNvSpPr>
              <p:nvPr/>
            </p:nvSpPr>
            <p:spPr bwMode="auto">
              <a:xfrm>
                <a:off x="1563859" y="2445260"/>
                <a:ext cx="1789796" cy="1397935"/>
              </a:xfrm>
              <a:custGeom>
                <a:avLst/>
                <a:gdLst>
                  <a:gd name="T0" fmla="*/ 0 w 10000"/>
                  <a:gd name="T1" fmla="*/ 2147483647 h 10005"/>
                  <a:gd name="T2" fmla="*/ 2147483647 w 10000"/>
                  <a:gd name="T3" fmla="*/ 2147483647 h 10005"/>
                  <a:gd name="T4" fmla="*/ 2147483647 w 10000"/>
                  <a:gd name="T5" fmla="*/ 2147483647 h 10005"/>
                  <a:gd name="T6" fmla="*/ 2147483647 w 10000"/>
                  <a:gd name="T7" fmla="*/ 2147483647 h 10005"/>
                  <a:gd name="T8" fmla="*/ 2147483647 w 10000"/>
                  <a:gd name="T9" fmla="*/ 2147483647 h 100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5"/>
                  <a:gd name="T17" fmla="*/ 10000 w 10000"/>
                  <a:gd name="T18" fmla="*/ 10005 h 100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5">
                    <a:moveTo>
                      <a:pt x="0" y="5892"/>
                    </a:moveTo>
                    <a:cubicBezTo>
                      <a:pt x="833" y="3392"/>
                      <a:pt x="1667" y="153"/>
                      <a:pt x="2500" y="5"/>
                    </a:cubicBezTo>
                    <a:cubicBezTo>
                      <a:pt x="3333" y="-143"/>
                      <a:pt x="4465" y="3486"/>
                      <a:pt x="5000" y="5005"/>
                    </a:cubicBezTo>
                    <a:cubicBezTo>
                      <a:pt x="5535" y="6524"/>
                      <a:pt x="6718" y="10062"/>
                      <a:pt x="7500" y="10005"/>
                    </a:cubicBezTo>
                    <a:cubicBezTo>
                      <a:pt x="8486" y="10005"/>
                      <a:pt x="9379" y="6988"/>
                      <a:pt x="10000" y="5005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5" name="Freeform 188"/>
              <p:cNvSpPr>
                <a:spLocks/>
              </p:cNvSpPr>
              <p:nvPr/>
            </p:nvSpPr>
            <p:spPr bwMode="auto">
              <a:xfrm>
                <a:off x="3355325" y="3130471"/>
                <a:ext cx="1789902" cy="777424"/>
              </a:xfrm>
              <a:custGeom>
                <a:avLst/>
                <a:gdLst>
                  <a:gd name="T0" fmla="*/ 0 w 10888"/>
                  <a:gd name="T1" fmla="*/ 2147483647 h 5898"/>
                  <a:gd name="T2" fmla="*/ 2147483647 w 10888"/>
                  <a:gd name="T3" fmla="*/ 2147483647 h 5898"/>
                  <a:gd name="T4" fmla="*/ 2147483647 w 10888"/>
                  <a:gd name="T5" fmla="*/ 2147483647 h 5898"/>
                  <a:gd name="T6" fmla="*/ 2147483647 w 10888"/>
                  <a:gd name="T7" fmla="*/ 2147483647 h 5898"/>
                  <a:gd name="T8" fmla="*/ 2147483647 w 10888"/>
                  <a:gd name="T9" fmla="*/ 2147483647 h 58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88"/>
                  <a:gd name="T16" fmla="*/ 0 h 5898"/>
                  <a:gd name="T17" fmla="*/ 10888 w 10888"/>
                  <a:gd name="T18" fmla="*/ 5898 h 58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88" h="5898">
                    <a:moveTo>
                      <a:pt x="0" y="898"/>
                    </a:moveTo>
                    <a:cubicBezTo>
                      <a:pt x="907" y="-1602"/>
                      <a:pt x="1815" y="1914"/>
                      <a:pt x="2722" y="1914"/>
                    </a:cubicBezTo>
                    <a:cubicBezTo>
                      <a:pt x="3629" y="1914"/>
                      <a:pt x="4537" y="234"/>
                      <a:pt x="5444" y="898"/>
                    </a:cubicBezTo>
                    <a:cubicBezTo>
                      <a:pt x="6351" y="1562"/>
                      <a:pt x="7314" y="5955"/>
                      <a:pt x="8165" y="5898"/>
                    </a:cubicBezTo>
                    <a:cubicBezTo>
                      <a:pt x="9239" y="5898"/>
                      <a:pt x="10212" y="4197"/>
                      <a:pt x="10888" y="2214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66" name="Freeform 188"/>
              <p:cNvSpPr>
                <a:spLocks/>
              </p:cNvSpPr>
              <p:nvPr/>
            </p:nvSpPr>
            <p:spPr bwMode="auto">
              <a:xfrm>
                <a:off x="5166779" y="2394681"/>
                <a:ext cx="1789790" cy="2454801"/>
              </a:xfrm>
              <a:custGeom>
                <a:avLst/>
                <a:gdLst>
                  <a:gd name="T0" fmla="*/ 0 w 10000"/>
                  <a:gd name="T1" fmla="*/ 2147483647 h 10007"/>
                  <a:gd name="T2" fmla="*/ 2147483647 w 10000"/>
                  <a:gd name="T3" fmla="*/ 2147483647 h 10007"/>
                  <a:gd name="T4" fmla="*/ 2147483647 w 10000"/>
                  <a:gd name="T5" fmla="*/ 2147483647 h 10007"/>
                  <a:gd name="T6" fmla="*/ 2147483647 w 10000"/>
                  <a:gd name="T7" fmla="*/ 2147483647 h 10007"/>
                  <a:gd name="T8" fmla="*/ 2147483647 w 10000"/>
                  <a:gd name="T9" fmla="*/ 2147483647 h 100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7"/>
                  <a:gd name="T17" fmla="*/ 10000 w 10000"/>
                  <a:gd name="T18" fmla="*/ 10007 h 100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7">
                    <a:moveTo>
                      <a:pt x="0" y="4199"/>
                    </a:moveTo>
                    <a:cubicBezTo>
                      <a:pt x="833" y="1699"/>
                      <a:pt x="1667" y="-128"/>
                      <a:pt x="2500" y="7"/>
                    </a:cubicBezTo>
                    <a:cubicBezTo>
                      <a:pt x="3333" y="142"/>
                      <a:pt x="4465" y="3488"/>
                      <a:pt x="5000" y="5007"/>
                    </a:cubicBezTo>
                    <a:cubicBezTo>
                      <a:pt x="5535" y="6526"/>
                      <a:pt x="6718" y="10064"/>
                      <a:pt x="7500" y="10007"/>
                    </a:cubicBezTo>
                    <a:cubicBezTo>
                      <a:pt x="8486" y="10007"/>
                      <a:pt x="9379" y="6990"/>
                      <a:pt x="10000" y="5007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060" name="Freeform 188"/>
            <p:cNvSpPr>
              <a:spLocks/>
            </p:cNvSpPr>
            <p:nvPr/>
          </p:nvSpPr>
          <p:spPr bwMode="auto">
            <a:xfrm>
              <a:off x="4893" y="3463"/>
              <a:ext cx="201" cy="213"/>
            </a:xfrm>
            <a:custGeom>
              <a:avLst/>
              <a:gdLst>
                <a:gd name="T0" fmla="*/ 0 w 10936"/>
                <a:gd name="T1" fmla="*/ 856258 h 10667"/>
                <a:gd name="T2" fmla="*/ 725446 w 10936"/>
                <a:gd name="T3" fmla="*/ 0 h 10667"/>
                <a:gd name="T4" fmla="*/ 0 60000 65536"/>
                <a:gd name="T5" fmla="*/ 0 60000 65536"/>
                <a:gd name="T6" fmla="*/ 0 w 10936"/>
                <a:gd name="T7" fmla="*/ 0 h 10667"/>
                <a:gd name="T8" fmla="*/ 10936 w 10936"/>
                <a:gd name="T9" fmla="*/ 10667 h 106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936" h="10667">
                  <a:moveTo>
                    <a:pt x="0" y="10667"/>
                  </a:moveTo>
                  <a:cubicBezTo>
                    <a:pt x="3645" y="7111"/>
                    <a:pt x="6088" y="2622"/>
                    <a:pt x="10936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1" name="Freeform 188"/>
            <p:cNvSpPr>
              <a:spLocks/>
            </p:cNvSpPr>
            <p:nvPr/>
          </p:nvSpPr>
          <p:spPr bwMode="auto">
            <a:xfrm flipH="1">
              <a:off x="4893" y="3680"/>
              <a:ext cx="255" cy="261"/>
            </a:xfrm>
            <a:custGeom>
              <a:avLst/>
              <a:gdLst>
                <a:gd name="T0" fmla="*/ 0 w 10000"/>
                <a:gd name="T1" fmla="*/ 1462887 h 10000"/>
                <a:gd name="T2" fmla="*/ 1396401 w 10000"/>
                <a:gd name="T3" fmla="*/ 0 h 10000"/>
                <a:gd name="T4" fmla="*/ 0 60000 65536"/>
                <a:gd name="T5" fmla="*/ 0 60000 65536"/>
                <a:gd name="T6" fmla="*/ 0 w 10000"/>
                <a:gd name="T7" fmla="*/ 0 h 10000"/>
                <a:gd name="T8" fmla="*/ 10000 w 10000"/>
                <a:gd name="T9" fmla="*/ 10000 h 1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00" h="10000">
                  <a:moveTo>
                    <a:pt x="0" y="10000"/>
                  </a:moveTo>
                  <a:cubicBezTo>
                    <a:pt x="4609" y="8377"/>
                    <a:pt x="8336" y="1666"/>
                    <a:pt x="10000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2" name="Freeform 188"/>
            <p:cNvSpPr>
              <a:spLocks/>
            </p:cNvSpPr>
            <p:nvPr/>
          </p:nvSpPr>
          <p:spPr bwMode="auto">
            <a:xfrm flipH="1">
              <a:off x="2895" y="3392"/>
              <a:ext cx="328" cy="296"/>
            </a:xfrm>
            <a:custGeom>
              <a:avLst/>
              <a:gdLst>
                <a:gd name="T0" fmla="*/ 0 w 10000"/>
                <a:gd name="T1" fmla="*/ 1881539 h 10000"/>
                <a:gd name="T2" fmla="*/ 2310349 w 10000"/>
                <a:gd name="T3" fmla="*/ 0 h 10000"/>
                <a:gd name="T4" fmla="*/ 0 60000 65536"/>
                <a:gd name="T5" fmla="*/ 0 60000 65536"/>
                <a:gd name="T6" fmla="*/ 0 w 10000"/>
                <a:gd name="T7" fmla="*/ 0 h 10000"/>
                <a:gd name="T8" fmla="*/ 10000 w 10000"/>
                <a:gd name="T9" fmla="*/ 10000 h 1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00" h="10000">
                  <a:moveTo>
                    <a:pt x="0" y="10000"/>
                  </a:moveTo>
                  <a:cubicBezTo>
                    <a:pt x="1666" y="8335"/>
                    <a:pt x="4044" y="2801"/>
                    <a:pt x="10000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3" name="Freeform 188"/>
            <p:cNvSpPr>
              <a:spLocks/>
            </p:cNvSpPr>
            <p:nvPr/>
          </p:nvSpPr>
          <p:spPr bwMode="auto">
            <a:xfrm>
              <a:off x="2903" y="3684"/>
              <a:ext cx="304" cy="296"/>
            </a:xfrm>
            <a:custGeom>
              <a:avLst/>
              <a:gdLst>
                <a:gd name="T0" fmla="*/ 0 w 10000"/>
                <a:gd name="T1" fmla="*/ 1881539 h 10000"/>
                <a:gd name="T2" fmla="*/ 1984618 w 10000"/>
                <a:gd name="T3" fmla="*/ 0 h 10000"/>
                <a:gd name="T4" fmla="*/ 0 60000 65536"/>
                <a:gd name="T5" fmla="*/ 0 60000 65536"/>
                <a:gd name="T6" fmla="*/ 0 w 10000"/>
                <a:gd name="T7" fmla="*/ 0 h 10000"/>
                <a:gd name="T8" fmla="*/ 10000 w 10000"/>
                <a:gd name="T9" fmla="*/ 10000 h 1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00" h="10000">
                  <a:moveTo>
                    <a:pt x="0" y="10000"/>
                  </a:moveTo>
                  <a:cubicBezTo>
                    <a:pt x="6164" y="7111"/>
                    <a:pt x="8335" y="1666"/>
                    <a:pt x="10000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464" name="Rectangle 144"/>
          <p:cNvSpPr>
            <a:spLocks noChangeArrowheads="1"/>
          </p:cNvSpPr>
          <p:nvPr/>
        </p:nvSpPr>
        <p:spPr bwMode="auto">
          <a:xfrm>
            <a:off x="5468938" y="2608263"/>
            <a:ext cx="2022475" cy="32385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CC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500" dirty="0">
                <a:solidFill>
                  <a:schemeClr val="accent2"/>
                </a:solidFill>
                <a:latin typeface="楷体_GB2312" pitchFamily="49" charset="-122"/>
                <a:ea typeface="华文中宋" pitchFamily="2" charset="-122"/>
              </a:rPr>
              <a:t>振动曲线合成</a:t>
            </a:r>
          </a:p>
        </p:txBody>
      </p:sp>
      <p:sp>
        <p:nvSpPr>
          <p:cNvPr id="116" name="Text Box 2"/>
          <p:cNvSpPr>
            <a:spLocks noChangeArrowheads="1"/>
          </p:cNvSpPr>
          <p:nvPr/>
        </p:nvSpPr>
        <p:spPr bwMode="auto">
          <a:xfrm>
            <a:off x="758825" y="874713"/>
            <a:ext cx="4697413" cy="401637"/>
          </a:xfrm>
          <a:prstGeom prst="homePlate">
            <a:avLst>
              <a:gd name="adj" fmla="val 49707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二、同方向、不同频率两谐振动的合成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6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56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8" dur="5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6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6" grpId="0" autoUpdateAnimBg="0"/>
      <p:bldP spid="56339" grpId="0"/>
      <p:bldP spid="56353" grpId="0" autoUpdateAnimBg="0"/>
      <p:bldP spid="56464" grpId="0" autoUpdateAnimBg="0"/>
      <p:bldP spid="1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68313" y="771525"/>
            <a:ext cx="950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讨论</a:t>
            </a:r>
            <a:r>
              <a:rPr lang="en-US" altLang="zh-CN" sz="1800">
                <a:solidFill>
                  <a:srgbClr val="FF0000"/>
                </a:solidFill>
                <a:ea typeface="华文中宋" pitchFamily="2" charset="-122"/>
                <a:sym typeface="Wingdings" pitchFamily="2" charset="2"/>
              </a:rPr>
              <a:t>:</a:t>
            </a:r>
            <a:endParaRPr kumimoji="0" lang="en-US" altLang="zh-CN" sz="1800">
              <a:ea typeface="华文中宋" pitchFamily="2" charset="-122"/>
            </a:endParaRPr>
          </a:p>
        </p:txBody>
      </p:sp>
      <p:grpSp>
        <p:nvGrpSpPr>
          <p:cNvPr id="205927" name="Group 103"/>
          <p:cNvGrpSpPr>
            <a:grpSpLocks/>
          </p:cNvGrpSpPr>
          <p:nvPr/>
        </p:nvGrpSpPr>
        <p:grpSpPr bwMode="auto">
          <a:xfrm>
            <a:off x="1187450" y="1150938"/>
            <a:ext cx="5076825" cy="369887"/>
            <a:chOff x="2562" y="2296"/>
            <a:chExt cx="3198" cy="310"/>
          </a:xfrm>
        </p:grpSpPr>
        <p:sp>
          <p:nvSpPr>
            <p:cNvPr id="44077" name="Rectangle 104"/>
            <p:cNvSpPr>
              <a:spLocks noChangeArrowheads="1"/>
            </p:cNvSpPr>
            <p:nvPr/>
          </p:nvSpPr>
          <p:spPr bwMode="auto">
            <a:xfrm>
              <a:off x="2562" y="2296"/>
              <a:ext cx="3198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ea typeface="楷体_GB2312" pitchFamily="49" charset="-122"/>
                </a:rPr>
                <a:t>（</a:t>
              </a:r>
              <a:r>
                <a:rPr lang="en-US" altLang="zh-CN" sz="1800">
                  <a:ea typeface="楷体_GB2312" pitchFamily="49" charset="-122"/>
                </a:rPr>
                <a:t>1</a:t>
              </a:r>
              <a:r>
                <a:rPr lang="zh-CN" altLang="en-US" sz="1800">
                  <a:ea typeface="楷体_GB2312" pitchFamily="49" charset="-122"/>
                </a:rPr>
                <a:t>）若                                           </a:t>
              </a:r>
              <a:r>
                <a:rPr kumimoji="0" lang="zh-CN" altLang="en-US" sz="1800">
                  <a:ea typeface="楷体_GB2312" pitchFamily="49" charset="-122"/>
                </a:rPr>
                <a:t>时</a:t>
              </a:r>
            </a:p>
          </p:txBody>
        </p:sp>
        <p:graphicFrame>
          <p:nvGraphicFramePr>
            <p:cNvPr id="44078" name="Object 105"/>
            <p:cNvGraphicFramePr>
              <a:graphicFrameLocks noChangeAspect="1"/>
            </p:cNvGraphicFramePr>
            <p:nvPr/>
          </p:nvGraphicFramePr>
          <p:xfrm>
            <a:off x="3093" y="2302"/>
            <a:ext cx="151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4" name="Equation" r:id="rId4" imgW="1943100" imgH="254000" progId="Equation.DSMT4">
                    <p:embed/>
                  </p:oleObj>
                </mc:Choice>
                <mc:Fallback>
                  <p:oleObj name="Equation" r:id="rId4" imgW="1943100" imgH="254000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3" y="2302"/>
                          <a:ext cx="1510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3132138" y="2176463"/>
            <a:ext cx="11525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500">
                <a:latin typeface="华文中宋" pitchFamily="2" charset="-122"/>
                <a:ea typeface="华文中宋" pitchFamily="2" charset="-122"/>
              </a:rPr>
              <a:t>随</a:t>
            </a:r>
            <a:r>
              <a:rPr kumimoji="0" lang="en-US" altLang="zh-CN" sz="1500" i="1">
                <a:ea typeface="华文中宋" pitchFamily="2" charset="-122"/>
                <a:cs typeface="Times New Roman" pitchFamily="18" charset="0"/>
              </a:rPr>
              <a:t>t</a:t>
            </a:r>
            <a:r>
              <a:rPr kumimoji="0" lang="en-US" altLang="zh-CN" sz="1500" i="1">
                <a:latin typeface="华文中宋" pitchFamily="2" charset="-122"/>
                <a:ea typeface="华文中宋" pitchFamily="2" charset="-122"/>
              </a:rPr>
              <a:t> </a:t>
            </a:r>
            <a:r>
              <a:rPr kumimoji="0" lang="zh-CN" altLang="en-US" sz="1500">
                <a:latin typeface="华文中宋" pitchFamily="2" charset="-122"/>
                <a:ea typeface="华文中宋" pitchFamily="2" charset="-122"/>
              </a:rPr>
              <a:t>缓变</a:t>
            </a: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572000" y="2176463"/>
            <a:ext cx="139541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500">
                <a:latin typeface="华文中宋" pitchFamily="2" charset="-122"/>
                <a:ea typeface="华文中宋" pitchFamily="2" charset="-122"/>
              </a:rPr>
              <a:t>随</a:t>
            </a:r>
            <a:r>
              <a:rPr kumimoji="0" lang="en-US" altLang="zh-CN" sz="1500" i="1">
                <a:ea typeface="华文中宋" pitchFamily="2" charset="-122"/>
                <a:cs typeface="Times New Roman" pitchFamily="18" charset="0"/>
              </a:rPr>
              <a:t>t</a:t>
            </a:r>
            <a:r>
              <a:rPr kumimoji="0" lang="en-US" altLang="zh-CN" sz="1500" i="1">
                <a:latin typeface="华文中宋" pitchFamily="2" charset="-122"/>
                <a:ea typeface="华文中宋" pitchFamily="2" charset="-122"/>
              </a:rPr>
              <a:t> </a:t>
            </a:r>
            <a:r>
              <a:rPr kumimoji="0" lang="zh-CN" altLang="en-US" sz="1500">
                <a:latin typeface="华文中宋" pitchFamily="2" charset="-122"/>
                <a:ea typeface="华文中宋" pitchFamily="2" charset="-122"/>
              </a:rPr>
              <a:t>快变</a:t>
            </a: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1331913" y="4227513"/>
            <a:ext cx="5130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ea typeface="华文中宋" pitchFamily="2" charset="-122"/>
              </a:rPr>
              <a:t>合振动可以看作振幅缓变的“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准谐振动</a:t>
            </a:r>
            <a:r>
              <a:rPr kumimoji="0" lang="zh-CN" altLang="en-US" sz="1800">
                <a:ea typeface="华文中宋" pitchFamily="2" charset="-122"/>
              </a:rPr>
              <a:t>”。</a:t>
            </a:r>
          </a:p>
        </p:txBody>
      </p:sp>
      <p:graphicFrame>
        <p:nvGraphicFramePr>
          <p:cNvPr id="205933" name="Object 109"/>
          <p:cNvGraphicFramePr>
            <a:graphicFrameLocks noChangeAspect="1"/>
          </p:cNvGraphicFramePr>
          <p:nvPr/>
        </p:nvGraphicFramePr>
        <p:xfrm>
          <a:off x="1835150" y="1581150"/>
          <a:ext cx="42322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5" name="公式" r:id="rId6" imgW="1841500" imgH="330200" progId="Equation.3">
                  <p:embed/>
                </p:oleObj>
              </mc:Choice>
              <mc:Fallback>
                <p:oleObj name="公式" r:id="rId6" imgW="1841500" imgH="330200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581150"/>
                        <a:ext cx="423227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030" name="Group 206"/>
          <p:cNvGrpSpPr>
            <a:grpSpLocks/>
          </p:cNvGrpSpPr>
          <p:nvPr/>
        </p:nvGrpSpPr>
        <p:grpSpPr bwMode="auto">
          <a:xfrm>
            <a:off x="2411413" y="2409825"/>
            <a:ext cx="4176712" cy="917575"/>
            <a:chOff x="1519" y="2024"/>
            <a:chExt cx="2631" cy="771"/>
          </a:xfrm>
        </p:grpSpPr>
        <p:cxnSp>
          <p:nvCxnSpPr>
            <p:cNvPr id="44048" name="直接箭头连接符 188"/>
            <p:cNvCxnSpPr>
              <a:cxnSpLocks noChangeShapeType="1"/>
            </p:cNvCxnSpPr>
            <p:nvPr/>
          </p:nvCxnSpPr>
          <p:spPr bwMode="auto">
            <a:xfrm>
              <a:off x="1681" y="2455"/>
              <a:ext cx="2351" cy="0"/>
            </a:xfrm>
            <a:prstGeom prst="straightConnector1">
              <a:avLst/>
            </a:prstGeom>
            <a:noFill/>
            <a:ln w="25400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049" name="直接箭头连接符 189"/>
            <p:cNvCxnSpPr>
              <a:cxnSpLocks noChangeShapeType="1"/>
            </p:cNvCxnSpPr>
            <p:nvPr/>
          </p:nvCxnSpPr>
          <p:spPr bwMode="auto">
            <a:xfrm flipV="1">
              <a:off x="1681" y="2115"/>
              <a:ext cx="0" cy="680"/>
            </a:xfrm>
            <a:prstGeom prst="straightConnector1">
              <a:avLst/>
            </a:prstGeom>
            <a:noFill/>
            <a:ln w="25400" algn="ctr">
              <a:solidFill>
                <a:srgbClr val="00B0F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4050" name="TextBox 190"/>
            <p:cNvSpPr txBox="1">
              <a:spLocks noChangeArrowheads="1"/>
            </p:cNvSpPr>
            <p:nvPr/>
          </p:nvSpPr>
          <p:spPr bwMode="auto">
            <a:xfrm>
              <a:off x="1519" y="2024"/>
              <a:ext cx="18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ea typeface="宋体" pitchFamily="2" charset="-122"/>
                </a:rPr>
                <a:t>x</a:t>
              </a:r>
              <a:endParaRPr kumimoji="0" lang="en-US" altLang="zh-CN" sz="1800" baseline="-25000">
                <a:ea typeface="宋体" pitchFamily="2" charset="-122"/>
              </a:endParaRPr>
            </a:p>
          </p:txBody>
        </p:sp>
        <p:sp>
          <p:nvSpPr>
            <p:cNvPr id="44051" name="TextBox 192"/>
            <p:cNvSpPr txBox="1">
              <a:spLocks noChangeArrowheads="1"/>
            </p:cNvSpPr>
            <p:nvPr/>
          </p:nvSpPr>
          <p:spPr bwMode="auto">
            <a:xfrm>
              <a:off x="3993" y="2301"/>
              <a:ext cx="15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ea typeface="宋体" pitchFamily="2" charset="-122"/>
                </a:rPr>
                <a:t>t</a:t>
              </a:r>
              <a:endParaRPr kumimoji="0" lang="en-US" altLang="zh-CN" sz="1800" baseline="-25000">
                <a:ea typeface="宋体" pitchFamily="2" charset="-122"/>
              </a:endParaRPr>
            </a:p>
          </p:txBody>
        </p:sp>
        <p:sp>
          <p:nvSpPr>
            <p:cNvPr id="44052" name="Freeform 188"/>
            <p:cNvSpPr>
              <a:spLocks/>
            </p:cNvSpPr>
            <p:nvPr/>
          </p:nvSpPr>
          <p:spPr bwMode="auto">
            <a:xfrm>
              <a:off x="3260" y="2127"/>
              <a:ext cx="140" cy="636"/>
            </a:xfrm>
            <a:custGeom>
              <a:avLst/>
              <a:gdLst>
                <a:gd name="T0" fmla="*/ 0 w 10000"/>
                <a:gd name="T1" fmla="*/ 8686485 h 10000"/>
                <a:gd name="T2" fmla="*/ 420907 w 10000"/>
                <a:gd name="T3" fmla="*/ 0 h 10000"/>
                <a:gd name="T4" fmla="*/ 420907 w 10000"/>
                <a:gd name="T5" fmla="*/ 8686485 h 10000"/>
                <a:gd name="T6" fmla="*/ 420907 w 10000"/>
                <a:gd name="T7" fmla="*/ 8686485 h 10000"/>
                <a:gd name="T8" fmla="*/ 420907 w 10000"/>
                <a:gd name="T9" fmla="*/ 8686485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424"/>
                    <a:pt x="10000" y="4441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Freeform 188"/>
            <p:cNvSpPr>
              <a:spLocks/>
            </p:cNvSpPr>
            <p:nvPr/>
          </p:nvSpPr>
          <p:spPr bwMode="auto">
            <a:xfrm>
              <a:off x="2032" y="2127"/>
              <a:ext cx="1680" cy="656"/>
            </a:xfrm>
            <a:custGeom>
              <a:avLst/>
              <a:gdLst>
                <a:gd name="T0" fmla="*/ 0 w 10000"/>
                <a:gd name="T1" fmla="*/ 9241395 h 10000"/>
                <a:gd name="T2" fmla="*/ 60610579 w 10000"/>
                <a:gd name="T3" fmla="*/ 0 h 10000"/>
                <a:gd name="T4" fmla="*/ 60610579 w 10000"/>
                <a:gd name="T5" fmla="*/ 9241395 h 10000"/>
                <a:gd name="T6" fmla="*/ 60610579 w 10000"/>
                <a:gd name="T7" fmla="*/ 9241395 h 10000"/>
                <a:gd name="T8" fmla="*/ 60610579 w 10000"/>
                <a:gd name="T9" fmla="*/ 9241395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Freeform 188"/>
            <p:cNvSpPr>
              <a:spLocks/>
            </p:cNvSpPr>
            <p:nvPr/>
          </p:nvSpPr>
          <p:spPr bwMode="auto">
            <a:xfrm flipH="1">
              <a:off x="2032" y="2123"/>
              <a:ext cx="1680" cy="656"/>
            </a:xfrm>
            <a:custGeom>
              <a:avLst/>
              <a:gdLst>
                <a:gd name="T0" fmla="*/ 0 w 10000"/>
                <a:gd name="T1" fmla="*/ 9241395 h 10000"/>
                <a:gd name="T2" fmla="*/ 60610579 w 10000"/>
                <a:gd name="T3" fmla="*/ 0 h 10000"/>
                <a:gd name="T4" fmla="*/ 60610579 w 10000"/>
                <a:gd name="T5" fmla="*/ 9241395 h 10000"/>
                <a:gd name="T6" fmla="*/ 60610579 w 10000"/>
                <a:gd name="T7" fmla="*/ 9241395 h 10000"/>
                <a:gd name="T8" fmla="*/ 60610579 w 10000"/>
                <a:gd name="T9" fmla="*/ 9241395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Freeform 188"/>
            <p:cNvSpPr>
              <a:spLocks/>
            </p:cNvSpPr>
            <p:nvPr/>
          </p:nvSpPr>
          <p:spPr bwMode="auto">
            <a:xfrm>
              <a:off x="1718" y="2186"/>
              <a:ext cx="140" cy="506"/>
            </a:xfrm>
            <a:custGeom>
              <a:avLst/>
              <a:gdLst>
                <a:gd name="T0" fmla="*/ 0 w 10000"/>
                <a:gd name="T1" fmla="*/ 5498331 h 10000"/>
                <a:gd name="T2" fmla="*/ 420907 w 10000"/>
                <a:gd name="T3" fmla="*/ 0 h 10000"/>
                <a:gd name="T4" fmla="*/ 420907 w 10000"/>
                <a:gd name="T5" fmla="*/ 5498331 h 10000"/>
                <a:gd name="T6" fmla="*/ 420907 w 10000"/>
                <a:gd name="T7" fmla="*/ 5498331 h 10000"/>
                <a:gd name="T8" fmla="*/ 420907 w 10000"/>
                <a:gd name="T9" fmla="*/ 5498331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056" name="组合 261"/>
            <p:cNvGrpSpPr>
              <a:grpSpLocks/>
            </p:cNvGrpSpPr>
            <p:nvPr/>
          </p:nvGrpSpPr>
          <p:grpSpPr bwMode="auto">
            <a:xfrm>
              <a:off x="1857" y="2297"/>
              <a:ext cx="426" cy="383"/>
              <a:chOff x="1465708" y="2421133"/>
              <a:chExt cx="5422557" cy="2337491"/>
            </a:xfrm>
          </p:grpSpPr>
          <p:sp>
            <p:nvSpPr>
              <p:cNvPr id="44074" name="Freeform 188"/>
              <p:cNvSpPr>
                <a:spLocks/>
              </p:cNvSpPr>
              <p:nvPr/>
            </p:nvSpPr>
            <p:spPr bwMode="auto">
              <a:xfrm>
                <a:off x="1465708" y="2421133"/>
                <a:ext cx="1741106" cy="1470242"/>
              </a:xfrm>
              <a:custGeom>
                <a:avLst/>
                <a:gdLst>
                  <a:gd name="T0" fmla="*/ 0 w 9728"/>
                  <a:gd name="T1" fmla="*/ 2147483647 h 10005"/>
                  <a:gd name="T2" fmla="*/ 2147483647 w 9728"/>
                  <a:gd name="T3" fmla="*/ 2147483647 h 10005"/>
                  <a:gd name="T4" fmla="*/ 2147483647 w 9728"/>
                  <a:gd name="T5" fmla="*/ 2147483647 h 10005"/>
                  <a:gd name="T6" fmla="*/ 2147483647 w 9728"/>
                  <a:gd name="T7" fmla="*/ 2147483647 h 10005"/>
                  <a:gd name="T8" fmla="*/ 2147483647 w 9728"/>
                  <a:gd name="T9" fmla="*/ 2147483647 h 100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728"/>
                  <a:gd name="T16" fmla="*/ 0 h 10005"/>
                  <a:gd name="T17" fmla="*/ 9728 w 9728"/>
                  <a:gd name="T18" fmla="*/ 10005 h 100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728" h="10005">
                    <a:moveTo>
                      <a:pt x="0" y="5989"/>
                    </a:moveTo>
                    <a:cubicBezTo>
                      <a:pt x="833" y="3489"/>
                      <a:pt x="1667" y="169"/>
                      <a:pt x="2500" y="5"/>
                    </a:cubicBezTo>
                    <a:cubicBezTo>
                      <a:pt x="3333" y="-159"/>
                      <a:pt x="4465" y="3486"/>
                      <a:pt x="5000" y="5005"/>
                    </a:cubicBezTo>
                    <a:cubicBezTo>
                      <a:pt x="5535" y="6524"/>
                      <a:pt x="6718" y="10062"/>
                      <a:pt x="7500" y="10005"/>
                    </a:cubicBezTo>
                    <a:cubicBezTo>
                      <a:pt x="8486" y="10005"/>
                      <a:pt x="9107" y="7808"/>
                      <a:pt x="9728" y="5825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5" name="Freeform 188"/>
              <p:cNvSpPr>
                <a:spLocks/>
              </p:cNvSpPr>
              <p:nvPr/>
            </p:nvSpPr>
            <p:spPr bwMode="auto">
              <a:xfrm>
                <a:off x="3248791" y="3142249"/>
                <a:ext cx="1887011" cy="749126"/>
              </a:xfrm>
              <a:custGeom>
                <a:avLst/>
                <a:gdLst>
                  <a:gd name="T0" fmla="*/ 0 w 10838"/>
                  <a:gd name="T1" fmla="*/ 2147483647 h 10000"/>
                  <a:gd name="T2" fmla="*/ 2147483647 w 10838"/>
                  <a:gd name="T3" fmla="*/ 2147483647 h 10000"/>
                  <a:gd name="T4" fmla="*/ 2147483647 w 10838"/>
                  <a:gd name="T5" fmla="*/ 2147483647 h 10000"/>
                  <a:gd name="T6" fmla="*/ 2147483647 w 10838"/>
                  <a:gd name="T7" fmla="*/ 2147483647 h 10000"/>
                  <a:gd name="T8" fmla="*/ 2147483647 w 10838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38"/>
                  <a:gd name="T16" fmla="*/ 0 h 10000"/>
                  <a:gd name="T17" fmla="*/ 10838 w 10838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38" h="10000">
                    <a:moveTo>
                      <a:pt x="0" y="1473"/>
                    </a:moveTo>
                    <a:cubicBezTo>
                      <a:pt x="856" y="-2790"/>
                      <a:pt x="1714" y="3559"/>
                      <a:pt x="2570" y="3559"/>
                    </a:cubicBezTo>
                    <a:cubicBezTo>
                      <a:pt x="3426" y="3559"/>
                      <a:pt x="4284" y="401"/>
                      <a:pt x="5140" y="1473"/>
                    </a:cubicBezTo>
                    <a:cubicBezTo>
                      <a:pt x="5996" y="2548"/>
                      <a:pt x="6906" y="10097"/>
                      <a:pt x="7710" y="10000"/>
                    </a:cubicBezTo>
                    <a:cubicBezTo>
                      <a:pt x="8723" y="10000"/>
                      <a:pt x="10200" y="6785"/>
                      <a:pt x="10838" y="3403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6" name="Freeform 188"/>
              <p:cNvSpPr>
                <a:spLocks/>
              </p:cNvSpPr>
              <p:nvPr/>
            </p:nvSpPr>
            <p:spPr bwMode="auto">
              <a:xfrm>
                <a:off x="5147084" y="2490514"/>
                <a:ext cx="1741181" cy="2268110"/>
              </a:xfrm>
              <a:custGeom>
                <a:avLst/>
                <a:gdLst>
                  <a:gd name="T0" fmla="*/ 0 w 10287"/>
                  <a:gd name="T1" fmla="*/ 2147483647 h 10000"/>
                  <a:gd name="T2" fmla="*/ 2147483647 w 10287"/>
                  <a:gd name="T3" fmla="*/ 2147483647 h 10000"/>
                  <a:gd name="T4" fmla="*/ 2147483647 w 10287"/>
                  <a:gd name="T5" fmla="*/ 2147483647 h 10000"/>
                  <a:gd name="T6" fmla="*/ 2147483647 w 10287"/>
                  <a:gd name="T7" fmla="*/ 2147483647 h 10000"/>
                  <a:gd name="T8" fmla="*/ 2147483647 w 10287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87"/>
                  <a:gd name="T16" fmla="*/ 0 h 10000"/>
                  <a:gd name="T17" fmla="*/ 10287 w 10287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87" h="10000">
                    <a:moveTo>
                      <a:pt x="0" y="3840"/>
                    </a:moveTo>
                    <a:cubicBezTo>
                      <a:pt x="881" y="1344"/>
                      <a:pt x="1284" y="-179"/>
                      <a:pt x="2069" y="16"/>
                    </a:cubicBezTo>
                    <a:cubicBezTo>
                      <a:pt x="2855" y="211"/>
                      <a:pt x="4147" y="3491"/>
                      <a:pt x="4713" y="5008"/>
                    </a:cubicBezTo>
                    <a:cubicBezTo>
                      <a:pt x="5279" y="6525"/>
                      <a:pt x="6530" y="10057"/>
                      <a:pt x="7356" y="10000"/>
                    </a:cubicBezTo>
                    <a:cubicBezTo>
                      <a:pt x="8399" y="10000"/>
                      <a:pt x="9630" y="6032"/>
                      <a:pt x="10287" y="4052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57" name="Freeform 188"/>
            <p:cNvSpPr>
              <a:spLocks/>
            </p:cNvSpPr>
            <p:nvPr/>
          </p:nvSpPr>
          <p:spPr bwMode="auto">
            <a:xfrm>
              <a:off x="2279" y="2182"/>
              <a:ext cx="140" cy="585"/>
            </a:xfrm>
            <a:custGeom>
              <a:avLst/>
              <a:gdLst>
                <a:gd name="T0" fmla="*/ 0 w 10000"/>
                <a:gd name="T1" fmla="*/ 7349226 h 10000"/>
                <a:gd name="T2" fmla="*/ 420907 w 10000"/>
                <a:gd name="T3" fmla="*/ 0 h 10000"/>
                <a:gd name="T4" fmla="*/ 420907 w 10000"/>
                <a:gd name="T5" fmla="*/ 7349226 h 10000"/>
                <a:gd name="T6" fmla="*/ 420907 w 10000"/>
                <a:gd name="T7" fmla="*/ 7349226 h 10000"/>
                <a:gd name="T8" fmla="*/ 420907 w 10000"/>
                <a:gd name="T9" fmla="*/ 7349226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780"/>
                    <a:pt x="10000" y="4797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8" name="Freeform 188"/>
            <p:cNvSpPr>
              <a:spLocks/>
            </p:cNvSpPr>
            <p:nvPr/>
          </p:nvSpPr>
          <p:spPr bwMode="auto">
            <a:xfrm>
              <a:off x="2419" y="2135"/>
              <a:ext cx="144" cy="624"/>
            </a:xfrm>
            <a:custGeom>
              <a:avLst/>
              <a:gdLst>
                <a:gd name="T0" fmla="*/ 0 w 10272"/>
                <a:gd name="T1" fmla="*/ 8361786 h 10000"/>
                <a:gd name="T2" fmla="*/ 422031 w 10272"/>
                <a:gd name="T3" fmla="*/ 0 h 10000"/>
                <a:gd name="T4" fmla="*/ 422031 w 10272"/>
                <a:gd name="T5" fmla="*/ 8361786 h 10000"/>
                <a:gd name="T6" fmla="*/ 422031 w 10272"/>
                <a:gd name="T7" fmla="*/ 8361786 h 10000"/>
                <a:gd name="T8" fmla="*/ 422031 w 10272"/>
                <a:gd name="T9" fmla="*/ 8361786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2"/>
                <a:gd name="T16" fmla="*/ 0 h 10000"/>
                <a:gd name="T17" fmla="*/ 10272 w 10272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2" h="10000">
                  <a:moveTo>
                    <a:pt x="0" y="5190"/>
                  </a:moveTo>
                  <a:cubicBezTo>
                    <a:pt x="833" y="2690"/>
                    <a:pt x="1667" y="32"/>
                    <a:pt x="2500" y="0"/>
                  </a:cubicBezTo>
                  <a:cubicBezTo>
                    <a:pt x="3333" y="-32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651" y="6414"/>
                    <a:pt x="10272" y="4431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9" name="Freeform 188"/>
            <p:cNvSpPr>
              <a:spLocks/>
            </p:cNvSpPr>
            <p:nvPr/>
          </p:nvSpPr>
          <p:spPr bwMode="auto">
            <a:xfrm>
              <a:off x="2560" y="2195"/>
              <a:ext cx="141" cy="466"/>
            </a:xfrm>
            <a:custGeom>
              <a:avLst/>
              <a:gdLst>
                <a:gd name="T0" fmla="*/ 0 w 10000"/>
                <a:gd name="T1" fmla="*/ 4663390 h 10000"/>
                <a:gd name="T2" fmla="*/ 426941 w 10000"/>
                <a:gd name="T3" fmla="*/ 0 h 10000"/>
                <a:gd name="T4" fmla="*/ 426941 w 10000"/>
                <a:gd name="T5" fmla="*/ 4663390 h 10000"/>
                <a:gd name="T6" fmla="*/ 426941 w 10000"/>
                <a:gd name="T7" fmla="*/ 4663390 h 10000"/>
                <a:gd name="T8" fmla="*/ 426941 w 10000"/>
                <a:gd name="T9" fmla="*/ 4663390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644"/>
                    <a:pt x="10000" y="4661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060" name="组合 268"/>
            <p:cNvGrpSpPr>
              <a:grpSpLocks/>
            </p:cNvGrpSpPr>
            <p:nvPr/>
          </p:nvGrpSpPr>
          <p:grpSpPr bwMode="auto">
            <a:xfrm>
              <a:off x="2700" y="2309"/>
              <a:ext cx="421" cy="363"/>
              <a:chOff x="1467315" y="2468716"/>
              <a:chExt cx="5375574" cy="2217637"/>
            </a:xfrm>
          </p:grpSpPr>
          <p:sp>
            <p:nvSpPr>
              <p:cNvPr id="44071" name="Freeform 188"/>
              <p:cNvSpPr>
                <a:spLocks/>
              </p:cNvSpPr>
              <p:nvPr/>
            </p:nvSpPr>
            <p:spPr bwMode="auto">
              <a:xfrm>
                <a:off x="1467315" y="2518229"/>
                <a:ext cx="1789796" cy="1276784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0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5000"/>
                    </a:moveTo>
                    <a:cubicBezTo>
                      <a:pt x="833" y="2500"/>
                      <a:pt x="1667" y="0"/>
                      <a:pt x="2500" y="0"/>
                    </a:cubicBezTo>
                    <a:cubicBezTo>
                      <a:pt x="3333" y="0"/>
                      <a:pt x="4465" y="3481"/>
                      <a:pt x="5000" y="5000"/>
                    </a:cubicBezTo>
                    <a:cubicBezTo>
                      <a:pt x="5535" y="6519"/>
                      <a:pt x="6718" y="10057"/>
                      <a:pt x="7500" y="10000"/>
                    </a:cubicBezTo>
                    <a:cubicBezTo>
                      <a:pt x="8486" y="10000"/>
                      <a:pt x="9379" y="6983"/>
                      <a:pt x="10000" y="5000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2" name="Freeform 188"/>
              <p:cNvSpPr>
                <a:spLocks/>
              </p:cNvSpPr>
              <p:nvPr/>
            </p:nvSpPr>
            <p:spPr bwMode="auto">
              <a:xfrm>
                <a:off x="3250393" y="3102778"/>
                <a:ext cx="1838475" cy="716326"/>
              </a:xfrm>
              <a:custGeom>
                <a:avLst/>
                <a:gdLst>
                  <a:gd name="T0" fmla="*/ 0 w 10272"/>
                  <a:gd name="T1" fmla="*/ 2147483647 h 5827"/>
                  <a:gd name="T2" fmla="*/ 2147483647 w 10272"/>
                  <a:gd name="T3" fmla="*/ 2147483647 h 5827"/>
                  <a:gd name="T4" fmla="*/ 2147483647 w 10272"/>
                  <a:gd name="T5" fmla="*/ 2147483647 h 5827"/>
                  <a:gd name="T6" fmla="*/ 2147483647 w 10272"/>
                  <a:gd name="T7" fmla="*/ 2147483647 h 5827"/>
                  <a:gd name="T8" fmla="*/ 2147483647 w 10272"/>
                  <a:gd name="T9" fmla="*/ 2147483647 h 58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72"/>
                  <a:gd name="T16" fmla="*/ 0 h 5827"/>
                  <a:gd name="T17" fmla="*/ 10272 w 10272"/>
                  <a:gd name="T18" fmla="*/ 5827 h 58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72" h="5827">
                    <a:moveTo>
                      <a:pt x="0" y="827"/>
                    </a:moveTo>
                    <a:cubicBezTo>
                      <a:pt x="833" y="-1673"/>
                      <a:pt x="1667" y="2294"/>
                      <a:pt x="2500" y="2294"/>
                    </a:cubicBezTo>
                    <a:cubicBezTo>
                      <a:pt x="3333" y="2294"/>
                      <a:pt x="4167" y="238"/>
                      <a:pt x="5000" y="827"/>
                    </a:cubicBezTo>
                    <a:cubicBezTo>
                      <a:pt x="5833" y="1416"/>
                      <a:pt x="6718" y="5884"/>
                      <a:pt x="7500" y="5827"/>
                    </a:cubicBezTo>
                    <a:cubicBezTo>
                      <a:pt x="8486" y="5827"/>
                      <a:pt x="9651" y="3986"/>
                      <a:pt x="10272" y="2003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3" name="Freeform 188"/>
              <p:cNvSpPr>
                <a:spLocks/>
              </p:cNvSpPr>
              <p:nvPr/>
            </p:nvSpPr>
            <p:spPr bwMode="auto">
              <a:xfrm>
                <a:off x="5150287" y="2468716"/>
                <a:ext cx="1692602" cy="2217637"/>
              </a:xfrm>
              <a:custGeom>
                <a:avLst/>
                <a:gdLst>
                  <a:gd name="T0" fmla="*/ 0 w 10000"/>
                  <a:gd name="T1" fmla="*/ 2147483647 h 10000"/>
                  <a:gd name="T2" fmla="*/ 2147483647 w 10000"/>
                  <a:gd name="T3" fmla="*/ 2147483647 h 10000"/>
                  <a:gd name="T4" fmla="*/ 2147483647 w 10000"/>
                  <a:gd name="T5" fmla="*/ 2147483647 h 10000"/>
                  <a:gd name="T6" fmla="*/ 2147483647 w 10000"/>
                  <a:gd name="T7" fmla="*/ 2147483647 h 10000"/>
                  <a:gd name="T8" fmla="*/ 2147483647 w 10000"/>
                  <a:gd name="T9" fmla="*/ 2147483647 h 100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0"/>
                  <a:gd name="T17" fmla="*/ 10000 w 10000"/>
                  <a:gd name="T18" fmla="*/ 10000 h 100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0">
                    <a:moveTo>
                      <a:pt x="0" y="4242"/>
                    </a:moveTo>
                    <a:cubicBezTo>
                      <a:pt x="881" y="1744"/>
                      <a:pt x="1284" y="-121"/>
                      <a:pt x="2069" y="6"/>
                    </a:cubicBezTo>
                    <a:cubicBezTo>
                      <a:pt x="2855" y="133"/>
                      <a:pt x="4147" y="3485"/>
                      <a:pt x="4713" y="5003"/>
                    </a:cubicBezTo>
                    <a:cubicBezTo>
                      <a:pt x="5279" y="6521"/>
                      <a:pt x="6530" y="10057"/>
                      <a:pt x="7356" y="10000"/>
                    </a:cubicBezTo>
                    <a:cubicBezTo>
                      <a:pt x="8399" y="10000"/>
                      <a:pt x="9343" y="6442"/>
                      <a:pt x="10000" y="4460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61" name="Freeform 188"/>
            <p:cNvSpPr>
              <a:spLocks/>
            </p:cNvSpPr>
            <p:nvPr/>
          </p:nvSpPr>
          <p:spPr bwMode="auto">
            <a:xfrm>
              <a:off x="3121" y="2186"/>
              <a:ext cx="140" cy="581"/>
            </a:xfrm>
            <a:custGeom>
              <a:avLst/>
              <a:gdLst>
                <a:gd name="T0" fmla="*/ 0 w 10000"/>
                <a:gd name="T1" fmla="*/ 7249067 h 10000"/>
                <a:gd name="T2" fmla="*/ 420907 w 10000"/>
                <a:gd name="T3" fmla="*/ 0 h 10000"/>
                <a:gd name="T4" fmla="*/ 420907 w 10000"/>
                <a:gd name="T5" fmla="*/ 7249067 h 10000"/>
                <a:gd name="T6" fmla="*/ 420907 w 10000"/>
                <a:gd name="T7" fmla="*/ 7249067 h 10000"/>
                <a:gd name="T8" fmla="*/ 420907 w 10000"/>
                <a:gd name="T9" fmla="*/ 7249067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371"/>
                    <a:pt x="10000" y="4388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2" name="Freeform 188"/>
            <p:cNvSpPr>
              <a:spLocks/>
            </p:cNvSpPr>
            <p:nvPr/>
          </p:nvSpPr>
          <p:spPr bwMode="auto">
            <a:xfrm>
              <a:off x="3401" y="2179"/>
              <a:ext cx="144" cy="497"/>
            </a:xfrm>
            <a:custGeom>
              <a:avLst/>
              <a:gdLst>
                <a:gd name="T0" fmla="*/ 0 w 10000"/>
                <a:gd name="T1" fmla="*/ 5304478 h 10000"/>
                <a:gd name="T2" fmla="*/ 445302 w 10000"/>
                <a:gd name="T3" fmla="*/ 0 h 10000"/>
                <a:gd name="T4" fmla="*/ 445302 w 10000"/>
                <a:gd name="T5" fmla="*/ 5304478 h 10000"/>
                <a:gd name="T6" fmla="*/ 445302 w 10000"/>
                <a:gd name="T7" fmla="*/ 5304478 h 10000"/>
                <a:gd name="T8" fmla="*/ 445302 w 10000"/>
                <a:gd name="T9" fmla="*/ 5304478 h 1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00"/>
                <a:gd name="T16" fmla="*/ 0 h 10000"/>
                <a:gd name="T17" fmla="*/ 10000 w 10000"/>
                <a:gd name="T18" fmla="*/ 10000 h 1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00" h="10000">
                  <a:moveTo>
                    <a:pt x="0" y="5000"/>
                  </a:moveTo>
                  <a:cubicBezTo>
                    <a:pt x="833" y="2500"/>
                    <a:pt x="1667" y="0"/>
                    <a:pt x="2500" y="0"/>
                  </a:cubicBezTo>
                  <a:cubicBezTo>
                    <a:pt x="3333" y="0"/>
                    <a:pt x="4465" y="3481"/>
                    <a:pt x="5000" y="5000"/>
                  </a:cubicBezTo>
                  <a:cubicBezTo>
                    <a:pt x="5535" y="6519"/>
                    <a:pt x="6718" y="10057"/>
                    <a:pt x="7500" y="10000"/>
                  </a:cubicBezTo>
                  <a:cubicBezTo>
                    <a:pt x="8486" y="10000"/>
                    <a:pt x="9379" y="6983"/>
                    <a:pt x="10000" y="5000"/>
                  </a:cubicBezTo>
                </a:path>
              </a:pathLst>
            </a:custGeom>
            <a:noFill/>
            <a:ln w="190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4063" name="组合 275"/>
            <p:cNvGrpSpPr>
              <a:grpSpLocks/>
            </p:cNvGrpSpPr>
            <p:nvPr/>
          </p:nvGrpSpPr>
          <p:grpSpPr bwMode="auto">
            <a:xfrm>
              <a:off x="3542" y="2297"/>
              <a:ext cx="422" cy="391"/>
              <a:chOff x="1563859" y="2394681"/>
              <a:chExt cx="5392710" cy="2454801"/>
            </a:xfrm>
          </p:grpSpPr>
          <p:sp>
            <p:nvSpPr>
              <p:cNvPr id="44068" name="Freeform 188"/>
              <p:cNvSpPr>
                <a:spLocks/>
              </p:cNvSpPr>
              <p:nvPr/>
            </p:nvSpPr>
            <p:spPr bwMode="auto">
              <a:xfrm>
                <a:off x="1563859" y="2445260"/>
                <a:ext cx="1789796" cy="1397935"/>
              </a:xfrm>
              <a:custGeom>
                <a:avLst/>
                <a:gdLst>
                  <a:gd name="T0" fmla="*/ 0 w 10000"/>
                  <a:gd name="T1" fmla="*/ 2147483647 h 10005"/>
                  <a:gd name="T2" fmla="*/ 2147483647 w 10000"/>
                  <a:gd name="T3" fmla="*/ 2147483647 h 10005"/>
                  <a:gd name="T4" fmla="*/ 2147483647 w 10000"/>
                  <a:gd name="T5" fmla="*/ 2147483647 h 10005"/>
                  <a:gd name="T6" fmla="*/ 2147483647 w 10000"/>
                  <a:gd name="T7" fmla="*/ 2147483647 h 10005"/>
                  <a:gd name="T8" fmla="*/ 2147483647 w 10000"/>
                  <a:gd name="T9" fmla="*/ 2147483647 h 100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5"/>
                  <a:gd name="T17" fmla="*/ 10000 w 10000"/>
                  <a:gd name="T18" fmla="*/ 10005 h 100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5">
                    <a:moveTo>
                      <a:pt x="0" y="5892"/>
                    </a:moveTo>
                    <a:cubicBezTo>
                      <a:pt x="833" y="3392"/>
                      <a:pt x="1667" y="153"/>
                      <a:pt x="2500" y="5"/>
                    </a:cubicBezTo>
                    <a:cubicBezTo>
                      <a:pt x="3333" y="-143"/>
                      <a:pt x="4465" y="3486"/>
                      <a:pt x="5000" y="5005"/>
                    </a:cubicBezTo>
                    <a:cubicBezTo>
                      <a:pt x="5535" y="6524"/>
                      <a:pt x="6718" y="10062"/>
                      <a:pt x="7500" y="10005"/>
                    </a:cubicBezTo>
                    <a:cubicBezTo>
                      <a:pt x="8486" y="10005"/>
                      <a:pt x="9379" y="6988"/>
                      <a:pt x="10000" y="5005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69" name="Freeform 188"/>
              <p:cNvSpPr>
                <a:spLocks/>
              </p:cNvSpPr>
              <p:nvPr/>
            </p:nvSpPr>
            <p:spPr bwMode="auto">
              <a:xfrm>
                <a:off x="3355325" y="3130471"/>
                <a:ext cx="1789902" cy="777424"/>
              </a:xfrm>
              <a:custGeom>
                <a:avLst/>
                <a:gdLst>
                  <a:gd name="T0" fmla="*/ 0 w 10888"/>
                  <a:gd name="T1" fmla="*/ 2147483647 h 5898"/>
                  <a:gd name="T2" fmla="*/ 2147483647 w 10888"/>
                  <a:gd name="T3" fmla="*/ 2147483647 h 5898"/>
                  <a:gd name="T4" fmla="*/ 2147483647 w 10888"/>
                  <a:gd name="T5" fmla="*/ 2147483647 h 5898"/>
                  <a:gd name="T6" fmla="*/ 2147483647 w 10888"/>
                  <a:gd name="T7" fmla="*/ 2147483647 h 5898"/>
                  <a:gd name="T8" fmla="*/ 2147483647 w 10888"/>
                  <a:gd name="T9" fmla="*/ 2147483647 h 58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88"/>
                  <a:gd name="T16" fmla="*/ 0 h 5898"/>
                  <a:gd name="T17" fmla="*/ 10888 w 10888"/>
                  <a:gd name="T18" fmla="*/ 5898 h 58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88" h="5898">
                    <a:moveTo>
                      <a:pt x="0" y="898"/>
                    </a:moveTo>
                    <a:cubicBezTo>
                      <a:pt x="907" y="-1602"/>
                      <a:pt x="1815" y="1914"/>
                      <a:pt x="2722" y="1914"/>
                    </a:cubicBezTo>
                    <a:cubicBezTo>
                      <a:pt x="3629" y="1914"/>
                      <a:pt x="4537" y="234"/>
                      <a:pt x="5444" y="898"/>
                    </a:cubicBezTo>
                    <a:cubicBezTo>
                      <a:pt x="6351" y="1562"/>
                      <a:pt x="7314" y="5955"/>
                      <a:pt x="8165" y="5898"/>
                    </a:cubicBezTo>
                    <a:cubicBezTo>
                      <a:pt x="9239" y="5898"/>
                      <a:pt x="10212" y="4197"/>
                      <a:pt x="10888" y="2214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70" name="Freeform 188"/>
              <p:cNvSpPr>
                <a:spLocks/>
              </p:cNvSpPr>
              <p:nvPr/>
            </p:nvSpPr>
            <p:spPr bwMode="auto">
              <a:xfrm>
                <a:off x="5166779" y="2394681"/>
                <a:ext cx="1789790" cy="2454801"/>
              </a:xfrm>
              <a:custGeom>
                <a:avLst/>
                <a:gdLst>
                  <a:gd name="T0" fmla="*/ 0 w 10000"/>
                  <a:gd name="T1" fmla="*/ 2147483647 h 10007"/>
                  <a:gd name="T2" fmla="*/ 2147483647 w 10000"/>
                  <a:gd name="T3" fmla="*/ 2147483647 h 10007"/>
                  <a:gd name="T4" fmla="*/ 2147483647 w 10000"/>
                  <a:gd name="T5" fmla="*/ 2147483647 h 10007"/>
                  <a:gd name="T6" fmla="*/ 2147483647 w 10000"/>
                  <a:gd name="T7" fmla="*/ 2147483647 h 10007"/>
                  <a:gd name="T8" fmla="*/ 2147483647 w 10000"/>
                  <a:gd name="T9" fmla="*/ 2147483647 h 100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000"/>
                  <a:gd name="T16" fmla="*/ 0 h 10007"/>
                  <a:gd name="T17" fmla="*/ 10000 w 10000"/>
                  <a:gd name="T18" fmla="*/ 10007 h 100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000" h="10007">
                    <a:moveTo>
                      <a:pt x="0" y="4199"/>
                    </a:moveTo>
                    <a:cubicBezTo>
                      <a:pt x="833" y="1699"/>
                      <a:pt x="1667" y="-128"/>
                      <a:pt x="2500" y="7"/>
                    </a:cubicBezTo>
                    <a:cubicBezTo>
                      <a:pt x="3333" y="142"/>
                      <a:pt x="4465" y="3488"/>
                      <a:pt x="5000" y="5007"/>
                    </a:cubicBezTo>
                    <a:cubicBezTo>
                      <a:pt x="5535" y="6526"/>
                      <a:pt x="6718" y="10064"/>
                      <a:pt x="7500" y="10007"/>
                    </a:cubicBezTo>
                    <a:cubicBezTo>
                      <a:pt x="8486" y="10007"/>
                      <a:pt x="9379" y="6990"/>
                      <a:pt x="10000" y="5007"/>
                    </a:cubicBezTo>
                  </a:path>
                </a:pathLst>
              </a:custGeom>
              <a:noFill/>
              <a:ln w="1905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4064" name="Freeform 188"/>
            <p:cNvSpPr>
              <a:spLocks/>
            </p:cNvSpPr>
            <p:nvPr/>
          </p:nvSpPr>
          <p:spPr bwMode="auto">
            <a:xfrm>
              <a:off x="3713" y="2238"/>
              <a:ext cx="201" cy="213"/>
            </a:xfrm>
            <a:custGeom>
              <a:avLst/>
              <a:gdLst>
                <a:gd name="T0" fmla="*/ 0 w 10936"/>
                <a:gd name="T1" fmla="*/ 856258 h 10667"/>
                <a:gd name="T2" fmla="*/ 725446 w 10936"/>
                <a:gd name="T3" fmla="*/ 0 h 10667"/>
                <a:gd name="T4" fmla="*/ 0 60000 65536"/>
                <a:gd name="T5" fmla="*/ 0 60000 65536"/>
                <a:gd name="T6" fmla="*/ 0 w 10936"/>
                <a:gd name="T7" fmla="*/ 0 h 10667"/>
                <a:gd name="T8" fmla="*/ 10936 w 10936"/>
                <a:gd name="T9" fmla="*/ 10667 h 106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936" h="10667">
                  <a:moveTo>
                    <a:pt x="0" y="10667"/>
                  </a:moveTo>
                  <a:cubicBezTo>
                    <a:pt x="3645" y="7111"/>
                    <a:pt x="6088" y="2622"/>
                    <a:pt x="10936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5" name="Freeform 188"/>
            <p:cNvSpPr>
              <a:spLocks/>
            </p:cNvSpPr>
            <p:nvPr/>
          </p:nvSpPr>
          <p:spPr bwMode="auto">
            <a:xfrm flipH="1">
              <a:off x="3713" y="2455"/>
              <a:ext cx="255" cy="261"/>
            </a:xfrm>
            <a:custGeom>
              <a:avLst/>
              <a:gdLst>
                <a:gd name="T0" fmla="*/ 0 w 10000"/>
                <a:gd name="T1" fmla="*/ 1462887 h 10000"/>
                <a:gd name="T2" fmla="*/ 1396401 w 10000"/>
                <a:gd name="T3" fmla="*/ 0 h 10000"/>
                <a:gd name="T4" fmla="*/ 0 60000 65536"/>
                <a:gd name="T5" fmla="*/ 0 60000 65536"/>
                <a:gd name="T6" fmla="*/ 0 w 10000"/>
                <a:gd name="T7" fmla="*/ 0 h 10000"/>
                <a:gd name="T8" fmla="*/ 10000 w 10000"/>
                <a:gd name="T9" fmla="*/ 10000 h 1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00" h="10000">
                  <a:moveTo>
                    <a:pt x="0" y="10000"/>
                  </a:moveTo>
                  <a:cubicBezTo>
                    <a:pt x="4609" y="8377"/>
                    <a:pt x="8336" y="1666"/>
                    <a:pt x="10000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6" name="Freeform 188"/>
            <p:cNvSpPr>
              <a:spLocks/>
            </p:cNvSpPr>
            <p:nvPr/>
          </p:nvSpPr>
          <p:spPr bwMode="auto">
            <a:xfrm flipH="1">
              <a:off x="1715" y="2167"/>
              <a:ext cx="328" cy="296"/>
            </a:xfrm>
            <a:custGeom>
              <a:avLst/>
              <a:gdLst>
                <a:gd name="T0" fmla="*/ 0 w 10000"/>
                <a:gd name="T1" fmla="*/ 1881539 h 10000"/>
                <a:gd name="T2" fmla="*/ 2310349 w 10000"/>
                <a:gd name="T3" fmla="*/ 0 h 10000"/>
                <a:gd name="T4" fmla="*/ 0 60000 65536"/>
                <a:gd name="T5" fmla="*/ 0 60000 65536"/>
                <a:gd name="T6" fmla="*/ 0 w 10000"/>
                <a:gd name="T7" fmla="*/ 0 h 10000"/>
                <a:gd name="T8" fmla="*/ 10000 w 10000"/>
                <a:gd name="T9" fmla="*/ 10000 h 1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00" h="10000">
                  <a:moveTo>
                    <a:pt x="0" y="10000"/>
                  </a:moveTo>
                  <a:cubicBezTo>
                    <a:pt x="1666" y="8335"/>
                    <a:pt x="4044" y="2801"/>
                    <a:pt x="10000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7" name="Freeform 188"/>
            <p:cNvSpPr>
              <a:spLocks/>
            </p:cNvSpPr>
            <p:nvPr/>
          </p:nvSpPr>
          <p:spPr bwMode="auto">
            <a:xfrm>
              <a:off x="1723" y="2459"/>
              <a:ext cx="304" cy="296"/>
            </a:xfrm>
            <a:custGeom>
              <a:avLst/>
              <a:gdLst>
                <a:gd name="T0" fmla="*/ 0 w 10000"/>
                <a:gd name="T1" fmla="*/ 1881539 h 10000"/>
                <a:gd name="T2" fmla="*/ 1984618 w 10000"/>
                <a:gd name="T3" fmla="*/ 0 h 10000"/>
                <a:gd name="T4" fmla="*/ 0 60000 65536"/>
                <a:gd name="T5" fmla="*/ 0 60000 65536"/>
                <a:gd name="T6" fmla="*/ 0 w 10000"/>
                <a:gd name="T7" fmla="*/ 0 h 10000"/>
                <a:gd name="T8" fmla="*/ 10000 w 10000"/>
                <a:gd name="T9" fmla="*/ 10000 h 100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00" h="10000">
                  <a:moveTo>
                    <a:pt x="0" y="10000"/>
                  </a:moveTo>
                  <a:cubicBezTo>
                    <a:pt x="6164" y="7111"/>
                    <a:pt x="8335" y="1666"/>
                    <a:pt x="10000" y="0"/>
                  </a:cubicBezTo>
                </a:path>
              </a:pathLst>
            </a:custGeom>
            <a:noFill/>
            <a:ln w="12700">
              <a:solidFill>
                <a:srgbClr val="00206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029" name="Group 205"/>
          <p:cNvGrpSpPr>
            <a:grpSpLocks/>
          </p:cNvGrpSpPr>
          <p:nvPr/>
        </p:nvGrpSpPr>
        <p:grpSpPr bwMode="auto">
          <a:xfrm>
            <a:off x="2339975" y="3363913"/>
            <a:ext cx="4287838" cy="881062"/>
            <a:chOff x="1474" y="2931"/>
            <a:chExt cx="2701" cy="739"/>
          </a:xfrm>
        </p:grpSpPr>
        <p:grpSp>
          <p:nvGrpSpPr>
            <p:cNvPr id="44042" name="Group 202"/>
            <p:cNvGrpSpPr>
              <a:grpSpLocks/>
            </p:cNvGrpSpPr>
            <p:nvPr/>
          </p:nvGrpSpPr>
          <p:grpSpPr bwMode="auto">
            <a:xfrm>
              <a:off x="1474" y="2976"/>
              <a:ext cx="2676" cy="694"/>
              <a:chOff x="1474" y="2976"/>
              <a:chExt cx="2676" cy="694"/>
            </a:xfrm>
          </p:grpSpPr>
          <p:graphicFrame>
            <p:nvGraphicFramePr>
              <p:cNvPr id="44045" name="Object 198"/>
              <p:cNvGraphicFramePr>
                <a:graphicFrameLocks noChangeAspect="1"/>
              </p:cNvGraphicFramePr>
              <p:nvPr/>
            </p:nvGraphicFramePr>
            <p:xfrm>
              <a:off x="1474" y="3022"/>
              <a:ext cx="2676" cy="6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86" name="Graph" r:id="rId8" imgW="4113581" imgH="2952902" progId="Origin50.Graph">
                      <p:embed/>
                    </p:oleObj>
                  </mc:Choice>
                  <mc:Fallback>
                    <p:oleObj name="Graph" r:id="rId8" imgW="4113581" imgH="2952902" progId="Origin50.Graph">
                      <p:embed/>
                      <p:pic>
                        <p:nvPicPr>
                          <p:cNvPr id="0" name="Object 1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 l="17094" t="63745"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74" y="3022"/>
                            <a:ext cx="2676" cy="6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4046" name="Line 200"/>
              <p:cNvSpPr>
                <a:spLocks noChangeShapeType="1"/>
              </p:cNvSpPr>
              <p:nvPr/>
            </p:nvSpPr>
            <p:spPr bwMode="auto">
              <a:xfrm>
                <a:off x="1655" y="3521"/>
                <a:ext cx="24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47" name="Line 201"/>
              <p:cNvSpPr>
                <a:spLocks noChangeShapeType="1"/>
              </p:cNvSpPr>
              <p:nvPr/>
            </p:nvSpPr>
            <p:spPr bwMode="auto">
              <a:xfrm flipV="1">
                <a:off x="1655" y="2976"/>
                <a:ext cx="0" cy="68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44043" name="Object 203"/>
            <p:cNvGraphicFramePr>
              <a:graphicFrameLocks noChangeAspect="1"/>
            </p:cNvGraphicFramePr>
            <p:nvPr/>
          </p:nvGraphicFramePr>
          <p:xfrm>
            <a:off x="1474" y="2931"/>
            <a:ext cx="152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7" name="Equation" r:id="rId10" imgW="164885" imgH="164885" progId="Equation.DSMT4">
                    <p:embed/>
                  </p:oleObj>
                </mc:Choice>
                <mc:Fallback>
                  <p:oleObj name="Equation" r:id="rId10" imgW="164885" imgH="164885" progId="Equation.DSMT4">
                    <p:embed/>
                    <p:pic>
                      <p:nvPicPr>
                        <p:cNvPr id="0" name="Object 2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2931"/>
                          <a:ext cx="152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44" name="Object 204"/>
            <p:cNvGraphicFramePr>
              <a:graphicFrameLocks noChangeAspect="1"/>
            </p:cNvGraphicFramePr>
            <p:nvPr/>
          </p:nvGraphicFramePr>
          <p:xfrm>
            <a:off x="4059" y="3385"/>
            <a:ext cx="116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88" name="Equation" r:id="rId12" imgW="101468" imgH="164885" progId="Equation.DSMT4">
                    <p:embed/>
                  </p:oleObj>
                </mc:Choice>
                <mc:Fallback>
                  <p:oleObj name="Equation" r:id="rId12" imgW="101468" imgH="164885" progId="Equation.DSMT4">
                    <p:embed/>
                    <p:pic>
                      <p:nvPicPr>
                        <p:cNvPr id="0" name="Object 2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385"/>
                          <a:ext cx="116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205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25"/>
          <p:cNvSpPr txBox="1">
            <a:spLocks noChangeArrowheads="1"/>
          </p:cNvSpPr>
          <p:nvPr/>
        </p:nvSpPr>
        <p:spPr bwMode="auto">
          <a:xfrm flipH="1">
            <a:off x="611188" y="1131888"/>
            <a:ext cx="77851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  <a:sym typeface="Symbol" pitchFamily="18" charset="2"/>
              </a:rPr>
              <a:t>合振动的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“振幅”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时而大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(2</a:t>
            </a:r>
            <a:r>
              <a:rPr lang="en-US" altLang="zh-CN" sz="1800" i="1">
                <a:ea typeface="华文中宋" pitchFamily="2" charset="-122"/>
                <a:sym typeface="Symbol" pitchFamily="18" charset="2"/>
              </a:rPr>
              <a:t>A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)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，时而小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(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为 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0)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，这种</a:t>
            </a:r>
            <a:r>
              <a:rPr kumimoji="0" lang="zh-CN" altLang="en-US" sz="1800">
                <a:ea typeface="华文中宋" pitchFamily="2" charset="-122"/>
              </a:rPr>
              <a:t>合振动周期性的时强时弱的现象称作</a:t>
            </a:r>
            <a:r>
              <a:rPr kumimoji="0" lang="zh-CN" altLang="en-US" sz="1800" u="sng">
                <a:solidFill>
                  <a:srgbClr val="FF0000"/>
                </a:solidFill>
                <a:ea typeface="华文中宋" pitchFamily="2" charset="-122"/>
              </a:rPr>
              <a:t>拍</a:t>
            </a:r>
            <a:r>
              <a:rPr kumimoji="0" lang="zh-CN" altLang="en-US" sz="1800">
                <a:ea typeface="华文中宋" pitchFamily="2" charset="-122"/>
              </a:rPr>
              <a:t> 。</a:t>
            </a:r>
            <a:endParaRPr lang="zh-CN" altLang="en-US" sz="1800">
              <a:ea typeface="华文中宋" pitchFamily="2" charset="-122"/>
              <a:sym typeface="Symbol" pitchFamily="18" charset="2"/>
            </a:endParaRPr>
          </a:p>
        </p:txBody>
      </p:sp>
      <p:sp>
        <p:nvSpPr>
          <p:cNvPr id="51336" name="Text Box 136"/>
          <p:cNvSpPr txBox="1">
            <a:spLocks noChangeArrowheads="1"/>
          </p:cNvSpPr>
          <p:nvPr/>
        </p:nvSpPr>
        <p:spPr bwMode="auto">
          <a:xfrm>
            <a:off x="323850" y="835025"/>
            <a:ext cx="20875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ea typeface="华文中宋" pitchFamily="2" charset="-122"/>
              </a:rPr>
              <a:t>（</a:t>
            </a:r>
            <a:r>
              <a:rPr lang="en-US" altLang="zh-CN" sz="1800">
                <a:ea typeface="华文中宋" pitchFamily="2" charset="-122"/>
              </a:rPr>
              <a:t>2</a:t>
            </a:r>
            <a:r>
              <a:rPr lang="zh-CN" altLang="en-US" sz="1800">
                <a:ea typeface="华文中宋" pitchFamily="2" charset="-122"/>
              </a:rPr>
              <a:t>）拍与拍频</a:t>
            </a:r>
            <a:endParaRPr lang="zh-CN" altLang="en-US" sz="1800" b="0">
              <a:ea typeface="华文中宋" pitchFamily="2" charset="-122"/>
            </a:endParaRPr>
          </a:p>
        </p:txBody>
      </p:sp>
      <p:graphicFrame>
        <p:nvGraphicFramePr>
          <p:cNvPr id="51337" name="Object 137"/>
          <p:cNvGraphicFramePr>
            <a:graphicFrameLocks noChangeAspect="1"/>
          </p:cNvGraphicFramePr>
          <p:nvPr/>
        </p:nvGraphicFramePr>
        <p:xfrm>
          <a:off x="2339975" y="1565275"/>
          <a:ext cx="431958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8" name="公式" r:id="rId4" imgW="1778000" imgH="330200" progId="Equation.3">
                  <p:embed/>
                </p:oleObj>
              </mc:Choice>
              <mc:Fallback>
                <p:oleObj name="公式" r:id="rId4" imgW="1778000" imgH="330200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565275"/>
                        <a:ext cx="4319588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8" name="Rectangle 138"/>
          <p:cNvSpPr>
            <a:spLocks noChangeArrowheads="1"/>
          </p:cNvSpPr>
          <p:nvPr/>
        </p:nvSpPr>
        <p:spPr bwMode="auto">
          <a:xfrm>
            <a:off x="755650" y="2211388"/>
            <a:ext cx="777716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1800">
                <a:ea typeface="华文中宋" pitchFamily="2" charset="-122"/>
              </a:rPr>
              <a:t>余弦函数的周期应为</a:t>
            </a:r>
            <a:r>
              <a:rPr lang="en-US" altLang="zh-CN" sz="1800">
                <a:ea typeface="华文中宋" pitchFamily="2" charset="-122"/>
              </a:rPr>
              <a:t>2π</a:t>
            </a:r>
            <a:r>
              <a:rPr lang="zh-CN" altLang="en-US" sz="1800">
                <a:ea typeface="华文中宋" pitchFamily="2" charset="-122"/>
              </a:rPr>
              <a:t>，但取绝对值后，周期为</a:t>
            </a:r>
            <a:r>
              <a:rPr lang="en-US" altLang="zh-CN" sz="1800">
                <a:ea typeface="华文中宋" pitchFamily="2" charset="-122"/>
              </a:rPr>
              <a:t>π</a:t>
            </a:r>
            <a:r>
              <a:rPr lang="zh-CN" altLang="en-US" sz="1800">
                <a:ea typeface="华文中宋" pitchFamily="2" charset="-122"/>
              </a:rPr>
              <a:t>，故合振幅变化的周期  </a:t>
            </a:r>
          </a:p>
        </p:txBody>
      </p:sp>
      <p:graphicFrame>
        <p:nvGraphicFramePr>
          <p:cNvPr id="51339" name="Object 139"/>
          <p:cNvGraphicFramePr>
            <a:graphicFrameLocks noChangeAspect="1"/>
          </p:cNvGraphicFramePr>
          <p:nvPr/>
        </p:nvGraphicFramePr>
        <p:xfrm>
          <a:off x="2771775" y="2563813"/>
          <a:ext cx="3313113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9" name="公式" r:id="rId6" imgW="1168400" imgH="558800" progId="Equation.3">
                  <p:embed/>
                </p:oleObj>
              </mc:Choice>
              <mc:Fallback>
                <p:oleObj name="公式" r:id="rId6" imgW="1168400" imgH="558800" progId="Equation.3">
                  <p:embed/>
                  <p:pic>
                    <p:nvPicPr>
                      <p:cNvPr id="0" name="Object 1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563813"/>
                        <a:ext cx="3313113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0" name="Object 140"/>
          <p:cNvGraphicFramePr>
            <a:graphicFrameLocks noChangeAspect="1"/>
          </p:cNvGraphicFramePr>
          <p:nvPr/>
        </p:nvGraphicFramePr>
        <p:xfrm>
          <a:off x="1847850" y="3613150"/>
          <a:ext cx="430847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0" name="公式" r:id="rId8" imgW="1663700" imgH="330200" progId="Equation.3">
                  <p:embed/>
                </p:oleObj>
              </mc:Choice>
              <mc:Fallback>
                <p:oleObj name="公式" r:id="rId8" imgW="1663700" imgH="330200" progId="Equation.3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613150"/>
                        <a:ext cx="4308475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41" name="Text Box 141"/>
          <p:cNvSpPr txBox="1">
            <a:spLocks noChangeArrowheads="1"/>
          </p:cNvSpPr>
          <p:nvPr/>
        </p:nvSpPr>
        <p:spPr bwMode="auto">
          <a:xfrm>
            <a:off x="1187450" y="4217988"/>
            <a:ext cx="6310313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800">
                <a:ea typeface="华文中宋" pitchFamily="2" charset="-122"/>
              </a:rPr>
              <a:t>即“拍频”等于两个分振动频率之差的绝对值。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13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513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1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1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1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51336" grpId="0" autoUpdateAnimBg="0"/>
      <p:bldP spid="51338" grpId="0" autoUpdateAnimBg="0"/>
      <p:bldP spid="51341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96863" y="950913"/>
            <a:ext cx="58674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1800">
                <a:solidFill>
                  <a:srgbClr val="FF0000"/>
                </a:solidFill>
                <a:ea typeface="华文中宋" pitchFamily="2" charset="-122"/>
              </a:rPr>
              <a:t> “</a:t>
            </a:r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拍振动”的应用</a:t>
            </a:r>
            <a:endParaRPr lang="en-US" altLang="zh-CN" sz="1800">
              <a:solidFill>
                <a:srgbClr val="FF0000"/>
              </a:solidFill>
              <a:ea typeface="华文中宋" pitchFamily="2" charset="-122"/>
            </a:endParaRPr>
          </a:p>
          <a:p>
            <a:pPr algn="just"/>
            <a:r>
              <a:rPr lang="zh-CN" altLang="en-US" sz="1800">
                <a:ea typeface="华文中宋" pitchFamily="2" charset="-122"/>
              </a:rPr>
              <a:t>利用拍现象还可以测定振动频率、校正乐器和制造差拍振荡器等等</a:t>
            </a:r>
          </a:p>
          <a:p>
            <a:r>
              <a:rPr lang="zh-CN" altLang="en-US" sz="1800">
                <a:ea typeface="华文中宋" pitchFamily="2" charset="-122"/>
              </a:rPr>
              <a:t>双簧管，</a:t>
            </a:r>
          </a:p>
          <a:p>
            <a:r>
              <a:rPr lang="zh-CN" altLang="en-US" sz="1800">
                <a:ea typeface="华文中宋" pitchFamily="2" charset="-122"/>
              </a:rPr>
              <a:t>钢琴调音。 </a:t>
            </a:r>
          </a:p>
        </p:txBody>
      </p:sp>
      <p:pic>
        <p:nvPicPr>
          <p:cNvPr id="4" name="Picture 12" descr="805_200707250028061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263" y="1436688"/>
            <a:ext cx="2295525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989013" y="3387725"/>
            <a:ext cx="76866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例  分别敲击某待测音叉和标准音叉，使它们同时发音，听到时强时弱的拍音．若测得在</a:t>
            </a:r>
            <a:r>
              <a:rPr kumimoji="0" lang="en-US" altLang="zh-CN" sz="1800">
                <a:solidFill>
                  <a:srgbClr val="0000FF"/>
                </a:solidFill>
                <a:ea typeface="华文中宋" pitchFamily="2" charset="-122"/>
              </a:rPr>
              <a:t>20</a:t>
            </a:r>
            <a:r>
              <a:rPr kumimoji="0" lang="en-US" altLang="zh-CN" sz="1800" i="1">
                <a:solidFill>
                  <a:srgbClr val="0000FF"/>
                </a:solidFill>
                <a:ea typeface="华文中宋" pitchFamily="2" charset="-122"/>
              </a:rPr>
              <a:t>s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内拍的次数为</a:t>
            </a:r>
            <a:r>
              <a:rPr kumimoji="0" lang="en-US" altLang="zh-CN" sz="1800">
                <a:solidFill>
                  <a:srgbClr val="0000FF"/>
                </a:solidFill>
                <a:ea typeface="华文中宋" pitchFamily="2" charset="-122"/>
              </a:rPr>
              <a:t>180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次，标准音叉的频率为</a:t>
            </a:r>
            <a:r>
              <a:rPr kumimoji="0" lang="en-US" altLang="zh-CN" sz="1800">
                <a:solidFill>
                  <a:srgbClr val="0000FF"/>
                </a:solidFill>
                <a:ea typeface="华文中宋" pitchFamily="2" charset="-122"/>
              </a:rPr>
              <a:t>300 Hz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，则待测音叉的频率为</a:t>
            </a:r>
            <a:r>
              <a:rPr kumimoji="0" lang="en-US" altLang="zh-CN" sz="1800">
                <a:solidFill>
                  <a:srgbClr val="0000FF"/>
                </a:solidFill>
                <a:ea typeface="华文中宋" pitchFamily="2" charset="-122"/>
              </a:rPr>
              <a:t>_______</a:t>
            </a:r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． </a:t>
            </a:r>
          </a:p>
          <a:p>
            <a:pPr eaLnBrk="1" hangingPunct="1"/>
            <a:r>
              <a:rPr kumimoji="0" lang="zh-CN" altLang="en-US" sz="1800">
                <a:ea typeface="华文中宋" pitchFamily="2" charset="-122"/>
              </a:rPr>
              <a:t>                      </a:t>
            </a:r>
            <a:r>
              <a:rPr kumimoji="0" lang="zh-CN" altLang="en-US" sz="1800">
                <a:solidFill>
                  <a:srgbClr val="FF0000"/>
                </a:solidFill>
                <a:ea typeface="华文中宋" pitchFamily="2" charset="-122"/>
              </a:rPr>
              <a:t>答案：</a:t>
            </a:r>
            <a:r>
              <a:rPr kumimoji="0" lang="en-US" altLang="zh-CN" sz="1800">
                <a:ea typeface="华文中宋" pitchFamily="2" charset="-122"/>
              </a:rPr>
              <a:t>291 Hz</a:t>
            </a:r>
            <a:r>
              <a:rPr kumimoji="0" lang="zh-CN" altLang="en-US" sz="1800">
                <a:ea typeface="华文中宋" pitchFamily="2" charset="-122"/>
              </a:rPr>
              <a:t>或</a:t>
            </a:r>
            <a:r>
              <a:rPr kumimoji="0" lang="en-US" altLang="zh-CN" sz="1800">
                <a:ea typeface="华文中宋" pitchFamily="2" charset="-122"/>
              </a:rPr>
              <a:t>309 Hz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77" name="Object 5"/>
          <p:cNvGraphicFramePr>
            <a:graphicFrameLocks noChangeAspect="1"/>
          </p:cNvGraphicFramePr>
          <p:nvPr/>
        </p:nvGraphicFramePr>
        <p:xfrm>
          <a:off x="3375025" y="2265363"/>
          <a:ext cx="19621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4" name="Equation" r:id="rId3" imgW="837836" imgH="253890" progId="Equation.DSMT4">
                  <p:embed/>
                </p:oleObj>
              </mc:Choice>
              <mc:Fallback>
                <p:oleObj name="Equation" r:id="rId3" imgW="837836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25" y="2265363"/>
                        <a:ext cx="19621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8" name="Object 6"/>
          <p:cNvGraphicFramePr>
            <a:graphicFrameLocks noChangeAspect="1"/>
          </p:cNvGraphicFramePr>
          <p:nvPr/>
        </p:nvGraphicFramePr>
        <p:xfrm>
          <a:off x="1873250" y="3208338"/>
          <a:ext cx="21574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5" name="Equation" r:id="rId5" imgW="1167893" imgH="253890" progId="Equation.DSMT4">
                  <p:embed/>
                </p:oleObj>
              </mc:Choice>
              <mc:Fallback>
                <p:oleObj name="Equation" r:id="rId5" imgW="1167893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3208338"/>
                        <a:ext cx="21574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79" name="Object 7"/>
          <p:cNvGraphicFramePr>
            <a:graphicFrameLocks noChangeAspect="1"/>
          </p:cNvGraphicFramePr>
          <p:nvPr/>
        </p:nvGraphicFramePr>
        <p:xfrm>
          <a:off x="4294188" y="3205163"/>
          <a:ext cx="228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Equation" r:id="rId7" imgW="1155700" imgH="254000" progId="Equation.DSMT4">
                  <p:embed/>
                </p:oleObj>
              </mc:Choice>
              <mc:Fallback>
                <p:oleObj name="Equation" r:id="rId7" imgW="11557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8" y="3205163"/>
                        <a:ext cx="2286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684213" y="1843088"/>
            <a:ext cx="79200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解：</a:t>
            </a:r>
            <a:r>
              <a:rPr lang="zh-CN" altLang="en-US" sz="1800">
                <a:ea typeface="华文中宋" pitchFamily="2" charset="-122"/>
              </a:rPr>
              <a:t>由两同方向、不同频率谐振动的合成可知，拍频为：</a:t>
            </a:r>
          </a:p>
        </p:txBody>
      </p:sp>
      <p:sp>
        <p:nvSpPr>
          <p:cNvPr id="207881" name="Rectangle 9"/>
          <p:cNvSpPr>
            <a:spLocks noChangeArrowheads="1"/>
          </p:cNvSpPr>
          <p:nvPr/>
        </p:nvSpPr>
        <p:spPr bwMode="auto">
          <a:xfrm>
            <a:off x="1331913" y="2759075"/>
            <a:ext cx="2941637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>
                <a:ea typeface="华文中宋" pitchFamily="2" charset="-122"/>
              </a:rPr>
              <a:t>又由已知条件可知：</a:t>
            </a:r>
          </a:p>
        </p:txBody>
      </p:sp>
      <p:graphicFrame>
        <p:nvGraphicFramePr>
          <p:cNvPr id="207885" name="Object 13"/>
          <p:cNvGraphicFramePr>
            <a:graphicFrameLocks noChangeAspect="1"/>
          </p:cNvGraphicFramePr>
          <p:nvPr/>
        </p:nvGraphicFramePr>
        <p:xfrm>
          <a:off x="3751263" y="4156075"/>
          <a:ext cx="16843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9" imgW="787320" imgH="228600" progId="Equation.DSMT4">
                  <p:embed/>
                </p:oleObj>
              </mc:Choice>
              <mc:Fallback>
                <p:oleObj name="Equation" r:id="rId9" imgW="78732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4156075"/>
                        <a:ext cx="16843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7889" name="Group 17"/>
          <p:cNvGrpSpPr>
            <a:grpSpLocks/>
          </p:cNvGrpSpPr>
          <p:nvPr/>
        </p:nvGrpSpPr>
        <p:grpSpPr bwMode="auto">
          <a:xfrm>
            <a:off x="1314450" y="3692525"/>
            <a:ext cx="5621338" cy="404813"/>
            <a:chOff x="828" y="3102"/>
            <a:chExt cx="3541" cy="339"/>
          </a:xfrm>
        </p:grpSpPr>
        <p:graphicFrame>
          <p:nvGraphicFramePr>
            <p:cNvPr id="47114" name="Object 11"/>
            <p:cNvGraphicFramePr>
              <a:graphicFrameLocks noChangeAspect="1"/>
            </p:cNvGraphicFramePr>
            <p:nvPr/>
          </p:nvGraphicFramePr>
          <p:xfrm>
            <a:off x="1338" y="3158"/>
            <a:ext cx="952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8" name="Equation" r:id="rId11" imgW="787320" imgH="228600" progId="Equation.DSMT4">
                    <p:embed/>
                  </p:oleObj>
                </mc:Choice>
                <mc:Fallback>
                  <p:oleObj name="Equation" r:id="rId11" imgW="78732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3158"/>
                          <a:ext cx="952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5" name="Object 12"/>
            <p:cNvGraphicFramePr>
              <a:graphicFrameLocks noChangeAspect="1"/>
            </p:cNvGraphicFramePr>
            <p:nvPr/>
          </p:nvGraphicFramePr>
          <p:xfrm>
            <a:off x="2366" y="3158"/>
            <a:ext cx="968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29" name="Equation" r:id="rId13" imgW="787320" imgH="228600" progId="Equation.DSMT4">
                    <p:embed/>
                  </p:oleObj>
                </mc:Choice>
                <mc:Fallback>
                  <p:oleObj name="Equation" r:id="rId13" imgW="787320" imgH="2286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6" y="3158"/>
                          <a:ext cx="968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6" name="Rectangle 14"/>
            <p:cNvSpPr>
              <a:spLocks noChangeArrowheads="1"/>
            </p:cNvSpPr>
            <p:nvPr/>
          </p:nvSpPr>
          <p:spPr bwMode="auto">
            <a:xfrm>
              <a:off x="828" y="3131"/>
              <a:ext cx="50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1800">
                  <a:ea typeface="华文中宋" pitchFamily="2" charset="-122"/>
                </a:rPr>
                <a:t>代入</a:t>
              </a:r>
            </a:p>
          </p:txBody>
        </p:sp>
        <p:sp>
          <p:nvSpPr>
            <p:cNvPr id="47117" name="Rectangle 15"/>
            <p:cNvSpPr>
              <a:spLocks noChangeArrowheads="1"/>
            </p:cNvSpPr>
            <p:nvPr/>
          </p:nvSpPr>
          <p:spPr bwMode="auto">
            <a:xfrm>
              <a:off x="3288" y="3102"/>
              <a:ext cx="108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1800">
                  <a:ea typeface="华文中宋" pitchFamily="2" charset="-122"/>
                </a:rPr>
                <a:t>，可解得：</a:t>
              </a:r>
            </a:p>
          </p:txBody>
        </p:sp>
      </p:grpSp>
      <p:sp>
        <p:nvSpPr>
          <p:cNvPr id="47113" name="Rectangle 16"/>
          <p:cNvSpPr>
            <a:spLocks noChangeArrowheads="1"/>
          </p:cNvSpPr>
          <p:nvPr/>
        </p:nvSpPr>
        <p:spPr bwMode="auto">
          <a:xfrm>
            <a:off x="323850" y="771525"/>
            <a:ext cx="82804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例   为测定音叉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C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的频率，另选取两个频率已知且与音叉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C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频率接近的音叉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B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，音叉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的频率为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400Hz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B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的频率为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397Hz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。若使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A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C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同时振动，则每秒听到声音加强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次，若使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B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和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C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同时振动，每秒则可听到声音加强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次，请问：音叉</a:t>
            </a:r>
            <a:r>
              <a:rPr lang="en-US" altLang="zh-CN" sz="1800" i="1">
                <a:solidFill>
                  <a:srgbClr val="0000FF"/>
                </a:solidFill>
                <a:ea typeface="华文中宋" pitchFamily="2" charset="-122"/>
              </a:rPr>
              <a:t>C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的振动频率为多少</a:t>
            </a:r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Hz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7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7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7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80" grpId="0"/>
      <p:bldP spid="20788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42988" y="1266825"/>
            <a:ext cx="58054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solidFill>
                  <a:srgbClr val="0000FF"/>
                </a:solidFill>
                <a:ea typeface="华文中宋" pitchFamily="2" charset="-122"/>
              </a:rPr>
              <a:t>阻        尼：</a:t>
            </a:r>
            <a:r>
              <a:rPr kumimoji="0" lang="zh-CN" altLang="en-US" sz="1800">
                <a:ea typeface="华文中宋" pitchFamily="2" charset="-122"/>
              </a:rPr>
              <a:t>消耗振动系统能量的原因。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03350" y="1698625"/>
            <a:ext cx="70564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摩擦阻尼：</a:t>
            </a:r>
            <a:r>
              <a:rPr lang="zh-CN" altLang="en-US" sz="1800">
                <a:ea typeface="华文中宋" pitchFamily="2" charset="-122"/>
              </a:rPr>
              <a:t>系统克服阻力作功</a:t>
            </a:r>
            <a:r>
              <a:rPr lang="en-US" altLang="zh-CN" sz="1800">
                <a:ea typeface="华文中宋" pitchFamily="2" charset="-122"/>
              </a:rPr>
              <a:t>,</a:t>
            </a:r>
            <a:r>
              <a:rPr lang="zh-CN" altLang="en-US" sz="1800">
                <a:ea typeface="华文中宋" pitchFamily="2" charset="-122"/>
              </a:rPr>
              <a:t>使振幅减小，系统的动能转化为热能。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403350" y="2139950"/>
            <a:ext cx="698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辐射阻尼：</a:t>
            </a:r>
            <a:r>
              <a:rPr lang="zh-CN" altLang="en-US" sz="1800">
                <a:ea typeface="华文中宋" pitchFamily="2" charset="-122"/>
              </a:rPr>
              <a:t>振动以波的形式向外传播，使振动能量向周围辐射出去。</a:t>
            </a:r>
          </a:p>
        </p:txBody>
      </p:sp>
      <p:graphicFrame>
        <p:nvGraphicFramePr>
          <p:cNvPr id="66596" name="Object 1060"/>
          <p:cNvGraphicFramePr>
            <a:graphicFrameLocks noChangeAspect="1"/>
          </p:cNvGraphicFramePr>
          <p:nvPr/>
        </p:nvGraphicFramePr>
        <p:xfrm>
          <a:off x="3348038" y="3003550"/>
          <a:ext cx="24955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4" name="公式" r:id="rId4" imgW="787058" imgH="203112" progId="Equation.3">
                  <p:embed/>
                </p:oleObj>
              </mc:Choice>
              <mc:Fallback>
                <p:oleObj name="公式" r:id="rId4" imgW="787058" imgH="203112" progId="Equation.3">
                  <p:embed/>
                  <p:pic>
                    <p:nvPicPr>
                      <p:cNvPr id="0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003550"/>
                        <a:ext cx="24955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97" name="Text Box 1061"/>
          <p:cNvSpPr txBox="1">
            <a:spLocks noChangeArrowheads="1"/>
          </p:cNvSpPr>
          <p:nvPr/>
        </p:nvSpPr>
        <p:spPr bwMode="auto">
          <a:xfrm>
            <a:off x="971550" y="2643188"/>
            <a:ext cx="6624638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固体在介质中所受阻力在一般情况下为：</a:t>
            </a:r>
            <a:r>
              <a:rPr lang="zh-CN" altLang="en-US" sz="1800" b="0">
                <a:ea typeface="华文中宋" pitchFamily="2" charset="-122"/>
              </a:rPr>
              <a:t>  </a:t>
            </a:r>
          </a:p>
        </p:txBody>
      </p:sp>
      <p:graphicFrame>
        <p:nvGraphicFramePr>
          <p:cNvPr id="66598" name="Object 1062"/>
          <p:cNvGraphicFramePr>
            <a:graphicFrameLocks noChangeAspect="1"/>
          </p:cNvGraphicFramePr>
          <p:nvPr/>
        </p:nvGraphicFramePr>
        <p:xfrm>
          <a:off x="3348038" y="3795713"/>
          <a:ext cx="2157412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5" name="Equation" r:id="rId6" imgW="1091880" imgH="393480" progId="Equation.DSMT4">
                  <p:embed/>
                </p:oleObj>
              </mc:Choice>
              <mc:Fallback>
                <p:oleObj name="Equation" r:id="rId6" imgW="1091880" imgH="393480" progId="Equation.DSMT4">
                  <p:embed/>
                  <p:pic>
                    <p:nvPicPr>
                      <p:cNvPr id="0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795713"/>
                        <a:ext cx="2157412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99" name="Rectangle 1063"/>
          <p:cNvSpPr>
            <a:spLocks noChangeArrowheads="1"/>
          </p:cNvSpPr>
          <p:nvPr/>
        </p:nvSpPr>
        <p:spPr bwMode="auto">
          <a:xfrm>
            <a:off x="900113" y="3508375"/>
            <a:ext cx="7775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ea typeface="华文中宋" pitchFamily="2" charset="-122"/>
              </a:rPr>
              <a:t>在低速情况下，一般只考虑其中的线性部分，即：</a:t>
            </a:r>
          </a:p>
        </p:txBody>
      </p:sp>
      <p:grpSp>
        <p:nvGrpSpPr>
          <p:cNvPr id="66602" name="Group 1066"/>
          <p:cNvGrpSpPr>
            <a:grpSpLocks/>
          </p:cNvGrpSpPr>
          <p:nvPr/>
        </p:nvGrpSpPr>
        <p:grpSpPr bwMode="auto">
          <a:xfrm>
            <a:off x="1082675" y="4227513"/>
            <a:ext cx="4784725" cy="369887"/>
            <a:chOff x="682" y="3884"/>
            <a:chExt cx="4148" cy="310"/>
          </a:xfrm>
        </p:grpSpPr>
        <p:sp>
          <p:nvSpPr>
            <p:cNvPr id="48139" name="Rectangle 1064"/>
            <p:cNvSpPr>
              <a:spLocks noChangeArrowheads="1"/>
            </p:cNvSpPr>
            <p:nvPr/>
          </p:nvSpPr>
          <p:spPr bwMode="auto">
            <a:xfrm>
              <a:off x="793" y="3884"/>
              <a:ext cx="403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ea typeface="华文中宋" pitchFamily="2" charset="-122"/>
                </a:rPr>
                <a:t>为阻力系数，与物体与介质的性质有关。</a:t>
              </a:r>
            </a:p>
          </p:txBody>
        </p:sp>
        <p:graphicFrame>
          <p:nvGraphicFramePr>
            <p:cNvPr id="48140" name="Object 1065"/>
            <p:cNvGraphicFramePr>
              <a:graphicFrameLocks noChangeAspect="1"/>
            </p:cNvGraphicFramePr>
            <p:nvPr/>
          </p:nvGraphicFramePr>
          <p:xfrm>
            <a:off x="682" y="3933"/>
            <a:ext cx="202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46" name="公式" r:id="rId8" imgW="114102" imgH="126780" progId="Equation.3">
                    <p:embed/>
                  </p:oleObj>
                </mc:Choice>
                <mc:Fallback>
                  <p:oleObj name="公式" r:id="rId8" imgW="114102" imgH="126780" progId="Equation.3">
                    <p:embed/>
                    <p:pic>
                      <p:nvPicPr>
                        <p:cNvPr id="0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3933"/>
                          <a:ext cx="202" cy="2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Text Box 2"/>
          <p:cNvSpPr>
            <a:spLocks noChangeArrowheads="1"/>
          </p:cNvSpPr>
          <p:nvPr/>
        </p:nvSpPr>
        <p:spPr bwMode="auto">
          <a:xfrm>
            <a:off x="758825" y="874713"/>
            <a:ext cx="1941513" cy="401637"/>
          </a:xfrm>
          <a:prstGeom prst="homePlate">
            <a:avLst>
              <a:gd name="adj" fmla="val 49705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一、阻尼振动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6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65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6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autoUpdateAnimBg="0"/>
      <p:bldP spid="9" grpId="0" autoUpdateAnimBg="0"/>
      <p:bldP spid="66597" grpId="0" autoUpdateAnimBg="0"/>
      <p:bldP spid="66599" grpId="0" autoUpdateAnimBg="0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827088" y="987425"/>
            <a:ext cx="741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阻尼振动：</a:t>
            </a:r>
            <a:r>
              <a:rPr lang="zh-CN" altLang="en-US" sz="1800">
                <a:ea typeface="华文中宋" pitchFamily="2" charset="-122"/>
              </a:rPr>
              <a:t>能量（或振幅）随时间减小的振动。</a:t>
            </a:r>
          </a:p>
        </p:txBody>
      </p:sp>
      <p:sp>
        <p:nvSpPr>
          <p:cNvPr id="208908" name="Text Box 12"/>
          <p:cNvSpPr txBox="1">
            <a:spLocks noChangeArrowheads="1"/>
          </p:cNvSpPr>
          <p:nvPr/>
        </p:nvSpPr>
        <p:spPr bwMode="auto">
          <a:xfrm>
            <a:off x="901700" y="2058988"/>
            <a:ext cx="68389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以弹簧振子为例，其运动微分方程为</a:t>
            </a:r>
            <a:endParaRPr lang="zh-CN" altLang="en-US" sz="1800" b="0">
              <a:ea typeface="华文中宋" pitchFamily="2" charset="-122"/>
            </a:endParaRPr>
          </a:p>
        </p:txBody>
      </p:sp>
      <p:graphicFrame>
        <p:nvGraphicFramePr>
          <p:cNvPr id="208909" name="Object 13"/>
          <p:cNvGraphicFramePr>
            <a:graphicFrameLocks noChangeAspect="1"/>
          </p:cNvGraphicFramePr>
          <p:nvPr/>
        </p:nvGraphicFramePr>
        <p:xfrm>
          <a:off x="2952750" y="2498725"/>
          <a:ext cx="226695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8" name="Equation" r:id="rId5" imgW="1193760" imgH="419040" progId="Equation.DSMT4">
                  <p:embed/>
                </p:oleObj>
              </mc:Choice>
              <mc:Fallback>
                <p:oleObj name="Equation" r:id="rId5" imgW="1193760" imgH="419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498725"/>
                        <a:ext cx="2266950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8914" name="Group 18"/>
          <p:cNvGrpSpPr>
            <a:grpSpLocks/>
          </p:cNvGrpSpPr>
          <p:nvPr/>
        </p:nvGrpSpPr>
        <p:grpSpPr bwMode="auto">
          <a:xfrm>
            <a:off x="827088" y="3057525"/>
            <a:ext cx="3384550" cy="592138"/>
            <a:chOff x="567" y="2162"/>
            <a:chExt cx="2132" cy="497"/>
          </a:xfrm>
        </p:grpSpPr>
        <p:sp>
          <p:nvSpPr>
            <p:cNvPr id="49161" name="Text Box 15"/>
            <p:cNvSpPr txBox="1">
              <a:spLocks noChangeArrowheads="1"/>
            </p:cNvSpPr>
            <p:nvPr/>
          </p:nvSpPr>
          <p:spPr bwMode="auto">
            <a:xfrm>
              <a:off x="567" y="2264"/>
              <a:ext cx="213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华文中宋" pitchFamily="2" charset="-122"/>
                </a:rPr>
                <a:t>令          	   ，                   则有 </a:t>
              </a:r>
            </a:p>
          </p:txBody>
        </p:sp>
        <p:graphicFrame>
          <p:nvGraphicFramePr>
            <p:cNvPr id="49162" name="Object 16"/>
            <p:cNvGraphicFramePr>
              <a:graphicFrameLocks noChangeAspect="1"/>
            </p:cNvGraphicFramePr>
            <p:nvPr/>
          </p:nvGraphicFramePr>
          <p:xfrm>
            <a:off x="793" y="2162"/>
            <a:ext cx="59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69" name="公式" r:id="rId7" imgW="393529" imgH="291973" progId="Equation.3">
                    <p:embed/>
                  </p:oleObj>
                </mc:Choice>
                <mc:Fallback>
                  <p:oleObj name="公式" r:id="rId7" imgW="393529" imgH="291973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162"/>
                          <a:ext cx="59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3" name="Object 17"/>
            <p:cNvGraphicFramePr>
              <a:graphicFrameLocks noChangeAspect="1"/>
            </p:cNvGraphicFramePr>
            <p:nvPr/>
          </p:nvGraphicFramePr>
          <p:xfrm>
            <a:off x="1519" y="2162"/>
            <a:ext cx="607" cy="4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70" name="公式" r:id="rId9" imgW="393529" imgH="291973" progId="Equation.3">
                    <p:embed/>
                  </p:oleObj>
                </mc:Choice>
                <mc:Fallback>
                  <p:oleObj name="公式" r:id="rId9" imgW="393529" imgH="291973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2162"/>
                          <a:ext cx="607" cy="4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8915" name="Object 19"/>
          <p:cNvGraphicFramePr>
            <a:graphicFrameLocks noChangeAspect="1"/>
          </p:cNvGraphicFramePr>
          <p:nvPr/>
        </p:nvGraphicFramePr>
        <p:xfrm>
          <a:off x="2979738" y="3578225"/>
          <a:ext cx="2887662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1" name="Equation" r:id="rId11" imgW="1396800" imgH="419040" progId="Equation.DSMT4">
                  <p:embed/>
                </p:oleObj>
              </mc:Choice>
              <mc:Fallback>
                <p:oleObj name="Equation" r:id="rId11" imgW="1396800" imgH="4190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3578225"/>
                        <a:ext cx="2887662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6" name="Text Box 20"/>
          <p:cNvSpPr txBox="1">
            <a:spLocks noChangeArrowheads="1"/>
          </p:cNvSpPr>
          <p:nvPr/>
        </p:nvSpPr>
        <p:spPr bwMode="auto">
          <a:xfrm>
            <a:off x="755650" y="4217988"/>
            <a:ext cx="496887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式中，</a:t>
            </a:r>
            <a:r>
              <a:rPr lang="en-US" altLang="zh-CN" sz="1800" i="1">
                <a:ea typeface="华文中宋" pitchFamily="2" charset="-122"/>
              </a:rPr>
              <a:t>β</a:t>
            </a:r>
            <a:r>
              <a:rPr lang="en-US" altLang="zh-CN" sz="1800">
                <a:ea typeface="华文中宋" pitchFamily="2" charset="-122"/>
              </a:rPr>
              <a:t>──</a:t>
            </a:r>
            <a:r>
              <a:rPr lang="zh-CN" altLang="en-US" sz="1800">
                <a:ea typeface="华文中宋" pitchFamily="2" charset="-122"/>
              </a:rPr>
              <a:t>阻尼因子；</a:t>
            </a:r>
            <a:r>
              <a:rPr lang="en-US" altLang="zh-CN" sz="1800" i="1">
                <a:ea typeface="华文中宋" pitchFamily="2" charset="-122"/>
              </a:rPr>
              <a:t>ω</a:t>
            </a:r>
            <a:r>
              <a:rPr lang="en-US" altLang="zh-CN" sz="1800" baseline="-30000">
                <a:ea typeface="华文中宋" pitchFamily="2" charset="-122"/>
              </a:rPr>
              <a:t>0</a:t>
            </a:r>
            <a:r>
              <a:rPr lang="en-US" altLang="zh-CN" sz="1800">
                <a:ea typeface="华文中宋" pitchFamily="2" charset="-122"/>
              </a:rPr>
              <a:t>──</a:t>
            </a:r>
            <a:r>
              <a:rPr lang="zh-CN" altLang="en-US" sz="1800">
                <a:ea typeface="华文中宋" pitchFamily="2" charset="-122"/>
              </a:rPr>
              <a:t>系统固有圆频率。</a:t>
            </a:r>
          </a:p>
        </p:txBody>
      </p:sp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539750" y="1635125"/>
            <a:ext cx="400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、动力学方程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89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089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089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0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208908" grpId="0" autoUpdateAnimBg="0"/>
      <p:bldP spid="208916" grpId="0" autoUpdateAnimBg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684213" y="771525"/>
            <a:ext cx="4006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0000FF"/>
                </a:solidFill>
                <a:ea typeface="华文中宋" pitchFamily="2" charset="-122"/>
              </a:rPr>
              <a:t>、方程解的讨论</a:t>
            </a: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611188" y="1050925"/>
            <a:ext cx="3843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FF00FF"/>
                </a:solidFill>
                <a:ea typeface="华文中宋" pitchFamily="2" charset="-122"/>
              </a:rPr>
              <a:t>（</a:t>
            </a:r>
            <a:r>
              <a:rPr lang="en-US" altLang="zh-CN" sz="1800">
                <a:solidFill>
                  <a:srgbClr val="FF00FF"/>
                </a:solidFill>
                <a:ea typeface="华文中宋" pitchFamily="2" charset="-122"/>
              </a:rPr>
              <a:t>1</a:t>
            </a:r>
            <a:r>
              <a:rPr lang="zh-CN" altLang="en-US" sz="1800">
                <a:solidFill>
                  <a:srgbClr val="FF00FF"/>
                </a:solidFill>
                <a:ea typeface="华文中宋" pitchFamily="2" charset="-122"/>
              </a:rPr>
              <a:t>）弱阻尼 </a:t>
            </a:r>
            <a:r>
              <a:rPr lang="en-US" altLang="zh-CN" sz="1800">
                <a:ea typeface="华文中宋" pitchFamily="2" charset="-122"/>
              </a:rPr>
              <a:t>(</a:t>
            </a:r>
            <a:r>
              <a:rPr lang="en-US" altLang="zh-CN" sz="1800" i="1">
                <a:ea typeface="华文中宋" pitchFamily="2" charset="-122"/>
                <a:sym typeface="Symbol" pitchFamily="18" charset="2"/>
              </a:rPr>
              <a:t> 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&lt;&lt; </a:t>
            </a:r>
            <a:r>
              <a:rPr lang="en-US" altLang="zh-CN" sz="1800" i="1">
                <a:ea typeface="华文中宋" pitchFamily="2" charset="-122"/>
                <a:sym typeface="Symbol" pitchFamily="18" charset="2"/>
              </a:rPr>
              <a:t></a:t>
            </a:r>
            <a:r>
              <a:rPr lang="en-US" altLang="zh-CN" sz="1800" baseline="-25000">
                <a:ea typeface="华文中宋" pitchFamily="2" charset="-122"/>
                <a:sym typeface="Symbol" pitchFamily="18" charset="2"/>
              </a:rPr>
              <a:t>0</a:t>
            </a:r>
            <a:r>
              <a:rPr lang="en-US" altLang="zh-CN" sz="1800">
                <a:ea typeface="华文中宋" pitchFamily="2" charset="-122"/>
              </a:rPr>
              <a:t> )</a:t>
            </a:r>
          </a:p>
        </p:txBody>
      </p:sp>
      <p:graphicFrame>
        <p:nvGraphicFramePr>
          <p:cNvPr id="24" name="Object 4"/>
          <p:cNvGraphicFramePr>
            <a:graphicFrameLocks noChangeAspect="1"/>
          </p:cNvGraphicFramePr>
          <p:nvPr/>
        </p:nvGraphicFramePr>
        <p:xfrm>
          <a:off x="1341438" y="1444625"/>
          <a:ext cx="281940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1" name="公式" r:id="rId3" imgW="1562100" imgH="241300" progId="Equation.3">
                  <p:embed/>
                </p:oleObj>
              </mc:Choice>
              <mc:Fallback>
                <p:oleObj name="公式" r:id="rId3" imgW="15621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1444625"/>
                        <a:ext cx="281940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116013" y="1828800"/>
            <a:ext cx="881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振幅 </a:t>
            </a:r>
          </a:p>
        </p:txBody>
      </p:sp>
      <p:graphicFrame>
        <p:nvGraphicFramePr>
          <p:cNvPr id="26" name="Object 6"/>
          <p:cNvGraphicFramePr>
            <a:graphicFrameLocks noChangeAspect="1"/>
          </p:cNvGraphicFramePr>
          <p:nvPr/>
        </p:nvGraphicFramePr>
        <p:xfrm>
          <a:off x="1908175" y="1857375"/>
          <a:ext cx="13462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2" name="Equation" r:id="rId5" imgW="698400" imgH="241200" progId="Equation.DSMT4">
                  <p:embed/>
                </p:oleObj>
              </mc:Choice>
              <mc:Fallback>
                <p:oleObj name="Equation" r:id="rId5" imgW="69840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857375"/>
                        <a:ext cx="13462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9962" name="Group 42"/>
          <p:cNvGrpSpPr>
            <a:grpSpLocks/>
          </p:cNvGrpSpPr>
          <p:nvPr/>
        </p:nvGrpSpPr>
        <p:grpSpPr bwMode="auto">
          <a:xfrm>
            <a:off x="1000125" y="2222500"/>
            <a:ext cx="2928938" cy="374650"/>
            <a:chOff x="630" y="1867"/>
            <a:chExt cx="1845" cy="315"/>
          </a:xfrm>
        </p:grpSpPr>
        <p:sp>
          <p:nvSpPr>
            <p:cNvPr id="50213" name="Text Box 9"/>
            <p:cNvSpPr txBox="1">
              <a:spLocks noChangeArrowheads="1"/>
            </p:cNvSpPr>
            <p:nvPr/>
          </p:nvSpPr>
          <p:spPr bwMode="auto">
            <a:xfrm>
              <a:off x="1008" y="1872"/>
              <a:ext cx="146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华文中宋" pitchFamily="2" charset="-122"/>
                </a:rPr>
                <a:t>称为为衰减因子</a:t>
              </a:r>
              <a:endParaRPr lang="zh-CN" altLang="en-US" sz="1800" b="0">
                <a:ea typeface="华文中宋" pitchFamily="2" charset="-122"/>
              </a:endParaRPr>
            </a:p>
          </p:txBody>
        </p:sp>
        <p:graphicFrame>
          <p:nvGraphicFramePr>
            <p:cNvPr id="50214" name="Object 10"/>
            <p:cNvGraphicFramePr>
              <a:graphicFrameLocks noChangeAspect="1"/>
            </p:cNvGraphicFramePr>
            <p:nvPr/>
          </p:nvGraphicFramePr>
          <p:xfrm>
            <a:off x="630" y="1867"/>
            <a:ext cx="481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23" name="Equation" r:id="rId7" imgW="279360" imgH="203040" progId="Equation.DSMT4">
                    <p:embed/>
                  </p:oleObj>
                </mc:Choice>
                <mc:Fallback>
                  <p:oleObj name="Equation" r:id="rId7" imgW="279360" imgH="2030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1867"/>
                          <a:ext cx="481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Rectangle 42"/>
          <p:cNvSpPr>
            <a:spLocks noChangeArrowheads="1"/>
          </p:cNvSpPr>
          <p:nvPr/>
        </p:nvSpPr>
        <p:spPr bwMode="auto">
          <a:xfrm>
            <a:off x="531813" y="2679700"/>
            <a:ext cx="4184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800">
                <a:ea typeface="华文中宋" pitchFamily="2" charset="-122"/>
              </a:rPr>
              <a:t>阻尼振动又称</a:t>
            </a:r>
            <a:r>
              <a:rPr lang="zh-CN" altLang="en-US" sz="1800">
                <a:solidFill>
                  <a:srgbClr val="FF0000"/>
                </a:solidFill>
                <a:ea typeface="华文中宋" pitchFamily="2" charset="-122"/>
              </a:rPr>
              <a:t>减幅振动</a:t>
            </a:r>
            <a:r>
              <a:rPr lang="zh-CN" altLang="en-US" sz="1800">
                <a:ea typeface="华文中宋" pitchFamily="2" charset="-122"/>
              </a:rPr>
              <a:t>；</a:t>
            </a:r>
          </a:p>
        </p:txBody>
      </p:sp>
      <p:sp>
        <p:nvSpPr>
          <p:cNvPr id="209960" name="Text Box 49"/>
          <p:cNvSpPr txBox="1">
            <a:spLocks noChangeArrowheads="1"/>
          </p:cNvSpPr>
          <p:nvPr/>
        </p:nvSpPr>
        <p:spPr bwMode="auto">
          <a:xfrm>
            <a:off x="6011863" y="2643188"/>
            <a:ext cx="23764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/>
            <a:r>
              <a:rPr kumimoji="0" lang="en-US" altLang="zh-CN" sz="1500">
                <a:solidFill>
                  <a:srgbClr val="003399"/>
                </a:solidFill>
                <a:ea typeface="华文中宋" pitchFamily="2" charset="-122"/>
              </a:rPr>
              <a:t>    </a:t>
            </a:r>
            <a:r>
              <a:rPr kumimoji="0" lang="zh-CN" altLang="en-US" sz="1500">
                <a:ea typeface="华文中宋" pitchFamily="2" charset="-122"/>
              </a:rPr>
              <a:t>阻尼振动的振动曲线</a:t>
            </a:r>
          </a:p>
        </p:txBody>
      </p:sp>
      <p:grpSp>
        <p:nvGrpSpPr>
          <p:cNvPr id="209966" name="Group 46"/>
          <p:cNvGrpSpPr>
            <a:grpSpLocks/>
          </p:cNvGrpSpPr>
          <p:nvPr/>
        </p:nvGrpSpPr>
        <p:grpSpPr bwMode="auto">
          <a:xfrm>
            <a:off x="4859338" y="681038"/>
            <a:ext cx="3940175" cy="2198687"/>
            <a:chOff x="3061" y="572"/>
            <a:chExt cx="2482" cy="1847"/>
          </a:xfrm>
        </p:grpSpPr>
        <p:sp>
          <p:nvSpPr>
            <p:cNvPr id="50196" name="Line 33"/>
            <p:cNvSpPr>
              <a:spLocks noChangeShapeType="1"/>
            </p:cNvSpPr>
            <p:nvPr/>
          </p:nvSpPr>
          <p:spPr bwMode="auto">
            <a:xfrm>
              <a:off x="3282" y="608"/>
              <a:ext cx="0" cy="175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stealth" w="lg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34"/>
            <p:cNvSpPr>
              <a:spLocks noChangeShapeType="1"/>
            </p:cNvSpPr>
            <p:nvPr/>
          </p:nvSpPr>
          <p:spPr bwMode="auto">
            <a:xfrm>
              <a:off x="3310" y="1600"/>
              <a:ext cx="223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med" len="sm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Freeform 35"/>
            <p:cNvSpPr>
              <a:spLocks/>
            </p:cNvSpPr>
            <p:nvPr/>
          </p:nvSpPr>
          <p:spPr bwMode="auto">
            <a:xfrm>
              <a:off x="4470" y="1626"/>
              <a:ext cx="235" cy="9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6" y="426"/>
                  </a:lnTo>
                  <a:lnTo>
                    <a:pt x="411" y="1135"/>
                  </a:lnTo>
                  <a:lnTo>
                    <a:pt x="587" y="1702"/>
                  </a:lnTo>
                  <a:lnTo>
                    <a:pt x="762" y="2411"/>
                  </a:lnTo>
                  <a:lnTo>
                    <a:pt x="997" y="2979"/>
                  </a:lnTo>
                  <a:lnTo>
                    <a:pt x="1173" y="3688"/>
                  </a:lnTo>
                  <a:lnTo>
                    <a:pt x="1408" y="4113"/>
                  </a:lnTo>
                  <a:lnTo>
                    <a:pt x="1584" y="4965"/>
                  </a:lnTo>
                  <a:lnTo>
                    <a:pt x="1760" y="5248"/>
                  </a:lnTo>
                  <a:lnTo>
                    <a:pt x="1994" y="6099"/>
                  </a:lnTo>
                  <a:lnTo>
                    <a:pt x="2170" y="6667"/>
                  </a:lnTo>
                  <a:lnTo>
                    <a:pt x="2346" y="7092"/>
                  </a:lnTo>
                  <a:lnTo>
                    <a:pt x="2581" y="7801"/>
                  </a:lnTo>
                  <a:lnTo>
                    <a:pt x="2757" y="8227"/>
                  </a:lnTo>
                  <a:lnTo>
                    <a:pt x="2933" y="8794"/>
                  </a:lnTo>
                  <a:lnTo>
                    <a:pt x="3167" y="9645"/>
                  </a:lnTo>
                  <a:lnTo>
                    <a:pt x="3343" y="10071"/>
                  </a:lnTo>
                  <a:lnTo>
                    <a:pt x="3519" y="10355"/>
                  </a:lnTo>
                  <a:lnTo>
                    <a:pt x="3754" y="10922"/>
                  </a:lnTo>
                  <a:lnTo>
                    <a:pt x="3930" y="11348"/>
                  </a:lnTo>
                  <a:lnTo>
                    <a:pt x="4164" y="11915"/>
                  </a:lnTo>
                  <a:lnTo>
                    <a:pt x="4340" y="12340"/>
                  </a:lnTo>
                  <a:lnTo>
                    <a:pt x="4575" y="12908"/>
                  </a:lnTo>
                  <a:lnTo>
                    <a:pt x="4751" y="13333"/>
                  </a:lnTo>
                  <a:lnTo>
                    <a:pt x="4985" y="13901"/>
                  </a:lnTo>
                  <a:lnTo>
                    <a:pt x="5161" y="14326"/>
                  </a:lnTo>
                  <a:lnTo>
                    <a:pt x="5396" y="14752"/>
                  </a:lnTo>
                  <a:lnTo>
                    <a:pt x="5572" y="15035"/>
                  </a:lnTo>
                  <a:lnTo>
                    <a:pt x="5748" y="15603"/>
                  </a:lnTo>
                  <a:lnTo>
                    <a:pt x="5982" y="15887"/>
                  </a:lnTo>
                  <a:lnTo>
                    <a:pt x="6158" y="16312"/>
                  </a:lnTo>
                  <a:lnTo>
                    <a:pt x="6334" y="16879"/>
                  </a:lnTo>
                  <a:lnTo>
                    <a:pt x="6569" y="17021"/>
                  </a:lnTo>
                  <a:lnTo>
                    <a:pt x="6745" y="17305"/>
                  </a:lnTo>
                  <a:lnTo>
                    <a:pt x="6979" y="17589"/>
                  </a:lnTo>
                  <a:lnTo>
                    <a:pt x="7214" y="17872"/>
                  </a:lnTo>
                  <a:lnTo>
                    <a:pt x="7390" y="18298"/>
                  </a:lnTo>
                  <a:lnTo>
                    <a:pt x="7566" y="18582"/>
                  </a:lnTo>
                  <a:lnTo>
                    <a:pt x="7801" y="18865"/>
                  </a:lnTo>
                  <a:lnTo>
                    <a:pt x="8035" y="18865"/>
                  </a:lnTo>
                  <a:lnTo>
                    <a:pt x="8211" y="19007"/>
                  </a:lnTo>
                  <a:lnTo>
                    <a:pt x="8446" y="19291"/>
                  </a:lnTo>
                  <a:lnTo>
                    <a:pt x="8622" y="19291"/>
                  </a:lnTo>
                  <a:lnTo>
                    <a:pt x="8798" y="19574"/>
                  </a:lnTo>
                  <a:lnTo>
                    <a:pt x="9091" y="19574"/>
                  </a:lnTo>
                  <a:lnTo>
                    <a:pt x="9267" y="19858"/>
                  </a:lnTo>
                  <a:lnTo>
                    <a:pt x="9443" y="19858"/>
                  </a:lnTo>
                  <a:lnTo>
                    <a:pt x="9677" y="19858"/>
                  </a:lnTo>
                  <a:lnTo>
                    <a:pt x="9912" y="19858"/>
                  </a:lnTo>
                  <a:lnTo>
                    <a:pt x="10088" y="19858"/>
                  </a:lnTo>
                  <a:lnTo>
                    <a:pt x="10323" y="19574"/>
                  </a:lnTo>
                  <a:lnTo>
                    <a:pt x="10557" y="19574"/>
                  </a:lnTo>
                  <a:lnTo>
                    <a:pt x="10733" y="19291"/>
                  </a:lnTo>
                  <a:lnTo>
                    <a:pt x="10968" y="19007"/>
                  </a:lnTo>
                  <a:lnTo>
                    <a:pt x="11202" y="18865"/>
                  </a:lnTo>
                  <a:lnTo>
                    <a:pt x="11437" y="18582"/>
                  </a:lnTo>
                  <a:lnTo>
                    <a:pt x="11672" y="18298"/>
                  </a:lnTo>
                  <a:lnTo>
                    <a:pt x="11906" y="18014"/>
                  </a:lnTo>
                  <a:lnTo>
                    <a:pt x="12141" y="17589"/>
                  </a:lnTo>
                  <a:lnTo>
                    <a:pt x="12434" y="17021"/>
                  </a:lnTo>
                  <a:lnTo>
                    <a:pt x="12669" y="16879"/>
                  </a:lnTo>
                  <a:lnTo>
                    <a:pt x="12903" y="16596"/>
                  </a:lnTo>
                  <a:lnTo>
                    <a:pt x="13138" y="16028"/>
                  </a:lnTo>
                  <a:lnTo>
                    <a:pt x="13372" y="15603"/>
                  </a:lnTo>
                  <a:lnTo>
                    <a:pt x="13666" y="15035"/>
                  </a:lnTo>
                  <a:lnTo>
                    <a:pt x="13959" y="14752"/>
                  </a:lnTo>
                  <a:lnTo>
                    <a:pt x="14194" y="14184"/>
                  </a:lnTo>
                  <a:lnTo>
                    <a:pt x="14428" y="13759"/>
                  </a:lnTo>
                  <a:lnTo>
                    <a:pt x="14663" y="13191"/>
                  </a:lnTo>
                  <a:lnTo>
                    <a:pt x="14897" y="12340"/>
                  </a:lnTo>
                  <a:lnTo>
                    <a:pt x="15191" y="11915"/>
                  </a:lnTo>
                  <a:lnTo>
                    <a:pt x="15425" y="11348"/>
                  </a:lnTo>
                  <a:lnTo>
                    <a:pt x="15660" y="10922"/>
                  </a:lnTo>
                  <a:lnTo>
                    <a:pt x="15836" y="10355"/>
                  </a:lnTo>
                  <a:lnTo>
                    <a:pt x="16129" y="9787"/>
                  </a:lnTo>
                  <a:lnTo>
                    <a:pt x="16364" y="9220"/>
                  </a:lnTo>
                  <a:lnTo>
                    <a:pt x="16540" y="8794"/>
                  </a:lnTo>
                  <a:lnTo>
                    <a:pt x="16774" y="8227"/>
                  </a:lnTo>
                  <a:lnTo>
                    <a:pt x="17067" y="7801"/>
                  </a:lnTo>
                  <a:lnTo>
                    <a:pt x="17243" y="7092"/>
                  </a:lnTo>
                  <a:lnTo>
                    <a:pt x="17419" y="6667"/>
                  </a:lnTo>
                  <a:lnTo>
                    <a:pt x="17713" y="6099"/>
                  </a:lnTo>
                  <a:lnTo>
                    <a:pt x="17889" y="5674"/>
                  </a:lnTo>
                  <a:lnTo>
                    <a:pt x="18065" y="5106"/>
                  </a:lnTo>
                  <a:lnTo>
                    <a:pt x="18299" y="4681"/>
                  </a:lnTo>
                  <a:lnTo>
                    <a:pt x="18475" y="4113"/>
                  </a:lnTo>
                  <a:lnTo>
                    <a:pt x="18592" y="3688"/>
                  </a:lnTo>
                  <a:lnTo>
                    <a:pt x="18827" y="3121"/>
                  </a:lnTo>
                  <a:lnTo>
                    <a:pt x="18944" y="2979"/>
                  </a:lnTo>
                  <a:lnTo>
                    <a:pt x="19120" y="2411"/>
                  </a:lnTo>
                  <a:lnTo>
                    <a:pt x="19296" y="2128"/>
                  </a:lnTo>
                  <a:lnTo>
                    <a:pt x="19472" y="1986"/>
                  </a:lnTo>
                  <a:lnTo>
                    <a:pt x="19531" y="1418"/>
                  </a:lnTo>
                  <a:lnTo>
                    <a:pt x="19707" y="1135"/>
                  </a:lnTo>
                  <a:lnTo>
                    <a:pt x="19824" y="993"/>
                  </a:lnTo>
                  <a:lnTo>
                    <a:pt x="19941" y="70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Freeform 36"/>
            <p:cNvSpPr>
              <a:spLocks/>
            </p:cNvSpPr>
            <p:nvPr/>
          </p:nvSpPr>
          <p:spPr bwMode="auto">
            <a:xfrm>
              <a:off x="4677" y="1516"/>
              <a:ext cx="331" cy="13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00"/>
                  </a:moveTo>
                  <a:lnTo>
                    <a:pt x="208" y="19104"/>
                  </a:lnTo>
                  <a:lnTo>
                    <a:pt x="374" y="18308"/>
                  </a:lnTo>
                  <a:lnTo>
                    <a:pt x="582" y="18308"/>
                  </a:lnTo>
                  <a:lnTo>
                    <a:pt x="790" y="17413"/>
                  </a:lnTo>
                  <a:lnTo>
                    <a:pt x="998" y="16716"/>
                  </a:lnTo>
                  <a:lnTo>
                    <a:pt x="1164" y="15920"/>
                  </a:lnTo>
                  <a:lnTo>
                    <a:pt x="1372" y="15920"/>
                  </a:lnTo>
                  <a:lnTo>
                    <a:pt x="1580" y="15224"/>
                  </a:lnTo>
                  <a:lnTo>
                    <a:pt x="1788" y="14328"/>
                  </a:lnTo>
                  <a:lnTo>
                    <a:pt x="1954" y="13632"/>
                  </a:lnTo>
                  <a:lnTo>
                    <a:pt x="2162" y="13632"/>
                  </a:lnTo>
                  <a:lnTo>
                    <a:pt x="2370" y="12736"/>
                  </a:lnTo>
                  <a:lnTo>
                    <a:pt x="2578" y="11940"/>
                  </a:lnTo>
                  <a:lnTo>
                    <a:pt x="2744" y="11940"/>
                  </a:lnTo>
                  <a:lnTo>
                    <a:pt x="2952" y="11244"/>
                  </a:lnTo>
                  <a:lnTo>
                    <a:pt x="3160" y="10348"/>
                  </a:lnTo>
                  <a:lnTo>
                    <a:pt x="3368" y="9552"/>
                  </a:lnTo>
                  <a:lnTo>
                    <a:pt x="3534" y="9552"/>
                  </a:lnTo>
                  <a:lnTo>
                    <a:pt x="3742" y="8756"/>
                  </a:lnTo>
                  <a:lnTo>
                    <a:pt x="3950" y="8756"/>
                  </a:lnTo>
                  <a:lnTo>
                    <a:pt x="4158" y="7960"/>
                  </a:lnTo>
                  <a:lnTo>
                    <a:pt x="4324" y="7065"/>
                  </a:lnTo>
                  <a:lnTo>
                    <a:pt x="4574" y="7065"/>
                  </a:lnTo>
                  <a:lnTo>
                    <a:pt x="4782" y="6368"/>
                  </a:lnTo>
                  <a:lnTo>
                    <a:pt x="4990" y="6368"/>
                  </a:lnTo>
                  <a:lnTo>
                    <a:pt x="5156" y="5572"/>
                  </a:lnTo>
                  <a:lnTo>
                    <a:pt x="5364" y="5572"/>
                  </a:lnTo>
                  <a:lnTo>
                    <a:pt x="5572" y="4776"/>
                  </a:lnTo>
                  <a:lnTo>
                    <a:pt x="5780" y="3980"/>
                  </a:lnTo>
                  <a:lnTo>
                    <a:pt x="5946" y="3980"/>
                  </a:lnTo>
                  <a:lnTo>
                    <a:pt x="6154" y="3980"/>
                  </a:lnTo>
                  <a:lnTo>
                    <a:pt x="6362" y="3284"/>
                  </a:lnTo>
                  <a:lnTo>
                    <a:pt x="6570" y="3284"/>
                  </a:lnTo>
                  <a:lnTo>
                    <a:pt x="6736" y="2388"/>
                  </a:lnTo>
                  <a:lnTo>
                    <a:pt x="6985" y="2388"/>
                  </a:lnTo>
                  <a:lnTo>
                    <a:pt x="7193" y="2388"/>
                  </a:lnTo>
                  <a:lnTo>
                    <a:pt x="7401" y="1592"/>
                  </a:lnTo>
                  <a:lnTo>
                    <a:pt x="7568" y="1592"/>
                  </a:lnTo>
                  <a:lnTo>
                    <a:pt x="7775" y="1592"/>
                  </a:lnTo>
                  <a:lnTo>
                    <a:pt x="8025" y="1592"/>
                  </a:lnTo>
                  <a:lnTo>
                    <a:pt x="8233" y="896"/>
                  </a:lnTo>
                  <a:lnTo>
                    <a:pt x="8441" y="896"/>
                  </a:lnTo>
                  <a:lnTo>
                    <a:pt x="8607" y="896"/>
                  </a:lnTo>
                  <a:lnTo>
                    <a:pt x="8815" y="896"/>
                  </a:lnTo>
                  <a:lnTo>
                    <a:pt x="9064" y="896"/>
                  </a:lnTo>
                  <a:lnTo>
                    <a:pt x="9272" y="0"/>
                  </a:lnTo>
                  <a:lnTo>
                    <a:pt x="9439" y="0"/>
                  </a:lnTo>
                  <a:lnTo>
                    <a:pt x="9647" y="0"/>
                  </a:lnTo>
                  <a:lnTo>
                    <a:pt x="9896" y="0"/>
                  </a:lnTo>
                  <a:lnTo>
                    <a:pt x="10104" y="0"/>
                  </a:lnTo>
                  <a:lnTo>
                    <a:pt x="10312" y="896"/>
                  </a:lnTo>
                  <a:lnTo>
                    <a:pt x="10561" y="896"/>
                  </a:lnTo>
                  <a:lnTo>
                    <a:pt x="10728" y="896"/>
                  </a:lnTo>
                  <a:lnTo>
                    <a:pt x="10977" y="896"/>
                  </a:lnTo>
                  <a:lnTo>
                    <a:pt x="11227" y="1592"/>
                  </a:lnTo>
                  <a:lnTo>
                    <a:pt x="11435" y="1592"/>
                  </a:lnTo>
                  <a:lnTo>
                    <a:pt x="11684" y="1592"/>
                  </a:lnTo>
                  <a:lnTo>
                    <a:pt x="11933" y="1592"/>
                  </a:lnTo>
                  <a:lnTo>
                    <a:pt x="12183" y="2388"/>
                  </a:lnTo>
                  <a:lnTo>
                    <a:pt x="12432" y="3284"/>
                  </a:lnTo>
                  <a:lnTo>
                    <a:pt x="12640" y="3284"/>
                  </a:lnTo>
                  <a:lnTo>
                    <a:pt x="12890" y="3284"/>
                  </a:lnTo>
                  <a:lnTo>
                    <a:pt x="13139" y="3980"/>
                  </a:lnTo>
                  <a:lnTo>
                    <a:pt x="13389" y="3980"/>
                  </a:lnTo>
                  <a:lnTo>
                    <a:pt x="13680" y="4776"/>
                  </a:lnTo>
                  <a:lnTo>
                    <a:pt x="13929" y="5572"/>
                  </a:lnTo>
                  <a:lnTo>
                    <a:pt x="14179" y="5572"/>
                  </a:lnTo>
                  <a:lnTo>
                    <a:pt x="14428" y="6368"/>
                  </a:lnTo>
                  <a:lnTo>
                    <a:pt x="14678" y="7065"/>
                  </a:lnTo>
                  <a:lnTo>
                    <a:pt x="14927" y="7065"/>
                  </a:lnTo>
                  <a:lnTo>
                    <a:pt x="15177" y="7960"/>
                  </a:lnTo>
                  <a:lnTo>
                    <a:pt x="15426" y="8756"/>
                  </a:lnTo>
                  <a:lnTo>
                    <a:pt x="15676" y="8756"/>
                  </a:lnTo>
                  <a:lnTo>
                    <a:pt x="15842" y="9552"/>
                  </a:lnTo>
                  <a:lnTo>
                    <a:pt x="16091" y="10348"/>
                  </a:lnTo>
                  <a:lnTo>
                    <a:pt x="16341" y="10348"/>
                  </a:lnTo>
                  <a:lnTo>
                    <a:pt x="16549" y="11244"/>
                  </a:lnTo>
                  <a:lnTo>
                    <a:pt x="16798" y="11940"/>
                  </a:lnTo>
                  <a:lnTo>
                    <a:pt x="17048" y="11940"/>
                  </a:lnTo>
                  <a:lnTo>
                    <a:pt x="17256" y="12736"/>
                  </a:lnTo>
                  <a:lnTo>
                    <a:pt x="17422" y="13632"/>
                  </a:lnTo>
                  <a:lnTo>
                    <a:pt x="17672" y="13632"/>
                  </a:lnTo>
                  <a:lnTo>
                    <a:pt x="17879" y="14328"/>
                  </a:lnTo>
                  <a:lnTo>
                    <a:pt x="18087" y="15224"/>
                  </a:lnTo>
                  <a:lnTo>
                    <a:pt x="18295" y="15224"/>
                  </a:lnTo>
                  <a:lnTo>
                    <a:pt x="18462" y="15920"/>
                  </a:lnTo>
                  <a:lnTo>
                    <a:pt x="18628" y="15920"/>
                  </a:lnTo>
                  <a:lnTo>
                    <a:pt x="18836" y="16716"/>
                  </a:lnTo>
                  <a:lnTo>
                    <a:pt x="18960" y="16716"/>
                  </a:lnTo>
                  <a:lnTo>
                    <a:pt x="19127" y="17413"/>
                  </a:lnTo>
                  <a:lnTo>
                    <a:pt x="19293" y="17413"/>
                  </a:lnTo>
                  <a:lnTo>
                    <a:pt x="19459" y="18308"/>
                  </a:lnTo>
                  <a:lnTo>
                    <a:pt x="19543" y="18308"/>
                  </a:lnTo>
                  <a:lnTo>
                    <a:pt x="19709" y="18308"/>
                  </a:lnTo>
                  <a:lnTo>
                    <a:pt x="19834" y="19104"/>
                  </a:lnTo>
                  <a:lnTo>
                    <a:pt x="19958" y="1910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Freeform 37"/>
            <p:cNvSpPr>
              <a:spLocks/>
            </p:cNvSpPr>
            <p:nvPr/>
          </p:nvSpPr>
          <p:spPr bwMode="auto">
            <a:xfrm>
              <a:off x="3156" y="940"/>
              <a:ext cx="262" cy="65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9"/>
                  </a:moveTo>
                  <a:lnTo>
                    <a:pt x="210" y="18492"/>
                  </a:lnTo>
                  <a:lnTo>
                    <a:pt x="420" y="17885"/>
                  </a:lnTo>
                  <a:lnTo>
                    <a:pt x="682" y="17277"/>
                  </a:lnTo>
                  <a:lnTo>
                    <a:pt x="892" y="16670"/>
                  </a:lnTo>
                  <a:lnTo>
                    <a:pt x="1102" y="16063"/>
                  </a:lnTo>
                  <a:lnTo>
                    <a:pt x="1312" y="15476"/>
                  </a:lnTo>
                  <a:lnTo>
                    <a:pt x="1522" y="14890"/>
                  </a:lnTo>
                  <a:lnTo>
                    <a:pt x="1785" y="14304"/>
                  </a:lnTo>
                  <a:lnTo>
                    <a:pt x="1995" y="13717"/>
                  </a:lnTo>
                  <a:lnTo>
                    <a:pt x="2205" y="13152"/>
                  </a:lnTo>
                  <a:lnTo>
                    <a:pt x="2467" y="12586"/>
                  </a:lnTo>
                  <a:lnTo>
                    <a:pt x="2677" y="12021"/>
                  </a:lnTo>
                  <a:lnTo>
                    <a:pt x="2887" y="11455"/>
                  </a:lnTo>
                  <a:lnTo>
                    <a:pt x="3097" y="10890"/>
                  </a:lnTo>
                  <a:lnTo>
                    <a:pt x="3307" y="10346"/>
                  </a:lnTo>
                  <a:lnTo>
                    <a:pt x="3570" y="9801"/>
                  </a:lnTo>
                  <a:lnTo>
                    <a:pt x="3780" y="9277"/>
                  </a:lnTo>
                  <a:lnTo>
                    <a:pt x="3990" y="8754"/>
                  </a:lnTo>
                  <a:lnTo>
                    <a:pt x="4199" y="8230"/>
                  </a:lnTo>
                  <a:lnTo>
                    <a:pt x="4409" y="7728"/>
                  </a:lnTo>
                  <a:lnTo>
                    <a:pt x="4672" y="7246"/>
                  </a:lnTo>
                  <a:lnTo>
                    <a:pt x="4882" y="6785"/>
                  </a:lnTo>
                  <a:lnTo>
                    <a:pt x="5092" y="6325"/>
                  </a:lnTo>
                  <a:lnTo>
                    <a:pt x="5302" y="5885"/>
                  </a:lnTo>
                  <a:lnTo>
                    <a:pt x="5564" y="5424"/>
                  </a:lnTo>
                  <a:lnTo>
                    <a:pt x="5774" y="4984"/>
                  </a:lnTo>
                  <a:lnTo>
                    <a:pt x="5984" y="4565"/>
                  </a:lnTo>
                  <a:lnTo>
                    <a:pt x="6194" y="4168"/>
                  </a:lnTo>
                  <a:lnTo>
                    <a:pt x="6404" y="3770"/>
                  </a:lnTo>
                  <a:lnTo>
                    <a:pt x="6614" y="3414"/>
                  </a:lnTo>
                  <a:lnTo>
                    <a:pt x="6824" y="3058"/>
                  </a:lnTo>
                  <a:lnTo>
                    <a:pt x="7087" y="2723"/>
                  </a:lnTo>
                  <a:lnTo>
                    <a:pt x="7297" y="2408"/>
                  </a:lnTo>
                  <a:lnTo>
                    <a:pt x="7507" y="2094"/>
                  </a:lnTo>
                  <a:lnTo>
                    <a:pt x="7717" y="1822"/>
                  </a:lnTo>
                  <a:lnTo>
                    <a:pt x="7927" y="1571"/>
                  </a:lnTo>
                  <a:lnTo>
                    <a:pt x="8136" y="1298"/>
                  </a:lnTo>
                  <a:lnTo>
                    <a:pt x="8346" y="1068"/>
                  </a:lnTo>
                  <a:lnTo>
                    <a:pt x="8556" y="859"/>
                  </a:lnTo>
                  <a:lnTo>
                    <a:pt x="8766" y="670"/>
                  </a:lnTo>
                  <a:lnTo>
                    <a:pt x="8976" y="503"/>
                  </a:lnTo>
                  <a:lnTo>
                    <a:pt x="9186" y="377"/>
                  </a:lnTo>
                  <a:lnTo>
                    <a:pt x="9396" y="251"/>
                  </a:lnTo>
                  <a:lnTo>
                    <a:pt x="9606" y="147"/>
                  </a:lnTo>
                  <a:lnTo>
                    <a:pt x="9816" y="84"/>
                  </a:lnTo>
                  <a:lnTo>
                    <a:pt x="10079" y="21"/>
                  </a:lnTo>
                  <a:lnTo>
                    <a:pt x="10289" y="0"/>
                  </a:lnTo>
                  <a:lnTo>
                    <a:pt x="10499" y="21"/>
                  </a:lnTo>
                  <a:lnTo>
                    <a:pt x="10656" y="21"/>
                  </a:lnTo>
                  <a:lnTo>
                    <a:pt x="10866" y="84"/>
                  </a:lnTo>
                  <a:lnTo>
                    <a:pt x="11076" y="209"/>
                  </a:lnTo>
                  <a:lnTo>
                    <a:pt x="11339" y="335"/>
                  </a:lnTo>
                  <a:lnTo>
                    <a:pt x="11549" y="524"/>
                  </a:lnTo>
                  <a:lnTo>
                    <a:pt x="11759" y="754"/>
                  </a:lnTo>
                  <a:lnTo>
                    <a:pt x="11969" y="984"/>
                  </a:lnTo>
                  <a:lnTo>
                    <a:pt x="12178" y="1257"/>
                  </a:lnTo>
                  <a:lnTo>
                    <a:pt x="12441" y="1571"/>
                  </a:lnTo>
                  <a:lnTo>
                    <a:pt x="12651" y="1906"/>
                  </a:lnTo>
                  <a:lnTo>
                    <a:pt x="12913" y="2283"/>
                  </a:lnTo>
                  <a:lnTo>
                    <a:pt x="13123" y="2702"/>
                  </a:lnTo>
                  <a:lnTo>
                    <a:pt x="13333" y="3099"/>
                  </a:lnTo>
                  <a:lnTo>
                    <a:pt x="13596" y="3518"/>
                  </a:lnTo>
                  <a:lnTo>
                    <a:pt x="13806" y="3979"/>
                  </a:lnTo>
                  <a:lnTo>
                    <a:pt x="14016" y="4440"/>
                  </a:lnTo>
                  <a:lnTo>
                    <a:pt x="14278" y="4942"/>
                  </a:lnTo>
                  <a:lnTo>
                    <a:pt x="14488" y="5466"/>
                  </a:lnTo>
                  <a:lnTo>
                    <a:pt x="14751" y="5990"/>
                  </a:lnTo>
                  <a:lnTo>
                    <a:pt x="14961" y="6513"/>
                  </a:lnTo>
                  <a:lnTo>
                    <a:pt x="15171" y="7058"/>
                  </a:lnTo>
                  <a:lnTo>
                    <a:pt x="15433" y="7623"/>
                  </a:lnTo>
                  <a:lnTo>
                    <a:pt x="15643" y="8188"/>
                  </a:lnTo>
                  <a:lnTo>
                    <a:pt x="15853" y="8775"/>
                  </a:lnTo>
                  <a:lnTo>
                    <a:pt x="16063" y="9340"/>
                  </a:lnTo>
                  <a:lnTo>
                    <a:pt x="16273" y="9906"/>
                  </a:lnTo>
                  <a:lnTo>
                    <a:pt x="16483" y="10471"/>
                  </a:lnTo>
                  <a:lnTo>
                    <a:pt x="16693" y="11037"/>
                  </a:lnTo>
                  <a:lnTo>
                    <a:pt x="16903" y="11623"/>
                  </a:lnTo>
                  <a:lnTo>
                    <a:pt x="17113" y="12188"/>
                  </a:lnTo>
                  <a:lnTo>
                    <a:pt x="17323" y="12754"/>
                  </a:lnTo>
                  <a:lnTo>
                    <a:pt x="17533" y="13298"/>
                  </a:lnTo>
                  <a:lnTo>
                    <a:pt x="17690" y="13843"/>
                  </a:lnTo>
                  <a:lnTo>
                    <a:pt x="17900" y="14387"/>
                  </a:lnTo>
                  <a:lnTo>
                    <a:pt x="18058" y="14932"/>
                  </a:lnTo>
                  <a:lnTo>
                    <a:pt x="18268" y="15435"/>
                  </a:lnTo>
                  <a:lnTo>
                    <a:pt x="18425" y="15937"/>
                  </a:lnTo>
                  <a:lnTo>
                    <a:pt x="18583" y="16419"/>
                  </a:lnTo>
                  <a:lnTo>
                    <a:pt x="18740" y="16859"/>
                  </a:lnTo>
                  <a:lnTo>
                    <a:pt x="18898" y="17319"/>
                  </a:lnTo>
                  <a:lnTo>
                    <a:pt x="19055" y="17738"/>
                  </a:lnTo>
                  <a:lnTo>
                    <a:pt x="19213" y="18136"/>
                  </a:lnTo>
                  <a:lnTo>
                    <a:pt x="19370" y="18534"/>
                  </a:lnTo>
                  <a:lnTo>
                    <a:pt x="19475" y="18890"/>
                  </a:lnTo>
                  <a:lnTo>
                    <a:pt x="19580" y="19183"/>
                  </a:lnTo>
                  <a:lnTo>
                    <a:pt x="19738" y="19497"/>
                  </a:lnTo>
                  <a:lnTo>
                    <a:pt x="19843" y="19770"/>
                  </a:lnTo>
                  <a:lnTo>
                    <a:pt x="19948" y="1997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Freeform 38"/>
            <p:cNvSpPr>
              <a:spLocks/>
            </p:cNvSpPr>
            <p:nvPr/>
          </p:nvSpPr>
          <p:spPr bwMode="auto">
            <a:xfrm>
              <a:off x="3418" y="1576"/>
              <a:ext cx="280" cy="49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97" y="638"/>
                  </a:lnTo>
                  <a:lnTo>
                    <a:pt x="394" y="1248"/>
                  </a:lnTo>
                  <a:lnTo>
                    <a:pt x="591" y="1886"/>
                  </a:lnTo>
                  <a:lnTo>
                    <a:pt x="788" y="2524"/>
                  </a:lnTo>
                  <a:lnTo>
                    <a:pt x="985" y="3135"/>
                  </a:lnTo>
                  <a:lnTo>
                    <a:pt x="1182" y="3745"/>
                  </a:lnTo>
                  <a:lnTo>
                    <a:pt x="1379" y="4355"/>
                  </a:lnTo>
                  <a:lnTo>
                    <a:pt x="1576" y="4965"/>
                  </a:lnTo>
                  <a:lnTo>
                    <a:pt x="1773" y="5576"/>
                  </a:lnTo>
                  <a:lnTo>
                    <a:pt x="1970" y="6158"/>
                  </a:lnTo>
                  <a:lnTo>
                    <a:pt x="2167" y="6741"/>
                  </a:lnTo>
                  <a:lnTo>
                    <a:pt x="2365" y="7295"/>
                  </a:lnTo>
                  <a:lnTo>
                    <a:pt x="2562" y="7878"/>
                  </a:lnTo>
                  <a:lnTo>
                    <a:pt x="2759" y="8460"/>
                  </a:lnTo>
                  <a:lnTo>
                    <a:pt x="2956" y="9043"/>
                  </a:lnTo>
                  <a:lnTo>
                    <a:pt x="3153" y="9598"/>
                  </a:lnTo>
                  <a:lnTo>
                    <a:pt x="3350" y="10153"/>
                  </a:lnTo>
                  <a:lnTo>
                    <a:pt x="3547" y="10652"/>
                  </a:lnTo>
                  <a:lnTo>
                    <a:pt x="3744" y="11207"/>
                  </a:lnTo>
                  <a:lnTo>
                    <a:pt x="3941" y="11734"/>
                  </a:lnTo>
                  <a:lnTo>
                    <a:pt x="4138" y="12233"/>
                  </a:lnTo>
                  <a:lnTo>
                    <a:pt x="4335" y="12732"/>
                  </a:lnTo>
                  <a:lnTo>
                    <a:pt x="4581" y="13204"/>
                  </a:lnTo>
                  <a:lnTo>
                    <a:pt x="4778" y="13648"/>
                  </a:lnTo>
                  <a:lnTo>
                    <a:pt x="4975" y="14119"/>
                  </a:lnTo>
                  <a:lnTo>
                    <a:pt x="5172" y="14591"/>
                  </a:lnTo>
                  <a:lnTo>
                    <a:pt x="5369" y="15007"/>
                  </a:lnTo>
                  <a:lnTo>
                    <a:pt x="5567" y="15423"/>
                  </a:lnTo>
                  <a:lnTo>
                    <a:pt x="5764" y="15839"/>
                  </a:lnTo>
                  <a:lnTo>
                    <a:pt x="5961" y="16200"/>
                  </a:lnTo>
                  <a:lnTo>
                    <a:pt x="6158" y="16588"/>
                  </a:lnTo>
                  <a:lnTo>
                    <a:pt x="6355" y="16976"/>
                  </a:lnTo>
                  <a:lnTo>
                    <a:pt x="6552" y="17282"/>
                  </a:lnTo>
                  <a:lnTo>
                    <a:pt x="6749" y="17614"/>
                  </a:lnTo>
                  <a:lnTo>
                    <a:pt x="6995" y="17920"/>
                  </a:lnTo>
                  <a:lnTo>
                    <a:pt x="7192" y="18169"/>
                  </a:lnTo>
                  <a:lnTo>
                    <a:pt x="7389" y="18474"/>
                  </a:lnTo>
                  <a:lnTo>
                    <a:pt x="7586" y="18724"/>
                  </a:lnTo>
                  <a:lnTo>
                    <a:pt x="7783" y="18946"/>
                  </a:lnTo>
                  <a:lnTo>
                    <a:pt x="8030" y="19168"/>
                  </a:lnTo>
                  <a:lnTo>
                    <a:pt x="8227" y="19334"/>
                  </a:lnTo>
                  <a:lnTo>
                    <a:pt x="8424" y="19473"/>
                  </a:lnTo>
                  <a:lnTo>
                    <a:pt x="8621" y="19639"/>
                  </a:lnTo>
                  <a:lnTo>
                    <a:pt x="8818" y="19750"/>
                  </a:lnTo>
                  <a:lnTo>
                    <a:pt x="9064" y="19861"/>
                  </a:lnTo>
                  <a:lnTo>
                    <a:pt x="9261" y="19917"/>
                  </a:lnTo>
                  <a:lnTo>
                    <a:pt x="9458" y="19945"/>
                  </a:lnTo>
                  <a:lnTo>
                    <a:pt x="9655" y="19945"/>
                  </a:lnTo>
                  <a:lnTo>
                    <a:pt x="9901" y="19972"/>
                  </a:lnTo>
                  <a:lnTo>
                    <a:pt x="10099" y="19945"/>
                  </a:lnTo>
                  <a:lnTo>
                    <a:pt x="10296" y="19834"/>
                  </a:lnTo>
                  <a:lnTo>
                    <a:pt x="10542" y="19723"/>
                  </a:lnTo>
                  <a:lnTo>
                    <a:pt x="10739" y="19556"/>
                  </a:lnTo>
                  <a:lnTo>
                    <a:pt x="10985" y="19334"/>
                  </a:lnTo>
                  <a:lnTo>
                    <a:pt x="11232" y="19112"/>
                  </a:lnTo>
                  <a:lnTo>
                    <a:pt x="11429" y="18863"/>
                  </a:lnTo>
                  <a:lnTo>
                    <a:pt x="11675" y="18558"/>
                  </a:lnTo>
                  <a:lnTo>
                    <a:pt x="11921" y="18252"/>
                  </a:lnTo>
                  <a:lnTo>
                    <a:pt x="12167" y="17892"/>
                  </a:lnTo>
                  <a:lnTo>
                    <a:pt x="12414" y="17503"/>
                  </a:lnTo>
                  <a:lnTo>
                    <a:pt x="12660" y="17143"/>
                  </a:lnTo>
                  <a:lnTo>
                    <a:pt x="12906" y="16727"/>
                  </a:lnTo>
                  <a:lnTo>
                    <a:pt x="13153" y="16283"/>
                  </a:lnTo>
                  <a:lnTo>
                    <a:pt x="13399" y="15811"/>
                  </a:lnTo>
                  <a:lnTo>
                    <a:pt x="13695" y="15340"/>
                  </a:lnTo>
                  <a:lnTo>
                    <a:pt x="13941" y="14840"/>
                  </a:lnTo>
                  <a:lnTo>
                    <a:pt x="14187" y="14341"/>
                  </a:lnTo>
                  <a:lnTo>
                    <a:pt x="14433" y="13814"/>
                  </a:lnTo>
                  <a:lnTo>
                    <a:pt x="14680" y="13315"/>
                  </a:lnTo>
                  <a:lnTo>
                    <a:pt x="14926" y="12760"/>
                  </a:lnTo>
                  <a:lnTo>
                    <a:pt x="15172" y="12233"/>
                  </a:lnTo>
                  <a:lnTo>
                    <a:pt x="15419" y="11650"/>
                  </a:lnTo>
                  <a:lnTo>
                    <a:pt x="15665" y="11123"/>
                  </a:lnTo>
                  <a:lnTo>
                    <a:pt x="15862" y="10569"/>
                  </a:lnTo>
                  <a:lnTo>
                    <a:pt x="16108" y="10042"/>
                  </a:lnTo>
                  <a:lnTo>
                    <a:pt x="16355" y="9459"/>
                  </a:lnTo>
                  <a:lnTo>
                    <a:pt x="16552" y="8904"/>
                  </a:lnTo>
                  <a:lnTo>
                    <a:pt x="16798" y="8377"/>
                  </a:lnTo>
                  <a:lnTo>
                    <a:pt x="17044" y="7822"/>
                  </a:lnTo>
                  <a:lnTo>
                    <a:pt x="17241" y="7268"/>
                  </a:lnTo>
                  <a:lnTo>
                    <a:pt x="17438" y="6768"/>
                  </a:lnTo>
                  <a:lnTo>
                    <a:pt x="17685" y="6241"/>
                  </a:lnTo>
                  <a:lnTo>
                    <a:pt x="17882" y="5714"/>
                  </a:lnTo>
                  <a:lnTo>
                    <a:pt x="18079" y="5215"/>
                  </a:lnTo>
                  <a:lnTo>
                    <a:pt x="18276" y="4743"/>
                  </a:lnTo>
                  <a:lnTo>
                    <a:pt x="18473" y="4300"/>
                  </a:lnTo>
                  <a:lnTo>
                    <a:pt x="18621" y="3856"/>
                  </a:lnTo>
                  <a:lnTo>
                    <a:pt x="18818" y="3412"/>
                  </a:lnTo>
                  <a:lnTo>
                    <a:pt x="18966" y="2996"/>
                  </a:lnTo>
                  <a:lnTo>
                    <a:pt x="19113" y="2635"/>
                  </a:lnTo>
                  <a:lnTo>
                    <a:pt x="19310" y="2247"/>
                  </a:lnTo>
                  <a:lnTo>
                    <a:pt x="19458" y="1914"/>
                  </a:lnTo>
                  <a:lnTo>
                    <a:pt x="19557" y="1637"/>
                  </a:lnTo>
                  <a:lnTo>
                    <a:pt x="19704" y="1331"/>
                  </a:lnTo>
                  <a:lnTo>
                    <a:pt x="19852" y="1054"/>
                  </a:lnTo>
                  <a:lnTo>
                    <a:pt x="19951" y="83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Freeform 39"/>
            <p:cNvSpPr>
              <a:spLocks/>
            </p:cNvSpPr>
            <p:nvPr/>
          </p:nvSpPr>
          <p:spPr bwMode="auto">
            <a:xfrm>
              <a:off x="3684" y="1324"/>
              <a:ext cx="279" cy="34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60"/>
                  </a:moveTo>
                  <a:lnTo>
                    <a:pt x="197" y="19327"/>
                  </a:lnTo>
                  <a:lnTo>
                    <a:pt x="394" y="18733"/>
                  </a:lnTo>
                  <a:lnTo>
                    <a:pt x="591" y="18099"/>
                  </a:lnTo>
                  <a:lnTo>
                    <a:pt x="788" y="17465"/>
                  </a:lnTo>
                  <a:lnTo>
                    <a:pt x="985" y="16832"/>
                  </a:lnTo>
                  <a:lnTo>
                    <a:pt x="1182" y="16238"/>
                  </a:lnTo>
                  <a:lnTo>
                    <a:pt x="1379" y="15604"/>
                  </a:lnTo>
                  <a:lnTo>
                    <a:pt x="1576" y="15010"/>
                  </a:lnTo>
                  <a:lnTo>
                    <a:pt x="1773" y="14416"/>
                  </a:lnTo>
                  <a:lnTo>
                    <a:pt x="1970" y="13822"/>
                  </a:lnTo>
                  <a:lnTo>
                    <a:pt x="2167" y="13228"/>
                  </a:lnTo>
                  <a:lnTo>
                    <a:pt x="2365" y="12673"/>
                  </a:lnTo>
                  <a:lnTo>
                    <a:pt x="2562" y="12079"/>
                  </a:lnTo>
                  <a:lnTo>
                    <a:pt x="2759" y="11525"/>
                  </a:lnTo>
                  <a:lnTo>
                    <a:pt x="2956" y="10931"/>
                  </a:lnTo>
                  <a:lnTo>
                    <a:pt x="3153" y="10376"/>
                  </a:lnTo>
                  <a:lnTo>
                    <a:pt x="3350" y="9822"/>
                  </a:lnTo>
                  <a:lnTo>
                    <a:pt x="3547" y="9307"/>
                  </a:lnTo>
                  <a:lnTo>
                    <a:pt x="3744" y="8752"/>
                  </a:lnTo>
                  <a:lnTo>
                    <a:pt x="3941" y="8238"/>
                  </a:lnTo>
                  <a:lnTo>
                    <a:pt x="4138" y="7723"/>
                  </a:lnTo>
                  <a:lnTo>
                    <a:pt x="4335" y="7248"/>
                  </a:lnTo>
                  <a:lnTo>
                    <a:pt x="4581" y="6772"/>
                  </a:lnTo>
                  <a:lnTo>
                    <a:pt x="4778" y="6337"/>
                  </a:lnTo>
                  <a:lnTo>
                    <a:pt x="4975" y="5861"/>
                  </a:lnTo>
                  <a:lnTo>
                    <a:pt x="5172" y="5386"/>
                  </a:lnTo>
                  <a:lnTo>
                    <a:pt x="5369" y="4950"/>
                  </a:lnTo>
                  <a:lnTo>
                    <a:pt x="5567" y="4554"/>
                  </a:lnTo>
                  <a:lnTo>
                    <a:pt x="5764" y="4119"/>
                  </a:lnTo>
                  <a:lnTo>
                    <a:pt x="5961" y="3762"/>
                  </a:lnTo>
                  <a:lnTo>
                    <a:pt x="6158" y="3366"/>
                  </a:lnTo>
                  <a:lnTo>
                    <a:pt x="6355" y="3010"/>
                  </a:lnTo>
                  <a:lnTo>
                    <a:pt x="6552" y="2693"/>
                  </a:lnTo>
                  <a:lnTo>
                    <a:pt x="6749" y="2376"/>
                  </a:lnTo>
                  <a:lnTo>
                    <a:pt x="6995" y="2059"/>
                  </a:lnTo>
                  <a:lnTo>
                    <a:pt x="7192" y="1822"/>
                  </a:lnTo>
                  <a:lnTo>
                    <a:pt x="7389" y="1505"/>
                  </a:lnTo>
                  <a:lnTo>
                    <a:pt x="7586" y="1267"/>
                  </a:lnTo>
                  <a:lnTo>
                    <a:pt x="7783" y="1030"/>
                  </a:lnTo>
                  <a:lnTo>
                    <a:pt x="8030" y="792"/>
                  </a:lnTo>
                  <a:lnTo>
                    <a:pt x="8227" y="634"/>
                  </a:lnTo>
                  <a:lnTo>
                    <a:pt x="8424" y="515"/>
                  </a:lnTo>
                  <a:lnTo>
                    <a:pt x="8621" y="317"/>
                  </a:lnTo>
                  <a:lnTo>
                    <a:pt x="8818" y="238"/>
                  </a:lnTo>
                  <a:lnTo>
                    <a:pt x="9064" y="119"/>
                  </a:lnTo>
                  <a:lnTo>
                    <a:pt x="9261" y="40"/>
                  </a:lnTo>
                  <a:lnTo>
                    <a:pt x="9458" y="40"/>
                  </a:lnTo>
                  <a:lnTo>
                    <a:pt x="9655" y="40"/>
                  </a:lnTo>
                  <a:lnTo>
                    <a:pt x="9901" y="0"/>
                  </a:lnTo>
                  <a:lnTo>
                    <a:pt x="10099" y="40"/>
                  </a:lnTo>
                  <a:lnTo>
                    <a:pt x="10296" y="158"/>
                  </a:lnTo>
                  <a:lnTo>
                    <a:pt x="10542" y="238"/>
                  </a:lnTo>
                  <a:lnTo>
                    <a:pt x="10739" y="436"/>
                  </a:lnTo>
                  <a:lnTo>
                    <a:pt x="10985" y="634"/>
                  </a:lnTo>
                  <a:lnTo>
                    <a:pt x="11232" y="871"/>
                  </a:lnTo>
                  <a:lnTo>
                    <a:pt x="11429" y="1109"/>
                  </a:lnTo>
                  <a:lnTo>
                    <a:pt x="11675" y="1426"/>
                  </a:lnTo>
                  <a:lnTo>
                    <a:pt x="11921" y="1703"/>
                  </a:lnTo>
                  <a:lnTo>
                    <a:pt x="12167" y="2099"/>
                  </a:lnTo>
                  <a:lnTo>
                    <a:pt x="12414" y="2455"/>
                  </a:lnTo>
                  <a:lnTo>
                    <a:pt x="12660" y="2812"/>
                  </a:lnTo>
                  <a:lnTo>
                    <a:pt x="12906" y="3248"/>
                  </a:lnTo>
                  <a:lnTo>
                    <a:pt x="13153" y="3683"/>
                  </a:lnTo>
                  <a:lnTo>
                    <a:pt x="13399" y="4158"/>
                  </a:lnTo>
                  <a:lnTo>
                    <a:pt x="13695" y="4634"/>
                  </a:lnTo>
                  <a:lnTo>
                    <a:pt x="13941" y="5149"/>
                  </a:lnTo>
                  <a:lnTo>
                    <a:pt x="14187" y="5624"/>
                  </a:lnTo>
                  <a:lnTo>
                    <a:pt x="14433" y="6139"/>
                  </a:lnTo>
                  <a:lnTo>
                    <a:pt x="14680" y="6653"/>
                  </a:lnTo>
                  <a:lnTo>
                    <a:pt x="14926" y="7208"/>
                  </a:lnTo>
                  <a:lnTo>
                    <a:pt x="15172" y="7723"/>
                  </a:lnTo>
                  <a:lnTo>
                    <a:pt x="15419" y="8317"/>
                  </a:lnTo>
                  <a:lnTo>
                    <a:pt x="15665" y="8832"/>
                  </a:lnTo>
                  <a:lnTo>
                    <a:pt x="15862" y="9386"/>
                  </a:lnTo>
                  <a:lnTo>
                    <a:pt x="16108" y="9941"/>
                  </a:lnTo>
                  <a:lnTo>
                    <a:pt x="16355" y="10495"/>
                  </a:lnTo>
                  <a:lnTo>
                    <a:pt x="16552" y="11050"/>
                  </a:lnTo>
                  <a:lnTo>
                    <a:pt x="16798" y="11604"/>
                  </a:lnTo>
                  <a:lnTo>
                    <a:pt x="17044" y="12158"/>
                  </a:lnTo>
                  <a:lnTo>
                    <a:pt x="17241" y="12713"/>
                  </a:lnTo>
                  <a:lnTo>
                    <a:pt x="17438" y="13188"/>
                  </a:lnTo>
                  <a:lnTo>
                    <a:pt x="17685" y="13743"/>
                  </a:lnTo>
                  <a:lnTo>
                    <a:pt x="17882" y="14257"/>
                  </a:lnTo>
                  <a:lnTo>
                    <a:pt x="18079" y="14772"/>
                  </a:lnTo>
                  <a:lnTo>
                    <a:pt x="18276" y="15248"/>
                  </a:lnTo>
                  <a:lnTo>
                    <a:pt x="18473" y="15683"/>
                  </a:lnTo>
                  <a:lnTo>
                    <a:pt x="18621" y="16119"/>
                  </a:lnTo>
                  <a:lnTo>
                    <a:pt x="18818" y="16554"/>
                  </a:lnTo>
                  <a:lnTo>
                    <a:pt x="18966" y="16990"/>
                  </a:lnTo>
                  <a:lnTo>
                    <a:pt x="19113" y="17347"/>
                  </a:lnTo>
                  <a:lnTo>
                    <a:pt x="19310" y="17743"/>
                  </a:lnTo>
                  <a:lnTo>
                    <a:pt x="19458" y="18059"/>
                  </a:lnTo>
                  <a:lnTo>
                    <a:pt x="19557" y="18337"/>
                  </a:lnTo>
                  <a:lnTo>
                    <a:pt x="19704" y="18653"/>
                  </a:lnTo>
                  <a:lnTo>
                    <a:pt x="19852" y="18931"/>
                  </a:lnTo>
                  <a:lnTo>
                    <a:pt x="19951" y="19129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3" name="Freeform 40"/>
            <p:cNvSpPr>
              <a:spLocks/>
            </p:cNvSpPr>
            <p:nvPr/>
          </p:nvSpPr>
          <p:spPr bwMode="auto">
            <a:xfrm>
              <a:off x="4195" y="1448"/>
              <a:ext cx="280" cy="19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31"/>
                  </a:moveTo>
                  <a:lnTo>
                    <a:pt x="197" y="19375"/>
                  </a:lnTo>
                  <a:lnTo>
                    <a:pt x="394" y="18750"/>
                  </a:lnTo>
                  <a:lnTo>
                    <a:pt x="591" y="18194"/>
                  </a:lnTo>
                  <a:lnTo>
                    <a:pt x="788" y="17431"/>
                  </a:lnTo>
                  <a:lnTo>
                    <a:pt x="985" y="16875"/>
                  </a:lnTo>
                  <a:lnTo>
                    <a:pt x="1182" y="16250"/>
                  </a:lnTo>
                  <a:lnTo>
                    <a:pt x="1379" y="15694"/>
                  </a:lnTo>
                  <a:lnTo>
                    <a:pt x="1576" y="15069"/>
                  </a:lnTo>
                  <a:lnTo>
                    <a:pt x="1773" y="14514"/>
                  </a:lnTo>
                  <a:lnTo>
                    <a:pt x="1970" y="13750"/>
                  </a:lnTo>
                  <a:lnTo>
                    <a:pt x="2167" y="13333"/>
                  </a:lnTo>
                  <a:lnTo>
                    <a:pt x="2365" y="12708"/>
                  </a:lnTo>
                  <a:lnTo>
                    <a:pt x="2562" y="12083"/>
                  </a:lnTo>
                  <a:lnTo>
                    <a:pt x="2759" y="11528"/>
                  </a:lnTo>
                  <a:lnTo>
                    <a:pt x="2956" y="10903"/>
                  </a:lnTo>
                  <a:lnTo>
                    <a:pt x="3153" y="10347"/>
                  </a:lnTo>
                  <a:lnTo>
                    <a:pt x="3350" y="9861"/>
                  </a:lnTo>
                  <a:lnTo>
                    <a:pt x="3547" y="9375"/>
                  </a:lnTo>
                  <a:lnTo>
                    <a:pt x="3744" y="8819"/>
                  </a:lnTo>
                  <a:lnTo>
                    <a:pt x="3941" y="8333"/>
                  </a:lnTo>
                  <a:lnTo>
                    <a:pt x="4138" y="7708"/>
                  </a:lnTo>
                  <a:lnTo>
                    <a:pt x="4335" y="7222"/>
                  </a:lnTo>
                  <a:lnTo>
                    <a:pt x="4581" y="6736"/>
                  </a:lnTo>
                  <a:lnTo>
                    <a:pt x="4778" y="6389"/>
                  </a:lnTo>
                  <a:lnTo>
                    <a:pt x="4975" y="5833"/>
                  </a:lnTo>
                  <a:lnTo>
                    <a:pt x="5172" y="5347"/>
                  </a:lnTo>
                  <a:lnTo>
                    <a:pt x="5369" y="5000"/>
                  </a:lnTo>
                  <a:lnTo>
                    <a:pt x="5567" y="4514"/>
                  </a:lnTo>
                  <a:lnTo>
                    <a:pt x="5764" y="4167"/>
                  </a:lnTo>
                  <a:lnTo>
                    <a:pt x="5961" y="3819"/>
                  </a:lnTo>
                  <a:lnTo>
                    <a:pt x="6158" y="3333"/>
                  </a:lnTo>
                  <a:lnTo>
                    <a:pt x="6355" y="2986"/>
                  </a:lnTo>
                  <a:lnTo>
                    <a:pt x="6552" y="2639"/>
                  </a:lnTo>
                  <a:lnTo>
                    <a:pt x="6749" y="2361"/>
                  </a:lnTo>
                  <a:lnTo>
                    <a:pt x="6995" y="2014"/>
                  </a:lnTo>
                  <a:lnTo>
                    <a:pt x="7192" y="1806"/>
                  </a:lnTo>
                  <a:lnTo>
                    <a:pt x="7389" y="1458"/>
                  </a:lnTo>
                  <a:lnTo>
                    <a:pt x="7586" y="1181"/>
                  </a:lnTo>
                  <a:lnTo>
                    <a:pt x="7783" y="972"/>
                  </a:lnTo>
                  <a:lnTo>
                    <a:pt x="8030" y="833"/>
                  </a:lnTo>
                  <a:lnTo>
                    <a:pt x="8227" y="625"/>
                  </a:lnTo>
                  <a:lnTo>
                    <a:pt x="8424" y="486"/>
                  </a:lnTo>
                  <a:lnTo>
                    <a:pt x="8621" y="347"/>
                  </a:lnTo>
                  <a:lnTo>
                    <a:pt x="8818" y="208"/>
                  </a:lnTo>
                  <a:lnTo>
                    <a:pt x="9064" y="139"/>
                  </a:lnTo>
                  <a:lnTo>
                    <a:pt x="9261" y="0"/>
                  </a:lnTo>
                  <a:lnTo>
                    <a:pt x="9458" y="0"/>
                  </a:lnTo>
                  <a:lnTo>
                    <a:pt x="9655" y="0"/>
                  </a:lnTo>
                  <a:lnTo>
                    <a:pt x="9901" y="0"/>
                  </a:lnTo>
                  <a:lnTo>
                    <a:pt x="10099" y="0"/>
                  </a:lnTo>
                  <a:lnTo>
                    <a:pt x="10296" y="139"/>
                  </a:lnTo>
                  <a:lnTo>
                    <a:pt x="10542" y="208"/>
                  </a:lnTo>
                  <a:lnTo>
                    <a:pt x="10739" y="486"/>
                  </a:lnTo>
                  <a:lnTo>
                    <a:pt x="10985" y="625"/>
                  </a:lnTo>
                  <a:lnTo>
                    <a:pt x="11232" y="833"/>
                  </a:lnTo>
                  <a:lnTo>
                    <a:pt x="11429" y="1042"/>
                  </a:lnTo>
                  <a:lnTo>
                    <a:pt x="11675" y="1458"/>
                  </a:lnTo>
                  <a:lnTo>
                    <a:pt x="11921" y="1667"/>
                  </a:lnTo>
                  <a:lnTo>
                    <a:pt x="12167" y="2153"/>
                  </a:lnTo>
                  <a:lnTo>
                    <a:pt x="12414" y="2500"/>
                  </a:lnTo>
                  <a:lnTo>
                    <a:pt x="12660" y="2708"/>
                  </a:lnTo>
                  <a:lnTo>
                    <a:pt x="12906" y="3194"/>
                  </a:lnTo>
                  <a:lnTo>
                    <a:pt x="13153" y="3681"/>
                  </a:lnTo>
                  <a:lnTo>
                    <a:pt x="13399" y="4167"/>
                  </a:lnTo>
                  <a:lnTo>
                    <a:pt x="13695" y="4653"/>
                  </a:lnTo>
                  <a:lnTo>
                    <a:pt x="13941" y="5139"/>
                  </a:lnTo>
                  <a:lnTo>
                    <a:pt x="14187" y="5556"/>
                  </a:lnTo>
                  <a:lnTo>
                    <a:pt x="14433" y="6042"/>
                  </a:lnTo>
                  <a:lnTo>
                    <a:pt x="14680" y="6667"/>
                  </a:lnTo>
                  <a:lnTo>
                    <a:pt x="14926" y="7222"/>
                  </a:lnTo>
                  <a:lnTo>
                    <a:pt x="15172" y="7708"/>
                  </a:lnTo>
                  <a:lnTo>
                    <a:pt x="15419" y="8333"/>
                  </a:lnTo>
                  <a:lnTo>
                    <a:pt x="15665" y="8819"/>
                  </a:lnTo>
                  <a:lnTo>
                    <a:pt x="15862" y="9375"/>
                  </a:lnTo>
                  <a:lnTo>
                    <a:pt x="16108" y="10000"/>
                  </a:lnTo>
                  <a:lnTo>
                    <a:pt x="16355" y="10417"/>
                  </a:lnTo>
                  <a:lnTo>
                    <a:pt x="16552" y="11042"/>
                  </a:lnTo>
                  <a:lnTo>
                    <a:pt x="16798" y="11667"/>
                  </a:lnTo>
                  <a:lnTo>
                    <a:pt x="17044" y="12083"/>
                  </a:lnTo>
                  <a:lnTo>
                    <a:pt x="17241" y="12708"/>
                  </a:lnTo>
                  <a:lnTo>
                    <a:pt x="17438" y="13194"/>
                  </a:lnTo>
                  <a:lnTo>
                    <a:pt x="17685" y="13750"/>
                  </a:lnTo>
                  <a:lnTo>
                    <a:pt x="17882" y="14236"/>
                  </a:lnTo>
                  <a:lnTo>
                    <a:pt x="18079" y="14861"/>
                  </a:lnTo>
                  <a:lnTo>
                    <a:pt x="18276" y="15208"/>
                  </a:lnTo>
                  <a:lnTo>
                    <a:pt x="18473" y="15694"/>
                  </a:lnTo>
                  <a:lnTo>
                    <a:pt x="18621" y="16181"/>
                  </a:lnTo>
                  <a:lnTo>
                    <a:pt x="18818" y="16597"/>
                  </a:lnTo>
                  <a:lnTo>
                    <a:pt x="18966" y="17083"/>
                  </a:lnTo>
                  <a:lnTo>
                    <a:pt x="19113" y="17431"/>
                  </a:lnTo>
                  <a:lnTo>
                    <a:pt x="19310" y="17847"/>
                  </a:lnTo>
                  <a:lnTo>
                    <a:pt x="19458" y="18056"/>
                  </a:lnTo>
                  <a:lnTo>
                    <a:pt x="19557" y="18403"/>
                  </a:lnTo>
                  <a:lnTo>
                    <a:pt x="19704" y="18750"/>
                  </a:lnTo>
                  <a:lnTo>
                    <a:pt x="19852" y="19028"/>
                  </a:lnTo>
                  <a:lnTo>
                    <a:pt x="19951" y="1909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4" name="Freeform 41"/>
            <p:cNvSpPr>
              <a:spLocks/>
            </p:cNvSpPr>
            <p:nvPr/>
          </p:nvSpPr>
          <p:spPr bwMode="auto">
            <a:xfrm>
              <a:off x="3940" y="1599"/>
              <a:ext cx="279" cy="22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97" y="615"/>
                  </a:lnTo>
                  <a:lnTo>
                    <a:pt x="394" y="1231"/>
                  </a:lnTo>
                  <a:lnTo>
                    <a:pt x="591" y="1846"/>
                  </a:lnTo>
                  <a:lnTo>
                    <a:pt x="788" y="2523"/>
                  </a:lnTo>
                  <a:lnTo>
                    <a:pt x="985" y="3138"/>
                  </a:lnTo>
                  <a:lnTo>
                    <a:pt x="1182" y="3692"/>
                  </a:lnTo>
                  <a:lnTo>
                    <a:pt x="1379" y="4369"/>
                  </a:lnTo>
                  <a:lnTo>
                    <a:pt x="1576" y="4923"/>
                  </a:lnTo>
                  <a:lnTo>
                    <a:pt x="1773" y="5538"/>
                  </a:lnTo>
                  <a:lnTo>
                    <a:pt x="1970" y="6154"/>
                  </a:lnTo>
                  <a:lnTo>
                    <a:pt x="2167" y="6708"/>
                  </a:lnTo>
                  <a:lnTo>
                    <a:pt x="2365" y="7262"/>
                  </a:lnTo>
                  <a:lnTo>
                    <a:pt x="2562" y="7877"/>
                  </a:lnTo>
                  <a:lnTo>
                    <a:pt x="2759" y="8431"/>
                  </a:lnTo>
                  <a:lnTo>
                    <a:pt x="2956" y="9046"/>
                  </a:lnTo>
                  <a:lnTo>
                    <a:pt x="3153" y="9600"/>
                  </a:lnTo>
                  <a:lnTo>
                    <a:pt x="3350" y="10154"/>
                  </a:lnTo>
                  <a:lnTo>
                    <a:pt x="3547" y="10646"/>
                  </a:lnTo>
                  <a:lnTo>
                    <a:pt x="3744" y="11200"/>
                  </a:lnTo>
                  <a:lnTo>
                    <a:pt x="3941" y="11692"/>
                  </a:lnTo>
                  <a:lnTo>
                    <a:pt x="4138" y="12246"/>
                  </a:lnTo>
                  <a:lnTo>
                    <a:pt x="4335" y="12738"/>
                  </a:lnTo>
                  <a:lnTo>
                    <a:pt x="4581" y="13169"/>
                  </a:lnTo>
                  <a:lnTo>
                    <a:pt x="4778" y="13600"/>
                  </a:lnTo>
                  <a:lnTo>
                    <a:pt x="4975" y="14092"/>
                  </a:lnTo>
                  <a:lnTo>
                    <a:pt x="5172" y="14585"/>
                  </a:lnTo>
                  <a:lnTo>
                    <a:pt x="5369" y="15015"/>
                  </a:lnTo>
                  <a:lnTo>
                    <a:pt x="5567" y="15385"/>
                  </a:lnTo>
                  <a:lnTo>
                    <a:pt x="5764" y="15815"/>
                  </a:lnTo>
                  <a:lnTo>
                    <a:pt x="5961" y="16185"/>
                  </a:lnTo>
                  <a:lnTo>
                    <a:pt x="6158" y="16615"/>
                  </a:lnTo>
                  <a:lnTo>
                    <a:pt x="6355" y="16923"/>
                  </a:lnTo>
                  <a:lnTo>
                    <a:pt x="6552" y="17292"/>
                  </a:lnTo>
                  <a:lnTo>
                    <a:pt x="6749" y="17600"/>
                  </a:lnTo>
                  <a:lnTo>
                    <a:pt x="6995" y="17908"/>
                  </a:lnTo>
                  <a:lnTo>
                    <a:pt x="7192" y="18154"/>
                  </a:lnTo>
                  <a:lnTo>
                    <a:pt x="7389" y="18462"/>
                  </a:lnTo>
                  <a:lnTo>
                    <a:pt x="7586" y="18708"/>
                  </a:lnTo>
                  <a:lnTo>
                    <a:pt x="7783" y="18954"/>
                  </a:lnTo>
                  <a:lnTo>
                    <a:pt x="8030" y="19138"/>
                  </a:lnTo>
                  <a:lnTo>
                    <a:pt x="8227" y="19323"/>
                  </a:lnTo>
                  <a:lnTo>
                    <a:pt x="8424" y="19446"/>
                  </a:lnTo>
                  <a:lnTo>
                    <a:pt x="8621" y="19631"/>
                  </a:lnTo>
                  <a:lnTo>
                    <a:pt x="8818" y="19692"/>
                  </a:lnTo>
                  <a:lnTo>
                    <a:pt x="9064" y="19815"/>
                  </a:lnTo>
                  <a:lnTo>
                    <a:pt x="9261" y="19938"/>
                  </a:lnTo>
                  <a:lnTo>
                    <a:pt x="9458" y="19938"/>
                  </a:lnTo>
                  <a:lnTo>
                    <a:pt x="9655" y="19938"/>
                  </a:lnTo>
                  <a:lnTo>
                    <a:pt x="9901" y="19938"/>
                  </a:lnTo>
                  <a:lnTo>
                    <a:pt x="10099" y="19938"/>
                  </a:lnTo>
                  <a:lnTo>
                    <a:pt x="10296" y="19815"/>
                  </a:lnTo>
                  <a:lnTo>
                    <a:pt x="10542" y="19692"/>
                  </a:lnTo>
                  <a:lnTo>
                    <a:pt x="10739" y="19508"/>
                  </a:lnTo>
                  <a:lnTo>
                    <a:pt x="10985" y="19323"/>
                  </a:lnTo>
                  <a:lnTo>
                    <a:pt x="11232" y="19077"/>
                  </a:lnTo>
                  <a:lnTo>
                    <a:pt x="11429" y="18831"/>
                  </a:lnTo>
                  <a:lnTo>
                    <a:pt x="11675" y="18523"/>
                  </a:lnTo>
                  <a:lnTo>
                    <a:pt x="11921" y="18277"/>
                  </a:lnTo>
                  <a:lnTo>
                    <a:pt x="12167" y="17846"/>
                  </a:lnTo>
                  <a:lnTo>
                    <a:pt x="12414" y="17477"/>
                  </a:lnTo>
                  <a:lnTo>
                    <a:pt x="12660" y="17169"/>
                  </a:lnTo>
                  <a:lnTo>
                    <a:pt x="12906" y="16738"/>
                  </a:lnTo>
                  <a:lnTo>
                    <a:pt x="13153" y="16308"/>
                  </a:lnTo>
                  <a:lnTo>
                    <a:pt x="13399" y="15815"/>
                  </a:lnTo>
                  <a:lnTo>
                    <a:pt x="13695" y="15323"/>
                  </a:lnTo>
                  <a:lnTo>
                    <a:pt x="13941" y="14831"/>
                  </a:lnTo>
                  <a:lnTo>
                    <a:pt x="14187" y="14338"/>
                  </a:lnTo>
                  <a:lnTo>
                    <a:pt x="14433" y="13846"/>
                  </a:lnTo>
                  <a:lnTo>
                    <a:pt x="14680" y="13292"/>
                  </a:lnTo>
                  <a:lnTo>
                    <a:pt x="14926" y="12738"/>
                  </a:lnTo>
                  <a:lnTo>
                    <a:pt x="15172" y="12246"/>
                  </a:lnTo>
                  <a:lnTo>
                    <a:pt x="15419" y="11631"/>
                  </a:lnTo>
                  <a:lnTo>
                    <a:pt x="15665" y="11138"/>
                  </a:lnTo>
                  <a:lnTo>
                    <a:pt x="15862" y="10585"/>
                  </a:lnTo>
                  <a:lnTo>
                    <a:pt x="16108" y="10031"/>
                  </a:lnTo>
                  <a:lnTo>
                    <a:pt x="16355" y="9477"/>
                  </a:lnTo>
                  <a:lnTo>
                    <a:pt x="16552" y="8923"/>
                  </a:lnTo>
                  <a:lnTo>
                    <a:pt x="16798" y="8369"/>
                  </a:lnTo>
                  <a:lnTo>
                    <a:pt x="17044" y="7815"/>
                  </a:lnTo>
                  <a:lnTo>
                    <a:pt x="17241" y="7262"/>
                  </a:lnTo>
                  <a:lnTo>
                    <a:pt x="17438" y="6769"/>
                  </a:lnTo>
                  <a:lnTo>
                    <a:pt x="17685" y="6215"/>
                  </a:lnTo>
                  <a:lnTo>
                    <a:pt x="17882" y="5723"/>
                  </a:lnTo>
                  <a:lnTo>
                    <a:pt x="18079" y="5169"/>
                  </a:lnTo>
                  <a:lnTo>
                    <a:pt x="18276" y="4738"/>
                  </a:lnTo>
                  <a:lnTo>
                    <a:pt x="18473" y="4308"/>
                  </a:lnTo>
                  <a:lnTo>
                    <a:pt x="18621" y="3815"/>
                  </a:lnTo>
                  <a:lnTo>
                    <a:pt x="18818" y="3385"/>
                  </a:lnTo>
                  <a:lnTo>
                    <a:pt x="18966" y="2954"/>
                  </a:lnTo>
                  <a:lnTo>
                    <a:pt x="19113" y="2585"/>
                  </a:lnTo>
                  <a:lnTo>
                    <a:pt x="19310" y="2215"/>
                  </a:lnTo>
                  <a:lnTo>
                    <a:pt x="19458" y="1908"/>
                  </a:lnTo>
                  <a:lnTo>
                    <a:pt x="19557" y="1600"/>
                  </a:lnTo>
                  <a:lnTo>
                    <a:pt x="19704" y="1292"/>
                  </a:lnTo>
                  <a:lnTo>
                    <a:pt x="19852" y="1046"/>
                  </a:lnTo>
                  <a:lnTo>
                    <a:pt x="19951" y="862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5" name="Rectangle 42"/>
            <p:cNvSpPr>
              <a:spLocks noChangeArrowheads="1"/>
            </p:cNvSpPr>
            <p:nvPr/>
          </p:nvSpPr>
          <p:spPr bwMode="auto">
            <a:xfrm>
              <a:off x="3103" y="572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800" b="0" i="1">
                  <a:ea typeface="宋体" pitchFamily="2" charset="-122"/>
                </a:rPr>
                <a:t>x</a:t>
              </a:r>
              <a:endParaRPr kumimoji="0" lang="en-US" altLang="zh-CN" sz="1800" b="0">
                <a:ea typeface="华文中宋" pitchFamily="2" charset="-122"/>
              </a:endParaRPr>
            </a:p>
          </p:txBody>
        </p:sp>
        <p:sp>
          <p:nvSpPr>
            <p:cNvPr id="50206" name="Rectangle 43"/>
            <p:cNvSpPr>
              <a:spLocks noChangeArrowheads="1"/>
            </p:cNvSpPr>
            <p:nvPr/>
          </p:nvSpPr>
          <p:spPr bwMode="auto">
            <a:xfrm>
              <a:off x="5414" y="1569"/>
              <a:ext cx="125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800" b="0" i="1">
                  <a:ea typeface="宋体" pitchFamily="2" charset="-122"/>
                </a:rPr>
                <a:t>t</a:t>
              </a:r>
              <a:endParaRPr kumimoji="0" lang="en-US" altLang="zh-CN" sz="1800" b="0">
                <a:ea typeface="华文中宋" pitchFamily="2" charset="-122"/>
              </a:endParaRPr>
            </a:p>
          </p:txBody>
        </p:sp>
        <p:sp>
          <p:nvSpPr>
            <p:cNvPr id="50207" name="Rectangle 44"/>
            <p:cNvSpPr>
              <a:spLocks noChangeArrowheads="1"/>
            </p:cNvSpPr>
            <p:nvPr/>
          </p:nvSpPr>
          <p:spPr bwMode="auto">
            <a:xfrm>
              <a:off x="3118" y="1448"/>
              <a:ext cx="13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800" b="0">
                  <a:ea typeface="宋体" pitchFamily="2" charset="-122"/>
                </a:rPr>
                <a:t>o</a:t>
              </a:r>
              <a:endParaRPr kumimoji="0" lang="en-US" altLang="zh-CN" sz="1800" b="0">
                <a:ea typeface="华文中宋" pitchFamily="2" charset="-122"/>
              </a:endParaRPr>
            </a:p>
          </p:txBody>
        </p:sp>
        <p:sp>
          <p:nvSpPr>
            <p:cNvPr id="50208" name="Arc 45"/>
            <p:cNvSpPr>
              <a:spLocks/>
            </p:cNvSpPr>
            <p:nvPr/>
          </p:nvSpPr>
          <p:spPr bwMode="auto">
            <a:xfrm flipH="1" flipV="1">
              <a:off x="3310" y="897"/>
              <a:ext cx="2012" cy="6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63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9" name="Arc 46"/>
            <p:cNvSpPr>
              <a:spLocks/>
            </p:cNvSpPr>
            <p:nvPr/>
          </p:nvSpPr>
          <p:spPr bwMode="auto">
            <a:xfrm flipH="1">
              <a:off x="3331" y="1682"/>
              <a:ext cx="2025" cy="737"/>
            </a:xfrm>
            <a:custGeom>
              <a:avLst/>
              <a:gdLst>
                <a:gd name="T0" fmla="*/ 0 w 21503"/>
                <a:gd name="T1" fmla="*/ 0 h 21592"/>
                <a:gd name="T2" fmla="*/ 0 w 21503"/>
                <a:gd name="T3" fmla="*/ 0 h 21592"/>
                <a:gd name="T4" fmla="*/ 0 w 21503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03"/>
                <a:gd name="T10" fmla="*/ 0 h 21592"/>
                <a:gd name="T11" fmla="*/ 21503 w 21503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03" h="21592" fill="none" extrusionOk="0">
                  <a:moveTo>
                    <a:pt x="588" y="0"/>
                  </a:moveTo>
                  <a:cubicBezTo>
                    <a:pt x="11495" y="297"/>
                    <a:pt x="20467" y="8681"/>
                    <a:pt x="21502" y="19543"/>
                  </a:cubicBezTo>
                </a:path>
                <a:path w="21503" h="21592" stroke="0" extrusionOk="0">
                  <a:moveTo>
                    <a:pt x="588" y="0"/>
                  </a:moveTo>
                  <a:cubicBezTo>
                    <a:pt x="11495" y="297"/>
                    <a:pt x="20467" y="8681"/>
                    <a:pt x="21502" y="19543"/>
                  </a:cubicBezTo>
                  <a:lnTo>
                    <a:pt x="0" y="21592"/>
                  </a:lnTo>
                  <a:lnTo>
                    <a:pt x="588" y="0"/>
                  </a:lnTo>
                  <a:close/>
                </a:path>
              </a:pathLst>
            </a:custGeom>
            <a:noFill/>
            <a:ln w="63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0" name="Rectangle 47"/>
            <p:cNvSpPr>
              <a:spLocks noChangeArrowheads="1"/>
            </p:cNvSpPr>
            <p:nvPr/>
          </p:nvSpPr>
          <p:spPr bwMode="auto">
            <a:xfrm>
              <a:off x="4070" y="1003"/>
              <a:ext cx="405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/>
            <a:p>
              <a:pPr algn="just"/>
              <a:r>
                <a:rPr kumimoji="0" lang="en-US" altLang="zh-CN" sz="1500" i="1">
                  <a:solidFill>
                    <a:srgbClr val="800080"/>
                  </a:solidFill>
                  <a:ea typeface="宋体" pitchFamily="2" charset="-122"/>
                </a:rPr>
                <a:t> </a:t>
              </a:r>
              <a:r>
                <a:rPr kumimoji="0" lang="en-US" altLang="zh-CN" sz="1500" i="1">
                  <a:solidFill>
                    <a:srgbClr val="0000FF"/>
                  </a:solidFill>
                  <a:ea typeface="宋体" pitchFamily="2" charset="-122"/>
                </a:rPr>
                <a:t>A</a:t>
              </a:r>
              <a:r>
                <a:rPr kumimoji="0" lang="en-US" altLang="zh-CN" sz="1500" baseline="-25000">
                  <a:solidFill>
                    <a:srgbClr val="0000FF"/>
                  </a:solidFill>
                  <a:ea typeface="宋体" pitchFamily="2" charset="-122"/>
                </a:rPr>
                <a:t>0</a:t>
              </a:r>
              <a:r>
                <a:rPr kumimoji="0" lang="en-US" altLang="zh-CN" sz="1500">
                  <a:solidFill>
                    <a:srgbClr val="0000FF"/>
                  </a:solidFill>
                  <a:ea typeface="宋体" pitchFamily="2" charset="-122"/>
                </a:rPr>
                <a:t>e</a:t>
              </a:r>
              <a:r>
                <a:rPr kumimoji="0" lang="en-US" altLang="zh-CN" sz="1500" baseline="30000">
                  <a:solidFill>
                    <a:srgbClr val="0000FF"/>
                  </a:solidFill>
                  <a:ea typeface="宋体" pitchFamily="2" charset="-122"/>
                </a:rPr>
                <a:t>-</a:t>
              </a:r>
              <a:r>
                <a:rPr kumimoji="0" lang="en-US" altLang="zh-CN" sz="1500" i="1" baseline="30000">
                  <a:solidFill>
                    <a:srgbClr val="0000FF"/>
                  </a:solidFill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i="1" baseline="30000">
                  <a:solidFill>
                    <a:srgbClr val="0000FF"/>
                  </a:solidFill>
                  <a:ea typeface="宋体" pitchFamily="2" charset="-122"/>
                </a:rPr>
                <a:t> t</a:t>
              </a:r>
              <a:endParaRPr kumimoji="0" lang="en-US" altLang="zh-CN" sz="1500">
                <a:ea typeface="华文中宋" pitchFamily="2" charset="-122"/>
              </a:endParaRPr>
            </a:p>
          </p:txBody>
        </p:sp>
        <p:sp>
          <p:nvSpPr>
            <p:cNvPr id="50211" name="Line 48"/>
            <p:cNvSpPr>
              <a:spLocks noChangeShapeType="1"/>
            </p:cNvSpPr>
            <p:nvPr/>
          </p:nvSpPr>
          <p:spPr bwMode="auto">
            <a:xfrm flipH="1">
              <a:off x="3834" y="1163"/>
              <a:ext cx="276" cy="139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12" name="Rectangle 50"/>
            <p:cNvSpPr>
              <a:spLocks noChangeArrowheads="1"/>
            </p:cNvSpPr>
            <p:nvPr/>
          </p:nvSpPr>
          <p:spPr bwMode="auto">
            <a:xfrm>
              <a:off x="3061" y="890"/>
              <a:ext cx="199" cy="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zh-CN" sz="1800" b="0">
                <a:ea typeface="宋体" pitchFamily="2" charset="-122"/>
              </a:endParaRPr>
            </a:p>
          </p:txBody>
        </p:sp>
      </p:grp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6227763" y="1870075"/>
            <a:ext cx="495300" cy="68263"/>
            <a:chOff x="3730" y="1139"/>
            <a:chExt cx="313" cy="57"/>
          </a:xfrm>
        </p:grpSpPr>
        <p:sp>
          <p:nvSpPr>
            <p:cNvPr id="50194" name="Oval 52"/>
            <p:cNvSpPr>
              <a:spLocks noChangeArrowheads="1"/>
            </p:cNvSpPr>
            <p:nvPr/>
          </p:nvSpPr>
          <p:spPr bwMode="auto">
            <a:xfrm>
              <a:off x="3730" y="1139"/>
              <a:ext cx="57" cy="57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ea typeface="宋体" pitchFamily="2" charset="-122"/>
              </a:endParaRPr>
            </a:p>
          </p:txBody>
        </p:sp>
        <p:sp>
          <p:nvSpPr>
            <p:cNvPr id="50195" name="Oval 53"/>
            <p:cNvSpPr>
              <a:spLocks noChangeArrowheads="1"/>
            </p:cNvSpPr>
            <p:nvPr/>
          </p:nvSpPr>
          <p:spPr bwMode="auto">
            <a:xfrm>
              <a:off x="3986" y="1139"/>
              <a:ext cx="57" cy="57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kumimoji="0" lang="zh-CN" altLang="zh-CN" sz="1800" b="0">
                <a:ea typeface="宋体" pitchFamily="2" charset="-122"/>
              </a:endParaRPr>
            </a:p>
          </p:txBody>
        </p:sp>
      </p:grpSp>
      <p:sp>
        <p:nvSpPr>
          <p:cNvPr id="3" name="Text Box 43"/>
          <p:cNvSpPr txBox="1">
            <a:spLocks noChangeArrowheads="1"/>
          </p:cNvSpPr>
          <p:nvPr/>
        </p:nvSpPr>
        <p:spPr bwMode="auto">
          <a:xfrm>
            <a:off x="693738" y="3113088"/>
            <a:ext cx="18462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3333FF"/>
                </a:solidFill>
                <a:ea typeface="华文中宋" pitchFamily="2" charset="-122"/>
              </a:rPr>
              <a:t> </a:t>
            </a:r>
            <a:r>
              <a:rPr lang="zh-CN" altLang="en-US" sz="1800">
                <a:solidFill>
                  <a:srgbClr val="3333FF"/>
                </a:solidFill>
                <a:ea typeface="华文中宋" pitchFamily="2" charset="-122"/>
              </a:rPr>
              <a:t>准周期       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89113" y="3478213"/>
          <a:ext cx="15652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4" name="公式" r:id="rId9" imgW="964781" imgH="304668" progId="Equation.3">
                  <p:embed/>
                </p:oleObj>
              </mc:Choice>
              <mc:Fallback>
                <p:oleObj name="公式" r:id="rId9" imgW="964781" imgH="304668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113" y="3478213"/>
                        <a:ext cx="15652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994150" y="3382963"/>
          <a:ext cx="182880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5" name="Equation" r:id="rId11" imgW="1244520" imgH="469800" progId="Equation.DSMT4">
                  <p:embed/>
                </p:oleObj>
              </mc:Choice>
              <mc:Fallback>
                <p:oleObj name="Equation" r:id="rId11" imgW="1244520" imgH="4698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3382963"/>
                        <a:ext cx="182880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027738" y="3363913"/>
          <a:ext cx="10223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6" name="Equation" r:id="rId13" imgW="634680" imgH="431640" progId="Equation.DSMT4">
                  <p:embed/>
                </p:oleObj>
              </mc:Choice>
              <mc:Fallback>
                <p:oleObj name="Equation" r:id="rId13" imgW="634680" imgH="43164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3363913"/>
                        <a:ext cx="10223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7"/>
          <p:cNvSpPr txBox="1">
            <a:spLocks noChangeArrowheads="1"/>
          </p:cNvSpPr>
          <p:nvPr/>
        </p:nvSpPr>
        <p:spPr bwMode="auto">
          <a:xfrm>
            <a:off x="1682750" y="3867150"/>
            <a:ext cx="374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阻尼    </a:t>
            </a:r>
            <a:r>
              <a:rPr lang="zh-CN" altLang="en-US" sz="1800" i="1">
                <a:solidFill>
                  <a:srgbClr val="3333FF"/>
                </a:solidFill>
                <a:ea typeface="华文中宋" pitchFamily="2" charset="-122"/>
                <a:sym typeface="Symbol" pitchFamily="18" charset="2"/>
              </a:rPr>
              <a:t></a:t>
            </a:r>
            <a:r>
              <a:rPr lang="zh-CN" altLang="en-US" sz="1800">
                <a:ea typeface="华文中宋" pitchFamily="2" charset="-122"/>
                <a:sym typeface="Symbol" pitchFamily="18" charset="2"/>
              </a:rPr>
              <a:t>↑</a:t>
            </a:r>
            <a:r>
              <a:rPr lang="zh-CN" altLang="en-US" sz="1800" i="1">
                <a:ea typeface="华文中宋" pitchFamily="2" charset="-122"/>
                <a:sym typeface="Symbol" pitchFamily="18" charset="2"/>
              </a:rPr>
              <a:t>→ </a:t>
            </a:r>
            <a:r>
              <a:rPr lang="en-US" altLang="zh-CN" sz="1800" i="1">
                <a:ea typeface="华文中宋" pitchFamily="2" charset="-122"/>
                <a:sym typeface="Symbol" pitchFamily="18" charset="2"/>
              </a:rPr>
              <a:t>T</a:t>
            </a:r>
            <a:r>
              <a:rPr lang="en-US" altLang="zh-CN" sz="1800">
                <a:ea typeface="华文中宋" pitchFamily="2" charset="-122"/>
                <a:sym typeface="Symbol" pitchFamily="18" charset="2"/>
              </a:rPr>
              <a:t>↑</a:t>
            </a:r>
            <a:r>
              <a:rPr lang="zh-CN" altLang="en-US" sz="1800">
                <a:ea typeface="华文中宋" pitchFamily="2" charset="-122"/>
              </a:rPr>
              <a:t>，   </a:t>
            </a:r>
            <a:r>
              <a:rPr lang="zh-CN" altLang="en-US" sz="1800" i="1">
                <a:solidFill>
                  <a:srgbClr val="3333FF"/>
                </a:solidFill>
                <a:ea typeface="华文中宋" pitchFamily="2" charset="-122"/>
                <a:sym typeface="Symbol" pitchFamily="18" charset="2"/>
              </a:rPr>
              <a:t></a:t>
            </a:r>
            <a:r>
              <a:rPr lang="zh-CN" altLang="en-US" sz="1800" i="1">
                <a:ea typeface="华文中宋" pitchFamily="2" charset="-122"/>
                <a:sym typeface="Symbol" pitchFamily="18" charset="2"/>
              </a:rPr>
              <a:t>→</a:t>
            </a:r>
            <a:r>
              <a:rPr lang="en-US" altLang="zh-CN" sz="1800" i="1">
                <a:ea typeface="华文中宋" pitchFamily="2" charset="-122"/>
                <a:sym typeface="Symbol" pitchFamily="18" charset="2"/>
              </a:rPr>
              <a:t>0,  T → </a:t>
            </a:r>
            <a:r>
              <a:rPr lang="en-US" altLang="zh-CN" sz="1800" i="1">
                <a:ea typeface="华文中宋" pitchFamily="2" charset="-122"/>
              </a:rPr>
              <a:t>T</a:t>
            </a:r>
            <a:r>
              <a:rPr lang="en-US" altLang="zh-CN" sz="1800" baseline="-25000">
                <a:ea typeface="华文中宋" pitchFamily="2" charset="-122"/>
              </a:rPr>
              <a:t>0</a:t>
            </a:r>
            <a:endParaRPr lang="en-US" altLang="zh-CN" sz="1800">
              <a:ea typeface="华文中宋" pitchFamily="2" charset="-122"/>
            </a:endParaRP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1116013" y="4227513"/>
            <a:ext cx="4464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ea typeface="华文中宋" pitchFamily="2" charset="-122"/>
              </a:rPr>
              <a:t>函数的峰值不在时间轴</a:t>
            </a:r>
            <a:r>
              <a:rPr lang="en-US" altLang="zh-CN" sz="1800" i="1">
                <a:ea typeface="华文中宋" pitchFamily="2" charset="-122"/>
              </a:rPr>
              <a:t>t</a:t>
            </a:r>
            <a:r>
              <a:rPr lang="zh-CN" altLang="en-US" sz="1800">
                <a:ea typeface="华文中宋" pitchFamily="2" charset="-122"/>
              </a:rPr>
              <a:t>两零交点的中心。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9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31" grpId="0"/>
      <p:bldP spid="209960" grpId="0"/>
      <p:bldP spid="3" grpId="0"/>
      <p:bldP spid="35" grpId="0"/>
      <p:bldP spid="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76200" y="942975"/>
            <a:ext cx="223678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2</a:t>
            </a:r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、临界阻尼</a:t>
            </a:r>
            <a:r>
              <a:rPr lang="zh-CN" altLang="en-US" sz="1800" b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1619250" y="968375"/>
          <a:ext cx="151288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5" name="公式" r:id="rId4" imgW="482181" imgH="215713" progId="Equation.3">
                  <p:embed/>
                </p:oleObj>
              </mc:Choice>
              <mc:Fallback>
                <p:oleObj name="公式" r:id="rId4" imgW="482181" imgH="2157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968375"/>
                        <a:ext cx="1512888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701675" y="1411288"/>
            <a:ext cx="895350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这时</a:t>
            </a:r>
          </a:p>
        </p:txBody>
      </p:sp>
      <p:graphicFrame>
        <p:nvGraphicFramePr>
          <p:cNvPr id="67593" name="Object 9"/>
          <p:cNvGraphicFramePr>
            <a:graphicFrameLocks noChangeAspect="1"/>
          </p:cNvGraphicFramePr>
          <p:nvPr/>
        </p:nvGraphicFramePr>
        <p:xfrm>
          <a:off x="1284288" y="1420813"/>
          <a:ext cx="29273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6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1420813"/>
                        <a:ext cx="29273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395288" y="1781175"/>
            <a:ext cx="49688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系统不做往复运动，且快速回零。其用途之一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用于灵敏仪器的回零装置。</a:t>
            </a:r>
          </a:p>
        </p:txBody>
      </p:sp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1060450" y="3511550"/>
          <a:ext cx="4087813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7" name="Equation" r:id="rId8" imgW="2019240" imgH="291960" progId="Equation.DSMT4">
                  <p:embed/>
                </p:oleObj>
              </mc:Choice>
              <mc:Fallback>
                <p:oleObj name="Equation" r:id="rId8" imgW="2019240" imgH="2919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3511550"/>
                        <a:ext cx="4087813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8" name="Text Box 14"/>
          <p:cNvSpPr txBox="1">
            <a:spLocks noChangeArrowheads="1"/>
          </p:cNvSpPr>
          <p:nvPr/>
        </p:nvSpPr>
        <p:spPr bwMode="auto">
          <a:xfrm>
            <a:off x="457200" y="3067050"/>
            <a:ext cx="9509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此时 </a:t>
            </a: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369888" y="4148138"/>
            <a:ext cx="4706937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其不是往复运动，须无限长的时间才能回零。</a:t>
            </a:r>
          </a:p>
        </p:txBody>
      </p:sp>
      <p:sp>
        <p:nvSpPr>
          <p:cNvPr id="67601" name="Text Box 17"/>
          <p:cNvSpPr txBox="1">
            <a:spLocks noChangeArrowheads="1"/>
          </p:cNvSpPr>
          <p:nvPr/>
        </p:nvSpPr>
        <p:spPr bwMode="auto">
          <a:xfrm>
            <a:off x="152400" y="2635250"/>
            <a:ext cx="1881188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3</a:t>
            </a:r>
            <a:r>
              <a:rPr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、过阻尼</a:t>
            </a:r>
            <a:r>
              <a:rPr lang="zh-CN" altLang="en-US" sz="1800" b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67602" name="Object 18"/>
          <p:cNvGraphicFramePr>
            <a:graphicFrameLocks noChangeAspect="1"/>
          </p:cNvGraphicFramePr>
          <p:nvPr/>
        </p:nvGraphicFramePr>
        <p:xfrm>
          <a:off x="1763713" y="2582863"/>
          <a:ext cx="158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8" name="公式" r:id="rId10" imgW="482181" imgH="215713" progId="Equation.3">
                  <p:embed/>
                </p:oleObj>
              </mc:Choice>
              <mc:Fallback>
                <p:oleObj name="公式" r:id="rId10" imgW="482181" imgH="215713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582863"/>
                        <a:ext cx="158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659" name="Group 27"/>
          <p:cNvGrpSpPr>
            <a:grpSpLocks/>
          </p:cNvGrpSpPr>
          <p:nvPr/>
        </p:nvGrpSpPr>
        <p:grpSpPr bwMode="auto">
          <a:xfrm>
            <a:off x="5364163" y="574675"/>
            <a:ext cx="3178175" cy="1025525"/>
            <a:chOff x="3606" y="482"/>
            <a:chExt cx="2002" cy="862"/>
          </a:xfrm>
        </p:grpSpPr>
        <p:sp>
          <p:nvSpPr>
            <p:cNvPr id="51222" name="Freeform 15"/>
            <p:cNvSpPr>
              <a:spLocks/>
            </p:cNvSpPr>
            <p:nvPr/>
          </p:nvSpPr>
          <p:spPr bwMode="auto">
            <a:xfrm>
              <a:off x="3833" y="663"/>
              <a:ext cx="453" cy="499"/>
            </a:xfrm>
            <a:custGeom>
              <a:avLst/>
              <a:gdLst>
                <a:gd name="T0" fmla="*/ 0 w 680"/>
                <a:gd name="T1" fmla="*/ 0 h 499"/>
                <a:gd name="T2" fmla="*/ 121 w 680"/>
                <a:gd name="T3" fmla="*/ 363 h 499"/>
                <a:gd name="T4" fmla="*/ 302 w 680"/>
                <a:gd name="T5" fmla="*/ 499 h 4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0" h="499">
                  <a:moveTo>
                    <a:pt x="0" y="0"/>
                  </a:moveTo>
                  <a:cubicBezTo>
                    <a:pt x="79" y="140"/>
                    <a:pt x="159" y="280"/>
                    <a:pt x="272" y="363"/>
                  </a:cubicBezTo>
                  <a:cubicBezTo>
                    <a:pt x="385" y="446"/>
                    <a:pt x="532" y="472"/>
                    <a:pt x="680" y="49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3" name="Line 16"/>
            <p:cNvSpPr>
              <a:spLocks noChangeShapeType="1"/>
            </p:cNvSpPr>
            <p:nvPr/>
          </p:nvSpPr>
          <p:spPr bwMode="auto">
            <a:xfrm>
              <a:off x="3787" y="1162"/>
              <a:ext cx="181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4" name="Line 17"/>
            <p:cNvSpPr>
              <a:spLocks noChangeShapeType="1"/>
            </p:cNvSpPr>
            <p:nvPr/>
          </p:nvSpPr>
          <p:spPr bwMode="auto">
            <a:xfrm flipV="1">
              <a:off x="3833" y="527"/>
              <a:ext cx="0" cy="8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225" name="Object 18"/>
            <p:cNvGraphicFramePr>
              <a:graphicFrameLocks noChangeAspect="1"/>
            </p:cNvGraphicFramePr>
            <p:nvPr/>
          </p:nvGraphicFramePr>
          <p:xfrm>
            <a:off x="3606" y="482"/>
            <a:ext cx="180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39" name="Equation" r:id="rId12" imgW="139700" imgH="139700" progId="Equation.DSMT4">
                    <p:embed/>
                  </p:oleObj>
                </mc:Choice>
                <mc:Fallback>
                  <p:oleObj name="Equation" r:id="rId12" imgW="139700" imgH="1397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482"/>
                          <a:ext cx="180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26" name="Object 19"/>
            <p:cNvGraphicFramePr>
              <a:graphicFrameLocks noChangeAspect="1"/>
            </p:cNvGraphicFramePr>
            <p:nvPr/>
          </p:nvGraphicFramePr>
          <p:xfrm>
            <a:off x="5465" y="890"/>
            <a:ext cx="14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40" name="Equation" r:id="rId14" imgW="101468" imgH="164885" progId="Equation.DSMT4">
                    <p:embed/>
                  </p:oleObj>
                </mc:Choice>
                <mc:Fallback>
                  <p:oleObj name="Equation" r:id="rId14" imgW="101468" imgH="16488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5" y="890"/>
                          <a:ext cx="14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658" name="Group 26"/>
          <p:cNvGrpSpPr>
            <a:grpSpLocks/>
          </p:cNvGrpSpPr>
          <p:nvPr/>
        </p:nvGrpSpPr>
        <p:grpSpPr bwMode="auto">
          <a:xfrm>
            <a:off x="5435600" y="2787650"/>
            <a:ext cx="3178175" cy="1025525"/>
            <a:chOff x="3606" y="2251"/>
            <a:chExt cx="2002" cy="862"/>
          </a:xfrm>
        </p:grpSpPr>
        <p:grpSp>
          <p:nvGrpSpPr>
            <p:cNvPr id="51216" name="Group 24"/>
            <p:cNvGrpSpPr>
              <a:grpSpLocks/>
            </p:cNvGrpSpPr>
            <p:nvPr/>
          </p:nvGrpSpPr>
          <p:grpSpPr bwMode="auto">
            <a:xfrm>
              <a:off x="3606" y="2251"/>
              <a:ext cx="2002" cy="862"/>
              <a:chOff x="3606" y="2251"/>
              <a:chExt cx="2002" cy="862"/>
            </a:xfrm>
          </p:grpSpPr>
          <p:sp>
            <p:nvSpPr>
              <p:cNvPr id="51218" name="Line 20"/>
              <p:cNvSpPr>
                <a:spLocks noChangeShapeType="1"/>
              </p:cNvSpPr>
              <p:nvPr/>
            </p:nvSpPr>
            <p:spPr bwMode="auto">
              <a:xfrm>
                <a:off x="3787" y="2931"/>
                <a:ext cx="181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19" name="Line 21"/>
              <p:cNvSpPr>
                <a:spLocks noChangeShapeType="1"/>
              </p:cNvSpPr>
              <p:nvPr/>
            </p:nvSpPr>
            <p:spPr bwMode="auto">
              <a:xfrm flipV="1">
                <a:off x="3833" y="2296"/>
                <a:ext cx="0" cy="8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1220" name="Object 22"/>
              <p:cNvGraphicFramePr>
                <a:graphicFrameLocks noChangeAspect="1"/>
              </p:cNvGraphicFramePr>
              <p:nvPr/>
            </p:nvGraphicFramePr>
            <p:xfrm>
              <a:off x="3606" y="2251"/>
              <a:ext cx="180" cy="1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41" name="Equation" r:id="rId16" imgW="139700" imgH="139700" progId="Equation.DSMT4">
                      <p:embed/>
                    </p:oleObj>
                  </mc:Choice>
                  <mc:Fallback>
                    <p:oleObj name="Equation" r:id="rId16" imgW="139700" imgH="139700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6" y="2251"/>
                            <a:ext cx="180" cy="1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221" name="Object 23"/>
              <p:cNvGraphicFramePr>
                <a:graphicFrameLocks noChangeAspect="1"/>
              </p:cNvGraphicFramePr>
              <p:nvPr/>
            </p:nvGraphicFramePr>
            <p:xfrm>
              <a:off x="5465" y="2659"/>
              <a:ext cx="143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242" name="Equation" r:id="rId17" imgW="101468" imgH="164885" progId="Equation.DSMT4">
                      <p:embed/>
                    </p:oleObj>
                  </mc:Choice>
                  <mc:Fallback>
                    <p:oleObj name="Equation" r:id="rId17" imgW="101468" imgH="164885" progId="Equation.DSMT4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5" y="2659"/>
                            <a:ext cx="143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1217" name="Freeform 25"/>
            <p:cNvSpPr>
              <a:spLocks/>
            </p:cNvSpPr>
            <p:nvPr/>
          </p:nvSpPr>
          <p:spPr bwMode="auto">
            <a:xfrm>
              <a:off x="3833" y="2432"/>
              <a:ext cx="1542" cy="499"/>
            </a:xfrm>
            <a:custGeom>
              <a:avLst/>
              <a:gdLst>
                <a:gd name="T0" fmla="*/ 0 w 680"/>
                <a:gd name="T1" fmla="*/ 0 h 499"/>
                <a:gd name="T2" fmla="*/ 1399 w 680"/>
                <a:gd name="T3" fmla="*/ 363 h 499"/>
                <a:gd name="T4" fmla="*/ 3497 w 680"/>
                <a:gd name="T5" fmla="*/ 499 h 4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0" h="499">
                  <a:moveTo>
                    <a:pt x="0" y="0"/>
                  </a:moveTo>
                  <a:cubicBezTo>
                    <a:pt x="79" y="140"/>
                    <a:pt x="159" y="280"/>
                    <a:pt x="272" y="363"/>
                  </a:cubicBezTo>
                  <a:cubicBezTo>
                    <a:pt x="385" y="446"/>
                    <a:pt x="532" y="472"/>
                    <a:pt x="680" y="49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60" name="Text Box 28"/>
          <p:cNvSpPr txBox="1">
            <a:spLocks noChangeArrowheads="1"/>
          </p:cNvSpPr>
          <p:nvPr/>
        </p:nvSpPr>
        <p:spPr bwMode="auto">
          <a:xfrm>
            <a:off x="6372225" y="1619250"/>
            <a:ext cx="1223963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500">
                <a:latin typeface="华文中宋" pitchFamily="2" charset="-122"/>
                <a:ea typeface="华文中宋" pitchFamily="2" charset="-122"/>
              </a:rPr>
              <a:t>临界阻尼 </a:t>
            </a:r>
          </a:p>
        </p:txBody>
      </p:sp>
      <p:sp>
        <p:nvSpPr>
          <p:cNvPr id="69661" name="Text Box 29"/>
          <p:cNvSpPr txBox="1">
            <a:spLocks noChangeArrowheads="1"/>
          </p:cNvSpPr>
          <p:nvPr/>
        </p:nvSpPr>
        <p:spPr bwMode="auto">
          <a:xfrm>
            <a:off x="6516688" y="3867150"/>
            <a:ext cx="1223962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lang="zh-CN" altLang="en-US" sz="1500">
                <a:latin typeface="华文中宋" pitchFamily="2" charset="-122"/>
                <a:ea typeface="华文中宋" pitchFamily="2" charset="-122"/>
              </a:rPr>
              <a:t>过阻尼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7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7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7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7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/>
      <p:bldP spid="67592" grpId="0"/>
      <p:bldP spid="67594" grpId="0" autoUpdateAnimBg="0"/>
      <p:bldP spid="67598" grpId="0"/>
      <p:bldP spid="67599" grpId="0" autoUpdateAnimBg="0"/>
      <p:bldP spid="67601" grpId="0"/>
      <p:bldP spid="69660" grpId="0"/>
      <p:bldP spid="6966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905000" y="1203325"/>
            <a:ext cx="4683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振动系统在周期性驱动力作用下的振动。 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711575" y="1616075"/>
          <a:ext cx="15144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2" name="Equation" r:id="rId3" imgW="876300" imgH="228600" progId="Equation.DSMT4">
                  <p:embed/>
                </p:oleObj>
              </mc:Choice>
              <mc:Fallback>
                <p:oleObj name="Equation" r:id="rId3" imgW="876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575" y="1616075"/>
                        <a:ext cx="1514475" cy="3524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01675" y="1854200"/>
            <a:ext cx="53117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1. </a:t>
            </a:r>
            <a:r>
              <a:rPr kumimoji="0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受迫振动方程</a:t>
            </a:r>
          </a:p>
          <a:p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           弱阻尼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弹簧振子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系统</a:t>
            </a:r>
            <a:endParaRPr kumimoji="0" lang="zh-CN" altLang="en-US" sz="1800"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085975" y="2473325"/>
          <a:ext cx="43751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3" name="Equation" r:id="rId5" imgW="1866600" imgH="419040" progId="Equation.DSMT4">
                  <p:embed/>
                </p:oleObj>
              </mc:Choice>
              <mc:Fallback>
                <p:oleObj name="Equation" r:id="rId5" imgW="1866600" imgH="4190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2473325"/>
                        <a:ext cx="437515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054225" y="3232150"/>
          <a:ext cx="1054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4" name="公式" r:id="rId7" imgW="533169" imgH="406224" progId="Equation.3">
                  <p:embed/>
                </p:oleObj>
              </mc:Choice>
              <mc:Fallback>
                <p:oleObj name="公式" r:id="rId7" imgW="533169" imgH="406224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225" y="3232150"/>
                        <a:ext cx="10541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651250" y="3217863"/>
          <a:ext cx="10255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5" name="Equation" r:id="rId9" imgW="545626" imgH="406048" progId="Equation.DSMT4">
                  <p:embed/>
                </p:oleObj>
              </mc:Choice>
              <mc:Fallback>
                <p:oleObj name="Equation" r:id="rId9" imgW="545626" imgH="40604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3217863"/>
                        <a:ext cx="102552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227638" y="3190875"/>
          <a:ext cx="10064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6" name="公式" r:id="rId11" imgW="545626" imgH="406048" progId="Equation.3">
                  <p:embed/>
                </p:oleObj>
              </mc:Choice>
              <mc:Fallback>
                <p:oleObj name="公式" r:id="rId11" imgW="545626" imgH="406048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3190875"/>
                        <a:ext cx="100647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1317625" y="4017963"/>
            <a:ext cx="950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则得 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487613" y="3878263"/>
          <a:ext cx="33083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7" name="Equation" r:id="rId13" imgW="1841400" imgH="419040" progId="Equation.DSMT4">
                  <p:embed/>
                </p:oleObj>
              </mc:Choice>
              <mc:Fallback>
                <p:oleObj name="Equation" r:id="rId13" imgW="184140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7613" y="3878263"/>
                        <a:ext cx="3308350" cy="67945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"/>
          <p:cNvSpPr>
            <a:spLocks noChangeArrowheads="1"/>
          </p:cNvSpPr>
          <p:nvPr/>
        </p:nvSpPr>
        <p:spPr bwMode="auto">
          <a:xfrm>
            <a:off x="758825" y="874713"/>
            <a:ext cx="1941513" cy="401637"/>
          </a:xfrm>
          <a:prstGeom prst="homePlate">
            <a:avLst>
              <a:gd name="adj" fmla="val 49705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二、受迫振动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1" grpId="0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669925" y="762000"/>
            <a:ext cx="1525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2. 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方程的解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95288" y="1050925"/>
            <a:ext cx="36718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由微分方程理论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上述方程的解为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851275" y="1065213"/>
          <a:ext cx="46148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3" name="Equation" r:id="rId3" imgW="2323800" imgH="241200" progId="Equation.DSMT4">
                  <p:embed/>
                </p:oleObj>
              </mc:Choice>
              <mc:Fallback>
                <p:oleObj name="Equation" r:id="rId3" imgW="23238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065213"/>
                        <a:ext cx="46148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4337050" y="1436688"/>
            <a:ext cx="1979613" cy="487362"/>
            <a:chOff x="1406" y="1366"/>
            <a:chExt cx="1729" cy="409"/>
          </a:xfrm>
        </p:grpSpPr>
        <p:sp>
          <p:nvSpPr>
            <p:cNvPr id="53266" name="Line 6"/>
            <p:cNvSpPr>
              <a:spLocks noChangeShapeType="1"/>
            </p:cNvSpPr>
            <p:nvPr/>
          </p:nvSpPr>
          <p:spPr bwMode="auto">
            <a:xfrm>
              <a:off x="1406" y="1366"/>
              <a:ext cx="1729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7" name="Line 7"/>
            <p:cNvSpPr>
              <a:spLocks noChangeShapeType="1"/>
            </p:cNvSpPr>
            <p:nvPr/>
          </p:nvSpPr>
          <p:spPr bwMode="auto">
            <a:xfrm>
              <a:off x="2285" y="1366"/>
              <a:ext cx="0" cy="144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8" name="Text Box 8"/>
            <p:cNvSpPr txBox="1">
              <a:spLocks noChangeArrowheads="1"/>
            </p:cNvSpPr>
            <p:nvPr/>
          </p:nvSpPr>
          <p:spPr bwMode="auto">
            <a:xfrm>
              <a:off x="1845" y="1504"/>
              <a:ext cx="91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</a:rPr>
                <a:t>阻尼振动</a:t>
              </a:r>
            </a:p>
          </p:txBody>
        </p:sp>
      </p:grp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6856413" y="1436688"/>
            <a:ext cx="1844675" cy="487362"/>
            <a:chOff x="3696" y="3792"/>
            <a:chExt cx="1440" cy="409"/>
          </a:xfrm>
        </p:grpSpPr>
        <p:sp>
          <p:nvSpPr>
            <p:cNvPr id="53263" name="Line 10"/>
            <p:cNvSpPr>
              <a:spLocks noChangeShapeType="1"/>
            </p:cNvSpPr>
            <p:nvPr/>
          </p:nvSpPr>
          <p:spPr bwMode="auto">
            <a:xfrm>
              <a:off x="3696" y="3792"/>
              <a:ext cx="1440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4" name="Line 11"/>
            <p:cNvSpPr>
              <a:spLocks noChangeShapeType="1"/>
            </p:cNvSpPr>
            <p:nvPr/>
          </p:nvSpPr>
          <p:spPr bwMode="auto">
            <a:xfrm>
              <a:off x="4416" y="3792"/>
              <a:ext cx="0" cy="144"/>
            </a:xfrm>
            <a:prstGeom prst="line">
              <a:avLst/>
            </a:prstGeom>
            <a:noFill/>
            <a:ln w="38100">
              <a:solidFill>
                <a:srgbClr val="D6009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3265" name="Text Box 12"/>
            <p:cNvSpPr txBox="1">
              <a:spLocks noChangeArrowheads="1"/>
            </p:cNvSpPr>
            <p:nvPr/>
          </p:nvSpPr>
          <p:spPr bwMode="auto">
            <a:xfrm>
              <a:off x="4036" y="3930"/>
              <a:ext cx="784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500">
                  <a:solidFill>
                    <a:srgbClr val="0000FF"/>
                  </a:solidFill>
                  <a:latin typeface="华文中宋" pitchFamily="2" charset="-122"/>
                  <a:ea typeface="华文中宋" pitchFamily="2" charset="-122"/>
                </a:rPr>
                <a:t>简谐振动</a:t>
              </a:r>
            </a:p>
          </p:txBody>
        </p:sp>
      </p:grp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900238" y="3076575"/>
            <a:ext cx="1016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just" eaLnBrk="1" hangingPunct="1"/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稳定解</a:t>
            </a:r>
            <a:endParaRPr lang="zh-CN" altLang="en-US" sz="1800" b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060700" y="3128963"/>
          <a:ext cx="17986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4" name="公式" r:id="rId5" imgW="1129810" imgH="203112" progId="Equation.3">
                  <p:embed/>
                </p:oleObj>
              </mc:Choice>
              <mc:Fallback>
                <p:oleObj name="公式" r:id="rId5" imgW="1129810" imgH="203112" progId="Equation.3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3128963"/>
                        <a:ext cx="179863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755650" y="3470275"/>
            <a:ext cx="676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       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稳定受迫振动的振幅</a:t>
            </a:r>
            <a:r>
              <a:rPr lang="en-US" altLang="zh-CN" sz="1800" i="1">
                <a:latin typeface="华文中宋" pitchFamily="2" charset="-122"/>
                <a:ea typeface="华文中宋" pitchFamily="2" charset="-122"/>
              </a:rPr>
              <a:t>A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和位相</a:t>
            </a:r>
            <a:r>
              <a:rPr lang="zh-CN" altLang="en-US" sz="1800" i="1">
                <a:latin typeface="华文中宋" pitchFamily="2" charset="-122"/>
                <a:ea typeface="华文中宋" pitchFamily="2" charset="-122"/>
                <a:sym typeface="Symbol" pitchFamily="18" charset="2"/>
              </a:rPr>
              <a:t>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可用待定系数法求得。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2339975" y="4003675"/>
            <a:ext cx="4319588" cy="58420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kumimoji="0" lang="zh-CN" altLang="en-US" sz="16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特点：</a:t>
            </a:r>
            <a:r>
              <a:rPr kumimoji="0" lang="zh-CN" altLang="en-US" sz="1600">
                <a:latin typeface="华文中宋" pitchFamily="2" charset="-122"/>
                <a:ea typeface="华文中宋" pitchFamily="2" charset="-122"/>
              </a:rPr>
              <a:t>稳态时的受迫振动是简谐振动</a:t>
            </a:r>
          </a:p>
          <a:p>
            <a:pPr algn="ctr" eaLnBrk="1" hangingPunct="1"/>
            <a:r>
              <a:rPr kumimoji="0" lang="zh-CN" altLang="en-US" sz="16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        </a:t>
            </a:r>
            <a:r>
              <a:rPr kumimoji="0" lang="en-US" altLang="zh-CN" sz="16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(</a:t>
            </a:r>
            <a:r>
              <a:rPr kumimoji="0" lang="zh-CN" altLang="en-US" sz="16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但不是无阻尼自由谐振动</a:t>
            </a:r>
            <a:r>
              <a:rPr kumimoji="0" lang="en-US" altLang="zh-CN" sz="16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)</a:t>
            </a:r>
            <a:endParaRPr kumimoji="0" lang="zh-CN" altLang="en-US" sz="160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024188" y="1922463"/>
            <a:ext cx="5435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由初始能量所维持的固有项，随时间最终衰减至零，初始条件相关的影响就消失了。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987675" y="2625725"/>
            <a:ext cx="439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由简谐策动力所维持的稳定受迫振动。</a:t>
            </a:r>
          </a:p>
        </p:txBody>
      </p:sp>
      <p:graphicFrame>
        <p:nvGraphicFramePr>
          <p:cNvPr id="211990" name="Object 22"/>
          <p:cNvGraphicFramePr>
            <a:graphicFrameLocks noChangeAspect="1"/>
          </p:cNvGraphicFramePr>
          <p:nvPr/>
        </p:nvGraphicFramePr>
        <p:xfrm>
          <a:off x="715963" y="2006600"/>
          <a:ext cx="21272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5" name="Equation" r:id="rId7" imgW="1155600" imgH="241200" progId="Equation.DSMT4">
                  <p:embed/>
                </p:oleObj>
              </mc:Choice>
              <mc:Fallback>
                <p:oleObj name="Equation" r:id="rId7" imgW="1155600" imgH="241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2006600"/>
                        <a:ext cx="21272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91" name="Object 23"/>
          <p:cNvGraphicFramePr>
            <a:graphicFrameLocks noChangeAspect="1"/>
          </p:cNvGraphicFramePr>
          <p:nvPr/>
        </p:nvGraphicFramePr>
        <p:xfrm>
          <a:off x="755650" y="2640013"/>
          <a:ext cx="16557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6" name="公式" r:id="rId9" imgW="609336" imgH="152334" progId="Equation.3">
                  <p:embed/>
                </p:oleObj>
              </mc:Choice>
              <mc:Fallback>
                <p:oleObj name="公式" r:id="rId9" imgW="609336" imgH="152334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40013"/>
                        <a:ext cx="165576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 autoUpdateAnimBg="0"/>
      <p:bldP spid="16" grpId="0"/>
      <p:bldP spid="17" grpId="0" build="p" animBg="1"/>
      <p:bldP spid="2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"/>
          <p:cNvSpPr txBox="1">
            <a:spLocks noChangeArrowheads="1"/>
          </p:cNvSpPr>
          <p:nvPr/>
        </p:nvSpPr>
        <p:spPr bwMode="auto">
          <a:xfrm>
            <a:off x="747713" y="915988"/>
            <a:ext cx="5849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ea typeface="华文中宋" pitchFamily="2" charset="-122"/>
              </a:rPr>
              <a:t>(1)</a:t>
            </a:r>
            <a:r>
              <a:rPr kumimoji="0" lang="zh-CN" altLang="en-US" sz="1800">
                <a:ea typeface="华文中宋" pitchFamily="2" charset="-122"/>
              </a:rPr>
              <a:t>圆频率：等于驱动力的圆频率 </a:t>
            </a:r>
            <a:r>
              <a:rPr kumimoji="0" lang="en-US" altLang="zh-CN" sz="1800" i="1">
                <a:ea typeface="华文中宋" pitchFamily="2" charset="-122"/>
                <a:sym typeface="Symbol" pitchFamily="18" charset="2"/>
              </a:rPr>
              <a:t>p</a:t>
            </a:r>
            <a:endParaRPr kumimoji="0" lang="en-US" altLang="zh-CN" sz="1800">
              <a:ea typeface="华文中宋" pitchFamily="2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746125" y="1373188"/>
            <a:ext cx="50403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ea typeface="华文中宋" pitchFamily="2" charset="-122"/>
              </a:rPr>
              <a:t>(2)</a:t>
            </a:r>
            <a:r>
              <a:rPr kumimoji="0" lang="zh-CN" altLang="en-US" sz="1800">
                <a:ea typeface="华文中宋" pitchFamily="2" charset="-122"/>
              </a:rPr>
              <a:t>振    幅：  系统作等幅振动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624138" y="1804988"/>
          <a:ext cx="2925762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3" name="公式" r:id="rId3" imgW="1663700" imgH="482600" progId="Equation.3">
                  <p:embed/>
                </p:oleObj>
              </mc:Choice>
              <mc:Fallback>
                <p:oleObj name="公式" r:id="rId3" imgW="16637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1804988"/>
                        <a:ext cx="2925762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042988" y="2622550"/>
            <a:ext cx="7353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 i="1">
                <a:ea typeface="华文中宋" pitchFamily="2" charset="-122"/>
              </a:rPr>
              <a:t>A</a:t>
            </a:r>
            <a:r>
              <a:rPr kumimoji="0" lang="zh-CN" altLang="en-US" sz="1800">
                <a:ea typeface="华文中宋" pitchFamily="2" charset="-122"/>
              </a:rPr>
              <a:t>的大小对于 </a:t>
            </a:r>
            <a:r>
              <a:rPr kumimoji="0" lang="en-US" altLang="zh-CN" sz="1800" i="1">
                <a:ea typeface="华文中宋" pitchFamily="2" charset="-122"/>
                <a:sym typeface="Symbol" pitchFamily="18" charset="2"/>
              </a:rPr>
              <a:t>p</a:t>
            </a:r>
            <a:r>
              <a:rPr kumimoji="0" lang="zh-CN" altLang="en-US" sz="1800">
                <a:ea typeface="华文中宋" pitchFamily="2" charset="-122"/>
              </a:rPr>
              <a:t>和</a:t>
            </a:r>
            <a:r>
              <a:rPr kumimoji="0" lang="zh-CN" altLang="en-US" sz="1800" i="1">
                <a:ea typeface="华文中宋" pitchFamily="2" charset="-122"/>
                <a:sym typeface="Symbol" pitchFamily="18" charset="2"/>
              </a:rPr>
              <a:t></a:t>
            </a:r>
            <a:r>
              <a:rPr kumimoji="0" lang="en-US" altLang="zh-CN" sz="1800" baseline="-25000">
                <a:ea typeface="华文中宋" pitchFamily="2" charset="-122"/>
              </a:rPr>
              <a:t>0</a:t>
            </a:r>
            <a:r>
              <a:rPr kumimoji="0" lang="zh-CN" altLang="en-US" sz="1800">
                <a:ea typeface="华文中宋" pitchFamily="2" charset="-122"/>
              </a:rPr>
              <a:t>的相对大小关系敏感，而和初始条件</a:t>
            </a:r>
            <a:r>
              <a:rPr kumimoji="0" lang="en-US" altLang="zh-CN" sz="1800">
                <a:ea typeface="华文中宋" pitchFamily="2" charset="-122"/>
              </a:rPr>
              <a:t>(</a:t>
            </a:r>
            <a:r>
              <a:rPr kumimoji="0" lang="en-US" altLang="zh-CN" sz="1800" i="1">
                <a:ea typeface="华文中宋" pitchFamily="2" charset="-122"/>
              </a:rPr>
              <a:t>x</a:t>
            </a:r>
            <a:r>
              <a:rPr kumimoji="0" lang="en-US" altLang="zh-CN" sz="1800" baseline="-25000">
                <a:ea typeface="华文中宋" pitchFamily="2" charset="-122"/>
              </a:rPr>
              <a:t>0</a:t>
            </a:r>
            <a:r>
              <a:rPr kumimoji="0" lang="zh-CN" altLang="en-US" sz="1800">
                <a:ea typeface="华文中宋" pitchFamily="2" charset="-122"/>
              </a:rPr>
              <a:t>，</a:t>
            </a:r>
            <a:r>
              <a:rPr kumimoji="0" lang="zh-CN" altLang="en-US" sz="1800">
                <a:ea typeface="华文中宋" pitchFamily="2" charset="-122"/>
                <a:sym typeface="Symbol" pitchFamily="18" charset="2"/>
              </a:rPr>
              <a:t></a:t>
            </a:r>
            <a:r>
              <a:rPr kumimoji="0" lang="en-US" altLang="zh-CN" sz="1800" baseline="-25000">
                <a:ea typeface="华文中宋" pitchFamily="2" charset="-122"/>
              </a:rPr>
              <a:t>0</a:t>
            </a:r>
            <a:r>
              <a:rPr kumimoji="0" lang="en-US" altLang="zh-CN" sz="1800">
                <a:ea typeface="华文中宋" pitchFamily="2" charset="-122"/>
              </a:rPr>
              <a:t>)</a:t>
            </a:r>
            <a:r>
              <a:rPr kumimoji="0" lang="zh-CN" altLang="en-US" sz="1800">
                <a:ea typeface="华文中宋" pitchFamily="2" charset="-122"/>
              </a:rPr>
              <a:t>无关。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747713" y="3282950"/>
            <a:ext cx="1387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ea typeface="华文中宋" pitchFamily="2" charset="-122"/>
              </a:rPr>
              <a:t>(3)</a:t>
            </a:r>
            <a:r>
              <a:rPr kumimoji="0" lang="zh-CN" altLang="en-US" sz="1800">
                <a:ea typeface="华文中宋" pitchFamily="2" charset="-122"/>
              </a:rPr>
              <a:t>初   相：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32175" y="3141663"/>
          <a:ext cx="22193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4" name="Equation" r:id="rId5" imgW="1091880" imgH="431640" progId="Equation.DSMT4">
                  <p:embed/>
                </p:oleObj>
              </mc:Choice>
              <mc:Fallback>
                <p:oleObj name="Equation" r:id="rId5" imgW="1091880" imgH="43164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3141663"/>
                        <a:ext cx="22193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941388" y="3849688"/>
            <a:ext cx="7605712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kumimoji="0" lang="en-US" altLang="zh-CN" i="1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</a:t>
            </a: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值在</a:t>
            </a: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</a:rPr>
              <a:t>-</a:t>
            </a: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</a:t>
            </a: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</a:rPr>
              <a:t> </a:t>
            </a: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  <a:sym typeface="Symbol" pitchFamily="18" charset="2"/>
              </a:rPr>
              <a:t></a:t>
            </a:r>
            <a:r>
              <a:rPr kumimoji="0" lang="en-US" altLang="zh-CN">
                <a:solidFill>
                  <a:srgbClr val="0000FF"/>
                </a:solidFill>
                <a:ea typeface="华文中宋" pitchFamily="2" charset="-122"/>
              </a:rPr>
              <a:t> 0</a:t>
            </a:r>
            <a:r>
              <a:rPr kumimoji="0" lang="zh-CN" altLang="en-US">
                <a:solidFill>
                  <a:srgbClr val="0000FF"/>
                </a:solidFill>
                <a:ea typeface="华文中宋" pitchFamily="2" charset="-122"/>
              </a:rPr>
              <a:t>之间。</a:t>
            </a:r>
          </a:p>
          <a:p>
            <a:pPr algn="ctr"/>
            <a:r>
              <a:rPr kumimoji="0" lang="zh-CN" altLang="en-US" sz="1800">
                <a:ea typeface="华文中宋" pitchFamily="2" charset="-122"/>
              </a:rPr>
              <a:t>位移</a:t>
            </a:r>
            <a:r>
              <a:rPr kumimoji="0" lang="en-US" altLang="zh-CN" sz="1800" i="1">
                <a:ea typeface="华文中宋" pitchFamily="2" charset="-122"/>
              </a:rPr>
              <a:t>x</a:t>
            </a:r>
            <a:r>
              <a:rPr kumimoji="0" lang="zh-CN" altLang="en-US" sz="1800">
                <a:ea typeface="华文中宋" pitchFamily="2" charset="-122"/>
              </a:rPr>
              <a:t>落后于驱动力</a:t>
            </a:r>
            <a:r>
              <a:rPr kumimoji="0" lang="en-US" altLang="zh-CN" sz="1800" i="1">
                <a:ea typeface="华文中宋" pitchFamily="2" charset="-122"/>
              </a:rPr>
              <a:t>F </a:t>
            </a:r>
            <a:r>
              <a:rPr kumimoji="0" lang="zh-CN" altLang="en-US" sz="1800">
                <a:ea typeface="华文中宋" pitchFamily="2" charset="-122"/>
              </a:rPr>
              <a:t>的变化</a:t>
            </a:r>
            <a:r>
              <a:rPr kumimoji="0" lang="en-US" altLang="zh-CN" sz="1800">
                <a:ea typeface="华文中宋" pitchFamily="2" charset="-122"/>
              </a:rPr>
              <a:t>(</a:t>
            </a:r>
            <a:r>
              <a:rPr kumimoji="0" lang="en-US" altLang="zh-CN" sz="1800" i="1">
                <a:ea typeface="华文中宋" pitchFamily="2" charset="-122"/>
              </a:rPr>
              <a:t>F</a:t>
            </a:r>
            <a:r>
              <a:rPr kumimoji="0" lang="zh-CN" altLang="en-US" sz="1800">
                <a:ea typeface="华文中宋" pitchFamily="2" charset="-122"/>
              </a:rPr>
              <a:t>＝</a:t>
            </a:r>
            <a:r>
              <a:rPr kumimoji="0" lang="en-US" altLang="zh-CN" sz="1800" i="1">
                <a:ea typeface="华文中宋" pitchFamily="2" charset="-122"/>
              </a:rPr>
              <a:t>F</a:t>
            </a:r>
            <a:r>
              <a:rPr kumimoji="0" lang="en-US" altLang="zh-CN" sz="1800" baseline="-25000">
                <a:ea typeface="华文中宋" pitchFamily="2" charset="-122"/>
              </a:rPr>
              <a:t>0 </a:t>
            </a:r>
            <a:r>
              <a:rPr kumimoji="0" lang="en-US" altLang="zh-CN" sz="1800">
                <a:ea typeface="华文中宋" pitchFamily="2" charset="-122"/>
              </a:rPr>
              <a:t>cos</a:t>
            </a:r>
            <a:r>
              <a:rPr kumimoji="0" lang="en-US" altLang="zh-CN" sz="1800" i="1">
                <a:ea typeface="华文中宋" pitchFamily="2" charset="-122"/>
              </a:rPr>
              <a:t> pt </a:t>
            </a:r>
            <a:r>
              <a:rPr kumimoji="0" lang="en-US" altLang="zh-CN" sz="1800">
                <a:ea typeface="华文中宋" pitchFamily="2" charset="-122"/>
              </a:rPr>
              <a:t>)</a:t>
            </a:r>
            <a:r>
              <a:rPr kumimoji="0" lang="zh-CN" altLang="en-US" sz="1800">
                <a:ea typeface="华文中宋" pitchFamily="2" charset="-122"/>
              </a:rPr>
              <a:t>。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6" grpId="0" build="p"/>
      <p:bldP spid="7" grpId="0" build="p"/>
      <p:bldP spid="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116013" y="1276350"/>
            <a:ext cx="3168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1.</a:t>
            </a:r>
            <a:r>
              <a:rPr kumimoji="0"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位移共振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（又称振幅共振）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72000" y="995363"/>
          <a:ext cx="269875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4" name="公式" r:id="rId3" imgW="1663700" imgH="482600" progId="Equation.3">
                  <p:embed/>
                </p:oleObj>
              </mc:Choice>
              <mc:Fallback>
                <p:oleObj name="公式" r:id="rId3" imgW="16637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95363"/>
                        <a:ext cx="269875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9"/>
          <p:cNvSpPr txBox="1">
            <a:spLocks noChangeArrowheads="1"/>
          </p:cNvSpPr>
          <p:nvPr/>
        </p:nvSpPr>
        <p:spPr bwMode="auto">
          <a:xfrm>
            <a:off x="577850" y="1709738"/>
            <a:ext cx="792003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>
                <a:latin typeface="华文中宋" pitchFamily="2" charset="-122"/>
                <a:ea typeface="华文中宋" pitchFamily="2" charset="-122"/>
              </a:rPr>
              <a:t>     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当驱动力的圆频率 </a:t>
            </a:r>
            <a:r>
              <a:rPr kumimoji="0" lang="en-US" altLang="zh-CN" sz="1800" i="1">
                <a:ea typeface="华文中宋" pitchFamily="2" charset="-122"/>
                <a:cs typeface="Times New Roman" pitchFamily="18" charset="0"/>
                <a:sym typeface="Symbol" pitchFamily="18" charset="2"/>
              </a:rPr>
              <a:t>p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等于某个</a:t>
            </a:r>
            <a:r>
              <a:rPr kumimoji="0" lang="zh-CN" altLang="en-US" sz="1800" u="sng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适当数值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时，振幅出现极大值、振动很剧烈的现象</a:t>
            </a:r>
            <a:r>
              <a:rPr kumimoji="0"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叫</a:t>
            </a:r>
            <a:r>
              <a:rPr kumimoji="0" lang="zh-CN" altLang="en-US" sz="18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位移共振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。 </a:t>
            </a:r>
          </a:p>
        </p:txBody>
      </p:sp>
      <p:grpSp>
        <p:nvGrpSpPr>
          <p:cNvPr id="7" name="Group 70"/>
          <p:cNvGrpSpPr>
            <a:grpSpLocks/>
          </p:cNvGrpSpPr>
          <p:nvPr/>
        </p:nvGrpSpPr>
        <p:grpSpPr bwMode="auto">
          <a:xfrm>
            <a:off x="1920875" y="2492375"/>
            <a:ext cx="1633538" cy="514350"/>
            <a:chOff x="-61" y="2595"/>
            <a:chExt cx="1029" cy="431"/>
          </a:xfrm>
        </p:grpSpPr>
        <p:sp>
          <p:nvSpPr>
            <p:cNvPr id="55328" name="Text Box 71"/>
            <p:cNvSpPr txBox="1">
              <a:spLocks noChangeArrowheads="1"/>
            </p:cNvSpPr>
            <p:nvPr/>
          </p:nvSpPr>
          <p:spPr bwMode="auto">
            <a:xfrm>
              <a:off x="-61" y="2653"/>
              <a:ext cx="30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1800">
                  <a:ea typeface="楷体_GB2312" pitchFamily="49" charset="-122"/>
                </a:rPr>
                <a:t>令</a:t>
              </a:r>
            </a:p>
          </p:txBody>
        </p:sp>
        <p:graphicFrame>
          <p:nvGraphicFramePr>
            <p:cNvPr id="55329" name="Object 72"/>
            <p:cNvGraphicFramePr>
              <a:graphicFrameLocks noChangeAspect="1"/>
            </p:cNvGraphicFramePr>
            <p:nvPr/>
          </p:nvGraphicFramePr>
          <p:xfrm>
            <a:off x="274" y="2595"/>
            <a:ext cx="694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35" name="Equation" r:id="rId5" imgW="672840" imgH="419040" progId="Equation.DSMT4">
                    <p:embed/>
                  </p:oleObj>
                </mc:Choice>
                <mc:Fallback>
                  <p:oleObj name="Equation" r:id="rId5" imgW="672840" imgH="41904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" y="2595"/>
                          <a:ext cx="694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73"/>
          <p:cNvSpPr txBox="1">
            <a:spLocks noChangeArrowheads="1"/>
          </p:cNvSpPr>
          <p:nvPr/>
        </p:nvSpPr>
        <p:spPr bwMode="auto">
          <a:xfrm>
            <a:off x="709613" y="3098800"/>
            <a:ext cx="2746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振幅共振频率</a:t>
            </a:r>
          </a:p>
        </p:txBody>
      </p:sp>
      <p:graphicFrame>
        <p:nvGraphicFramePr>
          <p:cNvPr id="11" name="Object 74"/>
          <p:cNvGraphicFramePr>
            <a:graphicFrameLocks noChangeAspect="1"/>
          </p:cNvGraphicFramePr>
          <p:nvPr/>
        </p:nvGraphicFramePr>
        <p:xfrm>
          <a:off x="1781175" y="3508375"/>
          <a:ext cx="19399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6" name="公式" r:id="rId7" imgW="1054100" imgH="292100" progId="Equation.3">
                  <p:embed/>
                </p:oleObj>
              </mc:Choice>
              <mc:Fallback>
                <p:oleObj name="公式" r:id="rId7" imgW="1054100" imgH="29210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3508375"/>
                        <a:ext cx="1939925" cy="3651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6"/>
          <p:cNvGraphicFramePr>
            <a:graphicFrameLocks noChangeAspect="1"/>
          </p:cNvGraphicFramePr>
          <p:nvPr/>
        </p:nvGraphicFramePr>
        <p:xfrm>
          <a:off x="1804988" y="3940175"/>
          <a:ext cx="20748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37" name="公式" r:id="rId9" imgW="1193800" imgH="482600" progId="Equation.3">
                  <p:embed/>
                </p:oleObj>
              </mc:Choice>
              <mc:Fallback>
                <p:oleObj name="公式" r:id="rId9" imgW="1193800" imgH="482600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3940175"/>
                        <a:ext cx="207486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7"/>
          <p:cNvGrpSpPr>
            <a:grpSpLocks/>
          </p:cNvGrpSpPr>
          <p:nvPr/>
        </p:nvGrpSpPr>
        <p:grpSpPr bwMode="auto">
          <a:xfrm>
            <a:off x="4860925" y="2592388"/>
            <a:ext cx="2817813" cy="2062162"/>
            <a:chOff x="1644" y="1706"/>
            <a:chExt cx="1775" cy="1731"/>
          </a:xfrm>
        </p:grpSpPr>
        <p:sp>
          <p:nvSpPr>
            <p:cNvPr id="55307" name="Freeform 78"/>
            <p:cNvSpPr>
              <a:spLocks/>
            </p:cNvSpPr>
            <p:nvPr/>
          </p:nvSpPr>
          <p:spPr bwMode="auto">
            <a:xfrm>
              <a:off x="1986" y="1754"/>
              <a:ext cx="420" cy="1222"/>
            </a:xfrm>
            <a:custGeom>
              <a:avLst/>
              <a:gdLst>
                <a:gd name="T0" fmla="*/ 1 w 624"/>
                <a:gd name="T1" fmla="*/ 0 h 1814"/>
                <a:gd name="T2" fmla="*/ 1 w 624"/>
                <a:gd name="T3" fmla="*/ 1 h 1814"/>
                <a:gd name="T4" fmla="*/ 1 w 624"/>
                <a:gd name="T5" fmla="*/ 1 h 1814"/>
                <a:gd name="T6" fmla="*/ 0 w 624"/>
                <a:gd name="T7" fmla="*/ 1 h 181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1814"/>
                <a:gd name="T14" fmla="*/ 624 w 624"/>
                <a:gd name="T15" fmla="*/ 1814 h 181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1814">
                  <a:moveTo>
                    <a:pt x="624" y="0"/>
                  </a:moveTo>
                  <a:cubicBezTo>
                    <a:pt x="617" y="134"/>
                    <a:pt x="595" y="300"/>
                    <a:pt x="539" y="510"/>
                  </a:cubicBezTo>
                  <a:cubicBezTo>
                    <a:pt x="483" y="720"/>
                    <a:pt x="380" y="1043"/>
                    <a:pt x="290" y="1260"/>
                  </a:cubicBezTo>
                  <a:cubicBezTo>
                    <a:pt x="200" y="1477"/>
                    <a:pt x="60" y="1699"/>
                    <a:pt x="0" y="181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8" name="Freeform 79"/>
            <p:cNvSpPr>
              <a:spLocks/>
            </p:cNvSpPr>
            <p:nvPr/>
          </p:nvSpPr>
          <p:spPr bwMode="auto">
            <a:xfrm>
              <a:off x="2521" y="1754"/>
              <a:ext cx="798" cy="1290"/>
            </a:xfrm>
            <a:custGeom>
              <a:avLst/>
              <a:gdLst>
                <a:gd name="T0" fmla="*/ 0 w 1184"/>
                <a:gd name="T1" fmla="*/ 0 h 1914"/>
                <a:gd name="T2" fmla="*/ 1 w 1184"/>
                <a:gd name="T3" fmla="*/ 1 h 1914"/>
                <a:gd name="T4" fmla="*/ 1 w 1184"/>
                <a:gd name="T5" fmla="*/ 1 h 1914"/>
                <a:gd name="T6" fmla="*/ 1 w 1184"/>
                <a:gd name="T7" fmla="*/ 1 h 1914"/>
                <a:gd name="T8" fmla="*/ 1 w 1184"/>
                <a:gd name="T9" fmla="*/ 1 h 19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4"/>
                <a:gd name="T16" fmla="*/ 0 h 1914"/>
                <a:gd name="T17" fmla="*/ 1184 w 1184"/>
                <a:gd name="T18" fmla="*/ 1914 h 19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4" h="1914">
                  <a:moveTo>
                    <a:pt x="0" y="0"/>
                  </a:moveTo>
                  <a:cubicBezTo>
                    <a:pt x="19" y="175"/>
                    <a:pt x="31" y="349"/>
                    <a:pt x="85" y="539"/>
                  </a:cubicBezTo>
                  <a:cubicBezTo>
                    <a:pt x="139" y="729"/>
                    <a:pt x="198" y="943"/>
                    <a:pt x="323" y="1143"/>
                  </a:cubicBezTo>
                  <a:cubicBezTo>
                    <a:pt x="448" y="1343"/>
                    <a:pt x="695" y="1613"/>
                    <a:pt x="838" y="1741"/>
                  </a:cubicBezTo>
                  <a:cubicBezTo>
                    <a:pt x="981" y="1869"/>
                    <a:pt x="1112" y="1878"/>
                    <a:pt x="1184" y="191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Freeform 80"/>
            <p:cNvSpPr>
              <a:spLocks/>
            </p:cNvSpPr>
            <p:nvPr/>
          </p:nvSpPr>
          <p:spPr bwMode="auto">
            <a:xfrm>
              <a:off x="2024" y="2175"/>
              <a:ext cx="1261" cy="907"/>
            </a:xfrm>
            <a:custGeom>
              <a:avLst/>
              <a:gdLst>
                <a:gd name="T0" fmla="*/ 0 w 1871"/>
                <a:gd name="T1" fmla="*/ 1 h 1346"/>
                <a:gd name="T2" fmla="*/ 1 w 1871"/>
                <a:gd name="T3" fmla="*/ 1 h 1346"/>
                <a:gd name="T4" fmla="*/ 1 w 1871"/>
                <a:gd name="T5" fmla="*/ 1 h 1346"/>
                <a:gd name="T6" fmla="*/ 1 w 1871"/>
                <a:gd name="T7" fmla="*/ 1 h 1346"/>
                <a:gd name="T8" fmla="*/ 1 w 1871"/>
                <a:gd name="T9" fmla="*/ 1 h 1346"/>
                <a:gd name="T10" fmla="*/ 1 w 1871"/>
                <a:gd name="T11" fmla="*/ 1 h 13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71"/>
                <a:gd name="T19" fmla="*/ 0 h 1346"/>
                <a:gd name="T20" fmla="*/ 1871 w 1871"/>
                <a:gd name="T21" fmla="*/ 1346 h 13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71" h="1346">
                  <a:moveTo>
                    <a:pt x="0" y="1232"/>
                  </a:moveTo>
                  <a:cubicBezTo>
                    <a:pt x="59" y="1125"/>
                    <a:pt x="218" y="896"/>
                    <a:pt x="347" y="589"/>
                  </a:cubicBezTo>
                  <a:cubicBezTo>
                    <a:pt x="476" y="282"/>
                    <a:pt x="508" y="47"/>
                    <a:pt x="587" y="24"/>
                  </a:cubicBezTo>
                  <a:cubicBezTo>
                    <a:pt x="669" y="0"/>
                    <a:pt x="715" y="273"/>
                    <a:pt x="842" y="447"/>
                  </a:cubicBezTo>
                  <a:cubicBezTo>
                    <a:pt x="903" y="571"/>
                    <a:pt x="1149" y="899"/>
                    <a:pt x="1351" y="1067"/>
                  </a:cubicBezTo>
                  <a:cubicBezTo>
                    <a:pt x="1553" y="1235"/>
                    <a:pt x="1763" y="1288"/>
                    <a:pt x="1871" y="1346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Freeform 81"/>
            <p:cNvSpPr>
              <a:spLocks/>
            </p:cNvSpPr>
            <p:nvPr/>
          </p:nvSpPr>
          <p:spPr bwMode="auto">
            <a:xfrm>
              <a:off x="2043" y="2614"/>
              <a:ext cx="1230" cy="507"/>
            </a:xfrm>
            <a:custGeom>
              <a:avLst/>
              <a:gdLst>
                <a:gd name="T0" fmla="*/ 0 w 1826"/>
                <a:gd name="T1" fmla="*/ 1 h 752"/>
                <a:gd name="T2" fmla="*/ 1 w 1826"/>
                <a:gd name="T3" fmla="*/ 1 h 752"/>
                <a:gd name="T4" fmla="*/ 1 w 1826"/>
                <a:gd name="T5" fmla="*/ 1 h 752"/>
                <a:gd name="T6" fmla="*/ 1 w 1826"/>
                <a:gd name="T7" fmla="*/ 1 h 752"/>
                <a:gd name="T8" fmla="*/ 1 w 1826"/>
                <a:gd name="T9" fmla="*/ 1 h 752"/>
                <a:gd name="T10" fmla="*/ 1 w 1826"/>
                <a:gd name="T11" fmla="*/ 1 h 752"/>
                <a:gd name="T12" fmla="*/ 1 w 1826"/>
                <a:gd name="T13" fmla="*/ 1 h 7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826"/>
                <a:gd name="T22" fmla="*/ 0 h 752"/>
                <a:gd name="T23" fmla="*/ 1826 w 1826"/>
                <a:gd name="T24" fmla="*/ 752 h 7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826" h="752">
                  <a:moveTo>
                    <a:pt x="0" y="644"/>
                  </a:moveTo>
                  <a:cubicBezTo>
                    <a:pt x="53" y="574"/>
                    <a:pt x="282" y="262"/>
                    <a:pt x="316" y="221"/>
                  </a:cubicBezTo>
                  <a:cubicBezTo>
                    <a:pt x="350" y="180"/>
                    <a:pt x="429" y="13"/>
                    <a:pt x="512" y="20"/>
                  </a:cubicBezTo>
                  <a:cubicBezTo>
                    <a:pt x="573" y="0"/>
                    <a:pt x="657" y="81"/>
                    <a:pt x="685" y="98"/>
                  </a:cubicBezTo>
                  <a:cubicBezTo>
                    <a:pt x="713" y="115"/>
                    <a:pt x="929" y="294"/>
                    <a:pt x="1055" y="383"/>
                  </a:cubicBezTo>
                  <a:cubicBezTo>
                    <a:pt x="1181" y="472"/>
                    <a:pt x="1313" y="566"/>
                    <a:pt x="1440" y="629"/>
                  </a:cubicBezTo>
                  <a:cubicBezTo>
                    <a:pt x="1567" y="692"/>
                    <a:pt x="1746" y="727"/>
                    <a:pt x="1826" y="752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Freeform 82"/>
            <p:cNvSpPr>
              <a:spLocks/>
            </p:cNvSpPr>
            <p:nvPr/>
          </p:nvSpPr>
          <p:spPr bwMode="auto">
            <a:xfrm>
              <a:off x="2063" y="2747"/>
              <a:ext cx="1203" cy="407"/>
            </a:xfrm>
            <a:custGeom>
              <a:avLst/>
              <a:gdLst>
                <a:gd name="T0" fmla="*/ 0 w 1786"/>
                <a:gd name="T1" fmla="*/ 1 h 603"/>
                <a:gd name="T2" fmla="*/ 1 w 1786"/>
                <a:gd name="T3" fmla="*/ 1 h 603"/>
                <a:gd name="T4" fmla="*/ 1 w 1786"/>
                <a:gd name="T5" fmla="*/ 1 h 603"/>
                <a:gd name="T6" fmla="*/ 1 w 1786"/>
                <a:gd name="T7" fmla="*/ 1 h 603"/>
                <a:gd name="T8" fmla="*/ 1 w 1786"/>
                <a:gd name="T9" fmla="*/ 1 h 6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86"/>
                <a:gd name="T16" fmla="*/ 0 h 603"/>
                <a:gd name="T17" fmla="*/ 1786 w 1786"/>
                <a:gd name="T18" fmla="*/ 603 h 6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86" h="603">
                  <a:moveTo>
                    <a:pt x="0" y="479"/>
                  </a:moveTo>
                  <a:cubicBezTo>
                    <a:pt x="265" y="212"/>
                    <a:pt x="272" y="98"/>
                    <a:pt x="399" y="49"/>
                  </a:cubicBezTo>
                  <a:cubicBezTo>
                    <a:pt x="526" y="0"/>
                    <a:pt x="719" y="151"/>
                    <a:pt x="763" y="184"/>
                  </a:cubicBezTo>
                  <a:cubicBezTo>
                    <a:pt x="807" y="217"/>
                    <a:pt x="1020" y="347"/>
                    <a:pt x="1087" y="391"/>
                  </a:cubicBezTo>
                  <a:cubicBezTo>
                    <a:pt x="1154" y="435"/>
                    <a:pt x="1596" y="564"/>
                    <a:pt x="1786" y="603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Line 83"/>
            <p:cNvSpPr>
              <a:spLocks noChangeShapeType="1"/>
            </p:cNvSpPr>
            <p:nvPr/>
          </p:nvSpPr>
          <p:spPr bwMode="auto">
            <a:xfrm>
              <a:off x="2455" y="1706"/>
              <a:ext cx="0" cy="150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3" name="Line 84"/>
            <p:cNvSpPr>
              <a:spLocks noChangeShapeType="1"/>
            </p:cNvSpPr>
            <p:nvPr/>
          </p:nvSpPr>
          <p:spPr bwMode="auto">
            <a:xfrm>
              <a:off x="2426" y="2188"/>
              <a:ext cx="0" cy="10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85"/>
            <p:cNvSpPr>
              <a:spLocks noChangeShapeType="1"/>
            </p:cNvSpPr>
            <p:nvPr/>
          </p:nvSpPr>
          <p:spPr bwMode="auto">
            <a:xfrm>
              <a:off x="2398" y="2642"/>
              <a:ext cx="0" cy="5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86"/>
            <p:cNvSpPr>
              <a:spLocks noChangeShapeType="1"/>
            </p:cNvSpPr>
            <p:nvPr/>
          </p:nvSpPr>
          <p:spPr bwMode="auto">
            <a:xfrm>
              <a:off x="2341" y="2784"/>
              <a:ext cx="0" cy="4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Line 87"/>
            <p:cNvSpPr>
              <a:spLocks noChangeShapeType="1"/>
            </p:cNvSpPr>
            <p:nvPr/>
          </p:nvSpPr>
          <p:spPr bwMode="auto">
            <a:xfrm>
              <a:off x="1831" y="3209"/>
              <a:ext cx="1578" cy="0"/>
            </a:xfrm>
            <a:prstGeom prst="line">
              <a:avLst/>
            </a:prstGeom>
            <a:noFill/>
            <a:ln w="12700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7" name="Line 88"/>
            <p:cNvSpPr>
              <a:spLocks noChangeShapeType="1"/>
            </p:cNvSpPr>
            <p:nvPr/>
          </p:nvSpPr>
          <p:spPr bwMode="auto">
            <a:xfrm flipV="1">
              <a:off x="1831" y="1844"/>
              <a:ext cx="0" cy="1365"/>
            </a:xfrm>
            <a:prstGeom prst="line">
              <a:avLst/>
            </a:prstGeom>
            <a:noFill/>
            <a:ln w="12700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Text Box 89"/>
            <p:cNvSpPr txBox="1">
              <a:spLocks noChangeArrowheads="1"/>
            </p:cNvSpPr>
            <p:nvPr/>
          </p:nvSpPr>
          <p:spPr bwMode="auto">
            <a:xfrm>
              <a:off x="2540" y="2884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1</a:t>
              </a:r>
              <a:endParaRPr kumimoji="0" lang="en-US" altLang="zh-CN" sz="1500">
                <a:solidFill>
                  <a:srgbClr val="0000FF"/>
                </a:solidFill>
                <a:latin typeface="Symbol" pitchFamily="18" charset="2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5319" name="Rectangle 90"/>
            <p:cNvSpPr>
              <a:spLocks noChangeArrowheads="1"/>
            </p:cNvSpPr>
            <p:nvPr/>
          </p:nvSpPr>
          <p:spPr bwMode="auto">
            <a:xfrm>
              <a:off x="3220" y="3127"/>
              <a:ext cx="18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800" b="0" i="1">
                  <a:ea typeface="宋体" pitchFamily="2" charset="-122"/>
                  <a:sym typeface="Symbol" pitchFamily="18" charset="2"/>
                </a:rPr>
                <a:t>p</a:t>
              </a:r>
            </a:p>
          </p:txBody>
        </p:sp>
        <p:sp>
          <p:nvSpPr>
            <p:cNvPr id="55320" name="Rectangle 91"/>
            <p:cNvSpPr>
              <a:spLocks noChangeArrowheads="1"/>
            </p:cNvSpPr>
            <p:nvPr/>
          </p:nvSpPr>
          <p:spPr bwMode="auto">
            <a:xfrm>
              <a:off x="2398" y="3124"/>
              <a:ext cx="24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500" b="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</a:t>
              </a:r>
              <a:r>
                <a:rPr kumimoji="0" lang="en-US" altLang="zh-CN" sz="1500" b="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0</a:t>
              </a:r>
              <a:endParaRPr kumimoji="0" lang="en-US" altLang="zh-CN" sz="1500" b="0">
                <a:solidFill>
                  <a:srgbClr val="FF0000"/>
                </a:solidFill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5321" name="Text Box 92"/>
            <p:cNvSpPr txBox="1">
              <a:spLocks noChangeArrowheads="1"/>
            </p:cNvSpPr>
            <p:nvPr/>
          </p:nvSpPr>
          <p:spPr bwMode="auto">
            <a:xfrm>
              <a:off x="2508" y="2543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2</a:t>
              </a:r>
              <a:endParaRPr kumimoji="0" lang="en-US" altLang="zh-CN" sz="1500">
                <a:solidFill>
                  <a:srgbClr val="0000FF"/>
                </a:solidFill>
                <a:latin typeface="Symbol" pitchFamily="18" charset="2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5322" name="Text Box 93"/>
            <p:cNvSpPr txBox="1">
              <a:spLocks noChangeArrowheads="1"/>
            </p:cNvSpPr>
            <p:nvPr/>
          </p:nvSpPr>
          <p:spPr bwMode="auto">
            <a:xfrm>
              <a:off x="2426" y="2118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3</a:t>
              </a:r>
              <a:endParaRPr kumimoji="0" lang="en-US" altLang="zh-CN" sz="1500">
                <a:solidFill>
                  <a:srgbClr val="0000FF"/>
                </a:solidFill>
                <a:latin typeface="Symbol" pitchFamily="18" charset="2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5323" name="Text Box 94"/>
            <p:cNvSpPr txBox="1">
              <a:spLocks noChangeArrowheads="1"/>
            </p:cNvSpPr>
            <p:nvPr/>
          </p:nvSpPr>
          <p:spPr bwMode="auto">
            <a:xfrm>
              <a:off x="2511" y="1820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0</a:t>
              </a:r>
              <a:endParaRPr kumimoji="0" lang="en-US" altLang="zh-CN" sz="1500">
                <a:solidFill>
                  <a:srgbClr val="0000FF"/>
                </a:solidFill>
                <a:latin typeface="Symbol" pitchFamily="18" charset="2"/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5324" name="Text Box 95"/>
            <p:cNvSpPr txBox="1">
              <a:spLocks noChangeArrowheads="1"/>
            </p:cNvSpPr>
            <p:nvPr/>
          </p:nvSpPr>
          <p:spPr bwMode="auto">
            <a:xfrm>
              <a:off x="1679" y="3056"/>
              <a:ext cx="18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800" i="1">
                  <a:ea typeface="宋体" pitchFamily="2" charset="-122"/>
                </a:rPr>
                <a:t>o</a:t>
              </a:r>
            </a:p>
          </p:txBody>
        </p:sp>
        <p:sp>
          <p:nvSpPr>
            <p:cNvPr id="55325" name="Text Box 96"/>
            <p:cNvSpPr txBox="1">
              <a:spLocks noChangeArrowheads="1"/>
            </p:cNvSpPr>
            <p:nvPr/>
          </p:nvSpPr>
          <p:spPr bwMode="auto">
            <a:xfrm>
              <a:off x="1644" y="1831"/>
              <a:ext cx="19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A</a:t>
              </a:r>
            </a:p>
          </p:txBody>
        </p:sp>
        <p:sp>
          <p:nvSpPr>
            <p:cNvPr id="55326" name="Text Box 97"/>
            <p:cNvSpPr txBox="1">
              <a:spLocks noChangeArrowheads="1"/>
            </p:cNvSpPr>
            <p:nvPr/>
          </p:nvSpPr>
          <p:spPr bwMode="auto">
            <a:xfrm>
              <a:off x="2767" y="2358"/>
              <a:ext cx="65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1</a:t>
              </a:r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&gt; 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2 </a:t>
              </a:r>
              <a:r>
                <a:rPr kumimoji="0" lang="en-US" altLang="zh-CN" sz="15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&gt; </a:t>
              </a:r>
              <a:r>
                <a:rPr kumimoji="0" lang="en-US" altLang="zh-CN" sz="1500" baseline="-25000">
                  <a:solidFill>
                    <a:srgbClr val="0000FF"/>
                  </a:solidFill>
                  <a:latin typeface="Symbol" pitchFamily="18" charset="2"/>
                  <a:ea typeface="宋体" pitchFamily="2" charset="-122"/>
                  <a:sym typeface="Symbol" pitchFamily="18" charset="2"/>
                </a:rPr>
                <a:t>3</a:t>
              </a:r>
            </a:p>
          </p:txBody>
        </p:sp>
        <p:sp>
          <p:nvSpPr>
            <p:cNvPr id="55327" name="Text Box 98"/>
            <p:cNvSpPr txBox="1">
              <a:spLocks noChangeArrowheads="1"/>
            </p:cNvSpPr>
            <p:nvPr/>
          </p:nvSpPr>
          <p:spPr bwMode="auto">
            <a:xfrm>
              <a:off x="2171" y="3124"/>
              <a:ext cx="20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</a:rPr>
                <a:t>p</a:t>
              </a:r>
              <a:r>
                <a:rPr kumimoji="0" lang="en-US" altLang="zh-CN" sz="1500" i="1" baseline="-25000">
                  <a:ea typeface="宋体" pitchFamily="2" charset="-122"/>
                </a:rPr>
                <a:t>r</a:t>
              </a:r>
              <a:endParaRPr kumimoji="0" lang="en-US" altLang="zh-CN" sz="1500" i="1">
                <a:ea typeface="宋体" pitchFamily="2" charset="-122"/>
              </a:endParaRPr>
            </a:p>
          </p:txBody>
        </p:sp>
      </p:grpSp>
      <p:sp>
        <p:nvSpPr>
          <p:cNvPr id="34" name="Text Box 2"/>
          <p:cNvSpPr>
            <a:spLocks noChangeArrowheads="1"/>
          </p:cNvSpPr>
          <p:nvPr/>
        </p:nvSpPr>
        <p:spPr bwMode="auto">
          <a:xfrm>
            <a:off x="758825" y="874713"/>
            <a:ext cx="1217613" cy="401637"/>
          </a:xfrm>
          <a:prstGeom prst="homePlate">
            <a:avLst>
              <a:gd name="adj" fmla="val 49727"/>
            </a:avLst>
          </a:prstGeom>
          <a:solidFill>
            <a:srgbClr val="539A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Arial" pitchFamily="34" charset="0"/>
              <a:buNone/>
            </a:pP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</a:t>
            </a:r>
            <a:r>
              <a:rPr lang="en-US" altLang="zh-CN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.</a:t>
            </a:r>
            <a:r>
              <a:rPr lang="zh-CN" altLang="en-US" sz="2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共振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0" grpId="0"/>
      <p:bldP spid="3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628650" y="762000"/>
            <a:ext cx="3295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2. 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速度共振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（又称能量共振） 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1042988" y="1135063"/>
          <a:ext cx="32670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7" name="Equation" r:id="rId3" imgW="1663560" imgH="393480" progId="Equation.DSMT4">
                  <p:embed/>
                </p:oleObj>
              </mc:Choice>
              <mc:Fallback>
                <p:oleObj name="Equation" r:id="rId3" imgW="1663560" imgH="393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35063"/>
                        <a:ext cx="32670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931863" y="1711325"/>
          <a:ext cx="3722687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8" name="Equation" r:id="rId5" imgW="2082800" imgH="482600" progId="Equation.DSMT4">
                  <p:embed/>
                </p:oleObj>
              </mc:Choice>
              <mc:Fallback>
                <p:oleObj name="Equation" r:id="rId5" imgW="2082800" imgH="482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1711325"/>
                        <a:ext cx="3722687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1514475" y="2454275"/>
            <a:ext cx="1689100" cy="477838"/>
            <a:chOff x="527" y="2649"/>
            <a:chExt cx="1154" cy="441"/>
          </a:xfrm>
        </p:grpSpPr>
        <p:graphicFrame>
          <p:nvGraphicFramePr>
            <p:cNvPr id="56350" name="Object 7"/>
            <p:cNvGraphicFramePr>
              <a:graphicFrameLocks noChangeAspect="1"/>
            </p:cNvGraphicFramePr>
            <p:nvPr/>
          </p:nvGraphicFramePr>
          <p:xfrm>
            <a:off x="977" y="2649"/>
            <a:ext cx="704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9" name="Equation" r:id="rId7" imgW="672840" imgH="419040" progId="Equation.DSMT4">
                    <p:embed/>
                  </p:oleObj>
                </mc:Choice>
                <mc:Fallback>
                  <p:oleObj name="Equation" r:id="rId7" imgW="672840" imgH="4190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7" y="2649"/>
                          <a:ext cx="704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51" name="Rectangle 8"/>
            <p:cNvSpPr>
              <a:spLocks noChangeArrowheads="1"/>
            </p:cNvSpPr>
            <p:nvPr/>
          </p:nvSpPr>
          <p:spPr bwMode="auto">
            <a:xfrm>
              <a:off x="527" y="2685"/>
              <a:ext cx="370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800">
                  <a:ea typeface="宋体" pitchFamily="2" charset="-122"/>
                </a:rPr>
                <a:t>令</a:t>
              </a:r>
            </a:p>
          </p:txBody>
        </p:sp>
      </p:grpSp>
      <p:sp>
        <p:nvSpPr>
          <p:cNvPr id="9" name="Text Box 58"/>
          <p:cNvSpPr txBox="1">
            <a:spLocks noChangeArrowheads="1"/>
          </p:cNvSpPr>
          <p:nvPr/>
        </p:nvSpPr>
        <p:spPr bwMode="auto">
          <a:xfrm>
            <a:off x="674688" y="2994025"/>
            <a:ext cx="245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速度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能量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)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共振频率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414588" y="3521075"/>
          <a:ext cx="10779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0" name="公式" r:id="rId9" imgW="520700" imgH="228600" progId="Equation.3">
                  <p:embed/>
                </p:oleObj>
              </mc:Choice>
              <mc:Fallback>
                <p:oleObj name="公式" r:id="rId9" imgW="520700" imgH="228600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3521075"/>
                        <a:ext cx="1077912" cy="346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58"/>
          <p:cNvSpPr txBox="1">
            <a:spLocks noChangeArrowheads="1"/>
          </p:cNvSpPr>
          <p:nvPr/>
        </p:nvSpPr>
        <p:spPr bwMode="auto">
          <a:xfrm>
            <a:off x="1157288" y="4125913"/>
            <a:ext cx="906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速度</a:t>
            </a:r>
          </a:p>
        </p:txBody>
      </p: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187950" y="1187450"/>
            <a:ext cx="3241675" cy="2074863"/>
            <a:chOff x="2787" y="766"/>
            <a:chExt cx="2105" cy="1805"/>
          </a:xfrm>
        </p:grpSpPr>
        <p:sp>
          <p:nvSpPr>
            <p:cNvPr id="56332" name="Line 40"/>
            <p:cNvSpPr>
              <a:spLocks noChangeShapeType="1"/>
            </p:cNvSpPr>
            <p:nvPr/>
          </p:nvSpPr>
          <p:spPr bwMode="auto">
            <a:xfrm>
              <a:off x="3021" y="2381"/>
              <a:ext cx="1871" cy="0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3" name="Line 41"/>
            <p:cNvSpPr>
              <a:spLocks noChangeShapeType="1"/>
            </p:cNvSpPr>
            <p:nvPr/>
          </p:nvSpPr>
          <p:spPr bwMode="auto">
            <a:xfrm flipV="1">
              <a:off x="3023" y="1081"/>
              <a:ext cx="0" cy="1300"/>
            </a:xfrm>
            <a:prstGeom prst="line">
              <a:avLst/>
            </a:prstGeom>
            <a:noFill/>
            <a:ln w="9525">
              <a:solidFill>
                <a:srgbClr val="00B0F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4" name="Line 42"/>
            <p:cNvSpPr>
              <a:spLocks noChangeShapeType="1"/>
            </p:cNvSpPr>
            <p:nvPr/>
          </p:nvSpPr>
          <p:spPr bwMode="auto">
            <a:xfrm flipV="1">
              <a:off x="3668" y="776"/>
              <a:ext cx="0" cy="16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5" name="Freeform 43"/>
            <p:cNvSpPr>
              <a:spLocks/>
            </p:cNvSpPr>
            <p:nvPr/>
          </p:nvSpPr>
          <p:spPr bwMode="auto">
            <a:xfrm>
              <a:off x="3107" y="766"/>
              <a:ext cx="499" cy="1394"/>
            </a:xfrm>
            <a:custGeom>
              <a:avLst/>
              <a:gdLst>
                <a:gd name="T0" fmla="*/ 2 w 642"/>
                <a:gd name="T1" fmla="*/ 0 h 1846"/>
                <a:gd name="T2" fmla="*/ 2 w 642"/>
                <a:gd name="T3" fmla="*/ 2 h 1846"/>
                <a:gd name="T4" fmla="*/ 0 w 642"/>
                <a:gd name="T5" fmla="*/ 2 h 1846"/>
                <a:gd name="T6" fmla="*/ 0 60000 65536"/>
                <a:gd name="T7" fmla="*/ 0 60000 65536"/>
                <a:gd name="T8" fmla="*/ 0 60000 65536"/>
                <a:gd name="T9" fmla="*/ 0 w 642"/>
                <a:gd name="T10" fmla="*/ 0 h 1846"/>
                <a:gd name="T11" fmla="*/ 642 w 642"/>
                <a:gd name="T12" fmla="*/ 1846 h 18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42" h="1846">
                  <a:moveTo>
                    <a:pt x="598" y="0"/>
                  </a:moveTo>
                  <a:cubicBezTo>
                    <a:pt x="573" y="151"/>
                    <a:pt x="642" y="352"/>
                    <a:pt x="447" y="906"/>
                  </a:cubicBezTo>
                  <a:cubicBezTo>
                    <a:pt x="252" y="1460"/>
                    <a:pt x="93" y="1650"/>
                    <a:pt x="0" y="1846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6" name="Freeform 44"/>
            <p:cNvSpPr>
              <a:spLocks/>
            </p:cNvSpPr>
            <p:nvPr/>
          </p:nvSpPr>
          <p:spPr bwMode="auto">
            <a:xfrm>
              <a:off x="3759" y="788"/>
              <a:ext cx="953" cy="1429"/>
            </a:xfrm>
            <a:custGeom>
              <a:avLst/>
              <a:gdLst>
                <a:gd name="T0" fmla="*/ 0 w 1280"/>
                <a:gd name="T1" fmla="*/ 0 h 1919"/>
                <a:gd name="T2" fmla="*/ 1 w 1280"/>
                <a:gd name="T3" fmla="*/ 1 h 1919"/>
                <a:gd name="T4" fmla="*/ 1 w 1280"/>
                <a:gd name="T5" fmla="*/ 1 h 1919"/>
                <a:gd name="T6" fmla="*/ 1 w 1280"/>
                <a:gd name="T7" fmla="*/ 1 h 19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80"/>
                <a:gd name="T13" fmla="*/ 0 h 1919"/>
                <a:gd name="T14" fmla="*/ 1280 w 1280"/>
                <a:gd name="T15" fmla="*/ 1919 h 19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80" h="1919">
                  <a:moveTo>
                    <a:pt x="0" y="0"/>
                  </a:moveTo>
                  <a:cubicBezTo>
                    <a:pt x="30" y="114"/>
                    <a:pt x="53" y="435"/>
                    <a:pt x="173" y="683"/>
                  </a:cubicBezTo>
                  <a:cubicBezTo>
                    <a:pt x="293" y="931"/>
                    <a:pt x="534" y="1281"/>
                    <a:pt x="718" y="1487"/>
                  </a:cubicBezTo>
                  <a:cubicBezTo>
                    <a:pt x="902" y="1693"/>
                    <a:pt x="1163" y="1829"/>
                    <a:pt x="1280" y="1919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7" name="Freeform 45"/>
            <p:cNvSpPr>
              <a:spLocks/>
            </p:cNvSpPr>
            <p:nvPr/>
          </p:nvSpPr>
          <p:spPr bwMode="auto">
            <a:xfrm>
              <a:off x="3140" y="1178"/>
              <a:ext cx="1572" cy="1071"/>
            </a:xfrm>
            <a:custGeom>
              <a:avLst/>
              <a:gdLst>
                <a:gd name="T0" fmla="*/ 0 w 2111"/>
                <a:gd name="T1" fmla="*/ 1 h 1439"/>
                <a:gd name="T2" fmla="*/ 1 w 2111"/>
                <a:gd name="T3" fmla="*/ 1 h 1439"/>
                <a:gd name="T4" fmla="*/ 1 w 2111"/>
                <a:gd name="T5" fmla="*/ 1 h 1439"/>
                <a:gd name="T6" fmla="*/ 1 w 2111"/>
                <a:gd name="T7" fmla="*/ 1 h 1439"/>
                <a:gd name="T8" fmla="*/ 1 w 2111"/>
                <a:gd name="T9" fmla="*/ 1 h 14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11"/>
                <a:gd name="T16" fmla="*/ 0 h 1439"/>
                <a:gd name="T17" fmla="*/ 2111 w 2111"/>
                <a:gd name="T18" fmla="*/ 1439 h 14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11" h="1439">
                  <a:moveTo>
                    <a:pt x="0" y="1322"/>
                  </a:moveTo>
                  <a:cubicBezTo>
                    <a:pt x="68" y="1223"/>
                    <a:pt x="291" y="940"/>
                    <a:pt x="411" y="724"/>
                  </a:cubicBezTo>
                  <a:cubicBezTo>
                    <a:pt x="556" y="416"/>
                    <a:pt x="571" y="0"/>
                    <a:pt x="720" y="27"/>
                  </a:cubicBezTo>
                  <a:cubicBezTo>
                    <a:pt x="865" y="45"/>
                    <a:pt x="936" y="421"/>
                    <a:pt x="1283" y="830"/>
                  </a:cubicBezTo>
                  <a:cubicBezTo>
                    <a:pt x="1630" y="1239"/>
                    <a:pt x="1939" y="1312"/>
                    <a:pt x="2111" y="1439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8" name="Freeform 46"/>
            <p:cNvSpPr>
              <a:spLocks/>
            </p:cNvSpPr>
            <p:nvPr/>
          </p:nvSpPr>
          <p:spPr bwMode="auto">
            <a:xfrm>
              <a:off x="3182" y="1515"/>
              <a:ext cx="1530" cy="763"/>
            </a:xfrm>
            <a:custGeom>
              <a:avLst/>
              <a:gdLst>
                <a:gd name="T0" fmla="*/ 0 w 2055"/>
                <a:gd name="T1" fmla="*/ 1 h 1025"/>
                <a:gd name="T2" fmla="*/ 1 w 2055"/>
                <a:gd name="T3" fmla="*/ 1 h 1025"/>
                <a:gd name="T4" fmla="*/ 1 w 2055"/>
                <a:gd name="T5" fmla="*/ 1 h 1025"/>
                <a:gd name="T6" fmla="*/ 1 w 2055"/>
                <a:gd name="T7" fmla="*/ 1 h 1025"/>
                <a:gd name="T8" fmla="*/ 1 w 2055"/>
                <a:gd name="T9" fmla="*/ 1 h 10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55"/>
                <a:gd name="T16" fmla="*/ 0 h 1025"/>
                <a:gd name="T17" fmla="*/ 2055 w 2055"/>
                <a:gd name="T18" fmla="*/ 1025 h 10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55" h="1025">
                  <a:moveTo>
                    <a:pt x="0" y="880"/>
                  </a:moveTo>
                  <a:cubicBezTo>
                    <a:pt x="219" y="640"/>
                    <a:pt x="300" y="521"/>
                    <a:pt x="347" y="427"/>
                  </a:cubicBezTo>
                  <a:cubicBezTo>
                    <a:pt x="394" y="333"/>
                    <a:pt x="533" y="0"/>
                    <a:pt x="656" y="6"/>
                  </a:cubicBezTo>
                  <a:cubicBezTo>
                    <a:pt x="781" y="11"/>
                    <a:pt x="871" y="243"/>
                    <a:pt x="1098" y="455"/>
                  </a:cubicBezTo>
                  <a:cubicBezTo>
                    <a:pt x="1325" y="667"/>
                    <a:pt x="1789" y="925"/>
                    <a:pt x="2055" y="1025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39" name="Freeform 47"/>
            <p:cNvSpPr>
              <a:spLocks/>
            </p:cNvSpPr>
            <p:nvPr/>
          </p:nvSpPr>
          <p:spPr bwMode="auto">
            <a:xfrm>
              <a:off x="3204" y="1684"/>
              <a:ext cx="1503" cy="623"/>
            </a:xfrm>
            <a:custGeom>
              <a:avLst/>
              <a:gdLst>
                <a:gd name="T0" fmla="*/ 0 w 2020"/>
                <a:gd name="T1" fmla="*/ 1 h 837"/>
                <a:gd name="T2" fmla="*/ 1 w 2020"/>
                <a:gd name="T3" fmla="*/ 1 h 837"/>
                <a:gd name="T4" fmla="*/ 1 w 2020"/>
                <a:gd name="T5" fmla="*/ 1 h 837"/>
                <a:gd name="T6" fmla="*/ 1 w 2020"/>
                <a:gd name="T7" fmla="*/ 1 h 837"/>
                <a:gd name="T8" fmla="*/ 1 w 2020"/>
                <a:gd name="T9" fmla="*/ 1 h 8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20"/>
                <a:gd name="T16" fmla="*/ 0 h 837"/>
                <a:gd name="T17" fmla="*/ 2020 w 2020"/>
                <a:gd name="T18" fmla="*/ 837 h 8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20" h="837">
                  <a:moveTo>
                    <a:pt x="0" y="684"/>
                  </a:moveTo>
                  <a:cubicBezTo>
                    <a:pt x="156" y="561"/>
                    <a:pt x="306" y="352"/>
                    <a:pt x="337" y="308"/>
                  </a:cubicBezTo>
                  <a:cubicBezTo>
                    <a:pt x="368" y="264"/>
                    <a:pt x="507" y="0"/>
                    <a:pt x="632" y="19"/>
                  </a:cubicBezTo>
                  <a:cubicBezTo>
                    <a:pt x="757" y="38"/>
                    <a:pt x="874" y="273"/>
                    <a:pt x="1089" y="424"/>
                  </a:cubicBezTo>
                  <a:cubicBezTo>
                    <a:pt x="1304" y="575"/>
                    <a:pt x="1662" y="736"/>
                    <a:pt x="2020" y="837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0" name="Freeform 48"/>
            <p:cNvSpPr>
              <a:spLocks/>
            </p:cNvSpPr>
            <p:nvPr/>
          </p:nvSpPr>
          <p:spPr bwMode="auto">
            <a:xfrm>
              <a:off x="3224" y="1895"/>
              <a:ext cx="1470" cy="431"/>
            </a:xfrm>
            <a:custGeom>
              <a:avLst/>
              <a:gdLst>
                <a:gd name="T0" fmla="*/ 0 w 1974"/>
                <a:gd name="T1" fmla="*/ 1 h 579"/>
                <a:gd name="T2" fmla="*/ 1 w 1974"/>
                <a:gd name="T3" fmla="*/ 1 h 579"/>
                <a:gd name="T4" fmla="*/ 1 w 1974"/>
                <a:gd name="T5" fmla="*/ 1 h 579"/>
                <a:gd name="T6" fmla="*/ 1 w 1974"/>
                <a:gd name="T7" fmla="*/ 1 h 579"/>
                <a:gd name="T8" fmla="*/ 1 w 1974"/>
                <a:gd name="T9" fmla="*/ 1 h 5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4"/>
                <a:gd name="T16" fmla="*/ 0 h 579"/>
                <a:gd name="T17" fmla="*/ 1974 w 1974"/>
                <a:gd name="T18" fmla="*/ 579 h 57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4" h="579">
                  <a:moveTo>
                    <a:pt x="0" y="428"/>
                  </a:moveTo>
                  <a:cubicBezTo>
                    <a:pt x="179" y="350"/>
                    <a:pt x="296" y="210"/>
                    <a:pt x="346" y="171"/>
                  </a:cubicBezTo>
                  <a:cubicBezTo>
                    <a:pt x="396" y="132"/>
                    <a:pt x="472" y="0"/>
                    <a:pt x="599" y="25"/>
                  </a:cubicBezTo>
                  <a:cubicBezTo>
                    <a:pt x="726" y="50"/>
                    <a:pt x="801" y="180"/>
                    <a:pt x="1107" y="322"/>
                  </a:cubicBezTo>
                  <a:cubicBezTo>
                    <a:pt x="1413" y="464"/>
                    <a:pt x="1616" y="517"/>
                    <a:pt x="1974" y="579"/>
                  </a:cubicBezTo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341" name="Text Box 49"/>
            <p:cNvSpPr txBox="1">
              <a:spLocks noChangeArrowheads="1"/>
            </p:cNvSpPr>
            <p:nvPr/>
          </p:nvSpPr>
          <p:spPr bwMode="auto">
            <a:xfrm>
              <a:off x="3957" y="1196"/>
              <a:ext cx="87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1</a:t>
              </a:r>
              <a:r>
                <a:rPr kumimoji="0" lang="en-US" altLang="zh-CN" sz="15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&gt; </a:t>
              </a:r>
              <a:r>
                <a:rPr kumimoji="0" lang="en-US" altLang="zh-CN" sz="150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2</a:t>
              </a:r>
              <a:r>
                <a:rPr kumimoji="0" lang="en-US" altLang="zh-CN" sz="15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 &gt; </a:t>
              </a:r>
              <a:r>
                <a:rPr kumimoji="0" lang="en-US" altLang="zh-CN" sz="150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3</a:t>
              </a:r>
              <a:r>
                <a:rPr kumimoji="0" lang="en-US" altLang="zh-CN" sz="15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&gt; </a:t>
              </a:r>
              <a:r>
                <a:rPr kumimoji="0" lang="en-US" altLang="zh-CN" sz="150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4</a:t>
              </a:r>
            </a:p>
          </p:txBody>
        </p:sp>
        <p:sp>
          <p:nvSpPr>
            <p:cNvPr id="56342" name="Text Box 50"/>
            <p:cNvSpPr txBox="1">
              <a:spLocks noChangeArrowheads="1"/>
            </p:cNvSpPr>
            <p:nvPr/>
          </p:nvSpPr>
          <p:spPr bwMode="auto">
            <a:xfrm>
              <a:off x="4666" y="2300"/>
              <a:ext cx="17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  <a:sym typeface="Symbol" pitchFamily="18" charset="2"/>
                </a:rPr>
                <a:t>p</a:t>
              </a:r>
            </a:p>
          </p:txBody>
        </p:sp>
        <p:sp>
          <p:nvSpPr>
            <p:cNvPr id="56343" name="Text Box 51"/>
            <p:cNvSpPr txBox="1">
              <a:spLocks noChangeArrowheads="1"/>
            </p:cNvSpPr>
            <p:nvPr/>
          </p:nvSpPr>
          <p:spPr bwMode="auto">
            <a:xfrm>
              <a:off x="3542" y="2294"/>
              <a:ext cx="24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en-US" altLang="zh-CN" sz="1500" i="1">
                  <a:ea typeface="宋体" pitchFamily="2" charset="-122"/>
                  <a:sym typeface="Symbol" pitchFamily="18" charset="2"/>
                </a:rPr>
                <a:t></a:t>
              </a:r>
              <a:r>
                <a:rPr kumimoji="0" lang="en-US" altLang="zh-CN" sz="1500" baseline="-25000">
                  <a:ea typeface="宋体" pitchFamily="2" charset="-122"/>
                  <a:sym typeface="Symbol" pitchFamily="18" charset="2"/>
                </a:rPr>
                <a:t>0</a:t>
              </a:r>
              <a:endParaRPr kumimoji="0" lang="en-US" altLang="zh-CN" sz="1500"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6344" name="Rectangle 52"/>
            <p:cNvSpPr>
              <a:spLocks noChangeArrowheads="1"/>
            </p:cNvSpPr>
            <p:nvPr/>
          </p:nvSpPr>
          <p:spPr bwMode="auto">
            <a:xfrm>
              <a:off x="2787" y="1014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500" b="0" i="1">
                  <a:solidFill>
                    <a:srgbClr val="0000FF"/>
                  </a:solidFill>
                  <a:ea typeface="宋体" pitchFamily="2" charset="-122"/>
                  <a:sym typeface="Symbol" pitchFamily="18" charset="2"/>
                </a:rPr>
                <a:t></a:t>
              </a:r>
              <a:r>
                <a:rPr kumimoji="0" lang="en-US" altLang="zh-CN" sz="1500" b="0" baseline="-25000">
                  <a:solidFill>
                    <a:srgbClr val="0000FF"/>
                  </a:solidFill>
                  <a:ea typeface="宋体" pitchFamily="2" charset="-122"/>
                  <a:sym typeface="Symbol" pitchFamily="18" charset="2"/>
                </a:rPr>
                <a:t>m</a:t>
              </a:r>
              <a:endParaRPr kumimoji="0" lang="en-US" altLang="zh-CN" sz="1500" b="0">
                <a:solidFill>
                  <a:srgbClr val="0000FF"/>
                </a:solidFill>
                <a:ea typeface="宋体" pitchFamily="2" charset="-122"/>
                <a:sym typeface="Symbol" pitchFamily="18" charset="2"/>
              </a:endParaRPr>
            </a:p>
          </p:txBody>
        </p:sp>
        <p:sp>
          <p:nvSpPr>
            <p:cNvPr id="56345" name="Rectangle 53"/>
            <p:cNvSpPr>
              <a:spLocks noChangeArrowheads="1"/>
            </p:cNvSpPr>
            <p:nvPr/>
          </p:nvSpPr>
          <p:spPr bwMode="auto">
            <a:xfrm>
              <a:off x="3730" y="1990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500" b="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="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1</a:t>
              </a:r>
            </a:p>
          </p:txBody>
        </p:sp>
        <p:sp>
          <p:nvSpPr>
            <p:cNvPr id="56346" name="Rectangle 54"/>
            <p:cNvSpPr>
              <a:spLocks noChangeArrowheads="1"/>
            </p:cNvSpPr>
            <p:nvPr/>
          </p:nvSpPr>
          <p:spPr bwMode="auto">
            <a:xfrm>
              <a:off x="3702" y="1778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500" b="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="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2</a:t>
              </a:r>
            </a:p>
          </p:txBody>
        </p:sp>
        <p:sp>
          <p:nvSpPr>
            <p:cNvPr id="56347" name="Rectangle 55"/>
            <p:cNvSpPr>
              <a:spLocks noChangeArrowheads="1"/>
            </p:cNvSpPr>
            <p:nvPr/>
          </p:nvSpPr>
          <p:spPr bwMode="auto">
            <a:xfrm>
              <a:off x="3645" y="1551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500" b="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="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3</a:t>
              </a:r>
            </a:p>
          </p:txBody>
        </p:sp>
        <p:sp>
          <p:nvSpPr>
            <p:cNvPr id="56348" name="Rectangle 56"/>
            <p:cNvSpPr>
              <a:spLocks noChangeArrowheads="1"/>
            </p:cNvSpPr>
            <p:nvPr/>
          </p:nvSpPr>
          <p:spPr bwMode="auto">
            <a:xfrm>
              <a:off x="3620" y="1255"/>
              <a:ext cx="22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sz="1500" b="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</a:t>
              </a:r>
              <a:r>
                <a:rPr kumimoji="0" lang="en-US" altLang="zh-CN" sz="1500" b="0" baseline="-25000">
                  <a:solidFill>
                    <a:srgbClr val="FF0000"/>
                  </a:solidFill>
                  <a:ea typeface="宋体" pitchFamily="2" charset="-122"/>
                  <a:sym typeface="Symbol" pitchFamily="18" charset="2"/>
                </a:rPr>
                <a:t>4</a:t>
              </a:r>
            </a:p>
          </p:txBody>
        </p:sp>
        <p:sp>
          <p:nvSpPr>
            <p:cNvPr id="56349" name="Text Box 57"/>
            <p:cNvSpPr txBox="1">
              <a:spLocks noChangeArrowheads="1"/>
            </p:cNvSpPr>
            <p:nvPr/>
          </p:nvSpPr>
          <p:spPr bwMode="auto">
            <a:xfrm>
              <a:off x="3787" y="828"/>
              <a:ext cx="601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kumimoji="0" lang="zh-CN" altLang="en-US" sz="1500">
                  <a:solidFill>
                    <a:srgbClr val="FF0000"/>
                  </a:solidFill>
                  <a:ea typeface="宋体" pitchFamily="2" charset="-122"/>
                </a:rPr>
                <a:t>阻尼为零</a:t>
              </a:r>
            </a:p>
          </p:txBody>
        </p:sp>
      </p:grpSp>
      <p:sp>
        <p:nvSpPr>
          <p:cNvPr id="31" name="Text Box 3"/>
          <p:cNvSpPr txBox="1">
            <a:spLocks noChangeArrowheads="1"/>
          </p:cNvSpPr>
          <p:nvPr/>
        </p:nvSpPr>
        <p:spPr bwMode="auto">
          <a:xfrm>
            <a:off x="4211638" y="3516313"/>
            <a:ext cx="46085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zh-CN" altLang="en-US" sz="1800">
                <a:ea typeface="华文中宋" pitchFamily="2" charset="-122"/>
              </a:rPr>
              <a:t>当驱动力的圆频率</a:t>
            </a:r>
            <a:r>
              <a:rPr kumimoji="0" lang="zh-CN" altLang="en-US" sz="1800" u="sng">
                <a:solidFill>
                  <a:srgbClr val="0000CC"/>
                </a:solidFill>
                <a:ea typeface="华文中宋" pitchFamily="2" charset="-122"/>
              </a:rPr>
              <a:t>等于</a:t>
            </a:r>
            <a:r>
              <a:rPr kumimoji="0" lang="zh-CN" altLang="en-US" sz="1800">
                <a:ea typeface="华文中宋" pitchFamily="2" charset="-122"/>
              </a:rPr>
              <a:t>系统的固有圆频率时，速度幅</a:t>
            </a:r>
            <a:r>
              <a:rPr kumimoji="0" lang="zh-CN" altLang="en-US" sz="1800" i="1">
                <a:ea typeface="华文中宋" pitchFamily="2" charset="-122"/>
                <a:sym typeface="Symbol" pitchFamily="18" charset="2"/>
              </a:rPr>
              <a:t></a:t>
            </a:r>
            <a:r>
              <a:rPr kumimoji="0" lang="en-US" altLang="zh-CN" sz="1800" i="1">
                <a:ea typeface="华文中宋" pitchFamily="2" charset="-122"/>
              </a:rPr>
              <a:t>A</a:t>
            </a:r>
            <a:r>
              <a:rPr kumimoji="0" lang="zh-CN" altLang="en-US" sz="1800">
                <a:ea typeface="华文中宋" pitchFamily="2" charset="-122"/>
              </a:rPr>
              <a:t>达极大值的现象</a:t>
            </a:r>
            <a:r>
              <a:rPr kumimoji="0" lang="en-US" altLang="zh-CN" sz="1800">
                <a:ea typeface="华文中宋" pitchFamily="2" charset="-122"/>
              </a:rPr>
              <a:t>,</a:t>
            </a:r>
            <a:r>
              <a:rPr kumimoji="0" lang="zh-CN" altLang="en-US" sz="1800">
                <a:ea typeface="华文中宋" pitchFamily="2" charset="-122"/>
              </a:rPr>
              <a:t>叫速度共振。</a:t>
            </a: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405063" y="4075113"/>
          <a:ext cx="1079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61" name="公式" r:id="rId11" imgW="634725" imgH="431613" progId="Equation.3">
                  <p:embed/>
                </p:oleObj>
              </mc:Choice>
              <mc:Fallback>
                <p:oleObj name="公式" r:id="rId11" imgW="634725" imgH="431613" progId="Equation.3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4075113"/>
                        <a:ext cx="1079500" cy="5461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11" grpId="0"/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701800" y="838200"/>
          <a:ext cx="221297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Equation" r:id="rId3" imgW="1091880" imgH="431640" progId="Equation.DSMT4">
                  <p:embed/>
                </p:oleObj>
              </mc:Choice>
              <mc:Fallback>
                <p:oleObj name="Equation" r:id="rId3" imgW="1091880" imgH="4316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838200"/>
                        <a:ext cx="221297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851275" y="969963"/>
          <a:ext cx="11461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9" name="公式" r:id="rId5" imgW="304404" imgH="126835" progId="Equation.3">
                  <p:embed/>
                </p:oleObj>
              </mc:Choice>
              <mc:Fallback>
                <p:oleObj name="公式" r:id="rId5" imgW="304404" imgH="1268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969963"/>
                        <a:ext cx="11461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594350" y="850900"/>
          <a:ext cx="109061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0" name="公式" r:id="rId7" imgW="520474" imgH="406224" progId="Equation.3">
                  <p:embed/>
                </p:oleObj>
              </mc:Choice>
              <mc:Fallback>
                <p:oleObj name="公式" r:id="rId7" imgW="520474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4350" y="850900"/>
                        <a:ext cx="109061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425700" y="1498600"/>
          <a:ext cx="33813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1" name="Equation" r:id="rId9" imgW="1663560" imgH="393480" progId="Equation.DSMT4">
                  <p:embed/>
                </p:oleObj>
              </mc:Choice>
              <mc:Fallback>
                <p:oleObj name="Equation" r:id="rId9" imgW="166356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1498600"/>
                        <a:ext cx="338137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08225" y="2130425"/>
          <a:ext cx="33750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2" name="公式" r:id="rId11" imgW="1663700" imgH="622300" progId="Equation.3">
                  <p:embed/>
                </p:oleObj>
              </mc:Choice>
              <mc:Fallback>
                <p:oleObj name="公式" r:id="rId11" imgW="1663700" imgH="622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2130425"/>
                        <a:ext cx="3375025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1074738" y="3209925"/>
            <a:ext cx="3136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kumimoji="0" lang="zh-CN" altLang="en-US" sz="1800">
                <a:ea typeface="华文中宋" pitchFamily="2" charset="-122"/>
                <a:sym typeface="Symbol" pitchFamily="18" charset="2"/>
              </a:rPr>
              <a:t>对比</a:t>
            </a:r>
            <a:r>
              <a:rPr kumimoji="0" lang="zh-CN" altLang="en-US" sz="1800">
                <a:ea typeface="华文中宋" pitchFamily="2" charset="-122"/>
              </a:rPr>
              <a:t>驱动力    </a:t>
            </a:r>
            <a:r>
              <a:rPr kumimoji="0" lang="en-US" altLang="zh-CN" sz="1800" i="1">
                <a:ea typeface="华文中宋" pitchFamily="2" charset="-122"/>
              </a:rPr>
              <a:t>F</a:t>
            </a:r>
            <a:r>
              <a:rPr kumimoji="0" lang="zh-CN" altLang="en-US" sz="1800">
                <a:ea typeface="华文中宋" pitchFamily="2" charset="-122"/>
              </a:rPr>
              <a:t>＝</a:t>
            </a:r>
            <a:r>
              <a:rPr kumimoji="0" lang="en-US" altLang="zh-CN" sz="1800" i="1">
                <a:ea typeface="华文中宋" pitchFamily="2" charset="-122"/>
              </a:rPr>
              <a:t>F</a:t>
            </a:r>
            <a:r>
              <a:rPr kumimoji="0" lang="en-US" altLang="zh-CN" sz="1800" i="1" baseline="-25000">
                <a:ea typeface="华文中宋" pitchFamily="2" charset="-122"/>
              </a:rPr>
              <a:t>0 </a:t>
            </a:r>
            <a:r>
              <a:rPr kumimoji="0" lang="en-US" altLang="zh-CN" sz="1800">
                <a:ea typeface="华文中宋" pitchFamily="2" charset="-122"/>
              </a:rPr>
              <a:t>cos</a:t>
            </a:r>
            <a:r>
              <a:rPr kumimoji="0" lang="en-US" altLang="zh-CN" sz="1800" i="1">
                <a:ea typeface="华文中宋" pitchFamily="2" charset="-122"/>
              </a:rPr>
              <a:t> pt </a:t>
            </a:r>
            <a:r>
              <a:rPr kumimoji="0" lang="en-US" altLang="zh-CN" sz="1800">
                <a:ea typeface="华文中宋" pitchFamily="2" charset="-122"/>
              </a:rPr>
              <a:t> 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792163" y="3662363"/>
            <a:ext cx="8010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algn="ctr" eaLnBrk="1" hangingPunct="1"/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即速度共振时，速度与驱动力</a:t>
            </a:r>
            <a:r>
              <a:rPr kumimoji="0" lang="zh-CN" altLang="en-US" sz="1800">
                <a:solidFill>
                  <a:srgbClr val="0000CC"/>
                </a:solidFill>
                <a:latin typeface="华文中宋" pitchFamily="2" charset="-122"/>
                <a:ea typeface="华文中宋" pitchFamily="2" charset="-122"/>
              </a:rPr>
              <a:t>同相</a:t>
            </a:r>
            <a:r>
              <a:rPr kumimoji="0" lang="zh-CN" altLang="en-US" sz="1800">
                <a:latin typeface="华文中宋" pitchFamily="2" charset="-122"/>
                <a:ea typeface="华文中宋" pitchFamily="2" charset="-122"/>
              </a:rPr>
              <a:t>，一周期内驱动力总作正功，此时向系统输入的能量最大。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68313" y="827088"/>
            <a:ext cx="35798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3. </a:t>
            </a:r>
            <a:r>
              <a:rPr lang="zh-CN" altLang="en-US" sz="180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共振的利用与防止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68313" y="1258888"/>
            <a:ext cx="4248150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(1)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位移共振</a:t>
            </a:r>
          </a:p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 防止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—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桥梁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机床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海堤</a:t>
            </a:r>
          </a:p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 利用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—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振动筛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打夯</a:t>
            </a:r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,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核磁共振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8313" y="2355850"/>
            <a:ext cx="39592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lang="en-US" altLang="zh-CN" sz="1800">
                <a:latin typeface="华文中宋" pitchFamily="2" charset="-122"/>
                <a:ea typeface="华文中宋" pitchFamily="2" charset="-122"/>
              </a:rPr>
              <a:t>(2) </a:t>
            </a:r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能量共振</a:t>
            </a:r>
          </a:p>
          <a:p>
            <a:pPr eaLnBrk="1" hangingPunct="1"/>
            <a:r>
              <a:rPr lang="zh-CN" altLang="en-US" sz="1800">
                <a:latin typeface="华文中宋" pitchFamily="2" charset="-122"/>
                <a:ea typeface="华文中宋" pitchFamily="2" charset="-122"/>
              </a:rPr>
              <a:t> 调谐（能量输入处于最佳状态）</a:t>
            </a:r>
          </a:p>
        </p:txBody>
      </p:sp>
      <p:pic>
        <p:nvPicPr>
          <p:cNvPr id="6" name="Picture 5" descr="玻璃杯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2997200"/>
            <a:ext cx="2808288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958850"/>
            <a:ext cx="3119437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70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2859088"/>
            <a:ext cx="29527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7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大桥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950913"/>
            <a:ext cx="360997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大桥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0" y="950913"/>
            <a:ext cx="3425825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746125" y="3797300"/>
            <a:ext cx="7831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ea typeface="华文中宋" pitchFamily="2" charset="-122"/>
              </a:rPr>
              <a:t>Tacoma Narrows Bridge ,1938</a:t>
            </a:r>
            <a:r>
              <a:rPr kumimoji="0" lang="zh-CN" altLang="en-US" sz="1800">
                <a:ea typeface="华文中宋" pitchFamily="2" charset="-122"/>
              </a:rPr>
              <a:t>年</a:t>
            </a:r>
            <a:r>
              <a:rPr kumimoji="0" lang="en-US" altLang="zh-CN" sz="1800">
                <a:ea typeface="华文中宋" pitchFamily="2" charset="-122"/>
              </a:rPr>
              <a:t>11</a:t>
            </a:r>
            <a:r>
              <a:rPr kumimoji="0" lang="zh-CN" altLang="en-US" sz="1800">
                <a:ea typeface="华文中宋" pitchFamily="2" charset="-122"/>
              </a:rPr>
              <a:t>月开工，</a:t>
            </a:r>
            <a:r>
              <a:rPr kumimoji="0" lang="en-US" altLang="zh-CN" sz="1800">
                <a:ea typeface="华文中宋" pitchFamily="2" charset="-122"/>
              </a:rPr>
              <a:t>1940</a:t>
            </a:r>
            <a:r>
              <a:rPr kumimoji="0" lang="zh-CN" altLang="en-US" sz="1800">
                <a:ea typeface="华文中宋" pitchFamily="2" charset="-122"/>
              </a:rPr>
              <a:t>年</a:t>
            </a:r>
            <a:r>
              <a:rPr kumimoji="0" lang="en-US" altLang="zh-CN" sz="1800">
                <a:ea typeface="华文中宋" pitchFamily="2" charset="-122"/>
              </a:rPr>
              <a:t>7</a:t>
            </a:r>
            <a:r>
              <a:rPr kumimoji="0" lang="zh-CN" altLang="en-US" sz="1800">
                <a:ea typeface="华文中宋" pitchFamily="2" charset="-122"/>
              </a:rPr>
              <a:t>月</a:t>
            </a:r>
            <a:r>
              <a:rPr kumimoji="0" lang="en-US" altLang="zh-CN" sz="1800">
                <a:ea typeface="华文中宋" pitchFamily="2" charset="-122"/>
              </a:rPr>
              <a:t>1</a:t>
            </a:r>
            <a:r>
              <a:rPr kumimoji="0" lang="zh-CN" altLang="en-US" sz="1800">
                <a:ea typeface="华文中宋" pitchFamily="2" charset="-122"/>
              </a:rPr>
              <a:t>日通车，</a:t>
            </a:r>
            <a:r>
              <a:rPr kumimoji="0" lang="en-US" altLang="zh-CN" sz="1800">
                <a:ea typeface="华文中宋" pitchFamily="2" charset="-122"/>
              </a:rPr>
              <a:t>4</a:t>
            </a:r>
            <a:r>
              <a:rPr kumimoji="0" lang="zh-CN" altLang="en-US" sz="1800">
                <a:ea typeface="华文中宋" pitchFamily="2" charset="-122"/>
              </a:rPr>
              <a:t>个月后的</a:t>
            </a:r>
            <a:r>
              <a:rPr kumimoji="0" lang="en-US" altLang="zh-CN" sz="1800">
                <a:ea typeface="华文中宋" pitchFamily="2" charset="-122"/>
              </a:rPr>
              <a:t>11</a:t>
            </a:r>
            <a:r>
              <a:rPr kumimoji="0" lang="zh-CN" altLang="en-US" sz="1800">
                <a:ea typeface="华文中宋" pitchFamily="2" charset="-122"/>
              </a:rPr>
              <a:t>月</a:t>
            </a:r>
            <a:r>
              <a:rPr kumimoji="0" lang="en-US" altLang="zh-CN" sz="1800">
                <a:ea typeface="华文中宋" pitchFamily="2" charset="-122"/>
              </a:rPr>
              <a:t>7</a:t>
            </a:r>
            <a:r>
              <a:rPr kumimoji="0" lang="zh-CN" altLang="en-US" sz="1800">
                <a:ea typeface="华文中宋" pitchFamily="2" charset="-122"/>
              </a:rPr>
              <a:t>日，大桥在时速</a:t>
            </a:r>
            <a:r>
              <a:rPr kumimoji="0" lang="en-US" altLang="zh-CN" sz="1800">
                <a:ea typeface="华文中宋" pitchFamily="2" charset="-122"/>
              </a:rPr>
              <a:t>42</a:t>
            </a:r>
            <a:r>
              <a:rPr kumimoji="0" lang="zh-CN" altLang="en-US" sz="1800">
                <a:ea typeface="华文中宋" pitchFamily="2" charset="-122"/>
              </a:rPr>
              <a:t>英里</a:t>
            </a:r>
            <a:r>
              <a:rPr kumimoji="0" lang="en-US" altLang="zh-CN" sz="1800">
                <a:ea typeface="华文中宋" pitchFamily="2" charset="-122"/>
              </a:rPr>
              <a:t>(68</a:t>
            </a:r>
            <a:r>
              <a:rPr kumimoji="0" lang="zh-CN" altLang="en-US" sz="1800">
                <a:ea typeface="华文中宋" pitchFamily="2" charset="-122"/>
              </a:rPr>
              <a:t>公里</a:t>
            </a:r>
            <a:r>
              <a:rPr kumimoji="0" lang="en-US" altLang="zh-CN" sz="1800">
                <a:ea typeface="华文中宋" pitchFamily="2" charset="-122"/>
              </a:rPr>
              <a:t>)</a:t>
            </a:r>
            <a:r>
              <a:rPr kumimoji="0" lang="zh-CN" altLang="en-US" sz="1800">
                <a:ea typeface="华文中宋" pitchFamily="2" charset="-122"/>
              </a:rPr>
              <a:t>的风引起桥的共振使桥摧毁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106488" y="935038"/>
            <a:ext cx="715645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itchFamily="18" charset="0"/>
                <a:ea typeface="黑体" pitchFamily="49" charset="-122"/>
              </a:defRPr>
            </a:lvl9pPr>
          </a:lstStyle>
          <a:p>
            <a:pPr eaLnBrk="1" hangingPunct="1"/>
            <a:r>
              <a:rPr kumimoji="0" lang="en-US" altLang="zh-CN" sz="1800">
                <a:solidFill>
                  <a:srgbClr val="0000CC"/>
                </a:solidFill>
                <a:ea typeface="华文中宋" pitchFamily="2" charset="-122"/>
              </a:rPr>
              <a:t>1. </a:t>
            </a:r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简谐振动的概念</a:t>
            </a:r>
          </a:p>
          <a:p>
            <a:pPr eaLnBrk="1" hangingPunct="1"/>
            <a:r>
              <a:rPr kumimoji="0" lang="zh-CN" altLang="en-US" sz="2800">
                <a:ea typeface="华文中宋" pitchFamily="2" charset="-122"/>
              </a:rPr>
              <a:t>     </a:t>
            </a:r>
            <a:r>
              <a:rPr kumimoji="0" lang="zh-CN" altLang="en-US" sz="1800">
                <a:ea typeface="华文中宋" pitchFamily="2" charset="-122"/>
              </a:rPr>
              <a:t>三个特征量的意义和决定因素；</a:t>
            </a:r>
          </a:p>
          <a:p>
            <a:pPr eaLnBrk="1" hangingPunct="1"/>
            <a:r>
              <a:rPr kumimoji="0" lang="zh-CN" altLang="en-US" sz="1800">
                <a:ea typeface="华文中宋" pitchFamily="2" charset="-122"/>
              </a:rPr>
              <a:t>        谐振动的表示方法，特别是旋转矢量法。</a:t>
            </a:r>
          </a:p>
          <a:p>
            <a:pPr eaLnBrk="1" hangingPunct="1"/>
            <a:r>
              <a:rPr kumimoji="0" lang="en-US" altLang="zh-CN" sz="1800">
                <a:solidFill>
                  <a:srgbClr val="0000CC"/>
                </a:solidFill>
                <a:ea typeface="华文中宋" pitchFamily="2" charset="-122"/>
              </a:rPr>
              <a:t>2. </a:t>
            </a:r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简谐振动的动力学特征</a:t>
            </a:r>
          </a:p>
          <a:p>
            <a:pPr eaLnBrk="1" hangingPunct="1"/>
            <a:r>
              <a:rPr kumimoji="0" lang="zh-CN" altLang="en-US" sz="1800">
                <a:ea typeface="华文中宋" pitchFamily="2" charset="-122"/>
              </a:rPr>
              <a:t>        判定简谐振动</a:t>
            </a:r>
            <a:r>
              <a:rPr kumimoji="0" lang="en-US" altLang="zh-CN" sz="1800">
                <a:ea typeface="华文中宋" pitchFamily="2" charset="-122"/>
              </a:rPr>
              <a:t>.</a:t>
            </a:r>
          </a:p>
          <a:p>
            <a:pPr eaLnBrk="1" hangingPunct="1"/>
            <a:r>
              <a:rPr kumimoji="0" lang="en-US" altLang="zh-CN" sz="1800">
                <a:solidFill>
                  <a:srgbClr val="0000CC"/>
                </a:solidFill>
                <a:ea typeface="华文中宋" pitchFamily="2" charset="-122"/>
              </a:rPr>
              <a:t>3. </a:t>
            </a:r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简谐振动的能量特征</a:t>
            </a:r>
          </a:p>
          <a:p>
            <a:pPr eaLnBrk="1" hangingPunct="1"/>
            <a:r>
              <a:rPr kumimoji="0" lang="zh-CN" altLang="en-US" sz="1800">
                <a:ea typeface="华文中宋" pitchFamily="2" charset="-122"/>
              </a:rPr>
              <a:t>         从能量关系分析振动问题的方法。</a:t>
            </a:r>
          </a:p>
          <a:p>
            <a:pPr eaLnBrk="1" hangingPunct="1"/>
            <a:r>
              <a:rPr kumimoji="0" lang="en-US" altLang="zh-CN" sz="1800">
                <a:solidFill>
                  <a:srgbClr val="0000CC"/>
                </a:solidFill>
                <a:ea typeface="华文中宋" pitchFamily="2" charset="-122"/>
              </a:rPr>
              <a:t>4.</a:t>
            </a:r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同一直线上两个简谐振动合成的规律，</a:t>
            </a:r>
          </a:p>
          <a:p>
            <a:pPr eaLnBrk="1" hangingPunct="1"/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         </a:t>
            </a:r>
            <a:r>
              <a:rPr kumimoji="0" lang="zh-CN" altLang="en-US" sz="1800">
                <a:ea typeface="华文中宋" pitchFamily="2" charset="-122"/>
              </a:rPr>
              <a:t>拍与拍频。</a:t>
            </a:r>
          </a:p>
          <a:p>
            <a:pPr eaLnBrk="1" hangingPunct="1"/>
            <a:r>
              <a:rPr kumimoji="0" lang="en-US" altLang="zh-CN" sz="1800">
                <a:solidFill>
                  <a:srgbClr val="0000CC"/>
                </a:solidFill>
                <a:ea typeface="华文中宋" pitchFamily="2" charset="-122"/>
              </a:rPr>
              <a:t>5.* </a:t>
            </a:r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阻尼振动、阻尼系数、临界阻尼的概念。</a:t>
            </a:r>
          </a:p>
          <a:p>
            <a:pPr eaLnBrk="1" hangingPunct="1"/>
            <a:r>
              <a:rPr kumimoji="0" lang="en-US" altLang="zh-CN" sz="1800">
                <a:solidFill>
                  <a:srgbClr val="0000CC"/>
                </a:solidFill>
                <a:ea typeface="华文中宋" pitchFamily="2" charset="-122"/>
              </a:rPr>
              <a:t>6. *</a:t>
            </a:r>
            <a:r>
              <a:rPr kumimoji="0" lang="zh-CN" altLang="en-US" sz="1800">
                <a:solidFill>
                  <a:srgbClr val="0000CC"/>
                </a:solidFill>
                <a:ea typeface="华文中宋" pitchFamily="2" charset="-122"/>
              </a:rPr>
              <a:t>受迫振动和共振的概念。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lIns="0" tIns="0" rIns="0" bIns="0">
        <a:spAutoFit/>
      </a:bodyPr>
      <a:lstStyle>
        <a:defPPr algn="ctr">
          <a:defRPr sz="1800" dirty="0">
            <a:solidFill>
              <a:srgbClr val="000000"/>
            </a:solidFill>
            <a:latin typeface="华文中宋" pitchFamily="2" charset="-122"/>
            <a:ea typeface="华文中宋" pitchFamily="2" charset="-122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10107</TotalTime>
  <Words>2789</Words>
  <Application>Microsoft Office PowerPoint</Application>
  <PresentationFormat>全屏显示(16:9)</PresentationFormat>
  <Paragraphs>445</Paragraphs>
  <Slides>50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54" baseType="lpstr">
      <vt:lpstr>1_自定义设计方案</vt:lpstr>
      <vt:lpstr>Equation</vt:lpstr>
      <vt:lpstr>公式</vt:lpstr>
      <vt:lpstr>Graph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fxn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胡柯</dc:creator>
  <cp:lastModifiedBy>Alex</cp:lastModifiedBy>
  <cp:revision>257</cp:revision>
  <dcterms:created xsi:type="dcterms:W3CDTF">2002-04-19T13:42:26Z</dcterms:created>
  <dcterms:modified xsi:type="dcterms:W3CDTF">2018-02-23T02:45:38Z</dcterms:modified>
</cp:coreProperties>
</file>