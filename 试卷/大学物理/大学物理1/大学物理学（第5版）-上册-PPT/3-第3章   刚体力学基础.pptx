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av" ContentType="audio/wav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48"/>
  </p:notesMasterIdLst>
  <p:sldIdLst>
    <p:sldId id="506" r:id="rId2"/>
    <p:sldId id="523" r:id="rId3"/>
    <p:sldId id="526" r:id="rId4"/>
    <p:sldId id="527" r:id="rId5"/>
    <p:sldId id="525" r:id="rId6"/>
    <p:sldId id="437" r:id="rId7"/>
    <p:sldId id="564" r:id="rId8"/>
    <p:sldId id="477" r:id="rId9"/>
    <p:sldId id="531" r:id="rId10"/>
    <p:sldId id="532" r:id="rId11"/>
    <p:sldId id="534" r:id="rId12"/>
    <p:sldId id="540" r:id="rId13"/>
    <p:sldId id="535" r:id="rId14"/>
    <p:sldId id="536" r:id="rId15"/>
    <p:sldId id="538" r:id="rId16"/>
    <p:sldId id="537" r:id="rId17"/>
    <p:sldId id="565" r:id="rId18"/>
    <p:sldId id="566" r:id="rId19"/>
    <p:sldId id="567" r:id="rId20"/>
    <p:sldId id="568" r:id="rId21"/>
    <p:sldId id="541" r:id="rId22"/>
    <p:sldId id="569" r:id="rId23"/>
    <p:sldId id="543" r:id="rId24"/>
    <p:sldId id="570" r:id="rId25"/>
    <p:sldId id="546" r:id="rId26"/>
    <p:sldId id="571" r:id="rId27"/>
    <p:sldId id="574" r:id="rId28"/>
    <p:sldId id="572" r:id="rId29"/>
    <p:sldId id="575" r:id="rId30"/>
    <p:sldId id="442" r:id="rId31"/>
    <p:sldId id="443" r:id="rId32"/>
    <p:sldId id="358" r:id="rId33"/>
    <p:sldId id="359" r:id="rId34"/>
    <p:sldId id="577" r:id="rId35"/>
    <p:sldId id="578" r:id="rId36"/>
    <p:sldId id="579" r:id="rId37"/>
    <p:sldId id="580" r:id="rId38"/>
    <p:sldId id="581" r:id="rId39"/>
    <p:sldId id="582" r:id="rId40"/>
    <p:sldId id="552" r:id="rId41"/>
    <p:sldId id="553" r:id="rId42"/>
    <p:sldId id="554" r:id="rId43"/>
    <p:sldId id="555" r:id="rId44"/>
    <p:sldId id="556" r:id="rId45"/>
    <p:sldId id="558" r:id="rId46"/>
    <p:sldId id="587" r:id="rId47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800000"/>
    <a:srgbClr val="FF6600"/>
    <a:srgbClr val="9933FF"/>
    <a:srgbClr val="6666FF"/>
    <a:srgbClr val="000099"/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33" autoAdjust="0"/>
  </p:normalViewPr>
  <p:slideViewPr>
    <p:cSldViewPr>
      <p:cViewPr>
        <p:scale>
          <a:sx n="100" d="100"/>
          <a:sy n="100" d="100"/>
        </p:scale>
        <p:origin x="-946" y="-22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11" Type="http://schemas.openxmlformats.org/officeDocument/2006/relationships/image" Target="../media/image17.wmf"/><Relationship Id="rId5" Type="http://schemas.openxmlformats.org/officeDocument/2006/relationships/image" Target="../media/image11.wmf"/><Relationship Id="rId10" Type="http://schemas.openxmlformats.org/officeDocument/2006/relationships/image" Target="../media/image16.wmf"/><Relationship Id="rId4" Type="http://schemas.openxmlformats.org/officeDocument/2006/relationships/image" Target="../media/image10.wmf"/><Relationship Id="rId9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image" Target="../media/image30.wmf"/><Relationship Id="rId3" Type="http://schemas.openxmlformats.org/officeDocument/2006/relationships/image" Target="../media/image20.wmf"/><Relationship Id="rId7" Type="http://schemas.openxmlformats.org/officeDocument/2006/relationships/image" Target="../media/image24.wmf"/><Relationship Id="rId12" Type="http://schemas.openxmlformats.org/officeDocument/2006/relationships/image" Target="../media/image29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11" Type="http://schemas.openxmlformats.org/officeDocument/2006/relationships/image" Target="../media/image28.wmf"/><Relationship Id="rId5" Type="http://schemas.openxmlformats.org/officeDocument/2006/relationships/image" Target="../media/image22.wmf"/><Relationship Id="rId10" Type="http://schemas.openxmlformats.org/officeDocument/2006/relationships/image" Target="../media/image27.wmf"/><Relationship Id="rId4" Type="http://schemas.openxmlformats.org/officeDocument/2006/relationships/image" Target="../media/image21.wmf"/><Relationship Id="rId9" Type="http://schemas.openxmlformats.org/officeDocument/2006/relationships/image" Target="../media/image26.wmf"/><Relationship Id="rId14" Type="http://schemas.openxmlformats.org/officeDocument/2006/relationships/image" Target="../media/image31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image" Target="../media/image44.wmf"/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12" Type="http://schemas.openxmlformats.org/officeDocument/2006/relationships/image" Target="../media/image43.wmf"/><Relationship Id="rId17" Type="http://schemas.openxmlformats.org/officeDocument/2006/relationships/image" Target="../media/image48.wmf"/><Relationship Id="rId2" Type="http://schemas.openxmlformats.org/officeDocument/2006/relationships/image" Target="../media/image33.wmf"/><Relationship Id="rId16" Type="http://schemas.openxmlformats.org/officeDocument/2006/relationships/image" Target="../media/image47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11" Type="http://schemas.openxmlformats.org/officeDocument/2006/relationships/image" Target="../media/image42.wmf"/><Relationship Id="rId5" Type="http://schemas.openxmlformats.org/officeDocument/2006/relationships/image" Target="../media/image36.wmf"/><Relationship Id="rId15" Type="http://schemas.openxmlformats.org/officeDocument/2006/relationships/image" Target="../media/image46.wmf"/><Relationship Id="rId10" Type="http://schemas.openxmlformats.org/officeDocument/2006/relationships/image" Target="../media/image41.wmf"/><Relationship Id="rId4" Type="http://schemas.openxmlformats.org/officeDocument/2006/relationships/image" Target="../media/image35.wmf"/><Relationship Id="rId9" Type="http://schemas.openxmlformats.org/officeDocument/2006/relationships/image" Target="../media/image40.wmf"/><Relationship Id="rId14" Type="http://schemas.openxmlformats.org/officeDocument/2006/relationships/image" Target="../media/image45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image" Target="../media/image61.wmf"/><Relationship Id="rId3" Type="http://schemas.openxmlformats.org/officeDocument/2006/relationships/image" Target="../media/image51.wmf"/><Relationship Id="rId7" Type="http://schemas.openxmlformats.org/officeDocument/2006/relationships/image" Target="../media/image55.wmf"/><Relationship Id="rId12" Type="http://schemas.openxmlformats.org/officeDocument/2006/relationships/image" Target="../media/image60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6" Type="http://schemas.openxmlformats.org/officeDocument/2006/relationships/image" Target="../media/image54.wmf"/><Relationship Id="rId11" Type="http://schemas.openxmlformats.org/officeDocument/2006/relationships/image" Target="../media/image59.wmf"/><Relationship Id="rId5" Type="http://schemas.openxmlformats.org/officeDocument/2006/relationships/image" Target="../media/image53.wmf"/><Relationship Id="rId10" Type="http://schemas.openxmlformats.org/officeDocument/2006/relationships/image" Target="../media/image58.wmf"/><Relationship Id="rId4" Type="http://schemas.openxmlformats.org/officeDocument/2006/relationships/image" Target="../media/image52.wmf"/><Relationship Id="rId9" Type="http://schemas.openxmlformats.org/officeDocument/2006/relationships/image" Target="../media/image57.wmf"/><Relationship Id="rId14" Type="http://schemas.openxmlformats.org/officeDocument/2006/relationships/image" Target="../media/image62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70.emf"/><Relationship Id="rId13" Type="http://schemas.openxmlformats.org/officeDocument/2006/relationships/image" Target="../media/image75.wmf"/><Relationship Id="rId3" Type="http://schemas.openxmlformats.org/officeDocument/2006/relationships/image" Target="../media/image65.emf"/><Relationship Id="rId7" Type="http://schemas.openxmlformats.org/officeDocument/2006/relationships/image" Target="../media/image69.emf"/><Relationship Id="rId12" Type="http://schemas.openxmlformats.org/officeDocument/2006/relationships/image" Target="../media/image74.wmf"/><Relationship Id="rId2" Type="http://schemas.openxmlformats.org/officeDocument/2006/relationships/image" Target="../media/image64.emf"/><Relationship Id="rId16" Type="http://schemas.openxmlformats.org/officeDocument/2006/relationships/image" Target="../media/image78.wmf"/><Relationship Id="rId1" Type="http://schemas.openxmlformats.org/officeDocument/2006/relationships/image" Target="../media/image63.emf"/><Relationship Id="rId6" Type="http://schemas.openxmlformats.org/officeDocument/2006/relationships/image" Target="../media/image68.emf"/><Relationship Id="rId11" Type="http://schemas.openxmlformats.org/officeDocument/2006/relationships/image" Target="../media/image73.wmf"/><Relationship Id="rId5" Type="http://schemas.openxmlformats.org/officeDocument/2006/relationships/image" Target="../media/image67.emf"/><Relationship Id="rId15" Type="http://schemas.openxmlformats.org/officeDocument/2006/relationships/image" Target="../media/image77.wmf"/><Relationship Id="rId10" Type="http://schemas.openxmlformats.org/officeDocument/2006/relationships/image" Target="../media/image72.wmf"/><Relationship Id="rId4" Type="http://schemas.openxmlformats.org/officeDocument/2006/relationships/image" Target="../media/image66.emf"/><Relationship Id="rId9" Type="http://schemas.openxmlformats.org/officeDocument/2006/relationships/image" Target="../media/image71.wmf"/><Relationship Id="rId14" Type="http://schemas.openxmlformats.org/officeDocument/2006/relationships/image" Target="../media/image7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emf"/><Relationship Id="rId4" Type="http://schemas.openxmlformats.org/officeDocument/2006/relationships/image" Target="../media/image8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emf"/><Relationship Id="rId2" Type="http://schemas.openxmlformats.org/officeDocument/2006/relationships/image" Target="../media/image91.emf"/><Relationship Id="rId1" Type="http://schemas.openxmlformats.org/officeDocument/2006/relationships/image" Target="../media/image90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emf"/><Relationship Id="rId2" Type="http://schemas.openxmlformats.org/officeDocument/2006/relationships/image" Target="../media/image94.emf"/><Relationship Id="rId1" Type="http://schemas.openxmlformats.org/officeDocument/2006/relationships/image" Target="../media/image93.emf"/><Relationship Id="rId5" Type="http://schemas.openxmlformats.org/officeDocument/2006/relationships/image" Target="../media/image97.emf"/><Relationship Id="rId4" Type="http://schemas.openxmlformats.org/officeDocument/2006/relationships/image" Target="../media/image96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image" Target="../media/image99.emf"/><Relationship Id="rId1" Type="http://schemas.openxmlformats.org/officeDocument/2006/relationships/image" Target="../media/image98.emf"/><Relationship Id="rId4" Type="http://schemas.openxmlformats.org/officeDocument/2006/relationships/image" Target="../media/image101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emf"/><Relationship Id="rId3" Type="http://schemas.openxmlformats.org/officeDocument/2006/relationships/image" Target="../media/image104.emf"/><Relationship Id="rId7" Type="http://schemas.openxmlformats.org/officeDocument/2006/relationships/image" Target="../media/image108.emf"/><Relationship Id="rId2" Type="http://schemas.openxmlformats.org/officeDocument/2006/relationships/image" Target="../media/image103.emf"/><Relationship Id="rId1" Type="http://schemas.openxmlformats.org/officeDocument/2006/relationships/image" Target="../media/image102.emf"/><Relationship Id="rId6" Type="http://schemas.openxmlformats.org/officeDocument/2006/relationships/image" Target="../media/image107.emf"/><Relationship Id="rId5" Type="http://schemas.openxmlformats.org/officeDocument/2006/relationships/image" Target="../media/image106.emf"/><Relationship Id="rId4" Type="http://schemas.openxmlformats.org/officeDocument/2006/relationships/image" Target="../media/image105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2" Type="http://schemas.openxmlformats.org/officeDocument/2006/relationships/image" Target="../media/image111.wmf"/><Relationship Id="rId1" Type="http://schemas.openxmlformats.org/officeDocument/2006/relationships/image" Target="../media/image110.wmf"/><Relationship Id="rId6" Type="http://schemas.openxmlformats.org/officeDocument/2006/relationships/image" Target="../media/image115.wmf"/><Relationship Id="rId5" Type="http://schemas.openxmlformats.org/officeDocument/2006/relationships/image" Target="../media/image114.wmf"/><Relationship Id="rId4" Type="http://schemas.openxmlformats.org/officeDocument/2006/relationships/image" Target="../media/image11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e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Relationship Id="rId4" Type="http://schemas.openxmlformats.org/officeDocument/2006/relationships/image" Target="../media/image119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wmf"/><Relationship Id="rId2" Type="http://schemas.openxmlformats.org/officeDocument/2006/relationships/image" Target="../media/image122.wmf"/><Relationship Id="rId1" Type="http://schemas.openxmlformats.org/officeDocument/2006/relationships/image" Target="../media/image121.wmf"/><Relationship Id="rId5" Type="http://schemas.openxmlformats.org/officeDocument/2006/relationships/image" Target="../media/image125.wmf"/><Relationship Id="rId4" Type="http://schemas.openxmlformats.org/officeDocument/2006/relationships/image" Target="../media/image124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wmf"/><Relationship Id="rId2" Type="http://schemas.openxmlformats.org/officeDocument/2006/relationships/image" Target="../media/image127.wmf"/><Relationship Id="rId1" Type="http://schemas.openxmlformats.org/officeDocument/2006/relationships/image" Target="../media/image126.wmf"/><Relationship Id="rId6" Type="http://schemas.openxmlformats.org/officeDocument/2006/relationships/image" Target="../media/image131.wmf"/><Relationship Id="rId5" Type="http://schemas.openxmlformats.org/officeDocument/2006/relationships/image" Target="../media/image130.wmf"/><Relationship Id="rId4" Type="http://schemas.openxmlformats.org/officeDocument/2006/relationships/image" Target="../media/image129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13" Type="http://schemas.openxmlformats.org/officeDocument/2006/relationships/image" Target="../media/image144.wmf"/><Relationship Id="rId3" Type="http://schemas.openxmlformats.org/officeDocument/2006/relationships/image" Target="../media/image134.wmf"/><Relationship Id="rId7" Type="http://schemas.openxmlformats.org/officeDocument/2006/relationships/image" Target="../media/image138.wmf"/><Relationship Id="rId12" Type="http://schemas.openxmlformats.org/officeDocument/2006/relationships/image" Target="../media/image143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Relationship Id="rId6" Type="http://schemas.openxmlformats.org/officeDocument/2006/relationships/image" Target="../media/image137.wmf"/><Relationship Id="rId11" Type="http://schemas.openxmlformats.org/officeDocument/2006/relationships/image" Target="../media/image142.wmf"/><Relationship Id="rId5" Type="http://schemas.openxmlformats.org/officeDocument/2006/relationships/image" Target="../media/image136.wmf"/><Relationship Id="rId10" Type="http://schemas.openxmlformats.org/officeDocument/2006/relationships/image" Target="../media/image141.wmf"/><Relationship Id="rId4" Type="http://schemas.openxmlformats.org/officeDocument/2006/relationships/image" Target="../media/image135.wmf"/><Relationship Id="rId9" Type="http://schemas.openxmlformats.org/officeDocument/2006/relationships/image" Target="../media/image140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w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Relationship Id="rId5" Type="http://schemas.openxmlformats.org/officeDocument/2006/relationships/image" Target="../media/image149.wmf"/><Relationship Id="rId4" Type="http://schemas.openxmlformats.org/officeDocument/2006/relationships/image" Target="../media/image148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wmf"/><Relationship Id="rId1" Type="http://schemas.openxmlformats.org/officeDocument/2006/relationships/image" Target="../media/image150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wmf"/><Relationship Id="rId13" Type="http://schemas.openxmlformats.org/officeDocument/2006/relationships/image" Target="../media/image164.wmf"/><Relationship Id="rId3" Type="http://schemas.openxmlformats.org/officeDocument/2006/relationships/image" Target="../media/image154.wmf"/><Relationship Id="rId7" Type="http://schemas.openxmlformats.org/officeDocument/2006/relationships/image" Target="../media/image158.wmf"/><Relationship Id="rId12" Type="http://schemas.openxmlformats.org/officeDocument/2006/relationships/image" Target="../media/image163.wmf"/><Relationship Id="rId2" Type="http://schemas.openxmlformats.org/officeDocument/2006/relationships/image" Target="../media/image153.wmf"/><Relationship Id="rId1" Type="http://schemas.openxmlformats.org/officeDocument/2006/relationships/image" Target="../media/image152.wmf"/><Relationship Id="rId6" Type="http://schemas.openxmlformats.org/officeDocument/2006/relationships/image" Target="../media/image157.wmf"/><Relationship Id="rId11" Type="http://schemas.openxmlformats.org/officeDocument/2006/relationships/image" Target="../media/image162.wmf"/><Relationship Id="rId5" Type="http://schemas.openxmlformats.org/officeDocument/2006/relationships/image" Target="../media/image156.wmf"/><Relationship Id="rId10" Type="http://schemas.openxmlformats.org/officeDocument/2006/relationships/image" Target="../media/image161.wmf"/><Relationship Id="rId4" Type="http://schemas.openxmlformats.org/officeDocument/2006/relationships/image" Target="../media/image155.wmf"/><Relationship Id="rId9" Type="http://schemas.openxmlformats.org/officeDocument/2006/relationships/image" Target="../media/image160.wmf"/><Relationship Id="rId14" Type="http://schemas.openxmlformats.org/officeDocument/2006/relationships/image" Target="../media/image165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3" Type="http://schemas.openxmlformats.org/officeDocument/2006/relationships/image" Target="../media/image169.wmf"/><Relationship Id="rId7" Type="http://schemas.openxmlformats.org/officeDocument/2006/relationships/image" Target="../media/image173.wmf"/><Relationship Id="rId2" Type="http://schemas.openxmlformats.org/officeDocument/2006/relationships/image" Target="../media/image168.wmf"/><Relationship Id="rId1" Type="http://schemas.openxmlformats.org/officeDocument/2006/relationships/image" Target="../media/image167.wmf"/><Relationship Id="rId6" Type="http://schemas.openxmlformats.org/officeDocument/2006/relationships/image" Target="../media/image172.wmf"/><Relationship Id="rId5" Type="http://schemas.openxmlformats.org/officeDocument/2006/relationships/image" Target="../media/image171.wmf"/><Relationship Id="rId10" Type="http://schemas.openxmlformats.org/officeDocument/2006/relationships/image" Target="../media/image176.wmf"/><Relationship Id="rId4" Type="http://schemas.openxmlformats.org/officeDocument/2006/relationships/image" Target="../media/image170.wmf"/><Relationship Id="rId9" Type="http://schemas.openxmlformats.org/officeDocument/2006/relationships/image" Target="../media/image175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wmf"/><Relationship Id="rId3" Type="http://schemas.openxmlformats.org/officeDocument/2006/relationships/image" Target="../media/image188.wmf"/><Relationship Id="rId7" Type="http://schemas.openxmlformats.org/officeDocument/2006/relationships/image" Target="../media/image192.wmf"/><Relationship Id="rId12" Type="http://schemas.openxmlformats.org/officeDocument/2006/relationships/image" Target="../media/image197.wmf"/><Relationship Id="rId2" Type="http://schemas.openxmlformats.org/officeDocument/2006/relationships/image" Target="../media/image187.wmf"/><Relationship Id="rId1" Type="http://schemas.openxmlformats.org/officeDocument/2006/relationships/image" Target="../media/image186.wmf"/><Relationship Id="rId6" Type="http://schemas.openxmlformats.org/officeDocument/2006/relationships/image" Target="../media/image191.wmf"/><Relationship Id="rId11" Type="http://schemas.openxmlformats.org/officeDocument/2006/relationships/image" Target="../media/image196.wmf"/><Relationship Id="rId5" Type="http://schemas.openxmlformats.org/officeDocument/2006/relationships/image" Target="../media/image190.wmf"/><Relationship Id="rId10" Type="http://schemas.openxmlformats.org/officeDocument/2006/relationships/image" Target="../media/image195.wmf"/><Relationship Id="rId4" Type="http://schemas.openxmlformats.org/officeDocument/2006/relationships/image" Target="../media/image189.wmf"/><Relationship Id="rId9" Type="http://schemas.openxmlformats.org/officeDocument/2006/relationships/image" Target="../media/image194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wmf"/><Relationship Id="rId3" Type="http://schemas.openxmlformats.org/officeDocument/2006/relationships/image" Target="../media/image200.wmf"/><Relationship Id="rId7" Type="http://schemas.openxmlformats.org/officeDocument/2006/relationships/image" Target="../media/image204.wmf"/><Relationship Id="rId2" Type="http://schemas.openxmlformats.org/officeDocument/2006/relationships/image" Target="../media/image199.wmf"/><Relationship Id="rId1" Type="http://schemas.openxmlformats.org/officeDocument/2006/relationships/image" Target="../media/image198.wmf"/><Relationship Id="rId6" Type="http://schemas.openxmlformats.org/officeDocument/2006/relationships/image" Target="../media/image203.wmf"/><Relationship Id="rId5" Type="http://schemas.openxmlformats.org/officeDocument/2006/relationships/image" Target="../media/image202.wmf"/><Relationship Id="rId4" Type="http://schemas.openxmlformats.org/officeDocument/2006/relationships/image" Target="../media/image201.wmf"/><Relationship Id="rId9" Type="http://schemas.openxmlformats.org/officeDocument/2006/relationships/image" Target="../media/image206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wmf"/><Relationship Id="rId3" Type="http://schemas.openxmlformats.org/officeDocument/2006/relationships/image" Target="../media/image210.wmf"/><Relationship Id="rId7" Type="http://schemas.openxmlformats.org/officeDocument/2006/relationships/image" Target="../media/image214.wmf"/><Relationship Id="rId12" Type="http://schemas.openxmlformats.org/officeDocument/2006/relationships/image" Target="../media/image219.wmf"/><Relationship Id="rId2" Type="http://schemas.openxmlformats.org/officeDocument/2006/relationships/image" Target="../media/image209.wmf"/><Relationship Id="rId1" Type="http://schemas.openxmlformats.org/officeDocument/2006/relationships/image" Target="../media/image208.wmf"/><Relationship Id="rId6" Type="http://schemas.openxmlformats.org/officeDocument/2006/relationships/image" Target="../media/image213.wmf"/><Relationship Id="rId11" Type="http://schemas.openxmlformats.org/officeDocument/2006/relationships/image" Target="../media/image218.wmf"/><Relationship Id="rId5" Type="http://schemas.openxmlformats.org/officeDocument/2006/relationships/image" Target="../media/image212.wmf"/><Relationship Id="rId10" Type="http://schemas.openxmlformats.org/officeDocument/2006/relationships/image" Target="../media/image217.wmf"/><Relationship Id="rId4" Type="http://schemas.openxmlformats.org/officeDocument/2006/relationships/image" Target="../media/image211.wmf"/><Relationship Id="rId9" Type="http://schemas.openxmlformats.org/officeDocument/2006/relationships/image" Target="../media/image216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3" Type="http://schemas.openxmlformats.org/officeDocument/2006/relationships/image" Target="../media/image222.wmf"/><Relationship Id="rId7" Type="http://schemas.openxmlformats.org/officeDocument/2006/relationships/image" Target="../media/image226.wmf"/><Relationship Id="rId2" Type="http://schemas.openxmlformats.org/officeDocument/2006/relationships/image" Target="../media/image221.wmf"/><Relationship Id="rId1" Type="http://schemas.openxmlformats.org/officeDocument/2006/relationships/image" Target="../media/image220.wmf"/><Relationship Id="rId6" Type="http://schemas.openxmlformats.org/officeDocument/2006/relationships/image" Target="../media/image225.wmf"/><Relationship Id="rId5" Type="http://schemas.openxmlformats.org/officeDocument/2006/relationships/image" Target="../media/image224.wmf"/><Relationship Id="rId4" Type="http://schemas.openxmlformats.org/officeDocument/2006/relationships/image" Target="../media/image223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wmf"/><Relationship Id="rId3" Type="http://schemas.openxmlformats.org/officeDocument/2006/relationships/image" Target="../media/image230.wmf"/><Relationship Id="rId7" Type="http://schemas.openxmlformats.org/officeDocument/2006/relationships/image" Target="../media/image234.wmf"/><Relationship Id="rId2" Type="http://schemas.openxmlformats.org/officeDocument/2006/relationships/image" Target="../media/image229.wmf"/><Relationship Id="rId1" Type="http://schemas.openxmlformats.org/officeDocument/2006/relationships/image" Target="../media/image228.wmf"/><Relationship Id="rId6" Type="http://schemas.openxmlformats.org/officeDocument/2006/relationships/image" Target="../media/image233.wmf"/><Relationship Id="rId5" Type="http://schemas.openxmlformats.org/officeDocument/2006/relationships/image" Target="../media/image232.wmf"/><Relationship Id="rId4" Type="http://schemas.openxmlformats.org/officeDocument/2006/relationships/image" Target="../media/image231.wmf"/><Relationship Id="rId9" Type="http://schemas.openxmlformats.org/officeDocument/2006/relationships/image" Target="../media/image236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8.wmf"/><Relationship Id="rId1" Type="http://schemas.openxmlformats.org/officeDocument/2006/relationships/image" Target="../media/image237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wmf"/><Relationship Id="rId2" Type="http://schemas.openxmlformats.org/officeDocument/2006/relationships/image" Target="../media/image240.wmf"/><Relationship Id="rId1" Type="http://schemas.openxmlformats.org/officeDocument/2006/relationships/image" Target="../media/image239.wmf"/><Relationship Id="rId5" Type="http://schemas.openxmlformats.org/officeDocument/2006/relationships/image" Target="../media/image243.wmf"/><Relationship Id="rId4" Type="http://schemas.openxmlformats.org/officeDocument/2006/relationships/image" Target="../media/image242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6.wmf"/><Relationship Id="rId2" Type="http://schemas.openxmlformats.org/officeDocument/2006/relationships/image" Target="../media/image245.wmf"/><Relationship Id="rId1" Type="http://schemas.openxmlformats.org/officeDocument/2006/relationships/image" Target="../media/image244.wmf"/><Relationship Id="rId4" Type="http://schemas.openxmlformats.org/officeDocument/2006/relationships/image" Target="../media/image247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emf"/><Relationship Id="rId2" Type="http://schemas.openxmlformats.org/officeDocument/2006/relationships/image" Target="../media/image249.emf"/><Relationship Id="rId1" Type="http://schemas.openxmlformats.org/officeDocument/2006/relationships/image" Target="../media/image248.wmf"/><Relationship Id="rId6" Type="http://schemas.openxmlformats.org/officeDocument/2006/relationships/image" Target="../media/image253.wmf"/><Relationship Id="rId5" Type="http://schemas.openxmlformats.org/officeDocument/2006/relationships/image" Target="../media/image252.wmf"/><Relationship Id="rId4" Type="http://schemas.openxmlformats.org/officeDocument/2006/relationships/image" Target="../media/image251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4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wmf"/><Relationship Id="rId2" Type="http://schemas.openxmlformats.org/officeDocument/2006/relationships/image" Target="../media/image256.wmf"/><Relationship Id="rId1" Type="http://schemas.openxmlformats.org/officeDocument/2006/relationships/image" Target="../media/image255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3.wmf"/><Relationship Id="rId2" Type="http://schemas.openxmlformats.org/officeDocument/2006/relationships/image" Target="../media/image262.wmf"/><Relationship Id="rId1" Type="http://schemas.openxmlformats.org/officeDocument/2006/relationships/image" Target="../media/image261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wmf"/><Relationship Id="rId3" Type="http://schemas.openxmlformats.org/officeDocument/2006/relationships/image" Target="../media/image275.wmf"/><Relationship Id="rId7" Type="http://schemas.openxmlformats.org/officeDocument/2006/relationships/image" Target="../media/image279.wmf"/><Relationship Id="rId2" Type="http://schemas.openxmlformats.org/officeDocument/2006/relationships/image" Target="../media/image274.wmf"/><Relationship Id="rId1" Type="http://schemas.openxmlformats.org/officeDocument/2006/relationships/image" Target="../media/image273.wmf"/><Relationship Id="rId6" Type="http://schemas.openxmlformats.org/officeDocument/2006/relationships/image" Target="../media/image278.wmf"/><Relationship Id="rId5" Type="http://schemas.openxmlformats.org/officeDocument/2006/relationships/image" Target="../media/image277.wmf"/><Relationship Id="rId4" Type="http://schemas.openxmlformats.org/officeDocument/2006/relationships/image" Target="../media/image276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wmf"/><Relationship Id="rId2" Type="http://schemas.openxmlformats.org/officeDocument/2006/relationships/image" Target="../media/image205.wmf"/><Relationship Id="rId1" Type="http://schemas.openxmlformats.org/officeDocument/2006/relationships/image" Target="../media/image281.wmf"/><Relationship Id="rId6" Type="http://schemas.openxmlformats.org/officeDocument/2006/relationships/image" Target="../media/image285.wmf"/><Relationship Id="rId5" Type="http://schemas.openxmlformats.org/officeDocument/2006/relationships/image" Target="../media/image284.wmf"/><Relationship Id="rId4" Type="http://schemas.openxmlformats.org/officeDocument/2006/relationships/image" Target="../media/image283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8.wmf"/><Relationship Id="rId2" Type="http://schemas.openxmlformats.org/officeDocument/2006/relationships/image" Target="../media/image287.wmf"/><Relationship Id="rId1" Type="http://schemas.openxmlformats.org/officeDocument/2006/relationships/image" Target="../media/image286.wmf"/><Relationship Id="rId4" Type="http://schemas.openxmlformats.org/officeDocument/2006/relationships/image" Target="../media/image289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2.wmf"/><Relationship Id="rId7" Type="http://schemas.openxmlformats.org/officeDocument/2006/relationships/image" Target="../media/image296.wmf"/><Relationship Id="rId2" Type="http://schemas.openxmlformats.org/officeDocument/2006/relationships/image" Target="../media/image291.wmf"/><Relationship Id="rId1" Type="http://schemas.openxmlformats.org/officeDocument/2006/relationships/image" Target="../media/image290.wmf"/><Relationship Id="rId6" Type="http://schemas.openxmlformats.org/officeDocument/2006/relationships/image" Target="../media/image295.wmf"/><Relationship Id="rId5" Type="http://schemas.openxmlformats.org/officeDocument/2006/relationships/image" Target="../media/image294.wmf"/><Relationship Id="rId4" Type="http://schemas.openxmlformats.org/officeDocument/2006/relationships/image" Target="../media/image293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1.wmf"/><Relationship Id="rId3" Type="http://schemas.openxmlformats.org/officeDocument/2006/relationships/image" Target="../media/image297.wmf"/><Relationship Id="rId7" Type="http://schemas.openxmlformats.org/officeDocument/2006/relationships/image" Target="../media/image300.wmf"/><Relationship Id="rId2" Type="http://schemas.openxmlformats.org/officeDocument/2006/relationships/image" Target="../media/image292.wmf"/><Relationship Id="rId1" Type="http://schemas.openxmlformats.org/officeDocument/2006/relationships/image" Target="../media/image291.wmf"/><Relationship Id="rId6" Type="http://schemas.openxmlformats.org/officeDocument/2006/relationships/image" Target="../media/image299.wmf"/><Relationship Id="rId5" Type="http://schemas.openxmlformats.org/officeDocument/2006/relationships/image" Target="../media/image298.wmf"/><Relationship Id="rId4" Type="http://schemas.openxmlformats.org/officeDocument/2006/relationships/image" Target="../media/image293.wmf"/><Relationship Id="rId9" Type="http://schemas.openxmlformats.org/officeDocument/2006/relationships/image" Target="../media/image302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wmf"/><Relationship Id="rId13" Type="http://schemas.openxmlformats.org/officeDocument/2006/relationships/image" Target="../media/image315.wmf"/><Relationship Id="rId3" Type="http://schemas.openxmlformats.org/officeDocument/2006/relationships/image" Target="../media/image305.wmf"/><Relationship Id="rId7" Type="http://schemas.openxmlformats.org/officeDocument/2006/relationships/image" Target="../media/image309.wmf"/><Relationship Id="rId12" Type="http://schemas.openxmlformats.org/officeDocument/2006/relationships/image" Target="../media/image314.wmf"/><Relationship Id="rId2" Type="http://schemas.openxmlformats.org/officeDocument/2006/relationships/image" Target="../media/image304.wmf"/><Relationship Id="rId1" Type="http://schemas.openxmlformats.org/officeDocument/2006/relationships/image" Target="../media/image303.wmf"/><Relationship Id="rId6" Type="http://schemas.openxmlformats.org/officeDocument/2006/relationships/image" Target="../media/image308.wmf"/><Relationship Id="rId11" Type="http://schemas.openxmlformats.org/officeDocument/2006/relationships/image" Target="../media/image313.wmf"/><Relationship Id="rId5" Type="http://schemas.openxmlformats.org/officeDocument/2006/relationships/image" Target="../media/image307.wmf"/><Relationship Id="rId10" Type="http://schemas.openxmlformats.org/officeDocument/2006/relationships/image" Target="../media/image312.wmf"/><Relationship Id="rId4" Type="http://schemas.openxmlformats.org/officeDocument/2006/relationships/image" Target="../media/image306.wmf"/><Relationship Id="rId9" Type="http://schemas.openxmlformats.org/officeDocument/2006/relationships/image" Target="../media/image311.wmf"/><Relationship Id="rId14" Type="http://schemas.openxmlformats.org/officeDocument/2006/relationships/image" Target="../media/image316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4.wmf"/><Relationship Id="rId3" Type="http://schemas.openxmlformats.org/officeDocument/2006/relationships/image" Target="../media/image319.wmf"/><Relationship Id="rId7" Type="http://schemas.openxmlformats.org/officeDocument/2006/relationships/image" Target="../media/image323.wmf"/><Relationship Id="rId2" Type="http://schemas.openxmlformats.org/officeDocument/2006/relationships/image" Target="../media/image318.wmf"/><Relationship Id="rId1" Type="http://schemas.openxmlformats.org/officeDocument/2006/relationships/image" Target="../media/image317.wmf"/><Relationship Id="rId6" Type="http://schemas.openxmlformats.org/officeDocument/2006/relationships/image" Target="../media/image322.wmf"/><Relationship Id="rId11" Type="http://schemas.openxmlformats.org/officeDocument/2006/relationships/image" Target="../media/image327.wmf"/><Relationship Id="rId5" Type="http://schemas.openxmlformats.org/officeDocument/2006/relationships/image" Target="../media/image321.wmf"/><Relationship Id="rId10" Type="http://schemas.openxmlformats.org/officeDocument/2006/relationships/image" Target="../media/image326.wmf"/><Relationship Id="rId4" Type="http://schemas.openxmlformats.org/officeDocument/2006/relationships/image" Target="../media/image320.wmf"/><Relationship Id="rId9" Type="http://schemas.openxmlformats.org/officeDocument/2006/relationships/image" Target="../media/image32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6324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fld id="{A1E8375E-C204-4E82-BB84-48B050D13F4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39972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 userDrawn="1"/>
        </p:nvSpPr>
        <p:spPr bwMode="auto">
          <a:xfrm>
            <a:off x="6084888" y="261938"/>
            <a:ext cx="28892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buFont typeface="Arial" pitchFamily="34" charset="0"/>
              <a:buNone/>
              <a:defRPr/>
            </a:pPr>
            <a:r>
              <a:rPr lang="zh-CN" altLang="en-US" sz="2400" dirty="0" smtClean="0">
                <a:solidFill>
                  <a:prstClr val="white"/>
                </a:solidFill>
              </a:rPr>
              <a:t>第</a:t>
            </a:r>
            <a:r>
              <a:rPr lang="en-US" altLang="zh-CN" sz="2400" dirty="0" smtClean="0">
                <a:solidFill>
                  <a:prstClr val="white"/>
                </a:solidFill>
              </a:rPr>
              <a:t>3</a:t>
            </a:r>
            <a:r>
              <a:rPr lang="zh-CN" altLang="en-US" sz="2400" dirty="0" smtClean="0">
                <a:solidFill>
                  <a:prstClr val="white"/>
                </a:solidFill>
              </a:rPr>
              <a:t>章 刚体力学基础</a:t>
            </a:r>
            <a:endParaRPr lang="zh-CN" alt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569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/>
          <p:cNvSpPr>
            <a:spLocks noChangeArrowheads="1"/>
          </p:cNvSpPr>
          <p:nvPr userDrawn="1"/>
        </p:nvSpPr>
        <p:spPr bwMode="auto">
          <a:xfrm>
            <a:off x="5219700" y="268288"/>
            <a:ext cx="3779838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000">
                <a:solidFill>
                  <a:srgbClr val="FFFFFF"/>
                </a:solidFill>
                <a:ea typeface="华文中宋" pitchFamily="2" charset="-122"/>
                <a:cs typeface="Times New Roman" pitchFamily="18" charset="0"/>
              </a:rPr>
              <a:t>§3-1</a:t>
            </a:r>
            <a:r>
              <a:rPr lang="zh-CN" altLang="en-US" sz="2000">
                <a:solidFill>
                  <a:srgbClr val="FFFFFF"/>
                </a:solidFill>
                <a:ea typeface="华文中宋" pitchFamily="2" charset="-122"/>
                <a:cs typeface="Times New Roman" pitchFamily="18" charset="0"/>
              </a:rPr>
              <a:t>刚体  刚体定轴转动的描述</a:t>
            </a:r>
          </a:p>
        </p:txBody>
      </p:sp>
    </p:spTree>
    <p:extLst>
      <p:ext uri="{BB962C8B-B14F-4D97-AF65-F5344CB8AC3E}">
        <p14:creationId xmlns:p14="http://schemas.microsoft.com/office/powerpoint/2010/main" val="2615599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/>
          <p:cNvSpPr>
            <a:spLocks noChangeArrowheads="1"/>
          </p:cNvSpPr>
          <p:nvPr userDrawn="1"/>
        </p:nvSpPr>
        <p:spPr bwMode="auto">
          <a:xfrm>
            <a:off x="4787900" y="320675"/>
            <a:ext cx="424815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000">
                <a:solidFill>
                  <a:srgbClr val="FFFFFF"/>
                </a:solidFill>
                <a:ea typeface="华文中宋" pitchFamily="2" charset="-122"/>
                <a:cs typeface="Times New Roman" pitchFamily="18" charset="0"/>
              </a:rPr>
              <a:t>§3-2</a:t>
            </a:r>
            <a:r>
              <a:rPr lang="zh-CN" altLang="en-US" sz="2000">
                <a:solidFill>
                  <a:srgbClr val="FFFFFF"/>
                </a:solidFill>
                <a:ea typeface="华文中宋" pitchFamily="2" charset="-122"/>
                <a:cs typeface="Times New Roman" pitchFamily="18" charset="0"/>
              </a:rPr>
              <a:t>力矩  刚体定轴转动的转动定律</a:t>
            </a:r>
          </a:p>
        </p:txBody>
      </p:sp>
    </p:spTree>
    <p:extLst>
      <p:ext uri="{BB962C8B-B14F-4D97-AF65-F5344CB8AC3E}">
        <p14:creationId xmlns:p14="http://schemas.microsoft.com/office/powerpoint/2010/main" val="3496796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/>
          <p:cNvSpPr>
            <a:spLocks noChangeArrowheads="1"/>
          </p:cNvSpPr>
          <p:nvPr userDrawn="1"/>
        </p:nvSpPr>
        <p:spPr bwMode="auto">
          <a:xfrm>
            <a:off x="5435600" y="339725"/>
            <a:ext cx="3673475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000">
                <a:solidFill>
                  <a:srgbClr val="FFFFFF"/>
                </a:solidFill>
                <a:ea typeface="华文中宋" pitchFamily="2" charset="-122"/>
                <a:cs typeface="Times New Roman" pitchFamily="18" charset="0"/>
              </a:rPr>
              <a:t>§3-3 </a:t>
            </a:r>
            <a:r>
              <a:rPr lang="zh-CN" altLang="en-US" sz="2000">
                <a:solidFill>
                  <a:srgbClr val="FFFFFF"/>
                </a:solidFill>
                <a:ea typeface="华文中宋" pitchFamily="2" charset="-122"/>
                <a:cs typeface="Times New Roman" pitchFamily="18" charset="0"/>
              </a:rPr>
              <a:t>刚体定轴转动的动能定理</a:t>
            </a:r>
          </a:p>
        </p:txBody>
      </p:sp>
    </p:spTree>
    <p:extLst>
      <p:ext uri="{BB962C8B-B14F-4D97-AF65-F5344CB8AC3E}">
        <p14:creationId xmlns:p14="http://schemas.microsoft.com/office/powerpoint/2010/main" val="3051544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/>
          <p:cNvSpPr>
            <a:spLocks noChangeArrowheads="1"/>
          </p:cNvSpPr>
          <p:nvPr userDrawn="1"/>
        </p:nvSpPr>
        <p:spPr bwMode="auto">
          <a:xfrm>
            <a:off x="4859338" y="325438"/>
            <a:ext cx="4178300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000">
                <a:solidFill>
                  <a:srgbClr val="FFFFFF"/>
                </a:solidFill>
                <a:ea typeface="华文中宋" pitchFamily="2" charset="-122"/>
                <a:cs typeface="Times New Roman" pitchFamily="18" charset="0"/>
              </a:rPr>
              <a:t>§3-4 </a:t>
            </a:r>
            <a:r>
              <a:rPr lang="zh-CN" altLang="en-US" sz="2000">
                <a:solidFill>
                  <a:srgbClr val="FFFFFF"/>
                </a:solidFill>
                <a:ea typeface="华文中宋" pitchFamily="2" charset="-122"/>
                <a:cs typeface="Times New Roman" pitchFamily="18" charset="0"/>
              </a:rPr>
              <a:t>角动量定理和角动量守恒定律</a:t>
            </a:r>
          </a:p>
        </p:txBody>
      </p:sp>
    </p:spTree>
    <p:extLst>
      <p:ext uri="{BB962C8B-B14F-4D97-AF65-F5344CB8AC3E}">
        <p14:creationId xmlns:p14="http://schemas.microsoft.com/office/powerpoint/2010/main" val="3355504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/>
          <p:cNvSpPr>
            <a:spLocks noChangeArrowheads="1"/>
          </p:cNvSpPr>
          <p:nvPr userDrawn="1"/>
        </p:nvSpPr>
        <p:spPr bwMode="auto">
          <a:xfrm>
            <a:off x="7812088" y="325438"/>
            <a:ext cx="1223962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sz="2000">
                <a:solidFill>
                  <a:srgbClr val="FFFFFF"/>
                </a:solidFill>
                <a:ea typeface="华文中宋" pitchFamily="2" charset="-122"/>
                <a:cs typeface="Times New Roman" pitchFamily="18" charset="0"/>
              </a:rPr>
              <a:t>本章小结</a:t>
            </a:r>
          </a:p>
        </p:txBody>
      </p:sp>
    </p:spTree>
    <p:extLst>
      <p:ext uri="{BB962C8B-B14F-4D97-AF65-F5344CB8AC3E}">
        <p14:creationId xmlns:p14="http://schemas.microsoft.com/office/powerpoint/2010/main" val="533627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9919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119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05979"/>
            <a:ext cx="8229600" cy="43886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432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83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00150"/>
            <a:ext cx="4038600" cy="16394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200150"/>
            <a:ext cx="4038600" cy="16394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2953942"/>
            <a:ext cx="4038600" cy="16406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2953942"/>
            <a:ext cx="4038600" cy="16406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8959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26737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4443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2561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134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hyperlink" Target="0-0-&#24635;&#30446;&#24405;.pptx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58A289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-11113" y="-30163"/>
            <a:ext cx="9164638" cy="881063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Arial" pitchFamily="34" charset="0"/>
              <a:buNone/>
              <a:defRPr/>
            </a:pPr>
            <a:endParaRPr lang="zh-CN" altLang="en-US" sz="2800" b="0" noProof="1">
              <a:solidFill>
                <a:prstClr val="white"/>
              </a:solidFill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42875" y="771525"/>
            <a:ext cx="8856663" cy="0"/>
          </a:xfrm>
          <a:prstGeom prst="line">
            <a:avLst/>
          </a:prstGeom>
          <a:ln w="31750">
            <a:solidFill>
              <a:schemeClr val="bg1">
                <a:alpha val="2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图片 10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25" y="85725"/>
            <a:ext cx="525463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TextBox 11"/>
          <p:cNvSpPr txBox="1">
            <a:spLocks noChangeArrowheads="1"/>
          </p:cNvSpPr>
          <p:nvPr userDrawn="1"/>
        </p:nvSpPr>
        <p:spPr bwMode="auto">
          <a:xfrm>
            <a:off x="1246188" y="411163"/>
            <a:ext cx="23796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buFont typeface="Arial" pitchFamily="34" charset="0"/>
              <a:buNone/>
              <a:defRPr/>
            </a:pPr>
            <a:r>
              <a:rPr lang="zh-CN" altLang="en-US" sz="1800" b="0" dirty="0" smtClean="0">
                <a:solidFill>
                  <a:prstClr val="white"/>
                </a:solidFill>
                <a:latin typeface="Calibri" pitchFamily="34" charset="0"/>
              </a:rPr>
              <a:t>大学物理学（第</a:t>
            </a:r>
            <a:r>
              <a:rPr lang="en-US" altLang="zh-CN" sz="1800" b="0" dirty="0" smtClean="0">
                <a:solidFill>
                  <a:prstClr val="white"/>
                </a:solidFill>
                <a:latin typeface="Calibri" pitchFamily="34" charset="0"/>
              </a:rPr>
              <a:t>5</a:t>
            </a:r>
            <a:r>
              <a:rPr lang="zh-CN" altLang="en-US" sz="1800" b="0" dirty="0" smtClean="0">
                <a:solidFill>
                  <a:prstClr val="white"/>
                </a:solidFill>
                <a:latin typeface="Calibri" pitchFamily="34" charset="0"/>
              </a:rPr>
              <a:t>版）</a:t>
            </a:r>
            <a:endParaRPr lang="zh-CN" altLang="en-US" sz="1800" b="0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1030" name="TextBox 12"/>
          <p:cNvSpPr txBox="1">
            <a:spLocks noChangeArrowheads="1"/>
          </p:cNvSpPr>
          <p:nvPr userDrawn="1"/>
        </p:nvSpPr>
        <p:spPr bwMode="auto">
          <a:xfrm>
            <a:off x="827088" y="134938"/>
            <a:ext cx="3775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buFont typeface="Arial" pitchFamily="34" charset="0"/>
              <a:buNone/>
              <a:defRPr/>
            </a:pPr>
            <a:r>
              <a:rPr lang="zh-CN" altLang="en-US" sz="1400" b="0" dirty="0">
                <a:solidFill>
                  <a:prstClr val="white"/>
                </a:solidFill>
                <a:latin typeface="华文楷体" pitchFamily="2" charset="-122"/>
                <a:ea typeface="华文楷体" pitchFamily="2" charset="-122"/>
              </a:rPr>
              <a:t>“十二五”普通高等教育本科国家级规划教材</a:t>
            </a:r>
          </a:p>
        </p:txBody>
      </p:sp>
      <p:sp>
        <p:nvSpPr>
          <p:cNvPr id="2" name="矩形 1"/>
          <p:cNvSpPr/>
          <p:nvPr userDrawn="1"/>
        </p:nvSpPr>
        <p:spPr>
          <a:xfrm>
            <a:off x="9525" y="850900"/>
            <a:ext cx="9123363" cy="3743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Arial" pitchFamily="34" charset="0"/>
              <a:buNone/>
              <a:defRPr/>
            </a:pPr>
            <a:endParaRPr lang="zh-CN" altLang="en-US" sz="2800" b="0" noProof="1">
              <a:solidFill>
                <a:prstClr val="white"/>
              </a:solidFill>
            </a:endParaRPr>
          </a:p>
        </p:txBody>
      </p:sp>
      <p:sp>
        <p:nvSpPr>
          <p:cNvPr id="28" name="矩形 27">
            <a:hlinkClick r:id="" action="ppaction://hlinkshowjump?jump=previousslide"/>
          </p:cNvPr>
          <p:cNvSpPr/>
          <p:nvPr userDrawn="1"/>
        </p:nvSpPr>
        <p:spPr>
          <a:xfrm>
            <a:off x="7532688" y="4732338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300" b="0" dirty="0">
              <a:solidFill>
                <a:prstClr val="white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29" name="矩形 28">
            <a:hlinkClick r:id="" action="ppaction://hlinkshowjump?jump=nextslide"/>
          </p:cNvPr>
          <p:cNvSpPr/>
          <p:nvPr userDrawn="1"/>
        </p:nvSpPr>
        <p:spPr>
          <a:xfrm>
            <a:off x="8324850" y="4730750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300" b="0" dirty="0">
              <a:solidFill>
                <a:prstClr val="white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30" name="矩形 29">
            <a:hlinkClick r:id="" action="ppaction://hlinkshowjump?jump=firstslide"/>
          </p:cNvPr>
          <p:cNvSpPr/>
          <p:nvPr userDrawn="1"/>
        </p:nvSpPr>
        <p:spPr>
          <a:xfrm>
            <a:off x="6740525" y="4732338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300" b="0" dirty="0">
              <a:solidFill>
                <a:prstClr val="white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035" name="矩形 16">
            <a:hlinkClick r:id="" action="ppaction://hlinkshowjump?jump=nextslide"/>
          </p:cNvPr>
          <p:cNvSpPr>
            <a:spLocks noChangeArrowheads="1"/>
          </p:cNvSpPr>
          <p:nvPr userDrawn="1"/>
        </p:nvSpPr>
        <p:spPr bwMode="auto">
          <a:xfrm>
            <a:off x="8361363" y="4732338"/>
            <a:ext cx="68421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300" b="0">
                <a:solidFill>
                  <a:srgbClr val="FFFFFF"/>
                </a:solidFill>
                <a:latin typeface="方正舒体" pitchFamily="2" charset="-122"/>
                <a:ea typeface="方正舒体" pitchFamily="2" charset="-122"/>
              </a:rPr>
              <a:t>下一页</a:t>
            </a:r>
          </a:p>
        </p:txBody>
      </p:sp>
      <p:sp>
        <p:nvSpPr>
          <p:cNvPr id="1036" name="矩形 30">
            <a:hlinkClick r:id="" action="ppaction://hlinkshowjump?jump=previousslide"/>
          </p:cNvPr>
          <p:cNvSpPr>
            <a:spLocks noChangeArrowheads="1"/>
          </p:cNvSpPr>
          <p:nvPr userDrawn="1"/>
        </p:nvSpPr>
        <p:spPr bwMode="auto">
          <a:xfrm>
            <a:off x="7539038" y="4732338"/>
            <a:ext cx="68421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300" b="0">
                <a:solidFill>
                  <a:srgbClr val="FFFFFF"/>
                </a:solidFill>
                <a:latin typeface="方正舒体" pitchFamily="2" charset="-122"/>
                <a:ea typeface="方正舒体" pitchFamily="2" charset="-122"/>
              </a:rPr>
              <a:t>上一页</a:t>
            </a:r>
          </a:p>
        </p:txBody>
      </p:sp>
      <p:sp>
        <p:nvSpPr>
          <p:cNvPr id="1037" name="矩形 1024">
            <a:hlinkClick r:id="" action="ppaction://hlinkshowjump?jump=firstslide"/>
          </p:cNvPr>
          <p:cNvSpPr>
            <a:spLocks noChangeArrowheads="1"/>
          </p:cNvSpPr>
          <p:nvPr userDrawn="1"/>
        </p:nvSpPr>
        <p:spPr bwMode="auto">
          <a:xfrm>
            <a:off x="6767513" y="4727575"/>
            <a:ext cx="68421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300" b="0">
                <a:solidFill>
                  <a:srgbClr val="FFFFFF"/>
                </a:solidFill>
                <a:latin typeface="方正舒体" pitchFamily="2" charset="-122"/>
                <a:ea typeface="方正舒体" pitchFamily="2" charset="-122"/>
              </a:rPr>
              <a:t>节目录</a:t>
            </a:r>
          </a:p>
        </p:txBody>
      </p:sp>
      <p:sp>
        <p:nvSpPr>
          <p:cNvPr id="38" name="矩形 37">
            <a:hlinkClick r:id="rId18" action="ppaction://hlinkpres?slideindex=1&amp;slidetitle="/>
          </p:cNvPr>
          <p:cNvSpPr/>
          <p:nvPr userDrawn="1"/>
        </p:nvSpPr>
        <p:spPr>
          <a:xfrm>
            <a:off x="5938838" y="4730750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300" b="0" dirty="0">
              <a:solidFill>
                <a:prstClr val="white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039" name="矩形 36">
            <a:hlinkClick r:id="rId18" action="ppaction://hlinkpres?slideindex=1&amp;slidetitle="/>
          </p:cNvPr>
          <p:cNvSpPr>
            <a:spLocks noChangeArrowheads="1"/>
          </p:cNvSpPr>
          <p:nvPr userDrawn="1"/>
        </p:nvSpPr>
        <p:spPr bwMode="auto">
          <a:xfrm>
            <a:off x="5938838" y="4732338"/>
            <a:ext cx="6858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300" b="0" dirty="0">
                <a:solidFill>
                  <a:srgbClr val="FFFFFF"/>
                </a:solidFill>
                <a:latin typeface="方正舒体" pitchFamily="2" charset="-122"/>
                <a:ea typeface="方正舒体" pitchFamily="2" charset="-122"/>
              </a:rPr>
              <a:t>章目录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gif"/><Relationship Id="rId3" Type="http://schemas.openxmlformats.org/officeDocument/2006/relationships/audio" Target="../media/audio1.wav"/><Relationship Id="rId7" Type="http://schemas.openxmlformats.org/officeDocument/2006/relationships/slide" Target="slide2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1.xml"/><Relationship Id="rId5" Type="http://schemas.openxmlformats.org/officeDocument/2006/relationships/audio" Target="../media/audio2.wav"/><Relationship Id="rId4" Type="http://schemas.openxmlformats.org/officeDocument/2006/relationships/slide" Target="slide6.xml"/><Relationship Id="rId9" Type="http://schemas.openxmlformats.org/officeDocument/2006/relationships/slide" Target="slide4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4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.wmf"/><Relationship Id="rId20" Type="http://schemas.openxmlformats.org/officeDocument/2006/relationships/image" Target="../media/image15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7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10" Type="http://schemas.openxmlformats.org/officeDocument/2006/relationships/image" Target="../media/image10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7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2.wmf"/><Relationship Id="rId22" Type="http://schemas.openxmlformats.org/officeDocument/2006/relationships/image" Target="../media/image16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17.bin"/><Relationship Id="rId18" Type="http://schemas.openxmlformats.org/officeDocument/2006/relationships/image" Target="../media/image25.wmf"/><Relationship Id="rId26" Type="http://schemas.openxmlformats.org/officeDocument/2006/relationships/image" Target="../media/image29.wmf"/><Relationship Id="rId3" Type="http://schemas.openxmlformats.org/officeDocument/2006/relationships/oleObject" Target="../embeddings/oleObject12.bin"/><Relationship Id="rId21" Type="http://schemas.openxmlformats.org/officeDocument/2006/relationships/oleObject" Target="../embeddings/oleObject21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22.wmf"/><Relationship Id="rId17" Type="http://schemas.openxmlformats.org/officeDocument/2006/relationships/oleObject" Target="../embeddings/oleObject19.bin"/><Relationship Id="rId25" Type="http://schemas.openxmlformats.org/officeDocument/2006/relationships/oleObject" Target="../embeddings/oleObject23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24.wmf"/><Relationship Id="rId20" Type="http://schemas.openxmlformats.org/officeDocument/2006/relationships/image" Target="../media/image26.wmf"/><Relationship Id="rId29" Type="http://schemas.openxmlformats.org/officeDocument/2006/relationships/oleObject" Target="../embeddings/oleObject25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16.bin"/><Relationship Id="rId24" Type="http://schemas.openxmlformats.org/officeDocument/2006/relationships/image" Target="../media/image28.wmf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8.bin"/><Relationship Id="rId23" Type="http://schemas.openxmlformats.org/officeDocument/2006/relationships/oleObject" Target="../embeddings/oleObject22.bin"/><Relationship Id="rId28" Type="http://schemas.openxmlformats.org/officeDocument/2006/relationships/image" Target="../media/image30.wmf"/><Relationship Id="rId10" Type="http://schemas.openxmlformats.org/officeDocument/2006/relationships/image" Target="../media/image21.wmf"/><Relationship Id="rId19" Type="http://schemas.openxmlformats.org/officeDocument/2006/relationships/oleObject" Target="../embeddings/oleObject20.bin"/><Relationship Id="rId4" Type="http://schemas.openxmlformats.org/officeDocument/2006/relationships/image" Target="../media/image18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23.wmf"/><Relationship Id="rId22" Type="http://schemas.openxmlformats.org/officeDocument/2006/relationships/image" Target="../media/image27.wmf"/><Relationship Id="rId27" Type="http://schemas.openxmlformats.org/officeDocument/2006/relationships/oleObject" Target="../embeddings/oleObject24.bin"/><Relationship Id="rId30" Type="http://schemas.openxmlformats.org/officeDocument/2006/relationships/image" Target="../media/image31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36.wmf"/><Relationship Id="rId18" Type="http://schemas.openxmlformats.org/officeDocument/2006/relationships/oleObject" Target="../embeddings/oleObject33.bin"/><Relationship Id="rId26" Type="http://schemas.openxmlformats.org/officeDocument/2006/relationships/oleObject" Target="../embeddings/oleObject37.bin"/><Relationship Id="rId3" Type="http://schemas.openxmlformats.org/officeDocument/2006/relationships/audio" Target="../media/audio3.wav"/><Relationship Id="rId21" Type="http://schemas.openxmlformats.org/officeDocument/2006/relationships/image" Target="../media/image40.wmf"/><Relationship Id="rId34" Type="http://schemas.openxmlformats.org/officeDocument/2006/relationships/oleObject" Target="../embeddings/oleObject41.bin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30.bin"/><Relationship Id="rId17" Type="http://schemas.openxmlformats.org/officeDocument/2006/relationships/image" Target="../media/image38.wmf"/><Relationship Id="rId25" Type="http://schemas.openxmlformats.org/officeDocument/2006/relationships/image" Target="../media/image42.wmf"/><Relationship Id="rId33" Type="http://schemas.openxmlformats.org/officeDocument/2006/relationships/image" Target="../media/image46.wmf"/><Relationship Id="rId2" Type="http://schemas.openxmlformats.org/officeDocument/2006/relationships/slideLayout" Target="../slideLayouts/slideLayout3.xml"/><Relationship Id="rId16" Type="http://schemas.openxmlformats.org/officeDocument/2006/relationships/oleObject" Target="../embeddings/oleObject32.bin"/><Relationship Id="rId20" Type="http://schemas.openxmlformats.org/officeDocument/2006/relationships/oleObject" Target="../embeddings/oleObject34.bin"/><Relationship Id="rId29" Type="http://schemas.openxmlformats.org/officeDocument/2006/relationships/image" Target="../media/image44.w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35.wmf"/><Relationship Id="rId24" Type="http://schemas.openxmlformats.org/officeDocument/2006/relationships/oleObject" Target="../embeddings/oleObject36.bin"/><Relationship Id="rId32" Type="http://schemas.openxmlformats.org/officeDocument/2006/relationships/oleObject" Target="../embeddings/oleObject40.bin"/><Relationship Id="rId37" Type="http://schemas.openxmlformats.org/officeDocument/2006/relationships/image" Target="../media/image48.wmf"/><Relationship Id="rId5" Type="http://schemas.openxmlformats.org/officeDocument/2006/relationships/image" Target="../media/image32.wmf"/><Relationship Id="rId15" Type="http://schemas.openxmlformats.org/officeDocument/2006/relationships/image" Target="../media/image37.wmf"/><Relationship Id="rId23" Type="http://schemas.openxmlformats.org/officeDocument/2006/relationships/image" Target="../media/image41.wmf"/><Relationship Id="rId28" Type="http://schemas.openxmlformats.org/officeDocument/2006/relationships/oleObject" Target="../embeddings/oleObject38.bin"/><Relationship Id="rId36" Type="http://schemas.openxmlformats.org/officeDocument/2006/relationships/oleObject" Target="../embeddings/oleObject42.bin"/><Relationship Id="rId10" Type="http://schemas.openxmlformats.org/officeDocument/2006/relationships/oleObject" Target="../embeddings/oleObject29.bin"/><Relationship Id="rId19" Type="http://schemas.openxmlformats.org/officeDocument/2006/relationships/image" Target="../media/image39.wmf"/><Relationship Id="rId31" Type="http://schemas.openxmlformats.org/officeDocument/2006/relationships/image" Target="../media/image45.wmf"/><Relationship Id="rId4" Type="http://schemas.openxmlformats.org/officeDocument/2006/relationships/oleObject" Target="../embeddings/oleObject26.bin"/><Relationship Id="rId9" Type="http://schemas.openxmlformats.org/officeDocument/2006/relationships/image" Target="../media/image34.wmf"/><Relationship Id="rId14" Type="http://schemas.openxmlformats.org/officeDocument/2006/relationships/oleObject" Target="../embeddings/oleObject31.bin"/><Relationship Id="rId22" Type="http://schemas.openxmlformats.org/officeDocument/2006/relationships/oleObject" Target="../embeddings/oleObject35.bin"/><Relationship Id="rId27" Type="http://schemas.openxmlformats.org/officeDocument/2006/relationships/image" Target="../media/image43.wmf"/><Relationship Id="rId30" Type="http://schemas.openxmlformats.org/officeDocument/2006/relationships/oleObject" Target="../embeddings/oleObject39.bin"/><Relationship Id="rId35" Type="http://schemas.openxmlformats.org/officeDocument/2006/relationships/image" Target="../media/image4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oleObject" Target="../embeddings/oleObject48.bin"/><Relationship Id="rId18" Type="http://schemas.openxmlformats.org/officeDocument/2006/relationships/image" Target="../media/image56.wmf"/><Relationship Id="rId26" Type="http://schemas.openxmlformats.org/officeDocument/2006/relationships/image" Target="../media/image60.wmf"/><Relationship Id="rId3" Type="http://schemas.openxmlformats.org/officeDocument/2006/relationships/oleObject" Target="../embeddings/oleObject43.bin"/><Relationship Id="rId21" Type="http://schemas.openxmlformats.org/officeDocument/2006/relationships/oleObject" Target="../embeddings/oleObject52.bin"/><Relationship Id="rId34" Type="http://schemas.openxmlformats.org/officeDocument/2006/relationships/oleObject" Target="../embeddings/oleObject60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53.wmf"/><Relationship Id="rId17" Type="http://schemas.openxmlformats.org/officeDocument/2006/relationships/oleObject" Target="../embeddings/oleObject50.bin"/><Relationship Id="rId25" Type="http://schemas.openxmlformats.org/officeDocument/2006/relationships/oleObject" Target="../embeddings/oleObject54.bin"/><Relationship Id="rId33" Type="http://schemas.openxmlformats.org/officeDocument/2006/relationships/oleObject" Target="../embeddings/oleObject59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55.wmf"/><Relationship Id="rId20" Type="http://schemas.openxmlformats.org/officeDocument/2006/relationships/image" Target="../media/image57.wmf"/><Relationship Id="rId29" Type="http://schemas.openxmlformats.org/officeDocument/2006/relationships/oleObject" Target="../embeddings/oleObject56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47.bin"/><Relationship Id="rId24" Type="http://schemas.openxmlformats.org/officeDocument/2006/relationships/image" Target="../media/image59.wmf"/><Relationship Id="rId32" Type="http://schemas.openxmlformats.org/officeDocument/2006/relationships/oleObject" Target="../embeddings/oleObject58.bin"/><Relationship Id="rId5" Type="http://schemas.openxmlformats.org/officeDocument/2006/relationships/oleObject" Target="../embeddings/oleObject44.bin"/><Relationship Id="rId15" Type="http://schemas.openxmlformats.org/officeDocument/2006/relationships/oleObject" Target="../embeddings/oleObject49.bin"/><Relationship Id="rId23" Type="http://schemas.openxmlformats.org/officeDocument/2006/relationships/oleObject" Target="../embeddings/oleObject53.bin"/><Relationship Id="rId28" Type="http://schemas.openxmlformats.org/officeDocument/2006/relationships/image" Target="../media/image61.wmf"/><Relationship Id="rId10" Type="http://schemas.openxmlformats.org/officeDocument/2006/relationships/image" Target="../media/image52.wmf"/><Relationship Id="rId19" Type="http://schemas.openxmlformats.org/officeDocument/2006/relationships/oleObject" Target="../embeddings/oleObject51.bin"/><Relationship Id="rId31" Type="http://schemas.openxmlformats.org/officeDocument/2006/relationships/oleObject" Target="../embeddings/oleObject57.bin"/><Relationship Id="rId4" Type="http://schemas.openxmlformats.org/officeDocument/2006/relationships/image" Target="../media/image49.w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54.wmf"/><Relationship Id="rId22" Type="http://schemas.openxmlformats.org/officeDocument/2006/relationships/image" Target="../media/image58.wmf"/><Relationship Id="rId27" Type="http://schemas.openxmlformats.org/officeDocument/2006/relationships/oleObject" Target="../embeddings/oleObject55.bin"/><Relationship Id="rId30" Type="http://schemas.openxmlformats.org/officeDocument/2006/relationships/image" Target="../media/image62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13" Type="http://schemas.openxmlformats.org/officeDocument/2006/relationships/oleObject" Target="../embeddings/oleObject66.bin"/><Relationship Id="rId18" Type="http://schemas.openxmlformats.org/officeDocument/2006/relationships/image" Target="../media/image70.emf"/><Relationship Id="rId26" Type="http://schemas.openxmlformats.org/officeDocument/2006/relationships/oleObject" Target="../embeddings/oleObject72.bin"/><Relationship Id="rId3" Type="http://schemas.openxmlformats.org/officeDocument/2006/relationships/oleObject" Target="../embeddings/oleObject61.bin"/><Relationship Id="rId21" Type="http://schemas.openxmlformats.org/officeDocument/2006/relationships/image" Target="../media/image71.wmf"/><Relationship Id="rId34" Type="http://schemas.openxmlformats.org/officeDocument/2006/relationships/oleObject" Target="../embeddings/oleObject76.bin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67.emf"/><Relationship Id="rId17" Type="http://schemas.openxmlformats.org/officeDocument/2006/relationships/oleObject" Target="../embeddings/oleObject68.bin"/><Relationship Id="rId25" Type="http://schemas.openxmlformats.org/officeDocument/2006/relationships/image" Target="../media/image73.wmf"/><Relationship Id="rId33" Type="http://schemas.openxmlformats.org/officeDocument/2006/relationships/image" Target="../media/image77.w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69.emf"/><Relationship Id="rId20" Type="http://schemas.openxmlformats.org/officeDocument/2006/relationships/oleObject" Target="../embeddings/oleObject69.bin"/><Relationship Id="rId29" Type="http://schemas.openxmlformats.org/officeDocument/2006/relationships/image" Target="../media/image75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64.emf"/><Relationship Id="rId11" Type="http://schemas.openxmlformats.org/officeDocument/2006/relationships/oleObject" Target="../embeddings/oleObject65.bin"/><Relationship Id="rId24" Type="http://schemas.openxmlformats.org/officeDocument/2006/relationships/oleObject" Target="../embeddings/oleObject71.bin"/><Relationship Id="rId32" Type="http://schemas.openxmlformats.org/officeDocument/2006/relationships/oleObject" Target="../embeddings/oleObject75.bin"/><Relationship Id="rId5" Type="http://schemas.openxmlformats.org/officeDocument/2006/relationships/oleObject" Target="../embeddings/oleObject62.bin"/><Relationship Id="rId15" Type="http://schemas.openxmlformats.org/officeDocument/2006/relationships/oleObject" Target="../embeddings/oleObject67.bin"/><Relationship Id="rId23" Type="http://schemas.openxmlformats.org/officeDocument/2006/relationships/image" Target="../media/image72.wmf"/><Relationship Id="rId28" Type="http://schemas.openxmlformats.org/officeDocument/2006/relationships/oleObject" Target="../embeddings/oleObject73.bin"/><Relationship Id="rId10" Type="http://schemas.openxmlformats.org/officeDocument/2006/relationships/image" Target="../media/image66.emf"/><Relationship Id="rId19" Type="http://schemas.openxmlformats.org/officeDocument/2006/relationships/image" Target="../media/image79.jpeg"/><Relationship Id="rId31" Type="http://schemas.openxmlformats.org/officeDocument/2006/relationships/image" Target="../media/image76.wmf"/><Relationship Id="rId4" Type="http://schemas.openxmlformats.org/officeDocument/2006/relationships/image" Target="../media/image63.emf"/><Relationship Id="rId9" Type="http://schemas.openxmlformats.org/officeDocument/2006/relationships/oleObject" Target="../embeddings/oleObject64.bin"/><Relationship Id="rId14" Type="http://schemas.openxmlformats.org/officeDocument/2006/relationships/image" Target="../media/image68.emf"/><Relationship Id="rId22" Type="http://schemas.openxmlformats.org/officeDocument/2006/relationships/oleObject" Target="../embeddings/oleObject70.bin"/><Relationship Id="rId27" Type="http://schemas.openxmlformats.org/officeDocument/2006/relationships/image" Target="../media/image74.wmf"/><Relationship Id="rId30" Type="http://schemas.openxmlformats.org/officeDocument/2006/relationships/oleObject" Target="../embeddings/oleObject74.bin"/><Relationship Id="rId35" Type="http://schemas.openxmlformats.org/officeDocument/2006/relationships/image" Target="../media/image7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81.w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80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3" Type="http://schemas.openxmlformats.org/officeDocument/2006/relationships/oleObject" Target="../embeddings/oleObject80.bin"/><Relationship Id="rId7" Type="http://schemas.openxmlformats.org/officeDocument/2006/relationships/oleObject" Target="../embeddings/oleObject8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84.wmf"/><Relationship Id="rId5" Type="http://schemas.openxmlformats.org/officeDocument/2006/relationships/oleObject" Target="../embeddings/oleObject81.bin"/><Relationship Id="rId10" Type="http://schemas.openxmlformats.org/officeDocument/2006/relationships/image" Target="../media/image86.wmf"/><Relationship Id="rId4" Type="http://schemas.openxmlformats.org/officeDocument/2006/relationships/image" Target="../media/image83.emf"/><Relationship Id="rId9" Type="http://schemas.openxmlformats.org/officeDocument/2006/relationships/oleObject" Target="../embeddings/oleObject83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3" Type="http://schemas.openxmlformats.org/officeDocument/2006/relationships/audio" Target="../media/audio4.wav"/><Relationship Id="rId7" Type="http://schemas.openxmlformats.org/officeDocument/2006/relationships/image" Target="../media/image88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85.bin"/><Relationship Id="rId5" Type="http://schemas.openxmlformats.org/officeDocument/2006/relationships/image" Target="../media/image87.wmf"/><Relationship Id="rId4" Type="http://schemas.openxmlformats.org/officeDocument/2006/relationships/oleObject" Target="../embeddings/oleObject84.bin"/><Relationship Id="rId9" Type="http://schemas.openxmlformats.org/officeDocument/2006/relationships/image" Target="../media/image89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emf"/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8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91.emf"/><Relationship Id="rId5" Type="http://schemas.openxmlformats.org/officeDocument/2006/relationships/oleObject" Target="../embeddings/oleObject88.bin"/><Relationship Id="rId4" Type="http://schemas.openxmlformats.org/officeDocument/2006/relationships/image" Target="../media/image90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emf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2.bin"/><Relationship Id="rId12" Type="http://schemas.openxmlformats.org/officeDocument/2006/relationships/image" Target="../media/image97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94.emf"/><Relationship Id="rId11" Type="http://schemas.openxmlformats.org/officeDocument/2006/relationships/oleObject" Target="../embeddings/oleObject94.bin"/><Relationship Id="rId5" Type="http://schemas.openxmlformats.org/officeDocument/2006/relationships/oleObject" Target="../embeddings/oleObject91.bin"/><Relationship Id="rId10" Type="http://schemas.openxmlformats.org/officeDocument/2006/relationships/image" Target="../media/image96.emf"/><Relationship Id="rId4" Type="http://schemas.openxmlformats.org/officeDocument/2006/relationships/image" Target="../media/image93.emf"/><Relationship Id="rId9" Type="http://schemas.openxmlformats.org/officeDocument/2006/relationships/oleObject" Target="../embeddings/oleObject9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emf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99.emf"/><Relationship Id="rId5" Type="http://schemas.openxmlformats.org/officeDocument/2006/relationships/oleObject" Target="../embeddings/oleObject96.bin"/><Relationship Id="rId10" Type="http://schemas.openxmlformats.org/officeDocument/2006/relationships/image" Target="../media/image101.emf"/><Relationship Id="rId4" Type="http://schemas.openxmlformats.org/officeDocument/2006/relationships/image" Target="../media/image98.emf"/><Relationship Id="rId9" Type="http://schemas.openxmlformats.org/officeDocument/2006/relationships/oleObject" Target="../embeddings/oleObject98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emf"/><Relationship Id="rId13" Type="http://schemas.openxmlformats.org/officeDocument/2006/relationships/oleObject" Target="../embeddings/oleObject104.bin"/><Relationship Id="rId18" Type="http://schemas.openxmlformats.org/officeDocument/2006/relationships/image" Target="../media/image109.emf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1.bin"/><Relationship Id="rId12" Type="http://schemas.openxmlformats.org/officeDocument/2006/relationships/image" Target="../media/image106.emf"/><Relationship Id="rId17" Type="http://schemas.openxmlformats.org/officeDocument/2006/relationships/oleObject" Target="../embeddings/oleObject106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08.e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03.emf"/><Relationship Id="rId11" Type="http://schemas.openxmlformats.org/officeDocument/2006/relationships/oleObject" Target="../embeddings/oleObject103.bin"/><Relationship Id="rId5" Type="http://schemas.openxmlformats.org/officeDocument/2006/relationships/oleObject" Target="../embeddings/oleObject100.bin"/><Relationship Id="rId15" Type="http://schemas.openxmlformats.org/officeDocument/2006/relationships/oleObject" Target="../embeddings/oleObject105.bin"/><Relationship Id="rId10" Type="http://schemas.openxmlformats.org/officeDocument/2006/relationships/image" Target="../media/image105.emf"/><Relationship Id="rId4" Type="http://schemas.openxmlformats.org/officeDocument/2006/relationships/image" Target="../media/image102.emf"/><Relationship Id="rId9" Type="http://schemas.openxmlformats.org/officeDocument/2006/relationships/oleObject" Target="../embeddings/oleObject102.bin"/><Relationship Id="rId14" Type="http://schemas.openxmlformats.org/officeDocument/2006/relationships/image" Target="../media/image107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oleObject" Target="../embeddings/oleObject111.bin"/><Relationship Id="rId3" Type="http://schemas.openxmlformats.org/officeDocument/2006/relationships/image" Target="../media/image116.png"/><Relationship Id="rId7" Type="http://schemas.openxmlformats.org/officeDocument/2006/relationships/image" Target="../media/image111.wmf"/><Relationship Id="rId12" Type="http://schemas.openxmlformats.org/officeDocument/2006/relationships/image" Target="../media/image113.w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15.wmf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08.bin"/><Relationship Id="rId11" Type="http://schemas.openxmlformats.org/officeDocument/2006/relationships/oleObject" Target="../embeddings/oleObject110.bin"/><Relationship Id="rId5" Type="http://schemas.openxmlformats.org/officeDocument/2006/relationships/image" Target="../media/image110.wmf"/><Relationship Id="rId15" Type="http://schemas.openxmlformats.org/officeDocument/2006/relationships/oleObject" Target="../embeddings/oleObject112.bin"/><Relationship Id="rId10" Type="http://schemas.openxmlformats.org/officeDocument/2006/relationships/image" Target="../media/image112.wmf"/><Relationship Id="rId4" Type="http://schemas.openxmlformats.org/officeDocument/2006/relationships/oleObject" Target="../embeddings/oleObject107.bin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114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5.bin"/><Relationship Id="rId3" Type="http://schemas.openxmlformats.org/officeDocument/2006/relationships/image" Target="../media/image120.png"/><Relationship Id="rId7" Type="http://schemas.openxmlformats.org/officeDocument/2006/relationships/image" Target="../media/image113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14.bin"/><Relationship Id="rId11" Type="http://schemas.openxmlformats.org/officeDocument/2006/relationships/image" Target="../media/image119.emf"/><Relationship Id="rId5" Type="http://schemas.openxmlformats.org/officeDocument/2006/relationships/image" Target="../media/image112.wmf"/><Relationship Id="rId10" Type="http://schemas.openxmlformats.org/officeDocument/2006/relationships/oleObject" Target="../embeddings/oleObject116.bin"/><Relationship Id="rId4" Type="http://schemas.openxmlformats.org/officeDocument/2006/relationships/oleObject" Target="../embeddings/oleObject113.bin"/><Relationship Id="rId9" Type="http://schemas.openxmlformats.org/officeDocument/2006/relationships/image" Target="../media/image118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3" Type="http://schemas.openxmlformats.org/officeDocument/2006/relationships/oleObject" Target="../embeddings/oleObject117.bin"/><Relationship Id="rId7" Type="http://schemas.openxmlformats.org/officeDocument/2006/relationships/oleObject" Target="../embeddings/oleObject119.bin"/><Relationship Id="rId12" Type="http://schemas.openxmlformats.org/officeDocument/2006/relationships/image" Target="../media/image125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22.wmf"/><Relationship Id="rId11" Type="http://schemas.openxmlformats.org/officeDocument/2006/relationships/oleObject" Target="../embeddings/oleObject121.bin"/><Relationship Id="rId5" Type="http://schemas.openxmlformats.org/officeDocument/2006/relationships/oleObject" Target="../embeddings/oleObject118.bin"/><Relationship Id="rId10" Type="http://schemas.openxmlformats.org/officeDocument/2006/relationships/image" Target="../media/image124.wmf"/><Relationship Id="rId4" Type="http://schemas.openxmlformats.org/officeDocument/2006/relationships/image" Target="../media/image121.wmf"/><Relationship Id="rId9" Type="http://schemas.openxmlformats.org/officeDocument/2006/relationships/oleObject" Target="../embeddings/oleObject120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13" Type="http://schemas.openxmlformats.org/officeDocument/2006/relationships/oleObject" Target="../embeddings/oleObject127.bin"/><Relationship Id="rId3" Type="http://schemas.openxmlformats.org/officeDocument/2006/relationships/oleObject" Target="../embeddings/oleObject122.bin"/><Relationship Id="rId7" Type="http://schemas.openxmlformats.org/officeDocument/2006/relationships/oleObject" Target="../embeddings/oleObject124.bin"/><Relationship Id="rId12" Type="http://schemas.openxmlformats.org/officeDocument/2006/relationships/image" Target="../media/image130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27.wmf"/><Relationship Id="rId11" Type="http://schemas.openxmlformats.org/officeDocument/2006/relationships/oleObject" Target="../embeddings/oleObject126.bin"/><Relationship Id="rId5" Type="http://schemas.openxmlformats.org/officeDocument/2006/relationships/oleObject" Target="../embeddings/oleObject123.bin"/><Relationship Id="rId10" Type="http://schemas.openxmlformats.org/officeDocument/2006/relationships/image" Target="../media/image129.wmf"/><Relationship Id="rId4" Type="http://schemas.openxmlformats.org/officeDocument/2006/relationships/image" Target="../media/image126.wmf"/><Relationship Id="rId9" Type="http://schemas.openxmlformats.org/officeDocument/2006/relationships/oleObject" Target="../embeddings/oleObject125.bin"/><Relationship Id="rId14" Type="http://schemas.openxmlformats.org/officeDocument/2006/relationships/image" Target="../media/image131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13" Type="http://schemas.openxmlformats.org/officeDocument/2006/relationships/oleObject" Target="../embeddings/oleObject133.bin"/><Relationship Id="rId18" Type="http://schemas.openxmlformats.org/officeDocument/2006/relationships/image" Target="../media/image139.wmf"/><Relationship Id="rId26" Type="http://schemas.openxmlformats.org/officeDocument/2006/relationships/oleObject" Target="../embeddings/oleObject139.bin"/><Relationship Id="rId3" Type="http://schemas.openxmlformats.org/officeDocument/2006/relationships/oleObject" Target="../embeddings/oleObject128.bin"/><Relationship Id="rId21" Type="http://schemas.openxmlformats.org/officeDocument/2006/relationships/oleObject" Target="../embeddings/oleObject137.bin"/><Relationship Id="rId7" Type="http://schemas.openxmlformats.org/officeDocument/2006/relationships/oleObject" Target="../embeddings/oleObject130.bin"/><Relationship Id="rId12" Type="http://schemas.openxmlformats.org/officeDocument/2006/relationships/image" Target="../media/image136.wmf"/><Relationship Id="rId17" Type="http://schemas.openxmlformats.org/officeDocument/2006/relationships/oleObject" Target="../embeddings/oleObject135.bin"/><Relationship Id="rId25" Type="http://schemas.openxmlformats.org/officeDocument/2006/relationships/image" Target="../media/image142.wmf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138.wmf"/><Relationship Id="rId20" Type="http://schemas.openxmlformats.org/officeDocument/2006/relationships/image" Target="../media/image140.wmf"/><Relationship Id="rId29" Type="http://schemas.openxmlformats.org/officeDocument/2006/relationships/image" Target="../media/image144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33.wmf"/><Relationship Id="rId11" Type="http://schemas.openxmlformats.org/officeDocument/2006/relationships/oleObject" Target="../embeddings/oleObject132.bin"/><Relationship Id="rId24" Type="http://schemas.openxmlformats.org/officeDocument/2006/relationships/oleObject" Target="../embeddings/oleObject138.bin"/><Relationship Id="rId5" Type="http://schemas.openxmlformats.org/officeDocument/2006/relationships/oleObject" Target="../embeddings/oleObject129.bin"/><Relationship Id="rId15" Type="http://schemas.openxmlformats.org/officeDocument/2006/relationships/oleObject" Target="../embeddings/oleObject134.bin"/><Relationship Id="rId23" Type="http://schemas.openxmlformats.org/officeDocument/2006/relationships/image" Target="../media/image79.jpeg"/><Relationship Id="rId28" Type="http://schemas.openxmlformats.org/officeDocument/2006/relationships/oleObject" Target="../embeddings/oleObject140.bin"/><Relationship Id="rId10" Type="http://schemas.openxmlformats.org/officeDocument/2006/relationships/image" Target="../media/image135.wmf"/><Relationship Id="rId19" Type="http://schemas.openxmlformats.org/officeDocument/2006/relationships/oleObject" Target="../embeddings/oleObject136.bin"/><Relationship Id="rId4" Type="http://schemas.openxmlformats.org/officeDocument/2006/relationships/image" Target="../media/image132.wmf"/><Relationship Id="rId9" Type="http://schemas.openxmlformats.org/officeDocument/2006/relationships/oleObject" Target="../embeddings/oleObject131.bin"/><Relationship Id="rId14" Type="http://schemas.openxmlformats.org/officeDocument/2006/relationships/image" Target="../media/image137.wmf"/><Relationship Id="rId22" Type="http://schemas.openxmlformats.org/officeDocument/2006/relationships/image" Target="../media/image141.wmf"/><Relationship Id="rId27" Type="http://schemas.openxmlformats.org/officeDocument/2006/relationships/image" Target="../media/image143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3" Type="http://schemas.openxmlformats.org/officeDocument/2006/relationships/oleObject" Target="../embeddings/oleObject141.bin"/><Relationship Id="rId7" Type="http://schemas.openxmlformats.org/officeDocument/2006/relationships/oleObject" Target="../embeddings/oleObject143.bin"/><Relationship Id="rId12" Type="http://schemas.openxmlformats.org/officeDocument/2006/relationships/image" Target="../media/image149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46.wmf"/><Relationship Id="rId11" Type="http://schemas.openxmlformats.org/officeDocument/2006/relationships/oleObject" Target="../embeddings/oleObject145.bin"/><Relationship Id="rId5" Type="http://schemas.openxmlformats.org/officeDocument/2006/relationships/oleObject" Target="../embeddings/oleObject142.bin"/><Relationship Id="rId10" Type="http://schemas.openxmlformats.org/officeDocument/2006/relationships/image" Target="../media/image148.wmf"/><Relationship Id="rId4" Type="http://schemas.openxmlformats.org/officeDocument/2006/relationships/image" Target="../media/image145.wmf"/><Relationship Id="rId9" Type="http://schemas.openxmlformats.org/officeDocument/2006/relationships/oleObject" Target="../embeddings/oleObject144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51.wmf"/><Relationship Id="rId5" Type="http://schemas.openxmlformats.org/officeDocument/2006/relationships/oleObject" Target="../embeddings/oleObject147.bin"/><Relationship Id="rId4" Type="http://schemas.openxmlformats.org/officeDocument/2006/relationships/image" Target="../media/image150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0.bin"/><Relationship Id="rId13" Type="http://schemas.openxmlformats.org/officeDocument/2006/relationships/oleObject" Target="../embeddings/oleObject152.bin"/><Relationship Id="rId18" Type="http://schemas.openxmlformats.org/officeDocument/2006/relationships/image" Target="../media/image158.wmf"/><Relationship Id="rId26" Type="http://schemas.openxmlformats.org/officeDocument/2006/relationships/oleObject" Target="../embeddings/oleObject160.bin"/><Relationship Id="rId39" Type="http://schemas.openxmlformats.org/officeDocument/2006/relationships/image" Target="../media/image165.wmf"/><Relationship Id="rId3" Type="http://schemas.openxmlformats.org/officeDocument/2006/relationships/audio" Target="../media/audio5.wav"/><Relationship Id="rId21" Type="http://schemas.openxmlformats.org/officeDocument/2006/relationships/oleObject" Target="../embeddings/oleObject156.bin"/><Relationship Id="rId34" Type="http://schemas.openxmlformats.org/officeDocument/2006/relationships/oleObject" Target="../embeddings/oleObject166.bin"/><Relationship Id="rId7" Type="http://schemas.openxmlformats.org/officeDocument/2006/relationships/image" Target="../media/image153.wmf"/><Relationship Id="rId12" Type="http://schemas.openxmlformats.org/officeDocument/2006/relationships/image" Target="../media/image166.jpeg"/><Relationship Id="rId17" Type="http://schemas.openxmlformats.org/officeDocument/2006/relationships/oleObject" Target="../embeddings/oleObject154.bin"/><Relationship Id="rId25" Type="http://schemas.openxmlformats.org/officeDocument/2006/relationships/oleObject" Target="../embeddings/oleObject159.bin"/><Relationship Id="rId33" Type="http://schemas.openxmlformats.org/officeDocument/2006/relationships/image" Target="../media/image162.wmf"/><Relationship Id="rId38" Type="http://schemas.openxmlformats.org/officeDocument/2006/relationships/oleObject" Target="../embeddings/oleObject168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157.wmf"/><Relationship Id="rId20" Type="http://schemas.openxmlformats.org/officeDocument/2006/relationships/image" Target="../media/image159.wmf"/><Relationship Id="rId29" Type="http://schemas.openxmlformats.org/officeDocument/2006/relationships/oleObject" Target="../embeddings/oleObject162.bin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49.bin"/><Relationship Id="rId11" Type="http://schemas.openxmlformats.org/officeDocument/2006/relationships/image" Target="../media/image155.wmf"/><Relationship Id="rId24" Type="http://schemas.openxmlformats.org/officeDocument/2006/relationships/image" Target="../media/image160.wmf"/><Relationship Id="rId32" Type="http://schemas.openxmlformats.org/officeDocument/2006/relationships/oleObject" Target="../embeddings/oleObject165.bin"/><Relationship Id="rId37" Type="http://schemas.openxmlformats.org/officeDocument/2006/relationships/image" Target="../media/image164.wmf"/><Relationship Id="rId5" Type="http://schemas.openxmlformats.org/officeDocument/2006/relationships/image" Target="../media/image152.wmf"/><Relationship Id="rId15" Type="http://schemas.openxmlformats.org/officeDocument/2006/relationships/oleObject" Target="../embeddings/oleObject153.bin"/><Relationship Id="rId23" Type="http://schemas.openxmlformats.org/officeDocument/2006/relationships/oleObject" Target="../embeddings/oleObject158.bin"/><Relationship Id="rId28" Type="http://schemas.openxmlformats.org/officeDocument/2006/relationships/oleObject" Target="../embeddings/oleObject161.bin"/><Relationship Id="rId36" Type="http://schemas.openxmlformats.org/officeDocument/2006/relationships/oleObject" Target="../embeddings/oleObject167.bin"/><Relationship Id="rId10" Type="http://schemas.openxmlformats.org/officeDocument/2006/relationships/oleObject" Target="../embeddings/oleObject151.bin"/><Relationship Id="rId19" Type="http://schemas.openxmlformats.org/officeDocument/2006/relationships/oleObject" Target="../embeddings/oleObject155.bin"/><Relationship Id="rId31" Type="http://schemas.openxmlformats.org/officeDocument/2006/relationships/oleObject" Target="../embeddings/oleObject164.bin"/><Relationship Id="rId4" Type="http://schemas.openxmlformats.org/officeDocument/2006/relationships/oleObject" Target="../embeddings/oleObject148.bin"/><Relationship Id="rId9" Type="http://schemas.openxmlformats.org/officeDocument/2006/relationships/image" Target="../media/image154.wmf"/><Relationship Id="rId14" Type="http://schemas.openxmlformats.org/officeDocument/2006/relationships/image" Target="../media/image156.wmf"/><Relationship Id="rId22" Type="http://schemas.openxmlformats.org/officeDocument/2006/relationships/oleObject" Target="../embeddings/oleObject157.bin"/><Relationship Id="rId27" Type="http://schemas.openxmlformats.org/officeDocument/2006/relationships/image" Target="../media/image161.wmf"/><Relationship Id="rId30" Type="http://schemas.openxmlformats.org/officeDocument/2006/relationships/oleObject" Target="../embeddings/oleObject163.bin"/><Relationship Id="rId35" Type="http://schemas.openxmlformats.org/officeDocument/2006/relationships/image" Target="../media/image163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1.bin"/><Relationship Id="rId13" Type="http://schemas.openxmlformats.org/officeDocument/2006/relationships/image" Target="../media/image179.png"/><Relationship Id="rId18" Type="http://schemas.openxmlformats.org/officeDocument/2006/relationships/image" Target="../media/image172.wmf"/><Relationship Id="rId26" Type="http://schemas.openxmlformats.org/officeDocument/2006/relationships/image" Target="../media/image176.wmf"/><Relationship Id="rId3" Type="http://schemas.openxmlformats.org/officeDocument/2006/relationships/oleObject" Target="../embeddings/oleObject169.bin"/><Relationship Id="rId21" Type="http://schemas.openxmlformats.org/officeDocument/2006/relationships/oleObject" Target="../embeddings/oleObject176.bin"/><Relationship Id="rId7" Type="http://schemas.openxmlformats.org/officeDocument/2006/relationships/image" Target="../media/image177.png"/><Relationship Id="rId12" Type="http://schemas.openxmlformats.org/officeDocument/2006/relationships/image" Target="../media/image178.png"/><Relationship Id="rId17" Type="http://schemas.openxmlformats.org/officeDocument/2006/relationships/oleObject" Target="../embeddings/oleObject174.bin"/><Relationship Id="rId25" Type="http://schemas.openxmlformats.org/officeDocument/2006/relationships/oleObject" Target="../embeddings/oleObject178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71.wmf"/><Relationship Id="rId20" Type="http://schemas.openxmlformats.org/officeDocument/2006/relationships/image" Target="../media/image173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68.wmf"/><Relationship Id="rId11" Type="http://schemas.openxmlformats.org/officeDocument/2006/relationships/image" Target="../media/image170.wmf"/><Relationship Id="rId24" Type="http://schemas.openxmlformats.org/officeDocument/2006/relationships/image" Target="../media/image175.wmf"/><Relationship Id="rId5" Type="http://schemas.openxmlformats.org/officeDocument/2006/relationships/oleObject" Target="../embeddings/oleObject170.bin"/><Relationship Id="rId15" Type="http://schemas.openxmlformats.org/officeDocument/2006/relationships/oleObject" Target="../embeddings/oleObject173.bin"/><Relationship Id="rId23" Type="http://schemas.openxmlformats.org/officeDocument/2006/relationships/oleObject" Target="../embeddings/oleObject177.bin"/><Relationship Id="rId10" Type="http://schemas.openxmlformats.org/officeDocument/2006/relationships/oleObject" Target="../embeddings/oleObject172.bin"/><Relationship Id="rId19" Type="http://schemas.openxmlformats.org/officeDocument/2006/relationships/oleObject" Target="../embeddings/oleObject175.bin"/><Relationship Id="rId4" Type="http://schemas.openxmlformats.org/officeDocument/2006/relationships/image" Target="../media/image167.wmf"/><Relationship Id="rId9" Type="http://schemas.openxmlformats.org/officeDocument/2006/relationships/image" Target="../media/image169.wmf"/><Relationship Id="rId14" Type="http://schemas.openxmlformats.org/officeDocument/2006/relationships/image" Target="../media/image180.png"/><Relationship Id="rId22" Type="http://schemas.openxmlformats.org/officeDocument/2006/relationships/image" Target="../media/image174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gif"/><Relationship Id="rId2" Type="http://schemas.openxmlformats.org/officeDocument/2006/relationships/image" Target="../media/image181.gi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5.gif"/><Relationship Id="rId5" Type="http://schemas.openxmlformats.org/officeDocument/2006/relationships/image" Target="../media/image184.gif"/><Relationship Id="rId4" Type="http://schemas.openxmlformats.org/officeDocument/2006/relationships/image" Target="../media/image183.gi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wmf"/><Relationship Id="rId13" Type="http://schemas.openxmlformats.org/officeDocument/2006/relationships/oleObject" Target="../embeddings/oleObject184.bin"/><Relationship Id="rId18" Type="http://schemas.openxmlformats.org/officeDocument/2006/relationships/image" Target="../media/image193.wmf"/><Relationship Id="rId26" Type="http://schemas.openxmlformats.org/officeDocument/2006/relationships/image" Target="../media/image197.wmf"/><Relationship Id="rId3" Type="http://schemas.openxmlformats.org/officeDocument/2006/relationships/oleObject" Target="../embeddings/oleObject179.bin"/><Relationship Id="rId21" Type="http://schemas.openxmlformats.org/officeDocument/2006/relationships/oleObject" Target="../embeddings/oleObject188.bin"/><Relationship Id="rId7" Type="http://schemas.openxmlformats.org/officeDocument/2006/relationships/oleObject" Target="../embeddings/oleObject181.bin"/><Relationship Id="rId12" Type="http://schemas.openxmlformats.org/officeDocument/2006/relationships/image" Target="../media/image190.wmf"/><Relationship Id="rId17" Type="http://schemas.openxmlformats.org/officeDocument/2006/relationships/oleObject" Target="../embeddings/oleObject186.bin"/><Relationship Id="rId25" Type="http://schemas.openxmlformats.org/officeDocument/2006/relationships/oleObject" Target="../embeddings/oleObject190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92.wmf"/><Relationship Id="rId20" Type="http://schemas.openxmlformats.org/officeDocument/2006/relationships/image" Target="../media/image194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87.wmf"/><Relationship Id="rId11" Type="http://schemas.openxmlformats.org/officeDocument/2006/relationships/oleObject" Target="../embeddings/oleObject183.bin"/><Relationship Id="rId24" Type="http://schemas.openxmlformats.org/officeDocument/2006/relationships/image" Target="../media/image196.wmf"/><Relationship Id="rId5" Type="http://schemas.openxmlformats.org/officeDocument/2006/relationships/oleObject" Target="../embeddings/oleObject180.bin"/><Relationship Id="rId15" Type="http://schemas.openxmlformats.org/officeDocument/2006/relationships/oleObject" Target="../embeddings/oleObject185.bin"/><Relationship Id="rId23" Type="http://schemas.openxmlformats.org/officeDocument/2006/relationships/oleObject" Target="../embeddings/oleObject189.bin"/><Relationship Id="rId10" Type="http://schemas.openxmlformats.org/officeDocument/2006/relationships/image" Target="../media/image189.wmf"/><Relationship Id="rId19" Type="http://schemas.openxmlformats.org/officeDocument/2006/relationships/oleObject" Target="../embeddings/oleObject187.bin"/><Relationship Id="rId4" Type="http://schemas.openxmlformats.org/officeDocument/2006/relationships/image" Target="../media/image186.wmf"/><Relationship Id="rId9" Type="http://schemas.openxmlformats.org/officeDocument/2006/relationships/oleObject" Target="../embeddings/oleObject182.bin"/><Relationship Id="rId14" Type="http://schemas.openxmlformats.org/officeDocument/2006/relationships/image" Target="../media/image191.wmf"/><Relationship Id="rId22" Type="http://schemas.openxmlformats.org/officeDocument/2006/relationships/image" Target="../media/image195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13" Type="http://schemas.openxmlformats.org/officeDocument/2006/relationships/image" Target="../media/image202.wmf"/><Relationship Id="rId18" Type="http://schemas.openxmlformats.org/officeDocument/2006/relationships/oleObject" Target="../embeddings/oleObject198.bin"/><Relationship Id="rId3" Type="http://schemas.openxmlformats.org/officeDocument/2006/relationships/oleObject" Target="../embeddings/oleObject191.bin"/><Relationship Id="rId21" Type="http://schemas.openxmlformats.org/officeDocument/2006/relationships/image" Target="../media/image206.wmf"/><Relationship Id="rId7" Type="http://schemas.openxmlformats.org/officeDocument/2006/relationships/oleObject" Target="../embeddings/oleObject193.bin"/><Relationship Id="rId12" Type="http://schemas.openxmlformats.org/officeDocument/2006/relationships/oleObject" Target="../embeddings/oleObject195.bin"/><Relationship Id="rId17" Type="http://schemas.openxmlformats.org/officeDocument/2006/relationships/image" Target="../media/image204.wmf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197.bin"/><Relationship Id="rId20" Type="http://schemas.openxmlformats.org/officeDocument/2006/relationships/oleObject" Target="../embeddings/oleObject199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99.wmf"/><Relationship Id="rId11" Type="http://schemas.openxmlformats.org/officeDocument/2006/relationships/image" Target="../media/image201.wmf"/><Relationship Id="rId5" Type="http://schemas.openxmlformats.org/officeDocument/2006/relationships/oleObject" Target="../embeddings/oleObject192.bin"/><Relationship Id="rId15" Type="http://schemas.openxmlformats.org/officeDocument/2006/relationships/image" Target="../media/image203.wmf"/><Relationship Id="rId10" Type="http://schemas.openxmlformats.org/officeDocument/2006/relationships/oleObject" Target="../embeddings/oleObject194.bin"/><Relationship Id="rId19" Type="http://schemas.openxmlformats.org/officeDocument/2006/relationships/image" Target="../media/image205.wmf"/><Relationship Id="rId4" Type="http://schemas.openxmlformats.org/officeDocument/2006/relationships/image" Target="../media/image198.wmf"/><Relationship Id="rId9" Type="http://schemas.openxmlformats.org/officeDocument/2006/relationships/image" Target="../media/image207.jpeg"/><Relationship Id="rId14" Type="http://schemas.openxmlformats.org/officeDocument/2006/relationships/oleObject" Target="../embeddings/oleObject196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wmf"/><Relationship Id="rId13" Type="http://schemas.openxmlformats.org/officeDocument/2006/relationships/oleObject" Target="../embeddings/oleObject205.bin"/><Relationship Id="rId18" Type="http://schemas.openxmlformats.org/officeDocument/2006/relationships/image" Target="../media/image215.wmf"/><Relationship Id="rId26" Type="http://schemas.openxmlformats.org/officeDocument/2006/relationships/image" Target="../media/image219.wmf"/><Relationship Id="rId3" Type="http://schemas.openxmlformats.org/officeDocument/2006/relationships/oleObject" Target="../embeddings/oleObject200.bin"/><Relationship Id="rId21" Type="http://schemas.openxmlformats.org/officeDocument/2006/relationships/oleObject" Target="../embeddings/oleObject209.bin"/><Relationship Id="rId7" Type="http://schemas.openxmlformats.org/officeDocument/2006/relationships/oleObject" Target="../embeddings/oleObject202.bin"/><Relationship Id="rId12" Type="http://schemas.openxmlformats.org/officeDocument/2006/relationships/image" Target="../media/image212.wmf"/><Relationship Id="rId17" Type="http://schemas.openxmlformats.org/officeDocument/2006/relationships/oleObject" Target="../embeddings/oleObject207.bin"/><Relationship Id="rId25" Type="http://schemas.openxmlformats.org/officeDocument/2006/relationships/oleObject" Target="../embeddings/oleObject211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214.wmf"/><Relationship Id="rId20" Type="http://schemas.openxmlformats.org/officeDocument/2006/relationships/image" Target="../media/image216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09.wmf"/><Relationship Id="rId11" Type="http://schemas.openxmlformats.org/officeDocument/2006/relationships/oleObject" Target="../embeddings/oleObject204.bin"/><Relationship Id="rId24" Type="http://schemas.openxmlformats.org/officeDocument/2006/relationships/image" Target="../media/image218.wmf"/><Relationship Id="rId5" Type="http://schemas.openxmlformats.org/officeDocument/2006/relationships/oleObject" Target="../embeddings/oleObject201.bin"/><Relationship Id="rId15" Type="http://schemas.openxmlformats.org/officeDocument/2006/relationships/oleObject" Target="../embeddings/oleObject206.bin"/><Relationship Id="rId23" Type="http://schemas.openxmlformats.org/officeDocument/2006/relationships/oleObject" Target="../embeddings/oleObject210.bin"/><Relationship Id="rId10" Type="http://schemas.openxmlformats.org/officeDocument/2006/relationships/image" Target="../media/image211.wmf"/><Relationship Id="rId19" Type="http://schemas.openxmlformats.org/officeDocument/2006/relationships/oleObject" Target="../embeddings/oleObject208.bin"/><Relationship Id="rId4" Type="http://schemas.openxmlformats.org/officeDocument/2006/relationships/image" Target="../media/image208.wmf"/><Relationship Id="rId9" Type="http://schemas.openxmlformats.org/officeDocument/2006/relationships/oleObject" Target="../embeddings/oleObject203.bin"/><Relationship Id="rId14" Type="http://schemas.openxmlformats.org/officeDocument/2006/relationships/image" Target="../media/image213.wmf"/><Relationship Id="rId22" Type="http://schemas.openxmlformats.org/officeDocument/2006/relationships/image" Target="../media/image217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wmf"/><Relationship Id="rId13" Type="http://schemas.openxmlformats.org/officeDocument/2006/relationships/oleObject" Target="../embeddings/oleObject217.bin"/><Relationship Id="rId18" Type="http://schemas.openxmlformats.org/officeDocument/2006/relationships/image" Target="../media/image227.wmf"/><Relationship Id="rId3" Type="http://schemas.openxmlformats.org/officeDocument/2006/relationships/oleObject" Target="../embeddings/oleObject212.bin"/><Relationship Id="rId7" Type="http://schemas.openxmlformats.org/officeDocument/2006/relationships/oleObject" Target="../embeddings/oleObject214.bin"/><Relationship Id="rId12" Type="http://schemas.openxmlformats.org/officeDocument/2006/relationships/image" Target="../media/image224.wmf"/><Relationship Id="rId17" Type="http://schemas.openxmlformats.org/officeDocument/2006/relationships/oleObject" Target="../embeddings/oleObject219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226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21.wmf"/><Relationship Id="rId11" Type="http://schemas.openxmlformats.org/officeDocument/2006/relationships/oleObject" Target="../embeddings/oleObject216.bin"/><Relationship Id="rId5" Type="http://schemas.openxmlformats.org/officeDocument/2006/relationships/oleObject" Target="../embeddings/oleObject213.bin"/><Relationship Id="rId15" Type="http://schemas.openxmlformats.org/officeDocument/2006/relationships/oleObject" Target="../embeddings/oleObject218.bin"/><Relationship Id="rId10" Type="http://schemas.openxmlformats.org/officeDocument/2006/relationships/image" Target="../media/image223.wmf"/><Relationship Id="rId4" Type="http://schemas.openxmlformats.org/officeDocument/2006/relationships/image" Target="../media/image220.wmf"/><Relationship Id="rId9" Type="http://schemas.openxmlformats.org/officeDocument/2006/relationships/oleObject" Target="../embeddings/oleObject215.bin"/><Relationship Id="rId14" Type="http://schemas.openxmlformats.org/officeDocument/2006/relationships/image" Target="../media/image225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2.bin"/><Relationship Id="rId13" Type="http://schemas.openxmlformats.org/officeDocument/2006/relationships/image" Target="../media/image232.wmf"/><Relationship Id="rId18" Type="http://schemas.openxmlformats.org/officeDocument/2006/relationships/oleObject" Target="../embeddings/oleObject227.bin"/><Relationship Id="rId3" Type="http://schemas.openxmlformats.org/officeDocument/2006/relationships/audio" Target="../media/audio6.wav"/><Relationship Id="rId21" Type="http://schemas.openxmlformats.org/officeDocument/2006/relationships/image" Target="../media/image236.wmf"/><Relationship Id="rId7" Type="http://schemas.openxmlformats.org/officeDocument/2006/relationships/image" Target="../media/image229.wmf"/><Relationship Id="rId12" Type="http://schemas.openxmlformats.org/officeDocument/2006/relationships/oleObject" Target="../embeddings/oleObject224.bin"/><Relationship Id="rId17" Type="http://schemas.openxmlformats.org/officeDocument/2006/relationships/image" Target="../media/image234.wmf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226.bin"/><Relationship Id="rId20" Type="http://schemas.openxmlformats.org/officeDocument/2006/relationships/oleObject" Target="../embeddings/oleObject228.bin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221.bin"/><Relationship Id="rId11" Type="http://schemas.openxmlformats.org/officeDocument/2006/relationships/image" Target="../media/image231.wmf"/><Relationship Id="rId5" Type="http://schemas.openxmlformats.org/officeDocument/2006/relationships/image" Target="../media/image228.wmf"/><Relationship Id="rId15" Type="http://schemas.openxmlformats.org/officeDocument/2006/relationships/image" Target="../media/image233.wmf"/><Relationship Id="rId10" Type="http://schemas.openxmlformats.org/officeDocument/2006/relationships/oleObject" Target="../embeddings/oleObject223.bin"/><Relationship Id="rId19" Type="http://schemas.openxmlformats.org/officeDocument/2006/relationships/image" Target="../media/image235.wmf"/><Relationship Id="rId4" Type="http://schemas.openxmlformats.org/officeDocument/2006/relationships/oleObject" Target="../embeddings/oleObject220.bin"/><Relationship Id="rId9" Type="http://schemas.openxmlformats.org/officeDocument/2006/relationships/image" Target="../media/image230.wmf"/><Relationship Id="rId14" Type="http://schemas.openxmlformats.org/officeDocument/2006/relationships/oleObject" Target="../embeddings/oleObject225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9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38.wmf"/><Relationship Id="rId5" Type="http://schemas.openxmlformats.org/officeDocument/2006/relationships/oleObject" Target="../embeddings/oleObject230.bin"/><Relationship Id="rId4" Type="http://schemas.openxmlformats.org/officeDocument/2006/relationships/image" Target="../media/image237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wmf"/><Relationship Id="rId3" Type="http://schemas.openxmlformats.org/officeDocument/2006/relationships/oleObject" Target="../embeddings/oleObject231.bin"/><Relationship Id="rId7" Type="http://schemas.openxmlformats.org/officeDocument/2006/relationships/oleObject" Target="../embeddings/oleObject233.bin"/><Relationship Id="rId12" Type="http://schemas.openxmlformats.org/officeDocument/2006/relationships/image" Target="../media/image243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40.wmf"/><Relationship Id="rId11" Type="http://schemas.openxmlformats.org/officeDocument/2006/relationships/oleObject" Target="../embeddings/oleObject235.bin"/><Relationship Id="rId5" Type="http://schemas.openxmlformats.org/officeDocument/2006/relationships/oleObject" Target="../embeddings/oleObject232.bin"/><Relationship Id="rId10" Type="http://schemas.openxmlformats.org/officeDocument/2006/relationships/image" Target="../media/image242.wmf"/><Relationship Id="rId4" Type="http://schemas.openxmlformats.org/officeDocument/2006/relationships/image" Target="../media/image239.wmf"/><Relationship Id="rId9" Type="http://schemas.openxmlformats.org/officeDocument/2006/relationships/oleObject" Target="../embeddings/oleObject234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wmf"/><Relationship Id="rId3" Type="http://schemas.openxmlformats.org/officeDocument/2006/relationships/oleObject" Target="../embeddings/oleObject236.bin"/><Relationship Id="rId7" Type="http://schemas.openxmlformats.org/officeDocument/2006/relationships/oleObject" Target="../embeddings/oleObject238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45.wmf"/><Relationship Id="rId5" Type="http://schemas.openxmlformats.org/officeDocument/2006/relationships/oleObject" Target="../embeddings/oleObject237.bin"/><Relationship Id="rId10" Type="http://schemas.openxmlformats.org/officeDocument/2006/relationships/image" Target="../media/image247.wmf"/><Relationship Id="rId4" Type="http://schemas.openxmlformats.org/officeDocument/2006/relationships/image" Target="../media/image244.wmf"/><Relationship Id="rId9" Type="http://schemas.openxmlformats.org/officeDocument/2006/relationships/oleObject" Target="../embeddings/oleObject239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emf"/><Relationship Id="rId13" Type="http://schemas.openxmlformats.org/officeDocument/2006/relationships/oleObject" Target="../embeddings/oleObject245.bin"/><Relationship Id="rId3" Type="http://schemas.openxmlformats.org/officeDocument/2006/relationships/oleObject" Target="../embeddings/oleObject240.bin"/><Relationship Id="rId7" Type="http://schemas.openxmlformats.org/officeDocument/2006/relationships/oleObject" Target="../embeddings/oleObject242.bin"/><Relationship Id="rId12" Type="http://schemas.openxmlformats.org/officeDocument/2006/relationships/image" Target="../media/image252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49.emf"/><Relationship Id="rId11" Type="http://schemas.openxmlformats.org/officeDocument/2006/relationships/oleObject" Target="../embeddings/oleObject244.bin"/><Relationship Id="rId5" Type="http://schemas.openxmlformats.org/officeDocument/2006/relationships/oleObject" Target="../embeddings/oleObject241.bin"/><Relationship Id="rId10" Type="http://schemas.openxmlformats.org/officeDocument/2006/relationships/image" Target="../media/image251.wmf"/><Relationship Id="rId4" Type="http://schemas.openxmlformats.org/officeDocument/2006/relationships/image" Target="../media/image248.wmf"/><Relationship Id="rId9" Type="http://schemas.openxmlformats.org/officeDocument/2006/relationships/oleObject" Target="../embeddings/oleObject243.bin"/><Relationship Id="rId14" Type="http://schemas.openxmlformats.org/officeDocument/2006/relationships/image" Target="../media/image253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254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7.wmf"/><Relationship Id="rId3" Type="http://schemas.openxmlformats.org/officeDocument/2006/relationships/oleObject" Target="../embeddings/oleObject247.bin"/><Relationship Id="rId7" Type="http://schemas.openxmlformats.org/officeDocument/2006/relationships/oleObject" Target="../embeddings/oleObject249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56.wmf"/><Relationship Id="rId11" Type="http://schemas.openxmlformats.org/officeDocument/2006/relationships/image" Target="../media/image260.jpeg"/><Relationship Id="rId5" Type="http://schemas.openxmlformats.org/officeDocument/2006/relationships/oleObject" Target="../embeddings/oleObject248.bin"/><Relationship Id="rId10" Type="http://schemas.openxmlformats.org/officeDocument/2006/relationships/image" Target="../media/image259.gif"/><Relationship Id="rId4" Type="http://schemas.openxmlformats.org/officeDocument/2006/relationships/image" Target="../media/image255.wmf"/><Relationship Id="rId9" Type="http://schemas.openxmlformats.org/officeDocument/2006/relationships/image" Target="../media/image258.jpe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2.bin"/><Relationship Id="rId13" Type="http://schemas.openxmlformats.org/officeDocument/2006/relationships/image" Target="../media/image267.png"/><Relationship Id="rId18" Type="http://schemas.openxmlformats.org/officeDocument/2006/relationships/image" Target="../media/image272.png"/><Relationship Id="rId3" Type="http://schemas.openxmlformats.org/officeDocument/2006/relationships/audio" Target="../media/audio7.wav"/><Relationship Id="rId7" Type="http://schemas.openxmlformats.org/officeDocument/2006/relationships/image" Target="../media/image262.wmf"/><Relationship Id="rId12" Type="http://schemas.openxmlformats.org/officeDocument/2006/relationships/image" Target="../media/image266.png"/><Relationship Id="rId17" Type="http://schemas.openxmlformats.org/officeDocument/2006/relationships/image" Target="../media/image271.png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270.png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251.bin"/><Relationship Id="rId11" Type="http://schemas.openxmlformats.org/officeDocument/2006/relationships/image" Target="../media/image265.png"/><Relationship Id="rId5" Type="http://schemas.openxmlformats.org/officeDocument/2006/relationships/image" Target="../media/image261.wmf"/><Relationship Id="rId15" Type="http://schemas.openxmlformats.org/officeDocument/2006/relationships/image" Target="../media/image269.png"/><Relationship Id="rId10" Type="http://schemas.openxmlformats.org/officeDocument/2006/relationships/image" Target="../media/image264.png"/><Relationship Id="rId4" Type="http://schemas.openxmlformats.org/officeDocument/2006/relationships/oleObject" Target="../embeddings/oleObject250.bin"/><Relationship Id="rId9" Type="http://schemas.openxmlformats.org/officeDocument/2006/relationships/image" Target="../media/image263.wmf"/><Relationship Id="rId14" Type="http://schemas.openxmlformats.org/officeDocument/2006/relationships/image" Target="../media/image268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wmf"/><Relationship Id="rId13" Type="http://schemas.openxmlformats.org/officeDocument/2006/relationships/oleObject" Target="../embeddings/oleObject258.bin"/><Relationship Id="rId18" Type="http://schemas.openxmlformats.org/officeDocument/2006/relationships/image" Target="../media/image280.wmf"/><Relationship Id="rId3" Type="http://schemas.openxmlformats.org/officeDocument/2006/relationships/oleObject" Target="../embeddings/oleObject253.bin"/><Relationship Id="rId7" Type="http://schemas.openxmlformats.org/officeDocument/2006/relationships/oleObject" Target="../embeddings/oleObject255.bin"/><Relationship Id="rId12" Type="http://schemas.openxmlformats.org/officeDocument/2006/relationships/image" Target="../media/image277.wmf"/><Relationship Id="rId17" Type="http://schemas.openxmlformats.org/officeDocument/2006/relationships/oleObject" Target="../embeddings/oleObject260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279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74.wmf"/><Relationship Id="rId11" Type="http://schemas.openxmlformats.org/officeDocument/2006/relationships/oleObject" Target="../embeddings/oleObject257.bin"/><Relationship Id="rId5" Type="http://schemas.openxmlformats.org/officeDocument/2006/relationships/oleObject" Target="../embeddings/oleObject254.bin"/><Relationship Id="rId15" Type="http://schemas.openxmlformats.org/officeDocument/2006/relationships/oleObject" Target="../embeddings/oleObject259.bin"/><Relationship Id="rId10" Type="http://schemas.openxmlformats.org/officeDocument/2006/relationships/image" Target="../media/image276.wmf"/><Relationship Id="rId4" Type="http://schemas.openxmlformats.org/officeDocument/2006/relationships/image" Target="../media/image273.wmf"/><Relationship Id="rId9" Type="http://schemas.openxmlformats.org/officeDocument/2006/relationships/oleObject" Target="../embeddings/oleObject256.bin"/><Relationship Id="rId14" Type="http://schemas.openxmlformats.org/officeDocument/2006/relationships/image" Target="../media/image278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wmf"/><Relationship Id="rId13" Type="http://schemas.openxmlformats.org/officeDocument/2006/relationships/oleObject" Target="../embeddings/oleObject266.bin"/><Relationship Id="rId3" Type="http://schemas.openxmlformats.org/officeDocument/2006/relationships/oleObject" Target="../embeddings/oleObject261.bin"/><Relationship Id="rId7" Type="http://schemas.openxmlformats.org/officeDocument/2006/relationships/oleObject" Target="../embeddings/oleObject263.bin"/><Relationship Id="rId12" Type="http://schemas.openxmlformats.org/officeDocument/2006/relationships/image" Target="../media/image284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05.wmf"/><Relationship Id="rId11" Type="http://schemas.openxmlformats.org/officeDocument/2006/relationships/oleObject" Target="../embeddings/oleObject265.bin"/><Relationship Id="rId5" Type="http://schemas.openxmlformats.org/officeDocument/2006/relationships/oleObject" Target="../embeddings/oleObject262.bin"/><Relationship Id="rId10" Type="http://schemas.openxmlformats.org/officeDocument/2006/relationships/image" Target="../media/image283.wmf"/><Relationship Id="rId4" Type="http://schemas.openxmlformats.org/officeDocument/2006/relationships/image" Target="../media/image281.wmf"/><Relationship Id="rId9" Type="http://schemas.openxmlformats.org/officeDocument/2006/relationships/oleObject" Target="../embeddings/oleObject264.bin"/><Relationship Id="rId14" Type="http://schemas.openxmlformats.org/officeDocument/2006/relationships/image" Target="../media/image285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8.wmf"/><Relationship Id="rId3" Type="http://schemas.openxmlformats.org/officeDocument/2006/relationships/oleObject" Target="../embeddings/oleObject267.bin"/><Relationship Id="rId7" Type="http://schemas.openxmlformats.org/officeDocument/2006/relationships/oleObject" Target="../embeddings/oleObject269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87.wmf"/><Relationship Id="rId5" Type="http://schemas.openxmlformats.org/officeDocument/2006/relationships/oleObject" Target="../embeddings/oleObject268.bin"/><Relationship Id="rId10" Type="http://schemas.openxmlformats.org/officeDocument/2006/relationships/image" Target="../media/image289.wmf"/><Relationship Id="rId4" Type="http://schemas.openxmlformats.org/officeDocument/2006/relationships/image" Target="../media/image286.wmf"/><Relationship Id="rId9" Type="http://schemas.openxmlformats.org/officeDocument/2006/relationships/oleObject" Target="../embeddings/oleObject270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wmf"/><Relationship Id="rId13" Type="http://schemas.openxmlformats.org/officeDocument/2006/relationships/oleObject" Target="../embeddings/oleObject276.bin"/><Relationship Id="rId3" Type="http://schemas.openxmlformats.org/officeDocument/2006/relationships/oleObject" Target="../embeddings/oleObject271.bin"/><Relationship Id="rId7" Type="http://schemas.openxmlformats.org/officeDocument/2006/relationships/oleObject" Target="../embeddings/oleObject273.bin"/><Relationship Id="rId12" Type="http://schemas.openxmlformats.org/officeDocument/2006/relationships/image" Target="../media/image294.wmf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296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91.wmf"/><Relationship Id="rId11" Type="http://schemas.openxmlformats.org/officeDocument/2006/relationships/oleObject" Target="../embeddings/oleObject275.bin"/><Relationship Id="rId5" Type="http://schemas.openxmlformats.org/officeDocument/2006/relationships/oleObject" Target="../embeddings/oleObject272.bin"/><Relationship Id="rId15" Type="http://schemas.openxmlformats.org/officeDocument/2006/relationships/oleObject" Target="../embeddings/oleObject277.bin"/><Relationship Id="rId10" Type="http://schemas.openxmlformats.org/officeDocument/2006/relationships/image" Target="../media/image293.wmf"/><Relationship Id="rId4" Type="http://schemas.openxmlformats.org/officeDocument/2006/relationships/image" Target="../media/image290.wmf"/><Relationship Id="rId9" Type="http://schemas.openxmlformats.org/officeDocument/2006/relationships/oleObject" Target="../embeddings/oleObject274.bin"/><Relationship Id="rId14" Type="http://schemas.openxmlformats.org/officeDocument/2006/relationships/image" Target="../media/image295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wmf"/><Relationship Id="rId13" Type="http://schemas.openxmlformats.org/officeDocument/2006/relationships/oleObject" Target="../embeddings/oleObject283.bin"/><Relationship Id="rId18" Type="http://schemas.openxmlformats.org/officeDocument/2006/relationships/image" Target="../media/image301.wmf"/><Relationship Id="rId3" Type="http://schemas.openxmlformats.org/officeDocument/2006/relationships/oleObject" Target="../embeddings/oleObject278.bin"/><Relationship Id="rId7" Type="http://schemas.openxmlformats.org/officeDocument/2006/relationships/oleObject" Target="../embeddings/oleObject280.bin"/><Relationship Id="rId12" Type="http://schemas.openxmlformats.org/officeDocument/2006/relationships/image" Target="../media/image298.wmf"/><Relationship Id="rId17" Type="http://schemas.openxmlformats.org/officeDocument/2006/relationships/oleObject" Target="../embeddings/oleObject285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300.wmf"/><Relationship Id="rId20" Type="http://schemas.openxmlformats.org/officeDocument/2006/relationships/image" Target="../media/image302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92.wmf"/><Relationship Id="rId11" Type="http://schemas.openxmlformats.org/officeDocument/2006/relationships/oleObject" Target="../embeddings/oleObject282.bin"/><Relationship Id="rId5" Type="http://schemas.openxmlformats.org/officeDocument/2006/relationships/oleObject" Target="../embeddings/oleObject279.bin"/><Relationship Id="rId15" Type="http://schemas.openxmlformats.org/officeDocument/2006/relationships/oleObject" Target="../embeddings/oleObject284.bin"/><Relationship Id="rId10" Type="http://schemas.openxmlformats.org/officeDocument/2006/relationships/image" Target="../media/image293.wmf"/><Relationship Id="rId19" Type="http://schemas.openxmlformats.org/officeDocument/2006/relationships/oleObject" Target="../embeddings/oleObject286.bin"/><Relationship Id="rId4" Type="http://schemas.openxmlformats.org/officeDocument/2006/relationships/image" Target="../media/image291.wmf"/><Relationship Id="rId9" Type="http://schemas.openxmlformats.org/officeDocument/2006/relationships/oleObject" Target="../embeddings/oleObject281.bin"/><Relationship Id="rId14" Type="http://schemas.openxmlformats.org/officeDocument/2006/relationships/image" Target="../media/image299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5.wmf"/><Relationship Id="rId13" Type="http://schemas.openxmlformats.org/officeDocument/2006/relationships/oleObject" Target="../embeddings/oleObject292.bin"/><Relationship Id="rId18" Type="http://schemas.openxmlformats.org/officeDocument/2006/relationships/image" Target="../media/image310.wmf"/><Relationship Id="rId26" Type="http://schemas.openxmlformats.org/officeDocument/2006/relationships/image" Target="../media/image314.wmf"/><Relationship Id="rId3" Type="http://schemas.openxmlformats.org/officeDocument/2006/relationships/oleObject" Target="../embeddings/oleObject287.bin"/><Relationship Id="rId21" Type="http://schemas.openxmlformats.org/officeDocument/2006/relationships/oleObject" Target="../embeddings/oleObject296.bin"/><Relationship Id="rId7" Type="http://schemas.openxmlformats.org/officeDocument/2006/relationships/oleObject" Target="../embeddings/oleObject289.bin"/><Relationship Id="rId12" Type="http://schemas.openxmlformats.org/officeDocument/2006/relationships/image" Target="../media/image307.wmf"/><Relationship Id="rId17" Type="http://schemas.openxmlformats.org/officeDocument/2006/relationships/oleObject" Target="../embeddings/oleObject294.bin"/><Relationship Id="rId25" Type="http://schemas.openxmlformats.org/officeDocument/2006/relationships/oleObject" Target="../embeddings/oleObject298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09.wmf"/><Relationship Id="rId20" Type="http://schemas.openxmlformats.org/officeDocument/2006/relationships/image" Target="../media/image311.wmf"/><Relationship Id="rId29" Type="http://schemas.openxmlformats.org/officeDocument/2006/relationships/oleObject" Target="../embeddings/oleObject300.bin"/><Relationship Id="rId1" Type="http://schemas.openxmlformats.org/officeDocument/2006/relationships/vmlDrawing" Target="../drawings/vmlDrawing39.vml"/><Relationship Id="rId6" Type="http://schemas.openxmlformats.org/officeDocument/2006/relationships/image" Target="../media/image304.wmf"/><Relationship Id="rId11" Type="http://schemas.openxmlformats.org/officeDocument/2006/relationships/oleObject" Target="../embeddings/oleObject291.bin"/><Relationship Id="rId24" Type="http://schemas.openxmlformats.org/officeDocument/2006/relationships/image" Target="../media/image313.wmf"/><Relationship Id="rId5" Type="http://schemas.openxmlformats.org/officeDocument/2006/relationships/oleObject" Target="../embeddings/oleObject288.bin"/><Relationship Id="rId15" Type="http://schemas.openxmlformats.org/officeDocument/2006/relationships/oleObject" Target="../embeddings/oleObject293.bin"/><Relationship Id="rId23" Type="http://schemas.openxmlformats.org/officeDocument/2006/relationships/oleObject" Target="../embeddings/oleObject297.bin"/><Relationship Id="rId28" Type="http://schemas.openxmlformats.org/officeDocument/2006/relationships/image" Target="../media/image315.wmf"/><Relationship Id="rId10" Type="http://schemas.openxmlformats.org/officeDocument/2006/relationships/image" Target="../media/image306.wmf"/><Relationship Id="rId19" Type="http://schemas.openxmlformats.org/officeDocument/2006/relationships/oleObject" Target="../embeddings/oleObject295.bin"/><Relationship Id="rId4" Type="http://schemas.openxmlformats.org/officeDocument/2006/relationships/image" Target="../media/image303.wmf"/><Relationship Id="rId9" Type="http://schemas.openxmlformats.org/officeDocument/2006/relationships/oleObject" Target="../embeddings/oleObject290.bin"/><Relationship Id="rId14" Type="http://schemas.openxmlformats.org/officeDocument/2006/relationships/image" Target="../media/image308.wmf"/><Relationship Id="rId22" Type="http://schemas.openxmlformats.org/officeDocument/2006/relationships/image" Target="../media/image312.wmf"/><Relationship Id="rId27" Type="http://schemas.openxmlformats.org/officeDocument/2006/relationships/oleObject" Target="../embeddings/oleObject299.bin"/><Relationship Id="rId30" Type="http://schemas.openxmlformats.org/officeDocument/2006/relationships/image" Target="../media/image316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9.wmf"/><Relationship Id="rId13" Type="http://schemas.openxmlformats.org/officeDocument/2006/relationships/oleObject" Target="../embeddings/oleObject306.bin"/><Relationship Id="rId18" Type="http://schemas.openxmlformats.org/officeDocument/2006/relationships/image" Target="../media/image324.wmf"/><Relationship Id="rId3" Type="http://schemas.openxmlformats.org/officeDocument/2006/relationships/oleObject" Target="../embeddings/oleObject301.bin"/><Relationship Id="rId21" Type="http://schemas.openxmlformats.org/officeDocument/2006/relationships/oleObject" Target="../embeddings/oleObject310.bin"/><Relationship Id="rId7" Type="http://schemas.openxmlformats.org/officeDocument/2006/relationships/oleObject" Target="../embeddings/oleObject303.bin"/><Relationship Id="rId12" Type="http://schemas.openxmlformats.org/officeDocument/2006/relationships/image" Target="../media/image321.wmf"/><Relationship Id="rId17" Type="http://schemas.openxmlformats.org/officeDocument/2006/relationships/oleObject" Target="../embeddings/oleObject308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23.wmf"/><Relationship Id="rId20" Type="http://schemas.openxmlformats.org/officeDocument/2006/relationships/image" Target="../media/image325.wmf"/><Relationship Id="rId1" Type="http://schemas.openxmlformats.org/officeDocument/2006/relationships/vmlDrawing" Target="../drawings/vmlDrawing40.vml"/><Relationship Id="rId6" Type="http://schemas.openxmlformats.org/officeDocument/2006/relationships/image" Target="../media/image318.wmf"/><Relationship Id="rId11" Type="http://schemas.openxmlformats.org/officeDocument/2006/relationships/oleObject" Target="../embeddings/oleObject305.bin"/><Relationship Id="rId24" Type="http://schemas.openxmlformats.org/officeDocument/2006/relationships/image" Target="../media/image327.wmf"/><Relationship Id="rId5" Type="http://schemas.openxmlformats.org/officeDocument/2006/relationships/oleObject" Target="../embeddings/oleObject302.bin"/><Relationship Id="rId15" Type="http://schemas.openxmlformats.org/officeDocument/2006/relationships/oleObject" Target="../embeddings/oleObject307.bin"/><Relationship Id="rId23" Type="http://schemas.openxmlformats.org/officeDocument/2006/relationships/oleObject" Target="../embeddings/oleObject311.bin"/><Relationship Id="rId10" Type="http://schemas.openxmlformats.org/officeDocument/2006/relationships/image" Target="../media/image320.wmf"/><Relationship Id="rId19" Type="http://schemas.openxmlformats.org/officeDocument/2006/relationships/oleObject" Target="../embeddings/oleObject309.bin"/><Relationship Id="rId4" Type="http://schemas.openxmlformats.org/officeDocument/2006/relationships/image" Target="../media/image317.wmf"/><Relationship Id="rId9" Type="http://schemas.openxmlformats.org/officeDocument/2006/relationships/oleObject" Target="../embeddings/oleObject304.bin"/><Relationship Id="rId14" Type="http://schemas.openxmlformats.org/officeDocument/2006/relationships/image" Target="../media/image322.wmf"/><Relationship Id="rId22" Type="http://schemas.openxmlformats.org/officeDocument/2006/relationships/image" Target="../media/image32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5">
            <a:hlinkClick r:id="rId2" action="ppaction://hlinksldjump" highlightClick="1">
              <a:snd r:embed="rId3" name="camera.wav"/>
            </a:hlinkClick>
          </p:cNvPr>
          <p:cNvSpPr>
            <a:spLocks noChangeArrowheads="1"/>
          </p:cNvSpPr>
          <p:nvPr/>
        </p:nvSpPr>
        <p:spPr bwMode="auto">
          <a:xfrm>
            <a:off x="611188" y="1419225"/>
            <a:ext cx="42481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§3-1   刚体  刚体定轴转动的描述</a:t>
            </a:r>
          </a:p>
        </p:txBody>
      </p:sp>
      <p:sp>
        <p:nvSpPr>
          <p:cNvPr id="4102" name="Rectangle 6">
            <a:hlinkClick r:id="rId4" action="ppaction://hlinksldjump" highlightClick="1">
              <a:snd r:embed="rId5" name="cashreg.wav"/>
            </a:hlinkClick>
          </p:cNvPr>
          <p:cNvSpPr>
            <a:spLocks noChangeArrowheads="1"/>
          </p:cNvSpPr>
          <p:nvPr/>
        </p:nvSpPr>
        <p:spPr bwMode="auto">
          <a:xfrm>
            <a:off x="611188" y="1985963"/>
            <a:ext cx="48244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§3-2   力矩  刚体定轴转动的转动定律</a:t>
            </a:r>
          </a:p>
        </p:txBody>
      </p:sp>
      <p:sp>
        <p:nvSpPr>
          <p:cNvPr id="4103" name="Rectangle 7">
            <a:hlinkClick r:id="rId6" action="ppaction://hlinksldjump" highlightClick="1">
              <a:snd r:embed="rId3" name="camera.wav"/>
            </a:hlinkClick>
          </p:cNvPr>
          <p:cNvSpPr>
            <a:spLocks noChangeArrowheads="1"/>
          </p:cNvSpPr>
          <p:nvPr/>
        </p:nvSpPr>
        <p:spPr bwMode="auto">
          <a:xfrm>
            <a:off x="611188" y="2551113"/>
            <a:ext cx="48244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§3-3   刚体定轴转动的动能定理</a:t>
            </a:r>
          </a:p>
        </p:txBody>
      </p:sp>
      <p:sp>
        <p:nvSpPr>
          <p:cNvPr id="4104" name="Rectangle 8">
            <a:hlinkClick r:id="rId7" action="ppaction://hlinksldjump" highlightClick="1">
              <a:snd r:embed="rId3" name="camera.wav"/>
            </a:hlinkClick>
          </p:cNvPr>
          <p:cNvSpPr>
            <a:spLocks noChangeArrowheads="1"/>
          </p:cNvSpPr>
          <p:nvPr/>
        </p:nvSpPr>
        <p:spPr bwMode="auto">
          <a:xfrm>
            <a:off x="611188" y="3117850"/>
            <a:ext cx="48244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§3-4   角动量定理和角动量守恒定律　　</a:t>
            </a:r>
          </a:p>
        </p:txBody>
      </p:sp>
      <p:pic>
        <p:nvPicPr>
          <p:cNvPr id="9222" name="Picture 14" descr="967215~1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987425"/>
            <a:ext cx="2339975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8">
            <a:hlinkClick r:id="rId9" action="ppaction://hlinksldjump" highlightClick="1">
              <a:snd r:embed="rId3" name="camera.wav"/>
            </a:hlinkClick>
          </p:cNvPr>
          <p:cNvSpPr>
            <a:spLocks noChangeArrowheads="1"/>
          </p:cNvSpPr>
          <p:nvPr/>
        </p:nvSpPr>
        <p:spPr bwMode="auto">
          <a:xfrm>
            <a:off x="1547813" y="3684588"/>
            <a:ext cx="16557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本章小结　　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5075238" y="3327400"/>
            <a:ext cx="1152525" cy="973138"/>
            <a:chOff x="1565" y="2568"/>
            <a:chExt cx="726" cy="817"/>
          </a:xfrm>
        </p:grpSpPr>
        <p:pic>
          <p:nvPicPr>
            <p:cNvPr id="10252" name="任意多边形 24"/>
            <p:cNvPicPr preferRelativeResize="0"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5" y="2568"/>
              <a:ext cx="726" cy="8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53" name="Line 42"/>
            <p:cNvSpPr>
              <a:spLocks noChangeShapeType="1"/>
            </p:cNvSpPr>
            <p:nvPr/>
          </p:nvSpPr>
          <p:spPr bwMode="auto">
            <a:xfrm flipH="1">
              <a:off x="1793" y="2750"/>
              <a:ext cx="317" cy="408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81252" name="Rectangle 4"/>
          <p:cNvSpPr>
            <a:spLocks noChangeArrowheads="1"/>
          </p:cNvSpPr>
          <p:nvPr/>
        </p:nvSpPr>
        <p:spPr bwMode="auto">
          <a:xfrm>
            <a:off x="206375" y="1465263"/>
            <a:ext cx="51133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800" u="sng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无论有无外力作用下形状与大小均不变的物体。</a:t>
            </a:r>
          </a:p>
        </p:txBody>
      </p:sp>
      <p:sp>
        <p:nvSpPr>
          <p:cNvPr id="181255" name="Rectangle 7"/>
          <p:cNvSpPr>
            <a:spLocks noChangeArrowheads="1"/>
          </p:cNvSpPr>
          <p:nvPr/>
        </p:nvSpPr>
        <p:spPr bwMode="auto">
          <a:xfrm>
            <a:off x="466725" y="2490788"/>
            <a:ext cx="5473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800" u="sng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平动与转动：任何复杂的运动为这两种运动的叠加。</a:t>
            </a:r>
          </a:p>
        </p:txBody>
      </p:sp>
      <p:sp>
        <p:nvSpPr>
          <p:cNvPr id="181256" name="Rectangle 8"/>
          <p:cNvSpPr>
            <a:spLocks noChangeArrowheads="1"/>
          </p:cNvSpPr>
          <p:nvPr/>
        </p:nvSpPr>
        <p:spPr bwMode="auto">
          <a:xfrm>
            <a:off x="468313" y="3003550"/>
            <a:ext cx="64801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1800">
                <a:solidFill>
                  <a:srgbClr val="0000CC"/>
                </a:solidFill>
                <a:latin typeface="华文中宋" pitchFamily="2" charset="-122"/>
                <a:ea typeface="华文中宋" pitchFamily="2" charset="-122"/>
              </a:rPr>
              <a:t>1</a:t>
            </a:r>
            <a:r>
              <a:rPr lang="zh-CN" altLang="en-US" sz="1800">
                <a:solidFill>
                  <a:srgbClr val="0000CC"/>
                </a:solidFill>
                <a:latin typeface="华文中宋" pitchFamily="2" charset="-122"/>
                <a:ea typeface="华文中宋" pitchFamily="2" charset="-122"/>
              </a:rPr>
              <a:t>、平动：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刚体上任一给定直线（或任意两质点间的连线）在运动中空间方向始终不变而保持平行。</a:t>
            </a:r>
          </a:p>
        </p:txBody>
      </p:sp>
      <p:sp>
        <p:nvSpPr>
          <p:cNvPr id="181263" name="Rectangle 15"/>
          <p:cNvSpPr>
            <a:spLocks noChangeArrowheads="1"/>
          </p:cNvSpPr>
          <p:nvPr/>
        </p:nvSpPr>
        <p:spPr bwMode="auto">
          <a:xfrm>
            <a:off x="539750" y="4013200"/>
            <a:ext cx="64087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特点：各质元位移、速度、加速度均相同。</a:t>
            </a:r>
          </a:p>
          <a:p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          刚体质心的运动代表了刚体平动时各个质元的运动。</a:t>
            </a:r>
          </a:p>
        </p:txBody>
      </p: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5075238" y="3327400"/>
            <a:ext cx="1152525" cy="973138"/>
            <a:chOff x="1565" y="2568"/>
            <a:chExt cx="726" cy="817"/>
          </a:xfrm>
        </p:grpSpPr>
        <p:pic>
          <p:nvPicPr>
            <p:cNvPr id="10250" name="任意多边形 24"/>
            <p:cNvPicPr preferRelativeResize="0"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5" y="2568"/>
              <a:ext cx="726" cy="8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51" name="Line 48"/>
            <p:cNvSpPr>
              <a:spLocks noChangeShapeType="1"/>
            </p:cNvSpPr>
            <p:nvPr/>
          </p:nvSpPr>
          <p:spPr bwMode="auto">
            <a:xfrm flipH="1">
              <a:off x="1793" y="2750"/>
              <a:ext cx="317" cy="408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0248" name="Text Box 2"/>
          <p:cNvSpPr>
            <a:spLocks noChangeArrowheads="1"/>
          </p:cNvSpPr>
          <p:nvPr/>
        </p:nvSpPr>
        <p:spPr bwMode="auto">
          <a:xfrm>
            <a:off x="792163" y="936625"/>
            <a:ext cx="2232025" cy="400050"/>
          </a:xfrm>
          <a:prstGeom prst="homePlate">
            <a:avLst>
              <a:gd name="adj" fmla="val 50033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一、什么是刚体</a:t>
            </a:r>
          </a:p>
        </p:txBody>
      </p:sp>
      <p:sp>
        <p:nvSpPr>
          <p:cNvPr id="14" name="Text Box 2"/>
          <p:cNvSpPr>
            <a:spLocks noChangeArrowheads="1"/>
          </p:cNvSpPr>
          <p:nvPr/>
        </p:nvSpPr>
        <p:spPr bwMode="auto">
          <a:xfrm>
            <a:off x="827088" y="1962150"/>
            <a:ext cx="3168650" cy="400050"/>
          </a:xfrm>
          <a:prstGeom prst="homePlate">
            <a:avLst>
              <a:gd name="adj" fmla="val 50054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二、刚体的基本运动形式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1.11111E-6 C 0.02517 -0.04043 0.05052 -0.08056 0.07986 -0.06574 C 0.10903 -0.05062 0.14531 0.07932 0.17535 0.09074 C 0.20538 0.10247 0.23246 0.05309 0.25989 0.00401 " pathEditMode="relative" rAng="0" ptsTypes="aaaA">
                                      <p:cBhvr>
                                        <p:cTn id="3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86" y="10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81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2" grpId="0"/>
      <p:bldP spid="181255" grpId="0"/>
      <p:bldP spid="181256" grpId="0"/>
      <p:bldP spid="181263" grpId="0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68313" y="974725"/>
            <a:ext cx="1655762" cy="36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en-US" altLang="zh-CN" sz="1800" b="1" smtClean="0">
                <a:solidFill>
                  <a:srgbClr val="0000CC"/>
                </a:solidFill>
                <a:latin typeface="华文中宋" pitchFamily="2" charset="-122"/>
                <a:ea typeface="华文中宋" pitchFamily="2" charset="-122"/>
              </a:rPr>
              <a:t>2</a:t>
            </a:r>
            <a:r>
              <a:rPr lang="zh-CN" altLang="en-US" sz="1800" b="1" smtClean="0">
                <a:solidFill>
                  <a:srgbClr val="0000CC"/>
                </a:solidFill>
                <a:latin typeface="华文中宋" pitchFamily="2" charset="-122"/>
                <a:ea typeface="华文中宋" pitchFamily="2" charset="-122"/>
              </a:rPr>
              <a:t>、转动</a:t>
            </a:r>
          </a:p>
        </p:txBody>
      </p:sp>
      <p:sp>
        <p:nvSpPr>
          <p:cNvPr id="184324" name="Rectangle 4"/>
          <p:cNvSpPr>
            <a:spLocks noChangeArrowheads="1"/>
          </p:cNvSpPr>
          <p:nvPr/>
        </p:nvSpPr>
        <p:spPr bwMode="auto">
          <a:xfrm>
            <a:off x="395288" y="3076575"/>
            <a:ext cx="74898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定轴转动：转轴相对参考系静止；非定轴转动：转轴相对参考系运动。</a:t>
            </a:r>
          </a:p>
        </p:txBody>
      </p:sp>
      <p:pic>
        <p:nvPicPr>
          <p:cNvPr id="184331" name="Picture 11" descr="200891~1"/>
          <p:cNvPicPr preferRelativeResize="0"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1073150"/>
            <a:ext cx="3024188" cy="203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36" name="Rectangle 16"/>
          <p:cNvSpPr>
            <a:spLocks noChangeArrowheads="1"/>
          </p:cNvSpPr>
          <p:nvPr/>
        </p:nvSpPr>
        <p:spPr bwMode="auto">
          <a:xfrm>
            <a:off x="2700338" y="801688"/>
            <a:ext cx="19446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定轴转动</a:t>
            </a:r>
          </a:p>
        </p:txBody>
      </p:sp>
      <p:sp>
        <p:nvSpPr>
          <p:cNvPr id="184337" name="Rectangle 17"/>
          <p:cNvSpPr>
            <a:spLocks noChangeArrowheads="1"/>
          </p:cNvSpPr>
          <p:nvPr/>
        </p:nvSpPr>
        <p:spPr bwMode="auto">
          <a:xfrm>
            <a:off x="6229350" y="801688"/>
            <a:ext cx="2232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非定轴转动</a:t>
            </a:r>
          </a:p>
        </p:txBody>
      </p:sp>
      <p:pic>
        <p:nvPicPr>
          <p:cNvPr id="184350" name="Picture 30" descr="201009~1"/>
          <p:cNvPicPr preferRelativeResize="0"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158875"/>
            <a:ext cx="2808288" cy="198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1" name="Rectangle 31"/>
          <p:cNvSpPr>
            <a:spLocks noChangeArrowheads="1"/>
          </p:cNvSpPr>
          <p:nvPr/>
        </p:nvSpPr>
        <p:spPr bwMode="auto">
          <a:xfrm>
            <a:off x="684213" y="3413125"/>
            <a:ext cx="75596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US" altLang="zh-CN" sz="1800">
                <a:solidFill>
                  <a:srgbClr val="0000CC"/>
                </a:solidFill>
                <a:latin typeface="华文中宋" pitchFamily="2" charset="-122"/>
                <a:ea typeface="华文中宋" pitchFamily="2" charset="-122"/>
              </a:rPr>
              <a:t>3</a:t>
            </a:r>
            <a:r>
              <a:rPr lang="zh-CN" altLang="en-US" sz="1800">
                <a:solidFill>
                  <a:srgbClr val="0000CC"/>
                </a:solidFill>
                <a:latin typeface="华文中宋" pitchFamily="2" charset="-122"/>
                <a:ea typeface="华文中宋" pitchFamily="2" charset="-122"/>
              </a:rPr>
              <a:t>、刚体的复杂运动：平动与转动的合成运动。</a:t>
            </a:r>
          </a:p>
        </p:txBody>
      </p:sp>
      <p:pic>
        <p:nvPicPr>
          <p:cNvPr id="184352" name="Picture 32" descr="340868~1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4" t="14474" r="3125" b="10213"/>
          <a:stretch>
            <a:fillRect/>
          </a:stretch>
        </p:blipFill>
        <p:spPr bwMode="auto">
          <a:xfrm>
            <a:off x="5508625" y="3760788"/>
            <a:ext cx="2592388" cy="82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1116013" y="4514850"/>
            <a:ext cx="2017712" cy="46038"/>
            <a:chOff x="1247" y="1570"/>
            <a:chExt cx="2542" cy="0"/>
          </a:xfrm>
        </p:grpSpPr>
        <p:sp>
          <p:nvSpPr>
            <p:cNvPr id="11278" name="Line 34"/>
            <p:cNvSpPr>
              <a:spLocks noChangeShapeType="1"/>
            </p:cNvSpPr>
            <p:nvPr/>
          </p:nvSpPr>
          <p:spPr bwMode="auto">
            <a:xfrm flipH="1">
              <a:off x="1247" y="1570"/>
              <a:ext cx="7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279" name="Line 35"/>
            <p:cNvSpPr>
              <a:spLocks noChangeShapeType="1"/>
            </p:cNvSpPr>
            <p:nvPr/>
          </p:nvSpPr>
          <p:spPr bwMode="auto">
            <a:xfrm flipH="1">
              <a:off x="3017" y="1570"/>
              <a:ext cx="7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1547813" y="4289425"/>
            <a:ext cx="1908175" cy="436563"/>
            <a:chOff x="1701" y="1022"/>
            <a:chExt cx="2404" cy="961"/>
          </a:xfrm>
        </p:grpSpPr>
        <p:sp>
          <p:nvSpPr>
            <p:cNvPr id="11276" name="AutoShape 37"/>
            <p:cNvSpPr>
              <a:spLocks noChangeArrowheads="1"/>
            </p:cNvSpPr>
            <p:nvPr/>
          </p:nvSpPr>
          <p:spPr bwMode="auto">
            <a:xfrm flipH="1">
              <a:off x="1701" y="1022"/>
              <a:ext cx="634" cy="96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8 w 21600"/>
                <a:gd name="T19" fmla="*/ 3169 h 21600"/>
                <a:gd name="T20" fmla="*/ 18432 w 21600"/>
                <a:gd name="T21" fmla="*/ 18431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6200" y="10800"/>
                  </a:moveTo>
                  <a:cubicBezTo>
                    <a:pt x="16200" y="7817"/>
                    <a:pt x="13782" y="5400"/>
                    <a:pt x="10800" y="5400"/>
                  </a:cubicBezTo>
                  <a:cubicBezTo>
                    <a:pt x="7817" y="5400"/>
                    <a:pt x="5400" y="7817"/>
                    <a:pt x="5400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18900" y="16200"/>
                  </a:lnTo>
                  <a:lnTo>
                    <a:pt x="13500" y="10800"/>
                  </a:lnTo>
                  <a:lnTo>
                    <a:pt x="16200" y="108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77" name="AutoShape 38"/>
            <p:cNvSpPr>
              <a:spLocks noChangeArrowheads="1"/>
            </p:cNvSpPr>
            <p:nvPr/>
          </p:nvSpPr>
          <p:spPr bwMode="auto">
            <a:xfrm flipH="1">
              <a:off x="3471" y="1022"/>
              <a:ext cx="634" cy="96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8 w 21600"/>
                <a:gd name="T19" fmla="*/ 3169 h 21600"/>
                <a:gd name="T20" fmla="*/ 18432 w 21600"/>
                <a:gd name="T21" fmla="*/ 18431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6200" y="10800"/>
                  </a:moveTo>
                  <a:cubicBezTo>
                    <a:pt x="16200" y="7817"/>
                    <a:pt x="13782" y="5400"/>
                    <a:pt x="10800" y="5400"/>
                  </a:cubicBezTo>
                  <a:cubicBezTo>
                    <a:pt x="7817" y="5400"/>
                    <a:pt x="5400" y="7817"/>
                    <a:pt x="5400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18900" y="16200"/>
                  </a:lnTo>
                  <a:lnTo>
                    <a:pt x="13500" y="10800"/>
                  </a:lnTo>
                  <a:lnTo>
                    <a:pt x="16200" y="108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4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4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2.02312E-6 L -0.43298 -0.00324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1843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649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4" grpId="0"/>
      <p:bldP spid="184336" grpId="0"/>
      <p:bldP spid="184337" grpId="0"/>
      <p:bldP spid="18435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60" name="Rectangle 16"/>
          <p:cNvSpPr>
            <a:spLocks noChangeArrowheads="1"/>
          </p:cNvSpPr>
          <p:nvPr/>
        </p:nvSpPr>
        <p:spPr bwMode="auto">
          <a:xfrm>
            <a:off x="2986088" y="1608138"/>
            <a:ext cx="1944687" cy="369887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 sz="1800">
                <a:solidFill>
                  <a:srgbClr val="0000CC"/>
                </a:solidFill>
                <a:latin typeface="华文中宋" pitchFamily="2" charset="-122"/>
                <a:ea typeface="华文中宋" pitchFamily="2" charset="-122"/>
              </a:rPr>
              <a:t>刚体的运动</a:t>
            </a:r>
          </a:p>
        </p:txBody>
      </p:sp>
      <p:sp>
        <p:nvSpPr>
          <p:cNvPr id="185361" name="Rectangle 17"/>
          <p:cNvSpPr>
            <a:spLocks noChangeArrowheads="1"/>
          </p:cNvSpPr>
          <p:nvPr/>
        </p:nvSpPr>
        <p:spPr bwMode="auto">
          <a:xfrm>
            <a:off x="898525" y="2309813"/>
            <a:ext cx="1944688" cy="369887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 sz="1800">
                <a:solidFill>
                  <a:srgbClr val="0000CC"/>
                </a:solidFill>
                <a:latin typeface="华文中宋" pitchFamily="2" charset="-122"/>
                <a:ea typeface="华文中宋" pitchFamily="2" charset="-122"/>
              </a:rPr>
              <a:t>平动</a:t>
            </a:r>
          </a:p>
        </p:txBody>
      </p:sp>
      <p:sp>
        <p:nvSpPr>
          <p:cNvPr id="185362" name="Rectangle 18"/>
          <p:cNvSpPr>
            <a:spLocks noChangeArrowheads="1"/>
          </p:cNvSpPr>
          <p:nvPr/>
        </p:nvSpPr>
        <p:spPr bwMode="auto">
          <a:xfrm>
            <a:off x="5146675" y="2316163"/>
            <a:ext cx="1944688" cy="369887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 sz="1800">
                <a:solidFill>
                  <a:srgbClr val="0000CC"/>
                </a:solidFill>
                <a:latin typeface="华文中宋" pitchFamily="2" charset="-122"/>
                <a:ea typeface="华文中宋" pitchFamily="2" charset="-122"/>
              </a:rPr>
              <a:t>转动</a:t>
            </a:r>
          </a:p>
        </p:txBody>
      </p:sp>
      <p:sp>
        <p:nvSpPr>
          <p:cNvPr id="185363" name="Rectangle 19"/>
          <p:cNvSpPr>
            <a:spLocks noChangeArrowheads="1"/>
          </p:cNvSpPr>
          <p:nvPr/>
        </p:nvSpPr>
        <p:spPr bwMode="auto">
          <a:xfrm>
            <a:off x="250825" y="3011488"/>
            <a:ext cx="1223963" cy="369887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 sz="18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升降机</a:t>
            </a:r>
          </a:p>
        </p:txBody>
      </p:sp>
      <p:sp>
        <p:nvSpPr>
          <p:cNvPr id="185364" name="Rectangle 20"/>
          <p:cNvSpPr>
            <a:spLocks noChangeArrowheads="1"/>
          </p:cNvSpPr>
          <p:nvPr/>
        </p:nvSpPr>
        <p:spPr bwMode="auto">
          <a:xfrm>
            <a:off x="2051050" y="3011488"/>
            <a:ext cx="1366838" cy="369887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 sz="18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活塞</a:t>
            </a:r>
          </a:p>
        </p:txBody>
      </p:sp>
      <p:sp>
        <p:nvSpPr>
          <p:cNvPr id="185365" name="Rectangle 21"/>
          <p:cNvSpPr>
            <a:spLocks noChangeArrowheads="1"/>
          </p:cNvSpPr>
          <p:nvPr/>
        </p:nvSpPr>
        <p:spPr bwMode="auto">
          <a:xfrm>
            <a:off x="3778250" y="3011488"/>
            <a:ext cx="1944688" cy="369887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 sz="1800">
                <a:solidFill>
                  <a:srgbClr val="0000CC"/>
                </a:solidFill>
                <a:latin typeface="华文中宋" pitchFamily="2" charset="-122"/>
                <a:ea typeface="华文中宋" pitchFamily="2" charset="-122"/>
              </a:rPr>
              <a:t>非定轴转动</a:t>
            </a:r>
            <a:endParaRPr lang="en-US" altLang="zh-CN" sz="1800">
              <a:solidFill>
                <a:srgbClr val="0000CC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85366" name="Rectangle 22"/>
          <p:cNvSpPr>
            <a:spLocks noChangeArrowheads="1"/>
          </p:cNvSpPr>
          <p:nvPr/>
        </p:nvSpPr>
        <p:spPr bwMode="auto">
          <a:xfrm>
            <a:off x="6586538" y="3011488"/>
            <a:ext cx="1944687" cy="369887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 sz="1800">
                <a:solidFill>
                  <a:srgbClr val="0000CC"/>
                </a:solidFill>
                <a:latin typeface="华文中宋" pitchFamily="2" charset="-122"/>
                <a:ea typeface="华文中宋" pitchFamily="2" charset="-122"/>
              </a:rPr>
              <a:t>定轴转动</a:t>
            </a:r>
            <a:endParaRPr lang="en-US" altLang="zh-CN" sz="1800">
              <a:solidFill>
                <a:srgbClr val="0000CC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85367" name="Rectangle 23"/>
          <p:cNvSpPr>
            <a:spLocks noChangeArrowheads="1"/>
          </p:cNvSpPr>
          <p:nvPr/>
        </p:nvSpPr>
        <p:spPr bwMode="auto">
          <a:xfrm>
            <a:off x="3778250" y="4002088"/>
            <a:ext cx="1944688" cy="369887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 sz="18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掷出的铁饼</a:t>
            </a:r>
            <a:endParaRPr lang="en-US" altLang="zh-CN" sz="1800">
              <a:solidFill>
                <a:srgbClr val="FF0000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85368" name="Rectangle 24"/>
          <p:cNvSpPr>
            <a:spLocks noChangeArrowheads="1"/>
          </p:cNvSpPr>
          <p:nvPr/>
        </p:nvSpPr>
        <p:spPr bwMode="auto">
          <a:xfrm>
            <a:off x="6010275" y="4002088"/>
            <a:ext cx="1223963" cy="369887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 sz="18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时钟</a:t>
            </a:r>
          </a:p>
        </p:txBody>
      </p:sp>
      <p:sp>
        <p:nvSpPr>
          <p:cNvPr id="185369" name="Rectangle 25"/>
          <p:cNvSpPr>
            <a:spLocks noChangeArrowheads="1"/>
          </p:cNvSpPr>
          <p:nvPr/>
        </p:nvSpPr>
        <p:spPr bwMode="auto">
          <a:xfrm>
            <a:off x="7523163" y="4002088"/>
            <a:ext cx="1152525" cy="369887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 sz="18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风车</a:t>
            </a:r>
          </a:p>
        </p:txBody>
      </p:sp>
      <p:sp>
        <p:nvSpPr>
          <p:cNvPr id="12300" name="Text Box 2"/>
          <p:cNvSpPr>
            <a:spLocks noChangeArrowheads="1"/>
          </p:cNvSpPr>
          <p:nvPr/>
        </p:nvSpPr>
        <p:spPr bwMode="auto">
          <a:xfrm>
            <a:off x="827088" y="987425"/>
            <a:ext cx="2665412" cy="400050"/>
          </a:xfrm>
          <a:prstGeom prst="homePlate">
            <a:avLst>
              <a:gd name="adj" fmla="val 50063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三、刚体的运动类型</a:t>
            </a:r>
          </a:p>
        </p:txBody>
      </p:sp>
      <p:sp>
        <p:nvSpPr>
          <p:cNvPr id="3" name="左大括号 2"/>
          <p:cNvSpPr/>
          <p:nvPr/>
        </p:nvSpPr>
        <p:spPr>
          <a:xfrm rot="5400000">
            <a:off x="3721100" y="20638"/>
            <a:ext cx="331788" cy="4246562"/>
          </a:xfrm>
          <a:prstGeom prst="leftBrace">
            <a:avLst>
              <a:gd name="adj1" fmla="val 73370"/>
              <a:gd name="adj2" fmla="val 50000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2" name="左大括号 21"/>
          <p:cNvSpPr/>
          <p:nvPr/>
        </p:nvSpPr>
        <p:spPr>
          <a:xfrm rot="5400000">
            <a:off x="1614487" y="1641476"/>
            <a:ext cx="295275" cy="2444750"/>
          </a:xfrm>
          <a:prstGeom prst="leftBrace">
            <a:avLst>
              <a:gd name="adj1" fmla="val 73370"/>
              <a:gd name="adj2" fmla="val 50000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3" name="左大括号 22"/>
          <p:cNvSpPr/>
          <p:nvPr/>
        </p:nvSpPr>
        <p:spPr>
          <a:xfrm rot="5400000">
            <a:off x="6006306" y="1642270"/>
            <a:ext cx="295275" cy="2443162"/>
          </a:xfrm>
          <a:prstGeom prst="leftBrace">
            <a:avLst>
              <a:gd name="adj1" fmla="val 73370"/>
              <a:gd name="adj2" fmla="val 50000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4" name="左大括号 23"/>
          <p:cNvSpPr/>
          <p:nvPr/>
        </p:nvSpPr>
        <p:spPr>
          <a:xfrm rot="5400000">
            <a:off x="7133432" y="2828131"/>
            <a:ext cx="566738" cy="1800225"/>
          </a:xfrm>
          <a:prstGeom prst="leftBrace">
            <a:avLst>
              <a:gd name="adj1" fmla="val 73370"/>
              <a:gd name="adj2" fmla="val 48710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5" name="直接连接符 4"/>
          <p:cNvCxnSpPr>
            <a:stCxn id="185365" idx="2"/>
            <a:endCxn id="185367" idx="0"/>
          </p:cNvCxnSpPr>
          <p:nvPr/>
        </p:nvCxnSpPr>
        <p:spPr>
          <a:xfrm>
            <a:off x="4751388" y="3381375"/>
            <a:ext cx="0" cy="620713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5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5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8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8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2000"/>
                                        <p:tgtEl>
                                          <p:spTgt spid="18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8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8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8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18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60" grpId="0" animBg="1"/>
      <p:bldP spid="185361" grpId="0" animBg="1"/>
      <p:bldP spid="185362" grpId="0" animBg="1"/>
      <p:bldP spid="185363" grpId="0" animBg="1"/>
      <p:bldP spid="185364" grpId="0" animBg="1"/>
      <p:bldP spid="185365" grpId="0" animBg="1"/>
      <p:bldP spid="185366" grpId="0" animBg="1"/>
      <p:bldP spid="185367" grpId="0" animBg="1"/>
      <p:bldP spid="185368" grpId="0" animBg="1"/>
      <p:bldP spid="185369" grpId="0" animBg="1"/>
      <p:bldP spid="3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67" name="Text Box 71"/>
          <p:cNvSpPr txBox="1">
            <a:spLocks noChangeArrowheads="1"/>
          </p:cNvSpPr>
          <p:nvPr/>
        </p:nvSpPr>
        <p:spPr bwMode="auto">
          <a:xfrm>
            <a:off x="468313" y="2130425"/>
            <a:ext cx="5040312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1" lang="zh-CN" altLang="en-US" sz="1800">
                <a:latin typeface="华文中宋" pitchFamily="2" charset="-122"/>
                <a:ea typeface="华文中宋" pitchFamily="2" charset="-122"/>
              </a:rPr>
              <a:t>特征：所有质元</a:t>
            </a:r>
            <a:r>
              <a:rPr kumimoji="1" lang="zh-CN" altLang="en-US" sz="18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角量相同；线量各不相同，并正比于距轴的距离</a:t>
            </a:r>
            <a:r>
              <a:rPr kumimoji="1" lang="en-US" altLang="zh-CN" sz="1800" i="1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r</a:t>
            </a:r>
            <a:r>
              <a:rPr kumimoji="1" lang="zh-CN" altLang="en-US" sz="18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。</a:t>
            </a:r>
            <a:endParaRPr kumimoji="1" lang="en-US" altLang="zh-CN" sz="1800">
              <a:solidFill>
                <a:srgbClr val="FF0000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3" name="Text Box 52"/>
          <p:cNvSpPr txBox="1">
            <a:spLocks noChangeArrowheads="1"/>
          </p:cNvSpPr>
          <p:nvPr/>
        </p:nvSpPr>
        <p:spPr bwMode="auto">
          <a:xfrm>
            <a:off x="468313" y="1277938"/>
            <a:ext cx="55435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>
                <a:latin typeface="华文中宋" pitchFamily="2" charset="-122"/>
                <a:ea typeface="华文中宋" pitchFamily="2" charset="-122"/>
              </a:rPr>
              <a:t>      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若转动轴固定不动，这种转动称为定轴转动。这个转轴称为</a:t>
            </a:r>
            <a:r>
              <a:rPr lang="zh-CN" altLang="en-US" sz="1800">
                <a:solidFill>
                  <a:srgbClr val="0000CC"/>
                </a:solidFill>
                <a:latin typeface="华文中宋" pitchFamily="2" charset="-122"/>
                <a:ea typeface="华文中宋" pitchFamily="2" charset="-122"/>
              </a:rPr>
              <a:t>固定轴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。</a:t>
            </a:r>
            <a:endParaRPr lang="en-US" altLang="zh-CN" sz="180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5" name="Text Box 90"/>
          <p:cNvSpPr txBox="1">
            <a:spLocks noChangeArrowheads="1"/>
          </p:cNvSpPr>
          <p:nvPr/>
        </p:nvSpPr>
        <p:spPr bwMode="auto">
          <a:xfrm>
            <a:off x="468313" y="1843088"/>
            <a:ext cx="50403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18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转动平面：</a:t>
            </a:r>
            <a:r>
              <a:rPr kumimoji="1"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垂直于固定轴的平面。</a:t>
            </a:r>
            <a:r>
              <a:rPr kumimoji="1" lang="zh-CN" altLang="en-US" sz="1800"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graphicFrame>
        <p:nvGraphicFramePr>
          <p:cNvPr id="49" name="对象 48"/>
          <p:cNvGraphicFramePr>
            <a:graphicFrameLocks noChangeAspect="1"/>
          </p:cNvGraphicFramePr>
          <p:nvPr/>
        </p:nvGraphicFramePr>
        <p:xfrm>
          <a:off x="3816350" y="3216275"/>
          <a:ext cx="106045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3" name="公式" r:id="rId3" imgW="533169" imgH="228501" progId="Equation.3">
                  <p:embed/>
                </p:oleObj>
              </mc:Choice>
              <mc:Fallback>
                <p:oleObj name="公式" r:id="rId3" imgW="533169" imgH="228501" progId="Equation.3">
                  <p:embed/>
                  <p:pic>
                    <p:nvPicPr>
                      <p:cNvPr id="0" name="对象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6350" y="3216275"/>
                        <a:ext cx="1060450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 noChangeAspect="1"/>
          </p:cNvGraphicFramePr>
          <p:nvPr/>
        </p:nvGraphicFramePr>
        <p:xfrm>
          <a:off x="3784600" y="3689350"/>
          <a:ext cx="1160463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4" name="公式" r:id="rId5" imgW="583947" imgH="228501" progId="Equation.3">
                  <p:embed/>
                </p:oleObj>
              </mc:Choice>
              <mc:Fallback>
                <p:oleObj name="公式" r:id="rId5" imgW="583947" imgH="228501" progId="Equation.3">
                  <p:embed/>
                  <p:pic>
                    <p:nvPicPr>
                      <p:cNvPr id="0" name="对象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600" y="3689350"/>
                        <a:ext cx="1160463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/>
          <p:cNvGraphicFramePr>
            <a:graphicFrameLocks noChangeAspect="1"/>
          </p:cNvGraphicFramePr>
          <p:nvPr/>
        </p:nvGraphicFramePr>
        <p:xfrm>
          <a:off x="3778250" y="4156075"/>
          <a:ext cx="1236663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5" name="公式" r:id="rId7" imgW="622030" imgH="241195" progId="Equation.3">
                  <p:embed/>
                </p:oleObj>
              </mc:Choice>
              <mc:Fallback>
                <p:oleObj name="公式" r:id="rId7" imgW="622030" imgH="241195" progId="Equation.3">
                  <p:embed/>
                  <p:pic>
                    <p:nvPicPr>
                      <p:cNvPr id="0" name="对象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4156075"/>
                        <a:ext cx="1236663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06"/>
          <p:cNvGrpSpPr>
            <a:grpSpLocks/>
          </p:cNvGrpSpPr>
          <p:nvPr/>
        </p:nvGrpSpPr>
        <p:grpSpPr bwMode="auto">
          <a:xfrm>
            <a:off x="5578475" y="917575"/>
            <a:ext cx="3530600" cy="1870075"/>
            <a:chOff x="3379" y="527"/>
            <a:chExt cx="2224" cy="1571"/>
          </a:xfrm>
        </p:grpSpPr>
        <p:grpSp>
          <p:nvGrpSpPr>
            <p:cNvPr id="13331" name="组合 41"/>
            <p:cNvGrpSpPr>
              <a:grpSpLocks/>
            </p:cNvGrpSpPr>
            <p:nvPr/>
          </p:nvGrpSpPr>
          <p:grpSpPr bwMode="auto">
            <a:xfrm>
              <a:off x="3379" y="750"/>
              <a:ext cx="2224" cy="1348"/>
              <a:chOff x="6080283" y="2667790"/>
              <a:chExt cx="2310607" cy="1357456"/>
            </a:xfrm>
          </p:grpSpPr>
          <p:cxnSp>
            <p:nvCxnSpPr>
              <p:cNvPr id="13339" name="直接连接符 26"/>
              <p:cNvCxnSpPr>
                <a:cxnSpLocks noChangeShapeType="1"/>
              </p:cNvCxnSpPr>
              <p:nvPr/>
            </p:nvCxnSpPr>
            <p:spPr bwMode="auto">
              <a:xfrm>
                <a:off x="7221575" y="3563775"/>
                <a:ext cx="0" cy="461471"/>
              </a:xfrm>
              <a:prstGeom prst="line">
                <a:avLst/>
              </a:prstGeom>
              <a:noFill/>
              <a:ln w="38100" algn="ctr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4" name="平行四边形 23"/>
              <p:cNvSpPr>
                <a:spLocks noChangeArrowheads="1"/>
              </p:cNvSpPr>
              <p:nvPr/>
            </p:nvSpPr>
            <p:spPr bwMode="auto">
              <a:xfrm>
                <a:off x="6080283" y="3071736"/>
                <a:ext cx="2310607" cy="397520"/>
              </a:xfrm>
              <a:prstGeom prst="parallelogram">
                <a:avLst>
                  <a:gd name="adj" fmla="val 139655"/>
                </a:avLst>
              </a:prstGeom>
              <a:solidFill>
                <a:schemeClr val="bg1"/>
              </a:solidFill>
              <a:ln w="38100" algn="ctr">
                <a:solidFill>
                  <a:srgbClr val="0070C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defRPr/>
                </a:pPr>
                <a:endParaRPr lang="zh-CN" altLang="en-US" sz="1800" b="0">
                  <a:solidFill>
                    <a:schemeClr val="lt1"/>
                  </a:solidFill>
                  <a:latin typeface="+mn-lt"/>
                  <a:ea typeface="+mn-ea"/>
                </a:endParaRPr>
              </a:p>
            </p:txBody>
          </p:sp>
          <p:cxnSp>
            <p:nvCxnSpPr>
              <p:cNvPr id="13341" name="直接连接符 25"/>
              <p:cNvCxnSpPr>
                <a:cxnSpLocks noChangeShapeType="1"/>
              </p:cNvCxnSpPr>
              <p:nvPr/>
            </p:nvCxnSpPr>
            <p:spPr bwMode="auto">
              <a:xfrm>
                <a:off x="7231099" y="2667790"/>
                <a:ext cx="0" cy="594680"/>
              </a:xfrm>
              <a:prstGeom prst="line">
                <a:avLst/>
              </a:prstGeom>
              <a:noFill/>
              <a:ln w="38100" algn="ctr">
                <a:solidFill>
                  <a:srgbClr val="C00000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1" name="椭圆 30"/>
            <p:cNvSpPr>
              <a:spLocks noChangeArrowheads="1"/>
            </p:cNvSpPr>
            <p:nvPr/>
          </p:nvSpPr>
          <p:spPr bwMode="auto">
            <a:xfrm>
              <a:off x="3892" y="1128"/>
              <a:ext cx="1161" cy="436"/>
            </a:xfrm>
            <a:prstGeom prst="ellipse">
              <a:avLst/>
            </a:prstGeom>
            <a:noFill/>
            <a:ln w="38100" algn="ctr">
              <a:solidFill>
                <a:srgbClr val="06F4D8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sz="1800" b="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cxnSp>
          <p:nvCxnSpPr>
            <p:cNvPr id="13333" name="直接箭头连接符 32"/>
            <p:cNvCxnSpPr>
              <a:cxnSpLocks noChangeShapeType="1"/>
            </p:cNvCxnSpPr>
            <p:nvPr/>
          </p:nvCxnSpPr>
          <p:spPr bwMode="auto">
            <a:xfrm>
              <a:off x="4472" y="1347"/>
              <a:ext cx="480" cy="103"/>
            </a:xfrm>
            <a:prstGeom prst="straightConnector1">
              <a:avLst/>
            </a:prstGeom>
            <a:noFill/>
            <a:ln w="38100" algn="ctr">
              <a:solidFill>
                <a:srgbClr val="4A7EBB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" name="椭圆 33"/>
            <p:cNvSpPr>
              <a:spLocks noChangeArrowheads="1"/>
            </p:cNvSpPr>
            <p:nvPr/>
          </p:nvSpPr>
          <p:spPr bwMode="auto">
            <a:xfrm>
              <a:off x="4921" y="1434"/>
              <a:ext cx="91" cy="72"/>
            </a:xfrm>
            <a:prstGeom prst="ellipse">
              <a:avLst/>
            </a:prstGeom>
            <a:solidFill>
              <a:srgbClr val="FFC000"/>
            </a:solidFill>
            <a:ln w="38100" algn="ctr">
              <a:solidFill>
                <a:srgbClr val="0070C0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sz="1800" b="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cxnSp>
          <p:nvCxnSpPr>
            <p:cNvPr id="13335" name="直接箭头连接符 37"/>
            <p:cNvCxnSpPr>
              <a:cxnSpLocks noChangeShapeType="1"/>
            </p:cNvCxnSpPr>
            <p:nvPr/>
          </p:nvCxnSpPr>
          <p:spPr bwMode="auto">
            <a:xfrm flipV="1">
              <a:off x="5007" y="1123"/>
              <a:ext cx="244" cy="327"/>
            </a:xfrm>
            <a:prstGeom prst="straightConnector1">
              <a:avLst/>
            </a:prstGeom>
            <a:noFill/>
            <a:ln w="38100" algn="ctr">
              <a:solidFill>
                <a:srgbClr val="4A7EBB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13336" name="对象 48"/>
            <p:cNvGraphicFramePr>
              <a:graphicFrameLocks noChangeAspect="1"/>
            </p:cNvGraphicFramePr>
            <p:nvPr/>
          </p:nvGraphicFramePr>
          <p:xfrm>
            <a:off x="4339" y="527"/>
            <a:ext cx="245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56" name="公式" r:id="rId9" imgW="152202" imgH="177569" progId="Equation.3">
                    <p:embed/>
                  </p:oleObj>
                </mc:Choice>
                <mc:Fallback>
                  <p:oleObj name="公式" r:id="rId9" imgW="152202" imgH="177569" progId="Equation.3">
                    <p:embed/>
                    <p:pic>
                      <p:nvPicPr>
                        <p:cNvPr id="0" name="对象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9" y="527"/>
                          <a:ext cx="245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7" name="对象 48"/>
            <p:cNvGraphicFramePr>
              <a:graphicFrameLocks noChangeAspect="1"/>
            </p:cNvGraphicFramePr>
            <p:nvPr/>
          </p:nvGraphicFramePr>
          <p:xfrm>
            <a:off x="4525" y="1339"/>
            <a:ext cx="233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57" name="公式" r:id="rId11" imgW="126890" imgH="228402" progId="Equation.3">
                    <p:embed/>
                  </p:oleObj>
                </mc:Choice>
                <mc:Fallback>
                  <p:oleObj name="公式" r:id="rId11" imgW="126890" imgH="228402" progId="Equation.3">
                    <p:embed/>
                    <p:pic>
                      <p:nvPicPr>
                        <p:cNvPr id="0" name="对象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5" y="1339"/>
                          <a:ext cx="233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8" name="对象 48"/>
            <p:cNvGraphicFramePr>
              <a:graphicFrameLocks noChangeAspect="1"/>
            </p:cNvGraphicFramePr>
            <p:nvPr/>
          </p:nvGraphicFramePr>
          <p:xfrm>
            <a:off x="5238" y="933"/>
            <a:ext cx="261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58" name="公式" r:id="rId13" imgW="165028" imgH="228501" progId="Equation.3">
                    <p:embed/>
                  </p:oleObj>
                </mc:Choice>
                <mc:Fallback>
                  <p:oleObj name="公式" r:id="rId13" imgW="165028" imgH="228501" progId="Equation.3">
                    <p:embed/>
                    <p:pic>
                      <p:nvPicPr>
                        <p:cNvPr id="0" name="对象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8" y="933"/>
                          <a:ext cx="261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3466" name="Text Box 170"/>
          <p:cNvSpPr txBox="1">
            <a:spLocks noChangeArrowheads="1"/>
          </p:cNvSpPr>
          <p:nvPr/>
        </p:nvSpPr>
        <p:spPr bwMode="auto">
          <a:xfrm>
            <a:off x="3563938" y="2841625"/>
            <a:ext cx="1728787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381000" indent="-3810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00FFCC"/>
              </a:buClr>
              <a:buFont typeface="Monotype Sorts" pitchFamily="2" charset="2"/>
              <a:buNone/>
            </a:pPr>
            <a:r>
              <a:rPr kumimoji="1" lang="zh-CN" altLang="en-US" sz="1800">
                <a:latin typeface="华文中宋" pitchFamily="2" charset="-122"/>
                <a:ea typeface="华文中宋" pitchFamily="2" charset="-122"/>
              </a:rPr>
              <a:t>标量关系</a:t>
            </a:r>
          </a:p>
        </p:txBody>
      </p:sp>
      <p:sp>
        <p:nvSpPr>
          <p:cNvPr id="183467" name="Text Box 171"/>
          <p:cNvSpPr txBox="1">
            <a:spLocks noChangeArrowheads="1"/>
          </p:cNvSpPr>
          <p:nvPr/>
        </p:nvSpPr>
        <p:spPr bwMode="auto">
          <a:xfrm>
            <a:off x="5076825" y="2841625"/>
            <a:ext cx="2284413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381000" indent="-3810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rgbClr val="00FFCC"/>
              </a:buClr>
              <a:buFont typeface="Monotype Sorts" pitchFamily="2" charset="2"/>
              <a:buNone/>
            </a:pPr>
            <a:r>
              <a:rPr kumimoji="1" lang="zh-CN" altLang="en-US" sz="1800">
                <a:latin typeface="华文中宋" pitchFamily="2" charset="-122"/>
                <a:ea typeface="华文中宋" pitchFamily="2" charset="-122"/>
              </a:rPr>
              <a:t>矢量关系</a:t>
            </a:r>
          </a:p>
        </p:txBody>
      </p:sp>
      <p:graphicFrame>
        <p:nvGraphicFramePr>
          <p:cNvPr id="8" name="对象 48"/>
          <p:cNvGraphicFramePr>
            <a:graphicFrameLocks noChangeAspect="1"/>
          </p:cNvGraphicFramePr>
          <p:nvPr/>
        </p:nvGraphicFramePr>
        <p:xfrm>
          <a:off x="5684838" y="3270250"/>
          <a:ext cx="128587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9" name="公式" r:id="rId15" imgW="647700" imgH="228600" progId="Equation.3">
                  <p:embed/>
                </p:oleObj>
              </mc:Choice>
              <mc:Fallback>
                <p:oleObj name="公式" r:id="rId15" imgW="647700" imgH="228600" progId="Equation.3">
                  <p:embed/>
                  <p:pic>
                    <p:nvPicPr>
                      <p:cNvPr id="0" name="对象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4838" y="3270250"/>
                        <a:ext cx="1285875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48"/>
          <p:cNvGraphicFramePr>
            <a:graphicFrameLocks noChangeAspect="1"/>
          </p:cNvGraphicFramePr>
          <p:nvPr/>
        </p:nvGraphicFramePr>
        <p:xfrm>
          <a:off x="5581650" y="4175125"/>
          <a:ext cx="1439863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0" name="公式" r:id="rId17" imgW="723586" imgH="228501" progId="Equation.3">
                  <p:embed/>
                </p:oleObj>
              </mc:Choice>
              <mc:Fallback>
                <p:oleObj name="公式" r:id="rId17" imgW="723586" imgH="228501" progId="Equation.3">
                  <p:embed/>
                  <p:pic>
                    <p:nvPicPr>
                      <p:cNvPr id="0" name="对象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1650" y="4175125"/>
                        <a:ext cx="1439863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497" name="Text Box 201"/>
          <p:cNvSpPr txBox="1">
            <a:spLocks noChangeArrowheads="1"/>
          </p:cNvSpPr>
          <p:nvPr/>
        </p:nvSpPr>
        <p:spPr bwMode="auto">
          <a:xfrm>
            <a:off x="1625600" y="2859088"/>
            <a:ext cx="1250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>
              <a:lnSpc>
                <a:spcPct val="120000"/>
              </a:lnSpc>
            </a:pPr>
            <a:r>
              <a:rPr kumimoji="1" lang="zh-CN" altLang="en-US" sz="1800">
                <a:latin typeface="华文中宋" pitchFamily="2" charset="-122"/>
                <a:ea typeface="华文中宋" pitchFamily="2" charset="-122"/>
              </a:rPr>
              <a:t>角  量</a:t>
            </a:r>
            <a:endParaRPr kumimoji="1" lang="en-US" altLang="zh-CN" sz="1800">
              <a:solidFill>
                <a:srgbClr val="FF0000"/>
              </a:solidFill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11" name="对象 48"/>
          <p:cNvGraphicFramePr>
            <a:graphicFrameLocks noChangeAspect="1"/>
          </p:cNvGraphicFramePr>
          <p:nvPr/>
        </p:nvGraphicFramePr>
        <p:xfrm>
          <a:off x="1625600" y="3559175"/>
          <a:ext cx="1008063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1" name="Equation" r:id="rId19" imgW="507780" imgH="393529" progId="Equation.DSMT4">
                  <p:embed/>
                </p:oleObj>
              </mc:Choice>
              <mc:Fallback>
                <p:oleObj name="Equation" r:id="rId19" imgW="507780" imgH="393529" progId="Equation.DSMT4">
                  <p:embed/>
                  <p:pic>
                    <p:nvPicPr>
                      <p:cNvPr id="0" name="对象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5600" y="3559175"/>
                        <a:ext cx="1008063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49"/>
          <p:cNvGraphicFramePr>
            <a:graphicFrameLocks noChangeAspect="1"/>
          </p:cNvGraphicFramePr>
          <p:nvPr/>
        </p:nvGraphicFramePr>
        <p:xfrm>
          <a:off x="1579563" y="4127500"/>
          <a:ext cx="18161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2" name="Equation" r:id="rId21" imgW="914400" imgH="419100" progId="Equation.DSMT4">
                  <p:embed/>
                </p:oleObj>
              </mc:Choice>
              <mc:Fallback>
                <p:oleObj name="Equation" r:id="rId21" imgW="914400" imgH="419100" progId="Equation.DSMT4">
                  <p:embed/>
                  <p:pic>
                    <p:nvPicPr>
                      <p:cNvPr id="0" name="对象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9563" y="4127500"/>
                        <a:ext cx="18161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50"/>
          <p:cNvGraphicFramePr>
            <a:graphicFrameLocks noChangeAspect="1"/>
          </p:cNvGraphicFramePr>
          <p:nvPr/>
        </p:nvGraphicFramePr>
        <p:xfrm>
          <a:off x="1476375" y="3186113"/>
          <a:ext cx="1589088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3" name="公式" r:id="rId23" imgW="799753" imgH="215806" progId="Equation.3">
                  <p:embed/>
                </p:oleObj>
              </mc:Choice>
              <mc:Fallback>
                <p:oleObj name="公式" r:id="rId23" imgW="799753" imgH="215806" progId="Equation.3">
                  <p:embed/>
                  <p:pic>
                    <p:nvPicPr>
                      <p:cNvPr id="0" name="对象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186113"/>
                        <a:ext cx="1589088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501" name="Line 205"/>
          <p:cNvSpPr>
            <a:spLocks noChangeShapeType="1"/>
          </p:cNvSpPr>
          <p:nvPr/>
        </p:nvSpPr>
        <p:spPr bwMode="auto">
          <a:xfrm>
            <a:off x="3492500" y="2841625"/>
            <a:ext cx="0" cy="1762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30" name="Text Box 2"/>
          <p:cNvSpPr>
            <a:spLocks noChangeArrowheads="1"/>
          </p:cNvSpPr>
          <p:nvPr/>
        </p:nvSpPr>
        <p:spPr bwMode="auto">
          <a:xfrm>
            <a:off x="827088" y="874713"/>
            <a:ext cx="3240087" cy="401637"/>
          </a:xfrm>
          <a:prstGeom prst="homePlate">
            <a:avLst>
              <a:gd name="adj" fmla="val 49860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四、刚体定轴转动的描述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3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3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3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67" grpId="0" autoUpdateAnimBg="0"/>
      <p:bldP spid="3" grpId="0"/>
      <p:bldP spid="5" grpId="0" autoUpdateAnimBg="0"/>
      <p:bldP spid="183466" grpId="0" autoUpdateAnimBg="0"/>
      <p:bldP spid="183467" grpId="0" autoUpdateAnimBg="0"/>
      <p:bldP spid="183497" grpId="0" autoUpdateAnimBg="0"/>
      <p:bldP spid="18350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Text Box 3"/>
          <p:cNvSpPr txBox="1">
            <a:spLocks noChangeArrowheads="1"/>
          </p:cNvSpPr>
          <p:nvPr/>
        </p:nvSpPr>
        <p:spPr bwMode="auto">
          <a:xfrm>
            <a:off x="755650" y="1203325"/>
            <a:ext cx="2890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1800">
                <a:solidFill>
                  <a:schemeClr val="accent2"/>
                </a:solidFill>
                <a:latin typeface="华文中宋" pitchFamily="2" charset="-122"/>
                <a:ea typeface="华文中宋" pitchFamily="2" charset="-122"/>
              </a:rPr>
              <a:t>1</a:t>
            </a:r>
            <a:r>
              <a:rPr lang="zh-CN" altLang="en-US" sz="1800">
                <a:solidFill>
                  <a:schemeClr val="accent2"/>
                </a:solidFill>
                <a:latin typeface="华文中宋" pitchFamily="2" charset="-122"/>
                <a:ea typeface="华文中宋" pitchFamily="2" charset="-122"/>
              </a:rPr>
              <a:t>、力对固定点的力矩</a:t>
            </a:r>
            <a:r>
              <a:rPr lang="zh-CN" altLang="en-US" sz="1800" b="0"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graphicFrame>
        <p:nvGraphicFramePr>
          <p:cNvPr id="83973" name="Object 5"/>
          <p:cNvGraphicFramePr>
            <a:graphicFrameLocks noChangeAspect="1"/>
          </p:cNvGraphicFramePr>
          <p:nvPr/>
        </p:nvGraphicFramePr>
        <p:xfrm>
          <a:off x="1476375" y="1506538"/>
          <a:ext cx="19431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5" name="公式" r:id="rId3" imgW="685800" imgH="190500" progId="Equation.3">
                  <p:embed/>
                </p:oleObj>
              </mc:Choice>
              <mc:Fallback>
                <p:oleObj name="公式" r:id="rId3" imgW="685800" imgH="190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506538"/>
                        <a:ext cx="19431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4" name="Text Box 6"/>
          <p:cNvSpPr txBox="1">
            <a:spLocks noChangeArrowheads="1"/>
          </p:cNvSpPr>
          <p:nvPr/>
        </p:nvSpPr>
        <p:spPr bwMode="auto">
          <a:xfrm>
            <a:off x="539750" y="2355850"/>
            <a:ext cx="39703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方向由右手螺旋法则确定。 </a:t>
            </a:r>
          </a:p>
        </p:txBody>
      </p:sp>
      <p:sp>
        <p:nvSpPr>
          <p:cNvPr id="83975" name="Rectangle 7"/>
          <p:cNvSpPr>
            <a:spLocks noChangeArrowheads="1"/>
          </p:cNvSpPr>
          <p:nvPr/>
        </p:nvSpPr>
        <p:spPr bwMode="auto">
          <a:xfrm>
            <a:off x="2987675" y="1924050"/>
            <a:ext cx="1025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1800">
                <a:solidFill>
                  <a:srgbClr val="000000"/>
                </a:solidFill>
                <a:latin typeface="楷体_GB2312" pitchFamily="49" charset="-122"/>
              </a:rPr>
              <a:t>(</a:t>
            </a:r>
            <a:r>
              <a:rPr lang="en-US" altLang="zh-CN" sz="1800">
                <a:solidFill>
                  <a:srgbClr val="000000"/>
                </a:solidFill>
              </a:rPr>
              <a:t>N·m</a:t>
            </a:r>
            <a:r>
              <a:rPr lang="en-US" altLang="zh-CN" sz="1800">
                <a:solidFill>
                  <a:srgbClr val="000000"/>
                </a:solidFill>
                <a:latin typeface="楷体_GB2312" pitchFamily="49" charset="-122"/>
              </a:rPr>
              <a:t>)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4572000" y="987425"/>
            <a:ext cx="4267200" cy="1117600"/>
            <a:chOff x="0" y="646"/>
            <a:chExt cx="2688" cy="938"/>
          </a:xfrm>
        </p:grpSpPr>
        <p:grpSp>
          <p:nvGrpSpPr>
            <p:cNvPr id="14376" name="Group 11"/>
            <p:cNvGrpSpPr>
              <a:grpSpLocks/>
            </p:cNvGrpSpPr>
            <p:nvPr/>
          </p:nvGrpSpPr>
          <p:grpSpPr bwMode="auto">
            <a:xfrm>
              <a:off x="0" y="646"/>
              <a:ext cx="2688" cy="938"/>
              <a:chOff x="0" y="646"/>
              <a:chExt cx="2688" cy="938"/>
            </a:xfrm>
          </p:grpSpPr>
          <p:sp>
            <p:nvSpPr>
              <p:cNvPr id="14379" name="Rectangle 12"/>
              <p:cNvSpPr>
                <a:spLocks noChangeArrowheads="1"/>
              </p:cNvSpPr>
              <p:nvPr/>
            </p:nvSpPr>
            <p:spPr bwMode="auto">
              <a:xfrm>
                <a:off x="0" y="646"/>
                <a:ext cx="2688" cy="388"/>
              </a:xfrm>
              <a:prstGeom prst="rect">
                <a:avLst/>
              </a:prstGeom>
              <a:gradFill rotWithShape="0">
                <a:gsLst>
                  <a:gs pos="0">
                    <a:srgbClr val="A0B8FF"/>
                  </a:gs>
                  <a:gs pos="100000">
                    <a:srgbClr val="3366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380" name="Line 13"/>
              <p:cNvSpPr>
                <a:spLocks noChangeShapeType="1"/>
              </p:cNvSpPr>
              <p:nvPr/>
            </p:nvSpPr>
            <p:spPr bwMode="auto">
              <a:xfrm flipV="1">
                <a:off x="96" y="1536"/>
                <a:ext cx="1440" cy="48"/>
              </a:xfrm>
              <a:prstGeom prst="line">
                <a:avLst/>
              </a:prstGeom>
              <a:noFill/>
              <a:ln w="9525">
                <a:solidFill>
                  <a:srgbClr val="99FF66"/>
                </a:solidFill>
                <a:round/>
                <a:headEnd/>
                <a:tailEnd/>
              </a:ln>
              <a:scene3d>
                <a:camera prst="legacyObliqueTopRight">
                  <a:rot lat="20999984" lon="0" rev="0"/>
                </a:camera>
                <a:lightRig rig="legacyFlat3" dir="b"/>
              </a:scene3d>
              <a:sp3d extrusionH="4900600" prstMaterial="legacyMatte">
                <a:bevelT w="13500" h="13500" prst="angle"/>
                <a:bevelB w="13500" h="13500" prst="angle"/>
                <a:extrusionClr>
                  <a:srgbClr val="99FF66"/>
                </a:extrusionClr>
              </a:sp3d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  <a:flatTx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4377" name="Text Box 14"/>
            <p:cNvSpPr txBox="1">
              <a:spLocks noChangeArrowheads="1"/>
            </p:cNvSpPr>
            <p:nvPr/>
          </p:nvSpPr>
          <p:spPr bwMode="auto">
            <a:xfrm>
              <a:off x="816" y="1094"/>
              <a:ext cx="2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rgbClr val="FFFF00"/>
                  </a:solidFill>
                  <a:latin typeface="楷体_GB2312" pitchFamily="49" charset="-122"/>
                </a:rPr>
                <a:t>o</a:t>
              </a:r>
            </a:p>
          </p:txBody>
        </p:sp>
        <p:sp>
          <p:nvSpPr>
            <p:cNvPr id="14378" name="Text Box 15"/>
            <p:cNvSpPr txBox="1">
              <a:spLocks noChangeArrowheads="1"/>
            </p:cNvSpPr>
            <p:nvPr/>
          </p:nvSpPr>
          <p:spPr bwMode="auto">
            <a:xfrm>
              <a:off x="944" y="1080"/>
              <a:ext cx="18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FFFF00"/>
                  </a:solidFill>
                  <a:latin typeface="楷体_GB2312" pitchFamily="49" charset="-122"/>
                  <a:sym typeface="Symbol" pitchFamily="18" charset="2"/>
                </a:rPr>
                <a:t></a:t>
              </a:r>
              <a:endParaRPr lang="zh-CN" altLang="en-US" sz="1800">
                <a:solidFill>
                  <a:srgbClr val="FFFF00"/>
                </a:solidFill>
                <a:latin typeface="楷体_GB2312" pitchFamily="49" charset="-122"/>
              </a:endParaRPr>
            </a:p>
          </p:txBody>
        </p: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5764213" y="1009650"/>
            <a:ext cx="458787" cy="628650"/>
            <a:chOff x="0" y="0"/>
            <a:chExt cx="289" cy="528"/>
          </a:xfrm>
        </p:grpSpPr>
        <p:graphicFrame>
          <p:nvGraphicFramePr>
            <p:cNvPr id="14374" name="Object 17"/>
            <p:cNvGraphicFramePr>
              <a:graphicFrameLocks noChangeAspect="1"/>
            </p:cNvGraphicFramePr>
            <p:nvPr/>
          </p:nvGraphicFramePr>
          <p:xfrm>
            <a:off x="0" y="24"/>
            <a:ext cx="21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96" name="Equation" r:id="rId5" imgW="203377" imgH="190666" progId="Equation.DSMT4">
                    <p:embed/>
                  </p:oleObj>
                </mc:Choice>
                <mc:Fallback>
                  <p:oleObj name="Equation" r:id="rId5" imgW="203377" imgH="190666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4"/>
                          <a:ext cx="214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75" name="Line 18"/>
            <p:cNvSpPr>
              <a:spLocks noChangeShapeType="1"/>
            </p:cNvSpPr>
            <p:nvPr/>
          </p:nvSpPr>
          <p:spPr bwMode="auto">
            <a:xfrm flipV="1">
              <a:off x="289" y="0"/>
              <a:ext cx="0" cy="528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7302500" y="1590675"/>
            <a:ext cx="898525" cy="304800"/>
            <a:chOff x="0" y="0"/>
            <a:chExt cx="566" cy="256"/>
          </a:xfrm>
        </p:grpSpPr>
        <p:sp>
          <p:nvSpPr>
            <p:cNvPr id="14372" name="Line 20"/>
            <p:cNvSpPr>
              <a:spLocks noChangeShapeType="1"/>
            </p:cNvSpPr>
            <p:nvPr/>
          </p:nvSpPr>
          <p:spPr bwMode="auto">
            <a:xfrm>
              <a:off x="0" y="160"/>
              <a:ext cx="566" cy="96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14373" name="Object 21"/>
            <p:cNvGraphicFramePr>
              <a:graphicFrameLocks noChangeAspect="1"/>
            </p:cNvGraphicFramePr>
            <p:nvPr/>
          </p:nvGraphicFramePr>
          <p:xfrm>
            <a:off x="293" y="0"/>
            <a:ext cx="149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97" r:id="rId7" imgW="127000" imgH="177800" progId="Equation.3">
                    <p:embed/>
                  </p:oleObj>
                </mc:Choice>
                <mc:Fallback>
                  <p:oleObj r:id="rId7" imgW="127000" imgH="1778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" y="0"/>
                          <a:ext cx="149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45" name="未知"/>
          <p:cNvSpPr>
            <a:spLocks/>
          </p:cNvSpPr>
          <p:nvPr/>
        </p:nvSpPr>
        <p:spPr bwMode="auto">
          <a:xfrm>
            <a:off x="7494588" y="1484313"/>
            <a:ext cx="139700" cy="461962"/>
          </a:xfrm>
          <a:custGeom>
            <a:avLst/>
            <a:gdLst>
              <a:gd name="T0" fmla="*/ 2147483647 w 104"/>
              <a:gd name="T1" fmla="*/ 2147483647 h 177"/>
              <a:gd name="T2" fmla="*/ 2147483647 w 104"/>
              <a:gd name="T3" fmla="*/ 2147483647 h 177"/>
              <a:gd name="T4" fmla="*/ 2147483647 w 104"/>
              <a:gd name="T5" fmla="*/ 2147483647 h 177"/>
              <a:gd name="T6" fmla="*/ 0 w 104"/>
              <a:gd name="T7" fmla="*/ 0 h 177"/>
              <a:gd name="T8" fmla="*/ 0 60000 65536"/>
              <a:gd name="T9" fmla="*/ 0 60000 65536"/>
              <a:gd name="T10" fmla="*/ 0 60000 65536"/>
              <a:gd name="T11" fmla="*/ 0 60000 65536"/>
              <a:gd name="T12" fmla="*/ 0 w 104"/>
              <a:gd name="T13" fmla="*/ 0 h 177"/>
              <a:gd name="T14" fmla="*/ 104 w 104"/>
              <a:gd name="T15" fmla="*/ 177 h 17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4" h="177">
                <a:moveTo>
                  <a:pt x="76" y="177"/>
                </a:moveTo>
                <a:cubicBezTo>
                  <a:pt x="93" y="124"/>
                  <a:pt x="104" y="108"/>
                  <a:pt x="76" y="38"/>
                </a:cubicBezTo>
                <a:cubicBezTo>
                  <a:pt x="70" y="24"/>
                  <a:pt x="52" y="20"/>
                  <a:pt x="38" y="13"/>
                </a:cubicBezTo>
                <a:cubicBezTo>
                  <a:pt x="26" y="7"/>
                  <a:pt x="0" y="0"/>
                  <a:pt x="0" y="0"/>
                </a:cubicBezTo>
              </a:path>
            </a:pathLst>
          </a:custGeom>
          <a:noFill/>
          <a:ln w="9525" cmpd="sng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6159500" y="1346200"/>
            <a:ext cx="2249488" cy="715963"/>
            <a:chOff x="0" y="-122"/>
            <a:chExt cx="1872" cy="676"/>
          </a:xfrm>
        </p:grpSpPr>
        <p:sp>
          <p:nvSpPr>
            <p:cNvPr id="14370" name="未知"/>
            <p:cNvSpPr>
              <a:spLocks/>
            </p:cNvSpPr>
            <p:nvPr/>
          </p:nvSpPr>
          <p:spPr bwMode="auto">
            <a:xfrm>
              <a:off x="0" y="118"/>
              <a:ext cx="960" cy="436"/>
            </a:xfrm>
            <a:custGeom>
              <a:avLst/>
              <a:gdLst>
                <a:gd name="T0" fmla="*/ 0 w 960"/>
                <a:gd name="T1" fmla="*/ 8700 h 192"/>
                <a:gd name="T2" fmla="*/ 288 w 960"/>
                <a:gd name="T3" fmla="*/ 11593 h 192"/>
                <a:gd name="T4" fmla="*/ 672 w 960"/>
                <a:gd name="T5" fmla="*/ 8700 h 192"/>
                <a:gd name="T6" fmla="*/ 960 w 960"/>
                <a:gd name="T7" fmla="*/ 0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0"/>
                <a:gd name="T13" fmla="*/ 0 h 192"/>
                <a:gd name="T14" fmla="*/ 960 w 960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0" h="192">
                  <a:moveTo>
                    <a:pt x="0" y="144"/>
                  </a:moveTo>
                  <a:cubicBezTo>
                    <a:pt x="88" y="168"/>
                    <a:pt x="176" y="192"/>
                    <a:pt x="288" y="192"/>
                  </a:cubicBezTo>
                  <a:cubicBezTo>
                    <a:pt x="400" y="192"/>
                    <a:pt x="560" y="176"/>
                    <a:pt x="672" y="144"/>
                  </a:cubicBezTo>
                  <a:cubicBezTo>
                    <a:pt x="784" y="112"/>
                    <a:pt x="912" y="24"/>
                    <a:pt x="960" y="0"/>
                  </a:cubicBezTo>
                </a:path>
              </a:pathLst>
            </a:custGeom>
            <a:noFill/>
            <a:ln w="38100" cmpd="sng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1" name="未知"/>
            <p:cNvSpPr>
              <a:spLocks/>
            </p:cNvSpPr>
            <p:nvPr/>
          </p:nvSpPr>
          <p:spPr bwMode="auto">
            <a:xfrm rot="20036901" flipV="1">
              <a:off x="912" y="-122"/>
              <a:ext cx="960" cy="436"/>
            </a:xfrm>
            <a:custGeom>
              <a:avLst/>
              <a:gdLst>
                <a:gd name="T0" fmla="*/ 0 w 960"/>
                <a:gd name="T1" fmla="*/ 8700 h 192"/>
                <a:gd name="T2" fmla="*/ 288 w 960"/>
                <a:gd name="T3" fmla="*/ 11593 h 192"/>
                <a:gd name="T4" fmla="*/ 672 w 960"/>
                <a:gd name="T5" fmla="*/ 8700 h 192"/>
                <a:gd name="T6" fmla="*/ 960 w 960"/>
                <a:gd name="T7" fmla="*/ 0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0"/>
                <a:gd name="T13" fmla="*/ 0 h 192"/>
                <a:gd name="T14" fmla="*/ 960 w 960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0" h="192">
                  <a:moveTo>
                    <a:pt x="0" y="144"/>
                  </a:moveTo>
                  <a:cubicBezTo>
                    <a:pt x="88" y="168"/>
                    <a:pt x="176" y="192"/>
                    <a:pt x="288" y="192"/>
                  </a:cubicBezTo>
                  <a:cubicBezTo>
                    <a:pt x="400" y="192"/>
                    <a:pt x="560" y="176"/>
                    <a:pt x="672" y="144"/>
                  </a:cubicBezTo>
                  <a:cubicBezTo>
                    <a:pt x="784" y="112"/>
                    <a:pt x="912" y="24"/>
                    <a:pt x="960" y="0"/>
                  </a:cubicBezTo>
                </a:path>
              </a:pathLst>
            </a:custGeom>
            <a:noFill/>
            <a:ln w="38100" cmpd="sng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7150100" y="1190625"/>
            <a:ext cx="622300" cy="560388"/>
            <a:chOff x="0" y="0"/>
            <a:chExt cx="392" cy="471"/>
          </a:xfrm>
        </p:grpSpPr>
        <p:graphicFrame>
          <p:nvGraphicFramePr>
            <p:cNvPr id="14368" name="Object 27"/>
            <p:cNvGraphicFramePr>
              <a:graphicFrameLocks noChangeAspect="1"/>
            </p:cNvGraphicFramePr>
            <p:nvPr/>
          </p:nvGraphicFramePr>
          <p:xfrm>
            <a:off x="0" y="0"/>
            <a:ext cx="22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98" r:id="rId9" imgW="165172" imgH="190583" progId="Equation.3">
                    <p:embed/>
                  </p:oleObj>
                </mc:Choice>
                <mc:Fallback>
                  <p:oleObj r:id="rId9" imgW="165172" imgH="190583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224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9" name="Line 28"/>
            <p:cNvSpPr>
              <a:spLocks noChangeShapeType="1"/>
            </p:cNvSpPr>
            <p:nvPr/>
          </p:nvSpPr>
          <p:spPr bwMode="auto">
            <a:xfrm flipV="1">
              <a:off x="63" y="16"/>
              <a:ext cx="329" cy="455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83997" name="Line 29"/>
          <p:cNvSpPr>
            <a:spLocks noChangeShapeType="1"/>
          </p:cNvSpPr>
          <p:nvPr/>
        </p:nvSpPr>
        <p:spPr bwMode="auto">
          <a:xfrm>
            <a:off x="6235700" y="1647825"/>
            <a:ext cx="990600" cy="11430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3998" name="Oval 30"/>
          <p:cNvSpPr>
            <a:spLocks noChangeArrowheads="1"/>
          </p:cNvSpPr>
          <p:nvPr/>
        </p:nvSpPr>
        <p:spPr bwMode="auto">
          <a:xfrm>
            <a:off x="7164388" y="1427163"/>
            <a:ext cx="184150" cy="649287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A80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FFFF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8" name="Group 31"/>
          <p:cNvGrpSpPr>
            <a:grpSpLocks/>
          </p:cNvGrpSpPr>
          <p:nvPr/>
        </p:nvGrpSpPr>
        <p:grpSpPr bwMode="auto">
          <a:xfrm>
            <a:off x="5778500" y="1592263"/>
            <a:ext cx="577850" cy="673100"/>
            <a:chOff x="0" y="-191"/>
            <a:chExt cx="432" cy="566"/>
          </a:xfrm>
        </p:grpSpPr>
        <p:sp>
          <p:nvSpPr>
            <p:cNvPr id="14366" name="Oval 32"/>
            <p:cNvSpPr>
              <a:spLocks noChangeArrowheads="1"/>
            </p:cNvSpPr>
            <p:nvPr/>
          </p:nvSpPr>
          <p:spPr bwMode="auto">
            <a:xfrm>
              <a:off x="336" y="-191"/>
              <a:ext cx="96" cy="545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A8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7" name="Text Box 33"/>
            <p:cNvSpPr txBox="1">
              <a:spLocks noChangeArrowheads="1"/>
            </p:cNvSpPr>
            <p:nvPr/>
          </p:nvSpPr>
          <p:spPr bwMode="auto">
            <a:xfrm>
              <a:off x="0" y="-13"/>
              <a:ext cx="253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  <a:latin typeface="楷体_GB2312" pitchFamily="49" charset="-122"/>
                </a:rPr>
                <a:t>m</a:t>
              </a:r>
            </a:p>
          </p:txBody>
        </p:sp>
      </p:grpSp>
      <p:graphicFrame>
        <p:nvGraphicFramePr>
          <p:cNvPr id="84002" name="Object 34"/>
          <p:cNvGraphicFramePr>
            <a:graphicFrameLocks noChangeAspect="1"/>
          </p:cNvGraphicFramePr>
          <p:nvPr/>
        </p:nvGraphicFramePr>
        <p:xfrm>
          <a:off x="6553200" y="1352550"/>
          <a:ext cx="2571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9" r:id="rId11" imgW="127000" imgH="152400" progId="Equation.3">
                  <p:embed/>
                </p:oleObj>
              </mc:Choice>
              <mc:Fallback>
                <p:oleObj r:id="rId11" imgW="127000" imgH="15240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1352550"/>
                        <a:ext cx="25717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015" name="Object 47"/>
          <p:cNvGraphicFramePr>
            <a:graphicFrameLocks noChangeAspect="1"/>
          </p:cNvGraphicFramePr>
          <p:nvPr/>
        </p:nvGraphicFramePr>
        <p:xfrm>
          <a:off x="1073150" y="1924050"/>
          <a:ext cx="200183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0" name="Equation" r:id="rId13" imgW="825142" imgH="177723" progId="Equation.DSMT4">
                  <p:embed/>
                </p:oleObj>
              </mc:Choice>
              <mc:Fallback>
                <p:oleObj name="Equation" r:id="rId13" imgW="825142" imgH="177723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150" y="1924050"/>
                        <a:ext cx="2001838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016" name="Object 48"/>
          <p:cNvGraphicFramePr>
            <a:graphicFrameLocks noChangeAspect="1"/>
          </p:cNvGraphicFramePr>
          <p:nvPr/>
        </p:nvGraphicFramePr>
        <p:xfrm>
          <a:off x="2195513" y="2732088"/>
          <a:ext cx="5761037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1" name="公式" r:id="rId15" imgW="2247900" imgH="266700" progId="Equation.3">
                  <p:embed/>
                </p:oleObj>
              </mc:Choice>
              <mc:Fallback>
                <p:oleObj name="公式" r:id="rId15" imgW="2247900" imgH="2667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2732088"/>
                        <a:ext cx="5761037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017" name="Object 49"/>
          <p:cNvGraphicFramePr>
            <a:graphicFrameLocks noChangeAspect="1"/>
          </p:cNvGraphicFramePr>
          <p:nvPr/>
        </p:nvGraphicFramePr>
        <p:xfrm>
          <a:off x="530225" y="2716213"/>
          <a:ext cx="1600200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2" name="公式" r:id="rId17" imgW="685800" imgH="203200" progId="Equation.3">
                  <p:embed/>
                </p:oleObj>
              </mc:Choice>
              <mc:Fallback>
                <p:oleObj name="公式" r:id="rId17" imgW="685800" imgH="20320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" y="2716213"/>
                        <a:ext cx="1600200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018" name="Text Box 50"/>
          <p:cNvSpPr txBox="1">
            <a:spLocks noChangeArrowheads="1"/>
          </p:cNvSpPr>
          <p:nvPr/>
        </p:nvSpPr>
        <p:spPr bwMode="auto">
          <a:xfrm>
            <a:off x="3419475" y="2346325"/>
            <a:ext cx="3178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在直角坐标系中的分量式：</a:t>
            </a:r>
          </a:p>
        </p:txBody>
      </p:sp>
      <p:graphicFrame>
        <p:nvGraphicFramePr>
          <p:cNvPr id="84019" name="Object 51"/>
          <p:cNvGraphicFramePr>
            <a:graphicFrameLocks noChangeAspect="1"/>
          </p:cNvGraphicFramePr>
          <p:nvPr/>
        </p:nvGraphicFramePr>
        <p:xfrm>
          <a:off x="971550" y="3106738"/>
          <a:ext cx="69786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3" name="公式" r:id="rId19" imgW="2895600" imgH="266700" progId="Equation.3">
                  <p:embed/>
                </p:oleObj>
              </mc:Choice>
              <mc:Fallback>
                <p:oleObj name="公式" r:id="rId19" imgW="2895600" imgH="26670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106738"/>
                        <a:ext cx="69786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020" name="Object 52"/>
          <p:cNvGraphicFramePr>
            <a:graphicFrameLocks noChangeAspect="1"/>
          </p:cNvGraphicFramePr>
          <p:nvPr/>
        </p:nvGraphicFramePr>
        <p:xfrm>
          <a:off x="971550" y="3471863"/>
          <a:ext cx="3187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4" name="公式" r:id="rId21" imgW="1345616" imgH="266584" progId="Equation.3">
                  <p:embed/>
                </p:oleObj>
              </mc:Choice>
              <mc:Fallback>
                <p:oleObj name="公式" r:id="rId21" imgW="1345616" imgH="266584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471863"/>
                        <a:ext cx="3187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021" name="Object 53"/>
          <p:cNvGraphicFramePr>
            <a:graphicFrameLocks noChangeAspect="1"/>
          </p:cNvGraphicFramePr>
          <p:nvPr/>
        </p:nvGraphicFramePr>
        <p:xfrm>
          <a:off x="134938" y="3957638"/>
          <a:ext cx="21590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5" name="公式" r:id="rId23" imgW="1193800" imgH="736600" progId="Equation.3">
                  <p:embed/>
                </p:oleObj>
              </mc:Choice>
              <mc:Fallback>
                <p:oleObj name="公式" r:id="rId23" imgW="1193800" imgH="73660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938" y="3957638"/>
                        <a:ext cx="21590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022" name="AutoShape 54"/>
          <p:cNvSpPr>
            <a:spLocks noChangeArrowheads="1"/>
          </p:cNvSpPr>
          <p:nvPr/>
        </p:nvSpPr>
        <p:spPr bwMode="auto">
          <a:xfrm>
            <a:off x="2368550" y="4235450"/>
            <a:ext cx="765175" cy="300038"/>
          </a:xfrm>
          <a:prstGeom prst="rightArrow">
            <a:avLst>
              <a:gd name="adj1" fmla="val 50000"/>
              <a:gd name="adj2" fmla="val 7556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9" name="Group 60"/>
          <p:cNvGrpSpPr>
            <a:grpSpLocks/>
          </p:cNvGrpSpPr>
          <p:nvPr/>
        </p:nvGrpSpPr>
        <p:grpSpPr bwMode="auto">
          <a:xfrm>
            <a:off x="3440113" y="3927475"/>
            <a:ext cx="2500312" cy="968375"/>
            <a:chOff x="3308" y="3292"/>
            <a:chExt cx="1434" cy="1012"/>
          </a:xfrm>
        </p:grpSpPr>
        <p:grpSp>
          <p:nvGrpSpPr>
            <p:cNvPr id="14362" name="Group 56"/>
            <p:cNvGrpSpPr>
              <a:grpSpLocks noChangeAspect="1"/>
            </p:cNvGrpSpPr>
            <p:nvPr/>
          </p:nvGrpSpPr>
          <p:grpSpPr bwMode="auto">
            <a:xfrm>
              <a:off x="3308" y="3292"/>
              <a:ext cx="1427" cy="674"/>
              <a:chOff x="-26" y="0"/>
              <a:chExt cx="1427" cy="674"/>
            </a:xfrm>
          </p:grpSpPr>
          <p:graphicFrame>
            <p:nvGraphicFramePr>
              <p:cNvPr id="14364" name="Object 57"/>
              <p:cNvGraphicFramePr>
                <a:graphicFrameLocks noChangeAspect="1"/>
              </p:cNvGraphicFramePr>
              <p:nvPr/>
            </p:nvGraphicFramePr>
            <p:xfrm>
              <a:off x="-8" y="0"/>
              <a:ext cx="1409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406" name="公式" r:id="rId25" imgW="1028254" imgH="241195" progId="Equation.3">
                      <p:embed/>
                    </p:oleObj>
                  </mc:Choice>
                  <mc:Fallback>
                    <p:oleObj name="公式" r:id="rId25" imgW="1028254" imgH="241195" progId="Equation.3">
                      <p:embed/>
                      <p:pic>
                        <p:nvPicPr>
                          <p:cNvPr id="0" name="Object 5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-8" y="0"/>
                            <a:ext cx="1409" cy="3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65" name="Object 58"/>
              <p:cNvGraphicFramePr>
                <a:graphicFrameLocks noChangeAspect="1"/>
              </p:cNvGraphicFramePr>
              <p:nvPr/>
            </p:nvGraphicFramePr>
            <p:xfrm>
              <a:off x="-26" y="336"/>
              <a:ext cx="1421" cy="3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407" name="Equation" r:id="rId27" imgW="1028254" imgH="241195" progId="Equation.DSMT4">
                      <p:embed/>
                    </p:oleObj>
                  </mc:Choice>
                  <mc:Fallback>
                    <p:oleObj name="Equation" r:id="rId27" imgW="1028254" imgH="241195" progId="Equation.DSMT4">
                      <p:embed/>
                      <p:pic>
                        <p:nvPicPr>
                          <p:cNvPr id="0" name="Object 5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-26" y="336"/>
                            <a:ext cx="1421" cy="3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4363" name="Object 59"/>
            <p:cNvGraphicFramePr>
              <a:graphicFrameLocks noChangeAspect="1"/>
            </p:cNvGraphicFramePr>
            <p:nvPr/>
          </p:nvGraphicFramePr>
          <p:xfrm>
            <a:off x="3317" y="3974"/>
            <a:ext cx="1425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08" name="公式" r:id="rId29" imgW="1054100" imgH="241300" progId="Equation.3">
                    <p:embed/>
                  </p:oleObj>
                </mc:Choice>
                <mc:Fallback>
                  <p:oleObj name="公式" r:id="rId29" imgW="1054100" imgH="241300" progId="Equation.3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7" y="3974"/>
                          <a:ext cx="1425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61" name="Text Box 2"/>
          <p:cNvSpPr>
            <a:spLocks noChangeArrowheads="1"/>
          </p:cNvSpPr>
          <p:nvPr/>
        </p:nvSpPr>
        <p:spPr bwMode="auto">
          <a:xfrm>
            <a:off x="755650" y="874713"/>
            <a:ext cx="1368425" cy="401637"/>
          </a:xfrm>
          <a:prstGeom prst="homePlate">
            <a:avLst>
              <a:gd name="adj" fmla="val 49861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一、力矩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39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39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39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39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40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40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3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40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40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39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39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39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39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840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840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840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840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840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840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40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840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840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840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840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840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8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 autoUpdateAnimBg="0"/>
      <p:bldP spid="83974" grpId="0" autoUpdateAnimBg="0"/>
      <p:bldP spid="83975" grpId="0" autoUpdateAnimBg="0"/>
      <p:bldP spid="83997" grpId="0" animBg="1"/>
      <p:bldP spid="83998" grpId="0" animBg="1"/>
      <p:bldP spid="84018" grpId="0" autoUpdateAnimBg="0"/>
      <p:bldP spid="840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Text Box 2"/>
          <p:cNvSpPr txBox="1">
            <a:spLocks noChangeArrowheads="1"/>
          </p:cNvSpPr>
          <p:nvPr/>
        </p:nvSpPr>
        <p:spPr bwMode="auto">
          <a:xfrm>
            <a:off x="152400" y="906463"/>
            <a:ext cx="3505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1800">
                <a:solidFill>
                  <a:srgbClr val="0000CC"/>
                </a:solidFill>
                <a:latin typeface="华文中宋" pitchFamily="2" charset="-122"/>
                <a:ea typeface="华文中宋" pitchFamily="2" charset="-122"/>
              </a:rPr>
              <a:t>力对固定点的力矩为零的情况：</a:t>
            </a:r>
            <a:endParaRPr lang="zh-CN" altLang="en-US" sz="1800" b="0">
              <a:solidFill>
                <a:srgbClr val="0000CC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240651" name="Line 11"/>
          <p:cNvSpPr>
            <a:spLocks noChangeShapeType="1"/>
          </p:cNvSpPr>
          <p:nvPr/>
        </p:nvSpPr>
        <p:spPr bwMode="auto">
          <a:xfrm flipV="1">
            <a:off x="5510213" y="1997075"/>
            <a:ext cx="1676400" cy="2857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71"/>
          <p:cNvGrpSpPr>
            <a:grpSpLocks/>
          </p:cNvGrpSpPr>
          <p:nvPr/>
        </p:nvGrpSpPr>
        <p:grpSpPr bwMode="auto">
          <a:xfrm>
            <a:off x="4140200" y="1193800"/>
            <a:ext cx="4464050" cy="369888"/>
            <a:chOff x="1882" y="859"/>
            <a:chExt cx="3878" cy="310"/>
          </a:xfrm>
        </p:grpSpPr>
        <p:sp>
          <p:nvSpPr>
            <p:cNvPr id="15420" name="Text Box 13"/>
            <p:cNvSpPr txBox="1">
              <a:spLocks noChangeArrowheads="1"/>
            </p:cNvSpPr>
            <p:nvPr/>
          </p:nvSpPr>
          <p:spPr bwMode="auto">
            <a:xfrm>
              <a:off x="1882" y="859"/>
              <a:ext cx="387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华文中宋" pitchFamily="2" charset="-122"/>
                  <a:ea typeface="华文中宋" pitchFamily="2" charset="-122"/>
                </a:rPr>
                <a:t>B</a:t>
              </a:r>
              <a:r>
                <a:rPr lang="zh-CN" altLang="en-US" sz="1800">
                  <a:latin typeface="华文中宋" pitchFamily="2" charset="-122"/>
                  <a:ea typeface="华文中宋" pitchFamily="2" charset="-122"/>
                </a:rPr>
                <a:t>）力的方向沿矢径的方向（             ）</a:t>
              </a:r>
            </a:p>
          </p:txBody>
        </p:sp>
        <p:graphicFrame>
          <p:nvGraphicFramePr>
            <p:cNvPr id="15421" name="Object 14"/>
            <p:cNvGraphicFramePr>
              <a:graphicFrameLocks noChangeAspect="1"/>
            </p:cNvGraphicFramePr>
            <p:nvPr/>
          </p:nvGraphicFramePr>
          <p:xfrm>
            <a:off x="4572" y="887"/>
            <a:ext cx="720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39" name="公式" r:id="rId4" imgW="571004" imgH="177646" progId="Equation.3">
                    <p:embed/>
                  </p:oleObj>
                </mc:Choice>
                <mc:Fallback>
                  <p:oleObj name="公式" r:id="rId4" imgW="571004" imgH="177646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2" y="887"/>
                          <a:ext cx="720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0655" name="Text Box 15"/>
          <p:cNvSpPr txBox="1">
            <a:spLocks noChangeArrowheads="1"/>
          </p:cNvSpPr>
          <p:nvPr/>
        </p:nvSpPr>
        <p:spPr bwMode="auto">
          <a:xfrm>
            <a:off x="4672013" y="2921000"/>
            <a:ext cx="29956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有心力对力心的力矩为零</a:t>
            </a:r>
          </a:p>
        </p:txBody>
      </p:sp>
      <p:sp>
        <p:nvSpPr>
          <p:cNvPr id="240656" name="Arc 16"/>
          <p:cNvSpPr>
            <a:spLocks/>
          </p:cNvSpPr>
          <p:nvPr/>
        </p:nvSpPr>
        <p:spPr bwMode="auto">
          <a:xfrm flipV="1">
            <a:off x="5891213" y="2227263"/>
            <a:ext cx="1600200" cy="461962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40657" name="Arc 17"/>
          <p:cNvSpPr>
            <a:spLocks/>
          </p:cNvSpPr>
          <p:nvPr/>
        </p:nvSpPr>
        <p:spPr bwMode="auto">
          <a:xfrm flipH="1">
            <a:off x="4291013" y="1763713"/>
            <a:ext cx="1600200" cy="461962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40658" name="Arc 18"/>
          <p:cNvSpPr>
            <a:spLocks/>
          </p:cNvSpPr>
          <p:nvPr/>
        </p:nvSpPr>
        <p:spPr bwMode="auto">
          <a:xfrm>
            <a:off x="5891213" y="1763713"/>
            <a:ext cx="1600200" cy="461962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40659" name="Arc 19"/>
          <p:cNvSpPr>
            <a:spLocks/>
          </p:cNvSpPr>
          <p:nvPr/>
        </p:nvSpPr>
        <p:spPr bwMode="auto">
          <a:xfrm flipH="1" flipV="1">
            <a:off x="4291013" y="2220913"/>
            <a:ext cx="1600200" cy="461962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4900613" y="1987550"/>
            <a:ext cx="838200" cy="649288"/>
            <a:chOff x="0" y="-18"/>
            <a:chExt cx="585" cy="604"/>
          </a:xfrm>
        </p:grpSpPr>
        <p:sp>
          <p:nvSpPr>
            <p:cNvPr id="15415" name="Line 21"/>
            <p:cNvSpPr>
              <a:spLocks noChangeShapeType="1"/>
            </p:cNvSpPr>
            <p:nvPr/>
          </p:nvSpPr>
          <p:spPr bwMode="auto">
            <a:xfrm flipV="1">
              <a:off x="0" y="284"/>
              <a:ext cx="57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16" name="Line 22"/>
            <p:cNvSpPr>
              <a:spLocks noChangeShapeType="1"/>
            </p:cNvSpPr>
            <p:nvPr/>
          </p:nvSpPr>
          <p:spPr bwMode="auto">
            <a:xfrm rot="5400000">
              <a:off x="15" y="300"/>
              <a:ext cx="539" cy="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17" name="Line 23"/>
            <p:cNvSpPr>
              <a:spLocks noChangeShapeType="1"/>
            </p:cNvSpPr>
            <p:nvPr/>
          </p:nvSpPr>
          <p:spPr bwMode="auto">
            <a:xfrm rot="18891224" flipH="1">
              <a:off x="6" y="280"/>
              <a:ext cx="572" cy="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18" name="Line 24"/>
            <p:cNvSpPr>
              <a:spLocks noChangeShapeType="1"/>
            </p:cNvSpPr>
            <p:nvPr/>
          </p:nvSpPr>
          <p:spPr bwMode="auto">
            <a:xfrm rot="2691224" flipV="1">
              <a:off x="9" y="267"/>
              <a:ext cx="576" cy="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19" name="Oval 25"/>
            <p:cNvSpPr>
              <a:spLocks noChangeArrowheads="1"/>
            </p:cNvSpPr>
            <p:nvPr/>
          </p:nvSpPr>
          <p:spPr bwMode="auto">
            <a:xfrm>
              <a:off x="144" y="-18"/>
              <a:ext cx="288" cy="604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A9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40666" name="Oval 26"/>
          <p:cNvSpPr>
            <a:spLocks noChangeArrowheads="1"/>
          </p:cNvSpPr>
          <p:nvPr/>
        </p:nvSpPr>
        <p:spPr bwMode="auto">
          <a:xfrm>
            <a:off x="7339013" y="1901825"/>
            <a:ext cx="304800" cy="649288"/>
          </a:xfrm>
          <a:prstGeom prst="ellipse">
            <a:avLst/>
          </a:prstGeom>
          <a:gradFill rotWithShape="0">
            <a:gsLst>
              <a:gs pos="0">
                <a:srgbClr val="99FF66"/>
              </a:gs>
              <a:gs pos="100000">
                <a:srgbClr val="568F39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40667" name="Oval 27"/>
          <p:cNvSpPr>
            <a:spLocks noChangeArrowheads="1"/>
          </p:cNvSpPr>
          <p:nvPr/>
        </p:nvSpPr>
        <p:spPr bwMode="auto">
          <a:xfrm>
            <a:off x="5815013" y="1492250"/>
            <a:ext cx="304800" cy="649288"/>
          </a:xfrm>
          <a:prstGeom prst="ellipse">
            <a:avLst/>
          </a:prstGeom>
          <a:gradFill rotWithShape="0">
            <a:gsLst>
              <a:gs pos="0">
                <a:srgbClr val="99FF66"/>
              </a:gs>
              <a:gs pos="100000">
                <a:srgbClr val="568F39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40668" name="Oval 28"/>
          <p:cNvSpPr>
            <a:spLocks noChangeArrowheads="1"/>
          </p:cNvSpPr>
          <p:nvPr/>
        </p:nvSpPr>
        <p:spPr bwMode="auto">
          <a:xfrm>
            <a:off x="4138613" y="1901825"/>
            <a:ext cx="304800" cy="649288"/>
          </a:xfrm>
          <a:prstGeom prst="ellipse">
            <a:avLst/>
          </a:prstGeom>
          <a:gradFill rotWithShape="0">
            <a:gsLst>
              <a:gs pos="0">
                <a:srgbClr val="99FF66"/>
              </a:gs>
              <a:gs pos="100000">
                <a:srgbClr val="568F39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40669" name="Oval 29"/>
          <p:cNvSpPr>
            <a:spLocks noChangeArrowheads="1"/>
          </p:cNvSpPr>
          <p:nvPr/>
        </p:nvSpPr>
        <p:spPr bwMode="auto">
          <a:xfrm>
            <a:off x="5662613" y="2301875"/>
            <a:ext cx="304800" cy="649288"/>
          </a:xfrm>
          <a:prstGeom prst="ellipse">
            <a:avLst/>
          </a:prstGeom>
          <a:gradFill rotWithShape="0">
            <a:gsLst>
              <a:gs pos="0">
                <a:srgbClr val="99FF66"/>
              </a:gs>
              <a:gs pos="100000">
                <a:srgbClr val="568F39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40670" name="Oval 30"/>
          <p:cNvSpPr>
            <a:spLocks noChangeArrowheads="1"/>
          </p:cNvSpPr>
          <p:nvPr/>
        </p:nvSpPr>
        <p:spPr bwMode="auto">
          <a:xfrm>
            <a:off x="6856413" y="2178050"/>
            <a:ext cx="304800" cy="649288"/>
          </a:xfrm>
          <a:prstGeom prst="ellipse">
            <a:avLst/>
          </a:prstGeom>
          <a:gradFill rotWithShape="0">
            <a:gsLst>
              <a:gs pos="0">
                <a:srgbClr val="99FF66"/>
              </a:gs>
              <a:gs pos="100000">
                <a:srgbClr val="568F39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40671" name="Oval 31"/>
          <p:cNvSpPr>
            <a:spLocks noChangeArrowheads="1"/>
          </p:cNvSpPr>
          <p:nvPr/>
        </p:nvSpPr>
        <p:spPr bwMode="auto">
          <a:xfrm>
            <a:off x="7110413" y="1673225"/>
            <a:ext cx="304800" cy="649288"/>
          </a:xfrm>
          <a:prstGeom prst="ellipse">
            <a:avLst/>
          </a:prstGeom>
          <a:gradFill rotWithShape="0">
            <a:gsLst>
              <a:gs pos="0">
                <a:srgbClr val="99FF66"/>
              </a:gs>
              <a:gs pos="100000">
                <a:srgbClr val="568F39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5510213" y="1997075"/>
            <a:ext cx="1600200" cy="285750"/>
            <a:chOff x="0" y="0"/>
            <a:chExt cx="912" cy="144"/>
          </a:xfrm>
        </p:grpSpPr>
        <p:sp>
          <p:nvSpPr>
            <p:cNvPr id="15413" name="Line 33"/>
            <p:cNvSpPr>
              <a:spLocks noChangeShapeType="1"/>
            </p:cNvSpPr>
            <p:nvPr/>
          </p:nvSpPr>
          <p:spPr bwMode="auto">
            <a:xfrm flipH="1">
              <a:off x="624" y="0"/>
              <a:ext cx="288" cy="4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14" name="Line 34"/>
            <p:cNvSpPr>
              <a:spLocks noChangeShapeType="1"/>
            </p:cNvSpPr>
            <p:nvPr/>
          </p:nvSpPr>
          <p:spPr bwMode="auto">
            <a:xfrm flipV="1">
              <a:off x="0" y="96"/>
              <a:ext cx="240" cy="4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240675" name="Object 35"/>
          <p:cNvGraphicFramePr>
            <a:graphicFrameLocks noChangeAspect="1"/>
          </p:cNvGraphicFramePr>
          <p:nvPr/>
        </p:nvGraphicFramePr>
        <p:xfrm>
          <a:off x="381000" y="2084388"/>
          <a:ext cx="1906588" cy="125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0" r:id="rId6" imgW="4749800" imgH="4148138" progId="MS_ClipArt_Gallery.2">
                  <p:embed/>
                </p:oleObj>
              </mc:Choice>
              <mc:Fallback>
                <p:oleObj r:id="rId6" imgW="4749800" imgH="4148138" progId="MS_ClipArt_Gallery.2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084388"/>
                        <a:ext cx="1906588" cy="1250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6"/>
          <p:cNvGrpSpPr>
            <a:grpSpLocks/>
          </p:cNvGrpSpPr>
          <p:nvPr/>
        </p:nvGrpSpPr>
        <p:grpSpPr bwMode="auto">
          <a:xfrm>
            <a:off x="1447800" y="2827338"/>
            <a:ext cx="2908300" cy="550862"/>
            <a:chOff x="0" y="0"/>
            <a:chExt cx="2208" cy="629"/>
          </a:xfrm>
        </p:grpSpPr>
        <p:grpSp>
          <p:nvGrpSpPr>
            <p:cNvPr id="15409" name="Group 37"/>
            <p:cNvGrpSpPr>
              <a:grpSpLocks/>
            </p:cNvGrpSpPr>
            <p:nvPr/>
          </p:nvGrpSpPr>
          <p:grpSpPr bwMode="auto">
            <a:xfrm>
              <a:off x="0" y="0"/>
              <a:ext cx="2208" cy="629"/>
              <a:chOff x="0" y="0"/>
              <a:chExt cx="2208" cy="629"/>
            </a:xfrm>
          </p:grpSpPr>
          <p:graphicFrame>
            <p:nvGraphicFramePr>
              <p:cNvPr id="15411" name="Object 38"/>
              <p:cNvGraphicFramePr>
                <a:graphicFrameLocks noChangeAspect="1"/>
              </p:cNvGraphicFramePr>
              <p:nvPr/>
            </p:nvGraphicFramePr>
            <p:xfrm>
              <a:off x="912" y="0"/>
              <a:ext cx="1296" cy="6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441" r:id="rId8" imgW="1713586" imgH="833018" progId="MS_ClipArt_Gallery.2">
                      <p:embed/>
                    </p:oleObj>
                  </mc:Choice>
                  <mc:Fallback>
                    <p:oleObj r:id="rId8" imgW="1713586" imgH="833018" progId="MS_ClipArt_Gallery.2">
                      <p:embed/>
                      <p:pic>
                        <p:nvPicPr>
                          <p:cNvPr id="0" name="Object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12" y="0"/>
                            <a:ext cx="1296" cy="62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412" name="未知"/>
              <p:cNvSpPr>
                <a:spLocks/>
              </p:cNvSpPr>
              <p:nvPr/>
            </p:nvSpPr>
            <p:spPr bwMode="auto">
              <a:xfrm>
                <a:off x="0" y="167"/>
                <a:ext cx="1392" cy="388"/>
              </a:xfrm>
              <a:custGeom>
                <a:avLst/>
                <a:gdLst>
                  <a:gd name="T0" fmla="*/ 0 w 1248"/>
                  <a:gd name="T1" fmla="*/ 0 h 56"/>
                  <a:gd name="T2" fmla="*/ 229 w 1248"/>
                  <a:gd name="T3" fmla="*/ 463348 h 56"/>
                  <a:gd name="T4" fmla="*/ 461 w 1248"/>
                  <a:gd name="T5" fmla="*/ 463348 h 56"/>
                  <a:gd name="T6" fmla="*/ 688 w 1248"/>
                  <a:gd name="T7" fmla="*/ 463348 h 56"/>
                  <a:gd name="T8" fmla="*/ 2990 w 1248"/>
                  <a:gd name="T9" fmla="*/ 463348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48"/>
                  <a:gd name="T16" fmla="*/ 0 h 56"/>
                  <a:gd name="T17" fmla="*/ 1248 w 1248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48" h="56">
                    <a:moveTo>
                      <a:pt x="0" y="0"/>
                    </a:moveTo>
                    <a:cubicBezTo>
                      <a:pt x="32" y="20"/>
                      <a:pt x="64" y="40"/>
                      <a:pt x="96" y="48"/>
                    </a:cubicBezTo>
                    <a:cubicBezTo>
                      <a:pt x="128" y="56"/>
                      <a:pt x="160" y="48"/>
                      <a:pt x="192" y="48"/>
                    </a:cubicBezTo>
                    <a:cubicBezTo>
                      <a:pt x="224" y="48"/>
                      <a:pt x="112" y="48"/>
                      <a:pt x="288" y="48"/>
                    </a:cubicBezTo>
                    <a:cubicBezTo>
                      <a:pt x="464" y="48"/>
                      <a:pt x="1088" y="48"/>
                      <a:pt x="1248" y="48"/>
                    </a:cubicBezTo>
                  </a:path>
                </a:pathLst>
              </a:custGeom>
              <a:noFill/>
              <a:ln w="57150" cmpd="sng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5410" name="未知"/>
            <p:cNvSpPr>
              <a:spLocks/>
            </p:cNvSpPr>
            <p:nvPr/>
          </p:nvSpPr>
          <p:spPr bwMode="auto">
            <a:xfrm>
              <a:off x="144" y="166"/>
              <a:ext cx="96" cy="388"/>
            </a:xfrm>
            <a:custGeom>
              <a:avLst/>
              <a:gdLst>
                <a:gd name="T0" fmla="*/ 96 w 96"/>
                <a:gd name="T1" fmla="*/ 0 h 48"/>
                <a:gd name="T2" fmla="*/ 0 w 96"/>
                <a:gd name="T3" fmla="*/ 1656307 h 48"/>
                <a:gd name="T4" fmla="*/ 0 60000 65536"/>
                <a:gd name="T5" fmla="*/ 0 60000 65536"/>
                <a:gd name="T6" fmla="*/ 0 w 96"/>
                <a:gd name="T7" fmla="*/ 0 h 48"/>
                <a:gd name="T8" fmla="*/ 96 w 96"/>
                <a:gd name="T9" fmla="*/ 48 h 4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6" h="48">
                  <a:moveTo>
                    <a:pt x="96" y="0"/>
                  </a:moveTo>
                  <a:cubicBezTo>
                    <a:pt x="96" y="0"/>
                    <a:pt x="48" y="24"/>
                    <a:pt x="0" y="48"/>
                  </a:cubicBezTo>
                </a:path>
              </a:pathLst>
            </a:custGeom>
            <a:noFill/>
            <a:ln w="57150" cmpd="sng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40681" name="Line 41"/>
          <p:cNvSpPr>
            <a:spLocks noChangeShapeType="1"/>
          </p:cNvSpPr>
          <p:nvPr/>
        </p:nvSpPr>
        <p:spPr bwMode="auto">
          <a:xfrm>
            <a:off x="1752600" y="3028950"/>
            <a:ext cx="56832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40682" name="Object 42"/>
          <p:cNvGraphicFramePr>
            <a:graphicFrameLocks noChangeAspect="1"/>
          </p:cNvGraphicFramePr>
          <p:nvPr/>
        </p:nvGraphicFramePr>
        <p:xfrm>
          <a:off x="1981200" y="3143250"/>
          <a:ext cx="32702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2" name="公式" r:id="rId10" imgW="164957" imgH="190335" progId="Equation.3">
                  <p:embed/>
                </p:oleObj>
              </mc:Choice>
              <mc:Fallback>
                <p:oleObj name="公式" r:id="rId10" imgW="164957" imgH="190335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143250"/>
                        <a:ext cx="327025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43"/>
          <p:cNvGrpSpPr>
            <a:grpSpLocks/>
          </p:cNvGrpSpPr>
          <p:nvPr/>
        </p:nvGrpSpPr>
        <p:grpSpPr bwMode="auto">
          <a:xfrm>
            <a:off x="755650" y="1401763"/>
            <a:ext cx="1609725" cy="414337"/>
            <a:chOff x="1968" y="1268"/>
            <a:chExt cx="1014" cy="348"/>
          </a:xfrm>
        </p:grpSpPr>
        <p:sp>
          <p:nvSpPr>
            <p:cNvPr id="15407" name="Text Box 44"/>
            <p:cNvSpPr txBox="1">
              <a:spLocks noChangeArrowheads="1"/>
            </p:cNvSpPr>
            <p:nvPr/>
          </p:nvSpPr>
          <p:spPr bwMode="auto">
            <a:xfrm>
              <a:off x="1968" y="1296"/>
              <a:ext cx="44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800">
                  <a:ea typeface="宋体" pitchFamily="2" charset="-122"/>
                </a:rPr>
                <a:t>A</a:t>
              </a:r>
              <a:r>
                <a:rPr lang="zh-CN" altLang="en-US" sz="1800">
                  <a:ea typeface="宋体" pitchFamily="2" charset="-122"/>
                </a:rPr>
                <a:t>）</a:t>
              </a:r>
            </a:p>
          </p:txBody>
        </p:sp>
        <p:graphicFrame>
          <p:nvGraphicFramePr>
            <p:cNvPr id="15408" name="Object 45"/>
            <p:cNvGraphicFramePr>
              <a:graphicFrameLocks noChangeAspect="1"/>
            </p:cNvGraphicFramePr>
            <p:nvPr/>
          </p:nvGraphicFramePr>
          <p:xfrm>
            <a:off x="2326" y="1268"/>
            <a:ext cx="656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43" name="公式" r:id="rId12" imgW="406048" imgH="215713" progId="Equation.3">
                    <p:embed/>
                  </p:oleObj>
                </mc:Choice>
                <mc:Fallback>
                  <p:oleObj name="公式" r:id="rId12" imgW="406048" imgH="215713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6" y="1268"/>
                          <a:ext cx="656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0687" name="Object 47"/>
          <p:cNvGraphicFramePr>
            <a:graphicFrameLocks noChangeAspect="1"/>
          </p:cNvGraphicFramePr>
          <p:nvPr/>
        </p:nvGraphicFramePr>
        <p:xfrm>
          <a:off x="3346450" y="857250"/>
          <a:ext cx="20177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4" name="Equation" r:id="rId14" imgW="685800" imgH="203200" progId="Equation.DSMT4">
                  <p:embed/>
                </p:oleObj>
              </mc:Choice>
              <mc:Fallback>
                <p:oleObj name="Equation" r:id="rId14" imgW="685800" imgH="20320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6450" y="857250"/>
                        <a:ext cx="20177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Box 13"/>
          <p:cNvSpPr txBox="1">
            <a:spLocks noChangeArrowheads="1"/>
          </p:cNvSpPr>
          <p:nvPr/>
        </p:nvSpPr>
        <p:spPr bwMode="auto">
          <a:xfrm>
            <a:off x="593725" y="3425825"/>
            <a:ext cx="5480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18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注意：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作用力和反作用力对</a:t>
            </a: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同一点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的力矩之和为零： </a:t>
            </a:r>
          </a:p>
        </p:txBody>
      </p:sp>
      <p:graphicFrame>
        <p:nvGraphicFramePr>
          <p:cNvPr id="54" name="对象 30"/>
          <p:cNvGraphicFramePr>
            <a:graphicFrameLocks noChangeAspect="1"/>
          </p:cNvGraphicFramePr>
          <p:nvPr/>
        </p:nvGraphicFramePr>
        <p:xfrm>
          <a:off x="179388" y="3833813"/>
          <a:ext cx="41052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5" name="公式" r:id="rId16" imgW="1764534" imgH="266584" progId="Equation.3">
                  <p:embed/>
                </p:oleObj>
              </mc:Choice>
              <mc:Fallback>
                <p:oleObj name="公式" r:id="rId16" imgW="1764534" imgH="266584" progId="Equation.3">
                  <p:embed/>
                  <p:pic>
                    <p:nvPicPr>
                      <p:cNvPr id="0" name="对象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3833813"/>
                        <a:ext cx="41052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31"/>
          <p:cNvGraphicFramePr>
            <a:graphicFrameLocks noChangeAspect="1"/>
          </p:cNvGraphicFramePr>
          <p:nvPr/>
        </p:nvGraphicFramePr>
        <p:xfrm>
          <a:off x="1763713" y="4197350"/>
          <a:ext cx="211931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6" name="公式" r:id="rId18" imgW="914003" imgH="266584" progId="Equation.3">
                  <p:embed/>
                </p:oleObj>
              </mc:Choice>
              <mc:Fallback>
                <p:oleObj name="公式" r:id="rId18" imgW="914003" imgH="266584" progId="Equation.3">
                  <p:embed/>
                  <p:pic>
                    <p:nvPicPr>
                      <p:cNvPr id="0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197350"/>
                        <a:ext cx="2119312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32"/>
          <p:cNvGraphicFramePr>
            <a:graphicFrameLocks noChangeAspect="1"/>
          </p:cNvGraphicFramePr>
          <p:nvPr/>
        </p:nvGraphicFramePr>
        <p:xfrm>
          <a:off x="3779838" y="4198938"/>
          <a:ext cx="13716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7" name="公式" r:id="rId20" imgW="596641" imgH="266584" progId="Equation.3">
                  <p:embed/>
                </p:oleObj>
              </mc:Choice>
              <mc:Fallback>
                <p:oleObj name="公式" r:id="rId20" imgW="596641" imgH="266584" progId="Equation.3">
                  <p:embed/>
                  <p:pic>
                    <p:nvPicPr>
                      <p:cNvPr id="0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4198938"/>
                        <a:ext cx="137160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427538" y="3859213"/>
          <a:ext cx="13684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8" name="公式" r:id="rId22" imgW="622030" imgH="266584" progId="Equation.3">
                  <p:embed/>
                </p:oleObj>
              </mc:Choice>
              <mc:Fallback>
                <p:oleObj name="公式" r:id="rId22" imgW="622030" imgH="266584" progId="Equation.3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3859213"/>
                        <a:ext cx="136842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4"/>
          <p:cNvGraphicFramePr>
            <a:graphicFrameLocks noChangeAspect="1"/>
          </p:cNvGraphicFramePr>
          <p:nvPr/>
        </p:nvGraphicFramePr>
        <p:xfrm>
          <a:off x="5219700" y="4270375"/>
          <a:ext cx="576263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9" name="公式" r:id="rId24" imgW="241091" imgH="177646" progId="Equation.3">
                  <p:embed/>
                </p:oleObj>
              </mc:Choice>
              <mc:Fallback>
                <p:oleObj name="公式" r:id="rId24" imgW="241091" imgH="177646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4270375"/>
                        <a:ext cx="576263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0710" name="Object 70"/>
          <p:cNvGraphicFramePr>
            <a:graphicFrameLocks noChangeAspect="1"/>
          </p:cNvGraphicFramePr>
          <p:nvPr/>
        </p:nvGraphicFramePr>
        <p:xfrm>
          <a:off x="5822950" y="949325"/>
          <a:ext cx="2062163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0" name="公式" r:id="rId26" imgW="850531" imgH="177723" progId="Equation.3">
                  <p:embed/>
                </p:oleObj>
              </mc:Choice>
              <mc:Fallback>
                <p:oleObj name="公式" r:id="rId26" imgW="850531" imgH="177723" progId="Equation.3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2950" y="949325"/>
                        <a:ext cx="2062163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11"/>
          <p:cNvGrpSpPr>
            <a:grpSpLocks/>
          </p:cNvGrpSpPr>
          <p:nvPr/>
        </p:nvGrpSpPr>
        <p:grpSpPr bwMode="auto">
          <a:xfrm>
            <a:off x="7866063" y="3460750"/>
            <a:ext cx="831850" cy="827088"/>
            <a:chOff x="6561056" y="3978110"/>
            <a:chExt cx="832820" cy="1102936"/>
          </a:xfrm>
        </p:grpSpPr>
        <p:sp>
          <p:nvSpPr>
            <p:cNvPr id="15405" name="Line 26"/>
            <p:cNvSpPr>
              <a:spLocks noChangeShapeType="1"/>
            </p:cNvSpPr>
            <p:nvPr/>
          </p:nvSpPr>
          <p:spPr bwMode="auto">
            <a:xfrm flipH="1" flipV="1">
              <a:off x="6561056" y="3978110"/>
              <a:ext cx="832820" cy="11029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406" name="对象 38"/>
            <p:cNvGraphicFramePr>
              <a:graphicFrameLocks noChangeAspect="1"/>
            </p:cNvGraphicFramePr>
            <p:nvPr/>
          </p:nvGraphicFramePr>
          <p:xfrm>
            <a:off x="6989108" y="4123654"/>
            <a:ext cx="274637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51" name="公式" r:id="rId28" imgW="164957" imgH="241091" progId="Equation.3">
                    <p:embed/>
                  </p:oleObj>
                </mc:Choice>
                <mc:Fallback>
                  <p:oleObj name="公式" r:id="rId28" imgW="164957" imgH="241091" progId="Equation.3">
                    <p:embed/>
                    <p:pic>
                      <p:nvPicPr>
                        <p:cNvPr id="0" name="对象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89108" y="4123654"/>
                          <a:ext cx="274637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6227763" y="3043238"/>
            <a:ext cx="2881312" cy="1689100"/>
            <a:chOff x="3746970" y="4091233"/>
            <a:chExt cx="2878741" cy="2253007"/>
          </a:xfrm>
        </p:grpSpPr>
        <p:sp>
          <p:nvSpPr>
            <p:cNvPr id="15393" name="Line 18"/>
            <p:cNvSpPr>
              <a:spLocks noChangeShapeType="1"/>
            </p:cNvSpPr>
            <p:nvPr/>
          </p:nvSpPr>
          <p:spPr bwMode="auto">
            <a:xfrm flipH="1" flipV="1">
              <a:off x="4958499" y="4091233"/>
              <a:ext cx="342377" cy="484953"/>
            </a:xfrm>
            <a:prstGeom prst="line">
              <a:avLst/>
            </a:prstGeom>
            <a:noFill/>
            <a:ln w="28575">
              <a:solidFill>
                <a:srgbClr val="FF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4" name="Line 22"/>
            <p:cNvSpPr>
              <a:spLocks noChangeShapeType="1"/>
            </p:cNvSpPr>
            <p:nvPr/>
          </p:nvSpPr>
          <p:spPr bwMode="auto">
            <a:xfrm flipV="1">
              <a:off x="3979012" y="4666268"/>
              <a:ext cx="1328279" cy="10395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5" name="Line 23"/>
            <p:cNvSpPr>
              <a:spLocks noChangeShapeType="1"/>
            </p:cNvSpPr>
            <p:nvPr/>
          </p:nvSpPr>
          <p:spPr bwMode="auto">
            <a:xfrm>
              <a:off x="3979012" y="5697849"/>
              <a:ext cx="2233252" cy="1373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6" name="Oval 24"/>
            <p:cNvSpPr>
              <a:spLocks noChangeArrowheads="1"/>
            </p:cNvSpPr>
            <p:nvPr/>
          </p:nvSpPr>
          <p:spPr bwMode="auto">
            <a:xfrm>
              <a:off x="5278160" y="4575404"/>
              <a:ext cx="113972" cy="113972"/>
            </a:xfrm>
            <a:prstGeom prst="ellipse">
              <a:avLst/>
            </a:prstGeom>
            <a:solidFill>
              <a:srgbClr val="37CB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1800" b="0">
                <a:ea typeface="宋体" pitchFamily="2" charset="-122"/>
              </a:endParaRPr>
            </a:p>
          </p:txBody>
        </p:sp>
        <p:sp>
          <p:nvSpPr>
            <p:cNvPr id="15397" name="Line 27"/>
            <p:cNvSpPr>
              <a:spLocks noChangeShapeType="1"/>
            </p:cNvSpPr>
            <p:nvPr/>
          </p:nvSpPr>
          <p:spPr bwMode="auto">
            <a:xfrm>
              <a:off x="6300215" y="5860264"/>
              <a:ext cx="325496" cy="455695"/>
            </a:xfrm>
            <a:prstGeom prst="line">
              <a:avLst/>
            </a:prstGeom>
            <a:noFill/>
            <a:ln w="28575">
              <a:solidFill>
                <a:srgbClr val="FF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8" name="Text Box 35"/>
            <p:cNvSpPr txBox="1">
              <a:spLocks noChangeArrowheads="1"/>
            </p:cNvSpPr>
            <p:nvPr/>
          </p:nvSpPr>
          <p:spPr bwMode="auto">
            <a:xfrm>
              <a:off x="3746970" y="5659627"/>
              <a:ext cx="351248" cy="492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1800" i="1">
                  <a:ea typeface="宋体" pitchFamily="2" charset="-122"/>
                </a:rPr>
                <a:t>O</a:t>
              </a:r>
            </a:p>
          </p:txBody>
        </p:sp>
        <p:sp>
          <p:nvSpPr>
            <p:cNvPr id="15399" name="椭圆 29"/>
            <p:cNvSpPr>
              <a:spLocks noChangeArrowheads="1"/>
            </p:cNvSpPr>
            <p:nvPr/>
          </p:nvSpPr>
          <p:spPr bwMode="auto">
            <a:xfrm>
              <a:off x="3929799" y="5659748"/>
              <a:ext cx="88900" cy="889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zh-CN" altLang="en-US" sz="1800" b="0">
                <a:ea typeface="宋体" pitchFamily="2" charset="-122"/>
              </a:endParaRPr>
            </a:p>
          </p:txBody>
        </p:sp>
        <p:graphicFrame>
          <p:nvGraphicFramePr>
            <p:cNvPr id="15400" name="对象 36"/>
            <p:cNvGraphicFramePr>
              <a:graphicFrameLocks noChangeAspect="1"/>
            </p:cNvGraphicFramePr>
            <p:nvPr/>
          </p:nvGraphicFramePr>
          <p:xfrm>
            <a:off x="4388538" y="4794757"/>
            <a:ext cx="233363" cy="4048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52" name="公式" r:id="rId30" imgW="139639" imgH="241195" progId="Equation.3">
                    <p:embed/>
                  </p:oleObj>
                </mc:Choice>
                <mc:Fallback>
                  <p:oleObj name="公式" r:id="rId30" imgW="139639" imgH="241195" progId="Equation.3">
                    <p:embed/>
                    <p:pic>
                      <p:nvPicPr>
                        <p:cNvPr id="0" name="对象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8538" y="4794757"/>
                          <a:ext cx="233363" cy="4048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01" name="对象 37"/>
            <p:cNvGraphicFramePr>
              <a:graphicFrameLocks noChangeAspect="1"/>
            </p:cNvGraphicFramePr>
            <p:nvPr/>
          </p:nvGraphicFramePr>
          <p:xfrm>
            <a:off x="5106956" y="5737617"/>
            <a:ext cx="211137" cy="384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53" name="公式" r:id="rId32" imgW="126890" imgH="228402" progId="Equation.3">
                    <p:embed/>
                  </p:oleObj>
                </mc:Choice>
                <mc:Fallback>
                  <p:oleObj name="公式" r:id="rId32" imgW="126890" imgH="228402" progId="Equation.3">
                    <p:embed/>
                    <p:pic>
                      <p:nvPicPr>
                        <p:cNvPr id="0" name="对象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6956" y="5737617"/>
                          <a:ext cx="211137" cy="384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02" name="对象 39"/>
            <p:cNvGraphicFramePr>
              <a:graphicFrameLocks noChangeAspect="1"/>
            </p:cNvGraphicFramePr>
            <p:nvPr/>
          </p:nvGraphicFramePr>
          <p:xfrm>
            <a:off x="4768656" y="4227070"/>
            <a:ext cx="353539" cy="439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54" name="公式" r:id="rId34" imgW="215619" imgH="266353" progId="Equation.3">
                    <p:embed/>
                  </p:oleObj>
                </mc:Choice>
                <mc:Fallback>
                  <p:oleObj name="公式" r:id="rId34" imgW="215619" imgH="266353" progId="Equation.3">
                    <p:embed/>
                    <p:pic>
                      <p:nvPicPr>
                        <p:cNvPr id="0" name="对象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8656" y="4227070"/>
                          <a:ext cx="353539" cy="439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03" name="对象 40"/>
            <p:cNvGraphicFramePr>
              <a:graphicFrameLocks noChangeAspect="1"/>
            </p:cNvGraphicFramePr>
            <p:nvPr/>
          </p:nvGraphicFramePr>
          <p:xfrm>
            <a:off x="6146981" y="5933846"/>
            <a:ext cx="291060" cy="410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55" name="公式" r:id="rId36" imgW="190335" imgH="266469" progId="Equation.3">
                    <p:embed/>
                  </p:oleObj>
                </mc:Choice>
                <mc:Fallback>
                  <p:oleObj name="公式" r:id="rId36" imgW="190335" imgH="266469" progId="Equation.3">
                    <p:embed/>
                    <p:pic>
                      <p:nvPicPr>
                        <p:cNvPr id="0" name="对象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46981" y="5933846"/>
                          <a:ext cx="291060" cy="4103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04" name="Oval 24"/>
            <p:cNvSpPr>
              <a:spLocks noChangeArrowheads="1"/>
            </p:cNvSpPr>
            <p:nvPr/>
          </p:nvSpPr>
          <p:spPr bwMode="auto">
            <a:xfrm>
              <a:off x="6201986" y="5763181"/>
              <a:ext cx="113972" cy="113972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1800" b="0"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06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06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06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06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07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07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0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240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0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40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24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40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240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40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40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40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0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0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9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40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40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42" grpId="0" autoUpdateAnimBg="0"/>
      <p:bldP spid="240651" grpId="0" animBg="1"/>
      <p:bldP spid="240655" grpId="0" autoUpdateAnimBg="0"/>
      <p:bldP spid="240656" grpId="0" animBg="1"/>
      <p:bldP spid="240657" grpId="0" animBg="1"/>
      <p:bldP spid="240658" grpId="0" animBg="1"/>
      <p:bldP spid="240659" grpId="0" animBg="1"/>
      <p:bldP spid="240666" grpId="0" animBg="1"/>
      <p:bldP spid="240667" grpId="0" animBg="1"/>
      <p:bldP spid="240668" grpId="0" animBg="1"/>
      <p:bldP spid="240669" grpId="0" animBg="1"/>
      <p:bldP spid="240670" grpId="0" animBg="1"/>
      <p:bldP spid="240671" grpId="0" animBg="1"/>
      <p:bldP spid="240681" grpId="0" animBg="1"/>
      <p:bldP spid="4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733425" y="835025"/>
            <a:ext cx="41989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2.</a:t>
            </a:r>
            <a:r>
              <a:rPr lang="zh-CN" altLang="zh-CN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力对固定轴的力矩</a:t>
            </a:r>
            <a:endParaRPr lang="zh-CN" altLang="en-US" sz="1800">
              <a:solidFill>
                <a:srgbClr val="0000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30" name="Text Box 9"/>
          <p:cNvSpPr txBox="1">
            <a:spLocks noChangeArrowheads="1"/>
          </p:cNvSpPr>
          <p:nvPr/>
        </p:nvSpPr>
        <p:spPr bwMode="auto">
          <a:xfrm>
            <a:off x="611188" y="1266825"/>
            <a:ext cx="50752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ea typeface="华文中宋" pitchFamily="2" charset="-122"/>
              </a:rPr>
              <a:t>   把质点</a:t>
            </a:r>
            <a:r>
              <a:rPr lang="en-US" altLang="zh-CN" sz="1800" i="1">
                <a:ea typeface="华文中宋" pitchFamily="2" charset="-122"/>
              </a:rPr>
              <a:t>i</a:t>
            </a:r>
            <a:r>
              <a:rPr lang="zh-CN" altLang="en-US" sz="1800">
                <a:ea typeface="华文中宋" pitchFamily="2" charset="-122"/>
              </a:rPr>
              <a:t>对</a:t>
            </a:r>
            <a:r>
              <a:rPr lang="en-US" altLang="zh-CN" sz="1800" i="1">
                <a:ea typeface="华文中宋" pitchFamily="2" charset="-122"/>
              </a:rPr>
              <a:t>O</a:t>
            </a:r>
            <a:r>
              <a:rPr lang="zh-CN" altLang="en-US" sz="1800">
                <a:ea typeface="华文中宋" pitchFamily="2" charset="-122"/>
              </a:rPr>
              <a:t>点的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力矩向过</a:t>
            </a:r>
            <a:r>
              <a:rPr lang="en-US" altLang="zh-CN" sz="1800" i="1">
                <a:ea typeface="华文中宋" pitchFamily="2" charset="-122"/>
              </a:rPr>
              <a:t>O</a:t>
            </a:r>
            <a:r>
              <a:rPr lang="zh-CN" altLang="en-US" sz="1800">
                <a:ea typeface="华文中宋" pitchFamily="2" charset="-122"/>
              </a:rPr>
              <a:t>点的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轴</a:t>
            </a:r>
            <a:r>
              <a:rPr lang="en-US" altLang="zh-CN" sz="1800">
                <a:solidFill>
                  <a:srgbClr val="000000"/>
                </a:solidFill>
                <a:ea typeface="华文中宋" pitchFamily="2" charset="-122"/>
              </a:rPr>
              <a:t>(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如</a:t>
            </a:r>
            <a:r>
              <a:rPr lang="en-US" altLang="zh-CN" sz="1800" i="1">
                <a:solidFill>
                  <a:srgbClr val="000000"/>
                </a:solidFill>
                <a:ea typeface="华文中宋" pitchFamily="2" charset="-122"/>
              </a:rPr>
              <a:t>z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轴</a:t>
            </a:r>
            <a:r>
              <a:rPr lang="en-US" altLang="zh-CN" sz="1800">
                <a:solidFill>
                  <a:srgbClr val="000000"/>
                </a:solidFill>
                <a:ea typeface="华文中宋" pitchFamily="2" charset="-122"/>
              </a:rPr>
              <a:t>)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投影：</a:t>
            </a:r>
            <a:endParaRPr lang="zh-CN" altLang="en-US" sz="1800" b="0">
              <a:ea typeface="华文中宋" pitchFamily="2" charset="-122"/>
            </a:endParaRPr>
          </a:p>
        </p:txBody>
      </p:sp>
      <p:graphicFrame>
        <p:nvGraphicFramePr>
          <p:cNvPr id="53" name="对象 26"/>
          <p:cNvGraphicFramePr>
            <a:graphicFrameLocks noChangeAspect="1"/>
          </p:cNvGraphicFramePr>
          <p:nvPr/>
        </p:nvGraphicFramePr>
        <p:xfrm>
          <a:off x="395288" y="1733550"/>
          <a:ext cx="1512887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1" name="公式" r:id="rId3" imgW="748975" imgH="253890" progId="Equation.3">
                  <p:embed/>
                </p:oleObj>
              </mc:Choice>
              <mc:Fallback>
                <p:oleObj name="公式" r:id="rId3" imgW="748975" imgH="253890" progId="Equation.3">
                  <p:embed/>
                  <p:pic>
                    <p:nvPicPr>
                      <p:cNvPr id="0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733550"/>
                        <a:ext cx="1512887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27"/>
          <p:cNvGraphicFramePr>
            <a:graphicFrameLocks noChangeAspect="1"/>
          </p:cNvGraphicFramePr>
          <p:nvPr/>
        </p:nvGraphicFramePr>
        <p:xfrm>
          <a:off x="1901825" y="1708150"/>
          <a:ext cx="173196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2" name="公式" r:id="rId5" imgW="787400" imgH="241300" progId="Equation.3">
                  <p:embed/>
                </p:oleObj>
              </mc:Choice>
              <mc:Fallback>
                <p:oleObj name="公式" r:id="rId5" imgW="787400" imgH="241300" progId="Equation.3">
                  <p:embed/>
                  <p:pic>
                    <p:nvPicPr>
                      <p:cNvPr id="0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1825" y="1708150"/>
                        <a:ext cx="173196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对象 44"/>
          <p:cNvGraphicFramePr>
            <a:graphicFrameLocks noChangeAspect="1"/>
          </p:cNvGraphicFramePr>
          <p:nvPr/>
        </p:nvGraphicFramePr>
        <p:xfrm>
          <a:off x="920750" y="2205038"/>
          <a:ext cx="3411538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3" name="公式" r:id="rId7" imgW="1688367" imgH="253890" progId="Equation.3">
                  <p:embed/>
                </p:oleObj>
              </mc:Choice>
              <mc:Fallback>
                <p:oleObj name="公式" r:id="rId7" imgW="1688367" imgH="253890" progId="Equation.3">
                  <p:embed/>
                  <p:pic>
                    <p:nvPicPr>
                      <p:cNvPr id="0" name="对象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0" y="2205038"/>
                        <a:ext cx="3411538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对象 45"/>
          <p:cNvGraphicFramePr>
            <a:graphicFrameLocks noChangeAspect="1"/>
          </p:cNvGraphicFramePr>
          <p:nvPr/>
        </p:nvGraphicFramePr>
        <p:xfrm>
          <a:off x="915988" y="2701925"/>
          <a:ext cx="48799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4" name="Equation" r:id="rId9" imgW="2540000" imgH="254000" progId="Equation.DSMT4">
                  <p:embed/>
                </p:oleObj>
              </mc:Choice>
              <mc:Fallback>
                <p:oleObj name="Equation" r:id="rId9" imgW="2540000" imgH="254000" progId="Equation.DSMT4">
                  <p:embed/>
                  <p:pic>
                    <p:nvPicPr>
                      <p:cNvPr id="0" name="对象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988" y="2701925"/>
                        <a:ext cx="487997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对象 46"/>
          <p:cNvGraphicFramePr>
            <a:graphicFrameLocks noChangeAspect="1"/>
          </p:cNvGraphicFramePr>
          <p:nvPr/>
        </p:nvGraphicFramePr>
        <p:xfrm>
          <a:off x="398463" y="3201988"/>
          <a:ext cx="22288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5" name="公式" r:id="rId11" imgW="1117115" imgH="253890" progId="Equation.3">
                  <p:embed/>
                </p:oleObj>
              </mc:Choice>
              <mc:Fallback>
                <p:oleObj name="公式" r:id="rId11" imgW="1117115" imgH="253890" progId="Equation.3">
                  <p:embed/>
                  <p:pic>
                    <p:nvPicPr>
                      <p:cNvPr id="0" name="对象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463" y="3201988"/>
                        <a:ext cx="22288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对象 47"/>
          <p:cNvGraphicFramePr>
            <a:graphicFrameLocks noChangeAspect="1"/>
          </p:cNvGraphicFramePr>
          <p:nvPr/>
        </p:nvGraphicFramePr>
        <p:xfrm>
          <a:off x="2854325" y="3219450"/>
          <a:ext cx="22225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6" name="公式" r:id="rId13" imgW="1040948" imgH="228501" progId="Equation.3">
                  <p:embed/>
                </p:oleObj>
              </mc:Choice>
              <mc:Fallback>
                <p:oleObj name="公式" r:id="rId13" imgW="1040948" imgH="228501" progId="Equation.3">
                  <p:embed/>
                  <p:pic>
                    <p:nvPicPr>
                      <p:cNvPr id="0" name="对象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4325" y="3219450"/>
                        <a:ext cx="222250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4"/>
          <p:cNvGrpSpPr>
            <a:grpSpLocks/>
          </p:cNvGrpSpPr>
          <p:nvPr/>
        </p:nvGrpSpPr>
        <p:grpSpPr bwMode="auto">
          <a:xfrm>
            <a:off x="7021513" y="2641600"/>
            <a:ext cx="1366837" cy="722313"/>
            <a:chOff x="4286" y="2008"/>
            <a:chExt cx="861" cy="606"/>
          </a:xfrm>
        </p:grpSpPr>
        <p:grpSp>
          <p:nvGrpSpPr>
            <p:cNvPr id="16447" name="Group 113"/>
            <p:cNvGrpSpPr>
              <a:grpSpLocks/>
            </p:cNvGrpSpPr>
            <p:nvPr/>
          </p:nvGrpSpPr>
          <p:grpSpPr bwMode="auto">
            <a:xfrm>
              <a:off x="4694" y="2008"/>
              <a:ext cx="186" cy="606"/>
              <a:chOff x="3901" y="1395"/>
              <a:chExt cx="186" cy="606"/>
            </a:xfrm>
          </p:grpSpPr>
          <p:sp>
            <p:nvSpPr>
              <p:cNvPr id="16451" name="Line 114"/>
              <p:cNvSpPr>
                <a:spLocks noChangeShapeType="1"/>
              </p:cNvSpPr>
              <p:nvPr/>
            </p:nvSpPr>
            <p:spPr bwMode="auto">
              <a:xfrm flipH="1" flipV="1">
                <a:off x="3901" y="1395"/>
                <a:ext cx="0" cy="606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16452" name="对象 36"/>
              <p:cNvGraphicFramePr>
                <a:graphicFrameLocks noChangeAspect="1"/>
              </p:cNvGraphicFramePr>
              <p:nvPr/>
            </p:nvGraphicFramePr>
            <p:xfrm>
              <a:off x="3933" y="1469"/>
              <a:ext cx="154" cy="2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477" name="公式" r:id="rId15" imgW="152334" imgH="228501" progId="Equation.3">
                      <p:embed/>
                    </p:oleObj>
                  </mc:Choice>
                  <mc:Fallback>
                    <p:oleObj name="公式" r:id="rId15" imgW="152334" imgH="228501" progId="Equation.3">
                      <p:embed/>
                      <p:pic>
                        <p:nvPicPr>
                          <p:cNvPr id="0" name="对象 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33" y="1469"/>
                            <a:ext cx="154" cy="23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6448" name="Line 117"/>
            <p:cNvSpPr>
              <a:spLocks noChangeShapeType="1"/>
            </p:cNvSpPr>
            <p:nvPr/>
          </p:nvSpPr>
          <p:spPr bwMode="auto">
            <a:xfrm flipV="1">
              <a:off x="4694" y="2478"/>
              <a:ext cx="453" cy="136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16449" name="对象 41"/>
            <p:cNvGraphicFramePr>
              <a:graphicFrameLocks noChangeAspect="1"/>
            </p:cNvGraphicFramePr>
            <p:nvPr/>
          </p:nvGraphicFramePr>
          <p:xfrm>
            <a:off x="4853" y="2296"/>
            <a:ext cx="204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78" name="公式" r:id="rId17" imgW="203112" imgH="241195" progId="Equation.3">
                    <p:embed/>
                  </p:oleObj>
                </mc:Choice>
                <mc:Fallback>
                  <p:oleObj name="公式" r:id="rId17" imgW="203112" imgH="241195" progId="Equation.3">
                    <p:embed/>
                    <p:pic>
                      <p:nvPicPr>
                        <p:cNvPr id="0" name="对象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3" y="2296"/>
                          <a:ext cx="204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50" name="Line 136"/>
            <p:cNvSpPr>
              <a:spLocks noChangeShapeType="1"/>
            </p:cNvSpPr>
            <p:nvPr/>
          </p:nvSpPr>
          <p:spPr bwMode="auto">
            <a:xfrm flipH="1" flipV="1">
              <a:off x="4286" y="2478"/>
              <a:ext cx="408" cy="1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" name="Group 145"/>
          <p:cNvGrpSpPr>
            <a:grpSpLocks/>
          </p:cNvGrpSpPr>
          <p:nvPr/>
        </p:nvGrpSpPr>
        <p:grpSpPr bwMode="auto">
          <a:xfrm>
            <a:off x="6877050" y="3576638"/>
            <a:ext cx="1798638" cy="661987"/>
            <a:chOff x="4332" y="3004"/>
            <a:chExt cx="1133" cy="556"/>
          </a:xfrm>
        </p:grpSpPr>
        <p:grpSp>
          <p:nvGrpSpPr>
            <p:cNvPr id="16440" name="Group 141"/>
            <p:cNvGrpSpPr>
              <a:grpSpLocks/>
            </p:cNvGrpSpPr>
            <p:nvPr/>
          </p:nvGrpSpPr>
          <p:grpSpPr bwMode="auto">
            <a:xfrm>
              <a:off x="4332" y="3004"/>
              <a:ext cx="226" cy="426"/>
              <a:chOff x="4332" y="3004"/>
              <a:chExt cx="226" cy="426"/>
            </a:xfrm>
          </p:grpSpPr>
          <p:sp>
            <p:nvSpPr>
              <p:cNvPr id="16445" name="Line 118"/>
              <p:cNvSpPr>
                <a:spLocks noChangeShapeType="1"/>
              </p:cNvSpPr>
              <p:nvPr/>
            </p:nvSpPr>
            <p:spPr bwMode="auto">
              <a:xfrm flipV="1">
                <a:off x="4558" y="3004"/>
                <a:ext cx="0" cy="426"/>
              </a:xfrm>
              <a:prstGeom prst="line">
                <a:avLst/>
              </a:prstGeom>
              <a:noFill/>
              <a:ln w="19050">
                <a:solidFill>
                  <a:srgbClr val="0066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16446" name="对象 40"/>
              <p:cNvGraphicFramePr>
                <a:graphicFrameLocks noChangeAspect="1"/>
              </p:cNvGraphicFramePr>
              <p:nvPr/>
            </p:nvGraphicFramePr>
            <p:xfrm>
              <a:off x="4332" y="3067"/>
              <a:ext cx="202" cy="2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479" name="公式" r:id="rId19" imgW="190417" imgH="253890" progId="Equation.3">
                      <p:embed/>
                    </p:oleObj>
                  </mc:Choice>
                  <mc:Fallback>
                    <p:oleObj name="公式" r:id="rId19" imgW="190417" imgH="253890" progId="Equation.3">
                      <p:embed/>
                      <p:pic>
                        <p:nvPicPr>
                          <p:cNvPr id="0" name="对象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2" y="3067"/>
                            <a:ext cx="202" cy="2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6441" name="Group 109"/>
            <p:cNvGrpSpPr>
              <a:grpSpLocks/>
            </p:cNvGrpSpPr>
            <p:nvPr/>
          </p:nvGrpSpPr>
          <p:grpSpPr bwMode="auto">
            <a:xfrm>
              <a:off x="4558" y="3294"/>
              <a:ext cx="907" cy="266"/>
              <a:chOff x="3901" y="1242"/>
              <a:chExt cx="907" cy="266"/>
            </a:xfrm>
          </p:grpSpPr>
          <p:sp>
            <p:nvSpPr>
              <p:cNvPr id="16443" name="Line 110"/>
              <p:cNvSpPr>
                <a:spLocks noChangeShapeType="1"/>
              </p:cNvSpPr>
              <p:nvPr/>
            </p:nvSpPr>
            <p:spPr bwMode="auto">
              <a:xfrm>
                <a:off x="3901" y="1395"/>
                <a:ext cx="907" cy="113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16444" name="对象 33"/>
              <p:cNvGraphicFramePr>
                <a:graphicFrameLocks noChangeAspect="1"/>
              </p:cNvGraphicFramePr>
              <p:nvPr/>
            </p:nvGraphicFramePr>
            <p:xfrm>
              <a:off x="4306" y="1242"/>
              <a:ext cx="187" cy="2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480" name="公式" r:id="rId21" imgW="152268" imgH="215713" progId="Equation.3">
                      <p:embed/>
                    </p:oleObj>
                  </mc:Choice>
                  <mc:Fallback>
                    <p:oleObj name="公式" r:id="rId21" imgW="152268" imgH="215713" progId="Equation.3">
                      <p:embed/>
                      <p:pic>
                        <p:nvPicPr>
                          <p:cNvPr id="0" name="对象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06" y="1242"/>
                            <a:ext cx="187" cy="22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6442" name="Line 137"/>
            <p:cNvSpPr>
              <a:spLocks noChangeShapeType="1"/>
            </p:cNvSpPr>
            <p:nvPr/>
          </p:nvSpPr>
          <p:spPr bwMode="auto">
            <a:xfrm flipV="1">
              <a:off x="4558" y="3113"/>
              <a:ext cx="317" cy="31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86154" name="Rectangle 138"/>
          <p:cNvSpPr>
            <a:spLocks noChangeArrowheads="1"/>
          </p:cNvSpPr>
          <p:nvPr/>
        </p:nvSpPr>
        <p:spPr bwMode="auto">
          <a:xfrm>
            <a:off x="2268538" y="2674938"/>
            <a:ext cx="935037" cy="4603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6155" name="Rectangle 139"/>
          <p:cNvSpPr>
            <a:spLocks noChangeArrowheads="1"/>
          </p:cNvSpPr>
          <p:nvPr/>
        </p:nvSpPr>
        <p:spPr bwMode="auto">
          <a:xfrm>
            <a:off x="3348038" y="2674938"/>
            <a:ext cx="935037" cy="4603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6156" name="Rectangle 140"/>
          <p:cNvSpPr>
            <a:spLocks noChangeArrowheads="1"/>
          </p:cNvSpPr>
          <p:nvPr/>
        </p:nvSpPr>
        <p:spPr bwMode="auto">
          <a:xfrm>
            <a:off x="4427538" y="2674938"/>
            <a:ext cx="935037" cy="4603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6158" name="Text Box 142"/>
          <p:cNvSpPr txBox="1">
            <a:spLocks noChangeArrowheads="1"/>
          </p:cNvSpPr>
          <p:nvPr/>
        </p:nvSpPr>
        <p:spPr bwMode="auto">
          <a:xfrm>
            <a:off x="228600" y="3724275"/>
            <a:ext cx="51847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CC"/>
                </a:solidFill>
                <a:latin typeface="华文中宋" pitchFamily="2" charset="-122"/>
                <a:ea typeface="华文中宋" pitchFamily="2" charset="-122"/>
              </a:rPr>
              <a:t>力对固定轴的力矩为零的情况：</a:t>
            </a:r>
          </a:p>
        </p:txBody>
      </p:sp>
      <p:sp>
        <p:nvSpPr>
          <p:cNvPr id="86159" name="Text Box 143"/>
          <p:cNvSpPr txBox="1">
            <a:spLocks noChangeArrowheads="1"/>
          </p:cNvSpPr>
          <p:nvPr/>
        </p:nvSpPr>
        <p:spPr bwMode="auto">
          <a:xfrm>
            <a:off x="323850" y="4084638"/>
            <a:ext cx="66976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1800">
                <a:latin typeface="华文中宋" pitchFamily="2" charset="-122"/>
                <a:ea typeface="华文中宋" pitchFamily="2" charset="-122"/>
              </a:rPr>
              <a:t>A)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力的作用线与轴平行；   </a:t>
            </a:r>
            <a:r>
              <a:rPr lang="en-US" altLang="zh-CN" sz="1800">
                <a:latin typeface="华文中宋" pitchFamily="2" charset="-122"/>
                <a:ea typeface="华文中宋" pitchFamily="2" charset="-122"/>
              </a:rPr>
              <a:t>B)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力的作用线与轴相交。</a:t>
            </a:r>
          </a:p>
        </p:txBody>
      </p:sp>
      <p:grpSp>
        <p:nvGrpSpPr>
          <p:cNvPr id="7" name="Group 81"/>
          <p:cNvGrpSpPr>
            <a:grpSpLocks/>
          </p:cNvGrpSpPr>
          <p:nvPr/>
        </p:nvGrpSpPr>
        <p:grpSpPr bwMode="auto">
          <a:xfrm>
            <a:off x="5895975" y="2268538"/>
            <a:ext cx="401638" cy="519112"/>
            <a:chOff x="3698" y="1821"/>
            <a:chExt cx="253" cy="437"/>
          </a:xfrm>
        </p:grpSpPr>
        <p:sp>
          <p:nvSpPr>
            <p:cNvPr id="16438" name="Text Box 82"/>
            <p:cNvSpPr txBox="1">
              <a:spLocks noChangeArrowheads="1"/>
            </p:cNvSpPr>
            <p:nvPr/>
          </p:nvSpPr>
          <p:spPr bwMode="auto">
            <a:xfrm>
              <a:off x="3698" y="1948"/>
              <a:ext cx="22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800" b="0" i="1">
                  <a:ea typeface="宋体" pitchFamily="2" charset="-122"/>
                </a:rPr>
                <a:t>O</a:t>
              </a:r>
              <a:endParaRPr lang="zh-CN" altLang="zh-CN" sz="1800" b="0" i="1">
                <a:ea typeface="宋体" pitchFamily="2" charset="-122"/>
              </a:endParaRPr>
            </a:p>
          </p:txBody>
        </p:sp>
        <p:sp>
          <p:nvSpPr>
            <p:cNvPr id="16439" name="Oval 83"/>
            <p:cNvSpPr>
              <a:spLocks noChangeArrowheads="1"/>
            </p:cNvSpPr>
            <p:nvPr/>
          </p:nvSpPr>
          <p:spPr bwMode="auto">
            <a:xfrm>
              <a:off x="3879" y="1821"/>
              <a:ext cx="72" cy="43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endParaRPr lang="zh-CN" altLang="zh-CN" sz="1800" b="0">
                <a:ea typeface="宋体" pitchFamily="2" charset="-122"/>
              </a:endParaRPr>
            </a:p>
          </p:txBody>
        </p:sp>
      </p:grpSp>
      <p:grpSp>
        <p:nvGrpSpPr>
          <p:cNvPr id="8" name="Group 84"/>
          <p:cNvGrpSpPr>
            <a:grpSpLocks/>
          </p:cNvGrpSpPr>
          <p:nvPr/>
        </p:nvGrpSpPr>
        <p:grpSpPr bwMode="auto">
          <a:xfrm>
            <a:off x="6308725" y="1849438"/>
            <a:ext cx="1530350" cy="652462"/>
            <a:chOff x="3929" y="1469"/>
            <a:chExt cx="964" cy="549"/>
          </a:xfrm>
        </p:grpSpPr>
        <p:sp>
          <p:nvSpPr>
            <p:cNvPr id="16435" name="Line 85"/>
            <p:cNvSpPr>
              <a:spLocks noChangeShapeType="1"/>
            </p:cNvSpPr>
            <p:nvPr/>
          </p:nvSpPr>
          <p:spPr bwMode="auto">
            <a:xfrm flipV="1">
              <a:off x="3929" y="1536"/>
              <a:ext cx="879" cy="482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6436" name="对象 9"/>
            <p:cNvGraphicFramePr>
              <a:graphicFrameLocks noChangeAspect="1"/>
            </p:cNvGraphicFramePr>
            <p:nvPr/>
          </p:nvGraphicFramePr>
          <p:xfrm>
            <a:off x="4279" y="1797"/>
            <a:ext cx="149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81" name="公式" r:id="rId23" imgW="126780" imgH="164814" progId="Equation.3">
                    <p:embed/>
                  </p:oleObj>
                </mc:Choice>
                <mc:Fallback>
                  <p:oleObj name="公式" r:id="rId23" imgW="126780" imgH="164814" progId="Equation.3">
                    <p:embed/>
                    <p:pic>
                      <p:nvPicPr>
                        <p:cNvPr id="0" name="对象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9" y="1797"/>
                          <a:ext cx="149" cy="1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37" name="Oval 87"/>
            <p:cNvSpPr>
              <a:spLocks noChangeArrowheads="1"/>
            </p:cNvSpPr>
            <p:nvPr/>
          </p:nvSpPr>
          <p:spPr bwMode="auto">
            <a:xfrm>
              <a:off x="4797" y="1469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1800" b="0">
                <a:ea typeface="宋体" pitchFamily="2" charset="-122"/>
              </a:endParaRPr>
            </a:p>
          </p:txBody>
        </p:sp>
      </p:grpSp>
      <p:grpSp>
        <p:nvGrpSpPr>
          <p:cNvPr id="9" name="Group 88"/>
          <p:cNvGrpSpPr>
            <a:grpSpLocks/>
          </p:cNvGrpSpPr>
          <p:nvPr/>
        </p:nvGrpSpPr>
        <p:grpSpPr bwMode="auto">
          <a:xfrm>
            <a:off x="7748588" y="1138238"/>
            <a:ext cx="762000" cy="754062"/>
            <a:chOff x="4836" y="884"/>
            <a:chExt cx="480" cy="633"/>
          </a:xfrm>
        </p:grpSpPr>
        <p:sp>
          <p:nvSpPr>
            <p:cNvPr id="16433" name="Line 89"/>
            <p:cNvSpPr>
              <a:spLocks noChangeShapeType="1"/>
            </p:cNvSpPr>
            <p:nvPr/>
          </p:nvSpPr>
          <p:spPr bwMode="auto">
            <a:xfrm flipV="1">
              <a:off x="4836" y="941"/>
              <a:ext cx="480" cy="576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434" name="对象 13"/>
            <p:cNvGraphicFramePr>
              <a:graphicFrameLocks noChangeAspect="1"/>
            </p:cNvGraphicFramePr>
            <p:nvPr/>
          </p:nvGraphicFramePr>
          <p:xfrm>
            <a:off x="5003" y="884"/>
            <a:ext cx="171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82" name="公式" r:id="rId25" imgW="164957" imgH="203024" progId="Equation.3">
                    <p:embed/>
                  </p:oleObj>
                </mc:Choice>
                <mc:Fallback>
                  <p:oleObj name="公式" r:id="rId25" imgW="164957" imgH="203024" progId="Equation.3">
                    <p:embed/>
                    <p:pic>
                      <p:nvPicPr>
                        <p:cNvPr id="0" name="对象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3" y="884"/>
                          <a:ext cx="171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91"/>
          <p:cNvGrpSpPr>
            <a:grpSpLocks/>
          </p:cNvGrpSpPr>
          <p:nvPr/>
        </p:nvGrpSpPr>
        <p:grpSpPr bwMode="auto">
          <a:xfrm>
            <a:off x="5194300" y="1671638"/>
            <a:ext cx="1204913" cy="1112837"/>
            <a:chOff x="3227" y="1331"/>
            <a:chExt cx="759" cy="934"/>
          </a:xfrm>
        </p:grpSpPr>
        <p:grpSp>
          <p:nvGrpSpPr>
            <p:cNvPr id="16429" name="Group 92"/>
            <p:cNvGrpSpPr>
              <a:grpSpLocks/>
            </p:cNvGrpSpPr>
            <p:nvPr/>
          </p:nvGrpSpPr>
          <p:grpSpPr bwMode="auto">
            <a:xfrm>
              <a:off x="3227" y="1331"/>
              <a:ext cx="641" cy="668"/>
              <a:chOff x="3227" y="1331"/>
              <a:chExt cx="641" cy="668"/>
            </a:xfrm>
          </p:grpSpPr>
          <p:graphicFrame>
            <p:nvGraphicFramePr>
              <p:cNvPr id="16431" name="对象 17"/>
              <p:cNvGraphicFramePr>
                <a:graphicFrameLocks noChangeAspect="1"/>
              </p:cNvGraphicFramePr>
              <p:nvPr/>
            </p:nvGraphicFramePr>
            <p:xfrm>
              <a:off x="3227" y="1331"/>
              <a:ext cx="192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483" name="公式" r:id="rId27" imgW="203024" imgH="203024" progId="Equation.3">
                      <p:embed/>
                    </p:oleObj>
                  </mc:Choice>
                  <mc:Fallback>
                    <p:oleObj name="公式" r:id="rId27" imgW="203024" imgH="203024" progId="Equation.3">
                      <p:embed/>
                      <p:pic>
                        <p:nvPicPr>
                          <p:cNvPr id="0" name="对象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27" y="1331"/>
                            <a:ext cx="192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432" name="Line 94"/>
              <p:cNvSpPr>
                <a:spLocks noChangeShapeType="1"/>
              </p:cNvSpPr>
              <p:nvPr/>
            </p:nvSpPr>
            <p:spPr bwMode="auto">
              <a:xfrm flipH="1" flipV="1">
                <a:off x="3419" y="1366"/>
                <a:ext cx="449" cy="633"/>
              </a:xfrm>
              <a:prstGeom prst="line">
                <a:avLst/>
              </a:prstGeom>
              <a:noFill/>
              <a:ln w="28575">
                <a:solidFill>
                  <a:srgbClr val="FF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6430" name="Freeform 95"/>
            <p:cNvSpPr>
              <a:spLocks/>
            </p:cNvSpPr>
            <p:nvPr/>
          </p:nvSpPr>
          <p:spPr bwMode="auto">
            <a:xfrm>
              <a:off x="3816" y="1877"/>
              <a:ext cx="170" cy="388"/>
            </a:xfrm>
            <a:custGeom>
              <a:avLst/>
              <a:gdLst>
                <a:gd name="T0" fmla="*/ 0 w 142"/>
                <a:gd name="T1" fmla="*/ 26016 h 114"/>
                <a:gd name="T2" fmla="*/ 2147483647 w 142"/>
                <a:gd name="T3" fmla="*/ 0 h 114"/>
                <a:gd name="T4" fmla="*/ 2147483647 w 142"/>
                <a:gd name="T5" fmla="*/ 26016 h 114"/>
                <a:gd name="T6" fmla="*/ 0 60000 65536"/>
                <a:gd name="T7" fmla="*/ 0 60000 65536"/>
                <a:gd name="T8" fmla="*/ 0 60000 65536"/>
                <a:gd name="T9" fmla="*/ 0 w 142"/>
                <a:gd name="T10" fmla="*/ 0 h 114"/>
                <a:gd name="T11" fmla="*/ 142 w 142"/>
                <a:gd name="T12" fmla="*/ 114 h 1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2" h="114">
                  <a:moveTo>
                    <a:pt x="0" y="57"/>
                  </a:moveTo>
                  <a:lnTo>
                    <a:pt x="85" y="0"/>
                  </a:lnTo>
                  <a:lnTo>
                    <a:pt x="142" y="114"/>
                  </a:lnTo>
                </a:path>
              </a:pathLst>
            </a:custGeom>
            <a:noFill/>
            <a:ln w="28575">
              <a:solidFill>
                <a:srgbClr val="00B0F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2" name="Group 96"/>
          <p:cNvGrpSpPr>
            <a:grpSpLocks/>
          </p:cNvGrpSpPr>
          <p:nvPr/>
        </p:nvGrpSpPr>
        <p:grpSpPr bwMode="auto">
          <a:xfrm>
            <a:off x="5994400" y="790575"/>
            <a:ext cx="242888" cy="1924050"/>
            <a:chOff x="3730" y="686"/>
            <a:chExt cx="153" cy="1928"/>
          </a:xfrm>
        </p:grpSpPr>
        <p:sp>
          <p:nvSpPr>
            <p:cNvPr id="16426" name="Line 97"/>
            <p:cNvSpPr>
              <a:spLocks noChangeShapeType="1"/>
            </p:cNvSpPr>
            <p:nvPr/>
          </p:nvSpPr>
          <p:spPr bwMode="auto">
            <a:xfrm flipV="1">
              <a:off x="3882" y="1763"/>
              <a:ext cx="1" cy="851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427" name="Rectangle 98"/>
            <p:cNvSpPr>
              <a:spLocks noChangeArrowheads="1"/>
            </p:cNvSpPr>
            <p:nvPr/>
          </p:nvSpPr>
          <p:spPr bwMode="auto">
            <a:xfrm>
              <a:off x="3730" y="686"/>
              <a:ext cx="147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0" i="1">
                  <a:solidFill>
                    <a:srgbClr val="000000"/>
                  </a:solidFill>
                  <a:ea typeface="宋体" pitchFamily="2" charset="-122"/>
                </a:rPr>
                <a:t>z</a:t>
              </a:r>
              <a:endParaRPr lang="zh-CN" altLang="zh-CN" sz="1800" b="0">
                <a:ea typeface="宋体" pitchFamily="2" charset="-122"/>
              </a:endParaRPr>
            </a:p>
          </p:txBody>
        </p:sp>
        <p:sp>
          <p:nvSpPr>
            <p:cNvPr id="16428" name="Line 99"/>
            <p:cNvSpPr>
              <a:spLocks noChangeShapeType="1"/>
            </p:cNvSpPr>
            <p:nvPr/>
          </p:nvSpPr>
          <p:spPr bwMode="auto">
            <a:xfrm flipV="1">
              <a:off x="3882" y="742"/>
              <a:ext cx="0" cy="709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3" name="Group 100"/>
          <p:cNvGrpSpPr>
            <a:grpSpLocks/>
          </p:cNvGrpSpPr>
          <p:nvPr/>
        </p:nvGrpSpPr>
        <p:grpSpPr bwMode="auto">
          <a:xfrm>
            <a:off x="5857875" y="1300163"/>
            <a:ext cx="360363" cy="1190625"/>
            <a:chOff x="2625" y="1596"/>
            <a:chExt cx="227" cy="999"/>
          </a:xfrm>
        </p:grpSpPr>
        <p:graphicFrame>
          <p:nvGraphicFramePr>
            <p:cNvPr id="16424" name="对象 24"/>
            <p:cNvGraphicFramePr>
              <a:graphicFrameLocks noChangeAspect="1"/>
            </p:cNvGraphicFramePr>
            <p:nvPr/>
          </p:nvGraphicFramePr>
          <p:xfrm>
            <a:off x="2625" y="1596"/>
            <a:ext cx="227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84" name="公式" r:id="rId29" imgW="241195" imgH="253890" progId="Equation.3">
                    <p:embed/>
                  </p:oleObj>
                </mc:Choice>
                <mc:Fallback>
                  <p:oleObj name="公式" r:id="rId29" imgW="241195" imgH="253890" progId="Equation.3">
                    <p:embed/>
                    <p:pic>
                      <p:nvPicPr>
                        <p:cNvPr id="0" name="对象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5" y="1596"/>
                          <a:ext cx="227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25" name="Line 102"/>
            <p:cNvSpPr>
              <a:spLocks noChangeShapeType="1"/>
            </p:cNvSpPr>
            <p:nvPr/>
          </p:nvSpPr>
          <p:spPr bwMode="auto">
            <a:xfrm flipV="1">
              <a:off x="2852" y="1820"/>
              <a:ext cx="0" cy="77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5" name="AutoShape 107"/>
          <p:cNvSpPr>
            <a:spLocks noChangeArrowheads="1"/>
          </p:cNvSpPr>
          <p:nvPr/>
        </p:nvSpPr>
        <p:spPr bwMode="auto">
          <a:xfrm>
            <a:off x="5003800" y="1544638"/>
            <a:ext cx="4167188" cy="574675"/>
          </a:xfrm>
          <a:prstGeom prst="parallelogram">
            <a:avLst>
              <a:gd name="adj" fmla="val 159128"/>
            </a:avLst>
          </a:prstGeom>
          <a:solidFill>
            <a:schemeClr val="bg1">
              <a:alpha val="59999"/>
            </a:schemeClr>
          </a:solidFill>
          <a:ln w="9525">
            <a:solidFill>
              <a:srgbClr val="00206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endParaRPr lang="zh-CN" altLang="zh-CN" sz="1800" b="0">
              <a:ea typeface="宋体" pitchFamily="2" charset="-122"/>
            </a:endParaRPr>
          </a:p>
        </p:txBody>
      </p:sp>
      <p:grpSp>
        <p:nvGrpSpPr>
          <p:cNvPr id="14" name="Group 108"/>
          <p:cNvGrpSpPr>
            <a:grpSpLocks/>
          </p:cNvGrpSpPr>
          <p:nvPr/>
        </p:nvGrpSpPr>
        <p:grpSpPr bwMode="auto">
          <a:xfrm>
            <a:off x="6264275" y="1565275"/>
            <a:ext cx="1944688" cy="388938"/>
            <a:chOff x="3901" y="1242"/>
            <a:chExt cx="1225" cy="327"/>
          </a:xfrm>
        </p:grpSpPr>
        <p:grpSp>
          <p:nvGrpSpPr>
            <p:cNvPr id="16420" name="Group 109"/>
            <p:cNvGrpSpPr>
              <a:grpSpLocks/>
            </p:cNvGrpSpPr>
            <p:nvPr/>
          </p:nvGrpSpPr>
          <p:grpSpPr bwMode="auto">
            <a:xfrm>
              <a:off x="3901" y="1242"/>
              <a:ext cx="907" cy="266"/>
              <a:chOff x="3901" y="1242"/>
              <a:chExt cx="907" cy="266"/>
            </a:xfrm>
          </p:grpSpPr>
          <p:sp>
            <p:nvSpPr>
              <p:cNvPr id="16422" name="Line 110"/>
              <p:cNvSpPr>
                <a:spLocks noChangeShapeType="1"/>
              </p:cNvSpPr>
              <p:nvPr/>
            </p:nvSpPr>
            <p:spPr bwMode="auto">
              <a:xfrm>
                <a:off x="3901" y="1395"/>
                <a:ext cx="907" cy="113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16423" name="对象 33"/>
              <p:cNvGraphicFramePr>
                <a:graphicFrameLocks noChangeAspect="1"/>
              </p:cNvGraphicFramePr>
              <p:nvPr/>
            </p:nvGraphicFramePr>
            <p:xfrm>
              <a:off x="4306" y="1242"/>
              <a:ext cx="187" cy="2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485" name="公式" r:id="rId31" imgW="152268" imgH="215713" progId="Equation.3">
                      <p:embed/>
                    </p:oleObj>
                  </mc:Choice>
                  <mc:Fallback>
                    <p:oleObj name="公式" r:id="rId31" imgW="152268" imgH="215713" progId="Equation.3">
                      <p:embed/>
                      <p:pic>
                        <p:nvPicPr>
                          <p:cNvPr id="0" name="对象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06" y="1242"/>
                            <a:ext cx="187" cy="22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6421" name="Line 112"/>
            <p:cNvSpPr>
              <a:spLocks noChangeShapeType="1"/>
            </p:cNvSpPr>
            <p:nvPr/>
          </p:nvSpPr>
          <p:spPr bwMode="auto">
            <a:xfrm>
              <a:off x="4893" y="1536"/>
              <a:ext cx="233" cy="33"/>
            </a:xfrm>
            <a:prstGeom prst="line">
              <a:avLst/>
            </a:prstGeom>
            <a:noFill/>
            <a:ln w="9525">
              <a:solidFill>
                <a:srgbClr val="00B0F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6" name="Group 113"/>
          <p:cNvGrpSpPr>
            <a:grpSpLocks/>
          </p:cNvGrpSpPr>
          <p:nvPr/>
        </p:nvGrpSpPr>
        <p:grpSpPr bwMode="auto">
          <a:xfrm>
            <a:off x="6245225" y="1735138"/>
            <a:ext cx="295275" cy="720725"/>
            <a:chOff x="3901" y="1395"/>
            <a:chExt cx="186" cy="606"/>
          </a:xfrm>
        </p:grpSpPr>
        <p:sp>
          <p:nvSpPr>
            <p:cNvPr id="16418" name="Line 114"/>
            <p:cNvSpPr>
              <a:spLocks noChangeShapeType="1"/>
            </p:cNvSpPr>
            <p:nvPr/>
          </p:nvSpPr>
          <p:spPr bwMode="auto">
            <a:xfrm flipH="1" flipV="1">
              <a:off x="3901" y="1395"/>
              <a:ext cx="0" cy="606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16419" name="对象 36"/>
            <p:cNvGraphicFramePr>
              <a:graphicFrameLocks noChangeAspect="1"/>
            </p:cNvGraphicFramePr>
            <p:nvPr/>
          </p:nvGraphicFramePr>
          <p:xfrm>
            <a:off x="3933" y="1469"/>
            <a:ext cx="154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86" name="公式" r:id="rId32" imgW="152334" imgH="228501" progId="Equation.3">
                    <p:embed/>
                  </p:oleObj>
                </mc:Choice>
                <mc:Fallback>
                  <p:oleObj name="公式" r:id="rId32" imgW="152334" imgH="228501" progId="Equation.3">
                    <p:embed/>
                    <p:pic>
                      <p:nvPicPr>
                        <p:cNvPr id="0" name="对象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3" y="1469"/>
                          <a:ext cx="154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Group 116"/>
          <p:cNvGrpSpPr>
            <a:grpSpLocks/>
          </p:cNvGrpSpPr>
          <p:nvPr/>
        </p:nvGrpSpPr>
        <p:grpSpPr bwMode="auto">
          <a:xfrm>
            <a:off x="7839075" y="1208088"/>
            <a:ext cx="982663" cy="703262"/>
            <a:chOff x="4893" y="941"/>
            <a:chExt cx="619" cy="590"/>
          </a:xfrm>
        </p:grpSpPr>
        <p:sp>
          <p:nvSpPr>
            <p:cNvPr id="16414" name="Line 117"/>
            <p:cNvSpPr>
              <a:spLocks noChangeShapeType="1"/>
            </p:cNvSpPr>
            <p:nvPr/>
          </p:nvSpPr>
          <p:spPr bwMode="auto">
            <a:xfrm flipV="1">
              <a:off x="4893" y="1366"/>
              <a:ext cx="453" cy="136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5" name="Line 118"/>
            <p:cNvSpPr>
              <a:spLocks noChangeShapeType="1"/>
            </p:cNvSpPr>
            <p:nvPr/>
          </p:nvSpPr>
          <p:spPr bwMode="auto">
            <a:xfrm flipV="1">
              <a:off x="5318" y="941"/>
              <a:ext cx="0" cy="426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6416" name="对象 40"/>
            <p:cNvGraphicFramePr>
              <a:graphicFrameLocks noChangeAspect="1"/>
            </p:cNvGraphicFramePr>
            <p:nvPr/>
          </p:nvGraphicFramePr>
          <p:xfrm>
            <a:off x="5308" y="1020"/>
            <a:ext cx="202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87" name="公式" r:id="rId33" imgW="190417" imgH="253890" progId="Equation.3">
                    <p:embed/>
                  </p:oleObj>
                </mc:Choice>
                <mc:Fallback>
                  <p:oleObj name="公式" r:id="rId33" imgW="190417" imgH="253890" progId="Equation.3">
                    <p:embed/>
                    <p:pic>
                      <p:nvPicPr>
                        <p:cNvPr id="0" name="对象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8" y="1020"/>
                          <a:ext cx="202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7" name="对象 41"/>
            <p:cNvGraphicFramePr>
              <a:graphicFrameLocks noChangeAspect="1"/>
            </p:cNvGraphicFramePr>
            <p:nvPr/>
          </p:nvGraphicFramePr>
          <p:xfrm>
            <a:off x="5308" y="1289"/>
            <a:ext cx="204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88" name="公式" r:id="rId34" imgW="203112" imgH="241195" progId="Equation.3">
                    <p:embed/>
                  </p:oleObj>
                </mc:Choice>
                <mc:Fallback>
                  <p:oleObj name="公式" r:id="rId34" imgW="203112" imgH="241195" progId="Equation.3">
                    <p:embed/>
                    <p:pic>
                      <p:nvPicPr>
                        <p:cNvPr id="0" name="对象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8" y="1289"/>
                          <a:ext cx="204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Group 121"/>
          <p:cNvGrpSpPr>
            <a:grpSpLocks/>
          </p:cNvGrpSpPr>
          <p:nvPr/>
        </p:nvGrpSpPr>
        <p:grpSpPr bwMode="auto">
          <a:xfrm>
            <a:off x="8051800" y="1704975"/>
            <a:ext cx="382588" cy="577850"/>
            <a:chOff x="4970" y="2147"/>
            <a:chExt cx="241" cy="486"/>
          </a:xfrm>
        </p:grpSpPr>
        <p:sp>
          <p:nvSpPr>
            <p:cNvPr id="16412" name="Freeform 122"/>
            <p:cNvSpPr>
              <a:spLocks/>
            </p:cNvSpPr>
            <p:nvPr/>
          </p:nvSpPr>
          <p:spPr bwMode="auto">
            <a:xfrm>
              <a:off x="4999" y="2245"/>
              <a:ext cx="46" cy="388"/>
            </a:xfrm>
            <a:custGeom>
              <a:avLst/>
              <a:gdLst>
                <a:gd name="T0" fmla="*/ 0 w 57"/>
                <a:gd name="T1" fmla="*/ 0 h 114"/>
                <a:gd name="T2" fmla="*/ 2 w 57"/>
                <a:gd name="T3" fmla="*/ 1889 h 114"/>
                <a:gd name="T4" fmla="*/ 0 w 57"/>
                <a:gd name="T5" fmla="*/ 2675 h 114"/>
                <a:gd name="T6" fmla="*/ 0 60000 65536"/>
                <a:gd name="T7" fmla="*/ 0 60000 65536"/>
                <a:gd name="T8" fmla="*/ 0 60000 65536"/>
                <a:gd name="T9" fmla="*/ 0 w 57"/>
                <a:gd name="T10" fmla="*/ 0 h 114"/>
                <a:gd name="T11" fmla="*/ 57 w 57"/>
                <a:gd name="T12" fmla="*/ 114 h 1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" h="114">
                  <a:moveTo>
                    <a:pt x="0" y="0"/>
                  </a:moveTo>
                  <a:cubicBezTo>
                    <a:pt x="28" y="19"/>
                    <a:pt x="57" y="38"/>
                    <a:pt x="57" y="57"/>
                  </a:cubicBezTo>
                  <a:cubicBezTo>
                    <a:pt x="57" y="76"/>
                    <a:pt x="28" y="95"/>
                    <a:pt x="0" y="114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413" name="Text Box 123"/>
            <p:cNvSpPr txBox="1">
              <a:spLocks noChangeArrowheads="1"/>
            </p:cNvSpPr>
            <p:nvPr/>
          </p:nvSpPr>
          <p:spPr bwMode="auto">
            <a:xfrm>
              <a:off x="4970" y="2147"/>
              <a:ext cx="24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800" b="0" i="1">
                  <a:solidFill>
                    <a:srgbClr val="00FF00"/>
                  </a:solidFill>
                  <a:ea typeface="宋体" pitchFamily="2" charset="-122"/>
                </a:rPr>
                <a:t> </a:t>
              </a:r>
              <a:r>
                <a:rPr lang="el-GR" altLang="zh-CN" sz="1800" i="1">
                  <a:ea typeface="宋体" pitchFamily="2" charset="-122"/>
                  <a:sym typeface="Symbol" pitchFamily="18" charset="2"/>
                </a:rPr>
                <a:t></a:t>
              </a:r>
              <a:endParaRPr lang="zh-CN" altLang="zh-CN" sz="1800" b="0" i="1"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8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8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8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86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86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86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86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86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86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 autoUpdateAnimBg="0"/>
      <p:bldP spid="86154" grpId="0" animBg="1"/>
      <p:bldP spid="86155" grpId="0" animBg="1"/>
      <p:bldP spid="86156" grpId="0" animBg="1"/>
      <p:bldP spid="86158" grpId="0" autoUpdateAnimBg="0"/>
      <p:bldP spid="86159" grpId="0" autoUpdateAnimBg="0"/>
      <p:bldP spid="55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9" name="Text Box 21"/>
          <p:cNvSpPr txBox="1">
            <a:spLocks noChangeArrowheads="1"/>
          </p:cNvSpPr>
          <p:nvPr/>
        </p:nvSpPr>
        <p:spPr bwMode="auto">
          <a:xfrm>
            <a:off x="755650" y="1276350"/>
            <a:ext cx="4343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</a:rPr>
              <a:t>把刚体看作一个质点系</a:t>
            </a:r>
          </a:p>
        </p:txBody>
      </p:sp>
      <p:graphicFrame>
        <p:nvGraphicFramePr>
          <p:cNvPr id="7195" name="Object 27"/>
          <p:cNvGraphicFramePr>
            <a:graphicFrameLocks noChangeAspect="1"/>
          </p:cNvGraphicFramePr>
          <p:nvPr/>
        </p:nvGraphicFramePr>
        <p:xfrm>
          <a:off x="1649413" y="1779588"/>
          <a:ext cx="2130425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8" name="公式" r:id="rId3" imgW="960333" imgH="198104" progId="Equation.3">
                  <p:embed/>
                </p:oleObj>
              </mc:Choice>
              <mc:Fallback>
                <p:oleObj name="公式" r:id="rId3" imgW="960333" imgH="198104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413" y="1779588"/>
                        <a:ext cx="2130425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54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6" name="Object 28"/>
          <p:cNvGraphicFramePr>
            <a:graphicFrameLocks noChangeAspect="1"/>
          </p:cNvGraphicFramePr>
          <p:nvPr/>
        </p:nvGraphicFramePr>
        <p:xfrm>
          <a:off x="827088" y="2163763"/>
          <a:ext cx="3770312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9" name="公式" r:id="rId5" imgW="1615298" imgH="198104" progId="Equation.3">
                  <p:embed/>
                </p:oleObj>
              </mc:Choice>
              <mc:Fallback>
                <p:oleObj name="公式" r:id="rId5" imgW="1615298" imgH="198104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163763"/>
                        <a:ext cx="3770312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54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7" name="Object 29"/>
          <p:cNvGraphicFramePr>
            <a:graphicFrameLocks noChangeAspect="1"/>
          </p:cNvGraphicFramePr>
          <p:nvPr/>
        </p:nvGraphicFramePr>
        <p:xfrm>
          <a:off x="285750" y="3043238"/>
          <a:ext cx="85344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0" name="Equation" r:id="rId7" imgW="4130111" imgH="319851" progId="Equation.DSMT4">
                  <p:embed/>
                </p:oleObj>
              </mc:Choice>
              <mc:Fallback>
                <p:oleObj name="Equation" r:id="rId7" imgW="4130111" imgH="319851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3043238"/>
                        <a:ext cx="85344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54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1" name="Text Box 33"/>
          <p:cNvSpPr txBox="1">
            <a:spLocks noChangeArrowheads="1"/>
          </p:cNvSpPr>
          <p:nvPr/>
        </p:nvSpPr>
        <p:spPr bwMode="auto">
          <a:xfrm>
            <a:off x="179388" y="3643313"/>
            <a:ext cx="45354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800">
                <a:latin typeface="华文中宋" pitchFamily="2" charset="-122"/>
                <a:ea typeface="华文中宋" pitchFamily="2" charset="-122"/>
              </a:rPr>
              <a:t>1</a:t>
            </a:r>
            <a:r>
              <a:rPr kumimoji="1" lang="zh-CN" altLang="en-US" sz="1800">
                <a:latin typeface="华文中宋" pitchFamily="2" charset="-122"/>
                <a:ea typeface="华文中宋" pitchFamily="2" charset="-122"/>
              </a:rPr>
              <a:t>）内力成对出现，合内力矩：</a:t>
            </a:r>
          </a:p>
        </p:txBody>
      </p:sp>
      <p:sp>
        <p:nvSpPr>
          <p:cNvPr id="7203" name="Text Box 35"/>
          <p:cNvSpPr txBox="1">
            <a:spLocks noChangeArrowheads="1"/>
          </p:cNvSpPr>
          <p:nvPr/>
        </p:nvSpPr>
        <p:spPr bwMode="auto">
          <a:xfrm>
            <a:off x="1371600" y="2600325"/>
            <a:ext cx="11128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华文中宋" pitchFamily="2" charset="-122"/>
                <a:ea typeface="华文中宋" pitchFamily="2" charset="-122"/>
              </a:rPr>
              <a:t>加速度：</a:t>
            </a:r>
          </a:p>
        </p:txBody>
      </p:sp>
      <p:graphicFrame>
        <p:nvGraphicFramePr>
          <p:cNvPr id="193569" name="Object 36"/>
          <p:cNvGraphicFramePr>
            <a:graphicFrameLocks noChangeAspect="1"/>
          </p:cNvGraphicFramePr>
          <p:nvPr/>
        </p:nvGraphicFramePr>
        <p:xfrm>
          <a:off x="2411413" y="2571750"/>
          <a:ext cx="18891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1" name="公式" r:id="rId9" imgW="754486" imgH="182833" progId="Equation.3">
                  <p:embed/>
                </p:oleObj>
              </mc:Choice>
              <mc:Fallback>
                <p:oleObj name="公式" r:id="rId9" imgW="754486" imgH="182833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2571750"/>
                        <a:ext cx="18891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54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Object 7"/>
          <p:cNvGraphicFramePr>
            <a:graphicFrameLocks noChangeAspect="1"/>
          </p:cNvGraphicFramePr>
          <p:nvPr/>
        </p:nvGraphicFramePr>
        <p:xfrm>
          <a:off x="3987800" y="3963988"/>
          <a:ext cx="1447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2" name="公式" r:id="rId11" imgW="624769" imgH="182833" progId="Equation.3">
                  <p:embed/>
                </p:oleObj>
              </mc:Choice>
              <mc:Fallback>
                <p:oleObj name="公式" r:id="rId11" imgW="624769" imgH="18283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7800" y="3963988"/>
                        <a:ext cx="1447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54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33"/>
          <p:cNvSpPr txBox="1">
            <a:spLocks noChangeArrowheads="1"/>
          </p:cNvSpPr>
          <p:nvPr/>
        </p:nvSpPr>
        <p:spPr bwMode="auto">
          <a:xfrm>
            <a:off x="179388" y="3975100"/>
            <a:ext cx="48244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800">
                <a:latin typeface="华文中宋" pitchFamily="2" charset="-122"/>
                <a:ea typeface="华文中宋" pitchFamily="2" charset="-122"/>
              </a:rPr>
              <a:t>2</a:t>
            </a:r>
            <a:r>
              <a:rPr kumimoji="1" lang="zh-CN" altLang="en-US" sz="1800">
                <a:latin typeface="华文中宋" pitchFamily="2" charset="-122"/>
                <a:ea typeface="华文中宋" pitchFamily="2" charset="-122"/>
              </a:rPr>
              <a:t>）位矢与径向加速度方向反向：</a:t>
            </a:r>
          </a:p>
        </p:txBody>
      </p:sp>
      <p:grpSp>
        <p:nvGrpSpPr>
          <p:cNvPr id="4" name="Group 79"/>
          <p:cNvGrpSpPr>
            <a:grpSpLocks/>
          </p:cNvGrpSpPr>
          <p:nvPr/>
        </p:nvGrpSpPr>
        <p:grpSpPr bwMode="auto">
          <a:xfrm>
            <a:off x="7140575" y="3651250"/>
            <a:ext cx="1535113" cy="811213"/>
            <a:chOff x="4422" y="3158"/>
            <a:chExt cx="967" cy="681"/>
          </a:xfrm>
        </p:grpSpPr>
        <p:sp>
          <p:nvSpPr>
            <p:cNvPr id="17454" name="Line 73"/>
            <p:cNvSpPr>
              <a:spLocks noChangeShapeType="1"/>
            </p:cNvSpPr>
            <p:nvPr/>
          </p:nvSpPr>
          <p:spPr bwMode="auto">
            <a:xfrm>
              <a:off x="4422" y="3294"/>
              <a:ext cx="498" cy="27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7455" name="Group 74"/>
            <p:cNvGrpSpPr>
              <a:grpSpLocks/>
            </p:cNvGrpSpPr>
            <p:nvPr/>
          </p:nvGrpSpPr>
          <p:grpSpPr bwMode="auto">
            <a:xfrm>
              <a:off x="4558" y="3158"/>
              <a:ext cx="681" cy="681"/>
              <a:chOff x="4558" y="3158"/>
              <a:chExt cx="681" cy="681"/>
            </a:xfrm>
          </p:grpSpPr>
          <p:sp>
            <p:nvSpPr>
              <p:cNvPr id="17459" name="Line 71"/>
              <p:cNvSpPr>
                <a:spLocks noChangeShapeType="1"/>
              </p:cNvSpPr>
              <p:nvPr/>
            </p:nvSpPr>
            <p:spPr bwMode="auto">
              <a:xfrm flipV="1">
                <a:off x="4967" y="3158"/>
                <a:ext cx="272" cy="4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460" name="Line 72"/>
              <p:cNvSpPr>
                <a:spLocks noChangeShapeType="1"/>
              </p:cNvSpPr>
              <p:nvPr/>
            </p:nvSpPr>
            <p:spPr bwMode="auto">
              <a:xfrm flipH="1" flipV="1">
                <a:off x="4558" y="3339"/>
                <a:ext cx="409" cy="22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461" name="Oval 70"/>
              <p:cNvSpPr>
                <a:spLocks noChangeArrowheads="1"/>
              </p:cNvSpPr>
              <p:nvPr/>
            </p:nvSpPr>
            <p:spPr bwMode="auto">
              <a:xfrm>
                <a:off x="4921" y="3294"/>
                <a:ext cx="90" cy="545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aphicFrame>
          <p:nvGraphicFramePr>
            <p:cNvPr id="17456" name="Object 32"/>
            <p:cNvGraphicFramePr>
              <a:graphicFrameLocks noChangeAspect="1"/>
            </p:cNvGraphicFramePr>
            <p:nvPr/>
          </p:nvGraphicFramePr>
          <p:xfrm>
            <a:off x="4513" y="3385"/>
            <a:ext cx="162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83" name="公式" r:id="rId13" imgW="83785" imgH="182833" progId="Equation.3">
                    <p:embed/>
                  </p:oleObj>
                </mc:Choice>
                <mc:Fallback>
                  <p:oleObj name="公式" r:id="rId13" imgW="83785" imgH="182833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3385"/>
                          <a:ext cx="162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>
                          <a:outerShdw dist="25400" algn="ctr" rotWithShape="0">
                            <a:srgbClr val="808080"/>
                          </a:outerShdw>
                        </a:effectLst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57" name="Object 36"/>
            <p:cNvGraphicFramePr>
              <a:graphicFrameLocks noChangeAspect="1"/>
            </p:cNvGraphicFramePr>
            <p:nvPr/>
          </p:nvGraphicFramePr>
          <p:xfrm>
            <a:off x="5148" y="3203"/>
            <a:ext cx="24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84" name="公式" r:id="rId15" imgW="159914" imgH="182833" progId="Equation.3">
                    <p:embed/>
                  </p:oleObj>
                </mc:Choice>
                <mc:Fallback>
                  <p:oleObj name="公式" r:id="rId15" imgW="159914" imgH="182833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8" y="3203"/>
                          <a:ext cx="241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54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58" name="Object 36"/>
            <p:cNvGraphicFramePr>
              <a:graphicFrameLocks noChangeAspect="1"/>
            </p:cNvGraphicFramePr>
            <p:nvPr/>
          </p:nvGraphicFramePr>
          <p:xfrm>
            <a:off x="4604" y="3158"/>
            <a:ext cx="24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85" name="公式" r:id="rId17" imgW="159914" imgH="182833" progId="Equation.3">
                    <p:embed/>
                  </p:oleObj>
                </mc:Choice>
                <mc:Fallback>
                  <p:oleObj name="公式" r:id="rId17" imgW="159914" imgH="182833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4" y="3158"/>
                          <a:ext cx="241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54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Text Box 33"/>
          <p:cNvSpPr txBox="1">
            <a:spLocks noChangeArrowheads="1"/>
          </p:cNvSpPr>
          <p:nvPr/>
        </p:nvSpPr>
        <p:spPr bwMode="auto">
          <a:xfrm>
            <a:off x="179388" y="4300538"/>
            <a:ext cx="4608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800">
                <a:latin typeface="华文中宋" pitchFamily="2" charset="-122"/>
                <a:ea typeface="华文中宋" pitchFamily="2" charset="-122"/>
              </a:rPr>
              <a:t>3</a:t>
            </a:r>
            <a:r>
              <a:rPr kumimoji="1" lang="zh-CN" altLang="en-US" sz="1800">
                <a:latin typeface="华文中宋" pitchFamily="2" charset="-122"/>
                <a:ea typeface="华文中宋" pitchFamily="2" charset="-122"/>
              </a:rPr>
              <a:t>）位矢与切向的矢积方向总是指向</a:t>
            </a:r>
            <a:r>
              <a:rPr kumimoji="1" lang="en-US" altLang="zh-CN" sz="1800" i="1">
                <a:ea typeface="华文中宋" pitchFamily="2" charset="-122"/>
                <a:cs typeface="Times New Roman" pitchFamily="18" charset="0"/>
              </a:rPr>
              <a:t>z</a:t>
            </a:r>
            <a:r>
              <a:rPr kumimoji="1" lang="zh-CN" altLang="en-US" sz="1800">
                <a:latin typeface="华文中宋" pitchFamily="2" charset="-122"/>
                <a:ea typeface="华文中宋" pitchFamily="2" charset="-122"/>
              </a:rPr>
              <a:t>轴方向：</a:t>
            </a:r>
          </a:p>
        </p:txBody>
      </p:sp>
      <p:grpSp>
        <p:nvGrpSpPr>
          <p:cNvPr id="6" name="组合 143"/>
          <p:cNvGrpSpPr>
            <a:grpSpLocks/>
          </p:cNvGrpSpPr>
          <p:nvPr/>
        </p:nvGrpSpPr>
        <p:grpSpPr bwMode="auto">
          <a:xfrm>
            <a:off x="5478463" y="601663"/>
            <a:ext cx="2959100" cy="1966912"/>
            <a:chOff x="1048441" y="1807608"/>
            <a:chExt cx="2957952" cy="2622990"/>
          </a:xfrm>
        </p:grpSpPr>
        <p:sp>
          <p:nvSpPr>
            <p:cNvPr id="17437" name="Freeform 9"/>
            <p:cNvSpPr>
              <a:spLocks/>
            </p:cNvSpPr>
            <p:nvPr/>
          </p:nvSpPr>
          <p:spPr bwMode="auto">
            <a:xfrm>
              <a:off x="1168925" y="2347273"/>
              <a:ext cx="2837468" cy="1998482"/>
            </a:xfrm>
            <a:custGeom>
              <a:avLst/>
              <a:gdLst>
                <a:gd name="T0" fmla="*/ 2147483647 w 1927"/>
                <a:gd name="T1" fmla="*/ 2147483647 h 1365"/>
                <a:gd name="T2" fmla="*/ 2147483647 w 1927"/>
                <a:gd name="T3" fmla="*/ 2147483647 h 1365"/>
                <a:gd name="T4" fmla="*/ 2147483647 w 1927"/>
                <a:gd name="T5" fmla="*/ 2147483647 h 1365"/>
                <a:gd name="T6" fmla="*/ 2147483647 w 1927"/>
                <a:gd name="T7" fmla="*/ 2147483647 h 1365"/>
                <a:gd name="T8" fmla="*/ 2147483647 w 1927"/>
                <a:gd name="T9" fmla="*/ 2147483647 h 1365"/>
                <a:gd name="T10" fmla="*/ 2147483647 w 1927"/>
                <a:gd name="T11" fmla="*/ 2147483647 h 1365"/>
                <a:gd name="T12" fmla="*/ 2147483647 w 1927"/>
                <a:gd name="T13" fmla="*/ 2147483647 h 13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27"/>
                <a:gd name="T22" fmla="*/ 0 h 1365"/>
                <a:gd name="T23" fmla="*/ 1927 w 1927"/>
                <a:gd name="T24" fmla="*/ 1365 h 136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27" h="1365">
                  <a:moveTo>
                    <a:pt x="28" y="652"/>
                  </a:moveTo>
                  <a:cubicBezTo>
                    <a:pt x="0" y="798"/>
                    <a:pt x="71" y="968"/>
                    <a:pt x="283" y="1077"/>
                  </a:cubicBezTo>
                  <a:cubicBezTo>
                    <a:pt x="495" y="1186"/>
                    <a:pt x="1034" y="1365"/>
                    <a:pt x="1303" y="1304"/>
                  </a:cubicBezTo>
                  <a:cubicBezTo>
                    <a:pt x="1572" y="1243"/>
                    <a:pt x="1871" y="911"/>
                    <a:pt x="1899" y="708"/>
                  </a:cubicBezTo>
                  <a:cubicBezTo>
                    <a:pt x="1927" y="505"/>
                    <a:pt x="1714" y="170"/>
                    <a:pt x="1473" y="85"/>
                  </a:cubicBezTo>
                  <a:cubicBezTo>
                    <a:pt x="1232" y="0"/>
                    <a:pt x="694" y="104"/>
                    <a:pt x="453" y="198"/>
                  </a:cubicBezTo>
                  <a:cubicBezTo>
                    <a:pt x="212" y="292"/>
                    <a:pt x="56" y="506"/>
                    <a:pt x="28" y="652"/>
                  </a:cubicBezTo>
                  <a:close/>
                </a:path>
              </a:pathLst>
            </a:custGeom>
            <a:blipFill dpi="0" rotWithShape="1">
              <a:blip r:embed="rId19"/>
              <a:srcRect/>
              <a:tile tx="0" ty="0" sx="100000" sy="100000" flip="none" algn="tl"/>
            </a:blipFill>
            <a:ln w="9525">
              <a:solidFill>
                <a:srgbClr val="0070C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Freeform 10"/>
            <p:cNvSpPr>
              <a:spLocks/>
            </p:cNvSpPr>
            <p:nvPr/>
          </p:nvSpPr>
          <p:spPr bwMode="auto">
            <a:xfrm>
              <a:off x="1169044" y="2309342"/>
              <a:ext cx="2827828" cy="1954012"/>
            </a:xfrm>
            <a:custGeom>
              <a:avLst/>
              <a:gdLst>
                <a:gd name="T0" fmla="*/ 28 w 1927"/>
                <a:gd name="T1" fmla="*/ 652 h 1365"/>
                <a:gd name="T2" fmla="*/ 283 w 1927"/>
                <a:gd name="T3" fmla="*/ 1077 h 1365"/>
                <a:gd name="T4" fmla="*/ 1303 w 1927"/>
                <a:gd name="T5" fmla="*/ 1304 h 1365"/>
                <a:gd name="T6" fmla="*/ 1899 w 1927"/>
                <a:gd name="T7" fmla="*/ 708 h 1365"/>
                <a:gd name="T8" fmla="*/ 1473 w 1927"/>
                <a:gd name="T9" fmla="*/ 85 h 1365"/>
                <a:gd name="T10" fmla="*/ 453 w 1927"/>
                <a:gd name="T11" fmla="*/ 198 h 1365"/>
                <a:gd name="T12" fmla="*/ 28 w 1927"/>
                <a:gd name="T13" fmla="*/ 652 h 13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27"/>
                <a:gd name="T22" fmla="*/ 0 h 1365"/>
                <a:gd name="T23" fmla="*/ 1927 w 1927"/>
                <a:gd name="T24" fmla="*/ 1365 h 136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27" h="1365">
                  <a:moveTo>
                    <a:pt x="28" y="652"/>
                  </a:moveTo>
                  <a:cubicBezTo>
                    <a:pt x="0" y="798"/>
                    <a:pt x="71" y="968"/>
                    <a:pt x="283" y="1077"/>
                  </a:cubicBezTo>
                  <a:cubicBezTo>
                    <a:pt x="495" y="1186"/>
                    <a:pt x="1034" y="1365"/>
                    <a:pt x="1303" y="1304"/>
                  </a:cubicBezTo>
                  <a:cubicBezTo>
                    <a:pt x="1572" y="1243"/>
                    <a:pt x="1871" y="911"/>
                    <a:pt x="1899" y="708"/>
                  </a:cubicBezTo>
                  <a:cubicBezTo>
                    <a:pt x="1927" y="505"/>
                    <a:pt x="1714" y="170"/>
                    <a:pt x="1473" y="85"/>
                  </a:cubicBezTo>
                  <a:cubicBezTo>
                    <a:pt x="1232" y="0"/>
                    <a:pt x="694" y="104"/>
                    <a:pt x="453" y="198"/>
                  </a:cubicBezTo>
                  <a:cubicBezTo>
                    <a:pt x="212" y="292"/>
                    <a:pt x="56" y="506"/>
                    <a:pt x="28" y="65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>
              <a:solidFill>
                <a:srgbClr val="00B0F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800">
                <a:ea typeface="宋体" pitchFamily="2" charset="-122"/>
              </a:endParaRPr>
            </a:p>
          </p:txBody>
        </p:sp>
        <p:sp>
          <p:nvSpPr>
            <p:cNvPr id="17439" name="Line 13"/>
            <p:cNvSpPr>
              <a:spLocks noChangeShapeType="1"/>
            </p:cNvSpPr>
            <p:nvPr/>
          </p:nvSpPr>
          <p:spPr bwMode="auto">
            <a:xfrm flipV="1">
              <a:off x="1929534" y="1847653"/>
              <a:ext cx="0" cy="1184981"/>
            </a:xfrm>
            <a:prstGeom prst="line">
              <a:avLst/>
            </a:prstGeom>
            <a:noFill/>
            <a:ln w="9525">
              <a:solidFill>
                <a:srgbClr val="00B0F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0" name="Line 14"/>
            <p:cNvSpPr>
              <a:spLocks noChangeShapeType="1"/>
            </p:cNvSpPr>
            <p:nvPr/>
          </p:nvSpPr>
          <p:spPr bwMode="auto">
            <a:xfrm>
              <a:off x="1929534" y="4112134"/>
              <a:ext cx="0" cy="318464"/>
            </a:xfrm>
            <a:prstGeom prst="line">
              <a:avLst/>
            </a:prstGeom>
            <a:noFill/>
            <a:ln w="9525">
              <a:solidFill>
                <a:srgbClr val="00B0F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1" name="Line 15"/>
            <p:cNvSpPr>
              <a:spLocks noChangeShapeType="1"/>
            </p:cNvSpPr>
            <p:nvPr/>
          </p:nvSpPr>
          <p:spPr bwMode="auto">
            <a:xfrm>
              <a:off x="1929534" y="3032634"/>
              <a:ext cx="946150" cy="36036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2" name="Line 16"/>
            <p:cNvSpPr>
              <a:spLocks noChangeShapeType="1"/>
            </p:cNvSpPr>
            <p:nvPr/>
          </p:nvSpPr>
          <p:spPr bwMode="auto">
            <a:xfrm>
              <a:off x="2891576" y="3412946"/>
              <a:ext cx="642348" cy="244653"/>
            </a:xfrm>
            <a:prstGeom prst="line">
              <a:avLst/>
            </a:prstGeom>
            <a:noFill/>
            <a:ln w="9525">
              <a:solidFill>
                <a:srgbClr val="00B0F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3" name="Oval 17"/>
            <p:cNvSpPr>
              <a:spLocks noChangeArrowheads="1"/>
            </p:cNvSpPr>
            <p:nvPr/>
          </p:nvSpPr>
          <p:spPr bwMode="auto">
            <a:xfrm>
              <a:off x="2857928" y="3337532"/>
              <a:ext cx="141288" cy="141288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1800" b="0">
                <a:ea typeface="宋体" pitchFamily="2" charset="-122"/>
              </a:endParaRPr>
            </a:p>
          </p:txBody>
        </p:sp>
        <p:sp>
          <p:nvSpPr>
            <p:cNvPr id="17444" name="Text Box 22"/>
            <p:cNvSpPr txBox="1">
              <a:spLocks noChangeArrowheads="1"/>
            </p:cNvSpPr>
            <p:nvPr/>
          </p:nvSpPr>
          <p:spPr bwMode="auto">
            <a:xfrm>
              <a:off x="1625029" y="1807608"/>
              <a:ext cx="304774" cy="6156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i="1">
                  <a:ea typeface="宋体" pitchFamily="2" charset="-122"/>
                </a:rPr>
                <a:t>z</a:t>
              </a:r>
              <a:endParaRPr lang="zh-CN" altLang="zh-CN" sz="1800" b="0">
                <a:ea typeface="宋体" pitchFamily="2" charset="-122"/>
              </a:endParaRPr>
            </a:p>
          </p:txBody>
        </p:sp>
        <p:graphicFrame>
          <p:nvGraphicFramePr>
            <p:cNvPr id="17445" name="对象 152"/>
            <p:cNvGraphicFramePr>
              <a:graphicFrameLocks noChangeAspect="1"/>
            </p:cNvGraphicFramePr>
            <p:nvPr/>
          </p:nvGraphicFramePr>
          <p:xfrm>
            <a:off x="2026372" y="3107149"/>
            <a:ext cx="330328" cy="442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86" name="公式" r:id="rId20" imgW="126890" imgH="228402" progId="Equation.3">
                    <p:embed/>
                  </p:oleObj>
                </mc:Choice>
                <mc:Fallback>
                  <p:oleObj name="公式" r:id="rId20" imgW="126890" imgH="228402" progId="Equation.3">
                    <p:embed/>
                    <p:pic>
                      <p:nvPicPr>
                        <p:cNvPr id="0" name="对象 1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6372" y="3107149"/>
                          <a:ext cx="330328" cy="4421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6" name="Text Box 24"/>
            <p:cNvSpPr txBox="1">
              <a:spLocks noChangeArrowheads="1"/>
            </p:cNvSpPr>
            <p:nvPr/>
          </p:nvSpPr>
          <p:spPr bwMode="auto">
            <a:xfrm>
              <a:off x="2568363" y="3371559"/>
              <a:ext cx="548335" cy="492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800" i="1">
                  <a:latin typeface="Symbol" pitchFamily="18" charset="2"/>
                  <a:ea typeface="宋体" pitchFamily="2" charset="-122"/>
                  <a:sym typeface="Symbol" pitchFamily="18" charset="2"/>
                </a:rPr>
                <a:t></a:t>
              </a:r>
              <a:r>
                <a:rPr lang="en-US" altLang="zh-CN" sz="1800" i="1">
                  <a:ea typeface="宋体" pitchFamily="2" charset="-122"/>
                </a:rPr>
                <a:t>m</a:t>
              </a:r>
              <a:r>
                <a:rPr lang="en-US" altLang="zh-CN" sz="1800" i="1" baseline="-25000">
                  <a:ea typeface="宋体" pitchFamily="2" charset="-122"/>
                </a:rPr>
                <a:t>i</a:t>
              </a:r>
              <a:endParaRPr lang="zh-CN" altLang="zh-CN" sz="1800" b="0">
                <a:ea typeface="宋体" pitchFamily="2" charset="-122"/>
              </a:endParaRPr>
            </a:p>
          </p:txBody>
        </p:sp>
        <p:sp>
          <p:nvSpPr>
            <p:cNvPr id="17447" name="Oval 27"/>
            <p:cNvSpPr>
              <a:spLocks noChangeArrowheads="1"/>
            </p:cNvSpPr>
            <p:nvPr/>
          </p:nvSpPr>
          <p:spPr bwMode="auto">
            <a:xfrm>
              <a:off x="1885084" y="2988184"/>
              <a:ext cx="90488" cy="904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1800" b="0">
                <a:ea typeface="宋体" pitchFamily="2" charset="-122"/>
              </a:endParaRPr>
            </a:p>
          </p:txBody>
        </p:sp>
        <p:grpSp>
          <p:nvGrpSpPr>
            <p:cNvPr id="17448" name="Group 88"/>
            <p:cNvGrpSpPr>
              <a:grpSpLocks/>
            </p:cNvGrpSpPr>
            <p:nvPr/>
          </p:nvGrpSpPr>
          <p:grpSpPr bwMode="auto">
            <a:xfrm>
              <a:off x="2980291" y="2662682"/>
              <a:ext cx="649289" cy="723901"/>
              <a:chOff x="4836" y="1061"/>
              <a:chExt cx="409" cy="456"/>
            </a:xfrm>
          </p:grpSpPr>
          <p:sp>
            <p:nvSpPr>
              <p:cNvPr id="17452" name="Line 89"/>
              <p:cNvSpPr>
                <a:spLocks noChangeShapeType="1"/>
              </p:cNvSpPr>
              <p:nvPr/>
            </p:nvSpPr>
            <p:spPr bwMode="auto">
              <a:xfrm flipV="1">
                <a:off x="4836" y="1124"/>
                <a:ext cx="409" cy="393"/>
              </a:xfrm>
              <a:prstGeom prst="line">
                <a:avLst/>
              </a:prstGeom>
              <a:noFill/>
              <a:ln w="28575">
                <a:solidFill>
                  <a:srgbClr val="CC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7453" name="对象 13"/>
              <p:cNvGraphicFramePr>
                <a:graphicFrameLocks noChangeAspect="1"/>
              </p:cNvGraphicFramePr>
              <p:nvPr/>
            </p:nvGraphicFramePr>
            <p:xfrm>
              <a:off x="4904" y="1061"/>
              <a:ext cx="184" cy="2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487" name="公式" r:id="rId22" imgW="177569" imgH="253670" progId="Equation.3">
                      <p:embed/>
                    </p:oleObj>
                  </mc:Choice>
                  <mc:Fallback>
                    <p:oleObj name="公式" r:id="rId22" imgW="177569" imgH="253670" progId="Equation.3">
                      <p:embed/>
                      <p:pic>
                        <p:nvPicPr>
                          <p:cNvPr id="0" name="对象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04" y="1061"/>
                            <a:ext cx="184" cy="2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7449" name="Group 92"/>
            <p:cNvGrpSpPr>
              <a:grpSpLocks/>
            </p:cNvGrpSpPr>
            <p:nvPr/>
          </p:nvGrpSpPr>
          <p:grpSpPr bwMode="auto">
            <a:xfrm>
              <a:off x="1048441" y="2177675"/>
              <a:ext cx="857250" cy="815975"/>
              <a:chOff x="3340" y="1473"/>
              <a:chExt cx="540" cy="514"/>
            </a:xfrm>
          </p:grpSpPr>
          <p:graphicFrame>
            <p:nvGraphicFramePr>
              <p:cNvPr id="17450" name="对象 17"/>
              <p:cNvGraphicFramePr>
                <a:graphicFrameLocks noChangeAspect="1"/>
              </p:cNvGraphicFramePr>
              <p:nvPr/>
            </p:nvGraphicFramePr>
            <p:xfrm>
              <a:off x="3340" y="1473"/>
              <a:ext cx="228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488" name="公式" r:id="rId24" imgW="241195" imgH="253890" progId="Equation.3">
                      <p:embed/>
                    </p:oleObj>
                  </mc:Choice>
                  <mc:Fallback>
                    <p:oleObj name="公式" r:id="rId24" imgW="241195" imgH="253890" progId="Equation.3">
                      <p:embed/>
                      <p:pic>
                        <p:nvPicPr>
                          <p:cNvPr id="0" name="对象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40" y="1473"/>
                            <a:ext cx="228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451" name="Line 94"/>
              <p:cNvSpPr>
                <a:spLocks noChangeShapeType="1"/>
              </p:cNvSpPr>
              <p:nvPr/>
            </p:nvSpPr>
            <p:spPr bwMode="auto">
              <a:xfrm flipH="1" flipV="1">
                <a:off x="3493" y="1491"/>
                <a:ext cx="387" cy="496"/>
              </a:xfrm>
              <a:prstGeom prst="line">
                <a:avLst/>
              </a:prstGeom>
              <a:noFill/>
              <a:ln w="28575">
                <a:solidFill>
                  <a:srgbClr val="FF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9" name="组合 161"/>
          <p:cNvGrpSpPr>
            <a:grpSpLocks/>
          </p:cNvGrpSpPr>
          <p:nvPr/>
        </p:nvGrpSpPr>
        <p:grpSpPr bwMode="auto">
          <a:xfrm>
            <a:off x="7437438" y="1236663"/>
            <a:ext cx="954087" cy="989012"/>
            <a:chOff x="8009421" y="3343999"/>
            <a:chExt cx="954088" cy="1317624"/>
          </a:xfrm>
        </p:grpSpPr>
        <p:grpSp>
          <p:nvGrpSpPr>
            <p:cNvPr id="17429" name="Group 116"/>
            <p:cNvGrpSpPr>
              <a:grpSpLocks/>
            </p:cNvGrpSpPr>
            <p:nvPr/>
          </p:nvGrpSpPr>
          <p:grpSpPr bwMode="auto">
            <a:xfrm>
              <a:off x="8009421" y="3343999"/>
              <a:ext cx="954088" cy="847726"/>
              <a:chOff x="4928" y="1026"/>
              <a:chExt cx="601" cy="534"/>
            </a:xfrm>
          </p:grpSpPr>
          <p:sp>
            <p:nvSpPr>
              <p:cNvPr id="17433" name="Line 117"/>
              <p:cNvSpPr>
                <a:spLocks noChangeShapeType="1"/>
              </p:cNvSpPr>
              <p:nvPr/>
            </p:nvSpPr>
            <p:spPr bwMode="auto">
              <a:xfrm flipV="1">
                <a:off x="4928" y="1366"/>
                <a:ext cx="418" cy="137"/>
              </a:xfrm>
              <a:prstGeom prst="line">
                <a:avLst/>
              </a:prstGeom>
              <a:noFill/>
              <a:ln w="19050">
                <a:solidFill>
                  <a:srgbClr val="00B0F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34" name="Line 118"/>
              <p:cNvSpPr>
                <a:spLocks noChangeShapeType="1"/>
              </p:cNvSpPr>
              <p:nvPr/>
            </p:nvSpPr>
            <p:spPr bwMode="auto">
              <a:xfrm flipH="1" flipV="1">
                <a:off x="5322" y="1105"/>
                <a:ext cx="2" cy="262"/>
              </a:xfrm>
              <a:prstGeom prst="line">
                <a:avLst/>
              </a:prstGeom>
              <a:noFill/>
              <a:ln w="19050">
                <a:solidFill>
                  <a:srgbClr val="00B0F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7435" name="对象 40"/>
              <p:cNvGraphicFramePr>
                <a:graphicFrameLocks noChangeAspect="1"/>
              </p:cNvGraphicFramePr>
              <p:nvPr/>
            </p:nvGraphicFramePr>
            <p:xfrm>
              <a:off x="5317" y="1026"/>
              <a:ext cx="212" cy="2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489" name="公式" r:id="rId26" imgW="241195" imgH="253890" progId="Equation.3">
                      <p:embed/>
                    </p:oleObj>
                  </mc:Choice>
                  <mc:Fallback>
                    <p:oleObj name="公式" r:id="rId26" imgW="241195" imgH="253890" progId="Equation.3">
                      <p:embed/>
                      <p:pic>
                        <p:nvPicPr>
                          <p:cNvPr id="0" name="对象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17" y="1026"/>
                            <a:ext cx="212" cy="2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36" name="对象 41"/>
              <p:cNvGraphicFramePr>
                <a:graphicFrameLocks noChangeAspect="1"/>
              </p:cNvGraphicFramePr>
              <p:nvPr/>
            </p:nvGraphicFramePr>
            <p:xfrm>
              <a:off x="5284" y="1347"/>
              <a:ext cx="202" cy="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490" name="公式" r:id="rId28" imgW="241195" imgH="253890" progId="Equation.3">
                      <p:embed/>
                    </p:oleObj>
                  </mc:Choice>
                  <mc:Fallback>
                    <p:oleObj name="公式" r:id="rId28" imgW="241195" imgH="253890" progId="Equation.3">
                      <p:embed/>
                      <p:pic>
                        <p:nvPicPr>
                          <p:cNvPr id="0" name="对象 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4" y="1347"/>
                            <a:ext cx="202" cy="2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7430" name="Group 121"/>
            <p:cNvGrpSpPr>
              <a:grpSpLocks/>
            </p:cNvGrpSpPr>
            <p:nvPr/>
          </p:nvGrpSpPr>
          <p:grpSpPr bwMode="auto">
            <a:xfrm>
              <a:off x="8120545" y="3909147"/>
              <a:ext cx="382587" cy="752476"/>
              <a:chOff x="4941" y="2171"/>
              <a:chExt cx="241" cy="474"/>
            </a:xfrm>
          </p:grpSpPr>
          <p:sp>
            <p:nvSpPr>
              <p:cNvPr id="17431" name="Freeform 122"/>
              <p:cNvSpPr>
                <a:spLocks/>
              </p:cNvSpPr>
              <p:nvPr/>
            </p:nvSpPr>
            <p:spPr bwMode="auto">
              <a:xfrm>
                <a:off x="4975" y="2257"/>
                <a:ext cx="46" cy="388"/>
              </a:xfrm>
              <a:custGeom>
                <a:avLst/>
                <a:gdLst>
                  <a:gd name="T0" fmla="*/ 0 w 57"/>
                  <a:gd name="T1" fmla="*/ 0 h 114"/>
                  <a:gd name="T2" fmla="*/ 2 w 57"/>
                  <a:gd name="T3" fmla="*/ 1889 h 114"/>
                  <a:gd name="T4" fmla="*/ 0 w 57"/>
                  <a:gd name="T5" fmla="*/ 2675 h 114"/>
                  <a:gd name="T6" fmla="*/ 0 60000 65536"/>
                  <a:gd name="T7" fmla="*/ 0 60000 65536"/>
                  <a:gd name="T8" fmla="*/ 0 60000 65536"/>
                  <a:gd name="T9" fmla="*/ 0 w 57"/>
                  <a:gd name="T10" fmla="*/ 0 h 114"/>
                  <a:gd name="T11" fmla="*/ 57 w 57"/>
                  <a:gd name="T12" fmla="*/ 114 h 1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" h="114">
                    <a:moveTo>
                      <a:pt x="0" y="0"/>
                    </a:moveTo>
                    <a:cubicBezTo>
                      <a:pt x="28" y="19"/>
                      <a:pt x="57" y="38"/>
                      <a:pt x="57" y="57"/>
                    </a:cubicBezTo>
                    <a:cubicBezTo>
                      <a:pt x="57" y="76"/>
                      <a:pt x="28" y="95"/>
                      <a:pt x="0" y="114"/>
                    </a:cubicBezTo>
                  </a:path>
                </a:pathLst>
              </a:cu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432" name="Text Box 123"/>
              <p:cNvSpPr txBox="1">
                <a:spLocks noChangeArrowheads="1"/>
              </p:cNvSpPr>
              <p:nvPr/>
            </p:nvSpPr>
            <p:spPr bwMode="auto">
              <a:xfrm>
                <a:off x="4941" y="2171"/>
                <a:ext cx="241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1800" b="0" i="1">
                    <a:solidFill>
                      <a:srgbClr val="00FF00"/>
                    </a:solidFill>
                    <a:ea typeface="宋体" pitchFamily="2" charset="-122"/>
                  </a:rPr>
                  <a:t> </a:t>
                </a:r>
                <a:r>
                  <a:rPr lang="el-GR" altLang="zh-CN" sz="1800" i="1">
                    <a:ea typeface="宋体" pitchFamily="2" charset="-122"/>
                    <a:sym typeface="Symbol" pitchFamily="18" charset="2"/>
                  </a:rPr>
                  <a:t></a:t>
                </a:r>
                <a:endParaRPr lang="zh-CN" altLang="zh-CN" sz="1800" b="0" i="1">
                  <a:ea typeface="宋体" pitchFamily="2" charset="-122"/>
                </a:endParaRPr>
              </a:p>
            </p:txBody>
          </p:sp>
        </p:grpSp>
      </p:grpSp>
      <p:grpSp>
        <p:nvGrpSpPr>
          <p:cNvPr id="12" name="Group 100"/>
          <p:cNvGrpSpPr>
            <a:grpSpLocks/>
          </p:cNvGrpSpPr>
          <p:nvPr/>
        </p:nvGrpSpPr>
        <p:grpSpPr bwMode="auto">
          <a:xfrm>
            <a:off x="6370638" y="827088"/>
            <a:ext cx="433387" cy="666750"/>
            <a:chOff x="2852" y="1650"/>
            <a:chExt cx="273" cy="560"/>
          </a:xfrm>
        </p:grpSpPr>
        <p:graphicFrame>
          <p:nvGraphicFramePr>
            <p:cNvPr id="17427" name="对象 24"/>
            <p:cNvGraphicFramePr>
              <a:graphicFrameLocks noChangeAspect="1"/>
            </p:cNvGraphicFramePr>
            <p:nvPr/>
          </p:nvGraphicFramePr>
          <p:xfrm>
            <a:off x="2874" y="1650"/>
            <a:ext cx="251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91" name="公式" r:id="rId30" imgW="266469" imgH="253780" progId="Equation.3">
                    <p:embed/>
                  </p:oleObj>
                </mc:Choice>
                <mc:Fallback>
                  <p:oleObj name="公式" r:id="rId30" imgW="266469" imgH="253780" progId="Equation.3">
                    <p:embed/>
                    <p:pic>
                      <p:nvPicPr>
                        <p:cNvPr id="0" name="对象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4" y="1650"/>
                          <a:ext cx="251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8" name="Line 102"/>
            <p:cNvSpPr>
              <a:spLocks noChangeShapeType="1"/>
            </p:cNvSpPr>
            <p:nvPr/>
          </p:nvSpPr>
          <p:spPr bwMode="auto">
            <a:xfrm flipH="1" flipV="1">
              <a:off x="2852" y="1820"/>
              <a:ext cx="1" cy="39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5174" name="Object 54"/>
          <p:cNvGraphicFramePr>
            <a:graphicFrameLocks noChangeAspect="1"/>
          </p:cNvGraphicFramePr>
          <p:nvPr/>
        </p:nvGraphicFramePr>
        <p:xfrm>
          <a:off x="4951413" y="4227513"/>
          <a:ext cx="2573337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2" name="Equation" r:id="rId32" imgW="1269449" imgH="253890" progId="Equation.DSMT4">
                  <p:embed/>
                </p:oleObj>
              </mc:Choice>
              <mc:Fallback>
                <p:oleObj name="Equation" r:id="rId32" imgW="1269449" imgH="25389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1413" y="4227513"/>
                        <a:ext cx="2573337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75" name="Object 55"/>
          <p:cNvGraphicFramePr>
            <a:graphicFrameLocks noChangeAspect="1"/>
          </p:cNvGraphicFramePr>
          <p:nvPr/>
        </p:nvGraphicFramePr>
        <p:xfrm>
          <a:off x="3635375" y="3598863"/>
          <a:ext cx="148113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3" name="Equation" r:id="rId34" imgW="812447" imgH="355446" progId="Equation.DSMT4">
                  <p:embed/>
                </p:oleObj>
              </mc:Choice>
              <mc:Fallback>
                <p:oleObj name="Equation" r:id="rId34" imgW="812447" imgH="355446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3598863"/>
                        <a:ext cx="1481138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6" name="Text Box 2"/>
          <p:cNvSpPr>
            <a:spLocks noChangeArrowheads="1"/>
          </p:cNvSpPr>
          <p:nvPr/>
        </p:nvSpPr>
        <p:spPr bwMode="auto">
          <a:xfrm>
            <a:off x="755650" y="874713"/>
            <a:ext cx="2447925" cy="401637"/>
          </a:xfrm>
          <a:prstGeom prst="homePlate">
            <a:avLst>
              <a:gd name="adj" fmla="val 49859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二、定轴转动定律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" dur="500"/>
                                        <p:tgtEl>
                                          <p:spTgt spid="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8" dur="500"/>
                                        <p:tgtEl>
                                          <p:spTgt spid="7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9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1" dur="500"/>
                                        <p:tgtEl>
                                          <p:spTgt spid="7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7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4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9" grpId="0" autoUpdateAnimBg="0"/>
      <p:bldP spid="7201" grpId="0"/>
      <p:bldP spid="7203" grpId="0"/>
      <p:bldP spid="2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816100" y="889000"/>
          <a:ext cx="52038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5" name="公式" r:id="rId3" imgW="2857500" imgH="355600" progId="Equation.3">
                  <p:embed/>
                </p:oleObj>
              </mc:Choice>
              <mc:Fallback>
                <p:oleObj name="公式" r:id="rId3" imgW="2857500" imgH="355600" progId="Equation.3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6100" y="889000"/>
                        <a:ext cx="520382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9" name="Text Box 33"/>
          <p:cNvSpPr txBox="1">
            <a:spLocks noChangeArrowheads="1"/>
          </p:cNvSpPr>
          <p:nvPr/>
        </p:nvSpPr>
        <p:spPr bwMode="auto">
          <a:xfrm>
            <a:off x="2892425" y="1452563"/>
            <a:ext cx="898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若令</a:t>
            </a:r>
            <a:endParaRPr lang="zh-CN" altLang="en-US" sz="1800" b="0"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194590" name="对象 198"/>
          <p:cNvGraphicFramePr>
            <a:graphicFrameLocks noChangeAspect="1"/>
          </p:cNvGraphicFramePr>
          <p:nvPr/>
        </p:nvGraphicFramePr>
        <p:xfrm>
          <a:off x="3805238" y="1465263"/>
          <a:ext cx="1919287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6" name="公式" r:id="rId5" imgW="1054100" imgH="355600" progId="Equation.3">
                  <p:embed/>
                </p:oleObj>
              </mc:Choice>
              <mc:Fallback>
                <p:oleObj name="公式" r:id="rId5" imgW="1054100" imgH="355600" progId="Equation.3">
                  <p:embed/>
                  <p:pic>
                    <p:nvPicPr>
                      <p:cNvPr id="0" name="对象 1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5238" y="1465263"/>
                        <a:ext cx="1919287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357563" y="2022475"/>
          <a:ext cx="20066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7" name="公式" r:id="rId7" imgW="761669" imgH="241195" progId="Equation.3">
                  <p:embed/>
                </p:oleObj>
              </mc:Choice>
              <mc:Fallback>
                <p:oleObj name="公式" r:id="rId7" imgW="761669" imgH="241195" progId="Equation.3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563" y="2022475"/>
                        <a:ext cx="2006600" cy="47783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34"/>
          <p:cNvSpPr txBox="1">
            <a:spLocks noChangeArrowheads="1"/>
          </p:cNvSpPr>
          <p:nvPr/>
        </p:nvSpPr>
        <p:spPr bwMode="auto">
          <a:xfrm>
            <a:off x="468313" y="2584450"/>
            <a:ext cx="82804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   绕定轴转动的刚体的角加速度与作用于刚体上的合外力矩成正比，与刚体的转动惯量成反比。</a:t>
            </a:r>
          </a:p>
          <a:p>
            <a:pPr eaLnBrk="1" hangingPunct="1"/>
            <a:r>
              <a:rPr lang="en-US" altLang="zh-CN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                        ——</a:t>
            </a:r>
            <a:r>
              <a:rPr lang="zh-CN" altLang="en-US" sz="1800">
                <a:solidFill>
                  <a:srgbClr val="800000"/>
                </a:solidFill>
                <a:latin typeface="华文中宋" pitchFamily="2" charset="-122"/>
                <a:ea typeface="华文中宋" pitchFamily="2" charset="-122"/>
              </a:rPr>
              <a:t>刚体定轴转动中的转动定律</a:t>
            </a:r>
            <a:r>
              <a:rPr lang="en-US" altLang="zh-CN" sz="1800">
                <a:solidFill>
                  <a:srgbClr val="8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endParaRPr lang="zh-CN" altLang="zh-CN" sz="1800" b="0">
              <a:solidFill>
                <a:srgbClr val="800000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33814" name="Text Box 22"/>
          <p:cNvSpPr txBox="1">
            <a:spLocks noChangeArrowheads="1"/>
          </p:cNvSpPr>
          <p:nvPr/>
        </p:nvSpPr>
        <p:spPr bwMode="auto">
          <a:xfrm>
            <a:off x="611188" y="3327400"/>
            <a:ext cx="14081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18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注意：</a:t>
            </a:r>
          </a:p>
        </p:txBody>
      </p:sp>
      <p:sp>
        <p:nvSpPr>
          <p:cNvPr id="33815" name="Text Box 23"/>
          <p:cNvSpPr txBox="1">
            <a:spLocks noChangeArrowheads="1"/>
          </p:cNvSpPr>
          <p:nvPr/>
        </p:nvSpPr>
        <p:spPr bwMode="auto">
          <a:xfrm>
            <a:off x="1692275" y="3760788"/>
            <a:ext cx="51117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（</a:t>
            </a:r>
            <a:r>
              <a:rPr kumimoji="1" lang="en-US" altLang="zh-CN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1</a:t>
            </a:r>
            <a:r>
              <a:rPr kumimoji="1"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）</a:t>
            </a:r>
            <a:r>
              <a:rPr kumimoji="1" lang="en-US" altLang="zh-CN" sz="1800" i="1">
                <a:solidFill>
                  <a:srgbClr val="000000"/>
                </a:solidFill>
                <a:ea typeface="华文中宋" pitchFamily="2" charset="-122"/>
              </a:rPr>
              <a:t>M</a:t>
            </a:r>
            <a:r>
              <a:rPr kumimoji="1" lang="zh-CN" altLang="en-US" sz="1800">
                <a:solidFill>
                  <a:srgbClr val="000000"/>
                </a:solidFill>
                <a:ea typeface="华文中宋" pitchFamily="2" charset="-122"/>
              </a:rPr>
              <a:t>和</a:t>
            </a:r>
            <a:r>
              <a:rPr kumimoji="1" lang="en-US" altLang="zh-CN" sz="1800" i="1">
                <a:solidFill>
                  <a:srgbClr val="000000"/>
                </a:solidFill>
                <a:ea typeface="华文中宋" pitchFamily="2" charset="-122"/>
              </a:rPr>
              <a:t>J</a:t>
            </a:r>
            <a:r>
              <a:rPr kumimoji="1" lang="zh-CN" altLang="en-US" sz="1800">
                <a:solidFill>
                  <a:srgbClr val="000000"/>
                </a:solidFill>
                <a:ea typeface="华文中宋" pitchFamily="2" charset="-122"/>
              </a:rPr>
              <a:t>均对于同一转轴而言；</a:t>
            </a:r>
          </a:p>
        </p:txBody>
      </p:sp>
      <p:sp>
        <p:nvSpPr>
          <p:cNvPr id="2" name="Text Box 23"/>
          <p:cNvSpPr txBox="1">
            <a:spLocks noChangeArrowheads="1"/>
          </p:cNvSpPr>
          <p:nvPr/>
        </p:nvSpPr>
        <p:spPr bwMode="auto">
          <a:xfrm>
            <a:off x="1692275" y="4246563"/>
            <a:ext cx="50879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sz="1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（</a:t>
            </a:r>
            <a:r>
              <a:rPr kumimoji="1" lang="en-US" altLang="zh-CN" sz="1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2</a:t>
            </a:r>
            <a:r>
              <a:rPr kumimoji="1" lang="zh-CN" altLang="en-US" sz="18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）</a:t>
            </a:r>
            <a:r>
              <a:rPr lang="zh-CN" altLang="en-US" sz="1800" dirty="0">
                <a:latin typeface="华文中宋" pitchFamily="2" charset="-122"/>
                <a:ea typeface="华文中宋" pitchFamily="2" charset="-122"/>
              </a:rPr>
              <a:t>此转动定律只适用于惯性系。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9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9" grpId="0"/>
      <p:bldP spid="11" grpId="0"/>
      <p:bldP spid="33814" grpId="0"/>
      <p:bldP spid="33815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539750" y="1338263"/>
            <a:ext cx="5153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solidFill>
                  <a:srgbClr val="FF3300"/>
                </a:solidFill>
                <a:ea typeface="华文中宋" pitchFamily="2" charset="-122"/>
              </a:rPr>
              <a:t>转动惯量的物理意义：</a:t>
            </a:r>
            <a:r>
              <a:rPr kumimoji="1" lang="zh-CN" altLang="en-US" sz="1800">
                <a:solidFill>
                  <a:srgbClr val="000000"/>
                </a:solidFill>
                <a:ea typeface="华文中宋" pitchFamily="2" charset="-122"/>
              </a:rPr>
              <a:t>反映刚体转动惯性的量度</a:t>
            </a:r>
          </a:p>
        </p:txBody>
      </p:sp>
      <p:graphicFrame>
        <p:nvGraphicFramePr>
          <p:cNvPr id="9222" name="Object 6"/>
          <p:cNvGraphicFramePr>
            <a:graphicFrameLocks noChangeAspect="1"/>
          </p:cNvGraphicFramePr>
          <p:nvPr/>
        </p:nvGraphicFramePr>
        <p:xfrm>
          <a:off x="3779838" y="915988"/>
          <a:ext cx="24892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3" name="公式" r:id="rId3" imgW="922055" imgH="221011" progId="Equation.3">
                  <p:embed/>
                </p:oleObj>
              </mc:Choice>
              <mc:Fallback>
                <p:oleObj name="公式" r:id="rId3" imgW="922055" imgH="22101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915988"/>
                        <a:ext cx="24892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27" name="Object 19"/>
          <p:cNvGraphicFramePr>
            <a:graphicFrameLocks noChangeAspect="1"/>
          </p:cNvGraphicFramePr>
          <p:nvPr/>
        </p:nvGraphicFramePr>
        <p:xfrm>
          <a:off x="3011488" y="1816100"/>
          <a:ext cx="3192462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4" name="Equation" r:id="rId5" imgW="1295400" imgH="228600" progId="Equation.DSMT4">
                  <p:embed/>
                </p:oleObj>
              </mc:Choice>
              <mc:Fallback>
                <p:oleObj name="Equation" r:id="rId5" imgW="1295400" imgH="228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1488" y="1816100"/>
                        <a:ext cx="3192462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66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28" name="Object 20"/>
          <p:cNvGraphicFramePr>
            <a:graphicFrameLocks noChangeAspect="1"/>
          </p:cNvGraphicFramePr>
          <p:nvPr/>
        </p:nvGraphicFramePr>
        <p:xfrm>
          <a:off x="6284913" y="1816100"/>
          <a:ext cx="17018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5" name="公式" r:id="rId7" imgW="685800" imgH="228600" progId="Equation.3">
                  <p:embed/>
                </p:oleObj>
              </mc:Choice>
              <mc:Fallback>
                <p:oleObj name="公式" r:id="rId7" imgW="685800" imgH="2286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4913" y="1816100"/>
                        <a:ext cx="17018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66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630" name="Text Box 22"/>
          <p:cNvSpPr txBox="1">
            <a:spLocks noChangeArrowheads="1"/>
          </p:cNvSpPr>
          <p:nvPr/>
        </p:nvSpPr>
        <p:spPr bwMode="auto">
          <a:xfrm>
            <a:off x="304800" y="2355850"/>
            <a:ext cx="83708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FF0000"/>
                </a:solidFill>
                <a:latin typeface="楷体_GB2312" pitchFamily="49" charset="-122"/>
                <a:ea typeface="华文中宋" pitchFamily="2" charset="-122"/>
              </a:rPr>
              <a:t>思考：</a:t>
            </a:r>
            <a:r>
              <a:rPr lang="zh-CN" altLang="en-US" sz="1800">
                <a:latin typeface="楷体_GB2312" pitchFamily="49" charset="-122"/>
                <a:ea typeface="华文中宋" pitchFamily="2" charset="-122"/>
              </a:rPr>
              <a:t>如一个外径和质量相同的实心圆柱与空心圆筒，若受力和力矩一样，谁转动得快些呢？</a:t>
            </a:r>
          </a:p>
        </p:txBody>
      </p:sp>
      <p:graphicFrame>
        <p:nvGraphicFramePr>
          <p:cNvPr id="196631" name="Object 23"/>
          <p:cNvGraphicFramePr>
            <a:graphicFrameLocks noChangeAspect="1"/>
          </p:cNvGraphicFramePr>
          <p:nvPr/>
        </p:nvGraphicFramePr>
        <p:xfrm>
          <a:off x="1258888" y="1600200"/>
          <a:ext cx="151447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6" name="公式" r:id="rId9" imgW="583947" imgH="444307" progId="Equation.3">
                  <p:embed/>
                </p:oleObj>
              </mc:Choice>
              <mc:Fallback>
                <p:oleObj name="公式" r:id="rId9" imgW="583947" imgH="444307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600200"/>
                        <a:ext cx="1514475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66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633" name="AutoShape 25"/>
          <p:cNvSpPr>
            <a:spLocks noChangeArrowheads="1"/>
          </p:cNvSpPr>
          <p:nvPr/>
        </p:nvSpPr>
        <p:spPr bwMode="auto">
          <a:xfrm>
            <a:off x="2308225" y="3386138"/>
            <a:ext cx="2768600" cy="1157287"/>
          </a:xfrm>
          <a:prstGeom prst="rtTriangle">
            <a:avLst/>
          </a:prstGeom>
          <a:solidFill>
            <a:srgbClr val="FFFF00"/>
          </a:solidFill>
          <a:ln w="9525">
            <a:miter lim="800000"/>
            <a:headEnd/>
            <a:tailEnd/>
          </a:ln>
          <a:scene3d>
            <a:camera prst="legacyObliqueTopRight">
              <a:rot lat="300000" lon="300000" rev="0"/>
            </a:camera>
            <a:lightRig rig="legacyFlat3" dir="r"/>
          </a:scene3d>
          <a:sp3d extrusionH="887400" prstMaterial="legacyMatte">
            <a:bevelT w="13500" h="13500" prst="angle"/>
            <a:bevelB w="13500" h="13500" prst="angle"/>
            <a:extrusionClr>
              <a:srgbClr val="FFFF00"/>
            </a:extrusionClr>
          </a:sp3d>
        </p:spPr>
        <p:txBody>
          <a:bodyPr anchor="ctr">
            <a:spAutoFit/>
            <a:flatTx/>
          </a:bodyPr>
          <a:lstStyle/>
          <a:p>
            <a:endParaRPr lang="zh-CN" altLang="en-US"/>
          </a:p>
        </p:txBody>
      </p:sp>
      <p:sp>
        <p:nvSpPr>
          <p:cNvPr id="196634" name="AutoShape 26"/>
          <p:cNvSpPr>
            <a:spLocks noChangeArrowheads="1"/>
          </p:cNvSpPr>
          <p:nvPr/>
        </p:nvSpPr>
        <p:spPr bwMode="auto">
          <a:xfrm>
            <a:off x="5692775" y="3313113"/>
            <a:ext cx="2767013" cy="1155700"/>
          </a:xfrm>
          <a:prstGeom prst="rtTriangle">
            <a:avLst/>
          </a:prstGeom>
          <a:solidFill>
            <a:srgbClr val="FFFF00"/>
          </a:solidFill>
          <a:ln w="9525">
            <a:miter lim="800000"/>
            <a:headEnd/>
            <a:tailEnd/>
          </a:ln>
          <a:scene3d>
            <a:camera prst="legacyObliqueTopRight">
              <a:rot lat="300000" lon="600000" rev="0"/>
            </a:camera>
            <a:lightRig rig="legacyFlat3" dir="r"/>
          </a:scene3d>
          <a:sp3d extrusionH="887400" prstMaterial="legacyMatte">
            <a:bevelT w="13500" h="13500" prst="angle"/>
            <a:bevelB w="13500" h="13500" prst="angle"/>
            <a:extrusionClr>
              <a:srgbClr val="FFFF00"/>
            </a:extrusionClr>
          </a:sp3d>
        </p:spPr>
        <p:txBody>
          <a:bodyPr anchor="ctr">
            <a:spAutoFit/>
            <a:flatTx/>
          </a:bodyPr>
          <a:lstStyle/>
          <a:p>
            <a:endParaRPr lang="zh-CN" altLang="en-US"/>
          </a:p>
        </p:txBody>
      </p:sp>
      <p:sp>
        <p:nvSpPr>
          <p:cNvPr id="196636" name="Oval 28"/>
          <p:cNvSpPr>
            <a:spLocks noChangeArrowheads="1"/>
          </p:cNvSpPr>
          <p:nvPr/>
        </p:nvSpPr>
        <p:spPr bwMode="auto">
          <a:xfrm>
            <a:off x="2384425" y="3148013"/>
            <a:ext cx="723900" cy="546100"/>
          </a:xfrm>
          <a:prstGeom prst="ellipse">
            <a:avLst/>
          </a:prstGeom>
          <a:solidFill>
            <a:srgbClr val="66FF33"/>
          </a:solidFill>
          <a:ln w="9525">
            <a:round/>
            <a:headEnd/>
            <a:tailEnd/>
          </a:ln>
          <a:scene3d>
            <a:camera prst="legacyObliqueTopRight">
              <a:rot lat="0" lon="899994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66FF33"/>
            </a:extrusionClr>
          </a:sp3d>
        </p:spPr>
        <p:txBody>
          <a:bodyPr anchor="ctr">
            <a:spAutoFit/>
            <a:flatTx/>
          </a:bodyPr>
          <a:lstStyle/>
          <a:p>
            <a:endParaRPr lang="zh-CN" altLang="en-US"/>
          </a:p>
        </p:txBody>
      </p:sp>
      <p:sp>
        <p:nvSpPr>
          <p:cNvPr id="196637" name="AutoShape 29"/>
          <p:cNvSpPr>
            <a:spLocks noChangeArrowheads="1"/>
          </p:cNvSpPr>
          <p:nvPr/>
        </p:nvSpPr>
        <p:spPr bwMode="auto">
          <a:xfrm>
            <a:off x="5797550" y="3003550"/>
            <a:ext cx="723900" cy="547688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66FF33"/>
          </a:solidFill>
          <a:ln w="9525">
            <a:round/>
            <a:headEnd/>
            <a:tailEnd/>
          </a:ln>
          <a:scene3d>
            <a:camera prst="legacyObliqueTopRight">
              <a:rot lat="0" lon="60000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66FF33"/>
            </a:extrusionClr>
          </a:sp3d>
        </p:spPr>
        <p:txBody>
          <a:bodyPr anchor="ctr">
            <a:spAutoFit/>
            <a:flatTx/>
          </a:bodyPr>
          <a:lstStyle/>
          <a:p>
            <a:endParaRPr lang="zh-CN" altLang="en-US"/>
          </a:p>
        </p:txBody>
      </p:sp>
      <p:sp>
        <p:nvSpPr>
          <p:cNvPr id="19468" name="Text Box 2"/>
          <p:cNvSpPr>
            <a:spLocks noChangeArrowheads="1"/>
          </p:cNvSpPr>
          <p:nvPr/>
        </p:nvSpPr>
        <p:spPr bwMode="auto">
          <a:xfrm>
            <a:off x="739775" y="874713"/>
            <a:ext cx="2447925" cy="401637"/>
          </a:xfrm>
          <a:prstGeom prst="homePlate">
            <a:avLst>
              <a:gd name="adj" fmla="val 49859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三、转动惯量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9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9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96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56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04624E-7 L 0.28351 0.1389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966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67" y="69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96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56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50289E-6 L 0.21407 0.12393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1966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694" y="61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autoUpdateAnimBg="0"/>
      <p:bldP spid="196630" grpId="0" autoUpdateAnimBg="0"/>
      <p:bldP spid="196633" grpId="0" animBg="1"/>
      <p:bldP spid="196634" grpId="0" animBg="1"/>
      <p:bldP spid="196636" grpId="0" animBg="1"/>
      <p:bldP spid="196636" grpId="1" animBg="1"/>
      <p:bldP spid="196637" grpId="0" animBg="1"/>
      <p:bldP spid="196637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80" name="Text Box 4"/>
          <p:cNvSpPr txBox="1">
            <a:spLocks noChangeArrowheads="1"/>
          </p:cNvSpPr>
          <p:nvPr/>
        </p:nvSpPr>
        <p:spPr bwMode="auto">
          <a:xfrm>
            <a:off x="1042988" y="3435350"/>
            <a:ext cx="5635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ea typeface="华文中宋" pitchFamily="2" charset="-122"/>
              </a:rPr>
              <a:t>转动惯量的单位：千克</a:t>
            </a:r>
            <a:r>
              <a:rPr lang="en-US" altLang="zh-CN" sz="1800">
                <a:ea typeface="华文中宋" pitchFamily="2" charset="-122"/>
              </a:rPr>
              <a:t>·</a:t>
            </a:r>
            <a:r>
              <a:rPr lang="zh-CN" altLang="en-US" sz="1800">
                <a:ea typeface="华文中宋" pitchFamily="2" charset="-122"/>
              </a:rPr>
              <a:t>米</a:t>
            </a:r>
            <a:r>
              <a:rPr lang="en-US" altLang="zh-CN" sz="1800" baseline="30000">
                <a:ea typeface="华文中宋" pitchFamily="2" charset="-122"/>
              </a:rPr>
              <a:t>2</a:t>
            </a:r>
            <a:r>
              <a:rPr lang="zh-CN" altLang="en-US" sz="1800">
                <a:ea typeface="华文中宋" pitchFamily="2" charset="-122"/>
              </a:rPr>
              <a:t>（</a:t>
            </a:r>
            <a:r>
              <a:rPr lang="en-US" altLang="zh-CN" sz="1800">
                <a:ea typeface="华文中宋" pitchFamily="2" charset="-122"/>
              </a:rPr>
              <a:t>kg·m</a:t>
            </a:r>
            <a:r>
              <a:rPr lang="en-US" altLang="zh-CN" sz="1800" baseline="30000">
                <a:ea typeface="华文中宋" pitchFamily="2" charset="-122"/>
              </a:rPr>
              <a:t>2</a:t>
            </a:r>
            <a:r>
              <a:rPr lang="zh-CN" altLang="en-US" sz="1800">
                <a:ea typeface="华文中宋" pitchFamily="2" charset="-122"/>
              </a:rPr>
              <a:t>）</a:t>
            </a:r>
          </a:p>
        </p:txBody>
      </p:sp>
      <p:sp>
        <p:nvSpPr>
          <p:cNvPr id="203781" name="Text Box 5"/>
          <p:cNvSpPr txBox="1">
            <a:spLocks noChangeArrowheads="1"/>
          </p:cNvSpPr>
          <p:nvPr/>
        </p:nvSpPr>
        <p:spPr bwMode="auto">
          <a:xfrm>
            <a:off x="2124075" y="1398588"/>
            <a:ext cx="1401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单个质点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graphicFrame>
        <p:nvGraphicFramePr>
          <p:cNvPr id="203782" name="Object 6"/>
          <p:cNvGraphicFramePr>
            <a:graphicFrameLocks noChangeAspect="1"/>
          </p:cNvGraphicFramePr>
          <p:nvPr/>
        </p:nvGraphicFramePr>
        <p:xfrm>
          <a:off x="4572000" y="1382713"/>
          <a:ext cx="1169988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5" name="公式" r:id="rId4" imgW="545626" imgH="203024" progId="Equation.3">
                  <p:embed/>
                </p:oleObj>
              </mc:Choice>
              <mc:Fallback>
                <p:oleObj name="公式" r:id="rId4" imgW="545626" imgH="20302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382713"/>
                        <a:ext cx="1169988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783" name="Text Box 7"/>
          <p:cNvSpPr txBox="1">
            <a:spLocks noChangeArrowheads="1"/>
          </p:cNvSpPr>
          <p:nvPr/>
        </p:nvSpPr>
        <p:spPr bwMode="auto">
          <a:xfrm>
            <a:off x="2268538" y="1973263"/>
            <a:ext cx="1008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质点系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graphicFrame>
        <p:nvGraphicFramePr>
          <p:cNvPr id="203784" name="Object 8"/>
          <p:cNvGraphicFramePr>
            <a:graphicFrameLocks noChangeAspect="1"/>
          </p:cNvGraphicFramePr>
          <p:nvPr/>
        </p:nvGraphicFramePr>
        <p:xfrm>
          <a:off x="4543425" y="1798638"/>
          <a:ext cx="1612900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6" name="公式" r:id="rId6" imgW="787400" imgH="431800" progId="Equation.3">
                  <p:embed/>
                </p:oleObj>
              </mc:Choice>
              <mc:Fallback>
                <p:oleObj name="公式" r:id="rId6" imgW="787400" imgH="431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3425" y="1798638"/>
                        <a:ext cx="1612900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85" name="Object 9"/>
          <p:cNvGraphicFramePr>
            <a:graphicFrameLocks noChangeAspect="1"/>
          </p:cNvGraphicFramePr>
          <p:nvPr/>
        </p:nvGraphicFramePr>
        <p:xfrm>
          <a:off x="4519613" y="2443163"/>
          <a:ext cx="2944812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7" name="Equation" r:id="rId8" imgW="1459866" imgH="291973" progId="Equation.DSMT4">
                  <p:embed/>
                </p:oleObj>
              </mc:Choice>
              <mc:Fallback>
                <p:oleObj name="Equation" r:id="rId8" imgW="1459866" imgH="291973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9613" y="2443163"/>
                        <a:ext cx="2944812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786" name="Text Box 10"/>
          <p:cNvSpPr txBox="1">
            <a:spLocks noChangeArrowheads="1"/>
          </p:cNvSpPr>
          <p:nvPr/>
        </p:nvSpPr>
        <p:spPr bwMode="auto">
          <a:xfrm>
            <a:off x="1730375" y="2463800"/>
            <a:ext cx="2409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质量连续分布的物体</a:t>
            </a:r>
            <a:endParaRPr lang="zh-CN" altLang="en-US" sz="1800">
              <a:solidFill>
                <a:srgbClr val="FFCC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323850" y="3870325"/>
            <a:ext cx="1143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solidFill>
                  <a:srgbClr val="FF3300"/>
                </a:solidFill>
                <a:latin typeface="华文中宋" pitchFamily="2" charset="-122"/>
                <a:ea typeface="华文中宋" pitchFamily="2" charset="-122"/>
              </a:rPr>
              <a:t>注：</a:t>
            </a:r>
            <a:endParaRPr kumimoji="1" lang="zh-CN" altLang="en-US" sz="180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1042988" y="3870325"/>
            <a:ext cx="77057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转动惯量仅取决于刚体本身的性质，即与刚体的形状、大小、质量分布以及转轴的位置有关。</a:t>
            </a:r>
          </a:p>
        </p:txBody>
      </p:sp>
      <p:sp>
        <p:nvSpPr>
          <p:cNvPr id="20510" name="Text Box 30"/>
          <p:cNvSpPr txBox="1">
            <a:spLocks noChangeArrowheads="1"/>
          </p:cNvSpPr>
          <p:nvPr/>
        </p:nvSpPr>
        <p:spPr bwMode="auto">
          <a:xfrm>
            <a:off x="228600" y="842963"/>
            <a:ext cx="20399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solidFill>
                  <a:srgbClr val="FF3300"/>
                </a:solidFill>
                <a:latin typeface="华文中宋" pitchFamily="2" charset="-122"/>
                <a:ea typeface="华文中宋" pitchFamily="2" charset="-122"/>
              </a:rPr>
              <a:t>转动惯量的计算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203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203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2037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2037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203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203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203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80" grpId="0" autoUpdateAnimBg="0"/>
      <p:bldP spid="203781" grpId="0" autoUpdateAnimBg="0"/>
      <p:bldP spid="203783" grpId="0" autoUpdateAnimBg="0"/>
      <p:bldP spid="203786" grpId="0" autoUpdateAnimBg="0"/>
      <p:bldP spid="9225" grpId="0" autoUpdateAnimBg="0"/>
      <p:bldP spid="9226" grpId="0" autoUpdateAnimBg="0"/>
      <p:bldP spid="20510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381000" y="1122363"/>
            <a:ext cx="85121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solidFill>
                  <a:schemeClr val="accent2"/>
                </a:solidFill>
                <a:ea typeface="华文中宋" pitchFamily="2" charset="-122"/>
              </a:rPr>
              <a:t>例</a:t>
            </a:r>
            <a:r>
              <a:rPr kumimoji="1" lang="en-US" altLang="zh-CN" sz="1800">
                <a:solidFill>
                  <a:schemeClr val="accent2"/>
                </a:solidFill>
                <a:ea typeface="华文中宋" pitchFamily="2" charset="-122"/>
              </a:rPr>
              <a:t>   </a:t>
            </a:r>
            <a:r>
              <a:rPr kumimoji="1" lang="zh-CN" altLang="en-US" sz="1800">
                <a:solidFill>
                  <a:schemeClr val="accent2"/>
                </a:solidFill>
                <a:ea typeface="华文中宋" pitchFamily="2" charset="-122"/>
              </a:rPr>
              <a:t>一质量为</a:t>
            </a:r>
            <a:r>
              <a:rPr kumimoji="1" lang="en-US" altLang="zh-CN" sz="1800" i="1">
                <a:solidFill>
                  <a:schemeClr val="accent2"/>
                </a:solidFill>
                <a:ea typeface="华文中宋" pitchFamily="2" charset="-122"/>
              </a:rPr>
              <a:t>m</a:t>
            </a:r>
            <a:r>
              <a:rPr kumimoji="1" lang="zh-CN" altLang="en-US" sz="1800">
                <a:solidFill>
                  <a:schemeClr val="accent2"/>
                </a:solidFill>
                <a:ea typeface="华文中宋" pitchFamily="2" charset="-122"/>
              </a:rPr>
              <a:t>，半径为</a:t>
            </a:r>
            <a:r>
              <a:rPr kumimoji="1" lang="en-US" altLang="zh-CN" sz="1800" i="1">
                <a:solidFill>
                  <a:schemeClr val="accent2"/>
                </a:solidFill>
                <a:ea typeface="华文中宋" pitchFamily="2" charset="-122"/>
              </a:rPr>
              <a:t>R</a:t>
            </a:r>
            <a:r>
              <a:rPr kumimoji="1" lang="zh-CN" altLang="en-US" sz="1800">
                <a:solidFill>
                  <a:schemeClr val="accent2"/>
                </a:solidFill>
                <a:ea typeface="华文中宋" pitchFamily="2" charset="-122"/>
              </a:rPr>
              <a:t>的均匀圆盘，求通过盘中心并与盘面垂直的轴的转动惯量。</a:t>
            </a: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468313" y="2733675"/>
            <a:ext cx="510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1800">
                <a:ea typeface="华文中宋" pitchFamily="2" charset="-122"/>
              </a:rPr>
              <a:t>解：选质元</a:t>
            </a:r>
            <a:r>
              <a:rPr kumimoji="1" lang="en-US" altLang="zh-CN" sz="1800">
                <a:ea typeface="华文中宋" pitchFamily="2" charset="-122"/>
              </a:rPr>
              <a:t>d</a:t>
            </a:r>
            <a:r>
              <a:rPr kumimoji="1" lang="en-US" altLang="zh-CN" sz="1800" i="1">
                <a:ea typeface="华文中宋" pitchFamily="2" charset="-122"/>
              </a:rPr>
              <a:t>m</a:t>
            </a:r>
            <a:r>
              <a:rPr kumimoji="1" lang="zh-CN" altLang="en-US" sz="1800">
                <a:ea typeface="华文中宋" pitchFamily="2" charset="-122"/>
              </a:rPr>
              <a:t>，如图所示</a:t>
            </a:r>
          </a:p>
        </p:txBody>
      </p:sp>
      <p:graphicFrame>
        <p:nvGraphicFramePr>
          <p:cNvPr id="20497" name="Object 17"/>
          <p:cNvGraphicFramePr>
            <a:graphicFrameLocks noChangeAspect="1"/>
          </p:cNvGraphicFramePr>
          <p:nvPr/>
        </p:nvGraphicFramePr>
        <p:xfrm>
          <a:off x="4127500" y="2787650"/>
          <a:ext cx="2255838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8" name="Equation" r:id="rId3" imgW="868893" imgH="182833" progId="Equation.DSMT4">
                  <p:embed/>
                </p:oleObj>
              </mc:Choice>
              <mc:Fallback>
                <p:oleObj name="Equation" r:id="rId3" imgW="868893" imgH="182833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2787650"/>
                        <a:ext cx="2255838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8" name="Object 18"/>
          <p:cNvGraphicFramePr>
            <a:graphicFrameLocks noChangeAspect="1"/>
          </p:cNvGraphicFramePr>
          <p:nvPr/>
        </p:nvGraphicFramePr>
        <p:xfrm>
          <a:off x="3317875" y="3248025"/>
          <a:ext cx="3910013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9" name="Equation" r:id="rId5" imgW="1463040" imgH="259190" progId="Equation.DSMT4">
                  <p:embed/>
                </p:oleObj>
              </mc:Choice>
              <mc:Fallback>
                <p:oleObj name="Equation" r:id="rId5" imgW="1463040" imgH="25919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875" y="3248025"/>
                        <a:ext cx="3910013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0" name="Object 20"/>
          <p:cNvGraphicFramePr>
            <a:graphicFrameLocks noChangeAspect="1"/>
          </p:cNvGraphicFramePr>
          <p:nvPr/>
        </p:nvGraphicFramePr>
        <p:xfrm>
          <a:off x="2806700" y="3830638"/>
          <a:ext cx="493395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0" name="Equation" r:id="rId7" imgW="2072498" imgH="396209" progId="Equation.DSMT4">
                  <p:embed/>
                </p:oleObj>
              </mc:Choice>
              <mc:Fallback>
                <p:oleObj name="Equation" r:id="rId7" imgW="2072498" imgH="396209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6700" y="3830638"/>
                        <a:ext cx="4933950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1" name="Text Box 31"/>
          <p:cNvSpPr txBox="1">
            <a:spLocks noChangeArrowheads="1"/>
          </p:cNvSpPr>
          <p:nvPr/>
        </p:nvSpPr>
        <p:spPr bwMode="auto">
          <a:xfrm>
            <a:off x="454025" y="835025"/>
            <a:ext cx="3109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solidFill>
                  <a:srgbClr val="FF3300"/>
                </a:solidFill>
                <a:ea typeface="华文中宋" pitchFamily="2" charset="-122"/>
              </a:rPr>
              <a:t>（</a:t>
            </a:r>
            <a:r>
              <a:rPr kumimoji="1" lang="en-US" altLang="zh-CN" sz="1800">
                <a:solidFill>
                  <a:srgbClr val="FF3300"/>
                </a:solidFill>
                <a:ea typeface="华文中宋" pitchFamily="2" charset="-122"/>
              </a:rPr>
              <a:t>1</a:t>
            </a:r>
            <a:r>
              <a:rPr kumimoji="1" lang="zh-CN" altLang="en-US" sz="1800">
                <a:solidFill>
                  <a:srgbClr val="FF3300"/>
                </a:solidFill>
                <a:ea typeface="华文中宋" pitchFamily="2" charset="-122"/>
              </a:rPr>
              <a:t>）由定义计算转动惯量</a:t>
            </a:r>
          </a:p>
        </p:txBody>
      </p:sp>
      <p:grpSp>
        <p:nvGrpSpPr>
          <p:cNvPr id="2" name="Group 64"/>
          <p:cNvGrpSpPr>
            <a:grpSpLocks/>
          </p:cNvGrpSpPr>
          <p:nvPr/>
        </p:nvGrpSpPr>
        <p:grpSpPr bwMode="auto">
          <a:xfrm>
            <a:off x="5148263" y="1612900"/>
            <a:ext cx="1966912" cy="927100"/>
            <a:chOff x="4090" y="1591"/>
            <a:chExt cx="1239" cy="778"/>
          </a:xfrm>
        </p:grpSpPr>
        <p:grpSp>
          <p:nvGrpSpPr>
            <p:cNvPr id="21525" name="Group 63"/>
            <p:cNvGrpSpPr>
              <a:grpSpLocks/>
            </p:cNvGrpSpPr>
            <p:nvPr/>
          </p:nvGrpSpPr>
          <p:grpSpPr bwMode="auto">
            <a:xfrm>
              <a:off x="4090" y="1591"/>
              <a:ext cx="1103" cy="545"/>
              <a:chOff x="3696" y="2026"/>
              <a:chExt cx="862" cy="403"/>
            </a:xfrm>
          </p:grpSpPr>
          <p:sp>
            <p:nvSpPr>
              <p:cNvPr id="21533" name="Oval 61"/>
              <p:cNvSpPr>
                <a:spLocks noChangeArrowheads="1"/>
              </p:cNvSpPr>
              <p:nvPr/>
            </p:nvSpPr>
            <p:spPr bwMode="auto">
              <a:xfrm>
                <a:off x="3696" y="2026"/>
                <a:ext cx="862" cy="403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534" name="Oval 62"/>
              <p:cNvSpPr>
                <a:spLocks noChangeArrowheads="1"/>
              </p:cNvSpPr>
              <p:nvPr/>
            </p:nvSpPr>
            <p:spPr bwMode="auto">
              <a:xfrm>
                <a:off x="3787" y="2026"/>
                <a:ext cx="681" cy="40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1526" name="Text Box 5"/>
            <p:cNvSpPr txBox="1">
              <a:spLocks noChangeArrowheads="1"/>
            </p:cNvSpPr>
            <p:nvPr/>
          </p:nvSpPr>
          <p:spPr bwMode="ltGray">
            <a:xfrm>
              <a:off x="4513" y="1706"/>
              <a:ext cx="22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800" i="1">
                  <a:ea typeface="宋体" pitchFamily="2" charset="-122"/>
                </a:rPr>
                <a:t>O</a:t>
              </a:r>
              <a:endParaRPr lang="zh-CN" altLang="zh-CN" sz="1800" b="0" i="1">
                <a:ea typeface="宋体" pitchFamily="2" charset="-122"/>
              </a:endParaRPr>
            </a:p>
          </p:txBody>
        </p:sp>
        <p:grpSp>
          <p:nvGrpSpPr>
            <p:cNvPr id="21527" name="Group 10"/>
            <p:cNvGrpSpPr>
              <a:grpSpLocks/>
            </p:cNvGrpSpPr>
            <p:nvPr/>
          </p:nvGrpSpPr>
          <p:grpSpPr bwMode="auto">
            <a:xfrm>
              <a:off x="4656" y="1861"/>
              <a:ext cx="356" cy="378"/>
              <a:chOff x="4405" y="1967"/>
              <a:chExt cx="356" cy="378"/>
            </a:xfrm>
          </p:grpSpPr>
          <p:sp>
            <p:nvSpPr>
              <p:cNvPr id="21531" name="Line 11"/>
              <p:cNvSpPr>
                <a:spLocks noChangeShapeType="1"/>
              </p:cNvSpPr>
              <p:nvPr/>
            </p:nvSpPr>
            <p:spPr bwMode="ltGray">
              <a:xfrm>
                <a:off x="4405" y="1967"/>
                <a:ext cx="356" cy="23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532" name="Text Box 12"/>
              <p:cNvSpPr txBox="1">
                <a:spLocks noChangeArrowheads="1"/>
              </p:cNvSpPr>
              <p:nvPr/>
            </p:nvSpPr>
            <p:spPr bwMode="ltGray">
              <a:xfrm>
                <a:off x="4409" y="2035"/>
                <a:ext cx="215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1800" i="1">
                    <a:solidFill>
                      <a:srgbClr val="0000FF"/>
                    </a:solidFill>
                    <a:ea typeface="宋体" pitchFamily="2" charset="-122"/>
                  </a:rPr>
                  <a:t>r</a:t>
                </a:r>
                <a:endParaRPr lang="zh-CN" altLang="zh-CN" sz="1800" b="0" i="1">
                  <a:solidFill>
                    <a:srgbClr val="0000FF"/>
                  </a:solidFill>
                  <a:ea typeface="宋体" pitchFamily="2" charset="-122"/>
                </a:endParaRPr>
              </a:p>
            </p:txBody>
          </p:sp>
        </p:grpSp>
        <p:grpSp>
          <p:nvGrpSpPr>
            <p:cNvPr id="21528" name="Group 7"/>
            <p:cNvGrpSpPr>
              <a:grpSpLocks/>
            </p:cNvGrpSpPr>
            <p:nvPr/>
          </p:nvGrpSpPr>
          <p:grpSpPr bwMode="auto">
            <a:xfrm>
              <a:off x="4981" y="1972"/>
              <a:ext cx="348" cy="397"/>
              <a:chOff x="4774" y="2116"/>
              <a:chExt cx="332" cy="308"/>
            </a:xfrm>
          </p:grpSpPr>
          <p:sp>
            <p:nvSpPr>
              <p:cNvPr id="21529" name="Text Box 8"/>
              <p:cNvSpPr txBox="1">
                <a:spLocks noChangeArrowheads="1"/>
              </p:cNvSpPr>
              <p:nvPr/>
            </p:nvSpPr>
            <p:spPr bwMode="ltGray">
              <a:xfrm>
                <a:off x="4796" y="2184"/>
                <a:ext cx="31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1800">
                    <a:solidFill>
                      <a:srgbClr val="FF00FF"/>
                    </a:solidFill>
                    <a:ea typeface="宋体" pitchFamily="2" charset="-122"/>
                  </a:rPr>
                  <a:t>d</a:t>
                </a:r>
                <a:r>
                  <a:rPr lang="en-US" altLang="zh-CN" sz="1800" i="1">
                    <a:solidFill>
                      <a:srgbClr val="FF00FF"/>
                    </a:solidFill>
                    <a:ea typeface="宋体" pitchFamily="2" charset="-122"/>
                  </a:rPr>
                  <a:t>m</a:t>
                </a:r>
                <a:endParaRPr lang="zh-CN" altLang="zh-CN" sz="1800" b="0" i="1">
                  <a:solidFill>
                    <a:srgbClr val="FF00FF"/>
                  </a:solidFill>
                  <a:ea typeface="宋体" pitchFamily="2" charset="-122"/>
                </a:endParaRPr>
              </a:p>
            </p:txBody>
          </p:sp>
          <p:sp>
            <p:nvSpPr>
              <p:cNvPr id="21530" name="Rectangle 9"/>
              <p:cNvSpPr>
                <a:spLocks noChangeArrowheads="1"/>
              </p:cNvSpPr>
              <p:nvPr/>
            </p:nvSpPr>
            <p:spPr bwMode="auto">
              <a:xfrm rot="2191805">
                <a:off x="4774" y="2116"/>
                <a:ext cx="116" cy="241"/>
              </a:xfrm>
              <a:prstGeom prst="rect">
                <a:avLst/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/>
                <a:endParaRPr lang="zh-CN" altLang="zh-CN" sz="1800" b="0">
                  <a:ea typeface="宋体" pitchFamily="2" charset="-122"/>
                </a:endParaRPr>
              </a:p>
            </p:txBody>
          </p:sp>
        </p:grpSp>
      </p:grpSp>
      <p:sp>
        <p:nvSpPr>
          <p:cNvPr id="197698" name="AutoShape 66"/>
          <p:cNvSpPr>
            <a:spLocks noChangeArrowheads="1"/>
          </p:cNvSpPr>
          <p:nvPr/>
        </p:nvSpPr>
        <p:spPr bwMode="auto">
          <a:xfrm>
            <a:off x="3851275" y="1454150"/>
            <a:ext cx="1081088" cy="915988"/>
          </a:xfrm>
          <a:prstGeom prst="rightArrow">
            <a:avLst>
              <a:gd name="adj1" fmla="val 50000"/>
              <a:gd name="adj2" fmla="val 62668"/>
            </a:avLst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6" name="Group 67"/>
          <p:cNvGrpSpPr>
            <a:grpSpLocks/>
          </p:cNvGrpSpPr>
          <p:nvPr/>
        </p:nvGrpSpPr>
        <p:grpSpPr bwMode="auto">
          <a:xfrm>
            <a:off x="1619250" y="1625600"/>
            <a:ext cx="1871663" cy="1065213"/>
            <a:chOff x="1429" y="1488"/>
            <a:chExt cx="952" cy="716"/>
          </a:xfrm>
        </p:grpSpPr>
        <p:grpSp>
          <p:nvGrpSpPr>
            <p:cNvPr id="21515" name="Group 68"/>
            <p:cNvGrpSpPr>
              <a:grpSpLocks/>
            </p:cNvGrpSpPr>
            <p:nvPr/>
          </p:nvGrpSpPr>
          <p:grpSpPr bwMode="auto">
            <a:xfrm>
              <a:off x="1429" y="1488"/>
              <a:ext cx="952" cy="627"/>
              <a:chOff x="1429" y="1488"/>
              <a:chExt cx="952" cy="627"/>
            </a:xfrm>
          </p:grpSpPr>
          <p:grpSp>
            <p:nvGrpSpPr>
              <p:cNvPr id="21518" name="Group 69"/>
              <p:cNvGrpSpPr>
                <a:grpSpLocks/>
              </p:cNvGrpSpPr>
              <p:nvPr/>
            </p:nvGrpSpPr>
            <p:grpSpPr bwMode="auto">
              <a:xfrm>
                <a:off x="1429" y="1488"/>
                <a:ext cx="952" cy="436"/>
                <a:chOff x="1429" y="1488"/>
                <a:chExt cx="952" cy="436"/>
              </a:xfrm>
            </p:grpSpPr>
            <p:sp>
              <p:nvSpPr>
                <p:cNvPr id="21522" name="Oval 70"/>
                <p:cNvSpPr>
                  <a:spLocks noChangeArrowheads="1"/>
                </p:cNvSpPr>
                <p:nvPr/>
              </p:nvSpPr>
              <p:spPr bwMode="auto">
                <a:xfrm>
                  <a:off x="1429" y="1488"/>
                  <a:ext cx="952" cy="436"/>
                </a:xfrm>
                <a:prstGeom prst="ellipse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523" name="Oval 71"/>
                <p:cNvSpPr>
                  <a:spLocks noChangeArrowheads="1"/>
                </p:cNvSpPr>
                <p:nvPr/>
              </p:nvSpPr>
              <p:spPr bwMode="auto">
                <a:xfrm>
                  <a:off x="1519" y="1488"/>
                  <a:ext cx="771" cy="436"/>
                </a:xfrm>
                <a:prstGeom prst="ellipse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524" name="Oval 72"/>
                <p:cNvSpPr>
                  <a:spLocks noChangeArrowheads="1"/>
                </p:cNvSpPr>
                <p:nvPr/>
              </p:nvSpPr>
              <p:spPr bwMode="auto">
                <a:xfrm>
                  <a:off x="1610" y="1488"/>
                  <a:ext cx="590" cy="436"/>
                </a:xfrm>
                <a:prstGeom prst="ellipse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1519" name="Line 73"/>
              <p:cNvSpPr>
                <a:spLocks noChangeShapeType="1"/>
              </p:cNvSpPr>
              <p:nvPr/>
            </p:nvSpPr>
            <p:spPr bwMode="auto">
              <a:xfrm flipV="1">
                <a:off x="1927" y="1525"/>
                <a:ext cx="182" cy="181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520" name="Line 74"/>
              <p:cNvSpPr>
                <a:spLocks noChangeShapeType="1"/>
              </p:cNvSpPr>
              <p:nvPr/>
            </p:nvSpPr>
            <p:spPr bwMode="auto">
              <a:xfrm>
                <a:off x="2018" y="1842"/>
                <a:ext cx="91" cy="91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521" name="Line 75"/>
              <p:cNvSpPr>
                <a:spLocks noChangeShapeType="1"/>
              </p:cNvSpPr>
              <p:nvPr/>
            </p:nvSpPr>
            <p:spPr bwMode="auto">
              <a:xfrm>
                <a:off x="2154" y="1979"/>
                <a:ext cx="136" cy="136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1516" name="Rectangle 76"/>
            <p:cNvSpPr>
              <a:spLocks noChangeArrowheads="1"/>
            </p:cNvSpPr>
            <p:nvPr/>
          </p:nvSpPr>
          <p:spPr bwMode="auto">
            <a:xfrm>
              <a:off x="1973" y="1506"/>
              <a:ext cx="22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i="1">
                  <a:solidFill>
                    <a:srgbClr val="FF0000"/>
                  </a:solidFill>
                  <a:ea typeface="宋体" pitchFamily="2" charset="-122"/>
                </a:rPr>
                <a:t>r</a:t>
              </a:r>
            </a:p>
          </p:txBody>
        </p:sp>
        <p:sp>
          <p:nvSpPr>
            <p:cNvPr id="21517" name="Rectangle 77"/>
            <p:cNvSpPr>
              <a:spLocks noChangeArrowheads="1"/>
            </p:cNvSpPr>
            <p:nvPr/>
          </p:nvSpPr>
          <p:spPr bwMode="auto">
            <a:xfrm>
              <a:off x="1927" y="1935"/>
              <a:ext cx="22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rgbClr val="FF0000"/>
                  </a:solidFill>
                  <a:ea typeface="宋体" pitchFamily="2" charset="-122"/>
                </a:rPr>
                <a:t>d</a:t>
              </a:r>
              <a:r>
                <a:rPr lang="en-US" altLang="zh-CN" sz="2000" i="1">
                  <a:solidFill>
                    <a:srgbClr val="FF0000"/>
                  </a:solidFill>
                  <a:ea typeface="宋体" pitchFamily="2" charset="-122"/>
                </a:rPr>
                <a:t>r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5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0" dur="5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500"/>
                                        <p:tgtEl>
                                          <p:spTgt spid="2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20483" grpId="0" autoUpdateAnimBg="0"/>
      <p:bldP spid="20511" grpId="0" autoUpdateAnimBg="0"/>
      <p:bldP spid="19769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611188" y="835025"/>
            <a:ext cx="54149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solidFill>
                  <a:schemeClr val="accent2"/>
                </a:solidFill>
                <a:ea typeface="华文中宋" pitchFamily="2" charset="-122"/>
              </a:rPr>
              <a:t>例</a:t>
            </a:r>
            <a:r>
              <a:rPr kumimoji="1" lang="en-US" altLang="zh-CN" sz="1800">
                <a:solidFill>
                  <a:schemeClr val="accent2"/>
                </a:solidFill>
                <a:ea typeface="华文中宋" pitchFamily="2" charset="-122"/>
              </a:rPr>
              <a:t>    </a:t>
            </a:r>
            <a:r>
              <a:rPr kumimoji="1" lang="zh-CN" altLang="en-US" sz="1800">
                <a:solidFill>
                  <a:schemeClr val="accent2"/>
                </a:solidFill>
                <a:ea typeface="华文中宋" pitchFamily="2" charset="-122"/>
              </a:rPr>
              <a:t>计算质量为</a:t>
            </a:r>
            <a:r>
              <a:rPr kumimoji="1" lang="en-US" altLang="zh-CN" sz="1800" i="1">
                <a:solidFill>
                  <a:schemeClr val="accent2"/>
                </a:solidFill>
                <a:ea typeface="华文中宋" pitchFamily="2" charset="-122"/>
              </a:rPr>
              <a:t>m</a:t>
            </a:r>
            <a:r>
              <a:rPr kumimoji="1" lang="zh-CN" altLang="en-US" sz="1800">
                <a:solidFill>
                  <a:schemeClr val="accent2"/>
                </a:solidFill>
                <a:ea typeface="华文中宋" pitchFamily="2" charset="-122"/>
              </a:rPr>
              <a:t>，长为</a:t>
            </a:r>
            <a:r>
              <a:rPr kumimoji="1" lang="en-US" altLang="zh-CN" sz="1800" i="1">
                <a:solidFill>
                  <a:schemeClr val="accent2"/>
                </a:solidFill>
                <a:ea typeface="华文中宋" pitchFamily="2" charset="-122"/>
              </a:rPr>
              <a:t>l</a:t>
            </a:r>
            <a:r>
              <a:rPr kumimoji="1" lang="zh-CN" altLang="en-US" sz="1800">
                <a:solidFill>
                  <a:schemeClr val="accent2"/>
                </a:solidFill>
                <a:ea typeface="华文中宋" pitchFamily="2" charset="-122"/>
              </a:rPr>
              <a:t>的细棒绕质心转动惯量。</a:t>
            </a:r>
          </a:p>
        </p:txBody>
      </p:sp>
      <p:graphicFrame>
        <p:nvGraphicFramePr>
          <p:cNvPr id="29716" name="Object 20"/>
          <p:cNvGraphicFramePr>
            <a:graphicFrameLocks noChangeAspect="1"/>
          </p:cNvGraphicFramePr>
          <p:nvPr/>
        </p:nvGraphicFramePr>
        <p:xfrm>
          <a:off x="1130300" y="1603375"/>
          <a:ext cx="2201863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7" name="Equation" r:id="rId3" imgW="678357" imgH="259190" progId="Equation.DSMT4">
                  <p:embed/>
                </p:oleObj>
              </mc:Choice>
              <mc:Fallback>
                <p:oleObj name="Equation" r:id="rId3" imgW="678357" imgH="25919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0300" y="1603375"/>
                        <a:ext cx="2201863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54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7" name="Text Box 21"/>
          <p:cNvSpPr txBox="1">
            <a:spLocks noChangeArrowheads="1"/>
          </p:cNvSpPr>
          <p:nvPr/>
        </p:nvSpPr>
        <p:spPr bwMode="auto">
          <a:xfrm>
            <a:off x="957263" y="1203325"/>
            <a:ext cx="28940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ea typeface="华文中宋" pitchFamily="2" charset="-122"/>
              </a:rPr>
              <a:t>解：选质元</a:t>
            </a:r>
            <a:r>
              <a:rPr kumimoji="1" lang="en-US" altLang="zh-CN" sz="1800">
                <a:ea typeface="华文中宋" pitchFamily="2" charset="-122"/>
              </a:rPr>
              <a:t>d</a:t>
            </a:r>
            <a:r>
              <a:rPr kumimoji="1" lang="en-US" altLang="zh-CN" sz="1800" i="1">
                <a:ea typeface="华文中宋" pitchFamily="2" charset="-122"/>
              </a:rPr>
              <a:t>m</a:t>
            </a:r>
            <a:r>
              <a:rPr kumimoji="1" lang="zh-CN" altLang="en-US" sz="1800">
                <a:ea typeface="华文中宋" pitchFamily="2" charset="-122"/>
              </a:rPr>
              <a:t>，如图所示</a:t>
            </a:r>
          </a:p>
        </p:txBody>
      </p:sp>
      <p:graphicFrame>
        <p:nvGraphicFramePr>
          <p:cNvPr id="29718" name="Object 22"/>
          <p:cNvGraphicFramePr>
            <a:graphicFrameLocks noChangeAspect="1"/>
          </p:cNvGraphicFramePr>
          <p:nvPr/>
        </p:nvGraphicFramePr>
        <p:xfrm>
          <a:off x="1095375" y="2051050"/>
          <a:ext cx="2557463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8" name="Equation" r:id="rId5" imgW="1081969" imgH="373301" progId="Equation.DSMT4">
                  <p:embed/>
                </p:oleObj>
              </mc:Choice>
              <mc:Fallback>
                <p:oleObj name="Equation" r:id="rId5" imgW="1081969" imgH="373301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375" y="2051050"/>
                        <a:ext cx="2557463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54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9" name="Object 23"/>
          <p:cNvGraphicFramePr>
            <a:graphicFrameLocks noChangeAspect="1"/>
          </p:cNvGraphicFramePr>
          <p:nvPr/>
        </p:nvGraphicFramePr>
        <p:xfrm>
          <a:off x="1116013" y="2662238"/>
          <a:ext cx="1198562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9" name="Equation" r:id="rId7" imgW="449545" imgH="159926" progId="Equation.DSMT4">
                  <p:embed/>
                </p:oleObj>
              </mc:Choice>
              <mc:Fallback>
                <p:oleObj name="Equation" r:id="rId7" imgW="449545" imgH="159926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662238"/>
                        <a:ext cx="1198562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54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0" name="Object 24"/>
          <p:cNvGraphicFramePr>
            <a:graphicFrameLocks noChangeAspect="1"/>
          </p:cNvGraphicFramePr>
          <p:nvPr/>
        </p:nvGraphicFramePr>
        <p:xfrm>
          <a:off x="1274763" y="2940050"/>
          <a:ext cx="455930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0" name="Equation" r:id="rId9" imgW="1562135" imgH="457294" progId="Equation.DSMT4">
                  <p:embed/>
                </p:oleObj>
              </mc:Choice>
              <mc:Fallback>
                <p:oleObj name="Equation" r:id="rId9" imgW="1562135" imgH="457294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4763" y="2940050"/>
                        <a:ext cx="4559300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54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1" name="Object 25"/>
          <p:cNvGraphicFramePr>
            <a:graphicFrameLocks noChangeAspect="1"/>
          </p:cNvGraphicFramePr>
          <p:nvPr/>
        </p:nvGraphicFramePr>
        <p:xfrm>
          <a:off x="3492500" y="3795713"/>
          <a:ext cx="178435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1" name="Equation" r:id="rId11" imgW="678357" imgH="358030" progId="Equation.DSMT4">
                  <p:embed/>
                </p:oleObj>
              </mc:Choice>
              <mc:Fallback>
                <p:oleObj name="Equation" r:id="rId11" imgW="678357" imgH="35803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3795713"/>
                        <a:ext cx="178435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5400" algn="ctr" rotWithShape="0">
                                <a:schemeClr val="folHlink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5219700" y="1058863"/>
            <a:ext cx="3744913" cy="1924050"/>
            <a:chOff x="3288" y="890"/>
            <a:chExt cx="2359" cy="1616"/>
          </a:xfrm>
        </p:grpSpPr>
        <p:sp>
          <p:nvSpPr>
            <p:cNvPr id="22538" name="Line 4"/>
            <p:cNvSpPr>
              <a:spLocks noChangeShapeType="1"/>
            </p:cNvSpPr>
            <p:nvPr/>
          </p:nvSpPr>
          <p:spPr bwMode="auto">
            <a:xfrm flipV="1">
              <a:off x="4296" y="1080"/>
              <a:ext cx="0" cy="142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39" name="Line 6"/>
            <p:cNvSpPr>
              <a:spLocks noChangeShapeType="1"/>
            </p:cNvSpPr>
            <p:nvPr/>
          </p:nvSpPr>
          <p:spPr bwMode="auto">
            <a:xfrm>
              <a:off x="5170" y="1793"/>
              <a:ext cx="41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40" name="Rectangle 7"/>
            <p:cNvSpPr>
              <a:spLocks noChangeArrowheads="1"/>
            </p:cNvSpPr>
            <p:nvPr/>
          </p:nvSpPr>
          <p:spPr bwMode="auto">
            <a:xfrm>
              <a:off x="4059" y="1425"/>
              <a:ext cx="228" cy="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800" b="0" i="1">
                  <a:solidFill>
                    <a:srgbClr val="000000"/>
                  </a:solidFill>
                  <a:ea typeface="宋体" pitchFamily="2" charset="-122"/>
                </a:rPr>
                <a:t>o</a:t>
              </a:r>
            </a:p>
          </p:txBody>
        </p:sp>
        <p:sp>
          <p:nvSpPr>
            <p:cNvPr id="22541" name="Rectangle 8"/>
            <p:cNvSpPr>
              <a:spLocks noChangeArrowheads="1"/>
            </p:cNvSpPr>
            <p:nvPr/>
          </p:nvSpPr>
          <p:spPr bwMode="auto">
            <a:xfrm>
              <a:off x="5432" y="1706"/>
              <a:ext cx="215" cy="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800" b="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</a:p>
          </p:txBody>
        </p:sp>
        <p:sp>
          <p:nvSpPr>
            <p:cNvPr id="22542" name="Rectangle 9"/>
            <p:cNvSpPr>
              <a:spLocks noChangeArrowheads="1"/>
            </p:cNvSpPr>
            <p:nvPr/>
          </p:nvSpPr>
          <p:spPr bwMode="auto">
            <a:xfrm>
              <a:off x="4083" y="890"/>
              <a:ext cx="203" cy="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800" b="0" i="1">
                  <a:solidFill>
                    <a:srgbClr val="000000"/>
                  </a:solidFill>
                  <a:ea typeface="宋体" pitchFamily="2" charset="-122"/>
                </a:rPr>
                <a:t>z</a:t>
              </a:r>
            </a:p>
          </p:txBody>
        </p:sp>
        <p:sp>
          <p:nvSpPr>
            <p:cNvPr id="22543" name="Rectangle 13"/>
            <p:cNvSpPr>
              <a:spLocks noChangeArrowheads="1"/>
            </p:cNvSpPr>
            <p:nvPr/>
          </p:nvSpPr>
          <p:spPr bwMode="auto">
            <a:xfrm>
              <a:off x="4821" y="1917"/>
              <a:ext cx="327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>
                  <a:solidFill>
                    <a:srgbClr val="FF3300"/>
                  </a:solidFill>
                  <a:ea typeface="宋体" pitchFamily="2" charset="-122"/>
                </a:rPr>
                <a:t>d</a:t>
              </a:r>
              <a:r>
                <a:rPr kumimoji="1" lang="en-US" altLang="zh-CN" i="1">
                  <a:solidFill>
                    <a:srgbClr val="FF3300"/>
                  </a:solidFill>
                  <a:ea typeface="宋体" pitchFamily="2" charset="-122"/>
                </a:rPr>
                <a:t>x</a:t>
              </a:r>
            </a:p>
          </p:txBody>
        </p:sp>
        <p:sp>
          <p:nvSpPr>
            <p:cNvPr id="22544" name="Rectangle 14"/>
            <p:cNvSpPr>
              <a:spLocks noChangeArrowheads="1"/>
            </p:cNvSpPr>
            <p:nvPr/>
          </p:nvSpPr>
          <p:spPr bwMode="auto">
            <a:xfrm>
              <a:off x="4758" y="1418"/>
              <a:ext cx="481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i="1">
                  <a:solidFill>
                    <a:srgbClr val="FF3300"/>
                  </a:solidFill>
                  <a:ea typeface="宋体" pitchFamily="2" charset="-122"/>
                </a:rPr>
                <a:t>dm</a:t>
              </a:r>
              <a:endParaRPr kumimoji="1" lang="en-US" altLang="zh-CN" i="1">
                <a:ea typeface="宋体" pitchFamily="2" charset="-122"/>
              </a:endParaRPr>
            </a:p>
          </p:txBody>
        </p:sp>
        <p:sp>
          <p:nvSpPr>
            <p:cNvPr id="22545" name="Line 15"/>
            <p:cNvSpPr>
              <a:spLocks noChangeShapeType="1"/>
            </p:cNvSpPr>
            <p:nvPr/>
          </p:nvSpPr>
          <p:spPr bwMode="auto">
            <a:xfrm>
              <a:off x="4921" y="1794"/>
              <a:ext cx="0" cy="19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46" name="Line 16"/>
            <p:cNvSpPr>
              <a:spLocks noChangeShapeType="1"/>
            </p:cNvSpPr>
            <p:nvPr/>
          </p:nvSpPr>
          <p:spPr bwMode="auto">
            <a:xfrm>
              <a:off x="5012" y="1794"/>
              <a:ext cx="0" cy="19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47" name="Line 17"/>
            <p:cNvSpPr>
              <a:spLocks noChangeShapeType="1"/>
            </p:cNvSpPr>
            <p:nvPr/>
          </p:nvSpPr>
          <p:spPr bwMode="auto">
            <a:xfrm>
              <a:off x="4257" y="1882"/>
              <a:ext cx="672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48" name="Line 18"/>
            <p:cNvSpPr>
              <a:spLocks noChangeShapeType="1"/>
            </p:cNvSpPr>
            <p:nvPr/>
          </p:nvSpPr>
          <p:spPr bwMode="auto">
            <a:xfrm>
              <a:off x="5012" y="1925"/>
              <a:ext cx="237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49" name="Rectangle 19"/>
            <p:cNvSpPr>
              <a:spLocks noChangeArrowheads="1"/>
            </p:cNvSpPr>
            <p:nvPr/>
          </p:nvSpPr>
          <p:spPr bwMode="auto">
            <a:xfrm>
              <a:off x="4461" y="1762"/>
              <a:ext cx="228" cy="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800" i="1">
                  <a:solidFill>
                    <a:srgbClr val="FF3300"/>
                  </a:solidFill>
                  <a:ea typeface="宋体" pitchFamily="2" charset="-122"/>
                </a:rPr>
                <a:t>x</a:t>
              </a:r>
              <a:endParaRPr kumimoji="1" lang="en-US" altLang="zh-CN" b="0" i="1">
                <a:ea typeface="宋体" pitchFamily="2" charset="-122"/>
              </a:endParaRPr>
            </a:p>
          </p:txBody>
        </p:sp>
        <p:sp>
          <p:nvSpPr>
            <p:cNvPr id="22550" name="Rectangle 24"/>
            <p:cNvSpPr>
              <a:spLocks noChangeArrowheads="1"/>
            </p:cNvSpPr>
            <p:nvPr/>
          </p:nvSpPr>
          <p:spPr bwMode="auto">
            <a:xfrm>
              <a:off x="3288" y="1558"/>
              <a:ext cx="1996" cy="3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51" name="Rectangle 25"/>
            <p:cNvSpPr>
              <a:spLocks noChangeArrowheads="1"/>
            </p:cNvSpPr>
            <p:nvPr/>
          </p:nvSpPr>
          <p:spPr bwMode="auto">
            <a:xfrm>
              <a:off x="4921" y="1558"/>
              <a:ext cx="91" cy="38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97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7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2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2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2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2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autoUpdateAnimBg="0"/>
      <p:bldP spid="2971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6400800" y="2301875"/>
            <a:ext cx="2133600" cy="1855788"/>
            <a:chOff x="4032" y="2016"/>
            <a:chExt cx="1344" cy="1559"/>
          </a:xfrm>
        </p:grpSpPr>
        <p:grpSp>
          <p:nvGrpSpPr>
            <p:cNvPr id="23565" name="Group 29"/>
            <p:cNvGrpSpPr>
              <a:grpSpLocks/>
            </p:cNvGrpSpPr>
            <p:nvPr/>
          </p:nvGrpSpPr>
          <p:grpSpPr bwMode="auto">
            <a:xfrm>
              <a:off x="4032" y="2036"/>
              <a:ext cx="1344" cy="1539"/>
              <a:chOff x="4032" y="2036"/>
              <a:chExt cx="1344" cy="1539"/>
            </a:xfrm>
          </p:grpSpPr>
          <p:sp>
            <p:nvSpPr>
              <p:cNvPr id="23568" name="AutoShape 7"/>
              <p:cNvSpPr>
                <a:spLocks noChangeArrowheads="1"/>
              </p:cNvSpPr>
              <p:nvPr/>
            </p:nvSpPr>
            <p:spPr bwMode="auto">
              <a:xfrm>
                <a:off x="4032" y="2036"/>
                <a:ext cx="1344" cy="1539"/>
              </a:xfrm>
              <a:prstGeom prst="can">
                <a:avLst>
                  <a:gd name="adj" fmla="val 50002"/>
                </a:avLst>
              </a:prstGeom>
              <a:gradFill rotWithShape="0">
                <a:gsLst>
                  <a:gs pos="0">
                    <a:schemeClr val="accent1"/>
                  </a:gs>
                  <a:gs pos="100000">
                    <a:srgbClr val="6D7276"/>
                  </a:gs>
                </a:gsLst>
                <a:lin ang="0" scaled="1"/>
              </a:gradFill>
              <a:ln w="9525">
                <a:solidFill>
                  <a:srgbClr val="009900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/>
                <a:r>
                  <a:rPr kumimoji="1" lang="en-US" altLang="zh-CN" i="1">
                    <a:ea typeface="宋体" pitchFamily="2" charset="-122"/>
                  </a:rPr>
                  <a:t>m</a:t>
                </a:r>
                <a:endParaRPr kumimoji="1" lang="en-US" altLang="zh-CN" b="0" i="1">
                  <a:ea typeface="宋体" pitchFamily="2" charset="-122"/>
                </a:endParaRPr>
              </a:p>
            </p:txBody>
          </p:sp>
          <p:sp>
            <p:nvSpPr>
              <p:cNvPr id="23569" name="Line 26"/>
              <p:cNvSpPr>
                <a:spLocks noChangeShapeType="1"/>
              </p:cNvSpPr>
              <p:nvPr/>
            </p:nvSpPr>
            <p:spPr bwMode="auto">
              <a:xfrm>
                <a:off x="4704" y="2640"/>
                <a:ext cx="672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570" name="Rectangle 27"/>
              <p:cNvSpPr>
                <a:spLocks noChangeArrowheads="1"/>
              </p:cNvSpPr>
              <p:nvPr/>
            </p:nvSpPr>
            <p:spPr bwMode="auto">
              <a:xfrm>
                <a:off x="4896" y="2352"/>
                <a:ext cx="244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i="1">
                    <a:ea typeface="幼圆" pitchFamily="49" charset="-122"/>
                  </a:rPr>
                  <a:t>R</a:t>
                </a:r>
              </a:p>
            </p:txBody>
          </p:sp>
        </p:grpSp>
        <p:sp>
          <p:nvSpPr>
            <p:cNvPr id="23566" name="Line 23"/>
            <p:cNvSpPr>
              <a:spLocks noChangeShapeType="1"/>
            </p:cNvSpPr>
            <p:nvPr/>
          </p:nvSpPr>
          <p:spPr bwMode="auto">
            <a:xfrm>
              <a:off x="4032" y="2256"/>
              <a:ext cx="0" cy="115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89" name="Rectangle 25"/>
            <p:cNvSpPr>
              <a:spLocks noChangeArrowheads="1"/>
            </p:cNvSpPr>
            <p:nvPr/>
          </p:nvSpPr>
          <p:spPr bwMode="auto">
            <a:xfrm>
              <a:off x="4032" y="2016"/>
              <a:ext cx="304" cy="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kumimoji="1" lang="en-US" altLang="zh-CN" sz="2800" b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幼圆" pitchFamily="49" charset="-122"/>
                  <a:ea typeface="幼圆" pitchFamily="49" charset="-122"/>
                </a:rPr>
                <a:t>J</a:t>
              </a:r>
              <a:r>
                <a:rPr kumimoji="1" lang="en-US" altLang="zh-CN" sz="2800" b="0" baseline="-2500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幼圆" pitchFamily="49" charset="-122"/>
                  <a:ea typeface="幼圆" pitchFamily="49" charset="-122"/>
                </a:rPr>
                <a:t>z</a:t>
              </a:r>
            </a:p>
          </p:txBody>
        </p:sp>
      </p:grpSp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541338" y="835025"/>
            <a:ext cx="3886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solidFill>
                  <a:srgbClr val="FF3300"/>
                </a:solidFill>
                <a:ea typeface="华文中宋" pitchFamily="2" charset="-122"/>
              </a:rPr>
              <a:t>（</a:t>
            </a:r>
            <a:r>
              <a:rPr kumimoji="1" lang="en-US" altLang="zh-CN" sz="1800">
                <a:solidFill>
                  <a:srgbClr val="FF3300"/>
                </a:solidFill>
                <a:ea typeface="华文中宋" pitchFamily="2" charset="-122"/>
              </a:rPr>
              <a:t>2</a:t>
            </a:r>
            <a:r>
              <a:rPr kumimoji="1" lang="zh-CN" altLang="en-US" sz="1800">
                <a:solidFill>
                  <a:srgbClr val="FF3300"/>
                </a:solidFill>
                <a:ea typeface="华文中宋" pitchFamily="2" charset="-122"/>
              </a:rPr>
              <a:t>）平行轴定理计算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309563" y="1133475"/>
            <a:ext cx="7934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solidFill>
                  <a:srgbClr val="000000"/>
                </a:solidFill>
                <a:ea typeface="华文中宋" pitchFamily="2" charset="-122"/>
              </a:rPr>
              <a:t>若刚体对过质心的轴的转动惯量为</a:t>
            </a:r>
            <a:r>
              <a:rPr kumimoji="1" lang="en-US" altLang="zh-CN" sz="1800" i="1">
                <a:solidFill>
                  <a:srgbClr val="000000"/>
                </a:solidFill>
                <a:ea typeface="华文中宋" pitchFamily="2" charset="-122"/>
              </a:rPr>
              <a:t>J</a:t>
            </a:r>
            <a:r>
              <a:rPr kumimoji="1" lang="en-US" altLang="zh-CN" sz="1800" i="1" baseline="-25000">
                <a:solidFill>
                  <a:srgbClr val="000000"/>
                </a:solidFill>
                <a:ea typeface="华文中宋" pitchFamily="2" charset="-122"/>
              </a:rPr>
              <a:t>c</a:t>
            </a:r>
            <a:r>
              <a:rPr kumimoji="1" lang="zh-CN" altLang="en-US" sz="1800">
                <a:solidFill>
                  <a:srgbClr val="000000"/>
                </a:solidFill>
                <a:ea typeface="华文中宋" pitchFamily="2" charset="-122"/>
              </a:rPr>
              <a:t>，则刚体对与该轴相距为</a:t>
            </a:r>
            <a:r>
              <a:rPr kumimoji="1" lang="en-US" altLang="zh-CN" sz="1800" i="1">
                <a:solidFill>
                  <a:srgbClr val="000000"/>
                </a:solidFill>
                <a:ea typeface="华文中宋" pitchFamily="2" charset="-122"/>
              </a:rPr>
              <a:t>d</a:t>
            </a:r>
            <a:r>
              <a:rPr kumimoji="1" lang="zh-CN" altLang="en-US" sz="1800">
                <a:solidFill>
                  <a:srgbClr val="000000"/>
                </a:solidFill>
                <a:ea typeface="华文中宋" pitchFamily="2" charset="-122"/>
              </a:rPr>
              <a:t>的平行轴</a:t>
            </a:r>
            <a:r>
              <a:rPr kumimoji="1" lang="en-US" altLang="zh-CN" sz="1800" i="1">
                <a:solidFill>
                  <a:srgbClr val="000000"/>
                </a:solidFill>
                <a:ea typeface="华文中宋" pitchFamily="2" charset="-122"/>
              </a:rPr>
              <a:t>z</a:t>
            </a:r>
            <a:r>
              <a:rPr kumimoji="1" lang="zh-CN" altLang="en-US" sz="1800">
                <a:solidFill>
                  <a:srgbClr val="000000"/>
                </a:solidFill>
                <a:ea typeface="华文中宋" pitchFamily="2" charset="-122"/>
              </a:rPr>
              <a:t>的转动惯量</a:t>
            </a:r>
            <a:r>
              <a:rPr kumimoji="1" lang="en-US" altLang="zh-CN" sz="1800" i="1">
                <a:solidFill>
                  <a:srgbClr val="000000"/>
                </a:solidFill>
                <a:ea typeface="华文中宋" pitchFamily="2" charset="-122"/>
              </a:rPr>
              <a:t>J</a:t>
            </a:r>
            <a:r>
              <a:rPr kumimoji="1" lang="en-US" altLang="zh-CN" sz="1800" i="1" baseline="-25000">
                <a:solidFill>
                  <a:srgbClr val="000000"/>
                </a:solidFill>
                <a:ea typeface="华文中宋" pitchFamily="2" charset="-122"/>
              </a:rPr>
              <a:t>z</a:t>
            </a:r>
            <a:r>
              <a:rPr kumimoji="1" lang="zh-CN" altLang="en-US" sz="1800">
                <a:solidFill>
                  <a:srgbClr val="000000"/>
                </a:solidFill>
                <a:ea typeface="华文中宋" pitchFamily="2" charset="-122"/>
              </a:rPr>
              <a:t>是</a:t>
            </a:r>
          </a:p>
        </p:txBody>
      </p:sp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2987675" y="1754188"/>
          <a:ext cx="29003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5" name="Equation" r:id="rId3" imgW="868893" imgH="198104" progId="Equation.DSMT4">
                  <p:embed/>
                </p:oleObj>
              </mc:Choice>
              <mc:Fallback>
                <p:oleObj name="Equation" r:id="rId3" imgW="868893" imgH="19810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1754188"/>
                        <a:ext cx="2900363" cy="571500"/>
                      </a:xfrm>
                      <a:prstGeom prst="rect">
                        <a:avLst/>
                      </a:prstGeom>
                      <a:noFill/>
                      <a:ln w="76200" cmpd="tri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CC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7467600" y="2301875"/>
            <a:ext cx="482600" cy="1674813"/>
            <a:chOff x="4704" y="2016"/>
            <a:chExt cx="304" cy="1407"/>
          </a:xfrm>
        </p:grpSpPr>
        <p:sp>
          <p:nvSpPr>
            <p:cNvPr id="23562" name="Line 8"/>
            <p:cNvSpPr>
              <a:spLocks noChangeShapeType="1"/>
            </p:cNvSpPr>
            <p:nvPr/>
          </p:nvSpPr>
          <p:spPr bwMode="auto">
            <a:xfrm flipV="1">
              <a:off x="4704" y="2256"/>
              <a:ext cx="0" cy="36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563" name="Line 9"/>
            <p:cNvSpPr>
              <a:spLocks noChangeShapeType="1"/>
            </p:cNvSpPr>
            <p:nvPr/>
          </p:nvSpPr>
          <p:spPr bwMode="auto">
            <a:xfrm>
              <a:off x="4704" y="3216"/>
              <a:ext cx="0" cy="20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88" name="Rectangle 24"/>
            <p:cNvSpPr>
              <a:spLocks noChangeArrowheads="1"/>
            </p:cNvSpPr>
            <p:nvPr/>
          </p:nvSpPr>
          <p:spPr bwMode="auto">
            <a:xfrm>
              <a:off x="4704" y="2016"/>
              <a:ext cx="304" cy="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kumimoji="1" lang="en-US" altLang="zh-CN" sz="2800" i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幼圆" pitchFamily="49" charset="-122"/>
                </a:rPr>
                <a:t>J</a:t>
              </a:r>
              <a:r>
                <a:rPr kumimoji="1" lang="en-US" altLang="zh-CN" sz="2800" i="1" baseline="-2500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幼圆" pitchFamily="49" charset="-122"/>
                </a:rPr>
                <a:t>c</a:t>
              </a:r>
            </a:p>
          </p:txBody>
        </p:sp>
      </p:grpSp>
      <p:graphicFrame>
        <p:nvGraphicFramePr>
          <p:cNvPr id="11295" name="Object 31"/>
          <p:cNvGraphicFramePr>
            <a:graphicFrameLocks noChangeAspect="1"/>
          </p:cNvGraphicFramePr>
          <p:nvPr/>
        </p:nvGraphicFramePr>
        <p:xfrm>
          <a:off x="2268538" y="2409825"/>
          <a:ext cx="189865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6" name="公式" r:id="rId5" imgW="716209" imgH="358030" progId="Equation.3">
                  <p:embed/>
                </p:oleObj>
              </mc:Choice>
              <mc:Fallback>
                <p:oleObj name="公式" r:id="rId5" imgW="716209" imgH="35803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409825"/>
                        <a:ext cx="189865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96" name="Object 32"/>
          <p:cNvGraphicFramePr>
            <a:graphicFrameLocks noChangeAspect="1"/>
          </p:cNvGraphicFramePr>
          <p:nvPr/>
        </p:nvGraphicFramePr>
        <p:xfrm>
          <a:off x="688975" y="3244850"/>
          <a:ext cx="342265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7" name="公式" r:id="rId7" imgW="1150443" imgH="358030" progId="Equation.3">
                  <p:embed/>
                </p:oleObj>
              </mc:Choice>
              <mc:Fallback>
                <p:oleObj name="公式" r:id="rId7" imgW="1150443" imgH="35803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975" y="3244850"/>
                        <a:ext cx="3422650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97" name="Object 33"/>
          <p:cNvGraphicFramePr>
            <a:graphicFrameLocks noChangeAspect="1"/>
          </p:cNvGraphicFramePr>
          <p:nvPr/>
        </p:nvGraphicFramePr>
        <p:xfrm>
          <a:off x="4002088" y="3243263"/>
          <a:ext cx="1674812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8" name="公式" r:id="rId9" imgW="525674" imgH="358030" progId="Equation.3">
                  <p:embed/>
                </p:oleObj>
              </mc:Choice>
              <mc:Fallback>
                <p:oleObj name="公式" r:id="rId9" imgW="525674" imgH="35803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2088" y="3243263"/>
                        <a:ext cx="1674812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autoUpdateAnimBg="0"/>
      <p:bldP spid="11267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633413" y="771525"/>
            <a:ext cx="561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solidFill>
                  <a:schemeClr val="accent2"/>
                </a:solidFill>
                <a:ea typeface="华文中宋" pitchFamily="2" charset="-122"/>
              </a:rPr>
              <a:t>例</a:t>
            </a:r>
            <a:r>
              <a:rPr kumimoji="1" lang="en-US" altLang="zh-CN" sz="1800">
                <a:solidFill>
                  <a:schemeClr val="accent2"/>
                </a:solidFill>
                <a:ea typeface="华文中宋" pitchFamily="2" charset="-122"/>
              </a:rPr>
              <a:t>   </a:t>
            </a:r>
            <a:r>
              <a:rPr kumimoji="1" lang="zh-CN" altLang="en-US" sz="1800">
                <a:solidFill>
                  <a:schemeClr val="accent2"/>
                </a:solidFill>
                <a:ea typeface="华文中宋" pitchFamily="2" charset="-122"/>
              </a:rPr>
              <a:t>计算质量为</a:t>
            </a:r>
            <a:r>
              <a:rPr kumimoji="1" lang="en-US" altLang="zh-CN" sz="1800" i="1">
                <a:solidFill>
                  <a:schemeClr val="accent2"/>
                </a:solidFill>
                <a:ea typeface="华文中宋" pitchFamily="2" charset="-122"/>
              </a:rPr>
              <a:t>m</a:t>
            </a:r>
            <a:r>
              <a:rPr kumimoji="1" lang="zh-CN" altLang="en-US" sz="1800">
                <a:solidFill>
                  <a:schemeClr val="accent2"/>
                </a:solidFill>
                <a:ea typeface="华文中宋" pitchFamily="2" charset="-122"/>
              </a:rPr>
              <a:t>，长为</a:t>
            </a:r>
            <a:r>
              <a:rPr kumimoji="1" lang="en-US" altLang="zh-CN" sz="1800" i="1">
                <a:solidFill>
                  <a:schemeClr val="accent2"/>
                </a:solidFill>
                <a:ea typeface="华文中宋" pitchFamily="2" charset="-122"/>
              </a:rPr>
              <a:t>l</a:t>
            </a:r>
            <a:r>
              <a:rPr kumimoji="1" lang="zh-CN" altLang="en-US" sz="1800">
                <a:solidFill>
                  <a:schemeClr val="accent2"/>
                </a:solidFill>
                <a:ea typeface="华文中宋" pitchFamily="2" charset="-122"/>
              </a:rPr>
              <a:t>的细棒绕一端的转动惯量。</a:t>
            </a:r>
          </a:p>
        </p:txBody>
      </p:sp>
      <p:graphicFrame>
        <p:nvGraphicFramePr>
          <p:cNvPr id="10260" name="Object 20"/>
          <p:cNvGraphicFramePr>
            <a:graphicFrameLocks noChangeAspect="1"/>
          </p:cNvGraphicFramePr>
          <p:nvPr/>
        </p:nvGraphicFramePr>
        <p:xfrm>
          <a:off x="1658938" y="1427163"/>
          <a:ext cx="166370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7" name="Equation" r:id="rId3" imgW="647735" imgH="190469" progId="Equation.DSMT4">
                  <p:embed/>
                </p:oleObj>
              </mc:Choice>
              <mc:Fallback>
                <p:oleObj name="Equation" r:id="rId3" imgW="647735" imgH="190469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8938" y="1427163"/>
                        <a:ext cx="1663700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54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457200" y="1050925"/>
            <a:ext cx="2819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</a:rPr>
              <a:t>解：选质元</a:t>
            </a:r>
            <a:r>
              <a:rPr kumimoji="1" lang="en-US" altLang="zh-CN" sz="1800" dirty="0" err="1"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</a:rPr>
              <a:t>d</a:t>
            </a:r>
            <a:r>
              <a:rPr kumimoji="1" lang="en-US" altLang="zh-CN" sz="1800" i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</a:rPr>
              <a:t>m</a:t>
            </a:r>
            <a:r>
              <a:rPr kumimoji="1" lang="zh-CN" altLang="en-US" sz="1800" dirty="0"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</a:rPr>
              <a:t>如图所示</a:t>
            </a:r>
            <a:endParaRPr kumimoji="1" lang="zh-CN" altLang="en-US" sz="1800" b="0" dirty="0">
              <a:ea typeface="华文中宋" pitchFamily="2" charset="-122"/>
            </a:endParaRPr>
          </a:p>
        </p:txBody>
      </p:sp>
      <p:graphicFrame>
        <p:nvGraphicFramePr>
          <p:cNvPr id="10262" name="Object 22"/>
          <p:cNvGraphicFramePr>
            <a:graphicFrameLocks noChangeAspect="1"/>
          </p:cNvGraphicFramePr>
          <p:nvPr/>
        </p:nvGraphicFramePr>
        <p:xfrm>
          <a:off x="1435100" y="1666875"/>
          <a:ext cx="2790825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8" name="Equation" r:id="rId5" imgW="1081969" imgH="373301" progId="Equation.DSMT4">
                  <p:embed/>
                </p:oleObj>
              </mc:Choice>
              <mc:Fallback>
                <p:oleObj name="Equation" r:id="rId5" imgW="1081969" imgH="373301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5100" y="1666875"/>
                        <a:ext cx="2790825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54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3" name="Object 23"/>
          <p:cNvGraphicFramePr>
            <a:graphicFrameLocks noChangeAspect="1"/>
          </p:cNvGraphicFramePr>
          <p:nvPr/>
        </p:nvGraphicFramePr>
        <p:xfrm>
          <a:off x="1609725" y="2235200"/>
          <a:ext cx="113347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9" name="Equation" r:id="rId7" imgW="434234" imgH="182833" progId="Equation.DSMT4">
                  <p:embed/>
                </p:oleObj>
              </mc:Choice>
              <mc:Fallback>
                <p:oleObj name="Equation" r:id="rId7" imgW="434234" imgH="182833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9725" y="2235200"/>
                        <a:ext cx="1133475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54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4" name="Object 24"/>
          <p:cNvGraphicFramePr>
            <a:graphicFrameLocks noChangeAspect="1"/>
          </p:cNvGraphicFramePr>
          <p:nvPr/>
        </p:nvGraphicFramePr>
        <p:xfrm>
          <a:off x="1093788" y="2643188"/>
          <a:ext cx="378777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0" name="Equation" r:id="rId9" imgW="1554480" imgH="373301" progId="Equation.DSMT4">
                  <p:embed/>
                </p:oleObj>
              </mc:Choice>
              <mc:Fallback>
                <p:oleObj name="Equation" r:id="rId9" imgW="1554480" imgH="373301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788" y="2643188"/>
                        <a:ext cx="3787775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54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5" name="Object 25"/>
          <p:cNvGraphicFramePr>
            <a:graphicFrameLocks noChangeAspect="1"/>
          </p:cNvGraphicFramePr>
          <p:nvPr/>
        </p:nvGraphicFramePr>
        <p:xfrm>
          <a:off x="5624513" y="2663825"/>
          <a:ext cx="1438275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1" name="Equation" r:id="rId11" imgW="601803" imgH="373301" progId="Equation.DSMT4">
                  <p:embed/>
                </p:oleObj>
              </mc:Choice>
              <mc:Fallback>
                <p:oleObj name="Equation" r:id="rId11" imgW="601803" imgH="373301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4513" y="2663825"/>
                        <a:ext cx="1438275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5400" algn="ctr" rotWithShape="0">
                                <a:schemeClr val="folHlink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0" name="Object 30"/>
          <p:cNvGraphicFramePr>
            <a:graphicFrameLocks noChangeAspect="1"/>
          </p:cNvGraphicFramePr>
          <p:nvPr/>
        </p:nvGraphicFramePr>
        <p:xfrm>
          <a:off x="1160463" y="3219450"/>
          <a:ext cx="6246812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2" name="Equation" r:id="rId13" imgW="2659415" imgH="449659" progId="Equation.DSMT4">
                  <p:embed/>
                </p:oleObj>
              </mc:Choice>
              <mc:Fallback>
                <p:oleObj name="Equation" r:id="rId13" imgW="2659415" imgH="449659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0463" y="3219450"/>
                        <a:ext cx="6246812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5400" algn="ctr" rotWithShape="0">
                                <a:schemeClr val="folHlink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707" name="Rectangle 27"/>
          <p:cNvSpPr>
            <a:spLocks noChangeArrowheads="1"/>
          </p:cNvSpPr>
          <p:nvPr/>
        </p:nvSpPr>
        <p:spPr bwMode="auto">
          <a:xfrm>
            <a:off x="323850" y="4227513"/>
            <a:ext cx="21605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zh-CN" altLang="en-US" sz="1800">
                <a:ea typeface="华文中宋" pitchFamily="2" charset="-122"/>
              </a:rPr>
              <a:t>平行轴定理计算：</a:t>
            </a:r>
          </a:p>
        </p:txBody>
      </p:sp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2233613" y="4138613"/>
          <a:ext cx="21939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3" name="公式" r:id="rId15" imgW="868893" imgH="198104" progId="Equation.3">
                  <p:embed/>
                </p:oleObj>
              </mc:Choice>
              <mc:Fallback>
                <p:oleObj name="公式" r:id="rId15" imgW="868893" imgH="19810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3613" y="4138613"/>
                        <a:ext cx="219392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76200" cmpd="tri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0"/>
          <p:cNvGraphicFramePr>
            <a:graphicFrameLocks noChangeAspect="1"/>
          </p:cNvGraphicFramePr>
          <p:nvPr/>
        </p:nvGraphicFramePr>
        <p:xfrm>
          <a:off x="4310063" y="3948113"/>
          <a:ext cx="2540000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4" name="Equation" r:id="rId17" imgW="1120246" imgH="449659" progId="Equation.DSMT4">
                  <p:embed/>
                </p:oleObj>
              </mc:Choice>
              <mc:Fallback>
                <p:oleObj name="Equation" r:id="rId17" imgW="1120246" imgH="449659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0063" y="3948113"/>
                        <a:ext cx="2540000" cy="79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5400" algn="ctr" rotWithShape="0">
                                <a:schemeClr val="folHlink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48"/>
          <p:cNvGrpSpPr>
            <a:grpSpLocks/>
          </p:cNvGrpSpPr>
          <p:nvPr/>
        </p:nvGrpSpPr>
        <p:grpSpPr bwMode="auto">
          <a:xfrm>
            <a:off x="4572000" y="1479550"/>
            <a:ext cx="4356100" cy="660400"/>
            <a:chOff x="1979627" y="1376314"/>
            <a:chExt cx="4389441" cy="814502"/>
          </a:xfrm>
        </p:grpSpPr>
        <p:sp>
          <p:nvSpPr>
            <p:cNvPr id="31" name="矩形 30"/>
            <p:cNvSpPr/>
            <p:nvPr/>
          </p:nvSpPr>
          <p:spPr>
            <a:xfrm>
              <a:off x="2309567" y="1677971"/>
              <a:ext cx="3355942" cy="12254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rgbClr val="00B0F0"/>
              </a:solidFill>
            </a:ln>
            <a:effectLst>
              <a:innerShdw blurRad="63500" dist="50800" dir="54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800" b="0"/>
            </a:p>
          </p:txBody>
        </p:sp>
        <p:grpSp>
          <p:nvGrpSpPr>
            <p:cNvPr id="24602" name="组合 31"/>
            <p:cNvGrpSpPr>
              <a:grpSpLocks/>
            </p:cNvGrpSpPr>
            <p:nvPr/>
          </p:nvGrpSpPr>
          <p:grpSpPr bwMode="auto">
            <a:xfrm>
              <a:off x="1979627" y="1376314"/>
              <a:ext cx="4389441" cy="814502"/>
              <a:chOff x="3808427" y="1659118"/>
              <a:chExt cx="4389441" cy="814502"/>
            </a:xfrm>
          </p:grpSpPr>
          <p:cxnSp>
            <p:nvCxnSpPr>
              <p:cNvPr id="33" name="直接连接符 32"/>
              <p:cNvCxnSpPr/>
              <p:nvPr/>
            </p:nvCxnSpPr>
            <p:spPr>
              <a:xfrm>
                <a:off x="4137955" y="1698277"/>
                <a:ext cx="0" cy="58346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/>
              <p:cNvCxnSpPr/>
              <p:nvPr/>
            </p:nvCxnSpPr>
            <p:spPr>
              <a:xfrm>
                <a:off x="7503620" y="2083991"/>
                <a:ext cx="566276" cy="0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605" name="TextBox 34"/>
              <p:cNvSpPr txBox="1">
                <a:spLocks noChangeArrowheads="1"/>
              </p:cNvSpPr>
              <p:nvPr/>
            </p:nvSpPr>
            <p:spPr bwMode="auto">
              <a:xfrm>
                <a:off x="7908406" y="1960661"/>
                <a:ext cx="289462" cy="4562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1800" b="0" i="1">
                    <a:ea typeface="宋体" pitchFamily="2" charset="-122"/>
                  </a:rPr>
                  <a:t>x</a:t>
                </a:r>
                <a:endParaRPr lang="zh-CN" altLang="en-US" sz="1800" b="0" i="1">
                  <a:ea typeface="宋体" pitchFamily="2" charset="-122"/>
                </a:endParaRPr>
              </a:p>
            </p:txBody>
          </p:sp>
          <p:sp>
            <p:nvSpPr>
              <p:cNvPr id="24606" name="TextBox 35"/>
              <p:cNvSpPr txBox="1">
                <a:spLocks noChangeArrowheads="1"/>
              </p:cNvSpPr>
              <p:nvPr/>
            </p:nvSpPr>
            <p:spPr bwMode="auto">
              <a:xfrm>
                <a:off x="3864416" y="1941538"/>
                <a:ext cx="354074" cy="4562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1800" b="0" i="1">
                    <a:ea typeface="宋体" pitchFamily="2" charset="-122"/>
                  </a:rPr>
                  <a:t>O</a:t>
                </a:r>
                <a:endParaRPr lang="zh-CN" altLang="en-US" sz="1800" b="0" i="1">
                  <a:ea typeface="宋体" pitchFamily="2" charset="-122"/>
                </a:endParaRPr>
              </a:p>
            </p:txBody>
          </p:sp>
          <p:sp>
            <p:nvSpPr>
              <p:cNvPr id="24607" name="TextBox 37"/>
              <p:cNvSpPr txBox="1">
                <a:spLocks noChangeArrowheads="1"/>
              </p:cNvSpPr>
              <p:nvPr/>
            </p:nvSpPr>
            <p:spPr bwMode="auto">
              <a:xfrm>
                <a:off x="7249213" y="2017335"/>
                <a:ext cx="250695" cy="4562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1800" b="0" i="1">
                    <a:ea typeface="宋体" pitchFamily="2" charset="-122"/>
                    <a:cs typeface="Times New Roman" pitchFamily="18" charset="0"/>
                  </a:rPr>
                  <a:t>l</a:t>
                </a:r>
                <a:endParaRPr lang="zh-CN" altLang="en-US" sz="1800" b="0"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9" name="弧形 38"/>
              <p:cNvSpPr/>
              <p:nvPr/>
            </p:nvSpPr>
            <p:spPr>
              <a:xfrm>
                <a:off x="3808427" y="1659118"/>
                <a:ext cx="583873" cy="187962"/>
              </a:xfrm>
              <a:prstGeom prst="arc">
                <a:avLst>
                  <a:gd name="adj1" fmla="val 528373"/>
                  <a:gd name="adj2" fmla="val 9445903"/>
                </a:avLst>
              </a:prstGeom>
              <a:ln>
                <a:solidFill>
                  <a:srgbClr val="FF000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</p:grpSp>
      </p:grpSp>
      <p:grpSp>
        <p:nvGrpSpPr>
          <p:cNvPr id="5" name="组合 53"/>
          <p:cNvGrpSpPr>
            <a:grpSpLocks/>
          </p:cNvGrpSpPr>
          <p:nvPr/>
        </p:nvGrpSpPr>
        <p:grpSpPr bwMode="auto">
          <a:xfrm>
            <a:off x="6037263" y="1436688"/>
            <a:ext cx="492125" cy="382587"/>
            <a:chOff x="4751113" y="1517715"/>
            <a:chExt cx="492839" cy="509525"/>
          </a:xfrm>
        </p:grpSpPr>
        <p:sp>
          <p:nvSpPr>
            <p:cNvPr id="24597" name="Rectangle 15"/>
            <p:cNvSpPr>
              <a:spLocks noChangeArrowheads="1"/>
            </p:cNvSpPr>
            <p:nvPr/>
          </p:nvSpPr>
          <p:spPr bwMode="ltGray">
            <a:xfrm>
              <a:off x="4829175" y="1900240"/>
              <a:ext cx="261937" cy="127000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1800" b="0">
                <a:ea typeface="宋体" pitchFamily="2" charset="-122"/>
              </a:endParaRPr>
            </a:p>
          </p:txBody>
        </p:sp>
        <p:sp>
          <p:nvSpPr>
            <p:cNvPr id="24598" name="TextBox 55"/>
            <p:cNvSpPr txBox="1">
              <a:spLocks noChangeArrowheads="1"/>
            </p:cNvSpPr>
            <p:nvPr/>
          </p:nvSpPr>
          <p:spPr bwMode="auto">
            <a:xfrm>
              <a:off x="4751113" y="1517715"/>
              <a:ext cx="492839" cy="491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800">
                  <a:ea typeface="宋体" pitchFamily="2" charset="-122"/>
                </a:rPr>
                <a:t>d</a:t>
              </a:r>
              <a:r>
                <a:rPr lang="en-US" altLang="zh-CN" sz="1800" i="1">
                  <a:ea typeface="宋体" pitchFamily="2" charset="-122"/>
                </a:rPr>
                <a:t>m</a:t>
              </a:r>
              <a:endParaRPr lang="zh-CN" altLang="en-US" sz="1800" i="1">
                <a:ea typeface="宋体" pitchFamily="2" charset="-122"/>
              </a:endParaRPr>
            </a:p>
          </p:txBody>
        </p:sp>
      </p:grpSp>
      <p:grpSp>
        <p:nvGrpSpPr>
          <p:cNvPr id="6" name="组合 56"/>
          <p:cNvGrpSpPr>
            <a:grpSpLocks/>
          </p:cNvGrpSpPr>
          <p:nvPr/>
        </p:nvGrpSpPr>
        <p:grpSpPr bwMode="auto">
          <a:xfrm>
            <a:off x="4943475" y="1804988"/>
            <a:ext cx="1503363" cy="398462"/>
            <a:chOff x="3535053" y="2007907"/>
            <a:chExt cx="1502425" cy="529310"/>
          </a:xfrm>
        </p:grpSpPr>
        <p:cxnSp>
          <p:nvCxnSpPr>
            <p:cNvPr id="58" name="直接连接符 57"/>
            <p:cNvCxnSpPr/>
            <p:nvPr/>
          </p:nvCxnSpPr>
          <p:spPr>
            <a:xfrm>
              <a:off x="4713830" y="2037430"/>
              <a:ext cx="0" cy="1581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>
              <a:off x="4967672" y="2037430"/>
              <a:ext cx="0" cy="1581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/>
            <p:cNvCxnSpPr/>
            <p:nvPr/>
          </p:nvCxnSpPr>
          <p:spPr>
            <a:xfrm>
              <a:off x="3535053" y="2149196"/>
              <a:ext cx="1150220" cy="0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595" name="TextBox 60"/>
            <p:cNvSpPr txBox="1">
              <a:spLocks noChangeArrowheads="1"/>
            </p:cNvSpPr>
            <p:nvPr/>
          </p:nvSpPr>
          <p:spPr bwMode="auto">
            <a:xfrm flipH="1">
              <a:off x="4000032" y="2045918"/>
              <a:ext cx="299935" cy="4912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800" i="1">
                  <a:ea typeface="宋体" pitchFamily="2" charset="-122"/>
                  <a:sym typeface="Symbol" pitchFamily="18" charset="2"/>
                </a:rPr>
                <a:t>x</a:t>
              </a:r>
              <a:endParaRPr lang="zh-CN" altLang="en-US" sz="1800" i="1">
                <a:ea typeface="宋体" pitchFamily="2" charset="-122"/>
              </a:endParaRPr>
            </a:p>
          </p:txBody>
        </p:sp>
        <p:sp>
          <p:nvSpPr>
            <p:cNvPr id="24596" name="TextBox 61"/>
            <p:cNvSpPr txBox="1">
              <a:spLocks noChangeArrowheads="1"/>
            </p:cNvSpPr>
            <p:nvPr/>
          </p:nvSpPr>
          <p:spPr bwMode="auto">
            <a:xfrm>
              <a:off x="4609425" y="2007907"/>
              <a:ext cx="428053" cy="4906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800">
                  <a:ea typeface="宋体" pitchFamily="2" charset="-122"/>
                  <a:sym typeface="Symbol" pitchFamily="18" charset="2"/>
                </a:rPr>
                <a:t>d</a:t>
              </a:r>
              <a:r>
                <a:rPr lang="en-US" altLang="zh-CN" sz="1800" i="1">
                  <a:ea typeface="宋体" pitchFamily="2" charset="-122"/>
                  <a:sym typeface="Symbol" pitchFamily="18" charset="2"/>
                </a:rPr>
                <a:t>x</a:t>
              </a:r>
              <a:endParaRPr lang="zh-CN" altLang="en-US" sz="1800" i="1"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2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2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0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0" dur="5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5" dur="500"/>
                                        <p:tgtEl>
                                          <p:spTgt spid="1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0" dur="500"/>
                                        <p:tgtEl>
                                          <p:spTgt spid="1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5" dur="500"/>
                                        <p:tgtEl>
                                          <p:spTgt spid="1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9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9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6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autoUpdateAnimBg="0"/>
      <p:bldP spid="10261" grpId="0" autoUpdateAnimBg="0"/>
      <p:bldP spid="19970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258888" y="1857375"/>
            <a:ext cx="6435725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100">
                <a:solidFill>
                  <a:srgbClr val="3333FF"/>
                </a:solidFill>
                <a:latin typeface="华文中宋" pitchFamily="2" charset="-122"/>
                <a:ea typeface="华文中宋" pitchFamily="2" charset="-122"/>
              </a:rPr>
              <a:t>解题思路</a:t>
            </a:r>
          </a:p>
          <a:p>
            <a:pPr algn="ctr" eaLnBrk="1" hangingPunct="1"/>
            <a:endParaRPr lang="zh-CN" altLang="en-US" sz="2000">
              <a:solidFill>
                <a:srgbClr val="3333FF"/>
              </a:solidFill>
              <a:latin typeface="华文中宋" pitchFamily="2" charset="-122"/>
              <a:ea typeface="华文中宋" pitchFamily="2" charset="-122"/>
            </a:endParaRP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(1) </a:t>
            </a:r>
            <a:r>
              <a:rPr lang="zh-CN" altLang="en-US" sz="20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选物体</a:t>
            </a: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(2) </a:t>
            </a:r>
            <a:r>
              <a:rPr lang="zh-CN" altLang="en-US" sz="20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看运动</a:t>
            </a: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(3) </a:t>
            </a:r>
            <a:r>
              <a:rPr lang="zh-CN" altLang="en-US" sz="20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查受力（注意</a:t>
            </a:r>
            <a:r>
              <a:rPr lang="en-US" altLang="zh-CN" sz="20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:</a:t>
            </a:r>
            <a:r>
              <a:rPr lang="zh-CN" altLang="en-US" sz="20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画隔离体受力图）</a:t>
            </a: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(4) </a:t>
            </a:r>
            <a:r>
              <a:rPr lang="zh-CN" altLang="en-US" sz="20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列方程（注意</a:t>
            </a:r>
            <a:r>
              <a:rPr lang="en-US" altLang="zh-CN" sz="20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:</a:t>
            </a:r>
            <a:r>
              <a:rPr lang="zh-CN" altLang="en-US" sz="20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建立坐标）</a:t>
            </a:r>
            <a:endParaRPr lang="zh-CN" altLang="en-US" sz="2000" b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25603" name="Text Box 2"/>
          <p:cNvSpPr>
            <a:spLocks noChangeArrowheads="1"/>
          </p:cNvSpPr>
          <p:nvPr/>
        </p:nvSpPr>
        <p:spPr bwMode="auto">
          <a:xfrm>
            <a:off x="739775" y="874713"/>
            <a:ext cx="3616325" cy="401637"/>
          </a:xfrm>
          <a:prstGeom prst="homePlate">
            <a:avLst>
              <a:gd name="adj" fmla="val 49855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四、定轴转动定律的应用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23850" y="771525"/>
            <a:ext cx="88566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例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    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已知两物体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m</a:t>
            </a:r>
            <a:r>
              <a:rPr lang="en-US" altLang="zh-CN" sz="1800" baseline="-25000">
                <a:solidFill>
                  <a:srgbClr val="0000FF"/>
                </a:solidFill>
                <a:ea typeface="华文中宋" pitchFamily="2" charset="-122"/>
              </a:rPr>
              <a:t>1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，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m</a:t>
            </a:r>
            <a:r>
              <a:rPr lang="en-US" altLang="zh-CN" sz="1800" baseline="-25000">
                <a:solidFill>
                  <a:srgbClr val="0000FF"/>
                </a:solidFill>
                <a:ea typeface="华文中宋" pitchFamily="2" charset="-122"/>
              </a:rPr>
              <a:t>2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(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m</a:t>
            </a:r>
            <a:r>
              <a:rPr lang="en-US" altLang="zh-CN" sz="1800" baseline="-25000">
                <a:solidFill>
                  <a:srgbClr val="0000FF"/>
                </a:solidFill>
                <a:ea typeface="华文中宋" pitchFamily="2" charset="-122"/>
              </a:rPr>
              <a:t>2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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m</a:t>
            </a:r>
            <a:r>
              <a:rPr lang="en-US" altLang="zh-CN" sz="1800" baseline="-25000">
                <a:solidFill>
                  <a:srgbClr val="0000FF"/>
                </a:solidFill>
                <a:ea typeface="华文中宋" pitchFamily="2" charset="-122"/>
              </a:rPr>
              <a:t>1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)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，滑轮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m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，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R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，可看成质量均匀的圆盘，轴上的摩擦力矩为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M</a:t>
            </a:r>
            <a:r>
              <a:rPr lang="en-US" altLang="zh-CN" sz="1800" i="1" baseline="-25000">
                <a:solidFill>
                  <a:srgbClr val="0000FF"/>
                </a:solidFill>
                <a:ea typeface="华文中宋" pitchFamily="2" charset="-122"/>
              </a:rPr>
              <a:t>f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，（设绳轻，且不伸长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,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与滑轮无相对滑动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)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。求：物体的加速度及绳中张力。</a:t>
            </a:r>
            <a:endParaRPr lang="zh-CN" altLang="en-US" sz="1800" b="0">
              <a:ea typeface="华文中宋" pitchFamily="2" charset="-122"/>
            </a:endParaRPr>
          </a:p>
        </p:txBody>
      </p:sp>
      <p:grpSp>
        <p:nvGrpSpPr>
          <p:cNvPr id="2" name="组合 63"/>
          <p:cNvGrpSpPr>
            <a:grpSpLocks/>
          </p:cNvGrpSpPr>
          <p:nvPr/>
        </p:nvGrpSpPr>
        <p:grpSpPr bwMode="auto">
          <a:xfrm>
            <a:off x="6519863" y="1406525"/>
            <a:ext cx="1509712" cy="2444750"/>
            <a:chOff x="7026277" y="1858963"/>
            <a:chExt cx="1509713" cy="3259139"/>
          </a:xfrm>
        </p:grpSpPr>
        <p:grpSp>
          <p:nvGrpSpPr>
            <p:cNvPr id="26666" name="Group 3"/>
            <p:cNvGrpSpPr>
              <a:grpSpLocks/>
            </p:cNvGrpSpPr>
            <p:nvPr/>
          </p:nvGrpSpPr>
          <p:grpSpPr bwMode="auto">
            <a:xfrm>
              <a:off x="7026277" y="1858963"/>
              <a:ext cx="1509713" cy="3259139"/>
              <a:chOff x="4256" y="1880"/>
              <a:chExt cx="951" cy="2053"/>
            </a:xfrm>
          </p:grpSpPr>
          <p:grpSp>
            <p:nvGrpSpPr>
              <p:cNvPr id="26668" name="Group 4"/>
              <p:cNvGrpSpPr>
                <a:grpSpLocks/>
              </p:cNvGrpSpPr>
              <p:nvPr/>
            </p:nvGrpSpPr>
            <p:grpSpPr bwMode="auto">
              <a:xfrm>
                <a:off x="4256" y="1880"/>
                <a:ext cx="951" cy="2053"/>
                <a:chOff x="4086" y="1256"/>
                <a:chExt cx="951" cy="2053"/>
              </a:xfrm>
            </p:grpSpPr>
            <p:grpSp>
              <p:nvGrpSpPr>
                <p:cNvPr id="26670" name="Oval 5"/>
                <p:cNvGrpSpPr>
                  <a:grpSpLocks/>
                </p:cNvGrpSpPr>
                <p:nvPr/>
              </p:nvGrpSpPr>
              <p:grpSpPr bwMode="auto">
                <a:xfrm>
                  <a:off x="4191" y="1546"/>
                  <a:ext cx="660" cy="660"/>
                  <a:chOff x="6687312" y="2334768"/>
                  <a:chExt cx="1048512" cy="1048512"/>
                </a:xfrm>
              </p:grpSpPr>
              <p:pic>
                <p:nvPicPr>
                  <p:cNvPr id="26684" name="Oval 5"/>
                  <p:cNvPicPr preferRelativeResize="0">
                    <a:picLocks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687312" y="2334768"/>
                    <a:ext cx="1048512" cy="10485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6685" name="Text Box 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866830" y="2613418"/>
                    <a:ext cx="699008" cy="4928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 eaLnBrk="0" hangingPunct="0">
                      <a:defRPr sz="2400" b="1">
                        <a:solidFill>
                          <a:schemeClr val="tx1"/>
                        </a:solidFill>
                        <a:latin typeface="Times New Roman" pitchFamily="18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sz="2400" b="1">
                        <a:solidFill>
                          <a:schemeClr val="tx1"/>
                        </a:solidFill>
                        <a:latin typeface="Times New Roman" pitchFamily="18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sz="2400" b="1">
                        <a:solidFill>
                          <a:schemeClr val="tx1"/>
                        </a:solidFill>
                        <a:latin typeface="Times New Roman" pitchFamily="18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sz="2400" b="1">
                        <a:solidFill>
                          <a:schemeClr val="tx1"/>
                        </a:solidFill>
                        <a:latin typeface="Times New Roman" pitchFamily="18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sz="2400" b="1">
                        <a:solidFill>
                          <a:schemeClr val="tx1"/>
                        </a:solidFill>
                        <a:latin typeface="Times New Roman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 New Roman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 New Roman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 New Roman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 New Roman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/>
                    <a:endParaRPr lang="zh-CN" altLang="zh-CN" sz="1800" b="0">
                      <a:ea typeface="宋体" pitchFamily="2" charset="-122"/>
                    </a:endParaRPr>
                  </a:p>
                </p:txBody>
              </p:sp>
            </p:grpSp>
            <p:sp>
              <p:nvSpPr>
                <p:cNvPr id="26671" name="Rectangle 6"/>
                <p:cNvSpPr>
                  <a:spLocks noChangeArrowheads="1"/>
                </p:cNvSpPr>
                <p:nvPr/>
              </p:nvSpPr>
              <p:spPr bwMode="auto">
                <a:xfrm>
                  <a:off x="4472" y="1472"/>
                  <a:ext cx="122" cy="310"/>
                </a:xfrm>
                <a:prstGeom prst="rect">
                  <a:avLst/>
                </a:prstGeom>
                <a:solidFill>
                  <a:srgbClr val="E6B9B8"/>
                </a:solidFill>
                <a:ln w="9525">
                  <a:solidFill>
                    <a:srgbClr val="00B0F0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ctr"/>
                  <a:endParaRPr lang="zh-CN" altLang="zh-CN" sz="1800" b="0">
                    <a:ea typeface="宋体" pitchFamily="2" charset="-122"/>
                  </a:endParaRPr>
                </a:p>
              </p:txBody>
            </p:sp>
            <p:sp>
              <p:nvSpPr>
                <p:cNvPr id="26672" name="Line 7"/>
                <p:cNvSpPr>
                  <a:spLocks noChangeShapeType="1"/>
                </p:cNvSpPr>
                <p:nvPr/>
              </p:nvSpPr>
              <p:spPr bwMode="auto">
                <a:xfrm>
                  <a:off x="4214" y="1853"/>
                  <a:ext cx="0" cy="765"/>
                </a:xfrm>
                <a:prstGeom prst="line">
                  <a:avLst/>
                </a:prstGeom>
                <a:noFill/>
                <a:ln w="19050">
                  <a:solidFill>
                    <a:srgbClr val="E46C0A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73" name="Line 8"/>
                <p:cNvSpPr>
                  <a:spLocks noChangeShapeType="1"/>
                </p:cNvSpPr>
                <p:nvPr/>
              </p:nvSpPr>
              <p:spPr bwMode="auto">
                <a:xfrm>
                  <a:off x="4843" y="1825"/>
                  <a:ext cx="0" cy="1276"/>
                </a:xfrm>
                <a:prstGeom prst="line">
                  <a:avLst/>
                </a:prstGeom>
                <a:noFill/>
                <a:ln w="19050">
                  <a:solidFill>
                    <a:srgbClr val="E46C0A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74" name="Rectangle 9"/>
                <p:cNvSpPr>
                  <a:spLocks noChangeArrowheads="1"/>
                </p:cNvSpPr>
                <p:nvPr/>
              </p:nvSpPr>
              <p:spPr bwMode="auto">
                <a:xfrm>
                  <a:off x="4129" y="2526"/>
                  <a:ext cx="167" cy="310"/>
                </a:xfrm>
                <a:prstGeom prst="rect">
                  <a:avLst/>
                </a:prstGeom>
                <a:solidFill>
                  <a:srgbClr val="FCD5B5"/>
                </a:solidFill>
                <a:ln w="19050">
                  <a:solidFill>
                    <a:srgbClr val="0070C0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ctr"/>
                  <a:endParaRPr lang="zh-CN" altLang="zh-CN" sz="1800" b="0">
                    <a:ea typeface="宋体" pitchFamily="2" charset="-122"/>
                  </a:endParaRPr>
                </a:p>
              </p:txBody>
            </p:sp>
            <p:sp>
              <p:nvSpPr>
                <p:cNvPr id="26675" name="Rectangle 10"/>
                <p:cNvSpPr>
                  <a:spLocks noChangeArrowheads="1"/>
                </p:cNvSpPr>
                <p:nvPr/>
              </p:nvSpPr>
              <p:spPr bwMode="auto">
                <a:xfrm>
                  <a:off x="4724" y="2998"/>
                  <a:ext cx="240" cy="310"/>
                </a:xfrm>
                <a:prstGeom prst="rect">
                  <a:avLst/>
                </a:prstGeom>
                <a:solidFill>
                  <a:srgbClr val="FCD5B5"/>
                </a:solidFill>
                <a:ln w="19050">
                  <a:solidFill>
                    <a:srgbClr val="0070C0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ctr"/>
                  <a:endParaRPr lang="zh-CN" altLang="zh-CN" sz="1800" b="0">
                    <a:ea typeface="宋体" pitchFamily="2" charset="-122"/>
                  </a:endParaRPr>
                </a:p>
              </p:txBody>
            </p:sp>
            <p:sp>
              <p:nvSpPr>
                <p:cNvPr id="26676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4086" y="2561"/>
                  <a:ext cx="261" cy="2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en-US" altLang="zh-CN" sz="1600" i="1">
                      <a:ea typeface="宋体" pitchFamily="2" charset="-122"/>
                    </a:rPr>
                    <a:t>m</a:t>
                  </a:r>
                  <a:r>
                    <a:rPr lang="en-US" altLang="zh-CN" sz="1600" baseline="-25000">
                      <a:ea typeface="宋体" pitchFamily="2" charset="-122"/>
                    </a:rPr>
                    <a:t>1</a:t>
                  </a:r>
                  <a:endParaRPr lang="zh-CN" altLang="zh-CN" sz="1600" b="0">
                    <a:ea typeface="宋体" pitchFamily="2" charset="-122"/>
                  </a:endParaRPr>
                </a:p>
              </p:txBody>
            </p:sp>
            <p:sp>
              <p:nvSpPr>
                <p:cNvPr id="26677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4708" y="3025"/>
                  <a:ext cx="329" cy="2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en-US" altLang="zh-CN" sz="1600" i="1">
                      <a:ea typeface="宋体" pitchFamily="2" charset="-122"/>
                    </a:rPr>
                    <a:t>m</a:t>
                  </a:r>
                  <a:r>
                    <a:rPr lang="en-US" altLang="zh-CN" sz="1600" baseline="-25000">
                      <a:ea typeface="宋体" pitchFamily="2" charset="-122"/>
                    </a:rPr>
                    <a:t>2</a:t>
                  </a:r>
                  <a:endParaRPr lang="zh-CN" altLang="zh-CN" sz="1600" b="0">
                    <a:ea typeface="宋体" pitchFamily="2" charset="-122"/>
                  </a:endParaRPr>
                </a:p>
              </p:txBody>
            </p:sp>
            <p:sp>
              <p:nvSpPr>
                <p:cNvPr id="26678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4449" y="2148"/>
                  <a:ext cx="217" cy="2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en-US" altLang="zh-CN" sz="1600" i="1">
                      <a:ea typeface="宋体" pitchFamily="2" charset="-122"/>
                    </a:rPr>
                    <a:t>m</a:t>
                  </a:r>
                  <a:endParaRPr lang="zh-CN" altLang="zh-CN" sz="1600" b="0">
                    <a:ea typeface="宋体" pitchFamily="2" charset="-122"/>
                  </a:endParaRPr>
                </a:p>
              </p:txBody>
            </p:sp>
            <p:sp>
              <p:nvSpPr>
                <p:cNvPr id="26679" name="Rectangle 14" descr="深色上对角线"/>
                <p:cNvSpPr>
                  <a:spLocks noChangeArrowheads="1"/>
                </p:cNvSpPr>
                <p:nvPr/>
              </p:nvSpPr>
              <p:spPr bwMode="auto">
                <a:xfrm>
                  <a:off x="4242" y="1256"/>
                  <a:ext cx="600" cy="310"/>
                </a:xfrm>
                <a:prstGeom prst="rect">
                  <a:avLst/>
                </a:prstGeom>
                <a:solidFill>
                  <a:srgbClr val="DBEEF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algn="ctr"/>
                  <a:endParaRPr lang="zh-CN" altLang="zh-CN" sz="1800" b="0">
                    <a:ea typeface="宋体" pitchFamily="2" charset="-122"/>
                  </a:endParaRPr>
                </a:p>
              </p:txBody>
            </p:sp>
            <p:sp>
              <p:nvSpPr>
                <p:cNvPr id="26680" name="Line 15"/>
                <p:cNvSpPr>
                  <a:spLocks noChangeShapeType="1"/>
                </p:cNvSpPr>
                <p:nvPr/>
              </p:nvSpPr>
              <p:spPr bwMode="auto">
                <a:xfrm>
                  <a:off x="4242" y="1429"/>
                  <a:ext cx="6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" name="Oval 16"/>
                <p:cNvSpPr>
                  <a:spLocks noChangeArrowheads="1"/>
                </p:cNvSpPr>
                <p:nvPr/>
              </p:nvSpPr>
              <p:spPr bwMode="auto">
                <a:xfrm>
                  <a:off x="4468" y="1655"/>
                  <a:ext cx="140" cy="436"/>
                </a:xfrm>
                <a:prstGeom prst="ellipse">
                  <a:avLst/>
                </a:prstGeom>
                <a:noFill/>
                <a:ln w="38100" cmpd="dbl">
                  <a:solidFill>
                    <a:schemeClr val="accent6">
                      <a:lumMod val="75000"/>
                    </a:schemeClr>
                  </a:solidFill>
                  <a:round/>
                  <a:headEnd/>
                  <a:tailEnd/>
                </a:ln>
                <a:extLst/>
              </p:spPr>
              <p:txBody>
                <a:bodyPr anchor="ctr">
                  <a:spAutoFit/>
                </a:bodyPr>
                <a:lstStyle/>
                <a:p>
                  <a:pPr algn="ctr">
                    <a:defRPr/>
                  </a:pPr>
                  <a:endParaRPr lang="zh-CN" altLang="zh-CN" sz="1800" b="0">
                    <a:ea typeface="宋体" pitchFamily="2" charset="-122"/>
                  </a:endParaRPr>
                </a:p>
              </p:txBody>
            </p:sp>
            <p:sp>
              <p:nvSpPr>
                <p:cNvPr id="26682" name="Line 17"/>
                <p:cNvSpPr>
                  <a:spLocks noChangeShapeType="1"/>
                </p:cNvSpPr>
                <p:nvPr/>
              </p:nvSpPr>
              <p:spPr bwMode="auto">
                <a:xfrm>
                  <a:off x="4552" y="1871"/>
                  <a:ext cx="284" cy="0"/>
                </a:xfrm>
                <a:prstGeom prst="line">
                  <a:avLst/>
                </a:prstGeom>
                <a:noFill/>
                <a:ln w="28575">
                  <a:solidFill>
                    <a:srgbClr val="00B0F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83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4604" y="1853"/>
                  <a:ext cx="202" cy="2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en-US" altLang="zh-CN" sz="1600" i="1">
                      <a:solidFill>
                        <a:srgbClr val="00B0F0"/>
                      </a:solidFill>
                      <a:ea typeface="宋体" pitchFamily="2" charset="-122"/>
                    </a:rPr>
                    <a:t>R</a:t>
                  </a:r>
                  <a:endParaRPr lang="zh-CN" altLang="zh-CN" sz="1600" b="0">
                    <a:solidFill>
                      <a:srgbClr val="00B0F0"/>
                    </a:solidFill>
                    <a:ea typeface="宋体" pitchFamily="2" charset="-122"/>
                  </a:endParaRPr>
                </a:p>
              </p:txBody>
            </p:sp>
          </p:grpSp>
          <p:sp>
            <p:nvSpPr>
              <p:cNvPr id="26669" name="Text Box 21"/>
              <p:cNvSpPr txBox="1">
                <a:spLocks noChangeArrowheads="1"/>
              </p:cNvSpPr>
              <p:nvPr/>
            </p:nvSpPr>
            <p:spPr bwMode="auto">
              <a:xfrm>
                <a:off x="4412" y="2442"/>
                <a:ext cx="260" cy="2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1600" i="1">
                    <a:solidFill>
                      <a:srgbClr val="0000FF"/>
                    </a:solidFill>
                    <a:ea typeface="宋体" pitchFamily="2" charset="-122"/>
                  </a:rPr>
                  <a:t>M</a:t>
                </a:r>
                <a:r>
                  <a:rPr lang="en-US" altLang="zh-CN" sz="1600" i="1" baseline="-25000">
                    <a:solidFill>
                      <a:srgbClr val="0000FF"/>
                    </a:solidFill>
                    <a:ea typeface="宋体" pitchFamily="2" charset="-122"/>
                  </a:rPr>
                  <a:t>f</a:t>
                </a:r>
                <a:endParaRPr lang="zh-CN" altLang="zh-CN" sz="1600" b="0">
                  <a:solidFill>
                    <a:srgbClr val="0000FF"/>
                  </a:solidFill>
                  <a:ea typeface="宋体" pitchFamily="2" charset="-122"/>
                </a:endParaRPr>
              </a:p>
            </p:txBody>
          </p:sp>
        </p:grpSp>
        <p:sp>
          <p:nvSpPr>
            <p:cNvPr id="26667" name="弧形 5"/>
            <p:cNvSpPr>
              <a:spLocks noChangeArrowheads="1"/>
            </p:cNvSpPr>
            <p:nvPr/>
          </p:nvSpPr>
          <p:spPr bwMode="auto">
            <a:xfrm>
              <a:off x="7515227" y="2671764"/>
              <a:ext cx="488950" cy="1746647"/>
            </a:xfrm>
            <a:custGeom>
              <a:avLst/>
              <a:gdLst>
                <a:gd name="T0" fmla="*/ 11365 w 488950"/>
                <a:gd name="T1" fmla="*/ 2147483647 h 355600"/>
                <a:gd name="T2" fmla="*/ 244475 w 488950"/>
                <a:gd name="T3" fmla="*/ 2147483647 h 355600"/>
                <a:gd name="T4" fmla="*/ 459627 w 488950"/>
                <a:gd name="T5" fmla="*/ 2147483647 h 355600"/>
                <a:gd name="T6" fmla="*/ 5898240 60000 65536"/>
                <a:gd name="T7" fmla="*/ 17694720 60000 65536"/>
                <a:gd name="T8" fmla="*/ 5898240 60000 65536"/>
                <a:gd name="T9" fmla="*/ 11365 w 488950"/>
                <a:gd name="T10" fmla="*/ 0 h 355600"/>
                <a:gd name="T11" fmla="*/ 459627 w 488950"/>
                <a:gd name="T12" fmla="*/ 124220 h 355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8950" h="355600" stroke="0">
                  <a:moveTo>
                    <a:pt x="11365" y="124220"/>
                  </a:moveTo>
                  <a:lnTo>
                    <a:pt x="11364" y="124219"/>
                  </a:lnTo>
                  <a:cubicBezTo>
                    <a:pt x="43500" y="50269"/>
                    <a:pt x="137836" y="-1"/>
                    <a:pt x="244475" y="0"/>
                  </a:cubicBezTo>
                  <a:cubicBezTo>
                    <a:pt x="334336" y="0"/>
                    <a:pt x="416954" y="35853"/>
                    <a:pt x="459626" y="93368"/>
                  </a:cubicBezTo>
                  <a:lnTo>
                    <a:pt x="244475" y="177800"/>
                  </a:lnTo>
                  <a:lnTo>
                    <a:pt x="11365" y="124220"/>
                  </a:lnTo>
                  <a:close/>
                </a:path>
                <a:path w="488950" h="355600" fill="none">
                  <a:moveTo>
                    <a:pt x="11365" y="124220"/>
                  </a:moveTo>
                  <a:lnTo>
                    <a:pt x="11364" y="124219"/>
                  </a:lnTo>
                  <a:cubicBezTo>
                    <a:pt x="43500" y="50269"/>
                    <a:pt x="137836" y="-1"/>
                    <a:pt x="244475" y="0"/>
                  </a:cubicBezTo>
                  <a:cubicBezTo>
                    <a:pt x="334336" y="0"/>
                    <a:pt x="416954" y="35853"/>
                    <a:pt x="459626" y="93368"/>
                  </a:cubicBezTo>
                </a:path>
              </a:pathLst>
            </a:custGeom>
            <a:noFill/>
            <a:ln w="19050" algn="ctr">
              <a:solidFill>
                <a:srgbClr val="00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468313" y="1803400"/>
            <a:ext cx="5832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1800">
                <a:ea typeface="华文中宋" pitchFamily="2" charset="-122"/>
              </a:rPr>
              <a:t> </a:t>
            </a:r>
            <a:r>
              <a:rPr lang="zh-CN" altLang="en-US" sz="1800">
                <a:ea typeface="华文中宋" pitchFamily="2" charset="-122"/>
              </a:rPr>
              <a:t>解：分别对</a:t>
            </a:r>
            <a:r>
              <a:rPr lang="en-US" altLang="zh-CN" sz="1800" i="1">
                <a:ea typeface="华文中宋" pitchFamily="2" charset="-122"/>
              </a:rPr>
              <a:t>m</a:t>
            </a:r>
            <a:r>
              <a:rPr lang="en-US" altLang="zh-CN" sz="1800" baseline="-25000">
                <a:ea typeface="华文中宋" pitchFamily="2" charset="-122"/>
              </a:rPr>
              <a:t>1</a:t>
            </a:r>
            <a:r>
              <a:rPr lang="en-US" altLang="zh-CN" sz="1800">
                <a:ea typeface="华文中宋" pitchFamily="2" charset="-122"/>
              </a:rPr>
              <a:t>,</a:t>
            </a:r>
            <a:r>
              <a:rPr lang="en-US" altLang="zh-CN" sz="1800" i="1">
                <a:ea typeface="华文中宋" pitchFamily="2" charset="-122"/>
              </a:rPr>
              <a:t>m</a:t>
            </a:r>
            <a:r>
              <a:rPr lang="en-US" altLang="zh-CN" sz="1800" baseline="-25000">
                <a:ea typeface="华文中宋" pitchFamily="2" charset="-122"/>
              </a:rPr>
              <a:t>2</a:t>
            </a:r>
            <a:r>
              <a:rPr lang="en-US" altLang="zh-CN" sz="1800">
                <a:ea typeface="华文中宋" pitchFamily="2" charset="-122"/>
              </a:rPr>
              <a:t>,</a:t>
            </a:r>
            <a:r>
              <a:rPr lang="en-US" altLang="zh-CN" sz="1800" i="1">
                <a:ea typeface="华文中宋" pitchFamily="2" charset="-122"/>
              </a:rPr>
              <a:t>m</a:t>
            </a:r>
            <a:r>
              <a:rPr lang="zh-CN" altLang="en-US" sz="1800">
                <a:ea typeface="华文中宋" pitchFamily="2" charset="-122"/>
              </a:rPr>
              <a:t>分析运动、受力 </a:t>
            </a:r>
            <a:endParaRPr lang="zh-CN" altLang="en-US" sz="1800" b="0">
              <a:ea typeface="华文中宋" pitchFamily="2" charset="-122"/>
            </a:endParaRPr>
          </a:p>
        </p:txBody>
      </p:sp>
      <p:grpSp>
        <p:nvGrpSpPr>
          <p:cNvPr id="7" name="组合 55"/>
          <p:cNvGrpSpPr>
            <a:grpSpLocks/>
          </p:cNvGrpSpPr>
          <p:nvPr/>
        </p:nvGrpSpPr>
        <p:grpSpPr bwMode="auto">
          <a:xfrm>
            <a:off x="6259513" y="2693988"/>
            <a:ext cx="942975" cy="854075"/>
            <a:chOff x="6277972" y="3252750"/>
            <a:chExt cx="942834" cy="1138986"/>
          </a:xfrm>
        </p:grpSpPr>
        <p:sp>
          <p:nvSpPr>
            <p:cNvPr id="26660" name="Line 25"/>
            <p:cNvSpPr>
              <a:spLocks noChangeShapeType="1"/>
            </p:cNvSpPr>
            <p:nvPr/>
          </p:nvSpPr>
          <p:spPr bwMode="auto">
            <a:xfrm flipV="1">
              <a:off x="6536835" y="3671584"/>
              <a:ext cx="0" cy="344233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26661" name="对象 25"/>
            <p:cNvGraphicFramePr>
              <a:graphicFrameLocks noChangeAspect="1"/>
            </p:cNvGraphicFramePr>
            <p:nvPr/>
          </p:nvGraphicFramePr>
          <p:xfrm>
            <a:off x="6277972" y="3630776"/>
            <a:ext cx="245069" cy="3204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92" name="公式" r:id="rId4" imgW="164885" imgH="215619" progId="Equation.3">
                    <p:embed/>
                  </p:oleObj>
                </mc:Choice>
                <mc:Fallback>
                  <p:oleObj name="公式" r:id="rId4" imgW="164885" imgH="215619" progId="Equation.3">
                    <p:embed/>
                    <p:pic>
                      <p:nvPicPr>
                        <p:cNvPr id="0" name="对象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77972" y="3630776"/>
                          <a:ext cx="245069" cy="3204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62" name="Text Box 28"/>
            <p:cNvSpPr txBox="1">
              <a:spLocks noChangeArrowheads="1"/>
            </p:cNvSpPr>
            <p:nvPr/>
          </p:nvSpPr>
          <p:spPr bwMode="auto">
            <a:xfrm>
              <a:off x="6704352" y="3940624"/>
              <a:ext cx="516454" cy="451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600" i="1">
                  <a:ea typeface="宋体" pitchFamily="2" charset="-122"/>
                </a:rPr>
                <a:t>m</a:t>
              </a:r>
              <a:r>
                <a:rPr lang="en-US" altLang="zh-CN" sz="1600" baseline="-25000">
                  <a:ea typeface="宋体" pitchFamily="2" charset="-122"/>
                </a:rPr>
                <a:t>1</a:t>
              </a:r>
              <a:r>
                <a:rPr lang="en-US" altLang="zh-CN" sz="1600" i="1">
                  <a:ea typeface="宋体" pitchFamily="2" charset="-122"/>
                </a:rPr>
                <a:t>g</a:t>
              </a:r>
              <a:endParaRPr lang="zh-CN" altLang="zh-CN" sz="1600" b="0">
                <a:ea typeface="宋体" pitchFamily="2" charset="-122"/>
              </a:endParaRPr>
            </a:p>
          </p:txBody>
        </p:sp>
        <p:sp>
          <p:nvSpPr>
            <p:cNvPr id="26663" name="Text Box 29"/>
            <p:cNvSpPr txBox="1">
              <a:spLocks noChangeArrowheads="1"/>
            </p:cNvSpPr>
            <p:nvPr/>
          </p:nvSpPr>
          <p:spPr bwMode="auto">
            <a:xfrm>
              <a:off x="6700184" y="3267027"/>
              <a:ext cx="379356" cy="451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600" i="1">
                  <a:ea typeface="宋体" pitchFamily="2" charset="-122"/>
                </a:rPr>
                <a:t>T</a:t>
              </a:r>
              <a:r>
                <a:rPr lang="en-US" altLang="zh-CN" sz="1600" b="0" baseline="-25000">
                  <a:ea typeface="宋体" pitchFamily="2" charset="-122"/>
                </a:rPr>
                <a:t>1</a:t>
              </a:r>
              <a:endParaRPr lang="zh-CN" altLang="zh-CN" sz="1600" b="0">
                <a:ea typeface="宋体" pitchFamily="2" charset="-122"/>
              </a:endParaRPr>
            </a:p>
          </p:txBody>
        </p:sp>
        <p:cxnSp>
          <p:nvCxnSpPr>
            <p:cNvPr id="26664" name="直接箭头连接符 60"/>
            <p:cNvCxnSpPr>
              <a:cxnSpLocks noChangeShapeType="1"/>
            </p:cNvCxnSpPr>
            <p:nvPr/>
          </p:nvCxnSpPr>
          <p:spPr bwMode="auto">
            <a:xfrm flipV="1">
              <a:off x="6730737" y="3252750"/>
              <a:ext cx="0" cy="423705"/>
            </a:xfrm>
            <a:prstGeom prst="straightConnector1">
              <a:avLst/>
            </a:prstGeom>
            <a:noFill/>
            <a:ln w="28575" algn="ctr">
              <a:solidFill>
                <a:srgbClr val="00B0F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65" name="直接箭头连接符 61"/>
            <p:cNvCxnSpPr>
              <a:cxnSpLocks noChangeShapeType="1"/>
            </p:cNvCxnSpPr>
            <p:nvPr/>
          </p:nvCxnSpPr>
          <p:spPr bwMode="auto">
            <a:xfrm>
              <a:off x="6730738" y="3921551"/>
              <a:ext cx="0" cy="302212"/>
            </a:xfrm>
            <a:prstGeom prst="straightConnector1">
              <a:avLst/>
            </a:prstGeom>
            <a:noFill/>
            <a:ln w="28575" algn="ctr">
              <a:solidFill>
                <a:srgbClr val="00B0F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7197725" y="3201988"/>
            <a:ext cx="1081088" cy="950912"/>
            <a:chOff x="4477" y="2096"/>
            <a:chExt cx="681" cy="798"/>
          </a:xfrm>
        </p:grpSpPr>
        <p:sp>
          <p:nvSpPr>
            <p:cNvPr id="26654" name="Line 33"/>
            <p:cNvSpPr>
              <a:spLocks noChangeShapeType="1"/>
            </p:cNvSpPr>
            <p:nvPr/>
          </p:nvSpPr>
          <p:spPr bwMode="auto">
            <a:xfrm>
              <a:off x="4976" y="2365"/>
              <a:ext cx="0" cy="22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26655" name="对象 32"/>
            <p:cNvGraphicFramePr>
              <a:graphicFrameLocks noChangeAspect="1"/>
            </p:cNvGraphicFramePr>
            <p:nvPr/>
          </p:nvGraphicFramePr>
          <p:xfrm>
            <a:off x="4976" y="2375"/>
            <a:ext cx="182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93" name="公式" r:id="rId6" imgW="177569" imgH="215619" progId="Equation.3">
                    <p:embed/>
                  </p:oleObj>
                </mc:Choice>
                <mc:Fallback>
                  <p:oleObj name="公式" r:id="rId6" imgW="177569" imgH="215619" progId="Equation.3">
                    <p:embed/>
                    <p:pic>
                      <p:nvPicPr>
                        <p:cNvPr id="0" name="对象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6" y="2375"/>
                          <a:ext cx="182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56" name="Text Box 36"/>
            <p:cNvSpPr txBox="1">
              <a:spLocks noChangeArrowheads="1"/>
            </p:cNvSpPr>
            <p:nvPr/>
          </p:nvSpPr>
          <p:spPr bwMode="auto">
            <a:xfrm>
              <a:off x="4477" y="2610"/>
              <a:ext cx="325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600" i="1">
                  <a:ea typeface="宋体" pitchFamily="2" charset="-122"/>
                </a:rPr>
                <a:t>m</a:t>
              </a:r>
              <a:r>
                <a:rPr lang="en-US" altLang="zh-CN" sz="1600" baseline="-25000">
                  <a:ea typeface="宋体" pitchFamily="2" charset="-122"/>
                </a:rPr>
                <a:t>2</a:t>
              </a:r>
              <a:r>
                <a:rPr lang="en-US" altLang="zh-CN" sz="1600" i="1">
                  <a:ea typeface="宋体" pitchFamily="2" charset="-122"/>
                </a:rPr>
                <a:t>g</a:t>
              </a:r>
              <a:endParaRPr lang="zh-CN" altLang="zh-CN" sz="1600" b="0">
                <a:ea typeface="宋体" pitchFamily="2" charset="-122"/>
              </a:endParaRPr>
            </a:p>
          </p:txBody>
        </p:sp>
        <p:sp>
          <p:nvSpPr>
            <p:cNvPr id="26657" name="Line 37"/>
            <p:cNvSpPr>
              <a:spLocks noChangeShapeType="1"/>
            </p:cNvSpPr>
            <p:nvPr/>
          </p:nvSpPr>
          <p:spPr bwMode="auto">
            <a:xfrm flipV="1">
              <a:off x="4802" y="2114"/>
              <a:ext cx="0" cy="273"/>
            </a:xfrm>
            <a:prstGeom prst="line">
              <a:avLst/>
            </a:prstGeom>
            <a:noFill/>
            <a:ln w="28575">
              <a:solidFill>
                <a:srgbClr val="00B0F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6658" name="Line 38"/>
            <p:cNvSpPr>
              <a:spLocks noChangeShapeType="1"/>
            </p:cNvSpPr>
            <p:nvPr/>
          </p:nvSpPr>
          <p:spPr bwMode="auto">
            <a:xfrm>
              <a:off x="4808" y="2584"/>
              <a:ext cx="0" cy="236"/>
            </a:xfrm>
            <a:prstGeom prst="line">
              <a:avLst/>
            </a:prstGeom>
            <a:noFill/>
            <a:ln w="28575">
              <a:solidFill>
                <a:srgbClr val="00B0F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6659" name="Text Box 39"/>
            <p:cNvSpPr txBox="1">
              <a:spLocks noChangeArrowheads="1"/>
            </p:cNvSpPr>
            <p:nvPr/>
          </p:nvSpPr>
          <p:spPr bwMode="auto">
            <a:xfrm>
              <a:off x="4577" y="2096"/>
              <a:ext cx="239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600" i="1">
                  <a:ea typeface="宋体" pitchFamily="2" charset="-122"/>
                </a:rPr>
                <a:t>T</a:t>
              </a:r>
              <a:r>
                <a:rPr lang="en-US" altLang="zh-CN" sz="1600" baseline="-25000">
                  <a:ea typeface="宋体" pitchFamily="2" charset="-122"/>
                </a:rPr>
                <a:t>2</a:t>
              </a:r>
              <a:endParaRPr lang="zh-CN" altLang="zh-CN" sz="1600" b="0">
                <a:ea typeface="宋体" pitchFamily="2" charset="-122"/>
              </a:endParaRPr>
            </a:p>
          </p:txBody>
        </p:sp>
      </p:grpSp>
      <p:grpSp>
        <p:nvGrpSpPr>
          <p:cNvPr id="9" name="组合 64"/>
          <p:cNvGrpSpPr>
            <a:grpSpLocks/>
          </p:cNvGrpSpPr>
          <p:nvPr/>
        </p:nvGrpSpPr>
        <p:grpSpPr bwMode="auto">
          <a:xfrm>
            <a:off x="4332288" y="2211388"/>
            <a:ext cx="1449387" cy="1579562"/>
            <a:chOff x="4332272" y="2948772"/>
            <a:chExt cx="1449242" cy="2106257"/>
          </a:xfrm>
        </p:grpSpPr>
        <p:sp>
          <p:nvSpPr>
            <p:cNvPr id="26637" name="Line 44"/>
            <p:cNvSpPr>
              <a:spLocks noChangeShapeType="1"/>
            </p:cNvSpPr>
            <p:nvPr/>
          </p:nvSpPr>
          <p:spPr bwMode="auto">
            <a:xfrm>
              <a:off x="4527256" y="3990485"/>
              <a:ext cx="0" cy="576263"/>
            </a:xfrm>
            <a:prstGeom prst="line">
              <a:avLst/>
            </a:prstGeom>
            <a:noFill/>
            <a:ln w="28575">
              <a:solidFill>
                <a:srgbClr val="00B0F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6638" name="Line 45"/>
            <p:cNvSpPr>
              <a:spLocks noChangeShapeType="1"/>
            </p:cNvSpPr>
            <p:nvPr/>
          </p:nvSpPr>
          <p:spPr bwMode="auto">
            <a:xfrm>
              <a:off x="5533633" y="3902075"/>
              <a:ext cx="3175" cy="663575"/>
            </a:xfrm>
            <a:prstGeom prst="line">
              <a:avLst/>
            </a:prstGeom>
            <a:noFill/>
            <a:ln w="28575">
              <a:solidFill>
                <a:srgbClr val="00B0F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6639" name="Oval 48"/>
            <p:cNvGrpSpPr>
              <a:grpSpLocks/>
            </p:cNvGrpSpPr>
            <p:nvPr/>
          </p:nvGrpSpPr>
          <p:grpSpPr bwMode="auto">
            <a:xfrm>
              <a:off x="4492720" y="3444231"/>
              <a:ext cx="1048407" cy="1048176"/>
              <a:chOff x="4492752" y="3444240"/>
              <a:chExt cx="1048512" cy="1048512"/>
            </a:xfrm>
          </p:grpSpPr>
          <p:pic>
            <p:nvPicPr>
              <p:cNvPr id="26652" name="Oval 48"/>
              <p:cNvPicPr preferRelativeResize="0">
                <a:picLocks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92752" y="3444240"/>
                <a:ext cx="1048512" cy="10485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653" name="Text Box 45"/>
              <p:cNvSpPr txBox="1">
                <a:spLocks noChangeArrowheads="1"/>
              </p:cNvSpPr>
              <p:nvPr/>
            </p:nvSpPr>
            <p:spPr bwMode="auto">
              <a:xfrm>
                <a:off x="4671998" y="3724659"/>
                <a:ext cx="699537" cy="4924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endParaRPr lang="zh-CN" altLang="zh-CN" sz="1800" b="0">
                  <a:ea typeface="宋体" pitchFamily="2" charset="-122"/>
                </a:endParaRPr>
              </a:p>
            </p:txBody>
          </p:sp>
        </p:grpSp>
        <p:sp>
          <p:nvSpPr>
            <p:cNvPr id="51" name="Oval 50"/>
            <p:cNvSpPr>
              <a:spLocks noChangeArrowheads="1"/>
            </p:cNvSpPr>
            <p:nvPr/>
          </p:nvSpPr>
          <p:spPr bwMode="auto">
            <a:xfrm>
              <a:off x="4905302" y="3602875"/>
              <a:ext cx="222228" cy="692208"/>
            </a:xfrm>
            <a:prstGeom prst="ellipse">
              <a:avLst/>
            </a:prstGeom>
            <a:noFill/>
            <a:ln w="38100" cmpd="dbl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xtLst/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zh-CN" sz="1800" b="0">
                <a:ea typeface="宋体" pitchFamily="2" charset="-122"/>
              </a:endParaRPr>
            </a:p>
          </p:txBody>
        </p:sp>
        <p:grpSp>
          <p:nvGrpSpPr>
            <p:cNvPr id="26641" name="Group 53"/>
            <p:cNvGrpSpPr>
              <a:grpSpLocks/>
            </p:cNvGrpSpPr>
            <p:nvPr/>
          </p:nvGrpSpPr>
          <p:grpSpPr bwMode="auto">
            <a:xfrm>
              <a:off x="4497486" y="3547569"/>
              <a:ext cx="744538" cy="641350"/>
              <a:chOff x="4444" y="2144"/>
              <a:chExt cx="469" cy="404"/>
            </a:xfrm>
          </p:grpSpPr>
          <p:sp>
            <p:nvSpPr>
              <p:cNvPr id="26650" name="Freeform 54"/>
              <p:cNvSpPr>
                <a:spLocks/>
              </p:cNvSpPr>
              <p:nvPr/>
            </p:nvSpPr>
            <p:spPr bwMode="auto">
              <a:xfrm rot="-678596">
                <a:off x="4576" y="2144"/>
                <a:ext cx="337" cy="388"/>
              </a:xfrm>
              <a:custGeom>
                <a:avLst/>
                <a:gdLst>
                  <a:gd name="T0" fmla="*/ 0 w 10000"/>
                  <a:gd name="T1" fmla="*/ 0 h 7359"/>
                  <a:gd name="T2" fmla="*/ 0 w 10000"/>
                  <a:gd name="T3" fmla="*/ 0 h 7359"/>
                  <a:gd name="T4" fmla="*/ 0 w 10000"/>
                  <a:gd name="T5" fmla="*/ 0 h 7359"/>
                  <a:gd name="T6" fmla="*/ 0 60000 65536"/>
                  <a:gd name="T7" fmla="*/ 0 60000 65536"/>
                  <a:gd name="T8" fmla="*/ 0 60000 65536"/>
                  <a:gd name="T9" fmla="*/ 0 w 10000"/>
                  <a:gd name="T10" fmla="*/ 0 h 7359"/>
                  <a:gd name="T11" fmla="*/ 10000 w 10000"/>
                  <a:gd name="T12" fmla="*/ 7359 h 735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000" h="7359">
                    <a:moveTo>
                      <a:pt x="10000" y="7359"/>
                    </a:moveTo>
                    <a:cubicBezTo>
                      <a:pt x="8838" y="2915"/>
                      <a:pt x="7849" y="684"/>
                      <a:pt x="6194" y="129"/>
                    </a:cubicBezTo>
                    <a:cubicBezTo>
                      <a:pt x="4539" y="-427"/>
                      <a:pt x="2183" y="803"/>
                      <a:pt x="0" y="4248"/>
                    </a:cubicBez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651" name="Text Box 55"/>
              <p:cNvSpPr txBox="1">
                <a:spLocks noChangeArrowheads="1"/>
              </p:cNvSpPr>
              <p:nvPr/>
            </p:nvSpPr>
            <p:spPr bwMode="auto">
              <a:xfrm>
                <a:off x="4444" y="2264"/>
                <a:ext cx="260" cy="2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1600" i="1">
                    <a:solidFill>
                      <a:srgbClr val="0000FF"/>
                    </a:solidFill>
                    <a:ea typeface="宋体" pitchFamily="2" charset="-122"/>
                  </a:rPr>
                  <a:t>M</a:t>
                </a:r>
                <a:r>
                  <a:rPr lang="en-US" altLang="zh-CN" sz="1600" i="1" baseline="-25000">
                    <a:solidFill>
                      <a:srgbClr val="0000FF"/>
                    </a:solidFill>
                    <a:ea typeface="宋体" pitchFamily="2" charset="-122"/>
                  </a:rPr>
                  <a:t>f</a:t>
                </a:r>
                <a:endParaRPr lang="zh-CN" altLang="zh-CN" sz="1600" b="0">
                  <a:ea typeface="宋体" pitchFamily="2" charset="-122"/>
                </a:endParaRPr>
              </a:p>
            </p:txBody>
          </p:sp>
        </p:grpSp>
        <p:sp>
          <p:nvSpPr>
            <p:cNvPr id="26642" name="Line 56"/>
            <p:cNvSpPr>
              <a:spLocks noChangeShapeType="1"/>
            </p:cNvSpPr>
            <p:nvPr/>
          </p:nvSpPr>
          <p:spPr bwMode="auto">
            <a:xfrm>
              <a:off x="5014913" y="4015885"/>
              <a:ext cx="0" cy="631529"/>
            </a:xfrm>
            <a:prstGeom prst="line">
              <a:avLst/>
            </a:prstGeom>
            <a:noFill/>
            <a:ln w="28575">
              <a:solidFill>
                <a:srgbClr val="00B0F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6643" name="Line 57"/>
            <p:cNvSpPr>
              <a:spLocks noChangeShapeType="1"/>
            </p:cNvSpPr>
            <p:nvPr/>
          </p:nvSpPr>
          <p:spPr bwMode="auto">
            <a:xfrm flipV="1">
              <a:off x="5015011" y="3054284"/>
              <a:ext cx="0" cy="834600"/>
            </a:xfrm>
            <a:prstGeom prst="line">
              <a:avLst/>
            </a:prstGeom>
            <a:noFill/>
            <a:ln w="28575">
              <a:solidFill>
                <a:srgbClr val="00B0F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6644" name="Text Box 58"/>
            <p:cNvSpPr txBox="1">
              <a:spLocks noChangeArrowheads="1"/>
            </p:cNvSpPr>
            <p:nvPr/>
          </p:nvSpPr>
          <p:spPr bwMode="auto">
            <a:xfrm>
              <a:off x="4814201" y="4590150"/>
              <a:ext cx="447558" cy="451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600" i="1">
                  <a:ea typeface="宋体" pitchFamily="2" charset="-122"/>
                </a:rPr>
                <a:t>mg</a:t>
              </a:r>
              <a:endParaRPr lang="zh-CN" altLang="zh-CN" sz="1600" b="0">
                <a:ea typeface="宋体" pitchFamily="2" charset="-122"/>
              </a:endParaRPr>
            </a:p>
          </p:txBody>
        </p:sp>
        <p:sp>
          <p:nvSpPr>
            <p:cNvPr id="26645" name="Text Box 59"/>
            <p:cNvSpPr txBox="1">
              <a:spLocks noChangeArrowheads="1"/>
            </p:cNvSpPr>
            <p:nvPr/>
          </p:nvSpPr>
          <p:spPr bwMode="auto">
            <a:xfrm>
              <a:off x="4654943" y="3008444"/>
              <a:ext cx="332142" cy="451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600" i="1">
                  <a:ea typeface="宋体" pitchFamily="2" charset="-122"/>
                </a:rPr>
                <a:t>N</a:t>
              </a:r>
              <a:endParaRPr lang="zh-CN" altLang="zh-CN" sz="1600" b="0">
                <a:ea typeface="宋体" pitchFamily="2" charset="-122"/>
              </a:endParaRPr>
            </a:p>
          </p:txBody>
        </p:sp>
        <p:sp>
          <p:nvSpPr>
            <p:cNvPr id="26646" name="TextBox 60"/>
            <p:cNvSpPr txBox="1">
              <a:spLocks noChangeArrowheads="1"/>
            </p:cNvSpPr>
            <p:nvPr/>
          </p:nvSpPr>
          <p:spPr bwMode="auto">
            <a:xfrm>
              <a:off x="5326145" y="3195687"/>
              <a:ext cx="296876" cy="451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1600" i="1">
                  <a:latin typeface="Symbol" pitchFamily="18" charset="2"/>
                  <a:ea typeface="宋体" pitchFamily="2" charset="-122"/>
                  <a:sym typeface="Symbol" pitchFamily="18" charset="2"/>
                </a:rPr>
                <a:t></a:t>
              </a:r>
              <a:endParaRPr lang="zh-CN" altLang="en-US" sz="1600" i="1">
                <a:latin typeface="Symbol" pitchFamily="18" charset="2"/>
                <a:ea typeface="宋体" pitchFamily="2" charset="-122"/>
              </a:endParaRPr>
            </a:p>
          </p:txBody>
        </p:sp>
        <p:graphicFrame>
          <p:nvGraphicFramePr>
            <p:cNvPr id="26647" name="对象 61"/>
            <p:cNvGraphicFramePr>
              <a:graphicFrameLocks noChangeAspect="1"/>
            </p:cNvGraphicFramePr>
            <p:nvPr/>
          </p:nvGraphicFramePr>
          <p:xfrm>
            <a:off x="5529476" y="4549609"/>
            <a:ext cx="252038" cy="3240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94" name="公式" r:id="rId9" imgW="177646" imgH="228402" progId="Equation.3">
                    <p:embed/>
                  </p:oleObj>
                </mc:Choice>
                <mc:Fallback>
                  <p:oleObj name="公式" r:id="rId9" imgW="177646" imgH="228402" progId="Equation.3">
                    <p:embed/>
                    <p:pic>
                      <p:nvPicPr>
                        <p:cNvPr id="0" name="对象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29476" y="4549609"/>
                          <a:ext cx="252038" cy="3240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8" name="对象 62"/>
            <p:cNvGraphicFramePr>
              <a:graphicFrameLocks noChangeAspect="1"/>
            </p:cNvGraphicFramePr>
            <p:nvPr/>
          </p:nvGraphicFramePr>
          <p:xfrm>
            <a:off x="4332272" y="4559036"/>
            <a:ext cx="252038" cy="3240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95" name="公式" r:id="rId11" imgW="177646" imgH="228402" progId="Equation.3">
                    <p:embed/>
                  </p:oleObj>
                </mc:Choice>
                <mc:Fallback>
                  <p:oleObj name="公式" r:id="rId11" imgW="177646" imgH="228402" progId="Equation.3">
                    <p:embed/>
                    <p:pic>
                      <p:nvPicPr>
                        <p:cNvPr id="0" name="对象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2272" y="4559036"/>
                          <a:ext cx="252038" cy="3240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" name="弧形 63"/>
            <p:cNvSpPr>
              <a:spLocks noChangeArrowheads="1"/>
            </p:cNvSpPr>
            <p:nvPr/>
          </p:nvSpPr>
          <p:spPr bwMode="auto">
            <a:xfrm>
              <a:off x="4354495" y="2948772"/>
              <a:ext cx="1292096" cy="2106257"/>
            </a:xfrm>
            <a:custGeom>
              <a:avLst/>
              <a:gdLst>
                <a:gd name="T0" fmla="*/ 818141 w 1292096"/>
                <a:gd name="T1" fmla="*/ 23338 h 1291811"/>
                <a:gd name="T2" fmla="*/ 646048 w 1292096"/>
                <a:gd name="T3" fmla="*/ 645906 h 1291811"/>
                <a:gd name="T4" fmla="*/ 1205229 w 1292096"/>
                <a:gd name="T5" fmla="*/ 322411 h 1291811"/>
                <a:gd name="T6" fmla="*/ 11796480 60000 65536"/>
                <a:gd name="T7" fmla="*/ 17694720 60000 65536"/>
                <a:gd name="T8" fmla="*/ 5898240 60000 65536"/>
                <a:gd name="T9" fmla="*/ 818141 w 1292096"/>
                <a:gd name="T10" fmla="*/ 23338 h 1291811"/>
                <a:gd name="T11" fmla="*/ 1205229 w 1292096"/>
                <a:gd name="T12" fmla="*/ 322411 h 12918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2096" h="1291811" stroke="0">
                  <a:moveTo>
                    <a:pt x="818141" y="23338"/>
                  </a:moveTo>
                  <a:lnTo>
                    <a:pt x="818141" y="23337"/>
                  </a:lnTo>
                  <a:cubicBezTo>
                    <a:pt x="981394" y="68445"/>
                    <a:pt x="1120400" y="175845"/>
                    <a:pt x="1205228" y="322412"/>
                  </a:cubicBezTo>
                  <a:lnTo>
                    <a:pt x="646048" y="645906"/>
                  </a:lnTo>
                  <a:close/>
                </a:path>
                <a:path w="1292096" h="1291811" fill="none">
                  <a:moveTo>
                    <a:pt x="818141" y="23338"/>
                  </a:moveTo>
                  <a:lnTo>
                    <a:pt x="818141" y="23337"/>
                  </a:lnTo>
                  <a:cubicBezTo>
                    <a:pt x="981394" y="68445"/>
                    <a:pt x="1120400" y="175845"/>
                    <a:pt x="1205228" y="322412"/>
                  </a:cubicBezTo>
                </a:path>
              </a:pathLst>
            </a:custGeom>
            <a:noFill/>
            <a:ln w="19050" algn="ctr">
              <a:solidFill>
                <a:srgbClr val="FF0000"/>
              </a:solidFill>
              <a:miter lim="800000"/>
              <a:headEnd/>
              <a:tailEnd type="arrow" w="med" len="med"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sz="1800" b="0">
                <a:latin typeface="+mn-lt"/>
                <a:ea typeface="+mn-ea"/>
              </a:endParaRPr>
            </a:p>
          </p:txBody>
        </p:sp>
      </p:grpSp>
      <p:sp>
        <p:nvSpPr>
          <p:cNvPr id="66" name="Text Box 60"/>
          <p:cNvSpPr txBox="1">
            <a:spLocks noChangeArrowheads="1"/>
          </p:cNvSpPr>
          <p:nvPr/>
        </p:nvSpPr>
        <p:spPr bwMode="auto">
          <a:xfrm>
            <a:off x="946150" y="2609850"/>
            <a:ext cx="2978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1800">
                <a:ea typeface="华文中宋" pitchFamily="2" charset="-122"/>
              </a:rPr>
              <a:t> </a:t>
            </a:r>
            <a:r>
              <a:rPr lang="zh-CN" altLang="en-US" sz="1800">
                <a:ea typeface="华文中宋" pitchFamily="2" charset="-122"/>
              </a:rPr>
              <a:t>因绳不伸长，有 </a:t>
            </a:r>
            <a:endParaRPr lang="zh-CN" altLang="en-US" sz="1800" b="0">
              <a:ea typeface="华文中宋" pitchFamily="2" charset="-122"/>
            </a:endParaRPr>
          </a:p>
        </p:txBody>
      </p:sp>
      <p:sp>
        <p:nvSpPr>
          <p:cNvPr id="67" name="Text Box 61"/>
          <p:cNvSpPr txBox="1">
            <a:spLocks noChangeArrowheads="1"/>
          </p:cNvSpPr>
          <p:nvPr/>
        </p:nvSpPr>
        <p:spPr bwMode="auto">
          <a:xfrm>
            <a:off x="1498600" y="2932113"/>
            <a:ext cx="20574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800">
                <a:ea typeface="宋体" pitchFamily="2" charset="-122"/>
              </a:rPr>
              <a:t>  </a:t>
            </a:r>
            <a:r>
              <a:rPr lang="en-US" altLang="zh-CN" sz="2800" i="1">
                <a:ea typeface="宋体" pitchFamily="2" charset="-122"/>
              </a:rPr>
              <a:t>a</a:t>
            </a:r>
            <a:r>
              <a:rPr lang="en-US" altLang="zh-CN" sz="2800" baseline="-25000">
                <a:ea typeface="宋体" pitchFamily="2" charset="-122"/>
              </a:rPr>
              <a:t>1</a:t>
            </a:r>
            <a:r>
              <a:rPr lang="en-US" altLang="zh-CN" sz="2800" i="1">
                <a:ea typeface="宋体" pitchFamily="2" charset="-122"/>
              </a:rPr>
              <a:t>= a</a:t>
            </a:r>
            <a:r>
              <a:rPr lang="en-US" altLang="zh-CN" sz="2800" baseline="-25000">
                <a:ea typeface="宋体" pitchFamily="2" charset="-122"/>
              </a:rPr>
              <a:t>2</a:t>
            </a:r>
            <a:r>
              <a:rPr lang="en-US" altLang="zh-CN" sz="2800" i="1">
                <a:ea typeface="宋体" pitchFamily="2" charset="-122"/>
              </a:rPr>
              <a:t>= a</a:t>
            </a:r>
            <a:endParaRPr lang="zh-CN" altLang="zh-CN" sz="1800" b="0">
              <a:ea typeface="宋体" pitchFamily="2" charset="-122"/>
            </a:endParaRPr>
          </a:p>
        </p:txBody>
      </p:sp>
      <p:sp>
        <p:nvSpPr>
          <p:cNvPr id="68" name="Text Box 4"/>
          <p:cNvSpPr txBox="1">
            <a:spLocks noChangeArrowheads="1"/>
          </p:cNvSpPr>
          <p:nvPr/>
        </p:nvSpPr>
        <p:spPr bwMode="auto">
          <a:xfrm>
            <a:off x="895350" y="3559175"/>
            <a:ext cx="2308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1800">
                <a:ea typeface="华文中宋" pitchFamily="2" charset="-122"/>
              </a:rPr>
              <a:t> </a:t>
            </a:r>
            <a:r>
              <a:rPr lang="zh-CN" altLang="en-US" sz="1800">
                <a:ea typeface="华文中宋" pitchFamily="2" charset="-122"/>
              </a:rPr>
              <a:t>因绳轻，有 </a:t>
            </a:r>
            <a:endParaRPr lang="zh-CN" altLang="en-US" sz="1800" b="0">
              <a:ea typeface="华文中宋" pitchFamily="2" charset="-122"/>
            </a:endParaRPr>
          </a:p>
        </p:txBody>
      </p:sp>
      <p:graphicFrame>
        <p:nvGraphicFramePr>
          <p:cNvPr id="18444" name="对象 68"/>
          <p:cNvGraphicFramePr>
            <a:graphicFrameLocks noChangeAspect="1"/>
          </p:cNvGraphicFramePr>
          <p:nvPr/>
        </p:nvGraphicFramePr>
        <p:xfrm>
          <a:off x="2917825" y="3867150"/>
          <a:ext cx="158273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6" name="公式" r:id="rId13" imgW="685800" imgH="228600" progId="Equation.3">
                  <p:embed/>
                </p:oleObj>
              </mc:Choice>
              <mc:Fallback>
                <p:oleObj name="公式" r:id="rId13" imgW="685800" imgH="228600" progId="Equation.3">
                  <p:embed/>
                  <p:pic>
                    <p:nvPicPr>
                      <p:cNvPr id="0" name="对象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7825" y="3867150"/>
                        <a:ext cx="1582738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5" name="对象 69"/>
          <p:cNvGraphicFramePr>
            <a:graphicFrameLocks noChangeAspect="1"/>
          </p:cNvGraphicFramePr>
          <p:nvPr/>
        </p:nvGraphicFramePr>
        <p:xfrm>
          <a:off x="2916238" y="4256088"/>
          <a:ext cx="1601787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7" name="公式" r:id="rId15" imgW="698500" imgH="228600" progId="Equation.3">
                  <p:embed/>
                </p:oleObj>
              </mc:Choice>
              <mc:Fallback>
                <p:oleObj name="公式" r:id="rId15" imgW="698500" imgH="228600" progId="Equation.3">
                  <p:embed/>
                  <p:pic>
                    <p:nvPicPr>
                      <p:cNvPr id="0" name="对象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256088"/>
                        <a:ext cx="1601787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3" grpId="0"/>
      <p:bldP spid="66" grpId="0"/>
      <p:bldP spid="67" grpId="0"/>
      <p:bldP spid="6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99" name="Text Box 7"/>
          <p:cNvSpPr txBox="1">
            <a:spLocks noChangeArrowheads="1"/>
          </p:cNvSpPr>
          <p:nvPr/>
        </p:nvSpPr>
        <p:spPr bwMode="auto">
          <a:xfrm>
            <a:off x="684213" y="835025"/>
            <a:ext cx="54451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1800">
                <a:ea typeface="华文中宋" pitchFamily="2" charset="-122"/>
              </a:rPr>
              <a:t> </a:t>
            </a:r>
            <a:r>
              <a:rPr lang="zh-CN" altLang="en-US" sz="1800">
                <a:ea typeface="华文中宋" pitchFamily="2" charset="-122"/>
              </a:rPr>
              <a:t>以</a:t>
            </a:r>
            <a:r>
              <a:rPr lang="zh-CN" altLang="en-US" sz="1800">
                <a:solidFill>
                  <a:srgbClr val="FF0000"/>
                </a:solidFill>
                <a:ea typeface="华文中宋" pitchFamily="2" charset="-122"/>
              </a:rPr>
              <a:t>加速度方向为正</a:t>
            </a:r>
            <a:r>
              <a:rPr lang="zh-CN" altLang="en-US" sz="1800">
                <a:ea typeface="华文中宋" pitchFamily="2" charset="-122"/>
              </a:rPr>
              <a:t>，可列出 </a:t>
            </a:r>
            <a:endParaRPr lang="zh-CN" altLang="en-US" sz="1800" b="0">
              <a:ea typeface="华文中宋" pitchFamily="2" charset="-122"/>
            </a:endParaRPr>
          </a:p>
        </p:txBody>
      </p:sp>
      <p:sp>
        <p:nvSpPr>
          <p:cNvPr id="64" name="Text Box 28"/>
          <p:cNvSpPr txBox="1">
            <a:spLocks noChangeArrowheads="1"/>
          </p:cNvSpPr>
          <p:nvPr/>
        </p:nvSpPr>
        <p:spPr bwMode="auto">
          <a:xfrm>
            <a:off x="1187450" y="1193800"/>
            <a:ext cx="5395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对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m</a:t>
            </a:r>
            <a:r>
              <a:rPr lang="en-US" altLang="zh-CN" sz="1800" baseline="-25000">
                <a:solidFill>
                  <a:srgbClr val="0000FF"/>
                </a:solidFill>
                <a:ea typeface="华文中宋" pitchFamily="2" charset="-122"/>
              </a:rPr>
              <a:t>1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有：    </a:t>
            </a:r>
            <a:r>
              <a:rPr lang="en-US" altLang="zh-CN" sz="1800" i="1">
                <a:ea typeface="华文中宋" pitchFamily="2" charset="-122"/>
              </a:rPr>
              <a:t>T</a:t>
            </a:r>
            <a:r>
              <a:rPr lang="en-US" altLang="zh-CN" sz="1800" baseline="-25000">
                <a:ea typeface="华文中宋" pitchFamily="2" charset="-122"/>
              </a:rPr>
              <a:t>1</a:t>
            </a:r>
            <a:r>
              <a:rPr lang="en-US" altLang="zh-CN" sz="1800">
                <a:ea typeface="华文中宋" pitchFamily="2" charset="-122"/>
              </a:rPr>
              <a:t> - </a:t>
            </a:r>
            <a:r>
              <a:rPr lang="en-US" altLang="zh-CN" sz="1800" i="1">
                <a:ea typeface="华文中宋" pitchFamily="2" charset="-122"/>
              </a:rPr>
              <a:t>m</a:t>
            </a:r>
            <a:r>
              <a:rPr lang="en-US" altLang="zh-CN" sz="1800" baseline="-25000">
                <a:ea typeface="华文中宋" pitchFamily="2" charset="-122"/>
              </a:rPr>
              <a:t>1</a:t>
            </a:r>
            <a:r>
              <a:rPr lang="en-US" altLang="zh-CN" sz="1800" i="1">
                <a:ea typeface="华文中宋" pitchFamily="2" charset="-122"/>
              </a:rPr>
              <a:t>g </a:t>
            </a:r>
            <a:r>
              <a:rPr lang="en-US" altLang="zh-CN" sz="1800">
                <a:ea typeface="华文中宋" pitchFamily="2" charset="-122"/>
              </a:rPr>
              <a:t>= </a:t>
            </a:r>
            <a:r>
              <a:rPr lang="en-US" altLang="zh-CN" sz="1800" i="1">
                <a:ea typeface="华文中宋" pitchFamily="2" charset="-122"/>
              </a:rPr>
              <a:t>m</a:t>
            </a:r>
            <a:r>
              <a:rPr lang="en-US" altLang="zh-CN" sz="1800" baseline="-25000">
                <a:ea typeface="华文中宋" pitchFamily="2" charset="-122"/>
              </a:rPr>
              <a:t>1</a:t>
            </a:r>
            <a:r>
              <a:rPr lang="en-US" altLang="zh-CN" sz="1800" i="1">
                <a:ea typeface="华文中宋" pitchFamily="2" charset="-122"/>
              </a:rPr>
              <a:t>a</a:t>
            </a:r>
            <a:r>
              <a:rPr lang="en-US" altLang="zh-CN" sz="1800">
                <a:ea typeface="华文中宋" pitchFamily="2" charset="-122"/>
              </a:rPr>
              <a:t>                                       (1)</a:t>
            </a:r>
            <a:endParaRPr lang="zh-CN" altLang="zh-CN" sz="1800" b="0">
              <a:ea typeface="华文中宋" pitchFamily="2" charset="-122"/>
            </a:endParaRPr>
          </a:p>
        </p:txBody>
      </p:sp>
      <p:sp>
        <p:nvSpPr>
          <p:cNvPr id="67" name="Text Box 47"/>
          <p:cNvSpPr txBox="1">
            <a:spLocks noChangeArrowheads="1"/>
          </p:cNvSpPr>
          <p:nvPr/>
        </p:nvSpPr>
        <p:spPr bwMode="auto">
          <a:xfrm>
            <a:off x="1166813" y="1554163"/>
            <a:ext cx="5416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对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m</a:t>
            </a:r>
            <a:r>
              <a:rPr lang="en-US" altLang="zh-CN" sz="1800" baseline="-25000">
                <a:solidFill>
                  <a:srgbClr val="0000FF"/>
                </a:solidFill>
                <a:ea typeface="华文中宋" pitchFamily="2" charset="-122"/>
              </a:rPr>
              <a:t>2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有：    </a:t>
            </a:r>
            <a:r>
              <a:rPr lang="en-US" altLang="zh-CN" sz="1800" i="1">
                <a:ea typeface="华文中宋" pitchFamily="2" charset="-122"/>
              </a:rPr>
              <a:t>m</a:t>
            </a:r>
            <a:r>
              <a:rPr lang="en-US" altLang="zh-CN" sz="1800" baseline="-25000">
                <a:ea typeface="华文中宋" pitchFamily="2" charset="-122"/>
              </a:rPr>
              <a:t>2</a:t>
            </a:r>
            <a:r>
              <a:rPr lang="en-US" altLang="zh-CN" sz="1800" i="1">
                <a:ea typeface="华文中宋" pitchFamily="2" charset="-122"/>
              </a:rPr>
              <a:t>g</a:t>
            </a:r>
            <a:r>
              <a:rPr lang="en-US" altLang="zh-CN" sz="1800">
                <a:ea typeface="华文中宋" pitchFamily="2" charset="-122"/>
              </a:rPr>
              <a:t> - </a:t>
            </a:r>
            <a:r>
              <a:rPr lang="en-US" altLang="zh-CN" sz="1800" i="1">
                <a:ea typeface="华文中宋" pitchFamily="2" charset="-122"/>
              </a:rPr>
              <a:t>T</a:t>
            </a:r>
            <a:r>
              <a:rPr lang="en-US" altLang="zh-CN" sz="1800" baseline="-25000">
                <a:ea typeface="华文中宋" pitchFamily="2" charset="-122"/>
              </a:rPr>
              <a:t>2</a:t>
            </a:r>
            <a:r>
              <a:rPr lang="en-US" altLang="zh-CN" sz="1800">
                <a:ea typeface="华文中宋" pitchFamily="2" charset="-122"/>
              </a:rPr>
              <a:t>= </a:t>
            </a:r>
            <a:r>
              <a:rPr lang="en-US" altLang="zh-CN" sz="1800" i="1">
                <a:ea typeface="华文中宋" pitchFamily="2" charset="-122"/>
              </a:rPr>
              <a:t>m</a:t>
            </a:r>
            <a:r>
              <a:rPr lang="en-US" altLang="zh-CN" sz="1800" baseline="-25000">
                <a:ea typeface="华文中宋" pitchFamily="2" charset="-122"/>
              </a:rPr>
              <a:t>2</a:t>
            </a:r>
            <a:r>
              <a:rPr lang="en-US" altLang="zh-CN" sz="1800" i="1">
                <a:ea typeface="华文中宋" pitchFamily="2" charset="-122"/>
              </a:rPr>
              <a:t>a</a:t>
            </a:r>
            <a:r>
              <a:rPr lang="en-US" altLang="zh-CN" sz="1800">
                <a:ea typeface="华文中宋" pitchFamily="2" charset="-122"/>
              </a:rPr>
              <a:t>                                         (2)</a:t>
            </a:r>
            <a:endParaRPr lang="zh-CN" altLang="zh-CN" sz="1800" b="0">
              <a:ea typeface="华文中宋" pitchFamily="2" charset="-122"/>
            </a:endParaRPr>
          </a:p>
        </p:txBody>
      </p:sp>
      <p:sp>
        <p:nvSpPr>
          <p:cNvPr id="135" name="Text Box 77"/>
          <p:cNvSpPr txBox="1">
            <a:spLocks noChangeArrowheads="1"/>
          </p:cNvSpPr>
          <p:nvPr/>
        </p:nvSpPr>
        <p:spPr bwMode="auto">
          <a:xfrm>
            <a:off x="1131888" y="1908175"/>
            <a:ext cx="35845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FF"/>
                </a:solidFill>
                <a:ea typeface="华文中宋" pitchFamily="2" charset="-122"/>
              </a:rPr>
              <a:t>对</a:t>
            </a:r>
            <a:r>
              <a:rPr lang="en-US" altLang="zh-CN" sz="1800" i="1">
                <a:solidFill>
                  <a:srgbClr val="3333FF"/>
                </a:solidFill>
                <a:ea typeface="华文中宋" pitchFamily="2" charset="-122"/>
              </a:rPr>
              <a:t>m</a:t>
            </a:r>
            <a:r>
              <a:rPr lang="zh-CN" altLang="en-US" sz="1800">
                <a:solidFill>
                  <a:srgbClr val="3333FF"/>
                </a:solidFill>
                <a:ea typeface="华文中宋" pitchFamily="2" charset="-122"/>
              </a:rPr>
              <a:t>滑轮：</a:t>
            </a:r>
            <a:r>
              <a:rPr lang="zh-CN" altLang="zh-CN" sz="1800">
                <a:ea typeface="华文中宋" pitchFamily="2" charset="-122"/>
              </a:rPr>
              <a:t>以“</a:t>
            </a:r>
            <a:r>
              <a:rPr lang="zh-CN" altLang="zh-CN" sz="1800" i="1">
                <a:ea typeface="华文中宋" pitchFamily="2" charset="-122"/>
                <a:sym typeface="Symbol" pitchFamily="18" charset="2"/>
              </a:rPr>
              <a:t></a:t>
            </a:r>
            <a:r>
              <a:rPr lang="zh-CN" altLang="zh-CN" sz="1800">
                <a:ea typeface="华文中宋" pitchFamily="2" charset="-122"/>
              </a:rPr>
              <a:t> 方向” 为正</a:t>
            </a:r>
            <a:endParaRPr lang="zh-CN" altLang="en-US" sz="1800" b="0">
              <a:ea typeface="华文中宋" pitchFamily="2" charset="-122"/>
            </a:endParaRPr>
          </a:p>
        </p:txBody>
      </p:sp>
      <p:grpSp>
        <p:nvGrpSpPr>
          <p:cNvPr id="2" name="组合 151"/>
          <p:cNvGrpSpPr>
            <a:grpSpLocks/>
          </p:cNvGrpSpPr>
          <p:nvPr/>
        </p:nvGrpSpPr>
        <p:grpSpPr bwMode="auto">
          <a:xfrm>
            <a:off x="6877050" y="1573213"/>
            <a:ext cx="1449388" cy="1584325"/>
            <a:chOff x="4332272" y="2945547"/>
            <a:chExt cx="1449242" cy="2112763"/>
          </a:xfrm>
        </p:grpSpPr>
        <p:sp>
          <p:nvSpPr>
            <p:cNvPr id="27664" name="Line 44"/>
            <p:cNvSpPr>
              <a:spLocks noChangeShapeType="1"/>
            </p:cNvSpPr>
            <p:nvPr/>
          </p:nvSpPr>
          <p:spPr bwMode="auto">
            <a:xfrm>
              <a:off x="4527256" y="3990485"/>
              <a:ext cx="0" cy="576263"/>
            </a:xfrm>
            <a:prstGeom prst="line">
              <a:avLst/>
            </a:prstGeom>
            <a:noFill/>
            <a:ln w="28575">
              <a:solidFill>
                <a:srgbClr val="00B0F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65" name="Line 45"/>
            <p:cNvSpPr>
              <a:spLocks noChangeShapeType="1"/>
            </p:cNvSpPr>
            <p:nvPr/>
          </p:nvSpPr>
          <p:spPr bwMode="auto">
            <a:xfrm>
              <a:off x="5533633" y="3902075"/>
              <a:ext cx="3175" cy="663575"/>
            </a:xfrm>
            <a:prstGeom prst="line">
              <a:avLst/>
            </a:prstGeom>
            <a:noFill/>
            <a:ln w="28575">
              <a:solidFill>
                <a:srgbClr val="00B0F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7666" name="Oval 48"/>
            <p:cNvGrpSpPr>
              <a:grpSpLocks/>
            </p:cNvGrpSpPr>
            <p:nvPr/>
          </p:nvGrpSpPr>
          <p:grpSpPr bwMode="auto">
            <a:xfrm>
              <a:off x="4496085" y="3444973"/>
              <a:ext cx="1048406" cy="1049044"/>
              <a:chOff x="7040880" y="2596896"/>
              <a:chExt cx="1048512" cy="1048512"/>
            </a:xfrm>
          </p:grpSpPr>
          <p:pic>
            <p:nvPicPr>
              <p:cNvPr id="27679" name="Oval 48"/>
              <p:cNvPicPr preferRelativeResize="0">
                <a:picLocks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40880" y="2596896"/>
                <a:ext cx="1048512" cy="10485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680" name="Text Box 12"/>
              <p:cNvSpPr txBox="1">
                <a:spLocks noChangeArrowheads="1"/>
              </p:cNvSpPr>
              <p:nvPr/>
            </p:nvSpPr>
            <p:spPr bwMode="auto">
              <a:xfrm>
                <a:off x="7216954" y="2875725"/>
                <a:ext cx="699537" cy="4924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endParaRPr lang="zh-CN" altLang="zh-CN" sz="1800" b="0">
                  <a:ea typeface="宋体" pitchFamily="2" charset="-122"/>
                </a:endParaRPr>
              </a:p>
            </p:txBody>
          </p:sp>
        </p:grpSp>
        <p:sp>
          <p:nvSpPr>
            <p:cNvPr id="156" name="Oval 50"/>
            <p:cNvSpPr>
              <a:spLocks noChangeArrowheads="1"/>
            </p:cNvSpPr>
            <p:nvPr/>
          </p:nvSpPr>
          <p:spPr bwMode="auto">
            <a:xfrm>
              <a:off x="4905302" y="3601816"/>
              <a:ext cx="222228" cy="692257"/>
            </a:xfrm>
            <a:prstGeom prst="ellipse">
              <a:avLst/>
            </a:prstGeom>
            <a:noFill/>
            <a:ln w="38100" cmpd="dbl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xtLst/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zh-CN" sz="1800" b="0">
                <a:ea typeface="宋体" pitchFamily="2" charset="-122"/>
              </a:endParaRPr>
            </a:p>
          </p:txBody>
        </p:sp>
        <p:grpSp>
          <p:nvGrpSpPr>
            <p:cNvPr id="27668" name="Group 53"/>
            <p:cNvGrpSpPr>
              <a:grpSpLocks/>
            </p:cNvGrpSpPr>
            <p:nvPr/>
          </p:nvGrpSpPr>
          <p:grpSpPr bwMode="auto">
            <a:xfrm>
              <a:off x="4346676" y="3295158"/>
              <a:ext cx="895351" cy="866776"/>
              <a:chOff x="4349" y="1985"/>
              <a:chExt cx="564" cy="546"/>
            </a:xfrm>
          </p:grpSpPr>
          <p:sp>
            <p:nvSpPr>
              <p:cNvPr id="27677" name="Freeform 54"/>
              <p:cNvSpPr>
                <a:spLocks/>
              </p:cNvSpPr>
              <p:nvPr/>
            </p:nvSpPr>
            <p:spPr bwMode="auto">
              <a:xfrm rot="-678596">
                <a:off x="4576" y="2143"/>
                <a:ext cx="337" cy="388"/>
              </a:xfrm>
              <a:custGeom>
                <a:avLst/>
                <a:gdLst>
                  <a:gd name="T0" fmla="*/ 0 w 10000"/>
                  <a:gd name="T1" fmla="*/ 0 h 7359"/>
                  <a:gd name="T2" fmla="*/ 0 w 10000"/>
                  <a:gd name="T3" fmla="*/ 0 h 7359"/>
                  <a:gd name="T4" fmla="*/ 0 w 10000"/>
                  <a:gd name="T5" fmla="*/ 0 h 7359"/>
                  <a:gd name="T6" fmla="*/ 0 60000 65536"/>
                  <a:gd name="T7" fmla="*/ 0 60000 65536"/>
                  <a:gd name="T8" fmla="*/ 0 60000 65536"/>
                  <a:gd name="T9" fmla="*/ 0 w 10000"/>
                  <a:gd name="T10" fmla="*/ 0 h 7359"/>
                  <a:gd name="T11" fmla="*/ 10000 w 10000"/>
                  <a:gd name="T12" fmla="*/ 7359 h 735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000" h="7359">
                    <a:moveTo>
                      <a:pt x="10000" y="7359"/>
                    </a:moveTo>
                    <a:cubicBezTo>
                      <a:pt x="8838" y="2915"/>
                      <a:pt x="7849" y="684"/>
                      <a:pt x="6194" y="129"/>
                    </a:cubicBezTo>
                    <a:cubicBezTo>
                      <a:pt x="4539" y="-427"/>
                      <a:pt x="2183" y="803"/>
                      <a:pt x="0" y="4248"/>
                    </a:cubicBez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7678" name="Text Box 55"/>
              <p:cNvSpPr txBox="1">
                <a:spLocks noChangeArrowheads="1"/>
              </p:cNvSpPr>
              <p:nvPr/>
            </p:nvSpPr>
            <p:spPr bwMode="auto">
              <a:xfrm>
                <a:off x="4349" y="1985"/>
                <a:ext cx="260" cy="2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1600" i="1">
                    <a:solidFill>
                      <a:srgbClr val="0000FF"/>
                    </a:solidFill>
                    <a:ea typeface="宋体" pitchFamily="2" charset="-122"/>
                  </a:rPr>
                  <a:t>M</a:t>
                </a:r>
                <a:r>
                  <a:rPr lang="en-US" altLang="zh-CN" sz="1600" i="1" baseline="-25000">
                    <a:solidFill>
                      <a:srgbClr val="0000FF"/>
                    </a:solidFill>
                    <a:ea typeface="宋体" pitchFamily="2" charset="-122"/>
                  </a:rPr>
                  <a:t>f</a:t>
                </a:r>
                <a:endParaRPr lang="zh-CN" altLang="zh-CN" sz="1600" b="0">
                  <a:ea typeface="宋体" pitchFamily="2" charset="-122"/>
                </a:endParaRPr>
              </a:p>
            </p:txBody>
          </p:sp>
        </p:grpSp>
        <p:sp>
          <p:nvSpPr>
            <p:cNvPr id="27669" name="Line 56"/>
            <p:cNvSpPr>
              <a:spLocks noChangeShapeType="1"/>
            </p:cNvSpPr>
            <p:nvPr/>
          </p:nvSpPr>
          <p:spPr bwMode="auto">
            <a:xfrm>
              <a:off x="5014913" y="4015885"/>
              <a:ext cx="0" cy="631529"/>
            </a:xfrm>
            <a:prstGeom prst="line">
              <a:avLst/>
            </a:prstGeom>
            <a:noFill/>
            <a:ln w="28575">
              <a:solidFill>
                <a:srgbClr val="00B0F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70" name="Line 57"/>
            <p:cNvSpPr>
              <a:spLocks noChangeShapeType="1"/>
            </p:cNvSpPr>
            <p:nvPr/>
          </p:nvSpPr>
          <p:spPr bwMode="auto">
            <a:xfrm flipV="1">
              <a:off x="5015011" y="3054284"/>
              <a:ext cx="0" cy="834600"/>
            </a:xfrm>
            <a:prstGeom prst="line">
              <a:avLst/>
            </a:prstGeom>
            <a:noFill/>
            <a:ln w="28575">
              <a:solidFill>
                <a:srgbClr val="00B0F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671" name="Text Box 58"/>
            <p:cNvSpPr txBox="1">
              <a:spLocks noChangeArrowheads="1"/>
            </p:cNvSpPr>
            <p:nvPr/>
          </p:nvSpPr>
          <p:spPr bwMode="auto">
            <a:xfrm>
              <a:off x="4814201" y="4590150"/>
              <a:ext cx="447558" cy="451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600" i="1">
                  <a:ea typeface="宋体" pitchFamily="2" charset="-122"/>
                </a:rPr>
                <a:t>mg</a:t>
              </a:r>
              <a:endParaRPr lang="zh-CN" altLang="zh-CN" sz="1600" b="0">
                <a:ea typeface="宋体" pitchFamily="2" charset="-122"/>
              </a:endParaRPr>
            </a:p>
          </p:txBody>
        </p:sp>
        <p:sp>
          <p:nvSpPr>
            <p:cNvPr id="27672" name="Text Box 59"/>
            <p:cNvSpPr txBox="1">
              <a:spLocks noChangeArrowheads="1"/>
            </p:cNvSpPr>
            <p:nvPr/>
          </p:nvSpPr>
          <p:spPr bwMode="auto">
            <a:xfrm>
              <a:off x="4654943" y="3008444"/>
              <a:ext cx="332142" cy="451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600" i="1">
                  <a:ea typeface="宋体" pitchFamily="2" charset="-122"/>
                </a:rPr>
                <a:t>N</a:t>
              </a:r>
              <a:endParaRPr lang="zh-CN" altLang="zh-CN" sz="1600" b="0">
                <a:ea typeface="宋体" pitchFamily="2" charset="-122"/>
              </a:endParaRPr>
            </a:p>
          </p:txBody>
        </p:sp>
        <p:sp>
          <p:nvSpPr>
            <p:cNvPr id="27673" name="TextBox 161"/>
            <p:cNvSpPr txBox="1">
              <a:spLocks noChangeArrowheads="1"/>
            </p:cNvSpPr>
            <p:nvPr/>
          </p:nvSpPr>
          <p:spPr bwMode="auto">
            <a:xfrm>
              <a:off x="5326145" y="3195687"/>
              <a:ext cx="296876" cy="451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1600" i="1">
                  <a:latin typeface="Symbol" pitchFamily="18" charset="2"/>
                  <a:ea typeface="宋体" pitchFamily="2" charset="-122"/>
                  <a:sym typeface="Symbol" pitchFamily="18" charset="2"/>
                </a:rPr>
                <a:t></a:t>
              </a:r>
              <a:endParaRPr lang="zh-CN" altLang="en-US" sz="1600" i="1">
                <a:latin typeface="Symbol" pitchFamily="18" charset="2"/>
                <a:ea typeface="宋体" pitchFamily="2" charset="-122"/>
              </a:endParaRPr>
            </a:p>
          </p:txBody>
        </p:sp>
        <p:graphicFrame>
          <p:nvGraphicFramePr>
            <p:cNvPr id="27674" name="对象 162"/>
            <p:cNvGraphicFramePr>
              <a:graphicFrameLocks noChangeAspect="1"/>
            </p:cNvGraphicFramePr>
            <p:nvPr/>
          </p:nvGraphicFramePr>
          <p:xfrm>
            <a:off x="5529476" y="4549609"/>
            <a:ext cx="252038" cy="3240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85" name="公式" r:id="rId4" imgW="177646" imgH="228402" progId="Equation.3">
                    <p:embed/>
                  </p:oleObj>
                </mc:Choice>
                <mc:Fallback>
                  <p:oleObj name="公式" r:id="rId4" imgW="177646" imgH="228402" progId="Equation.3">
                    <p:embed/>
                    <p:pic>
                      <p:nvPicPr>
                        <p:cNvPr id="0" name="对象 1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29476" y="4549609"/>
                          <a:ext cx="252038" cy="3240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5" name="对象 163"/>
            <p:cNvGraphicFramePr>
              <a:graphicFrameLocks noChangeAspect="1"/>
            </p:cNvGraphicFramePr>
            <p:nvPr/>
          </p:nvGraphicFramePr>
          <p:xfrm>
            <a:off x="4332272" y="4559036"/>
            <a:ext cx="252038" cy="3240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86" name="公式" r:id="rId6" imgW="177646" imgH="228402" progId="Equation.3">
                    <p:embed/>
                  </p:oleObj>
                </mc:Choice>
                <mc:Fallback>
                  <p:oleObj name="公式" r:id="rId6" imgW="177646" imgH="228402" progId="Equation.3">
                    <p:embed/>
                    <p:pic>
                      <p:nvPicPr>
                        <p:cNvPr id="0" name="对象 1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2272" y="4559036"/>
                          <a:ext cx="252038" cy="3240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5" name="弧形 164"/>
            <p:cNvSpPr>
              <a:spLocks noChangeArrowheads="1"/>
            </p:cNvSpPr>
            <p:nvPr/>
          </p:nvSpPr>
          <p:spPr bwMode="auto">
            <a:xfrm>
              <a:off x="4354495" y="2945547"/>
              <a:ext cx="1292095" cy="2112763"/>
            </a:xfrm>
            <a:custGeom>
              <a:avLst/>
              <a:gdLst>
                <a:gd name="T0" fmla="*/ 818077 w 1292095"/>
                <a:gd name="T1" fmla="*/ 23310 h 1291292"/>
                <a:gd name="T2" fmla="*/ 646048 w 1292095"/>
                <a:gd name="T3" fmla="*/ 645646 h 1291292"/>
                <a:gd name="T4" fmla="*/ 1205172 w 1292095"/>
                <a:gd name="T5" fmla="*/ 322185 h 1291292"/>
                <a:gd name="T6" fmla="*/ 11796480 60000 65536"/>
                <a:gd name="T7" fmla="*/ 17694720 60000 65536"/>
                <a:gd name="T8" fmla="*/ 5898240 60000 65536"/>
                <a:gd name="T9" fmla="*/ 818077 w 1292095"/>
                <a:gd name="T10" fmla="*/ 23310 h 1291292"/>
                <a:gd name="T11" fmla="*/ 1205172 w 1292095"/>
                <a:gd name="T12" fmla="*/ 322185 h 12912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2095" h="1291292" stroke="0">
                  <a:moveTo>
                    <a:pt x="818077" y="23310"/>
                  </a:moveTo>
                  <a:lnTo>
                    <a:pt x="818076" y="23310"/>
                  </a:lnTo>
                  <a:cubicBezTo>
                    <a:pt x="981319" y="68378"/>
                    <a:pt x="1120326" y="175704"/>
                    <a:pt x="1205172" y="322183"/>
                  </a:cubicBezTo>
                  <a:lnTo>
                    <a:pt x="646048" y="645646"/>
                  </a:lnTo>
                  <a:close/>
                </a:path>
                <a:path w="1292095" h="1291292" fill="none">
                  <a:moveTo>
                    <a:pt x="818077" y="23310"/>
                  </a:moveTo>
                  <a:lnTo>
                    <a:pt x="818076" y="23310"/>
                  </a:lnTo>
                  <a:cubicBezTo>
                    <a:pt x="981319" y="68378"/>
                    <a:pt x="1120326" y="175704"/>
                    <a:pt x="1205172" y="322183"/>
                  </a:cubicBezTo>
                </a:path>
              </a:pathLst>
            </a:custGeom>
            <a:noFill/>
            <a:ln w="19050" algn="ctr">
              <a:solidFill>
                <a:srgbClr val="FF0000"/>
              </a:solidFill>
              <a:miter lim="800000"/>
              <a:headEnd/>
              <a:tailEnd type="arrow" w="med" len="med"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sz="1800" b="0">
                <a:latin typeface="+mn-lt"/>
                <a:ea typeface="+mn-ea"/>
              </a:endParaRPr>
            </a:p>
          </p:txBody>
        </p:sp>
      </p:grpSp>
      <p:grpSp>
        <p:nvGrpSpPr>
          <p:cNvPr id="5" name="组合 9"/>
          <p:cNvGrpSpPr>
            <a:grpSpLocks/>
          </p:cNvGrpSpPr>
          <p:nvPr/>
        </p:nvGrpSpPr>
        <p:grpSpPr bwMode="auto">
          <a:xfrm>
            <a:off x="7070725" y="2325688"/>
            <a:ext cx="1027113" cy="0"/>
            <a:chOff x="7070103" y="3101418"/>
            <a:chExt cx="1027522" cy="0"/>
          </a:xfrm>
        </p:grpSpPr>
        <p:cxnSp>
          <p:nvCxnSpPr>
            <p:cNvPr id="27662" name="直接箭头连接符 6"/>
            <p:cNvCxnSpPr>
              <a:cxnSpLocks noChangeShapeType="1"/>
            </p:cNvCxnSpPr>
            <p:nvPr/>
          </p:nvCxnSpPr>
          <p:spPr bwMode="auto">
            <a:xfrm>
              <a:off x="7570365" y="3101418"/>
              <a:ext cx="527260" cy="0"/>
            </a:xfrm>
            <a:prstGeom prst="straightConnector1">
              <a:avLst/>
            </a:prstGeom>
            <a:noFill/>
            <a:ln w="28575" algn="ctr">
              <a:solidFill>
                <a:srgbClr val="FF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63" name="直接箭头连接符 8"/>
            <p:cNvCxnSpPr>
              <a:cxnSpLocks noChangeShapeType="1"/>
            </p:cNvCxnSpPr>
            <p:nvPr/>
          </p:nvCxnSpPr>
          <p:spPr bwMode="auto">
            <a:xfrm flipH="1">
              <a:off x="7070103" y="3101418"/>
              <a:ext cx="500262" cy="0"/>
            </a:xfrm>
            <a:prstGeom prst="straightConnector1">
              <a:avLst/>
            </a:prstGeom>
            <a:noFill/>
            <a:ln w="28575" algn="ctr">
              <a:solidFill>
                <a:srgbClr val="FF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6" name="Text Box 81"/>
          <p:cNvSpPr txBox="1">
            <a:spLocks noChangeArrowheads="1"/>
          </p:cNvSpPr>
          <p:nvPr/>
        </p:nvSpPr>
        <p:spPr bwMode="auto">
          <a:xfrm>
            <a:off x="1371600" y="2417763"/>
            <a:ext cx="16875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1800">
                <a:ea typeface="华文中宋" pitchFamily="2" charset="-122"/>
              </a:rPr>
              <a:t>由转动方程</a:t>
            </a:r>
            <a:r>
              <a:rPr lang="zh-CN" altLang="en-US" sz="1800">
                <a:ea typeface="华文中宋" pitchFamily="2" charset="-122"/>
              </a:rPr>
              <a:t>：</a:t>
            </a:r>
            <a:endParaRPr lang="zh-CN" altLang="en-US" sz="1800" b="0">
              <a:ea typeface="华文中宋" pitchFamily="2" charset="-122"/>
            </a:endParaRPr>
          </a:p>
        </p:txBody>
      </p:sp>
      <p:graphicFrame>
        <p:nvGraphicFramePr>
          <p:cNvPr id="243742" name="对象 168"/>
          <p:cNvGraphicFramePr>
            <a:graphicFrameLocks noChangeAspect="1"/>
          </p:cNvGraphicFramePr>
          <p:nvPr/>
        </p:nvGraphicFramePr>
        <p:xfrm>
          <a:off x="1138238" y="2724150"/>
          <a:ext cx="4416425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7" name="Equation" r:id="rId8" imgW="1935551" imgH="373301" progId="Equation.DSMT4">
                  <p:embed/>
                </p:oleObj>
              </mc:Choice>
              <mc:Fallback>
                <p:oleObj name="Equation" r:id="rId8" imgW="1935551" imgH="373301" progId="Equation.DSMT4">
                  <p:embed/>
                  <p:pic>
                    <p:nvPicPr>
                      <p:cNvPr id="0" name="对象 1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238" y="2724150"/>
                        <a:ext cx="4416425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43" name="Text Box 80"/>
          <p:cNvSpPr txBox="1">
            <a:spLocks noChangeArrowheads="1"/>
          </p:cNvSpPr>
          <p:nvPr/>
        </p:nvSpPr>
        <p:spPr bwMode="auto">
          <a:xfrm>
            <a:off x="6011863" y="2905125"/>
            <a:ext cx="571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1800">
                <a:ea typeface="宋体" pitchFamily="2" charset="-122"/>
              </a:rPr>
              <a:t>(3)</a:t>
            </a:r>
            <a:endParaRPr lang="zh-CN" altLang="zh-CN" sz="1800" b="0">
              <a:ea typeface="宋体" pitchFamily="2" charset="-122"/>
            </a:endParaRPr>
          </a:p>
        </p:txBody>
      </p:sp>
      <p:sp>
        <p:nvSpPr>
          <p:cNvPr id="40" name="Text Box 81"/>
          <p:cNvSpPr txBox="1">
            <a:spLocks noChangeArrowheads="1"/>
          </p:cNvSpPr>
          <p:nvPr/>
        </p:nvSpPr>
        <p:spPr bwMode="auto">
          <a:xfrm>
            <a:off x="1258888" y="3508375"/>
            <a:ext cx="40433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1800">
                <a:ea typeface="华文中宋" pitchFamily="2" charset="-122"/>
              </a:rPr>
              <a:t> </a:t>
            </a:r>
            <a:r>
              <a:rPr lang="zh-CN" altLang="en-US" sz="1800">
                <a:ea typeface="华文中宋" pitchFamily="2" charset="-122"/>
              </a:rPr>
              <a:t>再从运动学关系上有： </a:t>
            </a:r>
            <a:endParaRPr lang="zh-CN" altLang="en-US" sz="1800" b="0">
              <a:ea typeface="华文中宋" pitchFamily="2" charset="-122"/>
            </a:endParaRPr>
          </a:p>
        </p:txBody>
      </p:sp>
      <p:graphicFrame>
        <p:nvGraphicFramePr>
          <p:cNvPr id="243746" name="对象 172"/>
          <p:cNvGraphicFramePr>
            <a:graphicFrameLocks noChangeAspect="1"/>
          </p:cNvGraphicFramePr>
          <p:nvPr/>
        </p:nvGraphicFramePr>
        <p:xfrm>
          <a:off x="2808288" y="3906838"/>
          <a:ext cx="1966912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8" name="Equation" r:id="rId10" imgW="754486" imgH="205740" progId="Equation.DSMT4">
                  <p:embed/>
                </p:oleObj>
              </mc:Choice>
              <mc:Fallback>
                <p:oleObj name="Equation" r:id="rId10" imgW="754486" imgH="205740" progId="Equation.DSMT4">
                  <p:embed/>
                  <p:pic>
                    <p:nvPicPr>
                      <p:cNvPr id="0" name="对象 1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8288" y="3906838"/>
                        <a:ext cx="1966912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47" name="Text Box 84"/>
          <p:cNvSpPr txBox="1">
            <a:spLocks noChangeArrowheads="1"/>
          </p:cNvSpPr>
          <p:nvPr/>
        </p:nvSpPr>
        <p:spPr bwMode="auto">
          <a:xfrm>
            <a:off x="6011863" y="3965575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1800">
                <a:ea typeface="宋体" pitchFamily="2" charset="-122"/>
              </a:rPr>
              <a:t>(4)</a:t>
            </a:r>
            <a:endParaRPr lang="zh-CN" altLang="zh-CN" sz="1800" b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4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4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43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43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99" grpId="0"/>
      <p:bldP spid="64" grpId="0"/>
      <p:bldP spid="67" grpId="0"/>
      <p:bldP spid="135" grpId="0"/>
      <p:bldP spid="36" grpId="0"/>
      <p:bldP spid="243743" grpId="0"/>
      <p:bldP spid="40" grpId="0"/>
      <p:bldP spid="24374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49250" y="842963"/>
            <a:ext cx="1846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1800"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联立四式解得： </a:t>
            </a:r>
            <a:endParaRPr lang="zh-CN" altLang="en-US" sz="1800" b="0"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411413" y="823913"/>
          <a:ext cx="2892425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7" name="Equation" r:id="rId3" imgW="1524000" imgH="457200" progId="Equation.DSMT4">
                  <p:embed/>
                </p:oleObj>
              </mc:Choice>
              <mc:Fallback>
                <p:oleObj name="Equation" r:id="rId3" imgW="1524000" imgH="4572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823913"/>
                        <a:ext cx="2892425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443163" y="1603375"/>
          <a:ext cx="4545012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8" name="Equation" r:id="rId5" imgW="2730500" imgH="457200" progId="Equation.DSMT4">
                  <p:embed/>
                </p:oleObj>
              </mc:Choice>
              <mc:Fallback>
                <p:oleObj name="Equation" r:id="rId5" imgW="2730500" imgH="4572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163" y="1603375"/>
                        <a:ext cx="4545012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444750" y="2363788"/>
          <a:ext cx="4608513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9" name="Equation" r:id="rId7" imgW="2768600" imgH="457200" progId="Equation.DSMT4">
                  <p:embed/>
                </p:oleObj>
              </mc:Choice>
              <mc:Fallback>
                <p:oleObj name="Equation" r:id="rId7" imgW="2768600" imgH="457200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750" y="2363788"/>
                        <a:ext cx="4608513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395288" y="3003550"/>
            <a:ext cx="4629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1800"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当不计滑轮质量和摩擦力矩时：</a:t>
            </a:r>
            <a:r>
              <a:rPr lang="en-US" altLang="zh-CN" sz="1800">
                <a:latin typeface="华文中宋" pitchFamily="2" charset="-122"/>
                <a:ea typeface="华文中宋" pitchFamily="2" charset="-122"/>
              </a:rPr>
              <a:t> </a:t>
            </a:r>
            <a:endParaRPr lang="zh-CN" altLang="zh-CN" sz="1800" b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3690938" y="3436938"/>
            <a:ext cx="26098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b="0" i="1">
                <a:ea typeface="宋体" pitchFamily="2" charset="-122"/>
              </a:rPr>
              <a:t>m </a:t>
            </a:r>
            <a:r>
              <a:rPr lang="en-US" altLang="zh-CN" b="0">
                <a:ea typeface="宋体" pitchFamily="2" charset="-122"/>
              </a:rPr>
              <a:t>= 0,   </a:t>
            </a:r>
            <a:r>
              <a:rPr lang="en-US" altLang="zh-CN" b="0" i="1">
                <a:ea typeface="宋体" pitchFamily="2" charset="-122"/>
              </a:rPr>
              <a:t>M</a:t>
            </a:r>
            <a:r>
              <a:rPr lang="en-US" altLang="zh-CN" b="0" i="1" baseline="-25000">
                <a:ea typeface="宋体" pitchFamily="2" charset="-122"/>
              </a:rPr>
              <a:t>f </a:t>
            </a:r>
            <a:r>
              <a:rPr lang="en-US" altLang="zh-CN" b="0">
                <a:ea typeface="宋体" pitchFamily="2" charset="-122"/>
              </a:rPr>
              <a:t>= 0</a:t>
            </a:r>
            <a:endParaRPr lang="zh-CN" altLang="zh-CN" b="0">
              <a:ea typeface="宋体" pitchFamily="2" charset="-122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443163" y="3875088"/>
          <a:ext cx="1998662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0" name="Equation" r:id="rId9" imgW="876300" imgH="431800" progId="Equation.DSMT4">
                  <p:embed/>
                </p:oleObj>
              </mc:Choice>
              <mc:Fallback>
                <p:oleObj name="Equation" r:id="rId9" imgW="876300" imgH="431800" progId="Equation.DSMT4">
                  <p:embed/>
                  <p:pic>
                    <p:nvPicPr>
                      <p:cNvPr id="0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163" y="3875088"/>
                        <a:ext cx="1998662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4749800" y="3921125"/>
          <a:ext cx="2395538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1" name="Equation" r:id="rId11" imgW="1180588" imgH="431613" progId="Equation.DSMT4">
                  <p:embed/>
                </p:oleObj>
              </mc:Choice>
              <mc:Fallback>
                <p:oleObj name="Equation" r:id="rId11" imgW="1180588" imgH="431613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9800" y="3921125"/>
                        <a:ext cx="2395538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03" name="Object 3"/>
          <p:cNvGraphicFramePr>
            <a:graphicFrameLocks noChangeAspect="1"/>
          </p:cNvGraphicFramePr>
          <p:nvPr/>
        </p:nvGraphicFramePr>
        <p:xfrm>
          <a:off x="4551363" y="2854325"/>
          <a:ext cx="153352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0" name="公式" r:id="rId3" imgW="761669" imgH="406224" progId="Equation.3">
                  <p:embed/>
                </p:oleObj>
              </mc:Choice>
              <mc:Fallback>
                <p:oleObj name="公式" r:id="rId3" imgW="761669" imgH="40622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1363" y="2854325"/>
                        <a:ext cx="1533525" cy="5810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9" name="Object 9"/>
          <p:cNvGraphicFramePr>
            <a:graphicFrameLocks noChangeAspect="1"/>
          </p:cNvGraphicFramePr>
          <p:nvPr/>
        </p:nvGraphicFramePr>
        <p:xfrm>
          <a:off x="2916238" y="2198688"/>
          <a:ext cx="511175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1" name="公式" r:id="rId5" imgW="2400300" imgH="431800" progId="Equation.3">
                  <p:embed/>
                </p:oleObj>
              </mc:Choice>
              <mc:Fallback>
                <p:oleObj name="公式" r:id="rId5" imgW="2400300" imgH="431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198688"/>
                        <a:ext cx="5111750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733425" y="3435350"/>
            <a:ext cx="4054475" cy="1296988"/>
            <a:chOff x="246" y="41"/>
            <a:chExt cx="2554" cy="1088"/>
          </a:xfrm>
        </p:grpSpPr>
        <p:sp>
          <p:nvSpPr>
            <p:cNvPr id="29706" name="Text Box 12"/>
            <p:cNvSpPr txBox="1">
              <a:spLocks noChangeArrowheads="1"/>
            </p:cNvSpPr>
            <p:nvPr/>
          </p:nvSpPr>
          <p:spPr bwMode="auto">
            <a:xfrm>
              <a:off x="246" y="404"/>
              <a:ext cx="75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1800">
                  <a:latin typeface="华文中宋" pitchFamily="2" charset="-122"/>
                  <a:ea typeface="华文中宋" pitchFamily="2" charset="-122"/>
                </a:rPr>
                <a:t>注意比较</a:t>
              </a:r>
            </a:p>
          </p:txBody>
        </p:sp>
        <p:graphicFrame>
          <p:nvGraphicFramePr>
            <p:cNvPr id="29707" name="Object 13"/>
            <p:cNvGraphicFramePr>
              <a:graphicFrameLocks noChangeAspect="1"/>
            </p:cNvGraphicFramePr>
            <p:nvPr/>
          </p:nvGraphicFramePr>
          <p:xfrm>
            <a:off x="907" y="222"/>
            <a:ext cx="295" cy="7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22" r:id="rId7" imgW="190583" imgH="457399" progId="Equation.3">
                    <p:embed/>
                  </p:oleObj>
                </mc:Choice>
                <mc:Fallback>
                  <p:oleObj r:id="rId7" imgW="190583" imgH="457399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7" y="222"/>
                          <a:ext cx="295" cy="7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708" name="Group 14"/>
            <p:cNvGrpSpPr>
              <a:grpSpLocks/>
            </p:cNvGrpSpPr>
            <p:nvPr/>
          </p:nvGrpSpPr>
          <p:grpSpPr bwMode="auto">
            <a:xfrm>
              <a:off x="1032" y="41"/>
              <a:ext cx="1751" cy="544"/>
              <a:chOff x="0" y="41"/>
              <a:chExt cx="1751" cy="544"/>
            </a:xfrm>
          </p:grpSpPr>
          <p:graphicFrame>
            <p:nvGraphicFramePr>
              <p:cNvPr id="29712" name="Object 15"/>
              <p:cNvGraphicFramePr>
                <a:graphicFrameLocks noChangeAspect="1"/>
              </p:cNvGraphicFramePr>
              <p:nvPr/>
            </p:nvGraphicFramePr>
            <p:xfrm>
              <a:off x="737" y="41"/>
              <a:ext cx="1014" cy="5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723" name="公式" r:id="rId9" imgW="761669" imgH="406224" progId="Equation.3">
                      <p:embed/>
                    </p:oleObj>
                  </mc:Choice>
                  <mc:Fallback>
                    <p:oleObj name="公式" r:id="rId9" imgW="761669" imgH="406224" progId="Equation.3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37" y="41"/>
                            <a:ext cx="1014" cy="5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C99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713" name="Text Box 16"/>
              <p:cNvSpPr txBox="1">
                <a:spLocks noChangeArrowheads="1"/>
              </p:cNvSpPr>
              <p:nvPr/>
            </p:nvSpPr>
            <p:spPr bwMode="auto">
              <a:xfrm>
                <a:off x="0" y="135"/>
                <a:ext cx="888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zh-CN" altLang="en-US" sz="1800">
                    <a:latin typeface="华文中宋" pitchFamily="2" charset="-122"/>
                    <a:ea typeface="华文中宋" pitchFamily="2" charset="-122"/>
                  </a:rPr>
                  <a:t>转动动能</a:t>
                </a:r>
              </a:p>
            </p:txBody>
          </p:sp>
        </p:grpSp>
        <p:grpSp>
          <p:nvGrpSpPr>
            <p:cNvPr id="29709" name="Group 17"/>
            <p:cNvGrpSpPr>
              <a:grpSpLocks/>
            </p:cNvGrpSpPr>
            <p:nvPr/>
          </p:nvGrpSpPr>
          <p:grpSpPr bwMode="auto">
            <a:xfrm>
              <a:off x="1032" y="570"/>
              <a:ext cx="1768" cy="559"/>
              <a:chOff x="0" y="-121"/>
              <a:chExt cx="1768" cy="559"/>
            </a:xfrm>
          </p:grpSpPr>
          <p:graphicFrame>
            <p:nvGraphicFramePr>
              <p:cNvPr id="29710" name="Object 18"/>
              <p:cNvGraphicFramePr>
                <a:graphicFrameLocks noChangeAspect="1"/>
              </p:cNvGraphicFramePr>
              <p:nvPr/>
            </p:nvGraphicFramePr>
            <p:xfrm>
              <a:off x="737" y="-121"/>
              <a:ext cx="1031" cy="5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724" name="公式" r:id="rId11" imgW="761669" imgH="406224" progId="Equation.3">
                      <p:embed/>
                    </p:oleObj>
                  </mc:Choice>
                  <mc:Fallback>
                    <p:oleObj name="公式" r:id="rId11" imgW="761669" imgH="406224" progId="Equation.3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37" y="-121"/>
                            <a:ext cx="1031" cy="5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99CC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711" name="Text Box 19"/>
              <p:cNvSpPr txBox="1">
                <a:spLocks noChangeArrowheads="1"/>
              </p:cNvSpPr>
              <p:nvPr/>
            </p:nvSpPr>
            <p:spPr bwMode="auto">
              <a:xfrm>
                <a:off x="0" y="15"/>
                <a:ext cx="888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zh-CN" altLang="en-US" sz="1800">
                    <a:latin typeface="华文中宋" pitchFamily="2" charset="-122"/>
                    <a:ea typeface="华文中宋" pitchFamily="2" charset="-122"/>
                  </a:rPr>
                  <a:t>平动动能</a:t>
                </a:r>
              </a:p>
            </p:txBody>
          </p:sp>
        </p:grpSp>
      </p:grpSp>
      <p:sp>
        <p:nvSpPr>
          <p:cNvPr id="204820" name="Text Box 20"/>
          <p:cNvSpPr txBox="1">
            <a:spLocks noChangeArrowheads="1"/>
          </p:cNvSpPr>
          <p:nvPr/>
        </p:nvSpPr>
        <p:spPr bwMode="auto">
          <a:xfrm>
            <a:off x="889000" y="1770063"/>
            <a:ext cx="19542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1800" i="1">
                <a:solidFill>
                  <a:srgbClr val="000000"/>
                </a:solidFill>
                <a:ea typeface="华文中宋" pitchFamily="2" charset="-122"/>
              </a:rPr>
              <a:t>i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质点的动能</a:t>
            </a:r>
            <a:r>
              <a:rPr lang="zh-CN" altLang="en-US" sz="1800">
                <a:ea typeface="华文中宋" pitchFamily="2" charset="-122"/>
              </a:rPr>
              <a:t> </a:t>
            </a:r>
          </a:p>
        </p:txBody>
      </p:sp>
      <p:graphicFrame>
        <p:nvGraphicFramePr>
          <p:cNvPr id="204821" name="Object 21"/>
          <p:cNvGraphicFramePr>
            <a:graphicFrameLocks noChangeAspect="1"/>
          </p:cNvGraphicFramePr>
          <p:nvPr/>
        </p:nvGraphicFramePr>
        <p:xfrm>
          <a:off x="2916238" y="1597025"/>
          <a:ext cx="36004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5" name="公式" r:id="rId13" imgW="1764534" imgH="406224" progId="Equation.3">
                  <p:embed/>
                </p:oleObj>
              </mc:Choice>
              <mc:Fallback>
                <p:oleObj name="公式" r:id="rId13" imgW="1764534" imgH="406224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1597025"/>
                        <a:ext cx="360045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22" name="Text Box 22"/>
          <p:cNvSpPr txBox="1">
            <a:spLocks noChangeArrowheads="1"/>
          </p:cNvSpPr>
          <p:nvPr/>
        </p:nvSpPr>
        <p:spPr bwMode="auto">
          <a:xfrm>
            <a:off x="746125" y="2336800"/>
            <a:ext cx="2457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 整个刚体的动能</a:t>
            </a:r>
            <a:endParaRPr lang="zh-CN" altLang="en-US" sz="180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204827" name="Text Box 27"/>
          <p:cNvSpPr txBox="1">
            <a:spLocks noChangeArrowheads="1"/>
          </p:cNvSpPr>
          <p:nvPr/>
        </p:nvSpPr>
        <p:spPr bwMode="auto">
          <a:xfrm>
            <a:off x="827088" y="1338263"/>
            <a:ext cx="3095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将刚体视为质点系：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sp>
        <p:nvSpPr>
          <p:cNvPr id="29705" name="Text Box 2"/>
          <p:cNvSpPr>
            <a:spLocks noChangeArrowheads="1"/>
          </p:cNvSpPr>
          <p:nvPr/>
        </p:nvSpPr>
        <p:spPr bwMode="auto">
          <a:xfrm>
            <a:off x="782638" y="874713"/>
            <a:ext cx="2925762" cy="401637"/>
          </a:xfrm>
          <a:prstGeom prst="homePlate">
            <a:avLst>
              <a:gd name="adj" fmla="val 49677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一、刚体的转动动能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4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4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48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048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4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04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48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48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4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4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48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48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4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4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48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48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4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4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48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048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0" grpId="0" autoUpdateAnimBg="0"/>
      <p:bldP spid="204822" grpId="0" autoUpdateAnimBg="0"/>
      <p:bldP spid="204827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对象 57"/>
          <p:cNvGraphicFramePr>
            <a:graphicFrameLocks noChangeAspect="1"/>
          </p:cNvGraphicFramePr>
          <p:nvPr/>
        </p:nvGraphicFramePr>
        <p:xfrm>
          <a:off x="3341688" y="1285875"/>
          <a:ext cx="168116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6" name="Equation" r:id="rId3" imgW="787400" imgH="241300" progId="Equation.DSMT4">
                  <p:embed/>
                </p:oleObj>
              </mc:Choice>
              <mc:Fallback>
                <p:oleObj name="Equation" r:id="rId3" imgW="787400" imgH="241300" progId="Equation.DSMT4">
                  <p:embed/>
                  <p:pic>
                    <p:nvPicPr>
                      <p:cNvPr id="0" name="对象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1688" y="1285875"/>
                        <a:ext cx="168116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/>
          <p:cNvGraphicFramePr>
            <a:graphicFrameLocks noChangeAspect="1"/>
          </p:cNvGraphicFramePr>
          <p:nvPr/>
        </p:nvGraphicFramePr>
        <p:xfrm>
          <a:off x="3911600" y="1689100"/>
          <a:ext cx="21732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7" name="Equation" r:id="rId5" imgW="965200" imgH="228600" progId="Equation.DSMT4">
                  <p:embed/>
                </p:oleObj>
              </mc:Choice>
              <mc:Fallback>
                <p:oleObj name="Equation" r:id="rId5" imgW="965200" imgH="228600" progId="Equation.DSMT4">
                  <p:embed/>
                  <p:pic>
                    <p:nvPicPr>
                      <p:cNvPr id="0" name="对象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1600" y="1689100"/>
                        <a:ext cx="2173288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TextBox 82"/>
          <p:cNvSpPr txBox="1">
            <a:spLocks noChangeArrowheads="1"/>
          </p:cNvSpPr>
          <p:nvPr/>
        </p:nvSpPr>
        <p:spPr bwMode="auto">
          <a:xfrm>
            <a:off x="684213" y="1482725"/>
            <a:ext cx="29051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对于定轴转动，只需考虑转动平面内的力</a:t>
            </a:r>
          </a:p>
        </p:txBody>
      </p:sp>
      <p:graphicFrame>
        <p:nvGraphicFramePr>
          <p:cNvPr id="92" name="对象 91"/>
          <p:cNvGraphicFramePr>
            <a:graphicFrameLocks noChangeAspect="1"/>
          </p:cNvGraphicFramePr>
          <p:nvPr/>
        </p:nvGraphicFramePr>
        <p:xfrm>
          <a:off x="3913188" y="2130425"/>
          <a:ext cx="1960562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8" name="Equation" r:id="rId7" imgW="952087" imgH="228501" progId="Equation.DSMT4">
                  <p:embed/>
                </p:oleObj>
              </mc:Choice>
              <mc:Fallback>
                <p:oleObj name="Equation" r:id="rId7" imgW="952087" imgH="228501" progId="Equation.DSMT4">
                  <p:embed/>
                  <p:pic>
                    <p:nvPicPr>
                      <p:cNvPr id="0" name="对象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3188" y="2130425"/>
                        <a:ext cx="1960562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对象 28"/>
          <p:cNvGraphicFramePr>
            <a:graphicFrameLocks noChangeAspect="1"/>
          </p:cNvGraphicFramePr>
          <p:nvPr/>
        </p:nvGraphicFramePr>
        <p:xfrm>
          <a:off x="3289300" y="2546350"/>
          <a:ext cx="1885950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9" name="Equation" r:id="rId9" imgW="825500" imgH="228600" progId="Equation.DSMT4">
                  <p:embed/>
                </p:oleObj>
              </mc:Choice>
              <mc:Fallback>
                <p:oleObj name="Equation" r:id="rId9" imgW="825500" imgH="228600" progId="Equation.DSMT4">
                  <p:embed/>
                  <p:pic>
                    <p:nvPicPr>
                      <p:cNvPr id="0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0" y="2546350"/>
                        <a:ext cx="1885950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" name="Text Box 88"/>
          <p:cNvSpPr txBox="1">
            <a:spLocks noChangeArrowheads="1"/>
          </p:cNvSpPr>
          <p:nvPr/>
        </p:nvSpPr>
        <p:spPr bwMode="auto">
          <a:xfrm>
            <a:off x="1389063" y="2922588"/>
            <a:ext cx="13112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对</a:t>
            </a:r>
            <a:r>
              <a:rPr lang="en-US" altLang="zh-CN" sz="1800" i="1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求和：</a:t>
            </a:r>
            <a:endParaRPr lang="zh-CN" altLang="en-US" sz="1800" b="0"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95" name="对象 30"/>
          <p:cNvGraphicFramePr>
            <a:graphicFrameLocks noChangeAspect="1"/>
          </p:cNvGraphicFramePr>
          <p:nvPr/>
        </p:nvGraphicFramePr>
        <p:xfrm>
          <a:off x="2498725" y="2889250"/>
          <a:ext cx="1868488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0" name="Equation" r:id="rId11" imgW="952087" imgH="253890" progId="Equation.DSMT4">
                  <p:embed/>
                </p:oleObj>
              </mc:Choice>
              <mc:Fallback>
                <p:oleObj name="Equation" r:id="rId11" imgW="952087" imgH="253890" progId="Equation.DSMT4">
                  <p:embed/>
                  <p:pic>
                    <p:nvPicPr>
                      <p:cNvPr id="0" name="对象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8725" y="2889250"/>
                        <a:ext cx="1868488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Object 14"/>
          <p:cNvGraphicFramePr>
            <a:graphicFrameLocks noChangeAspect="1"/>
          </p:cNvGraphicFramePr>
          <p:nvPr/>
        </p:nvGraphicFramePr>
        <p:xfrm>
          <a:off x="4508500" y="2868613"/>
          <a:ext cx="1557338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1" name="Equation" r:id="rId13" imgW="812447" imgH="253890" progId="Equation.DSMT4">
                  <p:embed/>
                </p:oleObj>
              </mc:Choice>
              <mc:Fallback>
                <p:oleObj name="Equation" r:id="rId13" imgW="812447" imgH="25389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0" y="2868613"/>
                        <a:ext cx="1557338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对象 98"/>
          <p:cNvGraphicFramePr>
            <a:graphicFrameLocks noChangeAspect="1"/>
          </p:cNvGraphicFramePr>
          <p:nvPr/>
        </p:nvGraphicFramePr>
        <p:xfrm>
          <a:off x="2593975" y="3382963"/>
          <a:ext cx="1471613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2" name="Equation" r:id="rId15" imgW="723272" imgH="177646" progId="Equation.DSMT4">
                  <p:embed/>
                </p:oleObj>
              </mc:Choice>
              <mc:Fallback>
                <p:oleObj name="Equation" r:id="rId15" imgW="723272" imgH="177646" progId="Equation.DSMT4">
                  <p:embed/>
                  <p:pic>
                    <p:nvPicPr>
                      <p:cNvPr id="0" name="对象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3975" y="3382963"/>
                        <a:ext cx="1471613" cy="2889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" name="Text Box 91"/>
          <p:cNvSpPr txBox="1">
            <a:spLocks noChangeArrowheads="1"/>
          </p:cNvSpPr>
          <p:nvPr/>
        </p:nvSpPr>
        <p:spPr bwMode="auto">
          <a:xfrm>
            <a:off x="755650" y="3868738"/>
            <a:ext cx="5211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注意：</a:t>
            </a: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由于内力矩之和为零，故</a:t>
            </a:r>
            <a:r>
              <a:rPr lang="en-US" altLang="zh-CN" sz="1800" i="1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M</a:t>
            </a:r>
            <a:r>
              <a:rPr lang="zh-CN" altLang="zh-CN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为外力矩之和。</a:t>
            </a:r>
            <a:endParaRPr lang="zh-CN" altLang="zh-CN" sz="1800" b="0"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23566" name="对象 100354"/>
          <p:cNvGraphicFramePr>
            <a:graphicFrameLocks noChangeAspect="1"/>
          </p:cNvGraphicFramePr>
          <p:nvPr/>
        </p:nvGraphicFramePr>
        <p:xfrm>
          <a:off x="6099175" y="3232150"/>
          <a:ext cx="18573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3" name="Equation" r:id="rId17" imgW="825142" imgH="355446" progId="Equation.DSMT4">
                  <p:embed/>
                </p:oleObj>
              </mc:Choice>
              <mc:Fallback>
                <p:oleObj name="Equation" r:id="rId17" imgW="825142" imgH="355446" progId="Equation.DSMT4">
                  <p:embed/>
                  <p:pic>
                    <p:nvPicPr>
                      <p:cNvPr id="0" name="对象 1003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9175" y="3232150"/>
                        <a:ext cx="1857375" cy="5826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7" name="Text Box 97"/>
          <p:cNvSpPr txBox="1">
            <a:spLocks noChangeArrowheads="1"/>
          </p:cNvSpPr>
          <p:nvPr/>
        </p:nvSpPr>
        <p:spPr bwMode="auto">
          <a:xfrm>
            <a:off x="1547813" y="4246563"/>
            <a:ext cx="25003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力矩的功率为：</a:t>
            </a:r>
            <a:endParaRPr lang="zh-CN" altLang="en-US" sz="1800" b="0"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328988" y="4140200"/>
          <a:ext cx="2551112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4" name="公式" r:id="rId19" imgW="1536033" imgH="406224" progId="Equation.3">
                  <p:embed/>
                </p:oleObj>
              </mc:Choice>
              <mc:Fallback>
                <p:oleObj name="公式" r:id="rId19" imgW="1536033" imgH="406224" progId="Equation.3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8988" y="4140200"/>
                        <a:ext cx="2551112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91"/>
          <p:cNvSpPr txBox="1">
            <a:spLocks noChangeArrowheads="1"/>
          </p:cNvSpPr>
          <p:nvPr/>
        </p:nvSpPr>
        <p:spPr bwMode="auto">
          <a:xfrm>
            <a:off x="755650" y="4640263"/>
            <a:ext cx="8137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注意：</a:t>
            </a: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与功率的比较（              ）</a:t>
            </a:r>
            <a:endParaRPr lang="zh-CN" altLang="zh-CN" sz="1800" b="0"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6" name="对象 2"/>
          <p:cNvGraphicFramePr>
            <a:graphicFrameLocks noChangeAspect="1"/>
          </p:cNvGraphicFramePr>
          <p:nvPr/>
        </p:nvGraphicFramePr>
        <p:xfrm>
          <a:off x="3127375" y="4660900"/>
          <a:ext cx="10128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5" name="公式" r:id="rId21" imgW="609336" imgH="215806" progId="Equation.3">
                  <p:embed/>
                </p:oleObj>
              </mc:Choice>
              <mc:Fallback>
                <p:oleObj name="公式" r:id="rId21" imgW="609336" imgH="215806" progId="Equation.3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375" y="4660900"/>
                        <a:ext cx="1012825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81"/>
          <p:cNvGrpSpPr>
            <a:grpSpLocks/>
          </p:cNvGrpSpPr>
          <p:nvPr/>
        </p:nvGrpSpPr>
        <p:grpSpPr bwMode="auto">
          <a:xfrm>
            <a:off x="5967413" y="1076325"/>
            <a:ext cx="2925762" cy="1782763"/>
            <a:chOff x="5231925" y="802589"/>
            <a:chExt cx="3068540" cy="2565401"/>
          </a:xfrm>
        </p:grpSpPr>
        <p:sp>
          <p:nvSpPr>
            <p:cNvPr id="30748" name="Freeform 14"/>
            <p:cNvSpPr>
              <a:spLocks/>
            </p:cNvSpPr>
            <p:nvPr/>
          </p:nvSpPr>
          <p:spPr bwMode="auto">
            <a:xfrm>
              <a:off x="5231925" y="1162952"/>
              <a:ext cx="3059113" cy="2166938"/>
            </a:xfrm>
            <a:custGeom>
              <a:avLst/>
              <a:gdLst>
                <a:gd name="T0" fmla="*/ 2147483647 w 1927"/>
                <a:gd name="T1" fmla="*/ 2147483647 h 1365"/>
                <a:gd name="T2" fmla="*/ 2147483647 w 1927"/>
                <a:gd name="T3" fmla="*/ 2147483647 h 1365"/>
                <a:gd name="T4" fmla="*/ 2147483647 w 1927"/>
                <a:gd name="T5" fmla="*/ 2147483647 h 1365"/>
                <a:gd name="T6" fmla="*/ 2147483647 w 1927"/>
                <a:gd name="T7" fmla="*/ 2147483647 h 1365"/>
                <a:gd name="T8" fmla="*/ 2147483647 w 1927"/>
                <a:gd name="T9" fmla="*/ 2147483647 h 1365"/>
                <a:gd name="T10" fmla="*/ 2147483647 w 1927"/>
                <a:gd name="T11" fmla="*/ 2147483647 h 1365"/>
                <a:gd name="T12" fmla="*/ 2147483647 w 1927"/>
                <a:gd name="T13" fmla="*/ 2147483647 h 13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27"/>
                <a:gd name="T22" fmla="*/ 0 h 1365"/>
                <a:gd name="T23" fmla="*/ 1927 w 1927"/>
                <a:gd name="T24" fmla="*/ 1365 h 136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27" h="1365">
                  <a:moveTo>
                    <a:pt x="28" y="652"/>
                  </a:moveTo>
                  <a:cubicBezTo>
                    <a:pt x="0" y="798"/>
                    <a:pt x="71" y="968"/>
                    <a:pt x="283" y="1077"/>
                  </a:cubicBezTo>
                  <a:cubicBezTo>
                    <a:pt x="495" y="1186"/>
                    <a:pt x="1034" y="1365"/>
                    <a:pt x="1303" y="1304"/>
                  </a:cubicBezTo>
                  <a:cubicBezTo>
                    <a:pt x="1572" y="1243"/>
                    <a:pt x="1871" y="911"/>
                    <a:pt x="1899" y="708"/>
                  </a:cubicBezTo>
                  <a:cubicBezTo>
                    <a:pt x="1927" y="505"/>
                    <a:pt x="1714" y="170"/>
                    <a:pt x="1473" y="85"/>
                  </a:cubicBezTo>
                  <a:cubicBezTo>
                    <a:pt x="1232" y="0"/>
                    <a:pt x="694" y="104"/>
                    <a:pt x="453" y="198"/>
                  </a:cubicBezTo>
                  <a:cubicBezTo>
                    <a:pt x="212" y="292"/>
                    <a:pt x="56" y="506"/>
                    <a:pt x="28" y="652"/>
                  </a:cubicBezTo>
                  <a:close/>
                </a:path>
              </a:pathLst>
            </a:custGeom>
            <a:blipFill dpi="0" rotWithShape="1">
              <a:blip r:embed="rId2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9" name="Freeform 15"/>
            <p:cNvSpPr>
              <a:spLocks/>
            </p:cNvSpPr>
            <p:nvPr/>
          </p:nvSpPr>
          <p:spPr bwMode="auto">
            <a:xfrm>
              <a:off x="5241352" y="1100744"/>
              <a:ext cx="3059113" cy="2166938"/>
            </a:xfrm>
            <a:custGeom>
              <a:avLst/>
              <a:gdLst>
                <a:gd name="T0" fmla="*/ 2147483647 w 1927"/>
                <a:gd name="T1" fmla="*/ 2147483647 h 1365"/>
                <a:gd name="T2" fmla="*/ 2147483647 w 1927"/>
                <a:gd name="T3" fmla="*/ 2147483647 h 1365"/>
                <a:gd name="T4" fmla="*/ 2147483647 w 1927"/>
                <a:gd name="T5" fmla="*/ 2147483647 h 1365"/>
                <a:gd name="T6" fmla="*/ 2147483647 w 1927"/>
                <a:gd name="T7" fmla="*/ 2147483647 h 1365"/>
                <a:gd name="T8" fmla="*/ 2147483647 w 1927"/>
                <a:gd name="T9" fmla="*/ 2147483647 h 1365"/>
                <a:gd name="T10" fmla="*/ 2147483647 w 1927"/>
                <a:gd name="T11" fmla="*/ 2147483647 h 1365"/>
                <a:gd name="T12" fmla="*/ 2147483647 w 1927"/>
                <a:gd name="T13" fmla="*/ 2147483647 h 13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27"/>
                <a:gd name="T22" fmla="*/ 0 h 1365"/>
                <a:gd name="T23" fmla="*/ 1927 w 1927"/>
                <a:gd name="T24" fmla="*/ 1365 h 136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27" h="1365">
                  <a:moveTo>
                    <a:pt x="28" y="652"/>
                  </a:moveTo>
                  <a:cubicBezTo>
                    <a:pt x="0" y="798"/>
                    <a:pt x="71" y="968"/>
                    <a:pt x="283" y="1077"/>
                  </a:cubicBezTo>
                  <a:cubicBezTo>
                    <a:pt x="495" y="1186"/>
                    <a:pt x="1034" y="1365"/>
                    <a:pt x="1303" y="1304"/>
                  </a:cubicBezTo>
                  <a:cubicBezTo>
                    <a:pt x="1572" y="1243"/>
                    <a:pt x="1871" y="911"/>
                    <a:pt x="1899" y="708"/>
                  </a:cubicBezTo>
                  <a:cubicBezTo>
                    <a:pt x="1927" y="505"/>
                    <a:pt x="1714" y="170"/>
                    <a:pt x="1473" y="85"/>
                  </a:cubicBezTo>
                  <a:cubicBezTo>
                    <a:pt x="1232" y="0"/>
                    <a:pt x="694" y="104"/>
                    <a:pt x="453" y="198"/>
                  </a:cubicBezTo>
                  <a:cubicBezTo>
                    <a:pt x="212" y="292"/>
                    <a:pt x="56" y="506"/>
                    <a:pt x="28" y="65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B0F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0" name="Line 18"/>
            <p:cNvSpPr>
              <a:spLocks noChangeShapeType="1"/>
            </p:cNvSpPr>
            <p:nvPr/>
          </p:nvSpPr>
          <p:spPr bwMode="auto">
            <a:xfrm flipV="1">
              <a:off x="6132038" y="1084081"/>
              <a:ext cx="0" cy="844045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1" name="Line 19"/>
            <p:cNvSpPr>
              <a:spLocks noChangeShapeType="1"/>
            </p:cNvSpPr>
            <p:nvPr/>
          </p:nvSpPr>
          <p:spPr bwMode="auto">
            <a:xfrm>
              <a:off x="6132038" y="3052077"/>
              <a:ext cx="0" cy="315913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2" name="Line 20"/>
            <p:cNvSpPr>
              <a:spLocks noChangeShapeType="1"/>
            </p:cNvSpPr>
            <p:nvPr/>
          </p:nvSpPr>
          <p:spPr bwMode="auto">
            <a:xfrm>
              <a:off x="6132038" y="1972577"/>
              <a:ext cx="1304925" cy="495300"/>
            </a:xfrm>
            <a:prstGeom prst="line">
              <a:avLst/>
            </a:prstGeom>
            <a:noFill/>
            <a:ln w="19050">
              <a:solidFill>
                <a:srgbClr val="0070C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3" name="Line 21"/>
            <p:cNvSpPr>
              <a:spLocks noChangeShapeType="1"/>
            </p:cNvSpPr>
            <p:nvPr/>
          </p:nvSpPr>
          <p:spPr bwMode="auto">
            <a:xfrm>
              <a:off x="7441291" y="2484865"/>
              <a:ext cx="505016" cy="1923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4" name="Text Box 27"/>
            <p:cNvSpPr txBox="1">
              <a:spLocks noChangeArrowheads="1"/>
            </p:cNvSpPr>
            <p:nvPr/>
          </p:nvSpPr>
          <p:spPr bwMode="auto">
            <a:xfrm>
              <a:off x="6101614" y="802589"/>
              <a:ext cx="304882" cy="615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i="1">
                  <a:ea typeface="宋体" pitchFamily="2" charset="-122"/>
                </a:rPr>
                <a:t>z</a:t>
              </a:r>
              <a:endParaRPr lang="zh-CN" altLang="zh-CN" sz="1800" b="0">
                <a:ea typeface="宋体" pitchFamily="2" charset="-122"/>
              </a:endParaRPr>
            </a:p>
          </p:txBody>
        </p:sp>
        <p:graphicFrame>
          <p:nvGraphicFramePr>
            <p:cNvPr id="30755" name="对象 10"/>
            <p:cNvGraphicFramePr>
              <a:graphicFrameLocks noChangeAspect="1"/>
            </p:cNvGraphicFramePr>
            <p:nvPr/>
          </p:nvGraphicFramePr>
          <p:xfrm>
            <a:off x="6750705" y="2221734"/>
            <a:ext cx="263525" cy="389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6" name="公式" r:id="rId24" imgW="126890" imgH="228402" progId="Equation.3">
                    <p:embed/>
                  </p:oleObj>
                </mc:Choice>
                <mc:Fallback>
                  <p:oleObj name="公式" r:id="rId24" imgW="126890" imgH="228402" progId="Equation.3">
                    <p:embed/>
                    <p:pic>
                      <p:nvPicPr>
                        <p:cNvPr id="0" name="对象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50705" y="2221734"/>
                          <a:ext cx="263525" cy="3894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Oval 32"/>
            <p:cNvSpPr>
              <a:spLocks noChangeArrowheads="1"/>
            </p:cNvSpPr>
            <p:nvPr/>
          </p:nvSpPr>
          <p:spPr bwMode="auto">
            <a:xfrm>
              <a:off x="6071070" y="1921953"/>
              <a:ext cx="91573" cy="8909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1800" b="0">
                <a:ea typeface="宋体" charset="-122"/>
              </a:endParaRPr>
            </a:p>
          </p:txBody>
        </p:sp>
        <p:graphicFrame>
          <p:nvGraphicFramePr>
            <p:cNvPr id="30757" name="对象 12"/>
            <p:cNvGraphicFramePr>
              <a:graphicFrameLocks noChangeAspect="1"/>
            </p:cNvGraphicFramePr>
            <p:nvPr/>
          </p:nvGraphicFramePr>
          <p:xfrm>
            <a:off x="7912478" y="1551512"/>
            <a:ext cx="275132" cy="3715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7" name="公式" r:id="rId26" imgW="177569" imgH="253670" progId="Equation.3">
                    <p:embed/>
                  </p:oleObj>
                </mc:Choice>
                <mc:Fallback>
                  <p:oleObj name="公式" r:id="rId26" imgW="177569" imgH="253670" progId="Equation.3">
                    <p:embed/>
                    <p:pic>
                      <p:nvPicPr>
                        <p:cNvPr id="0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12478" y="1551512"/>
                          <a:ext cx="275132" cy="3715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58" name="Arc 59"/>
            <p:cNvSpPr>
              <a:spLocks/>
            </p:cNvSpPr>
            <p:nvPr/>
          </p:nvSpPr>
          <p:spPr bwMode="auto">
            <a:xfrm>
              <a:off x="6994687" y="1342340"/>
              <a:ext cx="618979" cy="1476276"/>
            </a:xfrm>
            <a:custGeom>
              <a:avLst/>
              <a:gdLst>
                <a:gd name="T0" fmla="*/ 0 w 21600"/>
                <a:gd name="T1" fmla="*/ 0 h 33195"/>
                <a:gd name="T2" fmla="*/ 0 w 21600"/>
                <a:gd name="T3" fmla="*/ 0 h 33195"/>
                <a:gd name="T4" fmla="*/ 0 w 21600"/>
                <a:gd name="T5" fmla="*/ 0 h 33195"/>
                <a:gd name="T6" fmla="*/ 0 60000 65536"/>
                <a:gd name="T7" fmla="*/ 0 60000 65536"/>
                <a:gd name="T8" fmla="*/ 0 60000 65536"/>
                <a:gd name="T9" fmla="*/ 0 w 21600"/>
                <a:gd name="T10" fmla="*/ 0 h 33195"/>
                <a:gd name="T11" fmla="*/ 21600 w 21600"/>
                <a:gd name="T12" fmla="*/ 33195 h 331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3195" fill="none" extrusionOk="0">
                  <a:moveTo>
                    <a:pt x="17293" y="0"/>
                  </a:moveTo>
                  <a:cubicBezTo>
                    <a:pt x="20089" y="3735"/>
                    <a:pt x="21600" y="8276"/>
                    <a:pt x="21600" y="12942"/>
                  </a:cubicBezTo>
                  <a:cubicBezTo>
                    <a:pt x="21600" y="21975"/>
                    <a:pt x="15978" y="30055"/>
                    <a:pt x="7508" y="33195"/>
                  </a:cubicBezTo>
                </a:path>
                <a:path w="21600" h="33195" stroke="0" extrusionOk="0">
                  <a:moveTo>
                    <a:pt x="17293" y="0"/>
                  </a:moveTo>
                  <a:cubicBezTo>
                    <a:pt x="20089" y="3735"/>
                    <a:pt x="21600" y="8276"/>
                    <a:pt x="21600" y="12942"/>
                  </a:cubicBezTo>
                  <a:cubicBezTo>
                    <a:pt x="21600" y="21975"/>
                    <a:pt x="15978" y="30055"/>
                    <a:pt x="7508" y="33195"/>
                  </a:cubicBezTo>
                  <a:lnTo>
                    <a:pt x="0" y="12942"/>
                  </a:lnTo>
                  <a:lnTo>
                    <a:pt x="17293" y="0"/>
                  </a:lnTo>
                  <a:close/>
                </a:path>
              </a:pathLst>
            </a:custGeom>
            <a:noFill/>
            <a:ln w="12700">
              <a:solidFill>
                <a:srgbClr val="00B0F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59" name="Line 60"/>
            <p:cNvSpPr>
              <a:spLocks noChangeShapeType="1"/>
            </p:cNvSpPr>
            <p:nvPr/>
          </p:nvSpPr>
          <p:spPr bwMode="auto">
            <a:xfrm flipV="1">
              <a:off x="7525863" y="1809945"/>
              <a:ext cx="732017" cy="657931"/>
            </a:xfrm>
            <a:prstGeom prst="line">
              <a:avLst/>
            </a:prstGeom>
            <a:noFill/>
            <a:ln w="19050">
              <a:solidFill>
                <a:srgbClr val="A5002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0" name="Oval 62"/>
            <p:cNvSpPr>
              <a:spLocks noChangeArrowheads="1"/>
            </p:cNvSpPr>
            <p:nvPr/>
          </p:nvSpPr>
          <p:spPr bwMode="auto">
            <a:xfrm>
              <a:off x="7392513" y="2423427"/>
              <a:ext cx="120650" cy="12065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1800" b="0">
                <a:ea typeface="宋体" pitchFamily="2" charset="-122"/>
              </a:endParaRPr>
            </a:p>
          </p:txBody>
        </p:sp>
        <p:sp>
          <p:nvSpPr>
            <p:cNvPr id="30761" name="Freeform 66"/>
            <p:cNvSpPr>
              <a:spLocks/>
            </p:cNvSpPr>
            <p:nvPr/>
          </p:nvSpPr>
          <p:spPr bwMode="auto">
            <a:xfrm>
              <a:off x="7650276" y="2375554"/>
              <a:ext cx="70275" cy="171796"/>
            </a:xfrm>
            <a:custGeom>
              <a:avLst/>
              <a:gdLst>
                <a:gd name="T0" fmla="*/ 0 w 56"/>
                <a:gd name="T1" fmla="*/ 0 h 141"/>
                <a:gd name="T2" fmla="*/ 2147483647 w 56"/>
                <a:gd name="T3" fmla="*/ 2147483647 h 141"/>
                <a:gd name="T4" fmla="*/ 0 w 56"/>
                <a:gd name="T5" fmla="*/ 2147483647 h 141"/>
                <a:gd name="T6" fmla="*/ 0 60000 65536"/>
                <a:gd name="T7" fmla="*/ 0 60000 65536"/>
                <a:gd name="T8" fmla="*/ 0 60000 65536"/>
                <a:gd name="T9" fmla="*/ 0 w 56"/>
                <a:gd name="T10" fmla="*/ 0 h 141"/>
                <a:gd name="T11" fmla="*/ 56 w 56"/>
                <a:gd name="T12" fmla="*/ 141 h 1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141">
                  <a:moveTo>
                    <a:pt x="0" y="0"/>
                  </a:moveTo>
                  <a:cubicBezTo>
                    <a:pt x="28" y="16"/>
                    <a:pt x="56" y="33"/>
                    <a:pt x="56" y="56"/>
                  </a:cubicBezTo>
                  <a:cubicBezTo>
                    <a:pt x="56" y="79"/>
                    <a:pt x="28" y="110"/>
                    <a:pt x="0" y="14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2" name="Text Box 67"/>
            <p:cNvSpPr txBox="1">
              <a:spLocks noChangeArrowheads="1"/>
            </p:cNvSpPr>
            <p:nvPr/>
          </p:nvSpPr>
          <p:spPr bwMode="auto">
            <a:xfrm>
              <a:off x="7653649" y="2252975"/>
              <a:ext cx="324118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800" i="1">
                  <a:solidFill>
                    <a:srgbClr val="0000FF"/>
                  </a:solidFill>
                  <a:latin typeface="Symbol" pitchFamily="18" charset="2"/>
                  <a:ea typeface="宋体" pitchFamily="2" charset="-122"/>
                  <a:sym typeface="Symbol" pitchFamily="18" charset="2"/>
                </a:rPr>
                <a:t></a:t>
              </a:r>
              <a:endParaRPr lang="zh-CN" altLang="zh-CN" sz="1800" b="0" i="1">
                <a:solidFill>
                  <a:srgbClr val="0000FF"/>
                </a:solidFill>
                <a:ea typeface="宋体" pitchFamily="2" charset="-122"/>
              </a:endParaRPr>
            </a:p>
          </p:txBody>
        </p:sp>
      </p:grpSp>
      <p:grpSp>
        <p:nvGrpSpPr>
          <p:cNvPr id="5" name="组合 90"/>
          <p:cNvGrpSpPr>
            <a:grpSpLocks/>
          </p:cNvGrpSpPr>
          <p:nvPr/>
        </p:nvGrpSpPr>
        <p:grpSpPr bwMode="auto">
          <a:xfrm>
            <a:off x="6891338" y="1731963"/>
            <a:ext cx="1411287" cy="307975"/>
            <a:chOff x="6155703" y="1828211"/>
            <a:chExt cx="1479502" cy="441197"/>
          </a:xfrm>
        </p:grpSpPr>
        <p:sp>
          <p:nvSpPr>
            <p:cNvPr id="30745" name="Line 57"/>
            <p:cNvSpPr>
              <a:spLocks noChangeShapeType="1"/>
            </p:cNvSpPr>
            <p:nvPr/>
          </p:nvSpPr>
          <p:spPr bwMode="auto">
            <a:xfrm flipV="1">
              <a:off x="6155703" y="1863234"/>
              <a:ext cx="1479502" cy="69259"/>
            </a:xfrm>
            <a:prstGeom prst="line">
              <a:avLst/>
            </a:prstGeom>
            <a:noFill/>
            <a:ln w="12700">
              <a:solidFill>
                <a:srgbClr val="00B0F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6" name="Freeform 63"/>
            <p:cNvSpPr>
              <a:spLocks/>
            </p:cNvSpPr>
            <p:nvPr/>
          </p:nvSpPr>
          <p:spPr bwMode="auto">
            <a:xfrm>
              <a:off x="6458749" y="1932494"/>
              <a:ext cx="64597" cy="156166"/>
            </a:xfrm>
            <a:custGeom>
              <a:avLst/>
              <a:gdLst>
                <a:gd name="T0" fmla="*/ 0 w 28"/>
                <a:gd name="T1" fmla="*/ 0 h 114"/>
                <a:gd name="T2" fmla="*/ 2147483647 w 28"/>
                <a:gd name="T3" fmla="*/ 2147483647 h 114"/>
                <a:gd name="T4" fmla="*/ 0 w 28"/>
                <a:gd name="T5" fmla="*/ 2147483647 h 114"/>
                <a:gd name="T6" fmla="*/ 0 60000 65536"/>
                <a:gd name="T7" fmla="*/ 0 60000 65536"/>
                <a:gd name="T8" fmla="*/ 0 60000 65536"/>
                <a:gd name="T9" fmla="*/ 0 w 28"/>
                <a:gd name="T10" fmla="*/ 0 h 114"/>
                <a:gd name="T11" fmla="*/ 28 w 28"/>
                <a:gd name="T12" fmla="*/ 114 h 1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114">
                  <a:moveTo>
                    <a:pt x="0" y="0"/>
                  </a:moveTo>
                  <a:cubicBezTo>
                    <a:pt x="14" y="19"/>
                    <a:pt x="28" y="38"/>
                    <a:pt x="28" y="57"/>
                  </a:cubicBezTo>
                  <a:cubicBezTo>
                    <a:pt x="28" y="76"/>
                    <a:pt x="14" y="95"/>
                    <a:pt x="0" y="114"/>
                  </a:cubicBezTo>
                </a:path>
              </a:pathLst>
            </a:custGeom>
            <a:noFill/>
            <a:ln w="127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7" name="Text Box 64"/>
            <p:cNvSpPr txBox="1">
              <a:spLocks noChangeArrowheads="1"/>
            </p:cNvSpPr>
            <p:nvPr/>
          </p:nvSpPr>
          <p:spPr bwMode="auto">
            <a:xfrm>
              <a:off x="6508569" y="1828211"/>
              <a:ext cx="395485" cy="441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400">
                  <a:ea typeface="宋体" pitchFamily="2" charset="-122"/>
                </a:rPr>
                <a:t>d</a:t>
              </a:r>
              <a:r>
                <a:rPr lang="en-US" altLang="zh-CN" sz="1400" i="1">
                  <a:ea typeface="宋体" pitchFamily="2" charset="-122"/>
                  <a:sym typeface="Symbol" pitchFamily="18" charset="2"/>
                </a:rPr>
                <a:t></a:t>
              </a:r>
              <a:endParaRPr lang="zh-CN" altLang="zh-CN" sz="1400" b="0">
                <a:ea typeface="宋体" pitchFamily="2" charset="-122"/>
              </a:endParaRPr>
            </a:p>
          </p:txBody>
        </p:sp>
      </p:grpSp>
      <p:grpSp>
        <p:nvGrpSpPr>
          <p:cNvPr id="7" name="组合 89"/>
          <p:cNvGrpSpPr>
            <a:grpSpLocks/>
          </p:cNvGrpSpPr>
          <p:nvPr/>
        </p:nvGrpSpPr>
        <p:grpSpPr bwMode="auto">
          <a:xfrm>
            <a:off x="7959725" y="1757363"/>
            <a:ext cx="598488" cy="406400"/>
            <a:chOff x="7856408" y="3456365"/>
            <a:chExt cx="626380" cy="585788"/>
          </a:xfrm>
        </p:grpSpPr>
        <p:graphicFrame>
          <p:nvGraphicFramePr>
            <p:cNvPr id="30741" name="对象 13"/>
            <p:cNvGraphicFramePr>
              <a:graphicFrameLocks noChangeAspect="1"/>
            </p:cNvGraphicFramePr>
            <p:nvPr/>
          </p:nvGraphicFramePr>
          <p:xfrm>
            <a:off x="7856408" y="3602414"/>
            <a:ext cx="279400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8" name="Equation" r:id="rId28" imgW="203112" imgH="228501" progId="Equation.DSMT4">
                    <p:embed/>
                  </p:oleObj>
                </mc:Choice>
                <mc:Fallback>
                  <p:oleObj name="Equation" r:id="rId28" imgW="203112" imgH="228501" progId="Equation.DSMT4">
                    <p:embed/>
                    <p:pic>
                      <p:nvPicPr>
                        <p:cNvPr id="0" name="对象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56408" y="3602414"/>
                          <a:ext cx="279400" cy="338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2" name="Line 58"/>
            <p:cNvSpPr>
              <a:spLocks noChangeShapeType="1"/>
            </p:cNvSpPr>
            <p:nvPr/>
          </p:nvSpPr>
          <p:spPr bwMode="auto">
            <a:xfrm flipV="1">
              <a:off x="8094156" y="3456365"/>
              <a:ext cx="134938" cy="585788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3" name="Freeform 61"/>
            <p:cNvSpPr>
              <a:spLocks/>
            </p:cNvSpPr>
            <p:nvPr/>
          </p:nvSpPr>
          <p:spPr bwMode="auto">
            <a:xfrm>
              <a:off x="8119752" y="3855533"/>
              <a:ext cx="225425" cy="46038"/>
            </a:xfrm>
            <a:custGeom>
              <a:avLst/>
              <a:gdLst>
                <a:gd name="T0" fmla="*/ 0 w 142"/>
                <a:gd name="T1" fmla="*/ 2147483647 h 29"/>
                <a:gd name="T2" fmla="*/ 2147483647 w 142"/>
                <a:gd name="T3" fmla="*/ 0 h 29"/>
                <a:gd name="T4" fmla="*/ 2147483647 w 142"/>
                <a:gd name="T5" fmla="*/ 2147483647 h 29"/>
                <a:gd name="T6" fmla="*/ 0 60000 65536"/>
                <a:gd name="T7" fmla="*/ 0 60000 65536"/>
                <a:gd name="T8" fmla="*/ 0 60000 65536"/>
                <a:gd name="T9" fmla="*/ 0 w 142"/>
                <a:gd name="T10" fmla="*/ 0 h 29"/>
                <a:gd name="T11" fmla="*/ 142 w 142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2" h="29">
                  <a:moveTo>
                    <a:pt x="0" y="29"/>
                  </a:moveTo>
                  <a:cubicBezTo>
                    <a:pt x="30" y="14"/>
                    <a:pt x="61" y="0"/>
                    <a:pt x="85" y="0"/>
                  </a:cubicBezTo>
                  <a:cubicBezTo>
                    <a:pt x="109" y="0"/>
                    <a:pt x="125" y="14"/>
                    <a:pt x="142" y="29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4" name="Text Box 65"/>
            <p:cNvSpPr txBox="1">
              <a:spLocks noChangeArrowheads="1"/>
            </p:cNvSpPr>
            <p:nvPr/>
          </p:nvSpPr>
          <p:spPr bwMode="auto">
            <a:xfrm>
              <a:off x="8109223" y="3486944"/>
              <a:ext cx="373565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800" i="1">
                  <a:solidFill>
                    <a:srgbClr val="FF0000"/>
                  </a:solidFill>
                  <a:ea typeface="宋体" pitchFamily="2" charset="-122"/>
                  <a:sym typeface="Symbol" pitchFamily="18" charset="2"/>
                </a:rPr>
                <a:t></a:t>
              </a:r>
              <a:r>
                <a:rPr lang="en-US" altLang="zh-CN" sz="1800" baseline="-25000">
                  <a:solidFill>
                    <a:srgbClr val="FF0000"/>
                  </a:solidFill>
                  <a:ea typeface="宋体" pitchFamily="2" charset="-122"/>
                </a:rPr>
                <a:t>i</a:t>
              </a:r>
              <a:endParaRPr lang="zh-CN" altLang="zh-CN" sz="1800" b="0">
                <a:solidFill>
                  <a:srgbClr val="FF0000"/>
                </a:solidFill>
                <a:ea typeface="宋体" pitchFamily="2" charset="-122"/>
              </a:endParaRPr>
            </a:p>
          </p:txBody>
        </p:sp>
      </p:grpSp>
      <p:sp>
        <p:nvSpPr>
          <p:cNvPr id="30740" name="Text Box 2"/>
          <p:cNvSpPr>
            <a:spLocks noChangeArrowheads="1"/>
          </p:cNvSpPr>
          <p:nvPr/>
        </p:nvSpPr>
        <p:spPr bwMode="auto">
          <a:xfrm>
            <a:off x="782638" y="874713"/>
            <a:ext cx="2636837" cy="401637"/>
          </a:xfrm>
          <a:prstGeom prst="homePlate">
            <a:avLst>
              <a:gd name="adj" fmla="val 49665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二、力矩的功与功率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94" grpId="0"/>
      <p:bldP spid="102" grpId="0"/>
      <p:bldP spid="23567" grpId="0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739900" y="1681163"/>
          <a:ext cx="290830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8" name="Equation" r:id="rId3" imgW="1536033" imgH="355446" progId="Equation.DSMT4">
                  <p:embed/>
                </p:oleObj>
              </mc:Choice>
              <mc:Fallback>
                <p:oleObj name="Equation" r:id="rId3" imgW="1536033" imgH="355446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900" y="1681163"/>
                        <a:ext cx="2908300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689475" y="1647825"/>
          <a:ext cx="1741488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9" name="Equation" r:id="rId5" imgW="926698" imgH="393529" progId="Equation.DSMT4">
                  <p:embed/>
                </p:oleObj>
              </mc:Choice>
              <mc:Fallback>
                <p:oleObj name="Equation" r:id="rId5" imgW="926698" imgH="393529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9475" y="1647825"/>
                        <a:ext cx="1741488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155950" y="2278063"/>
          <a:ext cx="2255838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0" name="Equation" r:id="rId7" imgW="1218671" imgH="393529" progId="Equation.DSMT4">
                  <p:embed/>
                </p:oleObj>
              </mc:Choice>
              <mc:Fallback>
                <p:oleObj name="Equation" r:id="rId7" imgW="1218671" imgH="393529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5950" y="2278063"/>
                        <a:ext cx="2255838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013075" y="2900363"/>
          <a:ext cx="257810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1" name="Equation" r:id="rId9" imgW="1282700" imgH="393700" progId="Equation.DSMT4">
                  <p:embed/>
                </p:oleObj>
              </mc:Choice>
              <mc:Fallback>
                <p:oleObj name="Equation" r:id="rId9" imgW="1282700" imgH="3937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3075" y="2900363"/>
                        <a:ext cx="2578100" cy="60007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1042988" y="3725863"/>
            <a:ext cx="72739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     </a:t>
            </a: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合外力矩对定轴转动刚体所做的功等于刚体转动动能的增量。</a:t>
            </a:r>
            <a:endParaRPr lang="en-US" altLang="zh-CN" sz="1800">
              <a:solidFill>
                <a:srgbClr val="0000FF"/>
              </a:solidFill>
              <a:latin typeface="华文中宋" pitchFamily="2" charset="-122"/>
              <a:ea typeface="华文中宋" pitchFamily="2" charset="-122"/>
            </a:endParaRPr>
          </a:p>
          <a:p>
            <a:pPr eaLnBrk="1" hangingPunct="1"/>
            <a:r>
              <a:rPr lang="en-US" altLang="zh-CN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                 </a:t>
            </a:r>
            <a:r>
              <a:rPr lang="en-US" altLang="zh-CN" sz="1800">
                <a:solidFill>
                  <a:srgbClr val="FF00FF"/>
                </a:solidFill>
                <a:latin typeface="华文中宋" pitchFamily="2" charset="-122"/>
                <a:ea typeface="华文中宋" pitchFamily="2" charset="-122"/>
              </a:rPr>
              <a:t>——</a:t>
            </a:r>
            <a:r>
              <a:rPr lang="zh-CN" altLang="en-US" sz="1800">
                <a:solidFill>
                  <a:srgbClr val="FF00FF"/>
                </a:solidFill>
                <a:latin typeface="华文中宋" pitchFamily="2" charset="-122"/>
                <a:ea typeface="华文中宋" pitchFamily="2" charset="-122"/>
              </a:rPr>
              <a:t>刚体定轴转动时的动能定理</a:t>
            </a:r>
            <a:r>
              <a:rPr lang="en-US" altLang="zh-CN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endParaRPr lang="zh-CN" altLang="zh-CN" sz="1800" b="0"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206863" name="Object 15"/>
          <p:cNvGraphicFramePr>
            <a:graphicFrameLocks noChangeAspect="1"/>
          </p:cNvGraphicFramePr>
          <p:nvPr/>
        </p:nvGraphicFramePr>
        <p:xfrm>
          <a:off x="6456363" y="1635125"/>
          <a:ext cx="155892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2" name="Equation" r:id="rId11" imgW="748975" imgH="355446" progId="Equation.DSMT4">
                  <p:embed/>
                </p:oleObj>
              </mc:Choice>
              <mc:Fallback>
                <p:oleObj name="Equation" r:id="rId11" imgW="748975" imgH="355446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363" y="1635125"/>
                        <a:ext cx="1558925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2" name="Text Box 2"/>
          <p:cNvSpPr>
            <a:spLocks noChangeArrowheads="1"/>
          </p:cNvSpPr>
          <p:nvPr/>
        </p:nvSpPr>
        <p:spPr bwMode="auto">
          <a:xfrm>
            <a:off x="782638" y="915988"/>
            <a:ext cx="3644900" cy="400050"/>
          </a:xfrm>
          <a:prstGeom prst="homePlate">
            <a:avLst>
              <a:gd name="adj" fmla="val 49858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三、刚体定轴转动的动能定理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6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2"/>
          <p:cNvGraphicFramePr>
            <a:graphicFrameLocks noChangeAspect="1"/>
          </p:cNvGraphicFramePr>
          <p:nvPr/>
        </p:nvGraphicFramePr>
        <p:xfrm>
          <a:off x="3217863" y="1566863"/>
          <a:ext cx="16827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0" name="Equation" r:id="rId3" imgW="672808" imgH="228501" progId="Equation.DSMT4">
                  <p:embed/>
                </p:oleObj>
              </mc:Choice>
              <mc:Fallback>
                <p:oleObj name="Equation" r:id="rId3" imgW="672808" imgH="228501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7863" y="1566863"/>
                        <a:ext cx="168275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3"/>
          <p:cNvSpPr txBox="1">
            <a:spLocks noChangeArrowheads="1"/>
          </p:cNvSpPr>
          <p:nvPr/>
        </p:nvSpPr>
        <p:spPr bwMode="auto">
          <a:xfrm>
            <a:off x="1042988" y="2058988"/>
            <a:ext cx="7273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1800" i="1">
                <a:ea typeface="华文中宋" pitchFamily="2" charset="-122"/>
              </a:rPr>
              <a:t>m</a:t>
            </a:r>
            <a:r>
              <a:rPr lang="zh-CN" altLang="en-US" sz="1800">
                <a:ea typeface="华文中宋" pitchFamily="2" charset="-122"/>
              </a:rPr>
              <a:t>为刚体的总质量； </a:t>
            </a:r>
            <a:r>
              <a:rPr lang="en-US" altLang="zh-CN" sz="1800" i="1">
                <a:ea typeface="华文中宋" pitchFamily="2" charset="-122"/>
              </a:rPr>
              <a:t>h</a:t>
            </a:r>
            <a:r>
              <a:rPr lang="en-US" altLang="zh-CN" sz="1800" baseline="-25000">
                <a:ea typeface="华文中宋" pitchFamily="2" charset="-122"/>
              </a:rPr>
              <a:t>c</a:t>
            </a:r>
            <a:r>
              <a:rPr lang="zh-CN" altLang="en-US" sz="1800">
                <a:ea typeface="华文中宋" pitchFamily="2" charset="-122"/>
              </a:rPr>
              <a:t>为刚体质心的高度。</a:t>
            </a:r>
          </a:p>
        </p:txBody>
      </p:sp>
      <p:sp>
        <p:nvSpPr>
          <p:cNvPr id="8" name="Text Box 16"/>
          <p:cNvSpPr txBox="1">
            <a:spLocks noChangeArrowheads="1"/>
          </p:cNvSpPr>
          <p:nvPr/>
        </p:nvSpPr>
        <p:spPr bwMode="auto">
          <a:xfrm>
            <a:off x="1187450" y="2984500"/>
            <a:ext cx="6048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ea typeface="华文中宋" pitchFamily="2" charset="-122"/>
              </a:rPr>
              <a:t>    若</a:t>
            </a:r>
            <a:r>
              <a:rPr lang="en-US" altLang="zh-CN" sz="1800">
                <a:ea typeface="华文中宋" pitchFamily="2" charset="-122"/>
              </a:rPr>
              <a:t>d</a:t>
            </a:r>
            <a:r>
              <a:rPr lang="en-US" altLang="zh-CN" sz="1800" i="1">
                <a:ea typeface="华文中宋" pitchFamily="2" charset="-122"/>
              </a:rPr>
              <a:t>W</a:t>
            </a:r>
            <a:r>
              <a:rPr lang="zh-CN" altLang="en-US" sz="1800" baseline="-25000">
                <a:ea typeface="华文中宋" pitchFamily="2" charset="-122"/>
              </a:rPr>
              <a:t>外</a:t>
            </a:r>
            <a:r>
              <a:rPr lang="en-US" altLang="zh-CN" sz="1800">
                <a:ea typeface="华文中宋" pitchFamily="2" charset="-122"/>
              </a:rPr>
              <a:t>=0,  d</a:t>
            </a:r>
            <a:r>
              <a:rPr lang="en-US" altLang="zh-CN" sz="1800" i="1">
                <a:ea typeface="华文中宋" pitchFamily="2" charset="-122"/>
              </a:rPr>
              <a:t>W</a:t>
            </a:r>
            <a:r>
              <a:rPr lang="zh-CN" altLang="en-US" sz="1800" baseline="-25000">
                <a:ea typeface="华文中宋" pitchFamily="2" charset="-122"/>
              </a:rPr>
              <a:t>内非</a:t>
            </a:r>
            <a:r>
              <a:rPr lang="en-US" altLang="zh-CN" sz="1800">
                <a:ea typeface="华文中宋" pitchFamily="2" charset="-122"/>
              </a:rPr>
              <a:t>=0</a:t>
            </a:r>
            <a:r>
              <a:rPr lang="zh-CN" altLang="en-US" sz="1800">
                <a:ea typeface="华文中宋" pitchFamily="2" charset="-122"/>
              </a:rPr>
              <a:t>  </a:t>
            </a:r>
            <a:r>
              <a:rPr lang="en-US" altLang="zh-CN" sz="1800">
                <a:ea typeface="华文中宋" pitchFamily="2" charset="-122"/>
              </a:rPr>
              <a:t>(</a:t>
            </a:r>
            <a:r>
              <a:rPr lang="zh-CN" altLang="en-US" sz="1800">
                <a:ea typeface="华文中宋" pitchFamily="2" charset="-122"/>
              </a:rPr>
              <a:t>或只有保守力作功</a:t>
            </a:r>
            <a:r>
              <a:rPr lang="en-US" altLang="zh-CN" sz="1800">
                <a:ea typeface="华文中宋" pitchFamily="2" charset="-122"/>
              </a:rPr>
              <a:t>)</a:t>
            </a: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844550" y="3425825"/>
            <a:ext cx="2432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1800">
                <a:ea typeface="华文中宋" pitchFamily="2" charset="-122"/>
              </a:rPr>
              <a:t>系统机械能守恒，即</a:t>
            </a:r>
          </a:p>
        </p:txBody>
      </p:sp>
      <p:graphicFrame>
        <p:nvGraphicFramePr>
          <p:cNvPr id="12" name="Object 18"/>
          <p:cNvGraphicFramePr>
            <a:graphicFrameLocks noChangeAspect="1"/>
          </p:cNvGraphicFramePr>
          <p:nvPr/>
        </p:nvGraphicFramePr>
        <p:xfrm>
          <a:off x="2351088" y="3765550"/>
          <a:ext cx="394017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1" name="Equation" r:id="rId5" imgW="1765300" imgH="393700" progId="Equation.DSMT4">
                  <p:embed/>
                </p:oleObj>
              </mc:Choice>
              <mc:Fallback>
                <p:oleObj name="Equation" r:id="rId5" imgW="1765300" imgH="3937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3765550"/>
                        <a:ext cx="394017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17"/>
          <p:cNvSpPr txBox="1">
            <a:spLocks noChangeArrowheads="1"/>
          </p:cNvSpPr>
          <p:nvPr/>
        </p:nvSpPr>
        <p:spPr bwMode="auto">
          <a:xfrm>
            <a:off x="900113" y="2606675"/>
            <a:ext cx="4454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2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、机械能守恒定律</a:t>
            </a:r>
          </a:p>
        </p:txBody>
      </p:sp>
      <p:sp>
        <p:nvSpPr>
          <p:cNvPr id="6" name="Text Box 17"/>
          <p:cNvSpPr txBox="1">
            <a:spLocks noChangeArrowheads="1"/>
          </p:cNvSpPr>
          <p:nvPr/>
        </p:nvSpPr>
        <p:spPr bwMode="auto">
          <a:xfrm>
            <a:off x="900113" y="1266825"/>
            <a:ext cx="4454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1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、刚体的势能</a:t>
            </a:r>
          </a:p>
        </p:txBody>
      </p:sp>
      <p:sp>
        <p:nvSpPr>
          <p:cNvPr id="32777" name="Text Box 2"/>
          <p:cNvSpPr>
            <a:spLocks noChangeArrowheads="1"/>
          </p:cNvSpPr>
          <p:nvPr/>
        </p:nvSpPr>
        <p:spPr bwMode="auto">
          <a:xfrm>
            <a:off x="782638" y="874713"/>
            <a:ext cx="2925762" cy="401637"/>
          </a:xfrm>
          <a:prstGeom prst="homePlate">
            <a:avLst>
              <a:gd name="adj" fmla="val 49677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四、机械能守恒定律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8" grpId="0"/>
      <p:bldP spid="11" grpId="0" autoUpdateAnimBg="0"/>
      <p:bldP spid="2" grpId="0" autoUpdateAnimBg="0"/>
      <p:bldP spid="6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Text Box 2"/>
          <p:cNvSpPr txBox="1">
            <a:spLocks noChangeArrowheads="1"/>
          </p:cNvSpPr>
          <p:nvPr/>
        </p:nvSpPr>
        <p:spPr bwMode="auto">
          <a:xfrm>
            <a:off x="304800" y="771525"/>
            <a:ext cx="8458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例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   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一匀均细杆长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l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，质量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m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，垂直放置，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O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点着地。杆绕过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o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的光滑水平轴自由倒下，求杆的另一端点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a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着地时的角速度</a:t>
            </a:r>
            <a:r>
              <a:rPr lang="zh-CN" altLang="en-US" sz="1800" i="1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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、线速度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v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、法向加速度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a</a:t>
            </a:r>
            <a:r>
              <a:rPr lang="en-US" altLang="zh-CN" sz="1800" baseline="-25000">
                <a:solidFill>
                  <a:srgbClr val="0000FF"/>
                </a:solidFill>
                <a:ea typeface="华文中宋" pitchFamily="2" charset="-122"/>
              </a:rPr>
              <a:t>n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及切向加速度 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a</a:t>
            </a:r>
            <a:r>
              <a:rPr lang="en-US" altLang="zh-CN" sz="1800" i="1" baseline="-25000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</a:t>
            </a:r>
            <a:r>
              <a:rPr lang="en-US" altLang="zh-CN" sz="1800" i="1" baseline="-25000">
                <a:solidFill>
                  <a:srgbClr val="0000FF"/>
                </a:solidFill>
                <a:ea typeface="华文中宋" pitchFamily="2" charset="-122"/>
              </a:rPr>
              <a:t>  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。</a:t>
            </a:r>
          </a:p>
        </p:txBody>
      </p:sp>
      <p:sp>
        <p:nvSpPr>
          <p:cNvPr id="209923" name="Text Box 3"/>
          <p:cNvSpPr txBox="1">
            <a:spLocks noChangeArrowheads="1"/>
          </p:cNvSpPr>
          <p:nvPr/>
        </p:nvSpPr>
        <p:spPr bwMode="auto">
          <a:xfrm>
            <a:off x="392113" y="1276350"/>
            <a:ext cx="50434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1800">
                <a:ea typeface="华文中宋" pitchFamily="2" charset="-122"/>
              </a:rPr>
              <a:t>解：杆在倒下过程中机械能守恒</a:t>
            </a:r>
          </a:p>
        </p:txBody>
      </p:sp>
      <p:graphicFrame>
        <p:nvGraphicFramePr>
          <p:cNvPr id="209924" name="Object 4"/>
          <p:cNvGraphicFramePr>
            <a:graphicFrameLocks noChangeAspect="1"/>
          </p:cNvGraphicFramePr>
          <p:nvPr/>
        </p:nvGraphicFramePr>
        <p:xfrm>
          <a:off x="1141413" y="1541463"/>
          <a:ext cx="1039812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2" name="Equation" r:id="rId4" imgW="482391" imgH="393529" progId="Equation.DSMT4">
                  <p:embed/>
                </p:oleObj>
              </mc:Choice>
              <mc:Fallback>
                <p:oleObj name="Equation" r:id="rId4" imgW="482391" imgH="393529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413" y="1541463"/>
                        <a:ext cx="1039812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25" name="Object 5"/>
          <p:cNvGraphicFramePr>
            <a:graphicFrameLocks noChangeAspect="1"/>
          </p:cNvGraphicFramePr>
          <p:nvPr/>
        </p:nvGraphicFramePr>
        <p:xfrm>
          <a:off x="1920875" y="2247900"/>
          <a:ext cx="1239838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3" name="Equation" r:id="rId6" imgW="609336" imgH="444307" progId="Equation.DSMT4">
                  <p:embed/>
                </p:oleObj>
              </mc:Choice>
              <mc:Fallback>
                <p:oleObj name="Equation" r:id="rId6" imgW="609336" imgH="444307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875" y="2247900"/>
                        <a:ext cx="1239838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26" name="Object 6"/>
          <p:cNvGraphicFramePr>
            <a:graphicFrameLocks noChangeAspect="1"/>
          </p:cNvGraphicFramePr>
          <p:nvPr/>
        </p:nvGraphicFramePr>
        <p:xfrm>
          <a:off x="3541713" y="4011613"/>
          <a:ext cx="18224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4" r:id="rId8" imgW="1562100" imgH="660400" progId="Equation.3">
                  <p:embed/>
                </p:oleObj>
              </mc:Choice>
              <mc:Fallback>
                <p:oleObj r:id="rId8" imgW="1562100" imgH="660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1713" y="4011613"/>
                        <a:ext cx="182245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27" name="Object 7"/>
          <p:cNvGraphicFramePr>
            <a:graphicFrameLocks noChangeAspect="1"/>
          </p:cNvGraphicFramePr>
          <p:nvPr/>
        </p:nvGraphicFramePr>
        <p:xfrm>
          <a:off x="1979613" y="4011613"/>
          <a:ext cx="1320800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5" r:id="rId10" imgW="914400" imgH="673100" progId="Equation.3">
                  <p:embed/>
                </p:oleObj>
              </mc:Choice>
              <mc:Fallback>
                <p:oleObj r:id="rId10" imgW="914400" imgH="673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011613"/>
                        <a:ext cx="1320800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5292725" y="1419225"/>
            <a:ext cx="3657600" cy="2574925"/>
            <a:chOff x="0" y="0"/>
            <a:chExt cx="2304" cy="2163"/>
          </a:xfrm>
        </p:grpSpPr>
        <p:sp>
          <p:nvSpPr>
            <p:cNvPr id="33866" name="Rectangle 9"/>
            <p:cNvSpPr>
              <a:spLocks noChangeArrowheads="1"/>
            </p:cNvSpPr>
            <p:nvPr/>
          </p:nvSpPr>
          <p:spPr bwMode="auto">
            <a:xfrm>
              <a:off x="0" y="0"/>
              <a:ext cx="2304" cy="388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rgbClr val="FFFF99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33867" name="Group 10"/>
            <p:cNvGrpSpPr>
              <a:grpSpLocks/>
            </p:cNvGrpSpPr>
            <p:nvPr/>
          </p:nvGrpSpPr>
          <p:grpSpPr bwMode="auto">
            <a:xfrm>
              <a:off x="8" y="311"/>
              <a:ext cx="2143" cy="1852"/>
              <a:chOff x="0" y="0"/>
              <a:chExt cx="2143" cy="1852"/>
            </a:xfrm>
          </p:grpSpPr>
          <p:sp>
            <p:nvSpPr>
              <p:cNvPr id="33868" name="Rectangle 11" descr="花束"/>
              <p:cNvSpPr>
                <a:spLocks noChangeArrowheads="1"/>
              </p:cNvSpPr>
              <p:nvPr/>
            </p:nvSpPr>
            <p:spPr bwMode="auto">
              <a:xfrm>
                <a:off x="65" y="1253"/>
                <a:ext cx="2078" cy="388"/>
              </a:xfrm>
              <a:prstGeom prst="rect">
                <a:avLst/>
              </a:prstGeom>
              <a:blipFill dpi="0" rotWithShape="0">
                <a:blip r:embed="rId12"/>
                <a:srcRect/>
                <a:tile tx="0" ty="0" sx="100000" sy="100000" flip="none" algn="tl"/>
              </a:blip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FFFFF"/>
                </a:extrusionClr>
              </a:sp3d>
            </p:spPr>
            <p:txBody>
              <a:bodyPr anchor="ctr">
                <a:spAutoFit/>
                <a:flatTx/>
              </a:bodyPr>
              <a:lstStyle/>
              <a:p>
                <a:endParaRPr lang="zh-CN" altLang="en-US"/>
              </a:p>
            </p:txBody>
          </p:sp>
          <p:grpSp>
            <p:nvGrpSpPr>
              <p:cNvPr id="33869" name="Group 12"/>
              <p:cNvGrpSpPr>
                <a:grpSpLocks/>
              </p:cNvGrpSpPr>
              <p:nvPr/>
            </p:nvGrpSpPr>
            <p:grpSpPr bwMode="auto">
              <a:xfrm>
                <a:off x="0" y="0"/>
                <a:ext cx="408" cy="1852"/>
                <a:chOff x="0" y="0"/>
                <a:chExt cx="408" cy="1852"/>
              </a:xfrm>
            </p:grpSpPr>
            <p:grpSp>
              <p:nvGrpSpPr>
                <p:cNvPr id="33870" name="Group 13"/>
                <p:cNvGrpSpPr>
                  <a:grpSpLocks/>
                </p:cNvGrpSpPr>
                <p:nvPr/>
              </p:nvGrpSpPr>
              <p:grpSpPr bwMode="auto">
                <a:xfrm>
                  <a:off x="0" y="529"/>
                  <a:ext cx="408" cy="1323"/>
                  <a:chOff x="0" y="449"/>
                  <a:chExt cx="408" cy="1323"/>
                </a:xfrm>
              </p:grpSpPr>
              <p:sp>
                <p:nvSpPr>
                  <p:cNvPr id="33873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341" y="449"/>
                    <a:ext cx="56" cy="388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64718"/>
                      </a:gs>
                      <a:gs pos="50000">
                        <a:srgbClr val="FF9933"/>
                      </a:gs>
                      <a:gs pos="100000">
                        <a:srgbClr val="76471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874" name="Oval 15"/>
                  <p:cNvSpPr>
                    <a:spLocks noChangeArrowheads="1"/>
                  </p:cNvSpPr>
                  <p:nvPr/>
                </p:nvSpPr>
                <p:spPr bwMode="auto">
                  <a:xfrm>
                    <a:off x="339" y="1227"/>
                    <a:ext cx="50" cy="545"/>
                  </a:xfrm>
                  <a:prstGeom prst="ellipse">
                    <a:avLst/>
                  </a:prstGeom>
                  <a:solidFill>
                    <a:srgbClr val="000000"/>
                  </a:solidFill>
                  <a:ln w="11113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3875" name="Group 16"/>
                  <p:cNvGrpSpPr>
                    <a:grpSpLocks/>
                  </p:cNvGrpSpPr>
                  <p:nvPr/>
                </p:nvGrpSpPr>
                <p:grpSpPr bwMode="auto">
                  <a:xfrm>
                    <a:off x="330" y="650"/>
                    <a:ext cx="78" cy="713"/>
                    <a:chOff x="0" y="0"/>
                    <a:chExt cx="78" cy="713"/>
                  </a:xfrm>
                </p:grpSpPr>
                <p:sp>
                  <p:nvSpPr>
                    <p:cNvPr id="33879" name="Line 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" y="0"/>
                      <a:ext cx="1" cy="339"/>
                    </a:xfrm>
                    <a:prstGeom prst="line">
                      <a:avLst/>
                    </a:prstGeom>
                    <a:noFill/>
                    <a:ln w="11113">
                      <a:solidFill>
                        <a:schemeClr val="bg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880" name="未知"/>
                    <p:cNvSpPr>
                      <a:spLocks/>
                    </p:cNvSpPr>
                    <p:nvPr/>
                  </p:nvSpPr>
                  <p:spPr bwMode="auto">
                    <a:xfrm>
                      <a:off x="0" y="325"/>
                      <a:ext cx="78" cy="388"/>
                    </a:xfrm>
                    <a:custGeom>
                      <a:avLst/>
                      <a:gdLst>
                        <a:gd name="T0" fmla="*/ 0 w 78"/>
                        <a:gd name="T1" fmla="*/ 0 h 70"/>
                        <a:gd name="T2" fmla="*/ 36 w 78"/>
                        <a:gd name="T3" fmla="*/ 366311 h 70"/>
                        <a:gd name="T4" fmla="*/ 78 w 78"/>
                        <a:gd name="T5" fmla="*/ 0 h 70"/>
                        <a:gd name="T6" fmla="*/ 0 w 78"/>
                        <a:gd name="T7" fmla="*/ 0 h 7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78"/>
                        <a:gd name="T13" fmla="*/ 0 h 70"/>
                        <a:gd name="T14" fmla="*/ 78 w 78"/>
                        <a:gd name="T15" fmla="*/ 70 h 7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78" h="70">
                          <a:moveTo>
                            <a:pt x="0" y="0"/>
                          </a:moveTo>
                          <a:lnTo>
                            <a:pt x="36" y="70"/>
                          </a:lnTo>
                          <a:lnTo>
                            <a:pt x="78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 cmpd="sng">
                      <a:solidFill>
                        <a:schemeClr val="bg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</p:grpSp>
              <p:graphicFrame>
                <p:nvGraphicFramePr>
                  <p:cNvPr id="33876" name="Object 19"/>
                  <p:cNvGraphicFramePr>
                    <a:graphicFrameLocks noChangeAspect="1"/>
                  </p:cNvGraphicFramePr>
                  <p:nvPr/>
                </p:nvGraphicFramePr>
                <p:xfrm>
                  <a:off x="0" y="761"/>
                  <a:ext cx="286" cy="19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3906" r:id="rId13" imgW="241405" imgH="165172" progId="Equation.3">
                          <p:embed/>
                        </p:oleObj>
                      </mc:Choice>
                      <mc:Fallback>
                        <p:oleObj r:id="rId13" imgW="241405" imgH="165172" progId="Equation.3">
                          <p:embed/>
                          <p:pic>
                            <p:nvPicPr>
                              <p:cNvPr id="0" name="Object 19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0" y="761"/>
                                <a:ext cx="286" cy="19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33877" name="Object 20"/>
                  <p:cNvGraphicFramePr>
                    <a:graphicFrameLocks noChangeAspect="1"/>
                  </p:cNvGraphicFramePr>
                  <p:nvPr/>
                </p:nvGraphicFramePr>
                <p:xfrm>
                  <a:off x="170" y="546"/>
                  <a:ext cx="105" cy="12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3907" r:id="rId15" imgW="114399" imgH="139821" progId="Equation.3">
                          <p:embed/>
                        </p:oleObj>
                      </mc:Choice>
                      <mc:Fallback>
                        <p:oleObj r:id="rId15" imgW="114399" imgH="139821" progId="Equation.3">
                          <p:embed/>
                          <p:pic>
                            <p:nvPicPr>
                              <p:cNvPr id="0" name="Object 20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70" y="546"/>
                                <a:ext cx="105" cy="12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33878" name="Object 21"/>
                  <p:cNvGraphicFramePr>
                    <a:graphicFrameLocks noChangeAspect="1"/>
                  </p:cNvGraphicFramePr>
                  <p:nvPr/>
                </p:nvGraphicFramePr>
                <p:xfrm>
                  <a:off x="182" y="1194"/>
                  <a:ext cx="104" cy="14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3908" r:id="rId17" imgW="127000" imgH="177800" progId="Equation.3">
                          <p:embed/>
                        </p:oleObj>
                      </mc:Choice>
                      <mc:Fallback>
                        <p:oleObj r:id="rId17" imgW="127000" imgH="177800" progId="Equation.3">
                          <p:embed/>
                          <p:pic>
                            <p:nvPicPr>
                              <p:cNvPr id="0" name="Object 21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82" y="1194"/>
                                <a:ext cx="104" cy="14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aphicFrame>
              <p:nvGraphicFramePr>
                <p:cNvPr id="33871" name="Object 22"/>
                <p:cNvGraphicFramePr>
                  <a:graphicFrameLocks noChangeAspect="1"/>
                </p:cNvGraphicFramePr>
                <p:nvPr/>
              </p:nvGraphicFramePr>
              <p:xfrm>
                <a:off x="166" y="0"/>
                <a:ext cx="137" cy="1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909" r:id="rId19" imgW="127000" imgH="139700" progId="Equation.3">
                        <p:embed/>
                      </p:oleObj>
                    </mc:Choice>
                    <mc:Fallback>
                      <p:oleObj r:id="rId19" imgW="127000" imgH="139700" progId="Equation.3">
                        <p:embed/>
                        <p:pic>
                          <p:nvPicPr>
                            <p:cNvPr id="0" name="Object 2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66" y="0"/>
                              <a:ext cx="137" cy="15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09943" name="Oval 23"/>
                <p:cNvSpPr>
                  <a:spLocks noChangeArrowheads="1"/>
                </p:cNvSpPr>
                <p:nvPr/>
              </p:nvSpPr>
              <p:spPr bwMode="auto">
                <a:xfrm>
                  <a:off x="339" y="700"/>
                  <a:ext cx="50" cy="54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tx2">
                        <a:gamma/>
                        <a:tint val="0"/>
                        <a:invGamma/>
                      </a:schemeClr>
                    </a:gs>
                    <a:gs pos="100000">
                      <a:schemeClr val="tx2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</p:grpSp>
      </p:grpSp>
      <p:grpSp>
        <p:nvGrpSpPr>
          <p:cNvPr id="7" name="Group 24"/>
          <p:cNvGrpSpPr>
            <a:grpSpLocks/>
          </p:cNvGrpSpPr>
          <p:nvPr/>
        </p:nvGrpSpPr>
        <p:grpSpPr bwMode="auto">
          <a:xfrm>
            <a:off x="5867400" y="2801938"/>
            <a:ext cx="2322513" cy="1185862"/>
            <a:chOff x="0" y="0"/>
            <a:chExt cx="1429" cy="995"/>
          </a:xfrm>
        </p:grpSpPr>
        <p:grpSp>
          <p:nvGrpSpPr>
            <p:cNvPr id="33855" name="Group 25"/>
            <p:cNvGrpSpPr>
              <a:grpSpLocks/>
            </p:cNvGrpSpPr>
            <p:nvPr/>
          </p:nvGrpSpPr>
          <p:grpSpPr bwMode="auto">
            <a:xfrm>
              <a:off x="0" y="246"/>
              <a:ext cx="803" cy="749"/>
              <a:chOff x="0" y="0"/>
              <a:chExt cx="803" cy="749"/>
            </a:xfrm>
          </p:grpSpPr>
          <p:grpSp>
            <p:nvGrpSpPr>
              <p:cNvPr id="33858" name="Group 26"/>
              <p:cNvGrpSpPr>
                <a:grpSpLocks/>
              </p:cNvGrpSpPr>
              <p:nvPr/>
            </p:nvGrpSpPr>
            <p:grpSpPr bwMode="auto">
              <a:xfrm>
                <a:off x="638" y="9"/>
                <a:ext cx="78" cy="713"/>
                <a:chOff x="0" y="0"/>
                <a:chExt cx="78" cy="713"/>
              </a:xfrm>
            </p:grpSpPr>
            <p:sp>
              <p:nvSpPr>
                <p:cNvPr id="33864" name="Line 27"/>
                <p:cNvSpPr>
                  <a:spLocks noChangeShapeType="1"/>
                </p:cNvSpPr>
                <p:nvPr/>
              </p:nvSpPr>
              <p:spPr bwMode="auto">
                <a:xfrm>
                  <a:off x="36" y="0"/>
                  <a:ext cx="1" cy="339"/>
                </a:xfrm>
                <a:prstGeom prst="line">
                  <a:avLst/>
                </a:prstGeom>
                <a:noFill/>
                <a:ln w="1111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865" name="未知"/>
                <p:cNvSpPr>
                  <a:spLocks/>
                </p:cNvSpPr>
                <p:nvPr/>
              </p:nvSpPr>
              <p:spPr bwMode="auto">
                <a:xfrm>
                  <a:off x="0" y="325"/>
                  <a:ext cx="78" cy="388"/>
                </a:xfrm>
                <a:custGeom>
                  <a:avLst/>
                  <a:gdLst>
                    <a:gd name="T0" fmla="*/ 0 w 78"/>
                    <a:gd name="T1" fmla="*/ 0 h 70"/>
                    <a:gd name="T2" fmla="*/ 36 w 78"/>
                    <a:gd name="T3" fmla="*/ 366311 h 70"/>
                    <a:gd name="T4" fmla="*/ 78 w 78"/>
                    <a:gd name="T5" fmla="*/ 0 h 70"/>
                    <a:gd name="T6" fmla="*/ 0 w 78"/>
                    <a:gd name="T7" fmla="*/ 0 h 7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8"/>
                    <a:gd name="T13" fmla="*/ 0 h 70"/>
                    <a:gd name="T14" fmla="*/ 78 w 78"/>
                    <a:gd name="T15" fmla="*/ 70 h 7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8" h="70">
                      <a:moveTo>
                        <a:pt x="0" y="0"/>
                      </a:moveTo>
                      <a:lnTo>
                        <a:pt x="36" y="70"/>
                      </a:lnTo>
                      <a:lnTo>
                        <a:pt x="7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859" name="Group 29"/>
              <p:cNvGrpSpPr>
                <a:grpSpLocks/>
              </p:cNvGrpSpPr>
              <p:nvPr/>
            </p:nvGrpSpPr>
            <p:grpSpPr bwMode="auto">
              <a:xfrm>
                <a:off x="0" y="0"/>
                <a:ext cx="803" cy="749"/>
                <a:chOff x="0" y="0"/>
                <a:chExt cx="803" cy="749"/>
              </a:xfrm>
            </p:grpSpPr>
            <p:sp>
              <p:nvSpPr>
                <p:cNvPr id="33861" name="Rectangle 30"/>
                <p:cNvSpPr>
                  <a:spLocks noChangeArrowheads="1"/>
                </p:cNvSpPr>
                <p:nvPr/>
              </p:nvSpPr>
              <p:spPr bwMode="auto">
                <a:xfrm rot="4377023">
                  <a:off x="637" y="-104"/>
                  <a:ext cx="47" cy="284"/>
                </a:xfrm>
                <a:prstGeom prst="rect">
                  <a:avLst/>
                </a:prstGeom>
                <a:gradFill rotWithShape="0">
                  <a:gsLst>
                    <a:gs pos="0">
                      <a:srgbClr val="764718"/>
                    </a:gs>
                    <a:gs pos="50000">
                      <a:srgbClr val="FF9933"/>
                    </a:gs>
                    <a:gs pos="100000">
                      <a:srgbClr val="764718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862" name="Oval 31"/>
                <p:cNvSpPr>
                  <a:spLocks noChangeArrowheads="1"/>
                </p:cNvSpPr>
                <p:nvPr/>
              </p:nvSpPr>
              <p:spPr bwMode="auto">
                <a:xfrm>
                  <a:off x="0" y="204"/>
                  <a:ext cx="50" cy="545"/>
                </a:xfrm>
                <a:prstGeom prst="ellipse">
                  <a:avLst/>
                </a:prstGeom>
                <a:solidFill>
                  <a:srgbClr val="000000"/>
                </a:solidFill>
                <a:ln w="11113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9952" name="Oval 32"/>
                <p:cNvSpPr>
                  <a:spLocks noChangeArrowheads="1"/>
                </p:cNvSpPr>
                <p:nvPr/>
              </p:nvSpPr>
              <p:spPr bwMode="auto">
                <a:xfrm>
                  <a:off x="651" y="0"/>
                  <a:ext cx="59" cy="54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tx2">
                        <a:gamma/>
                        <a:tint val="0"/>
                        <a:invGamma/>
                      </a:schemeClr>
                    </a:gs>
                    <a:gs pos="100000">
                      <a:schemeClr val="tx2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graphicFrame>
            <p:nvGraphicFramePr>
              <p:cNvPr id="33860" name="Object 33"/>
              <p:cNvGraphicFramePr>
                <a:graphicFrameLocks noChangeAspect="1"/>
              </p:cNvGraphicFramePr>
              <p:nvPr/>
            </p:nvGraphicFramePr>
            <p:xfrm>
              <a:off x="308" y="265"/>
              <a:ext cx="286" cy="1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910" r:id="rId21" imgW="241405" imgH="165172" progId="Equation.3">
                      <p:embed/>
                    </p:oleObj>
                  </mc:Choice>
                  <mc:Fallback>
                    <p:oleObj r:id="rId21" imgW="241405" imgH="165172" progId="Equation.3">
                      <p:embed/>
                      <p:pic>
                        <p:nvPicPr>
                          <p:cNvPr id="0" name="Object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8" y="265"/>
                            <a:ext cx="286" cy="19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3856" name="Object 34"/>
            <p:cNvGraphicFramePr>
              <a:graphicFrameLocks noChangeAspect="1"/>
            </p:cNvGraphicFramePr>
            <p:nvPr/>
          </p:nvGraphicFramePr>
          <p:xfrm>
            <a:off x="657" y="75"/>
            <a:ext cx="114" cy="1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11" r:id="rId22" imgW="114399" imgH="139821" progId="Equation.3">
                    <p:embed/>
                  </p:oleObj>
                </mc:Choice>
                <mc:Fallback>
                  <p:oleObj r:id="rId22" imgW="114399" imgH="139821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75"/>
                          <a:ext cx="114" cy="1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57" name="Object 35"/>
            <p:cNvGraphicFramePr>
              <a:graphicFrameLocks noChangeAspect="1"/>
            </p:cNvGraphicFramePr>
            <p:nvPr/>
          </p:nvGraphicFramePr>
          <p:xfrm>
            <a:off x="1294" y="0"/>
            <a:ext cx="135" cy="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12" r:id="rId23" imgW="127000" imgH="139700" progId="Equation.3">
                    <p:embed/>
                  </p:oleObj>
                </mc:Choice>
                <mc:Fallback>
                  <p:oleObj r:id="rId23" imgW="127000" imgH="13970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4" y="0"/>
                          <a:ext cx="135" cy="1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36"/>
          <p:cNvGrpSpPr>
            <a:grpSpLocks/>
          </p:cNvGrpSpPr>
          <p:nvPr/>
        </p:nvGrpSpPr>
        <p:grpSpPr bwMode="auto">
          <a:xfrm>
            <a:off x="5848350" y="2170113"/>
            <a:ext cx="1611313" cy="1824037"/>
            <a:chOff x="139" y="0"/>
            <a:chExt cx="1015" cy="1532"/>
          </a:xfrm>
        </p:grpSpPr>
        <p:grpSp>
          <p:nvGrpSpPr>
            <p:cNvPr id="33845" name="Group 37"/>
            <p:cNvGrpSpPr>
              <a:grpSpLocks/>
            </p:cNvGrpSpPr>
            <p:nvPr/>
          </p:nvGrpSpPr>
          <p:grpSpPr bwMode="auto">
            <a:xfrm>
              <a:off x="139" y="537"/>
              <a:ext cx="872" cy="995"/>
              <a:chOff x="139" y="0"/>
              <a:chExt cx="872" cy="995"/>
            </a:xfrm>
          </p:grpSpPr>
          <p:sp>
            <p:nvSpPr>
              <p:cNvPr id="33848" name="Rectangle 38"/>
              <p:cNvSpPr>
                <a:spLocks noChangeArrowheads="1"/>
              </p:cNvSpPr>
              <p:nvPr/>
            </p:nvSpPr>
            <p:spPr bwMode="auto">
              <a:xfrm rot="2905799">
                <a:off x="615" y="-98"/>
                <a:ext cx="56" cy="291"/>
              </a:xfrm>
              <a:prstGeom prst="rect">
                <a:avLst/>
              </a:prstGeom>
              <a:gradFill rotWithShape="0">
                <a:gsLst>
                  <a:gs pos="0">
                    <a:srgbClr val="764718"/>
                  </a:gs>
                  <a:gs pos="50000">
                    <a:srgbClr val="FF9933"/>
                  </a:gs>
                  <a:gs pos="100000">
                    <a:srgbClr val="764718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9959" name="Oval 39"/>
              <p:cNvSpPr>
                <a:spLocks noChangeArrowheads="1"/>
              </p:cNvSpPr>
              <p:nvPr/>
            </p:nvSpPr>
            <p:spPr bwMode="auto">
              <a:xfrm>
                <a:off x="647" y="0"/>
                <a:ext cx="50" cy="545"/>
              </a:xfrm>
              <a:prstGeom prst="ellipse">
                <a:avLst/>
              </a:prstGeom>
              <a:gradFill rotWithShape="0">
                <a:gsLst>
                  <a:gs pos="0">
                    <a:schemeClr val="tx2">
                      <a:gamma/>
                      <a:tint val="0"/>
                      <a:invGamma/>
                    </a:schemeClr>
                  </a:gs>
                  <a:gs pos="100000">
                    <a:schemeClr val="tx2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defRPr/>
                </a:pPr>
                <a:endParaRPr lang="zh-CN" altLang="en-US"/>
              </a:p>
            </p:txBody>
          </p:sp>
          <p:grpSp>
            <p:nvGrpSpPr>
              <p:cNvPr id="33850" name="Group 40"/>
              <p:cNvGrpSpPr>
                <a:grpSpLocks/>
              </p:cNvGrpSpPr>
              <p:nvPr/>
            </p:nvGrpSpPr>
            <p:grpSpPr bwMode="auto">
              <a:xfrm>
                <a:off x="630" y="44"/>
                <a:ext cx="78" cy="713"/>
                <a:chOff x="0" y="0"/>
                <a:chExt cx="78" cy="713"/>
              </a:xfrm>
            </p:grpSpPr>
            <p:sp>
              <p:nvSpPr>
                <p:cNvPr id="33853" name="Line 41"/>
                <p:cNvSpPr>
                  <a:spLocks noChangeShapeType="1"/>
                </p:cNvSpPr>
                <p:nvPr/>
              </p:nvSpPr>
              <p:spPr bwMode="auto">
                <a:xfrm>
                  <a:off x="36" y="0"/>
                  <a:ext cx="1" cy="339"/>
                </a:xfrm>
                <a:prstGeom prst="line">
                  <a:avLst/>
                </a:prstGeom>
                <a:noFill/>
                <a:ln w="11113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854" name="未知"/>
                <p:cNvSpPr>
                  <a:spLocks/>
                </p:cNvSpPr>
                <p:nvPr/>
              </p:nvSpPr>
              <p:spPr bwMode="auto">
                <a:xfrm>
                  <a:off x="0" y="325"/>
                  <a:ext cx="78" cy="388"/>
                </a:xfrm>
                <a:custGeom>
                  <a:avLst/>
                  <a:gdLst>
                    <a:gd name="T0" fmla="*/ 0 w 78"/>
                    <a:gd name="T1" fmla="*/ 0 h 70"/>
                    <a:gd name="T2" fmla="*/ 36 w 78"/>
                    <a:gd name="T3" fmla="*/ 366311 h 70"/>
                    <a:gd name="T4" fmla="*/ 78 w 78"/>
                    <a:gd name="T5" fmla="*/ 0 h 70"/>
                    <a:gd name="T6" fmla="*/ 0 w 78"/>
                    <a:gd name="T7" fmla="*/ 0 h 7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8"/>
                    <a:gd name="T13" fmla="*/ 0 h 70"/>
                    <a:gd name="T14" fmla="*/ 78 w 78"/>
                    <a:gd name="T15" fmla="*/ 70 h 7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8" h="70">
                      <a:moveTo>
                        <a:pt x="0" y="0"/>
                      </a:moveTo>
                      <a:lnTo>
                        <a:pt x="36" y="70"/>
                      </a:lnTo>
                      <a:lnTo>
                        <a:pt x="7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33851" name="Object 43"/>
              <p:cNvGraphicFramePr>
                <a:graphicFrameLocks noChangeAspect="1"/>
              </p:cNvGraphicFramePr>
              <p:nvPr/>
            </p:nvGraphicFramePr>
            <p:xfrm>
              <a:off x="725" y="182"/>
              <a:ext cx="286" cy="1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913" r:id="rId25" imgW="241405" imgH="165172" progId="Equation.3">
                      <p:embed/>
                    </p:oleObj>
                  </mc:Choice>
                  <mc:Fallback>
                    <p:oleObj r:id="rId25" imgW="241405" imgH="165172" progId="Equation.3">
                      <p:embed/>
                      <p:pic>
                        <p:nvPicPr>
                          <p:cNvPr id="0" name="Object 4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25" y="182"/>
                            <a:ext cx="286" cy="19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3852" name="Oval 44"/>
              <p:cNvSpPr>
                <a:spLocks noChangeArrowheads="1"/>
              </p:cNvSpPr>
              <p:nvPr/>
            </p:nvSpPr>
            <p:spPr bwMode="auto">
              <a:xfrm>
                <a:off x="139" y="450"/>
                <a:ext cx="49" cy="545"/>
              </a:xfrm>
              <a:prstGeom prst="ellipse">
                <a:avLst/>
              </a:prstGeom>
              <a:solidFill>
                <a:srgbClr val="000000"/>
              </a:solidFill>
              <a:ln w="1111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aphicFrame>
          <p:nvGraphicFramePr>
            <p:cNvPr id="33846" name="Object 45"/>
            <p:cNvGraphicFramePr>
              <a:graphicFrameLocks noChangeAspect="1"/>
            </p:cNvGraphicFramePr>
            <p:nvPr/>
          </p:nvGraphicFramePr>
          <p:xfrm>
            <a:off x="564" y="392"/>
            <a:ext cx="114" cy="1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14" r:id="rId26" imgW="114399" imgH="139821" progId="Equation.3">
                    <p:embed/>
                  </p:oleObj>
                </mc:Choice>
                <mc:Fallback>
                  <p:oleObj r:id="rId26" imgW="114399" imgH="139821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4" y="392"/>
                          <a:ext cx="114" cy="1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47" name="Object 46"/>
            <p:cNvGraphicFramePr>
              <a:graphicFrameLocks noChangeAspect="1"/>
            </p:cNvGraphicFramePr>
            <p:nvPr/>
          </p:nvGraphicFramePr>
          <p:xfrm>
            <a:off x="1019" y="0"/>
            <a:ext cx="135" cy="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15" r:id="rId28" imgW="127000" imgH="139700" progId="Equation.3">
                    <p:embed/>
                  </p:oleObj>
                </mc:Choice>
                <mc:Fallback>
                  <p:oleObj r:id="rId28" imgW="127000" imgH="139700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9" y="0"/>
                          <a:ext cx="135" cy="1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47"/>
          <p:cNvGrpSpPr>
            <a:grpSpLocks/>
          </p:cNvGrpSpPr>
          <p:nvPr/>
        </p:nvGrpSpPr>
        <p:grpSpPr bwMode="auto">
          <a:xfrm>
            <a:off x="5832475" y="3155950"/>
            <a:ext cx="2511425" cy="1084263"/>
            <a:chOff x="0" y="-57"/>
            <a:chExt cx="1582" cy="911"/>
          </a:xfrm>
        </p:grpSpPr>
        <p:grpSp>
          <p:nvGrpSpPr>
            <p:cNvPr id="33834" name="Group 48"/>
            <p:cNvGrpSpPr>
              <a:grpSpLocks/>
            </p:cNvGrpSpPr>
            <p:nvPr/>
          </p:nvGrpSpPr>
          <p:grpSpPr bwMode="auto">
            <a:xfrm>
              <a:off x="0" y="-57"/>
              <a:ext cx="1582" cy="911"/>
              <a:chOff x="0" y="-57"/>
              <a:chExt cx="1582" cy="911"/>
            </a:xfrm>
          </p:grpSpPr>
          <p:grpSp>
            <p:nvGrpSpPr>
              <p:cNvPr id="33836" name="Group 49"/>
              <p:cNvGrpSpPr>
                <a:grpSpLocks/>
              </p:cNvGrpSpPr>
              <p:nvPr/>
            </p:nvGrpSpPr>
            <p:grpSpPr bwMode="auto">
              <a:xfrm>
                <a:off x="0" y="-57"/>
                <a:ext cx="1582" cy="911"/>
                <a:chOff x="0" y="-57"/>
                <a:chExt cx="1582" cy="911"/>
              </a:xfrm>
            </p:grpSpPr>
            <p:grpSp>
              <p:nvGrpSpPr>
                <p:cNvPr id="33838" name="Group 50"/>
                <p:cNvGrpSpPr>
                  <a:grpSpLocks/>
                </p:cNvGrpSpPr>
                <p:nvPr/>
              </p:nvGrpSpPr>
              <p:grpSpPr bwMode="auto">
                <a:xfrm>
                  <a:off x="728" y="141"/>
                  <a:ext cx="78" cy="713"/>
                  <a:chOff x="0" y="0"/>
                  <a:chExt cx="78" cy="713"/>
                </a:xfrm>
              </p:grpSpPr>
              <p:sp>
                <p:nvSpPr>
                  <p:cNvPr id="33843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36" y="0"/>
                    <a:ext cx="1" cy="339"/>
                  </a:xfrm>
                  <a:prstGeom prst="line">
                    <a:avLst/>
                  </a:prstGeom>
                  <a:noFill/>
                  <a:ln w="11113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844" name="未知"/>
                  <p:cNvSpPr>
                    <a:spLocks/>
                  </p:cNvSpPr>
                  <p:nvPr/>
                </p:nvSpPr>
                <p:spPr bwMode="auto">
                  <a:xfrm>
                    <a:off x="0" y="325"/>
                    <a:ext cx="78" cy="388"/>
                  </a:xfrm>
                  <a:custGeom>
                    <a:avLst/>
                    <a:gdLst>
                      <a:gd name="T0" fmla="*/ 0 w 78"/>
                      <a:gd name="T1" fmla="*/ 0 h 70"/>
                      <a:gd name="T2" fmla="*/ 36 w 78"/>
                      <a:gd name="T3" fmla="*/ 366311 h 70"/>
                      <a:gd name="T4" fmla="*/ 78 w 78"/>
                      <a:gd name="T5" fmla="*/ 0 h 70"/>
                      <a:gd name="T6" fmla="*/ 0 w 78"/>
                      <a:gd name="T7" fmla="*/ 0 h 7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78"/>
                      <a:gd name="T13" fmla="*/ 0 h 70"/>
                      <a:gd name="T14" fmla="*/ 78 w 78"/>
                      <a:gd name="T15" fmla="*/ 70 h 7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78" h="70">
                        <a:moveTo>
                          <a:pt x="0" y="0"/>
                        </a:moveTo>
                        <a:lnTo>
                          <a:pt x="36" y="70"/>
                        </a:lnTo>
                        <a:lnTo>
                          <a:pt x="7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graphicFrame>
              <p:nvGraphicFramePr>
                <p:cNvPr id="33839" name="Object 53"/>
                <p:cNvGraphicFramePr>
                  <a:graphicFrameLocks noChangeAspect="1"/>
                </p:cNvGraphicFramePr>
                <p:nvPr/>
              </p:nvGraphicFramePr>
              <p:xfrm>
                <a:off x="815" y="381"/>
                <a:ext cx="286" cy="19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916" r:id="rId29" imgW="241405" imgH="165172" progId="Equation.3">
                        <p:embed/>
                      </p:oleObj>
                    </mc:Choice>
                    <mc:Fallback>
                      <p:oleObj r:id="rId29" imgW="241405" imgH="165172" progId="Equation.3">
                        <p:embed/>
                        <p:pic>
                          <p:nvPicPr>
                            <p:cNvPr id="0" name="Object 5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15" y="381"/>
                              <a:ext cx="286" cy="19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3840" name="Object 54"/>
                <p:cNvGraphicFramePr>
                  <a:graphicFrameLocks noChangeAspect="1"/>
                </p:cNvGraphicFramePr>
                <p:nvPr/>
              </p:nvGraphicFramePr>
              <p:xfrm>
                <a:off x="801" y="0"/>
                <a:ext cx="114" cy="13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917" r:id="rId30" imgW="114399" imgH="139821" progId="Equation.3">
                        <p:embed/>
                      </p:oleObj>
                    </mc:Choice>
                    <mc:Fallback>
                      <p:oleObj r:id="rId30" imgW="114399" imgH="139821" progId="Equation.3">
                        <p:embed/>
                        <p:pic>
                          <p:nvPicPr>
                            <p:cNvPr id="0" name="Object 5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01" y="0"/>
                              <a:ext cx="114" cy="13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3841" name="Object 55"/>
                <p:cNvGraphicFramePr>
                  <a:graphicFrameLocks noChangeAspect="1"/>
                </p:cNvGraphicFramePr>
                <p:nvPr/>
              </p:nvGraphicFramePr>
              <p:xfrm>
                <a:off x="1447" y="32"/>
                <a:ext cx="135" cy="14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918" r:id="rId31" imgW="127000" imgH="139700" progId="Equation.3">
                        <p:embed/>
                      </p:oleObj>
                    </mc:Choice>
                    <mc:Fallback>
                      <p:oleObj r:id="rId31" imgW="127000" imgH="139700" progId="Equation.3">
                        <p:embed/>
                        <p:pic>
                          <p:nvPicPr>
                            <p:cNvPr id="0" name="Object 5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447" y="32"/>
                              <a:ext cx="135" cy="14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3842" name="Rectangle 56"/>
                <p:cNvSpPr>
                  <a:spLocks noChangeArrowheads="1"/>
                </p:cNvSpPr>
                <p:nvPr/>
              </p:nvSpPr>
              <p:spPr bwMode="auto">
                <a:xfrm>
                  <a:off x="0" y="-57"/>
                  <a:ext cx="1435" cy="388"/>
                </a:xfrm>
                <a:prstGeom prst="rect">
                  <a:avLst/>
                </a:prstGeom>
                <a:gradFill rotWithShape="0">
                  <a:gsLst>
                    <a:gs pos="0">
                      <a:srgbClr val="764718"/>
                    </a:gs>
                    <a:gs pos="50000">
                      <a:srgbClr val="FF9933"/>
                    </a:gs>
                    <a:gs pos="100000">
                      <a:srgbClr val="764718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09977" name="Oval 57"/>
              <p:cNvSpPr>
                <a:spLocks noChangeArrowheads="1"/>
              </p:cNvSpPr>
              <p:nvPr/>
            </p:nvSpPr>
            <p:spPr bwMode="auto">
              <a:xfrm>
                <a:off x="741" y="110"/>
                <a:ext cx="50" cy="547"/>
              </a:xfrm>
              <a:prstGeom prst="ellipse">
                <a:avLst/>
              </a:prstGeom>
              <a:gradFill rotWithShape="0">
                <a:gsLst>
                  <a:gs pos="0">
                    <a:schemeClr val="tx2">
                      <a:gamma/>
                      <a:tint val="0"/>
                      <a:invGamma/>
                    </a:schemeClr>
                  </a:gs>
                  <a:gs pos="100000">
                    <a:schemeClr val="tx2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33835" name="Oval 58"/>
            <p:cNvSpPr>
              <a:spLocks noChangeArrowheads="1"/>
            </p:cNvSpPr>
            <p:nvPr/>
          </p:nvSpPr>
          <p:spPr bwMode="auto">
            <a:xfrm>
              <a:off x="1" y="111"/>
              <a:ext cx="50" cy="545"/>
            </a:xfrm>
            <a:prstGeom prst="ellipse">
              <a:avLst/>
            </a:prstGeom>
            <a:solidFill>
              <a:srgbClr val="000000"/>
            </a:solidFill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Group 59"/>
          <p:cNvGrpSpPr>
            <a:grpSpLocks/>
          </p:cNvGrpSpPr>
          <p:nvPr/>
        </p:nvGrpSpPr>
        <p:grpSpPr bwMode="auto">
          <a:xfrm>
            <a:off x="5876925" y="1881188"/>
            <a:ext cx="2276475" cy="2008187"/>
            <a:chOff x="0" y="0"/>
            <a:chExt cx="1675" cy="1677"/>
          </a:xfrm>
        </p:grpSpPr>
        <p:sp>
          <p:nvSpPr>
            <p:cNvPr id="33810" name="Rectangle 60"/>
            <p:cNvSpPr>
              <a:spLocks noChangeArrowheads="1"/>
            </p:cNvSpPr>
            <p:nvPr/>
          </p:nvSpPr>
          <p:spPr bwMode="auto">
            <a:xfrm>
              <a:off x="0" y="0"/>
              <a:ext cx="57" cy="38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11" name="未知"/>
            <p:cNvSpPr>
              <a:spLocks/>
            </p:cNvSpPr>
            <p:nvPr/>
          </p:nvSpPr>
          <p:spPr bwMode="auto">
            <a:xfrm>
              <a:off x="99" y="7"/>
              <a:ext cx="57" cy="385"/>
            </a:xfrm>
            <a:custGeom>
              <a:avLst/>
              <a:gdLst>
                <a:gd name="T0" fmla="*/ 0 w 57"/>
                <a:gd name="T1" fmla="*/ 0 h 14"/>
                <a:gd name="T2" fmla="*/ 0 w 57"/>
                <a:gd name="T3" fmla="*/ 220197313 h 14"/>
                <a:gd name="T4" fmla="*/ 50 w 57"/>
                <a:gd name="T5" fmla="*/ 220197313 h 14"/>
                <a:gd name="T6" fmla="*/ 57 w 57"/>
                <a:gd name="T7" fmla="*/ 220197313 h 14"/>
                <a:gd name="T8" fmla="*/ 57 w 57"/>
                <a:gd name="T9" fmla="*/ 0 h 14"/>
                <a:gd name="T10" fmla="*/ 57 w 57"/>
                <a:gd name="T11" fmla="*/ 0 h 14"/>
                <a:gd name="T12" fmla="*/ 0 w 57"/>
                <a:gd name="T13" fmla="*/ 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7"/>
                <a:gd name="T22" fmla="*/ 0 h 14"/>
                <a:gd name="T23" fmla="*/ 57 w 57"/>
                <a:gd name="T24" fmla="*/ 14 h 1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7" h="14">
                  <a:moveTo>
                    <a:pt x="0" y="0"/>
                  </a:moveTo>
                  <a:lnTo>
                    <a:pt x="0" y="14"/>
                  </a:lnTo>
                  <a:lnTo>
                    <a:pt x="50" y="14"/>
                  </a:lnTo>
                  <a:lnTo>
                    <a:pt x="57" y="14"/>
                  </a:lnTo>
                  <a:lnTo>
                    <a:pt x="5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12" name="未知"/>
            <p:cNvSpPr>
              <a:spLocks/>
            </p:cNvSpPr>
            <p:nvPr/>
          </p:nvSpPr>
          <p:spPr bwMode="auto">
            <a:xfrm>
              <a:off x="198" y="14"/>
              <a:ext cx="57" cy="385"/>
            </a:xfrm>
            <a:custGeom>
              <a:avLst/>
              <a:gdLst>
                <a:gd name="T0" fmla="*/ 0 w 57"/>
                <a:gd name="T1" fmla="*/ 0 h 21"/>
                <a:gd name="T2" fmla="*/ 0 w 57"/>
                <a:gd name="T3" fmla="*/ 29035637 h 21"/>
                <a:gd name="T4" fmla="*/ 57 w 57"/>
                <a:gd name="T5" fmla="*/ 43491763 h 21"/>
                <a:gd name="T6" fmla="*/ 57 w 57"/>
                <a:gd name="T7" fmla="*/ 14462195 h 21"/>
                <a:gd name="T8" fmla="*/ 0 w 57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"/>
                <a:gd name="T16" fmla="*/ 0 h 21"/>
                <a:gd name="T17" fmla="*/ 57 w 57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" h="21">
                  <a:moveTo>
                    <a:pt x="0" y="0"/>
                  </a:moveTo>
                  <a:lnTo>
                    <a:pt x="0" y="14"/>
                  </a:lnTo>
                  <a:lnTo>
                    <a:pt x="57" y="21"/>
                  </a:lnTo>
                  <a:lnTo>
                    <a:pt x="57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13" name="未知"/>
            <p:cNvSpPr>
              <a:spLocks/>
            </p:cNvSpPr>
            <p:nvPr/>
          </p:nvSpPr>
          <p:spPr bwMode="auto">
            <a:xfrm>
              <a:off x="297" y="21"/>
              <a:ext cx="57" cy="385"/>
            </a:xfrm>
            <a:custGeom>
              <a:avLst/>
              <a:gdLst>
                <a:gd name="T0" fmla="*/ 0 w 57"/>
                <a:gd name="T1" fmla="*/ 0 h 28"/>
                <a:gd name="T2" fmla="*/ 0 w 57"/>
                <a:gd name="T3" fmla="*/ 6899461 h 28"/>
                <a:gd name="T4" fmla="*/ 0 w 57"/>
                <a:gd name="T5" fmla="*/ 10330939 h 28"/>
                <a:gd name="T6" fmla="*/ 57 w 57"/>
                <a:gd name="T7" fmla="*/ 13762430 h 28"/>
                <a:gd name="T8" fmla="*/ 57 w 57"/>
                <a:gd name="T9" fmla="*/ 6899461 h 28"/>
                <a:gd name="T10" fmla="*/ 7 w 57"/>
                <a:gd name="T11" fmla="*/ 3431491 h 28"/>
                <a:gd name="T12" fmla="*/ 0 w 57"/>
                <a:gd name="T13" fmla="*/ 0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7"/>
                <a:gd name="T22" fmla="*/ 0 h 28"/>
                <a:gd name="T23" fmla="*/ 57 w 57"/>
                <a:gd name="T24" fmla="*/ 28 h 2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7" h="28">
                  <a:moveTo>
                    <a:pt x="0" y="0"/>
                  </a:moveTo>
                  <a:lnTo>
                    <a:pt x="0" y="14"/>
                  </a:lnTo>
                  <a:lnTo>
                    <a:pt x="0" y="21"/>
                  </a:lnTo>
                  <a:lnTo>
                    <a:pt x="57" y="28"/>
                  </a:lnTo>
                  <a:lnTo>
                    <a:pt x="57" y="14"/>
                  </a:lnTo>
                  <a:lnTo>
                    <a:pt x="7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14" name="未知"/>
            <p:cNvSpPr>
              <a:spLocks/>
            </p:cNvSpPr>
            <p:nvPr/>
          </p:nvSpPr>
          <p:spPr bwMode="auto">
            <a:xfrm>
              <a:off x="396" y="42"/>
              <a:ext cx="50" cy="385"/>
            </a:xfrm>
            <a:custGeom>
              <a:avLst/>
              <a:gdLst>
                <a:gd name="T0" fmla="*/ 0 w 50"/>
                <a:gd name="T1" fmla="*/ 0 h 28"/>
                <a:gd name="T2" fmla="*/ 0 w 50"/>
                <a:gd name="T3" fmla="*/ 6899461 h 28"/>
                <a:gd name="T4" fmla="*/ 42 w 50"/>
                <a:gd name="T5" fmla="*/ 13762430 h 28"/>
                <a:gd name="T6" fmla="*/ 50 w 50"/>
                <a:gd name="T7" fmla="*/ 13762430 h 28"/>
                <a:gd name="T8" fmla="*/ 50 w 50"/>
                <a:gd name="T9" fmla="*/ 6899461 h 28"/>
                <a:gd name="T10" fmla="*/ 50 w 50"/>
                <a:gd name="T11" fmla="*/ 6899461 h 28"/>
                <a:gd name="T12" fmla="*/ 0 w 50"/>
                <a:gd name="T13" fmla="*/ 0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0"/>
                <a:gd name="T22" fmla="*/ 0 h 28"/>
                <a:gd name="T23" fmla="*/ 50 w 50"/>
                <a:gd name="T24" fmla="*/ 28 h 2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0" h="28">
                  <a:moveTo>
                    <a:pt x="0" y="0"/>
                  </a:moveTo>
                  <a:lnTo>
                    <a:pt x="0" y="14"/>
                  </a:lnTo>
                  <a:lnTo>
                    <a:pt x="42" y="28"/>
                  </a:lnTo>
                  <a:lnTo>
                    <a:pt x="50" y="28"/>
                  </a:lnTo>
                  <a:lnTo>
                    <a:pt x="50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15" name="未知"/>
            <p:cNvSpPr>
              <a:spLocks/>
            </p:cNvSpPr>
            <p:nvPr/>
          </p:nvSpPr>
          <p:spPr bwMode="auto">
            <a:xfrm>
              <a:off x="488" y="70"/>
              <a:ext cx="57" cy="385"/>
            </a:xfrm>
            <a:custGeom>
              <a:avLst/>
              <a:gdLst>
                <a:gd name="T0" fmla="*/ 0 w 57"/>
                <a:gd name="T1" fmla="*/ 0 h 28"/>
                <a:gd name="T2" fmla="*/ 0 w 57"/>
                <a:gd name="T3" fmla="*/ 6899461 h 28"/>
                <a:gd name="T4" fmla="*/ 57 w 57"/>
                <a:gd name="T5" fmla="*/ 13762430 h 28"/>
                <a:gd name="T6" fmla="*/ 57 w 57"/>
                <a:gd name="T7" fmla="*/ 6899461 h 28"/>
                <a:gd name="T8" fmla="*/ 0 w 57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"/>
                <a:gd name="T16" fmla="*/ 0 h 28"/>
                <a:gd name="T17" fmla="*/ 57 w 57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" h="28">
                  <a:moveTo>
                    <a:pt x="0" y="0"/>
                  </a:moveTo>
                  <a:lnTo>
                    <a:pt x="0" y="14"/>
                  </a:lnTo>
                  <a:lnTo>
                    <a:pt x="57" y="28"/>
                  </a:lnTo>
                  <a:lnTo>
                    <a:pt x="57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16" name="未知"/>
            <p:cNvSpPr>
              <a:spLocks/>
            </p:cNvSpPr>
            <p:nvPr/>
          </p:nvSpPr>
          <p:spPr bwMode="auto">
            <a:xfrm>
              <a:off x="580" y="98"/>
              <a:ext cx="56" cy="385"/>
            </a:xfrm>
            <a:custGeom>
              <a:avLst/>
              <a:gdLst>
                <a:gd name="T0" fmla="*/ 7 w 56"/>
                <a:gd name="T1" fmla="*/ 0 h 36"/>
                <a:gd name="T2" fmla="*/ 0 w 56"/>
                <a:gd name="T3" fmla="*/ 2092764 h 36"/>
                <a:gd name="T4" fmla="*/ 49 w 56"/>
                <a:gd name="T5" fmla="*/ 5035650 h 36"/>
                <a:gd name="T6" fmla="*/ 56 w 56"/>
                <a:gd name="T7" fmla="*/ 3073722 h 36"/>
                <a:gd name="T8" fmla="*/ 7 w 56"/>
                <a:gd name="T9" fmla="*/ 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36"/>
                <a:gd name="T17" fmla="*/ 56 w 56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36">
                  <a:moveTo>
                    <a:pt x="7" y="0"/>
                  </a:moveTo>
                  <a:lnTo>
                    <a:pt x="0" y="15"/>
                  </a:lnTo>
                  <a:lnTo>
                    <a:pt x="49" y="36"/>
                  </a:lnTo>
                  <a:lnTo>
                    <a:pt x="56" y="22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17" name="未知"/>
            <p:cNvSpPr>
              <a:spLocks/>
            </p:cNvSpPr>
            <p:nvPr/>
          </p:nvSpPr>
          <p:spPr bwMode="auto">
            <a:xfrm>
              <a:off x="672" y="134"/>
              <a:ext cx="56" cy="385"/>
            </a:xfrm>
            <a:custGeom>
              <a:avLst/>
              <a:gdLst>
                <a:gd name="T0" fmla="*/ 7 w 56"/>
                <a:gd name="T1" fmla="*/ 0 h 35"/>
                <a:gd name="T2" fmla="*/ 0 w 56"/>
                <a:gd name="T3" fmla="*/ 2254714 h 35"/>
                <a:gd name="T4" fmla="*/ 42 w 56"/>
                <a:gd name="T5" fmla="*/ 4509428 h 35"/>
                <a:gd name="T6" fmla="*/ 49 w 56"/>
                <a:gd name="T7" fmla="*/ 5636785 h 35"/>
                <a:gd name="T8" fmla="*/ 56 w 56"/>
                <a:gd name="T9" fmla="*/ 3382071 h 35"/>
                <a:gd name="T10" fmla="*/ 49 w 56"/>
                <a:gd name="T11" fmla="*/ 2254714 h 35"/>
                <a:gd name="T12" fmla="*/ 7 w 56"/>
                <a:gd name="T13" fmla="*/ 0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6"/>
                <a:gd name="T22" fmla="*/ 0 h 35"/>
                <a:gd name="T23" fmla="*/ 56 w 56"/>
                <a:gd name="T24" fmla="*/ 35 h 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6" h="35">
                  <a:moveTo>
                    <a:pt x="7" y="0"/>
                  </a:moveTo>
                  <a:lnTo>
                    <a:pt x="0" y="14"/>
                  </a:lnTo>
                  <a:lnTo>
                    <a:pt x="42" y="28"/>
                  </a:lnTo>
                  <a:lnTo>
                    <a:pt x="49" y="35"/>
                  </a:lnTo>
                  <a:lnTo>
                    <a:pt x="56" y="21"/>
                  </a:lnTo>
                  <a:lnTo>
                    <a:pt x="49" y="14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18" name="未知"/>
            <p:cNvSpPr>
              <a:spLocks/>
            </p:cNvSpPr>
            <p:nvPr/>
          </p:nvSpPr>
          <p:spPr bwMode="auto">
            <a:xfrm>
              <a:off x="764" y="169"/>
              <a:ext cx="56" cy="385"/>
            </a:xfrm>
            <a:custGeom>
              <a:avLst/>
              <a:gdLst>
                <a:gd name="T0" fmla="*/ 7 w 56"/>
                <a:gd name="T1" fmla="*/ 0 h 42"/>
                <a:gd name="T2" fmla="*/ 0 w 56"/>
                <a:gd name="T3" fmla="*/ 903549 h 42"/>
                <a:gd name="T4" fmla="*/ 49 w 56"/>
                <a:gd name="T5" fmla="*/ 2718219 h 42"/>
                <a:gd name="T6" fmla="*/ 56 w 56"/>
                <a:gd name="T7" fmla="*/ 1814752 h 42"/>
                <a:gd name="T8" fmla="*/ 7 w 56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42"/>
                <a:gd name="T17" fmla="*/ 56 w 56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42">
                  <a:moveTo>
                    <a:pt x="7" y="0"/>
                  </a:moveTo>
                  <a:lnTo>
                    <a:pt x="0" y="14"/>
                  </a:lnTo>
                  <a:lnTo>
                    <a:pt x="49" y="42"/>
                  </a:lnTo>
                  <a:lnTo>
                    <a:pt x="56" y="28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19" name="未知"/>
            <p:cNvSpPr>
              <a:spLocks/>
            </p:cNvSpPr>
            <p:nvPr/>
          </p:nvSpPr>
          <p:spPr bwMode="auto">
            <a:xfrm>
              <a:off x="848" y="218"/>
              <a:ext cx="57" cy="385"/>
            </a:xfrm>
            <a:custGeom>
              <a:avLst/>
              <a:gdLst>
                <a:gd name="T0" fmla="*/ 7 w 57"/>
                <a:gd name="T1" fmla="*/ 0 h 43"/>
                <a:gd name="T2" fmla="*/ 0 w 57"/>
                <a:gd name="T3" fmla="*/ 861290 h 43"/>
                <a:gd name="T4" fmla="*/ 50 w 57"/>
                <a:gd name="T5" fmla="*/ 2474135 h 43"/>
                <a:gd name="T6" fmla="*/ 57 w 57"/>
                <a:gd name="T7" fmla="*/ 1670963 h 43"/>
                <a:gd name="T8" fmla="*/ 7 w 57"/>
                <a:gd name="T9" fmla="*/ 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"/>
                <a:gd name="T16" fmla="*/ 0 h 43"/>
                <a:gd name="T17" fmla="*/ 57 w 57"/>
                <a:gd name="T18" fmla="*/ 43 h 4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" h="43">
                  <a:moveTo>
                    <a:pt x="7" y="0"/>
                  </a:moveTo>
                  <a:lnTo>
                    <a:pt x="0" y="15"/>
                  </a:lnTo>
                  <a:lnTo>
                    <a:pt x="50" y="43"/>
                  </a:lnTo>
                  <a:lnTo>
                    <a:pt x="57" y="29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20" name="未知"/>
            <p:cNvSpPr>
              <a:spLocks/>
            </p:cNvSpPr>
            <p:nvPr/>
          </p:nvSpPr>
          <p:spPr bwMode="auto">
            <a:xfrm>
              <a:off x="933" y="268"/>
              <a:ext cx="57" cy="385"/>
            </a:xfrm>
            <a:custGeom>
              <a:avLst/>
              <a:gdLst>
                <a:gd name="T0" fmla="*/ 7 w 57"/>
                <a:gd name="T1" fmla="*/ 0 h 42"/>
                <a:gd name="T2" fmla="*/ 0 w 57"/>
                <a:gd name="T3" fmla="*/ 903549 h 42"/>
                <a:gd name="T4" fmla="*/ 28 w 57"/>
                <a:gd name="T5" fmla="*/ 1814752 h 42"/>
                <a:gd name="T6" fmla="*/ 50 w 57"/>
                <a:gd name="T7" fmla="*/ 2718219 h 42"/>
                <a:gd name="T8" fmla="*/ 57 w 57"/>
                <a:gd name="T9" fmla="*/ 1814752 h 42"/>
                <a:gd name="T10" fmla="*/ 36 w 57"/>
                <a:gd name="T11" fmla="*/ 903549 h 42"/>
                <a:gd name="T12" fmla="*/ 7 w 57"/>
                <a:gd name="T13" fmla="*/ 0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7"/>
                <a:gd name="T22" fmla="*/ 0 h 42"/>
                <a:gd name="T23" fmla="*/ 57 w 57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7" h="42">
                  <a:moveTo>
                    <a:pt x="7" y="0"/>
                  </a:moveTo>
                  <a:lnTo>
                    <a:pt x="0" y="14"/>
                  </a:lnTo>
                  <a:lnTo>
                    <a:pt x="28" y="28"/>
                  </a:lnTo>
                  <a:lnTo>
                    <a:pt x="50" y="42"/>
                  </a:lnTo>
                  <a:lnTo>
                    <a:pt x="57" y="28"/>
                  </a:lnTo>
                  <a:lnTo>
                    <a:pt x="36" y="14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21" name="未知"/>
            <p:cNvSpPr>
              <a:spLocks/>
            </p:cNvSpPr>
            <p:nvPr/>
          </p:nvSpPr>
          <p:spPr bwMode="auto">
            <a:xfrm>
              <a:off x="1018" y="317"/>
              <a:ext cx="57" cy="385"/>
            </a:xfrm>
            <a:custGeom>
              <a:avLst/>
              <a:gdLst>
                <a:gd name="T0" fmla="*/ 7 w 57"/>
                <a:gd name="T1" fmla="*/ 0 h 50"/>
                <a:gd name="T2" fmla="*/ 0 w 57"/>
                <a:gd name="T3" fmla="*/ 379810 h 50"/>
                <a:gd name="T4" fmla="*/ 49 w 57"/>
                <a:gd name="T5" fmla="*/ 1353652 h 50"/>
                <a:gd name="T6" fmla="*/ 57 w 57"/>
                <a:gd name="T7" fmla="*/ 973781 h 50"/>
                <a:gd name="T8" fmla="*/ 7 w 57"/>
                <a:gd name="T9" fmla="*/ 0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"/>
                <a:gd name="T16" fmla="*/ 0 h 50"/>
                <a:gd name="T17" fmla="*/ 57 w 57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" h="50">
                  <a:moveTo>
                    <a:pt x="7" y="0"/>
                  </a:moveTo>
                  <a:lnTo>
                    <a:pt x="0" y="14"/>
                  </a:lnTo>
                  <a:lnTo>
                    <a:pt x="49" y="50"/>
                  </a:lnTo>
                  <a:lnTo>
                    <a:pt x="57" y="36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22" name="未知"/>
            <p:cNvSpPr>
              <a:spLocks/>
            </p:cNvSpPr>
            <p:nvPr/>
          </p:nvSpPr>
          <p:spPr bwMode="auto">
            <a:xfrm>
              <a:off x="1096" y="381"/>
              <a:ext cx="49" cy="385"/>
            </a:xfrm>
            <a:custGeom>
              <a:avLst/>
              <a:gdLst>
                <a:gd name="T0" fmla="*/ 7 w 49"/>
                <a:gd name="T1" fmla="*/ 0 h 49"/>
                <a:gd name="T2" fmla="*/ 0 w 49"/>
                <a:gd name="T3" fmla="*/ 419116 h 49"/>
                <a:gd name="T4" fmla="*/ 42 w 49"/>
                <a:gd name="T5" fmla="*/ 1467314 h 49"/>
                <a:gd name="T6" fmla="*/ 49 w 49"/>
                <a:gd name="T7" fmla="*/ 1048190 h 49"/>
                <a:gd name="T8" fmla="*/ 7 w 49"/>
                <a:gd name="T9" fmla="*/ 0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"/>
                <a:gd name="T16" fmla="*/ 0 h 49"/>
                <a:gd name="T17" fmla="*/ 49 w 49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" h="49">
                  <a:moveTo>
                    <a:pt x="7" y="0"/>
                  </a:moveTo>
                  <a:lnTo>
                    <a:pt x="0" y="14"/>
                  </a:lnTo>
                  <a:lnTo>
                    <a:pt x="42" y="49"/>
                  </a:lnTo>
                  <a:lnTo>
                    <a:pt x="49" y="35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23" name="未知"/>
            <p:cNvSpPr>
              <a:spLocks/>
            </p:cNvSpPr>
            <p:nvPr/>
          </p:nvSpPr>
          <p:spPr bwMode="auto">
            <a:xfrm>
              <a:off x="1174" y="444"/>
              <a:ext cx="49" cy="385"/>
            </a:xfrm>
            <a:custGeom>
              <a:avLst/>
              <a:gdLst>
                <a:gd name="T0" fmla="*/ 7 w 49"/>
                <a:gd name="T1" fmla="*/ 0 h 50"/>
                <a:gd name="T2" fmla="*/ 0 w 49"/>
                <a:gd name="T3" fmla="*/ 407677 h 50"/>
                <a:gd name="T4" fmla="*/ 14 w 49"/>
                <a:gd name="T5" fmla="*/ 593970 h 50"/>
                <a:gd name="T6" fmla="*/ 42 w 49"/>
                <a:gd name="T7" fmla="*/ 1353652 h 50"/>
                <a:gd name="T8" fmla="*/ 49 w 49"/>
                <a:gd name="T9" fmla="*/ 973781 h 50"/>
                <a:gd name="T10" fmla="*/ 21 w 49"/>
                <a:gd name="T11" fmla="*/ 189905 h 50"/>
                <a:gd name="T12" fmla="*/ 7 w 4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9"/>
                <a:gd name="T22" fmla="*/ 0 h 50"/>
                <a:gd name="T23" fmla="*/ 49 w 49"/>
                <a:gd name="T24" fmla="*/ 50 h 5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9" h="50">
                  <a:moveTo>
                    <a:pt x="7" y="0"/>
                  </a:moveTo>
                  <a:lnTo>
                    <a:pt x="0" y="15"/>
                  </a:lnTo>
                  <a:lnTo>
                    <a:pt x="14" y="22"/>
                  </a:lnTo>
                  <a:lnTo>
                    <a:pt x="42" y="50"/>
                  </a:lnTo>
                  <a:lnTo>
                    <a:pt x="49" y="36"/>
                  </a:lnTo>
                  <a:lnTo>
                    <a:pt x="21" y="7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24" name="未知"/>
            <p:cNvSpPr>
              <a:spLocks/>
            </p:cNvSpPr>
            <p:nvPr/>
          </p:nvSpPr>
          <p:spPr bwMode="auto">
            <a:xfrm>
              <a:off x="1244" y="508"/>
              <a:ext cx="50" cy="385"/>
            </a:xfrm>
            <a:custGeom>
              <a:avLst/>
              <a:gdLst>
                <a:gd name="T0" fmla="*/ 7 w 50"/>
                <a:gd name="T1" fmla="*/ 0 h 56"/>
                <a:gd name="T2" fmla="*/ 0 w 50"/>
                <a:gd name="T3" fmla="*/ 214493 h 56"/>
                <a:gd name="T4" fmla="*/ 43 w 50"/>
                <a:gd name="T5" fmla="*/ 860138 h 56"/>
                <a:gd name="T6" fmla="*/ 43 w 50"/>
                <a:gd name="T7" fmla="*/ 860138 h 56"/>
                <a:gd name="T8" fmla="*/ 50 w 50"/>
                <a:gd name="T9" fmla="*/ 645693 h 56"/>
                <a:gd name="T10" fmla="*/ 50 w 50"/>
                <a:gd name="T11" fmla="*/ 645693 h 56"/>
                <a:gd name="T12" fmla="*/ 7 w 50"/>
                <a:gd name="T13" fmla="*/ 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0"/>
                <a:gd name="T22" fmla="*/ 0 h 56"/>
                <a:gd name="T23" fmla="*/ 50 w 50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0" h="56">
                  <a:moveTo>
                    <a:pt x="7" y="0"/>
                  </a:moveTo>
                  <a:lnTo>
                    <a:pt x="0" y="14"/>
                  </a:lnTo>
                  <a:lnTo>
                    <a:pt x="43" y="56"/>
                  </a:lnTo>
                  <a:lnTo>
                    <a:pt x="50" y="42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25" name="未知"/>
            <p:cNvSpPr>
              <a:spLocks/>
            </p:cNvSpPr>
            <p:nvPr/>
          </p:nvSpPr>
          <p:spPr bwMode="auto">
            <a:xfrm>
              <a:off x="1315" y="586"/>
              <a:ext cx="42" cy="385"/>
            </a:xfrm>
            <a:custGeom>
              <a:avLst/>
              <a:gdLst>
                <a:gd name="T0" fmla="*/ 7 w 42"/>
                <a:gd name="T1" fmla="*/ 0 h 56"/>
                <a:gd name="T2" fmla="*/ 0 w 42"/>
                <a:gd name="T3" fmla="*/ 214493 h 56"/>
                <a:gd name="T4" fmla="*/ 35 w 42"/>
                <a:gd name="T5" fmla="*/ 860138 h 56"/>
                <a:gd name="T6" fmla="*/ 42 w 42"/>
                <a:gd name="T7" fmla="*/ 645693 h 56"/>
                <a:gd name="T8" fmla="*/ 7 w 42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2"/>
                <a:gd name="T16" fmla="*/ 0 h 56"/>
                <a:gd name="T17" fmla="*/ 42 w 42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2" h="56">
                  <a:moveTo>
                    <a:pt x="7" y="0"/>
                  </a:moveTo>
                  <a:lnTo>
                    <a:pt x="0" y="14"/>
                  </a:lnTo>
                  <a:lnTo>
                    <a:pt x="35" y="56"/>
                  </a:lnTo>
                  <a:lnTo>
                    <a:pt x="42" y="42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26" name="未知"/>
            <p:cNvSpPr>
              <a:spLocks/>
            </p:cNvSpPr>
            <p:nvPr/>
          </p:nvSpPr>
          <p:spPr bwMode="auto">
            <a:xfrm>
              <a:off x="1378" y="663"/>
              <a:ext cx="36" cy="385"/>
            </a:xfrm>
            <a:custGeom>
              <a:avLst/>
              <a:gdLst>
                <a:gd name="T0" fmla="*/ 8 w 36"/>
                <a:gd name="T1" fmla="*/ 0 h 50"/>
                <a:gd name="T2" fmla="*/ 0 w 36"/>
                <a:gd name="T3" fmla="*/ 189905 h 50"/>
                <a:gd name="T4" fmla="*/ 29 w 36"/>
                <a:gd name="T5" fmla="*/ 1353652 h 50"/>
                <a:gd name="T6" fmla="*/ 36 w 36"/>
                <a:gd name="T7" fmla="*/ 1163686 h 50"/>
                <a:gd name="T8" fmla="*/ 8 w 36"/>
                <a:gd name="T9" fmla="*/ 0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6"/>
                <a:gd name="T16" fmla="*/ 0 h 50"/>
                <a:gd name="T17" fmla="*/ 36 w 3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6" h="50">
                  <a:moveTo>
                    <a:pt x="8" y="0"/>
                  </a:moveTo>
                  <a:lnTo>
                    <a:pt x="0" y="7"/>
                  </a:lnTo>
                  <a:lnTo>
                    <a:pt x="29" y="50"/>
                  </a:lnTo>
                  <a:lnTo>
                    <a:pt x="36" y="43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27" name="未知"/>
            <p:cNvSpPr>
              <a:spLocks/>
            </p:cNvSpPr>
            <p:nvPr/>
          </p:nvSpPr>
          <p:spPr bwMode="auto">
            <a:xfrm>
              <a:off x="1435" y="741"/>
              <a:ext cx="35" cy="385"/>
            </a:xfrm>
            <a:custGeom>
              <a:avLst/>
              <a:gdLst>
                <a:gd name="T0" fmla="*/ 7 w 35"/>
                <a:gd name="T1" fmla="*/ 0 h 56"/>
                <a:gd name="T2" fmla="*/ 0 w 35"/>
                <a:gd name="T3" fmla="*/ 107243 h 56"/>
                <a:gd name="T4" fmla="*/ 21 w 35"/>
                <a:gd name="T5" fmla="*/ 645693 h 56"/>
                <a:gd name="T6" fmla="*/ 28 w 35"/>
                <a:gd name="T7" fmla="*/ 860138 h 56"/>
                <a:gd name="T8" fmla="*/ 35 w 35"/>
                <a:gd name="T9" fmla="*/ 752895 h 56"/>
                <a:gd name="T10" fmla="*/ 28 w 35"/>
                <a:gd name="T11" fmla="*/ 431207 h 56"/>
                <a:gd name="T12" fmla="*/ 7 w 35"/>
                <a:gd name="T13" fmla="*/ 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5"/>
                <a:gd name="T22" fmla="*/ 0 h 56"/>
                <a:gd name="T23" fmla="*/ 35 w 35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5" h="56">
                  <a:moveTo>
                    <a:pt x="7" y="0"/>
                  </a:moveTo>
                  <a:lnTo>
                    <a:pt x="0" y="7"/>
                  </a:lnTo>
                  <a:lnTo>
                    <a:pt x="21" y="42"/>
                  </a:lnTo>
                  <a:lnTo>
                    <a:pt x="28" y="56"/>
                  </a:lnTo>
                  <a:lnTo>
                    <a:pt x="35" y="49"/>
                  </a:lnTo>
                  <a:lnTo>
                    <a:pt x="28" y="28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28" name="未知"/>
            <p:cNvSpPr>
              <a:spLocks/>
            </p:cNvSpPr>
            <p:nvPr/>
          </p:nvSpPr>
          <p:spPr bwMode="auto">
            <a:xfrm>
              <a:off x="1484" y="826"/>
              <a:ext cx="36" cy="385"/>
            </a:xfrm>
            <a:custGeom>
              <a:avLst/>
              <a:gdLst>
                <a:gd name="T0" fmla="*/ 8 w 36"/>
                <a:gd name="T1" fmla="*/ 0 h 56"/>
                <a:gd name="T2" fmla="*/ 0 w 36"/>
                <a:gd name="T3" fmla="*/ 107243 h 56"/>
                <a:gd name="T4" fmla="*/ 29 w 36"/>
                <a:gd name="T5" fmla="*/ 860138 h 56"/>
                <a:gd name="T6" fmla="*/ 36 w 36"/>
                <a:gd name="T7" fmla="*/ 752895 h 56"/>
                <a:gd name="T8" fmla="*/ 8 w 36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6"/>
                <a:gd name="T16" fmla="*/ 0 h 56"/>
                <a:gd name="T17" fmla="*/ 36 w 36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6" h="56">
                  <a:moveTo>
                    <a:pt x="8" y="0"/>
                  </a:moveTo>
                  <a:lnTo>
                    <a:pt x="0" y="7"/>
                  </a:lnTo>
                  <a:lnTo>
                    <a:pt x="29" y="56"/>
                  </a:lnTo>
                  <a:lnTo>
                    <a:pt x="36" y="49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29" name="未知"/>
            <p:cNvSpPr>
              <a:spLocks/>
            </p:cNvSpPr>
            <p:nvPr/>
          </p:nvSpPr>
          <p:spPr bwMode="auto">
            <a:xfrm>
              <a:off x="1534" y="917"/>
              <a:ext cx="28" cy="385"/>
            </a:xfrm>
            <a:custGeom>
              <a:avLst/>
              <a:gdLst>
                <a:gd name="T0" fmla="*/ 7 w 28"/>
                <a:gd name="T1" fmla="*/ 0 h 57"/>
                <a:gd name="T2" fmla="*/ 0 w 28"/>
                <a:gd name="T3" fmla="*/ 97675 h 57"/>
                <a:gd name="T4" fmla="*/ 21 w 28"/>
                <a:gd name="T5" fmla="*/ 801165 h 57"/>
                <a:gd name="T6" fmla="*/ 28 w 28"/>
                <a:gd name="T7" fmla="*/ 703490 h 57"/>
                <a:gd name="T8" fmla="*/ 7 w 28"/>
                <a:gd name="T9" fmla="*/ 0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"/>
                <a:gd name="T16" fmla="*/ 0 h 57"/>
                <a:gd name="T17" fmla="*/ 28 w 28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" h="57">
                  <a:moveTo>
                    <a:pt x="7" y="0"/>
                  </a:moveTo>
                  <a:lnTo>
                    <a:pt x="0" y="7"/>
                  </a:lnTo>
                  <a:lnTo>
                    <a:pt x="21" y="57"/>
                  </a:lnTo>
                  <a:lnTo>
                    <a:pt x="28" y="50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30" name="未知"/>
            <p:cNvSpPr>
              <a:spLocks/>
            </p:cNvSpPr>
            <p:nvPr/>
          </p:nvSpPr>
          <p:spPr bwMode="auto">
            <a:xfrm>
              <a:off x="1576" y="1002"/>
              <a:ext cx="29" cy="385"/>
            </a:xfrm>
            <a:custGeom>
              <a:avLst/>
              <a:gdLst>
                <a:gd name="T0" fmla="*/ 7 w 29"/>
                <a:gd name="T1" fmla="*/ 0 h 64"/>
                <a:gd name="T2" fmla="*/ 0 w 29"/>
                <a:gd name="T3" fmla="*/ 55079 h 64"/>
                <a:gd name="T4" fmla="*/ 0 w 29"/>
                <a:gd name="T5" fmla="*/ 165015 h 64"/>
                <a:gd name="T6" fmla="*/ 14 w 29"/>
                <a:gd name="T7" fmla="*/ 504170 h 64"/>
                <a:gd name="T8" fmla="*/ 29 w 29"/>
                <a:gd name="T9" fmla="*/ 449090 h 64"/>
                <a:gd name="T10" fmla="*/ 14 w 29"/>
                <a:gd name="T11" fmla="*/ 165015 h 64"/>
                <a:gd name="T12" fmla="*/ 7 w 29"/>
                <a:gd name="T13" fmla="*/ 0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9"/>
                <a:gd name="T22" fmla="*/ 0 h 64"/>
                <a:gd name="T23" fmla="*/ 29 w 29"/>
                <a:gd name="T24" fmla="*/ 64 h 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9" h="64">
                  <a:moveTo>
                    <a:pt x="7" y="0"/>
                  </a:moveTo>
                  <a:lnTo>
                    <a:pt x="0" y="7"/>
                  </a:lnTo>
                  <a:lnTo>
                    <a:pt x="0" y="21"/>
                  </a:lnTo>
                  <a:lnTo>
                    <a:pt x="14" y="64"/>
                  </a:lnTo>
                  <a:lnTo>
                    <a:pt x="29" y="57"/>
                  </a:lnTo>
                  <a:lnTo>
                    <a:pt x="14" y="21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31" name="未知"/>
            <p:cNvSpPr>
              <a:spLocks/>
            </p:cNvSpPr>
            <p:nvPr/>
          </p:nvSpPr>
          <p:spPr bwMode="auto">
            <a:xfrm>
              <a:off x="1605" y="1094"/>
              <a:ext cx="35" cy="385"/>
            </a:xfrm>
            <a:custGeom>
              <a:avLst/>
              <a:gdLst>
                <a:gd name="T0" fmla="*/ 14 w 35"/>
                <a:gd name="T1" fmla="*/ 0 h 63"/>
                <a:gd name="T2" fmla="*/ 0 w 35"/>
                <a:gd name="T3" fmla="*/ 60017 h 63"/>
                <a:gd name="T4" fmla="*/ 21 w 35"/>
                <a:gd name="T5" fmla="*/ 536996 h 63"/>
                <a:gd name="T6" fmla="*/ 35 w 35"/>
                <a:gd name="T7" fmla="*/ 476978 h 63"/>
                <a:gd name="T8" fmla="*/ 14 w 35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63"/>
                <a:gd name="T17" fmla="*/ 35 w 35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63">
                  <a:moveTo>
                    <a:pt x="14" y="0"/>
                  </a:moveTo>
                  <a:lnTo>
                    <a:pt x="0" y="7"/>
                  </a:lnTo>
                  <a:lnTo>
                    <a:pt x="21" y="63"/>
                  </a:lnTo>
                  <a:lnTo>
                    <a:pt x="35" y="5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32" name="未知"/>
            <p:cNvSpPr>
              <a:spLocks/>
            </p:cNvSpPr>
            <p:nvPr/>
          </p:nvSpPr>
          <p:spPr bwMode="auto">
            <a:xfrm>
              <a:off x="1633" y="1193"/>
              <a:ext cx="28" cy="385"/>
            </a:xfrm>
            <a:custGeom>
              <a:avLst/>
              <a:gdLst>
                <a:gd name="T0" fmla="*/ 14 w 28"/>
                <a:gd name="T1" fmla="*/ 0 h 56"/>
                <a:gd name="T2" fmla="*/ 0 w 28"/>
                <a:gd name="T3" fmla="*/ 0 h 56"/>
                <a:gd name="T4" fmla="*/ 14 w 28"/>
                <a:gd name="T5" fmla="*/ 860138 h 56"/>
                <a:gd name="T6" fmla="*/ 28 w 28"/>
                <a:gd name="T7" fmla="*/ 860138 h 56"/>
                <a:gd name="T8" fmla="*/ 14 w 28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"/>
                <a:gd name="T16" fmla="*/ 0 h 56"/>
                <a:gd name="T17" fmla="*/ 28 w 28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" h="56">
                  <a:moveTo>
                    <a:pt x="14" y="0"/>
                  </a:moveTo>
                  <a:lnTo>
                    <a:pt x="0" y="0"/>
                  </a:lnTo>
                  <a:lnTo>
                    <a:pt x="14" y="56"/>
                  </a:lnTo>
                  <a:lnTo>
                    <a:pt x="28" y="5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833" name="Rectangle 83"/>
            <p:cNvSpPr>
              <a:spLocks noChangeArrowheads="1"/>
            </p:cNvSpPr>
            <p:nvPr/>
          </p:nvSpPr>
          <p:spPr bwMode="auto">
            <a:xfrm>
              <a:off x="1661" y="1292"/>
              <a:ext cx="14" cy="38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10005" name="Text Box 85"/>
          <p:cNvSpPr txBox="1">
            <a:spLocks noChangeArrowheads="1"/>
          </p:cNvSpPr>
          <p:nvPr/>
        </p:nvSpPr>
        <p:spPr bwMode="auto">
          <a:xfrm>
            <a:off x="107950" y="3508375"/>
            <a:ext cx="2087563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1800">
                <a:ea typeface="华文中宋" pitchFamily="2" charset="-122"/>
              </a:rPr>
              <a:t>杆着地时刻，根据转动定律            </a:t>
            </a:r>
            <a:endParaRPr lang="zh-CN" altLang="en-US" sz="1800" i="1">
              <a:ea typeface="华文中宋" pitchFamily="2" charset="-122"/>
            </a:endParaRPr>
          </a:p>
        </p:txBody>
      </p:sp>
      <p:graphicFrame>
        <p:nvGraphicFramePr>
          <p:cNvPr id="210006" name="Object 86"/>
          <p:cNvGraphicFramePr>
            <a:graphicFrameLocks noChangeAspect="1"/>
          </p:cNvGraphicFramePr>
          <p:nvPr/>
        </p:nvGraphicFramePr>
        <p:xfrm>
          <a:off x="2268538" y="3384550"/>
          <a:ext cx="2613025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19" name="Equation" r:id="rId32" imgW="1130040" imgH="431640" progId="Equation.DSMT4">
                  <p:embed/>
                </p:oleObj>
              </mc:Choice>
              <mc:Fallback>
                <p:oleObj name="Equation" r:id="rId32" imgW="1130040" imgH="431640" progId="Equation.DSMT4">
                  <p:embed/>
                  <p:pic>
                    <p:nvPicPr>
                      <p:cNvPr id="0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3384550"/>
                        <a:ext cx="2613025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007" name="Object 87"/>
          <p:cNvGraphicFramePr>
            <a:graphicFrameLocks noChangeAspect="1"/>
          </p:cNvGraphicFramePr>
          <p:nvPr/>
        </p:nvGraphicFramePr>
        <p:xfrm>
          <a:off x="128588" y="3003550"/>
          <a:ext cx="2211387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0" name="Equation" r:id="rId34" imgW="875920" imgH="253890" progId="Equation.DSMT4">
                  <p:embed/>
                </p:oleObj>
              </mc:Choice>
              <mc:Fallback>
                <p:oleObj name="Equation" r:id="rId34" imgW="875920" imgH="253890" progId="Equation.DSMT4">
                  <p:embed/>
                  <p:pic>
                    <p:nvPicPr>
                      <p:cNvPr id="0" name="Object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8" y="3003550"/>
                        <a:ext cx="2211387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008" name="Object 88"/>
          <p:cNvGraphicFramePr>
            <a:graphicFrameLocks noChangeAspect="1"/>
          </p:cNvGraphicFramePr>
          <p:nvPr/>
        </p:nvGraphicFramePr>
        <p:xfrm>
          <a:off x="2235200" y="1552575"/>
          <a:ext cx="1624013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1" name="Equation" r:id="rId36" imgW="761669" imgH="393529" progId="Equation.DSMT4">
                  <p:embed/>
                </p:oleObj>
              </mc:Choice>
              <mc:Fallback>
                <p:oleObj name="Equation" r:id="rId36" imgW="761669" imgH="393529" progId="Equation.DSMT4">
                  <p:embed/>
                  <p:pic>
                    <p:nvPicPr>
                      <p:cNvPr id="0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1552575"/>
                        <a:ext cx="1624013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009" name="Object 89"/>
          <p:cNvGraphicFramePr>
            <a:graphicFrameLocks noChangeAspect="1"/>
          </p:cNvGraphicFramePr>
          <p:nvPr/>
        </p:nvGraphicFramePr>
        <p:xfrm>
          <a:off x="2751138" y="2992438"/>
          <a:ext cx="21082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2" name="Equation" r:id="rId38" imgW="863225" imgH="241195" progId="Equation.DSMT4">
                  <p:embed/>
                </p:oleObj>
              </mc:Choice>
              <mc:Fallback>
                <p:oleObj name="Equation" r:id="rId38" imgW="863225" imgH="241195" progId="Equation.DSMT4">
                  <p:embed/>
                  <p:pic>
                    <p:nvPicPr>
                      <p:cNvPr id="0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1138" y="2992438"/>
                        <a:ext cx="21082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09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209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2099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2100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2099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2100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2100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10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10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3" dur="500"/>
                                        <p:tgtEl>
                                          <p:spTgt spid="2099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8" dur="500"/>
                                        <p:tgtEl>
                                          <p:spTgt spid="2099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2" grpId="0" build="p" autoUpdateAnimBg="0"/>
      <p:bldP spid="209923" grpId="0" build="p" autoUpdateAnimBg="0"/>
      <p:bldP spid="21000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3"/>
          <p:cNvSpPr txBox="1">
            <a:spLocks noChangeArrowheads="1"/>
          </p:cNvSpPr>
          <p:nvPr/>
        </p:nvSpPr>
        <p:spPr bwMode="auto">
          <a:xfrm>
            <a:off x="704850" y="1289050"/>
            <a:ext cx="3916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>
              <a:buFont typeface="Arial" charset="0"/>
              <a:buChar char="•"/>
            </a:pPr>
            <a:r>
              <a:rPr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质点作匀速圆周运动时</a:t>
            </a:r>
            <a:endParaRPr lang="zh-CN" altLang="en-US" sz="1800">
              <a:latin typeface="华文中宋" pitchFamily="2" charset="-122"/>
              <a:ea typeface="华文中宋" pitchFamily="2" charset="-122"/>
            </a:endParaRPr>
          </a:p>
        </p:txBody>
      </p:sp>
      <p:grpSp>
        <p:nvGrpSpPr>
          <p:cNvPr id="2" name="组合 20"/>
          <p:cNvGrpSpPr>
            <a:grpSpLocks/>
          </p:cNvGrpSpPr>
          <p:nvPr/>
        </p:nvGrpSpPr>
        <p:grpSpPr bwMode="auto">
          <a:xfrm>
            <a:off x="6781800" y="1358900"/>
            <a:ext cx="285750" cy="611188"/>
            <a:chOff x="6525087" y="1521009"/>
            <a:chExt cx="285299" cy="814206"/>
          </a:xfrm>
        </p:grpSpPr>
        <p:sp>
          <p:nvSpPr>
            <p:cNvPr id="34862" name="Line 13"/>
            <p:cNvSpPr>
              <a:spLocks noChangeShapeType="1"/>
            </p:cNvSpPr>
            <p:nvPr/>
          </p:nvSpPr>
          <p:spPr bwMode="auto">
            <a:xfrm flipV="1">
              <a:off x="6810386" y="1573215"/>
              <a:ext cx="0" cy="7620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34863" name="对象 52"/>
            <p:cNvGraphicFramePr>
              <a:graphicFrameLocks noChangeAspect="1"/>
            </p:cNvGraphicFramePr>
            <p:nvPr/>
          </p:nvGraphicFramePr>
          <p:xfrm>
            <a:off x="6525087" y="1521009"/>
            <a:ext cx="221942" cy="2946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74" name="公式" r:id="rId3" imgW="152268" imgH="203024" progId="Equation.3">
                    <p:embed/>
                  </p:oleObj>
                </mc:Choice>
                <mc:Fallback>
                  <p:oleObj name="公式" r:id="rId3" imgW="152268" imgH="203024" progId="Equation.3">
                    <p:embed/>
                    <p:pic>
                      <p:nvPicPr>
                        <p:cNvPr id="0" name="对象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25087" y="1521009"/>
                          <a:ext cx="221942" cy="2946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3"/>
          <p:cNvGrpSpPr>
            <a:grpSpLocks/>
          </p:cNvGrpSpPr>
          <p:nvPr/>
        </p:nvGrpSpPr>
        <p:grpSpPr bwMode="auto">
          <a:xfrm>
            <a:off x="7797800" y="1698625"/>
            <a:ext cx="514350" cy="492125"/>
            <a:chOff x="7530953" y="1935330"/>
            <a:chExt cx="513926" cy="656766"/>
          </a:xfrm>
        </p:grpSpPr>
        <p:sp>
          <p:nvSpPr>
            <p:cNvPr id="34860" name="Line 6"/>
            <p:cNvSpPr>
              <a:spLocks noChangeShapeType="1"/>
            </p:cNvSpPr>
            <p:nvPr/>
          </p:nvSpPr>
          <p:spPr bwMode="auto">
            <a:xfrm flipV="1">
              <a:off x="7530953" y="2157273"/>
              <a:ext cx="423439" cy="434823"/>
            </a:xfrm>
            <a:prstGeom prst="line">
              <a:avLst/>
            </a:prstGeom>
            <a:noFill/>
            <a:ln w="28575">
              <a:solidFill>
                <a:srgbClr val="FF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34861" name="对象 54"/>
            <p:cNvGraphicFramePr>
              <a:graphicFrameLocks noChangeAspect="1"/>
            </p:cNvGraphicFramePr>
            <p:nvPr/>
          </p:nvGraphicFramePr>
          <p:xfrm>
            <a:off x="7642533" y="1935330"/>
            <a:ext cx="402346" cy="2545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75" name="公式" r:id="rId5" imgW="279158" imgH="177646" progId="Equation.3">
                    <p:embed/>
                  </p:oleObj>
                </mc:Choice>
                <mc:Fallback>
                  <p:oleObj name="公式" r:id="rId5" imgW="279158" imgH="177646" progId="Equation.3">
                    <p:embed/>
                    <p:pic>
                      <p:nvPicPr>
                        <p:cNvPr id="0" name="对象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42533" y="1935330"/>
                          <a:ext cx="402346" cy="2545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26"/>
          <p:cNvGrpSpPr>
            <a:grpSpLocks/>
          </p:cNvGrpSpPr>
          <p:nvPr/>
        </p:nvGrpSpPr>
        <p:grpSpPr bwMode="auto">
          <a:xfrm>
            <a:off x="6230938" y="1733550"/>
            <a:ext cx="1697037" cy="669925"/>
            <a:chOff x="5973080" y="2021680"/>
            <a:chExt cx="1697224" cy="893002"/>
          </a:xfrm>
        </p:grpSpPr>
        <p:sp>
          <p:nvSpPr>
            <p:cNvPr id="34853" name="Text Box 10"/>
            <p:cNvSpPr txBox="1">
              <a:spLocks noChangeArrowheads="1"/>
            </p:cNvSpPr>
            <p:nvPr/>
          </p:nvSpPr>
          <p:spPr bwMode="auto">
            <a:xfrm>
              <a:off x="6565283" y="2141684"/>
              <a:ext cx="311184" cy="533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algn="ctr"/>
              <a:r>
                <a:rPr lang="en-US" altLang="zh-CN" sz="2000" i="1">
                  <a:ea typeface="宋体" pitchFamily="2" charset="-122"/>
                </a:rPr>
                <a:t>o</a:t>
              </a:r>
            </a:p>
          </p:txBody>
        </p:sp>
        <p:sp>
          <p:nvSpPr>
            <p:cNvPr id="29" name="椭圆 28"/>
            <p:cNvSpPr>
              <a:spLocks noChangeArrowheads="1"/>
            </p:cNvSpPr>
            <p:nvPr/>
          </p:nvSpPr>
          <p:spPr bwMode="auto">
            <a:xfrm>
              <a:off x="5973080" y="2021680"/>
              <a:ext cx="1697224" cy="691971"/>
            </a:xfrm>
            <a:prstGeom prst="ellipse">
              <a:avLst/>
            </a:prstGeom>
            <a:noFill/>
            <a:ln w="12700" algn="ctr">
              <a:solidFill>
                <a:srgbClr val="00B0F0"/>
              </a:solidFill>
              <a:prstDash val="dash"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b="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grpSp>
          <p:nvGrpSpPr>
            <p:cNvPr id="34855" name="Oval 17"/>
            <p:cNvGrpSpPr>
              <a:grpSpLocks/>
            </p:cNvGrpSpPr>
            <p:nvPr/>
          </p:nvGrpSpPr>
          <p:grpSpPr bwMode="auto">
            <a:xfrm>
              <a:off x="7374489" y="2422291"/>
              <a:ext cx="243867" cy="492391"/>
              <a:chOff x="7632192" y="2272823"/>
              <a:chExt cx="243840" cy="492313"/>
            </a:xfrm>
          </p:grpSpPr>
          <p:pic>
            <p:nvPicPr>
              <p:cNvPr id="34858" name="Oval 17"/>
              <p:cNvPicPr preferRelativeResize="0">
                <a:picLocks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32192" y="2420112"/>
                <a:ext cx="243840" cy="2499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859" name="Text Box 17"/>
              <p:cNvSpPr txBox="1">
                <a:spLocks noChangeArrowheads="1"/>
              </p:cNvSpPr>
              <p:nvPr/>
            </p:nvSpPr>
            <p:spPr bwMode="auto">
              <a:xfrm>
                <a:off x="7662473" y="2272823"/>
                <a:ext cx="184872" cy="492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endParaRPr lang="zh-CN" altLang="en-US" sz="1800" b="0">
                  <a:ea typeface="宋体" pitchFamily="2" charset="-122"/>
                </a:endParaRPr>
              </a:p>
            </p:txBody>
          </p:sp>
        </p:grpSp>
        <p:graphicFrame>
          <p:nvGraphicFramePr>
            <p:cNvPr id="34856" name="Object 44"/>
            <p:cNvGraphicFramePr>
              <a:graphicFrameLocks noChangeAspect="1"/>
            </p:cNvGraphicFramePr>
            <p:nvPr/>
          </p:nvGraphicFramePr>
          <p:xfrm>
            <a:off x="7091178" y="2229211"/>
            <a:ext cx="179634" cy="233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76" name="公式" r:id="rId8" imgW="126780" imgH="164814" progId="Equation.3">
                    <p:embed/>
                  </p:oleObj>
                </mc:Choice>
                <mc:Fallback>
                  <p:oleObj name="公式" r:id="rId8" imgW="126780" imgH="164814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91178" y="2229211"/>
                          <a:ext cx="179634" cy="2334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57" name="Line 9"/>
            <p:cNvSpPr>
              <a:spLocks noChangeShapeType="1"/>
            </p:cNvSpPr>
            <p:nvPr/>
          </p:nvSpPr>
          <p:spPr bwMode="auto">
            <a:xfrm>
              <a:off x="6810375" y="2335212"/>
              <a:ext cx="691256" cy="30145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2220913" y="1754188"/>
          <a:ext cx="2135187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7" name="公式" r:id="rId10" imgW="1002865" imgH="215806" progId="Equation.3">
                  <p:embed/>
                </p:oleObj>
              </mc:Choice>
              <mc:Fallback>
                <p:oleObj name="公式" r:id="rId10" imgW="1002865" imgH="215806" progId="Equation.3">
                  <p:embed/>
                  <p:pic>
                    <p:nvPicPr>
                      <p:cNvPr id="0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0913" y="1754188"/>
                        <a:ext cx="2135187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75"/>
          <p:cNvSpPr txBox="1">
            <a:spLocks noChangeArrowheads="1"/>
          </p:cNvSpPr>
          <p:nvPr/>
        </p:nvSpPr>
        <p:spPr bwMode="auto">
          <a:xfrm>
            <a:off x="660400" y="2125663"/>
            <a:ext cx="40560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buFont typeface="Arial" charset="0"/>
              <a:buChar char="•"/>
            </a:pPr>
            <a:r>
              <a:rPr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开普勒行星运动定律的面积定律</a:t>
            </a:r>
            <a:endParaRPr lang="zh-CN" altLang="en-US" sz="1800">
              <a:latin typeface="华文中宋" pitchFamily="2" charset="-122"/>
              <a:ea typeface="华文中宋" pitchFamily="2" charset="-122"/>
            </a:endParaRPr>
          </a:p>
        </p:txBody>
      </p:sp>
      <p:grpSp>
        <p:nvGrpSpPr>
          <p:cNvPr id="7" name="组合 34"/>
          <p:cNvGrpSpPr>
            <a:grpSpLocks/>
          </p:cNvGrpSpPr>
          <p:nvPr/>
        </p:nvGrpSpPr>
        <p:grpSpPr bwMode="auto">
          <a:xfrm>
            <a:off x="6065838" y="3619500"/>
            <a:ext cx="2322512" cy="931863"/>
            <a:chOff x="6174265" y="3851419"/>
            <a:chExt cx="2322985" cy="1242823"/>
          </a:xfrm>
        </p:grpSpPr>
        <p:sp>
          <p:nvSpPr>
            <p:cNvPr id="34834" name="Line 80"/>
            <p:cNvSpPr>
              <a:spLocks noChangeShapeType="1"/>
            </p:cNvSpPr>
            <p:nvPr/>
          </p:nvSpPr>
          <p:spPr bwMode="auto">
            <a:xfrm flipH="1">
              <a:off x="6578352" y="4169968"/>
              <a:ext cx="1460767" cy="357644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4835" name="Line 81"/>
            <p:cNvSpPr>
              <a:spLocks noChangeShapeType="1"/>
            </p:cNvSpPr>
            <p:nvPr/>
          </p:nvSpPr>
          <p:spPr bwMode="auto">
            <a:xfrm flipH="1">
              <a:off x="7137646" y="4671105"/>
              <a:ext cx="311983" cy="254879"/>
            </a:xfrm>
            <a:prstGeom prst="line">
              <a:avLst/>
            </a:prstGeom>
            <a:noFill/>
            <a:ln w="19050">
              <a:solidFill>
                <a:srgbClr val="00B0F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4836" name="Rectangle 83"/>
            <p:cNvSpPr>
              <a:spLocks noChangeArrowheads="1"/>
            </p:cNvSpPr>
            <p:nvPr/>
          </p:nvSpPr>
          <p:spPr bwMode="auto">
            <a:xfrm>
              <a:off x="6911015" y="4539280"/>
              <a:ext cx="412834" cy="493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800" b="0" i="1">
                  <a:ea typeface="宋体" pitchFamily="2" charset="-122"/>
                </a:rPr>
                <a:t>θ</a:t>
              </a:r>
            </a:p>
          </p:txBody>
        </p:sp>
        <p:sp>
          <p:nvSpPr>
            <p:cNvPr id="34837" name="Text Box 84"/>
            <p:cNvSpPr txBox="1">
              <a:spLocks noChangeArrowheads="1"/>
            </p:cNvSpPr>
            <p:nvPr/>
          </p:nvSpPr>
          <p:spPr bwMode="auto">
            <a:xfrm>
              <a:off x="7468341" y="4601221"/>
              <a:ext cx="400131" cy="493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800" b="0" i="1">
                  <a:ea typeface="宋体" pitchFamily="2" charset="-122"/>
                </a:rPr>
                <a:t>P</a:t>
              </a:r>
              <a:r>
                <a:rPr lang="en-US" altLang="zh-CN" sz="1800" baseline="-25000">
                  <a:ea typeface="宋体" pitchFamily="2" charset="-122"/>
                </a:rPr>
                <a:t>1</a:t>
              </a:r>
              <a:endParaRPr lang="en-US" altLang="zh-CN" sz="1800">
                <a:ea typeface="宋体" pitchFamily="2" charset="-122"/>
              </a:endParaRPr>
            </a:p>
          </p:txBody>
        </p:sp>
        <p:sp>
          <p:nvSpPr>
            <p:cNvPr id="34838" name="Text Box 85"/>
            <p:cNvSpPr txBox="1">
              <a:spLocks noChangeArrowheads="1"/>
            </p:cNvSpPr>
            <p:nvPr/>
          </p:nvSpPr>
          <p:spPr bwMode="auto">
            <a:xfrm>
              <a:off x="6174265" y="4321691"/>
              <a:ext cx="400131" cy="493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800" i="1">
                  <a:ea typeface="宋体" pitchFamily="2" charset="-122"/>
                </a:rPr>
                <a:t>P</a:t>
              </a:r>
              <a:r>
                <a:rPr lang="en-US" altLang="zh-CN" sz="1800" baseline="-25000">
                  <a:ea typeface="宋体" pitchFamily="2" charset="-122"/>
                </a:rPr>
                <a:t>2</a:t>
              </a:r>
              <a:endParaRPr lang="en-US" altLang="zh-CN" sz="1800">
                <a:ea typeface="宋体" pitchFamily="2" charset="-122"/>
              </a:endParaRPr>
            </a:p>
          </p:txBody>
        </p:sp>
        <p:sp>
          <p:nvSpPr>
            <p:cNvPr id="34839" name="Line 86"/>
            <p:cNvSpPr>
              <a:spLocks noChangeShapeType="1"/>
            </p:cNvSpPr>
            <p:nvPr/>
          </p:nvSpPr>
          <p:spPr bwMode="auto">
            <a:xfrm flipH="1" flipV="1">
              <a:off x="6631619" y="4527610"/>
              <a:ext cx="816746" cy="1242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4840" name="Text Box 93"/>
            <p:cNvSpPr txBox="1">
              <a:spLocks noChangeArrowheads="1"/>
            </p:cNvSpPr>
            <p:nvPr/>
          </p:nvSpPr>
          <p:spPr bwMode="auto">
            <a:xfrm>
              <a:off x="7103755" y="4073212"/>
              <a:ext cx="274434" cy="493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800" i="1">
                  <a:ea typeface="宋体" pitchFamily="2" charset="-122"/>
                </a:rPr>
                <a:t>r</a:t>
              </a:r>
            </a:p>
          </p:txBody>
        </p:sp>
        <p:grpSp>
          <p:nvGrpSpPr>
            <p:cNvPr id="34841" name="十二角星 42"/>
            <p:cNvGrpSpPr>
              <a:grpSpLocks/>
            </p:cNvGrpSpPr>
            <p:nvPr/>
          </p:nvGrpSpPr>
          <p:grpSpPr bwMode="auto">
            <a:xfrm>
              <a:off x="7740493" y="3884161"/>
              <a:ext cx="621918" cy="744288"/>
              <a:chOff x="7376160" y="4133088"/>
              <a:chExt cx="621792" cy="743939"/>
            </a:xfrm>
          </p:grpSpPr>
          <p:pic>
            <p:nvPicPr>
              <p:cNvPr id="34851" name="十二角星 42"/>
              <p:cNvPicPr preferRelativeResize="0">
                <a:picLocks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76160" y="4133088"/>
                <a:ext cx="621792" cy="591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852" name="Text Box 32"/>
              <p:cNvSpPr txBox="1">
                <a:spLocks noChangeArrowheads="1"/>
              </p:cNvSpPr>
              <p:nvPr/>
            </p:nvSpPr>
            <p:spPr bwMode="auto">
              <a:xfrm>
                <a:off x="7595056" y="4384237"/>
                <a:ext cx="184000" cy="4927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endParaRPr lang="zh-CN" altLang="en-US" sz="1800" b="0">
                  <a:ea typeface="宋体" pitchFamily="2" charset="-122"/>
                </a:endParaRPr>
              </a:p>
            </p:txBody>
          </p:sp>
        </p:grpSp>
        <p:sp>
          <p:nvSpPr>
            <p:cNvPr id="44" name="椭圆 43"/>
            <p:cNvSpPr>
              <a:spLocks noChangeArrowheads="1"/>
            </p:cNvSpPr>
            <p:nvPr/>
          </p:nvSpPr>
          <p:spPr bwMode="auto">
            <a:xfrm>
              <a:off x="6285413" y="3851419"/>
              <a:ext cx="2211837" cy="692340"/>
            </a:xfrm>
            <a:prstGeom prst="ellipse">
              <a:avLst/>
            </a:prstGeom>
            <a:noFill/>
            <a:ln w="12700" algn="ctr">
              <a:solidFill>
                <a:srgbClr val="00B0F0"/>
              </a:solidFill>
              <a:prstDash val="dash"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b="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34843" name="Line 78"/>
            <p:cNvSpPr>
              <a:spLocks noChangeShapeType="1"/>
            </p:cNvSpPr>
            <p:nvPr/>
          </p:nvSpPr>
          <p:spPr bwMode="auto">
            <a:xfrm flipH="1">
              <a:off x="7458508" y="4223276"/>
              <a:ext cx="554038" cy="439552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34844" name="椭圆 45"/>
            <p:cNvGrpSpPr>
              <a:grpSpLocks/>
            </p:cNvGrpSpPr>
            <p:nvPr/>
          </p:nvGrpSpPr>
          <p:grpSpPr bwMode="auto">
            <a:xfrm>
              <a:off x="7313687" y="4449223"/>
              <a:ext cx="256084" cy="493021"/>
              <a:chOff x="6949440" y="4697885"/>
              <a:chExt cx="256032" cy="492790"/>
            </a:xfrm>
          </p:grpSpPr>
          <p:pic>
            <p:nvPicPr>
              <p:cNvPr id="34849" name="椭圆 45"/>
              <p:cNvPicPr preferRelativeResize="0">
                <a:picLocks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49440" y="4840224"/>
                <a:ext cx="256032" cy="262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850" name="Text Box 37"/>
              <p:cNvSpPr txBox="1">
                <a:spLocks noChangeArrowheads="1"/>
              </p:cNvSpPr>
              <p:nvPr/>
            </p:nvSpPr>
            <p:spPr bwMode="auto">
              <a:xfrm>
                <a:off x="6982835" y="4697885"/>
                <a:ext cx="184471" cy="4927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endParaRPr lang="zh-CN" altLang="en-US" sz="1800" b="0">
                  <a:solidFill>
                    <a:srgbClr val="FFFFFF"/>
                  </a:solidFill>
                  <a:ea typeface="宋体" pitchFamily="2" charset="-122"/>
                </a:endParaRPr>
              </a:p>
            </p:txBody>
          </p:sp>
        </p:grpSp>
        <p:grpSp>
          <p:nvGrpSpPr>
            <p:cNvPr id="34845" name="椭圆 46"/>
            <p:cNvGrpSpPr>
              <a:grpSpLocks/>
            </p:cNvGrpSpPr>
            <p:nvPr/>
          </p:nvGrpSpPr>
          <p:grpSpPr bwMode="auto">
            <a:xfrm>
              <a:off x="6447879" y="4299825"/>
              <a:ext cx="249987" cy="493020"/>
              <a:chOff x="6083808" y="4548560"/>
              <a:chExt cx="249936" cy="492789"/>
            </a:xfrm>
          </p:grpSpPr>
          <p:pic>
            <p:nvPicPr>
              <p:cNvPr id="34847" name="椭圆 46"/>
              <p:cNvPicPr preferRelativeResize="0">
                <a:picLocks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83808" y="4687824"/>
                <a:ext cx="249936" cy="268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848" name="Text Box 40"/>
              <p:cNvSpPr txBox="1">
                <a:spLocks noChangeArrowheads="1"/>
              </p:cNvSpPr>
              <p:nvPr/>
            </p:nvSpPr>
            <p:spPr bwMode="auto">
              <a:xfrm>
                <a:off x="6113864" y="4548560"/>
                <a:ext cx="183497" cy="4927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endParaRPr lang="zh-CN" altLang="en-US" sz="1800" b="0">
                  <a:solidFill>
                    <a:srgbClr val="FFFFFF"/>
                  </a:solidFill>
                  <a:ea typeface="宋体" pitchFamily="2" charset="-122"/>
                </a:endParaRPr>
              </a:p>
            </p:txBody>
          </p:sp>
        </p:grpSp>
        <p:sp>
          <p:nvSpPr>
            <p:cNvPr id="48" name="弧形 47"/>
            <p:cNvSpPr>
              <a:spLocks noChangeArrowheads="1"/>
            </p:cNvSpPr>
            <p:nvPr/>
          </p:nvSpPr>
          <p:spPr bwMode="auto">
            <a:xfrm>
              <a:off x="7182532" y="4289689"/>
              <a:ext cx="301686" cy="730449"/>
            </a:xfrm>
            <a:custGeom>
              <a:avLst/>
              <a:gdLst>
                <a:gd name="T0" fmla="*/ 83050 w 301686"/>
                <a:gd name="T1" fmla="*/ 285670 h 301767"/>
                <a:gd name="T2" fmla="*/ 150843 w 301686"/>
                <a:gd name="T3" fmla="*/ 150884 h 301767"/>
                <a:gd name="T4" fmla="*/ 15918 w 301686"/>
                <a:gd name="T5" fmla="*/ 83421 h 301767"/>
                <a:gd name="T6" fmla="*/ 0 60000 65536"/>
                <a:gd name="T7" fmla="*/ 11796480 60000 65536"/>
                <a:gd name="T8" fmla="*/ 17694720 60000 65536"/>
                <a:gd name="T9" fmla="*/ 0 w 301686"/>
                <a:gd name="T10" fmla="*/ 83421 h 301767"/>
                <a:gd name="T11" fmla="*/ 83050 w 301686"/>
                <a:gd name="T12" fmla="*/ 285670 h 3017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1686" h="301767" stroke="0">
                  <a:moveTo>
                    <a:pt x="83050" y="285670"/>
                  </a:moveTo>
                  <a:lnTo>
                    <a:pt x="83049" y="285670"/>
                  </a:lnTo>
                  <a:cubicBezTo>
                    <a:pt x="32130" y="260045"/>
                    <a:pt x="0" y="207899"/>
                    <a:pt x="0" y="150883"/>
                  </a:cubicBezTo>
                  <a:cubicBezTo>
                    <a:pt x="-1" y="127464"/>
                    <a:pt x="5449" y="104367"/>
                    <a:pt x="15917" y="83419"/>
                  </a:cubicBezTo>
                  <a:lnTo>
                    <a:pt x="150843" y="150884"/>
                  </a:lnTo>
                  <a:close/>
                </a:path>
                <a:path w="301686" h="301767" fill="none">
                  <a:moveTo>
                    <a:pt x="83050" y="285670"/>
                  </a:moveTo>
                  <a:lnTo>
                    <a:pt x="83049" y="285670"/>
                  </a:lnTo>
                  <a:cubicBezTo>
                    <a:pt x="32130" y="260045"/>
                    <a:pt x="0" y="207899"/>
                    <a:pt x="0" y="150883"/>
                  </a:cubicBezTo>
                  <a:cubicBezTo>
                    <a:pt x="-1" y="127464"/>
                    <a:pt x="5449" y="104367"/>
                    <a:pt x="15917" y="83419"/>
                  </a:cubicBezTo>
                </a:path>
              </a:pathLst>
            </a:custGeom>
            <a:noFill/>
            <a:ln w="19050" algn="ctr">
              <a:solidFill>
                <a:srgbClr val="FF00FF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b="0">
                <a:latin typeface="+mn-lt"/>
                <a:ea typeface="+mn-ea"/>
              </a:endParaRPr>
            </a:p>
          </p:txBody>
        </p:sp>
      </p:grpSp>
      <p:graphicFrame>
        <p:nvGraphicFramePr>
          <p:cNvPr id="49" name="对象 48"/>
          <p:cNvGraphicFramePr>
            <a:graphicFrameLocks noChangeAspect="1"/>
          </p:cNvGraphicFramePr>
          <p:nvPr/>
        </p:nvGraphicFramePr>
        <p:xfrm>
          <a:off x="1331913" y="2474913"/>
          <a:ext cx="2681287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8" name="公式" r:id="rId15" imgW="1282700" imgH="406400" progId="Equation.3">
                  <p:embed/>
                </p:oleObj>
              </mc:Choice>
              <mc:Fallback>
                <p:oleObj name="公式" r:id="rId15" imgW="1282700" imgH="406400" progId="Equation.3">
                  <p:embed/>
                  <p:pic>
                    <p:nvPicPr>
                      <p:cNvPr id="0" name="对象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474913"/>
                        <a:ext cx="2681287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 noChangeAspect="1"/>
          </p:cNvGraphicFramePr>
          <p:nvPr/>
        </p:nvGraphicFramePr>
        <p:xfrm>
          <a:off x="3959225" y="2463800"/>
          <a:ext cx="1836738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9" name="公式" r:id="rId17" imgW="901309" imgH="406224" progId="Equation.3">
                  <p:embed/>
                </p:oleObj>
              </mc:Choice>
              <mc:Fallback>
                <p:oleObj name="公式" r:id="rId17" imgW="901309" imgH="406224" progId="Equation.3">
                  <p:embed/>
                  <p:pic>
                    <p:nvPicPr>
                      <p:cNvPr id="0" name="对象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9225" y="2463800"/>
                        <a:ext cx="1836738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/>
          <p:cNvGraphicFramePr>
            <a:graphicFrameLocks noChangeAspect="1"/>
          </p:cNvGraphicFramePr>
          <p:nvPr/>
        </p:nvGraphicFramePr>
        <p:xfrm>
          <a:off x="2012950" y="3175000"/>
          <a:ext cx="2846388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0" name="公式" r:id="rId19" imgW="1473200" imgH="406400" progId="Equation.3">
                  <p:embed/>
                </p:oleObj>
              </mc:Choice>
              <mc:Fallback>
                <p:oleObj name="公式" r:id="rId19" imgW="1473200" imgH="406400" progId="Equation.3">
                  <p:embed/>
                  <p:pic>
                    <p:nvPicPr>
                      <p:cNvPr id="0" name="对象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2950" y="3175000"/>
                        <a:ext cx="2846388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/>
          <p:cNvGraphicFramePr>
            <a:graphicFrameLocks noChangeAspect="1"/>
          </p:cNvGraphicFramePr>
          <p:nvPr/>
        </p:nvGraphicFramePr>
        <p:xfrm>
          <a:off x="2071688" y="3898900"/>
          <a:ext cx="2459037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1" name="公式" r:id="rId21" imgW="1167893" imgH="177723" progId="Equation.3">
                  <p:embed/>
                </p:oleObj>
              </mc:Choice>
              <mc:Fallback>
                <p:oleObj name="公式" r:id="rId21" imgW="1167893" imgH="177723" progId="Equation.3">
                  <p:embed/>
                  <p:pic>
                    <p:nvPicPr>
                      <p:cNvPr id="0" name="对象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3898900"/>
                        <a:ext cx="2459037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2"/>
          <p:cNvGrpSpPr>
            <a:grpSpLocks/>
          </p:cNvGrpSpPr>
          <p:nvPr/>
        </p:nvGrpSpPr>
        <p:grpSpPr bwMode="auto">
          <a:xfrm>
            <a:off x="7947025" y="3910013"/>
            <a:ext cx="223838" cy="606425"/>
            <a:chOff x="4307" y="1128"/>
            <a:chExt cx="141" cy="509"/>
          </a:xfrm>
        </p:grpSpPr>
        <p:sp>
          <p:nvSpPr>
            <p:cNvPr id="34832" name="Line 13"/>
            <p:cNvSpPr>
              <a:spLocks noChangeShapeType="1"/>
            </p:cNvSpPr>
            <p:nvPr/>
          </p:nvSpPr>
          <p:spPr bwMode="auto">
            <a:xfrm flipV="1">
              <a:off x="4308" y="1128"/>
              <a:ext cx="0" cy="480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34833" name="Object 51"/>
            <p:cNvGraphicFramePr>
              <a:graphicFrameLocks noChangeAspect="1"/>
            </p:cNvGraphicFramePr>
            <p:nvPr/>
          </p:nvGraphicFramePr>
          <p:xfrm>
            <a:off x="4307" y="1448"/>
            <a:ext cx="141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82" name="公式" r:id="rId23" imgW="152268" imgH="203024" progId="Equation.3">
                    <p:embed/>
                  </p:oleObj>
                </mc:Choice>
                <mc:Fallback>
                  <p:oleObj name="公式" r:id="rId23" imgW="152268" imgH="203024" progId="Equation.3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7" y="1448"/>
                          <a:ext cx="141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6" name="对象 55"/>
          <p:cNvGraphicFramePr>
            <a:graphicFrameLocks noChangeAspect="1"/>
          </p:cNvGraphicFramePr>
          <p:nvPr/>
        </p:nvGraphicFramePr>
        <p:xfrm>
          <a:off x="2279650" y="4332288"/>
          <a:ext cx="20161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3" name="公式" r:id="rId25" imgW="1002865" imgH="215806" progId="Equation.3">
                  <p:embed/>
                </p:oleObj>
              </mc:Choice>
              <mc:Fallback>
                <p:oleObj name="公式" r:id="rId25" imgW="1002865" imgH="215806" progId="Equation.3">
                  <p:embed/>
                  <p:pic>
                    <p:nvPicPr>
                      <p:cNvPr id="0" name="对象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4332288"/>
                        <a:ext cx="201612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1" name="Text Box 2"/>
          <p:cNvSpPr>
            <a:spLocks noChangeArrowheads="1"/>
          </p:cNvSpPr>
          <p:nvPr/>
        </p:nvSpPr>
        <p:spPr bwMode="auto">
          <a:xfrm>
            <a:off x="782638" y="874713"/>
            <a:ext cx="4581525" cy="400050"/>
          </a:xfrm>
          <a:prstGeom prst="homePlate">
            <a:avLst>
              <a:gd name="adj" fmla="val 49680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一、质点的角动量与角动量守恒定律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utoUpdateAnimBg="0"/>
      <p:bldP spid="3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909" name="Picture 5" descr="U_3893~1"/>
          <p:cNvPicPr preferRelativeResize="0"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1771650"/>
            <a:ext cx="2663825" cy="199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1911" name="Picture 7" descr="952953~1"/>
          <p:cNvPicPr preferRelativeResize="0"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525" y="1355725"/>
            <a:ext cx="4762500" cy="200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1913" name="Picture 9" descr="U_1701~1"/>
          <p:cNvPicPr preferRelativeResize="0"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8188" y="2517775"/>
            <a:ext cx="35052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1915" name="Picture 11" descr="201007~1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200" y="1444625"/>
            <a:ext cx="28575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1917" name="Picture 13" descr="451D88~1"/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63" y="1870075"/>
            <a:ext cx="27432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1918" name="Text Box 14"/>
          <p:cNvSpPr txBox="1">
            <a:spLocks noChangeArrowheads="1"/>
          </p:cNvSpPr>
          <p:nvPr/>
        </p:nvSpPr>
        <p:spPr bwMode="auto">
          <a:xfrm>
            <a:off x="2414588" y="954088"/>
            <a:ext cx="3959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仙女星系与银河系旋转碰撞模拟图</a:t>
            </a:r>
          </a:p>
        </p:txBody>
      </p:sp>
      <p:sp>
        <p:nvSpPr>
          <p:cNvPr id="251919" name="Text Box 15"/>
          <p:cNvSpPr txBox="1">
            <a:spLocks noChangeArrowheads="1"/>
          </p:cNvSpPr>
          <p:nvPr/>
        </p:nvSpPr>
        <p:spPr bwMode="auto">
          <a:xfrm>
            <a:off x="3779838" y="1358900"/>
            <a:ext cx="19446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太阳系行星运动</a:t>
            </a:r>
          </a:p>
        </p:txBody>
      </p:sp>
      <p:sp>
        <p:nvSpPr>
          <p:cNvPr id="251920" name="Text Box 16"/>
          <p:cNvSpPr txBox="1">
            <a:spLocks noChangeArrowheads="1"/>
          </p:cNvSpPr>
          <p:nvPr/>
        </p:nvSpPr>
        <p:spPr bwMode="auto">
          <a:xfrm>
            <a:off x="2197100" y="2571750"/>
            <a:ext cx="12239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地球卫星运动</a:t>
            </a:r>
          </a:p>
        </p:txBody>
      </p:sp>
      <p:sp>
        <p:nvSpPr>
          <p:cNvPr id="251921" name="Text Box 17"/>
          <p:cNvSpPr txBox="1">
            <a:spLocks noChangeArrowheads="1"/>
          </p:cNvSpPr>
          <p:nvPr/>
        </p:nvSpPr>
        <p:spPr bwMode="auto">
          <a:xfrm>
            <a:off x="2125663" y="2246313"/>
            <a:ext cx="12255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电子绕原子核运动</a:t>
            </a:r>
          </a:p>
        </p:txBody>
      </p:sp>
      <p:sp>
        <p:nvSpPr>
          <p:cNvPr id="251922" name="Text Box 18"/>
          <p:cNvSpPr txBox="1">
            <a:spLocks noChangeArrowheads="1"/>
          </p:cNvSpPr>
          <p:nvPr/>
        </p:nvSpPr>
        <p:spPr bwMode="auto">
          <a:xfrm>
            <a:off x="4187825" y="3605213"/>
            <a:ext cx="115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地球自转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19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1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1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19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1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1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19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1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1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519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51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1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19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19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19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19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519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51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51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519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51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51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18" grpId="0"/>
      <p:bldP spid="251919" grpId="0"/>
      <p:bldP spid="251920" grpId="0"/>
      <p:bldP spid="251921" grpId="0"/>
      <p:bldP spid="2519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630238" y="771525"/>
            <a:ext cx="18208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en-US" altLang="zh-CN" sz="1800">
                <a:solidFill>
                  <a:srgbClr val="0000FF"/>
                </a:solidFill>
                <a:ea typeface="华文中宋" pitchFamily="2" charset="-122"/>
              </a:rPr>
              <a:t>1</a:t>
            </a:r>
            <a:r>
              <a:rPr kumimoji="1" lang="zh-CN" altLang="en-US" sz="1800">
                <a:solidFill>
                  <a:srgbClr val="0000FF"/>
                </a:solidFill>
                <a:ea typeface="华文中宋" pitchFamily="2" charset="-122"/>
              </a:rPr>
              <a:t>、角动量</a:t>
            </a:r>
            <a:endParaRPr kumimoji="1" lang="en-US" altLang="zh-CN" sz="1800">
              <a:solidFill>
                <a:srgbClr val="0000FF"/>
              </a:solidFill>
              <a:ea typeface="华文中宋" pitchFamily="2" charset="-122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828675" y="1185863"/>
            <a:ext cx="78343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1800">
                <a:solidFill>
                  <a:srgbClr val="FF0000"/>
                </a:solidFill>
                <a:ea typeface="华文中宋" pitchFamily="2" charset="-122"/>
              </a:rPr>
              <a:t>定义</a:t>
            </a:r>
            <a:r>
              <a:rPr kumimoji="1" lang="en-US" altLang="zh-CN" sz="1800">
                <a:solidFill>
                  <a:srgbClr val="FF0000"/>
                </a:solidFill>
                <a:ea typeface="华文中宋" pitchFamily="2" charset="-122"/>
              </a:rPr>
              <a:t>:  </a:t>
            </a:r>
            <a:r>
              <a:rPr kumimoji="1" lang="en-US" altLang="zh-CN" sz="1800">
                <a:solidFill>
                  <a:srgbClr val="0066FF"/>
                </a:solidFill>
                <a:ea typeface="华文中宋" pitchFamily="2" charset="-122"/>
              </a:rPr>
              <a:t> </a:t>
            </a:r>
            <a:r>
              <a:rPr kumimoji="1" lang="zh-CN" altLang="en-US" sz="1800">
                <a:ea typeface="华文中宋" pitchFamily="2" charset="-122"/>
              </a:rPr>
              <a:t>质点</a:t>
            </a:r>
            <a:r>
              <a:rPr kumimoji="1" lang="en-US" altLang="zh-CN" sz="1800" i="1">
                <a:ea typeface="华文中宋" pitchFamily="2" charset="-122"/>
              </a:rPr>
              <a:t>m</a:t>
            </a:r>
            <a:r>
              <a:rPr kumimoji="1" lang="zh-CN" altLang="en-US" sz="1800">
                <a:ea typeface="华文中宋" pitchFamily="2" charset="-122"/>
              </a:rPr>
              <a:t>对惯性系</a:t>
            </a:r>
            <a:r>
              <a:rPr lang="zh-CN" altLang="en-US" sz="1800">
                <a:ea typeface="华文中宋" pitchFamily="2" charset="-122"/>
              </a:rPr>
              <a:t>内某</a:t>
            </a:r>
            <a:r>
              <a:rPr kumimoji="1" lang="zh-CN" altLang="en-US" sz="1800">
                <a:ea typeface="华文中宋" pitchFamily="2" charset="-122"/>
              </a:rPr>
              <a:t>一</a:t>
            </a:r>
            <a:r>
              <a:rPr lang="zh-CN" altLang="en-US" sz="1800">
                <a:ea typeface="华文中宋" pitchFamily="2" charset="-122"/>
              </a:rPr>
              <a:t>参考点</a:t>
            </a:r>
            <a:r>
              <a:rPr kumimoji="1" lang="zh-CN" altLang="en-US" sz="1800">
                <a:ea typeface="华文中宋" pitchFamily="2" charset="-122"/>
              </a:rPr>
              <a:t>的角动量为</a:t>
            </a:r>
            <a:r>
              <a:rPr kumimoji="1" lang="en-US" altLang="zh-CN" sz="1800">
                <a:ea typeface="华文中宋" pitchFamily="2" charset="-122"/>
              </a:rPr>
              <a:t>: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979613" y="1619250"/>
          <a:ext cx="1627187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5" name="公式" r:id="rId3" imgW="736280" imgH="215806" progId="Equation.3">
                  <p:embed/>
                </p:oleObj>
              </mc:Choice>
              <mc:Fallback>
                <p:oleObj name="公式" r:id="rId3" imgW="736280" imgH="215806" progId="Equation.3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619250"/>
                        <a:ext cx="1627187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33"/>
          <p:cNvSpPr>
            <a:spLocks noChangeArrowheads="1"/>
          </p:cNvSpPr>
          <p:nvPr/>
        </p:nvSpPr>
        <p:spPr bwMode="auto">
          <a:xfrm>
            <a:off x="1184275" y="1844675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1800">
                <a:solidFill>
                  <a:srgbClr val="FF0000"/>
                </a:solidFill>
                <a:ea typeface="华文中宋" pitchFamily="2" charset="-122"/>
              </a:rPr>
              <a:t>大小</a:t>
            </a:r>
            <a:r>
              <a:rPr lang="en-US" altLang="zh-CN" sz="1800">
                <a:solidFill>
                  <a:srgbClr val="FF0000"/>
                </a:solidFill>
                <a:ea typeface="华文中宋" pitchFamily="2" charset="-122"/>
              </a:rPr>
              <a:t>:</a:t>
            </a:r>
            <a:endParaRPr lang="en-US" altLang="zh-CN" sz="1800" baseline="30000">
              <a:solidFill>
                <a:srgbClr val="FF0000"/>
              </a:solidFill>
              <a:ea typeface="华文中宋" pitchFamily="2" charset="-122"/>
            </a:endParaRPr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1979613" y="2085975"/>
          <a:ext cx="1897062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6" name="公式" r:id="rId5" imgW="901309" imgH="177723" progId="Equation.3">
                  <p:embed/>
                </p:oleObj>
              </mc:Choice>
              <mc:Fallback>
                <p:oleObj name="公式" r:id="rId5" imgW="901309" imgH="177723" progId="Equation.3">
                  <p:embed/>
                  <p:pic>
                    <p:nvPicPr>
                      <p:cNvPr id="0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085975"/>
                        <a:ext cx="1897062" cy="28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33"/>
          <p:cNvSpPr>
            <a:spLocks noChangeArrowheads="1"/>
          </p:cNvSpPr>
          <p:nvPr/>
        </p:nvSpPr>
        <p:spPr bwMode="auto">
          <a:xfrm>
            <a:off x="900113" y="2420938"/>
            <a:ext cx="2016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zh-CN" altLang="en-US" sz="1800">
                <a:solidFill>
                  <a:srgbClr val="FF0000"/>
                </a:solidFill>
                <a:ea typeface="华文中宋" pitchFamily="2" charset="-122"/>
              </a:rPr>
              <a:t>方向：</a:t>
            </a:r>
            <a:r>
              <a:rPr kumimoji="1" lang="zh-CN" altLang="en-US" sz="1800">
                <a:ea typeface="华文中宋" pitchFamily="2" charset="-122"/>
              </a:rPr>
              <a:t>  右螺旋</a:t>
            </a:r>
            <a:endParaRPr lang="en-US" altLang="zh-CN" sz="1800" baseline="30000">
              <a:ea typeface="华文中宋" pitchFamily="2" charset="-122"/>
            </a:endParaRPr>
          </a:p>
        </p:txBody>
      </p:sp>
      <p:sp>
        <p:nvSpPr>
          <p:cNvPr id="31" name="Rectangle 33"/>
          <p:cNvSpPr>
            <a:spLocks noChangeArrowheads="1"/>
          </p:cNvSpPr>
          <p:nvPr/>
        </p:nvSpPr>
        <p:spPr bwMode="auto">
          <a:xfrm>
            <a:off x="2771775" y="2411413"/>
            <a:ext cx="19446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1800">
                <a:solidFill>
                  <a:srgbClr val="FF0000"/>
                </a:solidFill>
                <a:ea typeface="华文中宋" pitchFamily="2" charset="-122"/>
              </a:rPr>
              <a:t>单位：</a:t>
            </a:r>
            <a:r>
              <a:rPr lang="zh-CN" altLang="en-US" sz="1800">
                <a:ea typeface="华文中宋" pitchFamily="2" charset="-122"/>
              </a:rPr>
              <a:t>  </a:t>
            </a:r>
            <a:r>
              <a:rPr lang="en-US" altLang="zh-CN" sz="1800">
                <a:ea typeface="华文中宋" pitchFamily="2" charset="-122"/>
              </a:rPr>
              <a:t>kg·m</a:t>
            </a:r>
            <a:r>
              <a:rPr lang="en-US" altLang="zh-CN" sz="1800" baseline="30000">
                <a:ea typeface="华文中宋" pitchFamily="2" charset="-122"/>
              </a:rPr>
              <a:t>2</a:t>
            </a:r>
            <a:r>
              <a:rPr lang="en-US" altLang="zh-CN" sz="1800">
                <a:ea typeface="华文中宋" pitchFamily="2" charset="-122"/>
              </a:rPr>
              <a:t>·s</a:t>
            </a:r>
            <a:r>
              <a:rPr lang="en-US" altLang="zh-CN" sz="1800" baseline="30000">
                <a:ea typeface="华文中宋" pitchFamily="2" charset="-122"/>
              </a:rPr>
              <a:t>-1</a:t>
            </a:r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1250950" y="2928938"/>
          <a:ext cx="196850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7" name="公式" r:id="rId7" imgW="736280" imgH="215806" progId="Equation.3">
                  <p:embed/>
                </p:oleObj>
              </mc:Choice>
              <mc:Fallback>
                <p:oleObj name="公式" r:id="rId7" imgW="736280" imgH="215806" progId="Equation.3">
                  <p:embed/>
                  <p:pic>
                    <p:nvPicPr>
                      <p:cNvPr id="0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950" y="2928938"/>
                        <a:ext cx="1968500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3097213" y="2955925"/>
          <a:ext cx="4113212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8" name="公式" r:id="rId9" imgW="2247900" imgH="266700" progId="Equation.3">
                  <p:embed/>
                </p:oleObj>
              </mc:Choice>
              <mc:Fallback>
                <p:oleObj name="公式" r:id="rId9" imgW="2247900" imgH="266700" progId="Equation.3">
                  <p:embed/>
                  <p:pic>
                    <p:nvPicPr>
                      <p:cNvPr id="0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7213" y="2955925"/>
                        <a:ext cx="4113212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/>
          <p:cNvGraphicFramePr>
            <a:graphicFrameLocks noChangeAspect="1"/>
          </p:cNvGraphicFramePr>
          <p:nvPr/>
        </p:nvGraphicFramePr>
        <p:xfrm>
          <a:off x="1736725" y="3384550"/>
          <a:ext cx="21447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9" name="公式" r:id="rId11" imgW="927100" imgH="241300" progId="Equation.3">
                  <p:embed/>
                </p:oleObj>
              </mc:Choice>
              <mc:Fallback>
                <p:oleObj name="公式" r:id="rId11" imgW="927100" imgH="241300" progId="Equation.3">
                  <p:embed/>
                  <p:pic>
                    <p:nvPicPr>
                      <p:cNvPr id="0" name="对象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6725" y="3384550"/>
                        <a:ext cx="21447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ChangeAspect="1"/>
          </p:cNvGraphicFramePr>
          <p:nvPr/>
        </p:nvGraphicFramePr>
        <p:xfrm>
          <a:off x="1711325" y="3860800"/>
          <a:ext cx="224948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0" name="公式" r:id="rId13" imgW="927100" imgH="241300" progId="Equation.3">
                  <p:embed/>
                </p:oleObj>
              </mc:Choice>
              <mc:Fallback>
                <p:oleObj name="公式" r:id="rId13" imgW="927100" imgH="241300" progId="Equation.3">
                  <p:embed/>
                  <p:pic>
                    <p:nvPicPr>
                      <p:cNvPr id="0" name="对象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1325" y="3860800"/>
                        <a:ext cx="224948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/>
        </p:nvGraphicFramePr>
        <p:xfrm>
          <a:off x="1730375" y="4286250"/>
          <a:ext cx="2205038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1" name="公式" r:id="rId15" imgW="952087" imgH="241195" progId="Equation.3">
                  <p:embed/>
                </p:oleObj>
              </mc:Choice>
              <mc:Fallback>
                <p:oleObj name="公式" r:id="rId15" imgW="952087" imgH="241195" progId="Equation.3">
                  <p:embed/>
                  <p:pic>
                    <p:nvPicPr>
                      <p:cNvPr id="0" name="对象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0375" y="4286250"/>
                        <a:ext cx="2205038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/>
        </p:nvGraphicFramePr>
        <p:xfrm>
          <a:off x="4960938" y="3408363"/>
          <a:ext cx="2249487" cy="113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2" name="公式" r:id="rId17" imgW="1129810" imgH="761669" progId="Equation.3">
                  <p:embed/>
                </p:oleObj>
              </mc:Choice>
              <mc:Fallback>
                <p:oleObj name="公式" r:id="rId17" imgW="1129810" imgH="761669" progId="Equation.3">
                  <p:embed/>
                  <p:pic>
                    <p:nvPicPr>
                      <p:cNvPr id="0" name="对象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0938" y="3408363"/>
                        <a:ext cx="2249487" cy="1138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7286625" y="1592263"/>
            <a:ext cx="830263" cy="685800"/>
            <a:chOff x="4752" y="720"/>
            <a:chExt cx="523" cy="576"/>
          </a:xfrm>
        </p:grpSpPr>
        <p:sp>
          <p:nvSpPr>
            <p:cNvPr id="36901" name="Line 6"/>
            <p:cNvSpPr>
              <a:spLocks noChangeShapeType="1"/>
            </p:cNvSpPr>
            <p:nvPr/>
          </p:nvSpPr>
          <p:spPr bwMode="auto">
            <a:xfrm flipV="1">
              <a:off x="4752" y="720"/>
              <a:ext cx="480" cy="576"/>
            </a:xfrm>
            <a:prstGeom prst="line">
              <a:avLst/>
            </a:prstGeom>
            <a:noFill/>
            <a:ln w="38100">
              <a:solidFill>
                <a:srgbClr val="CC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6902" name="Object 7"/>
            <p:cNvGraphicFramePr>
              <a:graphicFrameLocks noChangeAspect="1"/>
            </p:cNvGraphicFramePr>
            <p:nvPr/>
          </p:nvGraphicFramePr>
          <p:xfrm>
            <a:off x="5095" y="823"/>
            <a:ext cx="18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23" name="公式" r:id="rId19" imgW="152268" imgH="203024" progId="Equation.3">
                    <p:embed/>
                  </p:oleObj>
                </mc:Choice>
                <mc:Fallback>
                  <p:oleObj name="公式" r:id="rId19" imgW="152268" imgH="203024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5" y="823"/>
                          <a:ext cx="18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9"/>
          <p:cNvGrpSpPr>
            <a:grpSpLocks/>
          </p:cNvGrpSpPr>
          <p:nvPr/>
        </p:nvGrpSpPr>
        <p:grpSpPr bwMode="auto">
          <a:xfrm>
            <a:off x="5534025" y="2455863"/>
            <a:ext cx="357188" cy="369887"/>
            <a:chOff x="3312" y="1967"/>
            <a:chExt cx="225" cy="311"/>
          </a:xfrm>
        </p:grpSpPr>
        <p:sp>
          <p:nvSpPr>
            <p:cNvPr id="36899" name="Text Box 10"/>
            <p:cNvSpPr txBox="1">
              <a:spLocks noChangeArrowheads="1"/>
            </p:cNvSpPr>
            <p:nvPr/>
          </p:nvSpPr>
          <p:spPr bwMode="auto">
            <a:xfrm>
              <a:off x="3312" y="1968"/>
              <a:ext cx="19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 sz="1800" b="0">
                  <a:latin typeface="Arial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11" name="Oval 11"/>
            <p:cNvSpPr>
              <a:spLocks noChangeArrowheads="1"/>
            </p:cNvSpPr>
            <p:nvPr/>
          </p:nvSpPr>
          <p:spPr bwMode="auto">
            <a:xfrm>
              <a:off x="3468" y="1967"/>
              <a:ext cx="69" cy="7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b="0">
                <a:ln w="19050">
                  <a:solidFill>
                    <a:schemeClr val="tx1"/>
                  </a:solidFill>
                </a:ln>
                <a:latin typeface="+mn-lt"/>
                <a:ea typeface="+mn-ea"/>
              </a:endParaRPr>
            </a:p>
          </p:txBody>
        </p:sp>
      </p:grpSp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5838825" y="2159000"/>
            <a:ext cx="2286000" cy="347663"/>
            <a:chOff x="3504" y="1717"/>
            <a:chExt cx="1440" cy="292"/>
          </a:xfrm>
        </p:grpSpPr>
        <p:sp>
          <p:nvSpPr>
            <p:cNvPr id="36896" name="Line 13"/>
            <p:cNvSpPr>
              <a:spLocks noChangeShapeType="1"/>
            </p:cNvSpPr>
            <p:nvPr/>
          </p:nvSpPr>
          <p:spPr bwMode="auto">
            <a:xfrm flipV="1">
              <a:off x="3504" y="1817"/>
              <a:ext cx="912" cy="19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6897" name="Object 14"/>
            <p:cNvGraphicFramePr>
              <a:graphicFrameLocks noChangeAspect="1"/>
            </p:cNvGraphicFramePr>
            <p:nvPr/>
          </p:nvGraphicFramePr>
          <p:xfrm>
            <a:off x="3888" y="1722"/>
            <a:ext cx="147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24" name="公式" r:id="rId21" imgW="126780" imgH="164814" progId="Equation.3">
                    <p:embed/>
                  </p:oleObj>
                </mc:Choice>
                <mc:Fallback>
                  <p:oleObj name="公式" r:id="rId21" imgW="126780" imgH="164814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1722"/>
                          <a:ext cx="147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8" name="Line 15"/>
            <p:cNvSpPr>
              <a:spLocks noChangeShapeType="1"/>
            </p:cNvSpPr>
            <p:nvPr/>
          </p:nvSpPr>
          <p:spPr bwMode="auto">
            <a:xfrm flipV="1">
              <a:off x="3984" y="1717"/>
              <a:ext cx="960" cy="19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16"/>
          <p:cNvGrpSpPr>
            <a:grpSpLocks/>
          </p:cNvGrpSpPr>
          <p:nvPr/>
        </p:nvGrpSpPr>
        <p:grpSpPr bwMode="auto">
          <a:xfrm>
            <a:off x="5838825" y="1592263"/>
            <a:ext cx="2209800" cy="914400"/>
            <a:chOff x="3504" y="1241"/>
            <a:chExt cx="1392" cy="768"/>
          </a:xfrm>
        </p:grpSpPr>
        <p:sp>
          <p:nvSpPr>
            <p:cNvPr id="36894" name="Line 17"/>
            <p:cNvSpPr>
              <a:spLocks noChangeShapeType="1"/>
            </p:cNvSpPr>
            <p:nvPr/>
          </p:nvSpPr>
          <p:spPr bwMode="auto">
            <a:xfrm flipV="1">
              <a:off x="3504" y="1433"/>
              <a:ext cx="480" cy="576"/>
            </a:xfrm>
            <a:prstGeom prst="line">
              <a:avLst/>
            </a:prstGeom>
            <a:noFill/>
            <a:ln w="19050">
              <a:solidFill>
                <a:srgbClr val="00B0F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5" name="Line 18"/>
            <p:cNvSpPr>
              <a:spLocks noChangeShapeType="1"/>
            </p:cNvSpPr>
            <p:nvPr/>
          </p:nvSpPr>
          <p:spPr bwMode="auto">
            <a:xfrm flipV="1">
              <a:off x="3984" y="1241"/>
              <a:ext cx="912" cy="192"/>
            </a:xfrm>
            <a:prstGeom prst="line">
              <a:avLst/>
            </a:prstGeom>
            <a:noFill/>
            <a:ln w="19050">
              <a:solidFill>
                <a:srgbClr val="00B0F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19"/>
          <p:cNvGrpSpPr>
            <a:grpSpLocks/>
          </p:cNvGrpSpPr>
          <p:nvPr/>
        </p:nvGrpSpPr>
        <p:grpSpPr bwMode="auto">
          <a:xfrm>
            <a:off x="5305425" y="1706563"/>
            <a:ext cx="685800" cy="742950"/>
            <a:chOff x="3456" y="864"/>
            <a:chExt cx="432" cy="624"/>
          </a:xfrm>
        </p:grpSpPr>
        <p:grpSp>
          <p:nvGrpSpPr>
            <p:cNvPr id="36890" name="Group 20"/>
            <p:cNvGrpSpPr>
              <a:grpSpLocks/>
            </p:cNvGrpSpPr>
            <p:nvPr/>
          </p:nvGrpSpPr>
          <p:grpSpPr bwMode="auto">
            <a:xfrm>
              <a:off x="3456" y="864"/>
              <a:ext cx="336" cy="624"/>
              <a:chOff x="3456" y="864"/>
              <a:chExt cx="336" cy="624"/>
            </a:xfrm>
          </p:grpSpPr>
          <p:graphicFrame>
            <p:nvGraphicFramePr>
              <p:cNvPr id="36892" name="Object 21"/>
              <p:cNvGraphicFramePr>
                <a:graphicFrameLocks noChangeAspect="1"/>
              </p:cNvGraphicFramePr>
              <p:nvPr/>
            </p:nvGraphicFramePr>
            <p:xfrm>
              <a:off x="3594" y="864"/>
              <a:ext cx="14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925" name="公式" r:id="rId23" imgW="152268" imgH="203024" progId="Equation.3">
                      <p:embed/>
                    </p:oleObj>
                  </mc:Choice>
                  <mc:Fallback>
                    <p:oleObj name="公式" r:id="rId23" imgW="152268" imgH="203024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94" y="864"/>
                            <a:ext cx="144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893" name="Line 22"/>
              <p:cNvSpPr>
                <a:spLocks noChangeShapeType="1"/>
              </p:cNvSpPr>
              <p:nvPr/>
            </p:nvSpPr>
            <p:spPr bwMode="auto">
              <a:xfrm flipH="1" flipV="1">
                <a:off x="3456" y="912"/>
                <a:ext cx="336" cy="576"/>
              </a:xfrm>
              <a:prstGeom prst="line">
                <a:avLst/>
              </a:prstGeom>
              <a:noFill/>
              <a:ln w="38100">
                <a:solidFill>
                  <a:srgbClr val="FF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6891" name="Freeform 23"/>
            <p:cNvSpPr>
              <a:spLocks/>
            </p:cNvSpPr>
            <p:nvPr/>
          </p:nvSpPr>
          <p:spPr bwMode="auto">
            <a:xfrm>
              <a:off x="3744" y="1296"/>
              <a:ext cx="144" cy="96"/>
            </a:xfrm>
            <a:custGeom>
              <a:avLst/>
              <a:gdLst>
                <a:gd name="T0" fmla="*/ 0 w 144"/>
                <a:gd name="T1" fmla="*/ 96 h 96"/>
                <a:gd name="T2" fmla="*/ 96 w 144"/>
                <a:gd name="T3" fmla="*/ 0 h 96"/>
                <a:gd name="T4" fmla="*/ 144 w 144"/>
                <a:gd name="T5" fmla="*/ 96 h 96"/>
                <a:gd name="T6" fmla="*/ 0 60000 65536"/>
                <a:gd name="T7" fmla="*/ 0 60000 65536"/>
                <a:gd name="T8" fmla="*/ 0 60000 65536"/>
                <a:gd name="T9" fmla="*/ 0 w 144"/>
                <a:gd name="T10" fmla="*/ 0 h 96"/>
                <a:gd name="T11" fmla="*/ 144 w 144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96">
                  <a:moveTo>
                    <a:pt x="0" y="96"/>
                  </a:moveTo>
                  <a:lnTo>
                    <a:pt x="96" y="0"/>
                  </a:lnTo>
                  <a:lnTo>
                    <a:pt x="144" y="96"/>
                  </a:lnTo>
                </a:path>
              </a:pathLst>
            </a:custGeom>
            <a:noFill/>
            <a:ln w="38100">
              <a:solidFill>
                <a:srgbClr val="CC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" name="Oval 25"/>
          <p:cNvSpPr>
            <a:spLocks noChangeArrowheads="1"/>
          </p:cNvSpPr>
          <p:nvPr/>
        </p:nvSpPr>
        <p:spPr bwMode="auto">
          <a:xfrm>
            <a:off x="7210372" y="2228421"/>
            <a:ext cx="152400" cy="1143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00B0F0"/>
            </a:solidFill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>
              <a:latin typeface="+mn-lt"/>
              <a:ea typeface="+mn-ea"/>
            </a:endParaRPr>
          </a:p>
        </p:txBody>
      </p:sp>
      <p:grpSp>
        <p:nvGrpSpPr>
          <p:cNvPr id="12" name="Group 30"/>
          <p:cNvGrpSpPr>
            <a:grpSpLocks/>
          </p:cNvGrpSpPr>
          <p:nvPr/>
        </p:nvGrpSpPr>
        <p:grpSpPr bwMode="auto">
          <a:xfrm>
            <a:off x="7489825" y="2030413"/>
            <a:ext cx="304800" cy="228600"/>
            <a:chOff x="4560" y="1584"/>
            <a:chExt cx="192" cy="192"/>
          </a:xfrm>
        </p:grpSpPr>
        <p:sp>
          <p:nvSpPr>
            <p:cNvPr id="36888" name="Freeform 31"/>
            <p:cNvSpPr>
              <a:spLocks/>
            </p:cNvSpPr>
            <p:nvPr/>
          </p:nvSpPr>
          <p:spPr bwMode="auto">
            <a:xfrm>
              <a:off x="4560" y="1661"/>
              <a:ext cx="48" cy="96"/>
            </a:xfrm>
            <a:custGeom>
              <a:avLst/>
              <a:gdLst>
                <a:gd name="T0" fmla="*/ 0 w 48"/>
                <a:gd name="T1" fmla="*/ 0 h 96"/>
                <a:gd name="T2" fmla="*/ 48 w 48"/>
                <a:gd name="T3" fmla="*/ 96 h 96"/>
                <a:gd name="T4" fmla="*/ 0 60000 65536"/>
                <a:gd name="T5" fmla="*/ 0 60000 65536"/>
                <a:gd name="T6" fmla="*/ 0 w 48"/>
                <a:gd name="T7" fmla="*/ 0 h 96"/>
                <a:gd name="T8" fmla="*/ 48 w 48"/>
                <a:gd name="T9" fmla="*/ 96 h 9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8" h="96">
                  <a:moveTo>
                    <a:pt x="0" y="0"/>
                  </a:moveTo>
                  <a:cubicBezTo>
                    <a:pt x="0" y="0"/>
                    <a:pt x="24" y="48"/>
                    <a:pt x="48" y="96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6889" name="Object 32"/>
            <p:cNvGraphicFramePr>
              <a:graphicFrameLocks noChangeAspect="1"/>
            </p:cNvGraphicFramePr>
            <p:nvPr/>
          </p:nvGraphicFramePr>
          <p:xfrm>
            <a:off x="4601" y="1584"/>
            <a:ext cx="151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26" name="公式" r:id="rId25" imgW="139579" imgH="177646" progId="Equation.3">
                    <p:embed/>
                  </p:oleObj>
                </mc:Choice>
                <mc:Fallback>
                  <p:oleObj name="公式" r:id="rId25" imgW="139579" imgH="177646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1" y="1584"/>
                          <a:ext cx="151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28" grpId="0" build="p" autoUpdateAnimBg="0"/>
      <p:bldP spid="30" grpId="0" build="p" autoUpdateAnimBg="0"/>
      <p:bldP spid="31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Text Box 2"/>
          <p:cNvSpPr txBox="1">
            <a:spLocks noChangeArrowheads="1"/>
          </p:cNvSpPr>
          <p:nvPr/>
        </p:nvSpPr>
        <p:spPr bwMode="auto">
          <a:xfrm>
            <a:off x="304800" y="915988"/>
            <a:ext cx="5635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2</a:t>
            </a: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、质点对轴的角动量：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对点的角动量沿坐标轴的分量</a:t>
            </a:r>
          </a:p>
        </p:txBody>
      </p:sp>
      <p:sp>
        <p:nvSpPr>
          <p:cNvPr id="252932" name="Text Box 4"/>
          <p:cNvSpPr txBox="1">
            <a:spLocks noChangeArrowheads="1"/>
          </p:cNvSpPr>
          <p:nvPr/>
        </p:nvSpPr>
        <p:spPr bwMode="auto">
          <a:xfrm>
            <a:off x="288925" y="1458913"/>
            <a:ext cx="3995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☆ 假定质点的动量就在转动平面内</a:t>
            </a:r>
          </a:p>
        </p:txBody>
      </p:sp>
      <p:graphicFrame>
        <p:nvGraphicFramePr>
          <p:cNvPr id="252934" name="Object 6"/>
          <p:cNvGraphicFramePr>
            <a:graphicFrameLocks noChangeAspect="1"/>
          </p:cNvGraphicFramePr>
          <p:nvPr/>
        </p:nvGraphicFramePr>
        <p:xfrm>
          <a:off x="395288" y="2424113"/>
          <a:ext cx="4176712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6" name="公式" r:id="rId3" imgW="1587500" imgH="228600" progId="Equation.3">
                  <p:embed/>
                </p:oleObj>
              </mc:Choice>
              <mc:Fallback>
                <p:oleObj name="公式" r:id="rId3" imgW="15875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424113"/>
                        <a:ext cx="4176712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5" name="Object 7"/>
          <p:cNvGraphicFramePr>
            <a:graphicFrameLocks noChangeAspect="1"/>
          </p:cNvGraphicFramePr>
          <p:nvPr/>
        </p:nvGraphicFramePr>
        <p:xfrm>
          <a:off x="395288" y="1828800"/>
          <a:ext cx="42354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7" name="公式" r:id="rId5" imgW="1638300" imgH="228600" progId="Equation.3">
                  <p:embed/>
                </p:oleObj>
              </mc:Choice>
              <mc:Fallback>
                <p:oleObj name="公式" r:id="rId5" imgW="16383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828800"/>
                        <a:ext cx="423545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36" name="Text Box 8"/>
          <p:cNvSpPr txBox="1">
            <a:spLocks noChangeArrowheads="1"/>
          </p:cNvSpPr>
          <p:nvPr/>
        </p:nvSpPr>
        <p:spPr bwMode="auto">
          <a:xfrm>
            <a:off x="323850" y="3287713"/>
            <a:ext cx="507841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☆ 质点动量不在转动平面内</a:t>
            </a:r>
          </a:p>
          <a:p>
            <a:pPr eaLnBrk="1" hangingPunct="1"/>
            <a:endParaRPr lang="zh-CN" altLang="en-US">
              <a:solidFill>
                <a:srgbClr val="0000FF"/>
              </a:solidFill>
              <a:latin typeface="华文中宋" pitchFamily="2" charset="-122"/>
              <a:ea typeface="华文中宋" pitchFamily="2" charset="-122"/>
            </a:endParaRPr>
          </a:p>
          <a:p>
            <a:pPr eaLnBrk="1" hangingPunct="1"/>
            <a:r>
              <a:rPr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   只需考虑动量在转动平面内的分量；</a:t>
            </a:r>
          </a:p>
        </p:txBody>
      </p:sp>
      <p:graphicFrame>
        <p:nvGraphicFramePr>
          <p:cNvPr id="252940" name="Object 12"/>
          <p:cNvGraphicFramePr>
            <a:graphicFrameLocks noChangeAspect="1"/>
          </p:cNvGraphicFramePr>
          <p:nvPr/>
        </p:nvGraphicFramePr>
        <p:xfrm>
          <a:off x="5570538" y="3003550"/>
          <a:ext cx="2817812" cy="159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8" r:id="rId7" imgW="2278380" imgH="1562100" progId="Word.Picture.8">
                  <p:embed/>
                </p:oleObj>
              </mc:Choice>
              <mc:Fallback>
                <p:oleObj r:id="rId7" imgW="2278380" imgH="1562100" progId="Word.Picture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0538" y="3003550"/>
                        <a:ext cx="2817812" cy="159861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hlink"/>
                          </a:gs>
                          <a:gs pos="100000">
                            <a:srgbClr val="3399FF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44" name="未知" descr="粉色砂纸"/>
          <p:cNvSpPr>
            <a:spLocks/>
          </p:cNvSpPr>
          <p:nvPr/>
        </p:nvSpPr>
        <p:spPr bwMode="auto">
          <a:xfrm>
            <a:off x="5435600" y="1292225"/>
            <a:ext cx="2971800" cy="461963"/>
          </a:xfrm>
          <a:custGeom>
            <a:avLst/>
            <a:gdLst>
              <a:gd name="T0" fmla="*/ 2147483647 w 2982"/>
              <a:gd name="T1" fmla="*/ 2147483647 h 2145"/>
              <a:gd name="T2" fmla="*/ 2147483647 w 2982"/>
              <a:gd name="T3" fmla="*/ 0 h 2145"/>
              <a:gd name="T4" fmla="*/ 2147483647 w 2982"/>
              <a:gd name="T5" fmla="*/ 0 h 2145"/>
              <a:gd name="T6" fmla="*/ 2147483647 w 2982"/>
              <a:gd name="T7" fmla="*/ 2147483647 h 2145"/>
              <a:gd name="T8" fmla="*/ 2147483647 w 2982"/>
              <a:gd name="T9" fmla="*/ 2147483647 h 2145"/>
              <a:gd name="T10" fmla="*/ 2147483647 w 2982"/>
              <a:gd name="T11" fmla="*/ 2147483647 h 2145"/>
              <a:gd name="T12" fmla="*/ 2147483647 w 2982"/>
              <a:gd name="T13" fmla="*/ 2147483647 h 2145"/>
              <a:gd name="T14" fmla="*/ 2147483647 w 2982"/>
              <a:gd name="T15" fmla="*/ 2147483647 h 2145"/>
              <a:gd name="T16" fmla="*/ 0 w 2982"/>
              <a:gd name="T17" fmla="*/ 2147483647 h 2145"/>
              <a:gd name="T18" fmla="*/ 2147483647 w 2982"/>
              <a:gd name="T19" fmla="*/ 2147483647 h 214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982"/>
              <a:gd name="T31" fmla="*/ 0 h 2145"/>
              <a:gd name="T32" fmla="*/ 2982 w 2982"/>
              <a:gd name="T33" fmla="*/ 2145 h 214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982" h="2145">
                <a:moveTo>
                  <a:pt x="213" y="429"/>
                </a:moveTo>
                <a:lnTo>
                  <a:pt x="639" y="0"/>
                </a:lnTo>
                <a:lnTo>
                  <a:pt x="1491" y="0"/>
                </a:lnTo>
                <a:lnTo>
                  <a:pt x="2343" y="286"/>
                </a:lnTo>
                <a:lnTo>
                  <a:pt x="2982" y="858"/>
                </a:lnTo>
                <a:lnTo>
                  <a:pt x="2769" y="1430"/>
                </a:lnTo>
                <a:lnTo>
                  <a:pt x="2130" y="2002"/>
                </a:lnTo>
                <a:lnTo>
                  <a:pt x="852" y="2145"/>
                </a:lnTo>
                <a:lnTo>
                  <a:pt x="0" y="1430"/>
                </a:lnTo>
                <a:lnTo>
                  <a:pt x="213" y="429"/>
                </a:lnTo>
                <a:close/>
              </a:path>
            </a:pathLst>
          </a:custGeom>
          <a:blipFill dpi="0" rotWithShape="0">
            <a:blip r:embed="rId9"/>
            <a:srcRect/>
            <a:tile tx="0" ty="0" sx="100000" sy="100000" flip="none" algn="tl"/>
          </a:blipFill>
          <a:ln w="9525">
            <a:round/>
            <a:headEnd/>
            <a:tailEnd/>
          </a:ln>
          <a:scene3d>
            <a:camera prst="legacyPerspectiveFront">
              <a:rot lat="18600000" lon="0" rev="0"/>
            </a:camera>
            <a:lightRig rig="legacyFlat4" dir="b"/>
          </a:scene3d>
          <a:sp3d extrusionH="3032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>
            <a:spAutoFit/>
            <a:flatTx/>
          </a:bodyPr>
          <a:lstStyle/>
          <a:p>
            <a:endParaRPr lang="zh-CN" altLang="en-US"/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 rot="624234">
            <a:off x="6438900" y="1725613"/>
            <a:ext cx="1752600" cy="630237"/>
            <a:chOff x="0" y="-231"/>
            <a:chExt cx="1872" cy="894"/>
          </a:xfrm>
        </p:grpSpPr>
        <p:sp>
          <p:nvSpPr>
            <p:cNvPr id="37925" name="未知"/>
            <p:cNvSpPr>
              <a:spLocks/>
            </p:cNvSpPr>
            <p:nvPr/>
          </p:nvSpPr>
          <p:spPr bwMode="auto">
            <a:xfrm>
              <a:off x="0" y="9"/>
              <a:ext cx="960" cy="654"/>
            </a:xfrm>
            <a:custGeom>
              <a:avLst/>
              <a:gdLst>
                <a:gd name="T0" fmla="*/ 0 w 960"/>
                <a:gd name="T1" fmla="*/ 66078 h 192"/>
                <a:gd name="T2" fmla="*/ 288 w 960"/>
                <a:gd name="T3" fmla="*/ 88052 h 192"/>
                <a:gd name="T4" fmla="*/ 672 w 960"/>
                <a:gd name="T5" fmla="*/ 66078 h 192"/>
                <a:gd name="T6" fmla="*/ 960 w 960"/>
                <a:gd name="T7" fmla="*/ 0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0"/>
                <a:gd name="T13" fmla="*/ 0 h 192"/>
                <a:gd name="T14" fmla="*/ 960 w 960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0" h="192">
                  <a:moveTo>
                    <a:pt x="0" y="144"/>
                  </a:moveTo>
                  <a:cubicBezTo>
                    <a:pt x="88" y="168"/>
                    <a:pt x="176" y="192"/>
                    <a:pt x="288" y="192"/>
                  </a:cubicBezTo>
                  <a:cubicBezTo>
                    <a:pt x="400" y="192"/>
                    <a:pt x="560" y="176"/>
                    <a:pt x="672" y="144"/>
                  </a:cubicBezTo>
                  <a:cubicBezTo>
                    <a:pt x="784" y="112"/>
                    <a:pt x="912" y="24"/>
                    <a:pt x="960" y="0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926" name="未知"/>
            <p:cNvSpPr>
              <a:spLocks/>
            </p:cNvSpPr>
            <p:nvPr/>
          </p:nvSpPr>
          <p:spPr bwMode="auto">
            <a:xfrm rot="20036901" flipV="1">
              <a:off x="912" y="-231"/>
              <a:ext cx="960" cy="654"/>
            </a:xfrm>
            <a:custGeom>
              <a:avLst/>
              <a:gdLst>
                <a:gd name="T0" fmla="*/ 0 w 960"/>
                <a:gd name="T1" fmla="*/ 66078 h 192"/>
                <a:gd name="T2" fmla="*/ 288 w 960"/>
                <a:gd name="T3" fmla="*/ 88052 h 192"/>
                <a:gd name="T4" fmla="*/ 672 w 960"/>
                <a:gd name="T5" fmla="*/ 66078 h 192"/>
                <a:gd name="T6" fmla="*/ 960 w 960"/>
                <a:gd name="T7" fmla="*/ 0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0"/>
                <a:gd name="T13" fmla="*/ 0 h 192"/>
                <a:gd name="T14" fmla="*/ 960 w 960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0" h="192">
                  <a:moveTo>
                    <a:pt x="0" y="144"/>
                  </a:moveTo>
                  <a:cubicBezTo>
                    <a:pt x="88" y="168"/>
                    <a:pt x="176" y="192"/>
                    <a:pt x="288" y="192"/>
                  </a:cubicBezTo>
                  <a:cubicBezTo>
                    <a:pt x="400" y="192"/>
                    <a:pt x="560" y="176"/>
                    <a:pt x="672" y="144"/>
                  </a:cubicBezTo>
                  <a:cubicBezTo>
                    <a:pt x="784" y="112"/>
                    <a:pt x="912" y="24"/>
                    <a:pt x="960" y="0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52949" name="Oval 21"/>
          <p:cNvSpPr>
            <a:spLocks noChangeArrowheads="1"/>
          </p:cNvSpPr>
          <p:nvPr/>
        </p:nvSpPr>
        <p:spPr bwMode="auto">
          <a:xfrm flipH="1">
            <a:off x="7327900" y="1701800"/>
            <a:ext cx="100013" cy="649288"/>
          </a:xfrm>
          <a:prstGeom prst="ellipse">
            <a:avLst/>
          </a:prstGeom>
          <a:gradFill rotWithShape="0">
            <a:gsLst>
              <a:gs pos="0">
                <a:srgbClr val="FF9966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5940425" y="1112838"/>
            <a:ext cx="2101850" cy="923925"/>
            <a:chOff x="0" y="0"/>
            <a:chExt cx="1324" cy="776"/>
          </a:xfrm>
        </p:grpSpPr>
        <p:graphicFrame>
          <p:nvGraphicFramePr>
            <p:cNvPr id="37918" name="Object 23"/>
            <p:cNvGraphicFramePr>
              <a:graphicFrameLocks noChangeAspect="1"/>
            </p:cNvGraphicFramePr>
            <p:nvPr/>
          </p:nvGraphicFramePr>
          <p:xfrm>
            <a:off x="0" y="104"/>
            <a:ext cx="175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39" r:id="rId10" imgW="177800" imgH="215900" progId="Equation.3">
                    <p:embed/>
                  </p:oleObj>
                </mc:Choice>
                <mc:Fallback>
                  <p:oleObj r:id="rId10" imgW="177800" imgH="21590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04"/>
                          <a:ext cx="175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7919" name="Group 24"/>
            <p:cNvGrpSpPr>
              <a:grpSpLocks/>
            </p:cNvGrpSpPr>
            <p:nvPr/>
          </p:nvGrpSpPr>
          <p:grpSpPr bwMode="auto">
            <a:xfrm>
              <a:off x="288" y="0"/>
              <a:ext cx="1036" cy="776"/>
              <a:chOff x="0" y="0"/>
              <a:chExt cx="1036" cy="776"/>
            </a:xfrm>
          </p:grpSpPr>
          <p:sp>
            <p:nvSpPr>
              <p:cNvPr id="37920" name="Line 25"/>
              <p:cNvSpPr>
                <a:spLocks noChangeShapeType="1"/>
              </p:cNvSpPr>
              <p:nvPr/>
            </p:nvSpPr>
            <p:spPr bwMode="auto">
              <a:xfrm>
                <a:off x="0" y="528"/>
                <a:ext cx="576" cy="240"/>
              </a:xfrm>
              <a:prstGeom prst="line">
                <a:avLst/>
              </a:prstGeom>
              <a:noFill/>
              <a:ln w="28575">
                <a:solidFill>
                  <a:srgbClr val="808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7921" name="Line 26"/>
              <p:cNvSpPr>
                <a:spLocks noChangeShapeType="1"/>
              </p:cNvSpPr>
              <p:nvPr/>
            </p:nvSpPr>
            <p:spPr bwMode="auto">
              <a:xfrm flipV="1">
                <a:off x="576" y="624"/>
                <a:ext cx="288" cy="152"/>
              </a:xfrm>
              <a:prstGeom prst="line">
                <a:avLst/>
              </a:prstGeom>
              <a:noFill/>
              <a:ln w="28575">
                <a:solidFill>
                  <a:srgbClr val="CC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7922" name="Line 27"/>
              <p:cNvSpPr>
                <a:spLocks noChangeShapeType="1"/>
              </p:cNvSpPr>
              <p:nvPr/>
            </p:nvSpPr>
            <p:spPr bwMode="auto">
              <a:xfrm flipV="1">
                <a:off x="0" y="0"/>
                <a:ext cx="0" cy="528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37923" name="Object 28"/>
              <p:cNvGraphicFramePr>
                <a:graphicFrameLocks noChangeAspect="1"/>
              </p:cNvGraphicFramePr>
              <p:nvPr/>
            </p:nvGraphicFramePr>
            <p:xfrm>
              <a:off x="240" y="432"/>
              <a:ext cx="151" cy="1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40" r:id="rId12" imgW="127000" imgH="165100" progId="Equation.3">
                      <p:embed/>
                    </p:oleObj>
                  </mc:Choice>
                  <mc:Fallback>
                    <p:oleObj r:id="rId12" imgW="127000" imgH="165100" progId="Equation.3">
                      <p:embed/>
                      <p:pic>
                        <p:nvPicPr>
                          <p:cNvPr id="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0" y="432"/>
                            <a:ext cx="151" cy="19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24" name="Object 29"/>
              <p:cNvGraphicFramePr>
                <a:graphicFrameLocks noChangeAspect="1"/>
              </p:cNvGraphicFramePr>
              <p:nvPr/>
            </p:nvGraphicFramePr>
            <p:xfrm>
              <a:off x="816" y="432"/>
              <a:ext cx="220" cy="1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41" r:id="rId14" imgW="241195" imgH="177723" progId="Equation.3">
                      <p:embed/>
                    </p:oleObj>
                  </mc:Choice>
                  <mc:Fallback>
                    <p:oleObj r:id="rId14" imgW="241195" imgH="177723" progId="Equation.3">
                      <p:embed/>
                      <p:pic>
                        <p:nvPicPr>
                          <p:cNvPr id="0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16" y="432"/>
                            <a:ext cx="220" cy="1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" name="Group 30"/>
          <p:cNvGrpSpPr>
            <a:grpSpLocks/>
          </p:cNvGrpSpPr>
          <p:nvPr/>
        </p:nvGrpSpPr>
        <p:grpSpPr bwMode="auto">
          <a:xfrm>
            <a:off x="6303963" y="1716088"/>
            <a:ext cx="744537" cy="514350"/>
            <a:chOff x="0" y="0"/>
            <a:chExt cx="469" cy="432"/>
          </a:xfrm>
        </p:grpSpPr>
        <p:grpSp>
          <p:nvGrpSpPr>
            <p:cNvPr id="37912" name="Group 31"/>
            <p:cNvGrpSpPr>
              <a:grpSpLocks/>
            </p:cNvGrpSpPr>
            <p:nvPr/>
          </p:nvGrpSpPr>
          <p:grpSpPr bwMode="auto">
            <a:xfrm>
              <a:off x="0" y="0"/>
              <a:ext cx="373" cy="432"/>
              <a:chOff x="0" y="0"/>
              <a:chExt cx="373" cy="432"/>
            </a:xfrm>
          </p:grpSpPr>
          <p:graphicFrame>
            <p:nvGraphicFramePr>
              <p:cNvPr id="37916" name="Object 32"/>
              <p:cNvGraphicFramePr>
                <a:graphicFrameLocks noChangeAspect="1"/>
              </p:cNvGraphicFramePr>
              <p:nvPr/>
            </p:nvGraphicFramePr>
            <p:xfrm>
              <a:off x="0" y="112"/>
              <a:ext cx="181" cy="1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42" r:id="rId16" imgW="152532" imgH="165243" progId="Equation.3">
                      <p:embed/>
                    </p:oleObj>
                  </mc:Choice>
                  <mc:Fallback>
                    <p:oleObj r:id="rId16" imgW="152532" imgH="165243" progId="Equation.3">
                      <p:embed/>
                      <p:pic>
                        <p:nvPicPr>
                          <p:cNvPr id="0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112"/>
                            <a:ext cx="181" cy="19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917" name="Line 33"/>
              <p:cNvSpPr>
                <a:spLocks noChangeShapeType="1"/>
              </p:cNvSpPr>
              <p:nvPr/>
            </p:nvSpPr>
            <p:spPr bwMode="auto">
              <a:xfrm>
                <a:off x="85" y="0"/>
                <a:ext cx="288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37913" name="Group 34"/>
            <p:cNvGrpSpPr>
              <a:grpSpLocks/>
            </p:cNvGrpSpPr>
            <p:nvPr/>
          </p:nvGrpSpPr>
          <p:grpSpPr bwMode="auto">
            <a:xfrm>
              <a:off x="325" y="320"/>
              <a:ext cx="144" cy="48"/>
              <a:chOff x="0" y="0"/>
              <a:chExt cx="144" cy="48"/>
            </a:xfrm>
          </p:grpSpPr>
          <p:sp>
            <p:nvSpPr>
              <p:cNvPr id="37914" name="Line 35"/>
              <p:cNvSpPr>
                <a:spLocks noChangeShapeType="1"/>
              </p:cNvSpPr>
              <p:nvPr/>
            </p:nvSpPr>
            <p:spPr bwMode="auto">
              <a:xfrm flipV="1">
                <a:off x="0" y="0"/>
                <a:ext cx="96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7915" name="Line 36"/>
              <p:cNvSpPr>
                <a:spLocks noChangeShapeType="1"/>
              </p:cNvSpPr>
              <p:nvPr/>
            </p:nvSpPr>
            <p:spPr bwMode="auto">
              <a:xfrm>
                <a:off x="96" y="0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8" name="Group 37"/>
          <p:cNvGrpSpPr>
            <a:grpSpLocks/>
          </p:cNvGrpSpPr>
          <p:nvPr/>
        </p:nvGrpSpPr>
        <p:grpSpPr bwMode="auto">
          <a:xfrm>
            <a:off x="6743700" y="1770063"/>
            <a:ext cx="1087438" cy="517525"/>
            <a:chOff x="0" y="-115"/>
            <a:chExt cx="685" cy="435"/>
          </a:xfrm>
        </p:grpSpPr>
        <p:sp>
          <p:nvSpPr>
            <p:cNvPr id="37908" name="Line 38"/>
            <p:cNvSpPr>
              <a:spLocks noChangeShapeType="1"/>
            </p:cNvSpPr>
            <p:nvPr/>
          </p:nvSpPr>
          <p:spPr bwMode="auto">
            <a:xfrm>
              <a:off x="384" y="80"/>
              <a:ext cx="240" cy="96"/>
            </a:xfrm>
            <a:prstGeom prst="line">
              <a:avLst/>
            </a:prstGeom>
            <a:noFill/>
            <a:ln w="9525">
              <a:solidFill>
                <a:srgbClr val="808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909" name="Line 39"/>
            <p:cNvSpPr>
              <a:spLocks noChangeShapeType="1"/>
            </p:cNvSpPr>
            <p:nvPr/>
          </p:nvSpPr>
          <p:spPr bwMode="auto">
            <a:xfrm flipH="1">
              <a:off x="0" y="80"/>
              <a:ext cx="432" cy="240"/>
            </a:xfrm>
            <a:prstGeom prst="line">
              <a:avLst/>
            </a:prstGeom>
            <a:noFill/>
            <a:ln w="9525">
              <a:solidFill>
                <a:srgbClr val="808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910" name="未知"/>
            <p:cNvSpPr>
              <a:spLocks/>
            </p:cNvSpPr>
            <p:nvPr/>
          </p:nvSpPr>
          <p:spPr bwMode="auto">
            <a:xfrm>
              <a:off x="504" y="-115"/>
              <a:ext cx="44" cy="388"/>
            </a:xfrm>
            <a:custGeom>
              <a:avLst/>
              <a:gdLst>
                <a:gd name="T0" fmla="*/ 33 w 44"/>
                <a:gd name="T1" fmla="*/ 117577 h 93"/>
                <a:gd name="T2" fmla="*/ 25 w 44"/>
                <a:gd name="T3" fmla="*/ 10025 h 93"/>
                <a:gd name="T4" fmla="*/ 0 w 44"/>
                <a:gd name="T5" fmla="*/ 0 h 93"/>
                <a:gd name="T6" fmla="*/ 0 60000 65536"/>
                <a:gd name="T7" fmla="*/ 0 60000 65536"/>
                <a:gd name="T8" fmla="*/ 0 60000 65536"/>
                <a:gd name="T9" fmla="*/ 0 w 44"/>
                <a:gd name="T10" fmla="*/ 0 h 93"/>
                <a:gd name="T11" fmla="*/ 44 w 44"/>
                <a:gd name="T12" fmla="*/ 93 h 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4" h="93">
                  <a:moveTo>
                    <a:pt x="33" y="93"/>
                  </a:moveTo>
                  <a:cubicBezTo>
                    <a:pt x="39" y="71"/>
                    <a:pt x="44" y="28"/>
                    <a:pt x="25" y="8"/>
                  </a:cubicBezTo>
                  <a:cubicBezTo>
                    <a:pt x="19" y="2"/>
                    <a:pt x="0" y="0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37911" name="Object 41"/>
            <p:cNvGraphicFramePr>
              <a:graphicFrameLocks noChangeAspect="1"/>
            </p:cNvGraphicFramePr>
            <p:nvPr/>
          </p:nvGraphicFramePr>
          <p:xfrm>
            <a:off x="576" y="0"/>
            <a:ext cx="109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43" r:id="rId18" imgW="126725" imgH="177415" progId="Equation.3">
                    <p:embed/>
                  </p:oleObj>
                </mc:Choice>
                <mc:Fallback>
                  <p:oleObj r:id="rId18" imgW="126725" imgH="177415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0"/>
                          <a:ext cx="109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42"/>
          <p:cNvGrpSpPr>
            <a:grpSpLocks/>
          </p:cNvGrpSpPr>
          <p:nvPr/>
        </p:nvGrpSpPr>
        <p:grpSpPr bwMode="auto">
          <a:xfrm>
            <a:off x="7302500" y="1498600"/>
            <a:ext cx="533400" cy="554038"/>
            <a:chOff x="0" y="0"/>
            <a:chExt cx="336" cy="466"/>
          </a:xfrm>
        </p:grpSpPr>
        <p:grpSp>
          <p:nvGrpSpPr>
            <p:cNvPr id="37903" name="Group 43"/>
            <p:cNvGrpSpPr>
              <a:grpSpLocks/>
            </p:cNvGrpSpPr>
            <p:nvPr/>
          </p:nvGrpSpPr>
          <p:grpSpPr bwMode="auto">
            <a:xfrm>
              <a:off x="56" y="178"/>
              <a:ext cx="280" cy="288"/>
              <a:chOff x="0" y="0"/>
              <a:chExt cx="280" cy="288"/>
            </a:xfrm>
          </p:grpSpPr>
          <p:sp>
            <p:nvSpPr>
              <p:cNvPr id="37905" name="Line 44"/>
              <p:cNvSpPr>
                <a:spLocks noChangeShapeType="1"/>
              </p:cNvSpPr>
              <p:nvPr/>
            </p:nvSpPr>
            <p:spPr bwMode="auto">
              <a:xfrm flipV="1">
                <a:off x="0" y="0"/>
                <a:ext cx="128" cy="240"/>
              </a:xfrm>
              <a:prstGeom prst="line">
                <a:avLst/>
              </a:prstGeom>
              <a:noFill/>
              <a:ln w="9525">
                <a:solidFill>
                  <a:srgbClr val="CC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7906" name="Line 45"/>
              <p:cNvSpPr>
                <a:spLocks noChangeShapeType="1"/>
              </p:cNvSpPr>
              <p:nvPr/>
            </p:nvSpPr>
            <p:spPr bwMode="auto">
              <a:xfrm flipH="1">
                <a:off x="184" y="96"/>
                <a:ext cx="96" cy="192"/>
              </a:xfrm>
              <a:prstGeom prst="line">
                <a:avLst/>
              </a:prstGeom>
              <a:noFill/>
              <a:ln w="9525">
                <a:solidFill>
                  <a:srgbClr val="CC00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7907" name="Line 46"/>
              <p:cNvSpPr>
                <a:spLocks noChangeShapeType="1"/>
              </p:cNvSpPr>
              <p:nvPr/>
            </p:nvSpPr>
            <p:spPr bwMode="auto">
              <a:xfrm>
                <a:off x="88" y="48"/>
                <a:ext cx="192" cy="96"/>
              </a:xfrm>
              <a:prstGeom prst="line">
                <a:avLst/>
              </a:prstGeom>
              <a:noFill/>
              <a:ln w="9525">
                <a:solidFill>
                  <a:srgbClr val="CC00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aphicFrame>
          <p:nvGraphicFramePr>
            <p:cNvPr id="37904" name="Object 47"/>
            <p:cNvGraphicFramePr>
              <a:graphicFrameLocks noChangeAspect="1"/>
            </p:cNvGraphicFramePr>
            <p:nvPr/>
          </p:nvGraphicFramePr>
          <p:xfrm>
            <a:off x="0" y="0"/>
            <a:ext cx="284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44" r:id="rId20" imgW="292100" imgH="215900" progId="Equation.3">
                    <p:embed/>
                  </p:oleObj>
                </mc:Choice>
                <mc:Fallback>
                  <p:oleObj r:id="rId20" imgW="292100" imgH="21590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284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29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29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5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52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529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29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29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29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529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529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52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0" grpId="0" autoUpdateAnimBg="0"/>
      <p:bldP spid="252932" grpId="0"/>
      <p:bldP spid="252936" grpId="0" autoUpdateAnimBg="0"/>
      <p:bldP spid="252944" grpId="0" animBg="1"/>
      <p:bldP spid="25294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ext Box 2"/>
          <p:cNvSpPr txBox="1">
            <a:spLocks noChangeArrowheads="1"/>
          </p:cNvSpPr>
          <p:nvPr/>
        </p:nvSpPr>
        <p:spPr bwMode="auto">
          <a:xfrm>
            <a:off x="498475" y="835025"/>
            <a:ext cx="84661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例</a:t>
            </a:r>
            <a:r>
              <a:rPr lang="en-US" altLang="zh-CN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 </a:t>
            </a: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一质点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m</a:t>
            </a: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以恒速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v</a:t>
            </a: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沿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x</a:t>
            </a: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轴运动，求其对原点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O</a:t>
            </a: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和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y</a:t>
            </a: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轴上距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O</a:t>
            </a: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点为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l</a:t>
            </a: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的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A</a:t>
            </a: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点的角动量。</a:t>
            </a:r>
          </a:p>
        </p:txBody>
      </p:sp>
      <p:graphicFrame>
        <p:nvGraphicFramePr>
          <p:cNvPr id="93190" name="Object 6"/>
          <p:cNvGraphicFramePr>
            <a:graphicFrameLocks noChangeAspect="1"/>
          </p:cNvGraphicFramePr>
          <p:nvPr/>
        </p:nvGraphicFramePr>
        <p:xfrm>
          <a:off x="609600" y="1571625"/>
          <a:ext cx="3076575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4" name="Equation" r:id="rId3" imgW="1257120" imgH="253800" progId="Equation.DSMT4">
                  <p:embed/>
                </p:oleObj>
              </mc:Choice>
              <mc:Fallback>
                <p:oleObj name="Equation" r:id="rId3" imgW="1257120" imgH="253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571625"/>
                        <a:ext cx="3076575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1" name="Object 7"/>
          <p:cNvGraphicFramePr>
            <a:graphicFrameLocks noChangeAspect="1"/>
          </p:cNvGraphicFramePr>
          <p:nvPr/>
        </p:nvGraphicFramePr>
        <p:xfrm>
          <a:off x="792163" y="2544763"/>
          <a:ext cx="2763837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5" name="Equation" r:id="rId5" imgW="1028520" imgH="279360" progId="Equation.DSMT4">
                  <p:embed/>
                </p:oleObj>
              </mc:Choice>
              <mc:Fallback>
                <p:oleObj name="Equation" r:id="rId5" imgW="1028520" imgH="2793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3" y="2544763"/>
                        <a:ext cx="2763837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2" name="Object 8"/>
          <p:cNvGraphicFramePr>
            <a:graphicFrameLocks noChangeAspect="1"/>
          </p:cNvGraphicFramePr>
          <p:nvPr/>
        </p:nvGraphicFramePr>
        <p:xfrm>
          <a:off x="957263" y="4002088"/>
          <a:ext cx="469423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6" name="公式" r:id="rId7" imgW="2032000" imgH="241300" progId="Equation.3">
                  <p:embed/>
                </p:oleObj>
              </mc:Choice>
              <mc:Fallback>
                <p:oleObj name="公式" r:id="rId7" imgW="2032000" imgH="241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263" y="4002088"/>
                        <a:ext cx="469423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4495800" y="1920875"/>
            <a:ext cx="4343400" cy="1951038"/>
            <a:chOff x="0" y="211"/>
            <a:chExt cx="2736" cy="1639"/>
          </a:xfrm>
        </p:grpSpPr>
        <p:grpSp>
          <p:nvGrpSpPr>
            <p:cNvPr id="38950" name="Group 11"/>
            <p:cNvGrpSpPr>
              <a:grpSpLocks/>
            </p:cNvGrpSpPr>
            <p:nvPr/>
          </p:nvGrpSpPr>
          <p:grpSpPr bwMode="auto">
            <a:xfrm>
              <a:off x="0" y="211"/>
              <a:ext cx="2736" cy="1639"/>
              <a:chOff x="0" y="211"/>
              <a:chExt cx="2736" cy="1639"/>
            </a:xfrm>
          </p:grpSpPr>
          <p:grpSp>
            <p:nvGrpSpPr>
              <p:cNvPr id="38952" name="Group 12"/>
              <p:cNvGrpSpPr>
                <a:grpSpLocks/>
              </p:cNvGrpSpPr>
              <p:nvPr/>
            </p:nvGrpSpPr>
            <p:grpSpPr bwMode="auto">
              <a:xfrm>
                <a:off x="0" y="211"/>
                <a:ext cx="2736" cy="1639"/>
                <a:chOff x="0" y="211"/>
                <a:chExt cx="2736" cy="1639"/>
              </a:xfrm>
            </p:grpSpPr>
            <p:sp>
              <p:nvSpPr>
                <p:cNvPr id="93197" name="Rectangle 13"/>
                <p:cNvSpPr>
                  <a:spLocks noChangeArrowheads="1"/>
                </p:cNvSpPr>
                <p:nvPr/>
              </p:nvSpPr>
              <p:spPr bwMode="auto">
                <a:xfrm>
                  <a:off x="0" y="670"/>
                  <a:ext cx="2736" cy="388"/>
                </a:xfrm>
                <a:prstGeom prst="rect">
                  <a:avLst/>
                </a:prstGeom>
                <a:gradFill rotWithShape="0">
                  <a:gsLst>
                    <a:gs pos="0">
                      <a:schemeClr val="hlink"/>
                    </a:gs>
                    <a:gs pos="100000">
                      <a:schemeClr val="hlink">
                        <a:gamma/>
                        <a:tint val="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grpSp>
              <p:nvGrpSpPr>
                <p:cNvPr id="38958" name="Group 14"/>
                <p:cNvGrpSpPr>
                  <a:grpSpLocks/>
                </p:cNvGrpSpPr>
                <p:nvPr/>
              </p:nvGrpSpPr>
              <p:grpSpPr bwMode="auto">
                <a:xfrm>
                  <a:off x="559" y="211"/>
                  <a:ext cx="1668" cy="1639"/>
                  <a:chOff x="0" y="0"/>
                  <a:chExt cx="1668" cy="1639"/>
                </a:xfrm>
              </p:grpSpPr>
              <p:grpSp>
                <p:nvGrpSpPr>
                  <p:cNvPr id="38959" name="Group 15"/>
                  <p:cNvGrpSpPr>
                    <a:grpSpLocks/>
                  </p:cNvGrpSpPr>
                  <p:nvPr/>
                </p:nvGrpSpPr>
                <p:grpSpPr bwMode="auto">
                  <a:xfrm>
                    <a:off x="414" y="948"/>
                    <a:ext cx="1254" cy="388"/>
                    <a:chOff x="0" y="0"/>
                    <a:chExt cx="1254" cy="388"/>
                  </a:xfrm>
                </p:grpSpPr>
                <p:sp>
                  <p:nvSpPr>
                    <p:cNvPr id="38970" name="Line 1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0" y="36"/>
                      <a:ext cx="1200" cy="1"/>
                    </a:xfrm>
                    <a:prstGeom prst="line">
                      <a:avLst/>
                    </a:prstGeom>
                    <a:noFill/>
                    <a:ln w="11113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8971" name="未知"/>
                    <p:cNvSpPr>
                      <a:spLocks/>
                    </p:cNvSpPr>
                    <p:nvPr/>
                  </p:nvSpPr>
                  <p:spPr bwMode="auto">
                    <a:xfrm>
                      <a:off x="1186" y="0"/>
                      <a:ext cx="68" cy="388"/>
                    </a:xfrm>
                    <a:custGeom>
                      <a:avLst/>
                      <a:gdLst>
                        <a:gd name="T0" fmla="*/ 0 w 68"/>
                        <a:gd name="T1" fmla="*/ 214714 h 80"/>
                        <a:gd name="T2" fmla="*/ 68 w 68"/>
                        <a:gd name="T3" fmla="*/ 96864 h 80"/>
                        <a:gd name="T4" fmla="*/ 0 w 68"/>
                        <a:gd name="T5" fmla="*/ 0 h 80"/>
                        <a:gd name="T6" fmla="*/ 0 w 68"/>
                        <a:gd name="T7" fmla="*/ 214714 h 8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68"/>
                        <a:gd name="T13" fmla="*/ 0 h 80"/>
                        <a:gd name="T14" fmla="*/ 68 w 68"/>
                        <a:gd name="T15" fmla="*/ 80 h 8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68" h="80">
                          <a:moveTo>
                            <a:pt x="0" y="80"/>
                          </a:moveTo>
                          <a:lnTo>
                            <a:pt x="68" y="36"/>
                          </a:lnTo>
                          <a:lnTo>
                            <a:pt x="0" y="0"/>
                          </a:lnTo>
                          <a:lnTo>
                            <a:pt x="0" y="8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8960" name="Group 18"/>
                  <p:cNvGrpSpPr>
                    <a:grpSpLocks/>
                  </p:cNvGrpSpPr>
                  <p:nvPr/>
                </p:nvGrpSpPr>
                <p:grpSpPr bwMode="auto">
                  <a:xfrm>
                    <a:off x="375" y="55"/>
                    <a:ext cx="75" cy="924"/>
                    <a:chOff x="0" y="0"/>
                    <a:chExt cx="75" cy="924"/>
                  </a:xfrm>
                </p:grpSpPr>
                <p:sp>
                  <p:nvSpPr>
                    <p:cNvPr id="38968" name="Line 1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4" y="51"/>
                      <a:ext cx="1" cy="873"/>
                    </a:xfrm>
                    <a:prstGeom prst="line">
                      <a:avLst/>
                    </a:prstGeom>
                    <a:noFill/>
                    <a:ln w="11113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8969" name="未知"/>
                    <p:cNvSpPr>
                      <a:spLocks/>
                    </p:cNvSpPr>
                    <p:nvPr/>
                  </p:nvSpPr>
                  <p:spPr bwMode="auto">
                    <a:xfrm>
                      <a:off x="0" y="0"/>
                      <a:ext cx="75" cy="388"/>
                    </a:xfrm>
                    <a:custGeom>
                      <a:avLst/>
                      <a:gdLst>
                        <a:gd name="T0" fmla="*/ 75 w 75"/>
                        <a:gd name="T1" fmla="*/ 309619 h 73"/>
                        <a:gd name="T2" fmla="*/ 34 w 75"/>
                        <a:gd name="T3" fmla="*/ 0 h 73"/>
                        <a:gd name="T4" fmla="*/ 0 w 75"/>
                        <a:gd name="T5" fmla="*/ 309619 h 73"/>
                        <a:gd name="T6" fmla="*/ 75 w 75"/>
                        <a:gd name="T7" fmla="*/ 309619 h 7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75"/>
                        <a:gd name="T13" fmla="*/ 0 h 73"/>
                        <a:gd name="T14" fmla="*/ 75 w 75"/>
                        <a:gd name="T15" fmla="*/ 73 h 7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75" h="73">
                          <a:moveTo>
                            <a:pt x="75" y="73"/>
                          </a:moveTo>
                          <a:lnTo>
                            <a:pt x="34" y="0"/>
                          </a:lnTo>
                          <a:lnTo>
                            <a:pt x="0" y="73"/>
                          </a:lnTo>
                          <a:lnTo>
                            <a:pt x="75" y="73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8961" name="Group 21"/>
                  <p:cNvGrpSpPr>
                    <a:grpSpLocks/>
                  </p:cNvGrpSpPr>
                  <p:nvPr/>
                </p:nvGrpSpPr>
                <p:grpSpPr bwMode="auto">
                  <a:xfrm>
                    <a:off x="0" y="968"/>
                    <a:ext cx="416" cy="671"/>
                    <a:chOff x="0" y="0"/>
                    <a:chExt cx="416" cy="671"/>
                  </a:xfrm>
                </p:grpSpPr>
                <p:sp>
                  <p:nvSpPr>
                    <p:cNvPr id="38966" name="Line 22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4" y="0"/>
                      <a:ext cx="382" cy="327"/>
                    </a:xfrm>
                    <a:prstGeom prst="line">
                      <a:avLst/>
                    </a:prstGeom>
                    <a:noFill/>
                    <a:ln w="11113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8967" name="未知"/>
                    <p:cNvSpPr>
                      <a:spLocks/>
                    </p:cNvSpPr>
                    <p:nvPr/>
                  </p:nvSpPr>
                  <p:spPr bwMode="auto">
                    <a:xfrm>
                      <a:off x="0" y="283"/>
                      <a:ext cx="75" cy="388"/>
                    </a:xfrm>
                    <a:custGeom>
                      <a:avLst/>
                      <a:gdLst>
                        <a:gd name="T0" fmla="*/ 34 w 75"/>
                        <a:gd name="T1" fmla="*/ 0 h 73"/>
                        <a:gd name="T2" fmla="*/ 0 w 75"/>
                        <a:gd name="T3" fmla="*/ 309619 h 73"/>
                        <a:gd name="T4" fmla="*/ 75 w 75"/>
                        <a:gd name="T5" fmla="*/ 250605 h 73"/>
                        <a:gd name="T6" fmla="*/ 34 w 75"/>
                        <a:gd name="T7" fmla="*/ 0 h 7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75"/>
                        <a:gd name="T13" fmla="*/ 0 h 73"/>
                        <a:gd name="T14" fmla="*/ 75 w 75"/>
                        <a:gd name="T15" fmla="*/ 73 h 7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75" h="73">
                          <a:moveTo>
                            <a:pt x="34" y="0"/>
                          </a:moveTo>
                          <a:lnTo>
                            <a:pt x="0" y="73"/>
                          </a:lnTo>
                          <a:lnTo>
                            <a:pt x="75" y="59"/>
                          </a:lnTo>
                          <a:lnTo>
                            <a:pt x="34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8962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326" y="826"/>
                    <a:ext cx="112" cy="23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en-US" altLang="zh-CN" sz="1800" b="0" i="1">
                        <a:solidFill>
                          <a:srgbClr val="000000"/>
                        </a:solidFill>
                        <a:ea typeface="宋体" pitchFamily="2" charset="-122"/>
                      </a:rPr>
                      <a:t>o</a:t>
                    </a:r>
                    <a:endParaRPr lang="en-US" altLang="zh-CN" sz="1800" b="0">
                      <a:ea typeface="宋体" pitchFamily="2" charset="-122"/>
                    </a:endParaRPr>
                  </a:p>
                </p:txBody>
              </p:sp>
              <p:sp>
                <p:nvSpPr>
                  <p:cNvPr id="38963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1502" y="688"/>
                    <a:ext cx="99" cy="23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en-US" altLang="zh-CN" sz="1800" b="0" i="1">
                        <a:solidFill>
                          <a:srgbClr val="000000"/>
                        </a:solidFill>
                        <a:ea typeface="宋体" pitchFamily="2" charset="-122"/>
                      </a:rPr>
                      <a:t>x</a:t>
                    </a:r>
                    <a:endParaRPr lang="en-US" altLang="zh-CN" sz="1800" b="0">
                      <a:ea typeface="宋体" pitchFamily="2" charset="-122"/>
                    </a:endParaRPr>
                  </a:p>
                </p:txBody>
              </p:sp>
              <p:sp>
                <p:nvSpPr>
                  <p:cNvPr id="38964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540" y="0"/>
                    <a:ext cx="99" cy="23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en-US" altLang="zh-CN" sz="1800" b="0" i="1">
                        <a:solidFill>
                          <a:srgbClr val="000000"/>
                        </a:solidFill>
                        <a:ea typeface="宋体" pitchFamily="2" charset="-122"/>
                      </a:rPr>
                      <a:t>y</a:t>
                    </a:r>
                    <a:endParaRPr lang="en-US" altLang="zh-CN" sz="1800" b="0">
                      <a:ea typeface="宋体" pitchFamily="2" charset="-122"/>
                    </a:endParaRPr>
                  </a:p>
                </p:txBody>
              </p:sp>
              <p:sp>
                <p:nvSpPr>
                  <p:cNvPr id="38965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1026"/>
                    <a:ext cx="87" cy="36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en-US" altLang="zh-CN" sz="2800" b="0" i="1">
                        <a:solidFill>
                          <a:srgbClr val="000000"/>
                        </a:solidFill>
                        <a:ea typeface="宋体" pitchFamily="2" charset="-122"/>
                      </a:rPr>
                      <a:t>z</a:t>
                    </a:r>
                    <a:endParaRPr lang="en-US" altLang="zh-CN" sz="2800" b="0">
                      <a:ea typeface="宋体" pitchFamily="2" charset="-122"/>
                    </a:endParaRPr>
                  </a:p>
                </p:txBody>
              </p:sp>
            </p:grpSp>
          </p:grpSp>
          <p:sp>
            <p:nvSpPr>
              <p:cNvPr id="38953" name="Line 28"/>
              <p:cNvSpPr>
                <a:spLocks noChangeShapeType="1"/>
              </p:cNvSpPr>
              <p:nvPr/>
            </p:nvSpPr>
            <p:spPr bwMode="auto">
              <a:xfrm>
                <a:off x="768" y="745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54" name="Line 29"/>
              <p:cNvSpPr>
                <a:spLocks noChangeShapeType="1"/>
              </p:cNvSpPr>
              <p:nvPr/>
            </p:nvSpPr>
            <p:spPr bwMode="auto">
              <a:xfrm>
                <a:off x="798" y="118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55" name="Line 30"/>
              <p:cNvSpPr>
                <a:spLocks noChangeShapeType="1"/>
              </p:cNvSpPr>
              <p:nvPr/>
            </p:nvSpPr>
            <p:spPr bwMode="auto">
              <a:xfrm>
                <a:off x="864" y="736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38956" name="Object 31"/>
              <p:cNvGraphicFramePr>
                <a:graphicFrameLocks noChangeAspect="1"/>
              </p:cNvGraphicFramePr>
              <p:nvPr/>
            </p:nvGraphicFramePr>
            <p:xfrm>
              <a:off x="750" y="832"/>
              <a:ext cx="124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987" r:id="rId9" imgW="88784" imgH="177569" progId="Equation.3">
                      <p:embed/>
                    </p:oleObj>
                  </mc:Choice>
                  <mc:Fallback>
                    <p:oleObj r:id="rId9" imgW="88784" imgH="177569" progId="Equation.3">
                      <p:embed/>
                      <p:pic>
                        <p:nvPicPr>
                          <p:cNvPr id="0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0" y="832"/>
                            <a:ext cx="124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8951" name="Text Box 32"/>
            <p:cNvSpPr txBox="1">
              <a:spLocks noChangeArrowheads="1"/>
            </p:cNvSpPr>
            <p:nvPr/>
          </p:nvSpPr>
          <p:spPr bwMode="auto">
            <a:xfrm>
              <a:off x="768" y="450"/>
              <a:ext cx="27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800" b="0">
                  <a:ea typeface="宋体" pitchFamily="2" charset="-122"/>
                </a:rPr>
                <a:t>A</a:t>
              </a:r>
            </a:p>
          </p:txBody>
        </p:sp>
      </p:grpSp>
      <p:grpSp>
        <p:nvGrpSpPr>
          <p:cNvPr id="9" name="Group 33"/>
          <p:cNvGrpSpPr>
            <a:grpSpLocks/>
          </p:cNvGrpSpPr>
          <p:nvPr/>
        </p:nvGrpSpPr>
        <p:grpSpPr bwMode="auto">
          <a:xfrm>
            <a:off x="6986588" y="3008313"/>
            <a:ext cx="768350" cy="649287"/>
            <a:chOff x="0" y="0"/>
            <a:chExt cx="484" cy="545"/>
          </a:xfrm>
        </p:grpSpPr>
        <p:sp>
          <p:nvSpPr>
            <p:cNvPr id="93218" name="Oval 34"/>
            <p:cNvSpPr>
              <a:spLocks noChangeArrowheads="1"/>
            </p:cNvSpPr>
            <p:nvPr/>
          </p:nvSpPr>
          <p:spPr bwMode="auto">
            <a:xfrm>
              <a:off x="0" y="0"/>
              <a:ext cx="116" cy="545"/>
            </a:xfrm>
            <a:prstGeom prst="ellipse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38946" name="Group 35"/>
            <p:cNvGrpSpPr>
              <a:grpSpLocks/>
            </p:cNvGrpSpPr>
            <p:nvPr/>
          </p:nvGrpSpPr>
          <p:grpSpPr bwMode="auto">
            <a:xfrm>
              <a:off x="93" y="9"/>
              <a:ext cx="389" cy="432"/>
              <a:chOff x="0" y="0"/>
              <a:chExt cx="389" cy="432"/>
            </a:xfrm>
          </p:grpSpPr>
          <p:sp>
            <p:nvSpPr>
              <p:cNvPr id="38948" name="Rectangle 36"/>
              <p:cNvSpPr>
                <a:spLocks noChangeArrowheads="1"/>
              </p:cNvSpPr>
              <p:nvPr/>
            </p:nvSpPr>
            <p:spPr bwMode="auto">
              <a:xfrm>
                <a:off x="0" y="44"/>
                <a:ext cx="280" cy="388"/>
              </a:xfrm>
              <a:prstGeom prst="rect">
                <a:avLst/>
              </a:prstGeom>
              <a:solidFill>
                <a:srgbClr val="66FF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49" name="未知"/>
              <p:cNvSpPr>
                <a:spLocks/>
              </p:cNvSpPr>
              <p:nvPr/>
            </p:nvSpPr>
            <p:spPr bwMode="auto">
              <a:xfrm>
                <a:off x="266" y="0"/>
                <a:ext cx="123" cy="388"/>
              </a:xfrm>
              <a:custGeom>
                <a:avLst/>
                <a:gdLst>
                  <a:gd name="T0" fmla="*/ 0 w 123"/>
                  <a:gd name="T1" fmla="*/ 37195 h 124"/>
                  <a:gd name="T2" fmla="*/ 123 w 123"/>
                  <a:gd name="T3" fmla="*/ 17341 h 124"/>
                  <a:gd name="T4" fmla="*/ 0 w 123"/>
                  <a:gd name="T5" fmla="*/ 0 h 124"/>
                  <a:gd name="T6" fmla="*/ 0 w 123"/>
                  <a:gd name="T7" fmla="*/ 37195 h 1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3"/>
                  <a:gd name="T13" fmla="*/ 0 h 124"/>
                  <a:gd name="T14" fmla="*/ 123 w 123"/>
                  <a:gd name="T15" fmla="*/ 124 h 1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3" h="124">
                    <a:moveTo>
                      <a:pt x="0" y="124"/>
                    </a:moveTo>
                    <a:lnTo>
                      <a:pt x="123" y="58"/>
                    </a:lnTo>
                    <a:lnTo>
                      <a:pt x="0" y="0"/>
                    </a:lnTo>
                    <a:lnTo>
                      <a:pt x="0" y="124"/>
                    </a:lnTo>
                    <a:close/>
                  </a:path>
                </a:pathLst>
              </a:custGeom>
              <a:solidFill>
                <a:srgbClr val="66FF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aphicFrame>
          <p:nvGraphicFramePr>
            <p:cNvPr id="38947" name="Object 38"/>
            <p:cNvGraphicFramePr>
              <a:graphicFrameLocks noChangeAspect="1"/>
            </p:cNvGraphicFramePr>
            <p:nvPr/>
          </p:nvGraphicFramePr>
          <p:xfrm>
            <a:off x="336" y="144"/>
            <a:ext cx="148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88" r:id="rId11" imgW="127000" imgH="177800" progId="Equation.3">
                    <p:embed/>
                  </p:oleObj>
                </mc:Choice>
                <mc:Fallback>
                  <p:oleObj r:id="rId11" imgW="127000" imgH="17780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144"/>
                          <a:ext cx="148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39"/>
          <p:cNvGrpSpPr>
            <a:grpSpLocks/>
          </p:cNvGrpSpPr>
          <p:nvPr/>
        </p:nvGrpSpPr>
        <p:grpSpPr bwMode="auto">
          <a:xfrm>
            <a:off x="6065838" y="3019425"/>
            <a:ext cx="930275" cy="514350"/>
            <a:chOff x="0" y="0"/>
            <a:chExt cx="586" cy="432"/>
          </a:xfrm>
        </p:grpSpPr>
        <p:grpSp>
          <p:nvGrpSpPr>
            <p:cNvPr id="38941" name="Group 40"/>
            <p:cNvGrpSpPr>
              <a:grpSpLocks/>
            </p:cNvGrpSpPr>
            <p:nvPr/>
          </p:nvGrpSpPr>
          <p:grpSpPr bwMode="auto">
            <a:xfrm>
              <a:off x="0" y="0"/>
              <a:ext cx="586" cy="432"/>
              <a:chOff x="0" y="0"/>
              <a:chExt cx="586" cy="432"/>
            </a:xfrm>
          </p:grpSpPr>
          <p:sp>
            <p:nvSpPr>
              <p:cNvPr id="38943" name="Rectangle 41"/>
              <p:cNvSpPr>
                <a:spLocks noChangeArrowheads="1"/>
              </p:cNvSpPr>
              <p:nvPr/>
            </p:nvSpPr>
            <p:spPr bwMode="auto">
              <a:xfrm>
                <a:off x="0" y="44"/>
                <a:ext cx="477" cy="38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44" name="未知"/>
              <p:cNvSpPr>
                <a:spLocks/>
              </p:cNvSpPr>
              <p:nvPr/>
            </p:nvSpPr>
            <p:spPr bwMode="auto">
              <a:xfrm>
                <a:off x="463" y="0"/>
                <a:ext cx="123" cy="388"/>
              </a:xfrm>
              <a:custGeom>
                <a:avLst/>
                <a:gdLst>
                  <a:gd name="T0" fmla="*/ 0 w 123"/>
                  <a:gd name="T1" fmla="*/ 37195 h 124"/>
                  <a:gd name="T2" fmla="*/ 123 w 123"/>
                  <a:gd name="T3" fmla="*/ 17341 h 124"/>
                  <a:gd name="T4" fmla="*/ 0 w 123"/>
                  <a:gd name="T5" fmla="*/ 0 h 124"/>
                  <a:gd name="T6" fmla="*/ 0 w 123"/>
                  <a:gd name="T7" fmla="*/ 37195 h 1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3"/>
                  <a:gd name="T13" fmla="*/ 0 h 124"/>
                  <a:gd name="T14" fmla="*/ 123 w 123"/>
                  <a:gd name="T15" fmla="*/ 124 h 1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3" h="124">
                    <a:moveTo>
                      <a:pt x="0" y="124"/>
                    </a:moveTo>
                    <a:lnTo>
                      <a:pt x="123" y="58"/>
                    </a:lnTo>
                    <a:lnTo>
                      <a:pt x="0" y="0"/>
                    </a:lnTo>
                    <a:lnTo>
                      <a:pt x="0" y="124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aphicFrame>
          <p:nvGraphicFramePr>
            <p:cNvPr id="38942" name="Object 43"/>
            <p:cNvGraphicFramePr>
              <a:graphicFrameLocks noChangeAspect="1"/>
            </p:cNvGraphicFramePr>
            <p:nvPr/>
          </p:nvGraphicFramePr>
          <p:xfrm>
            <a:off x="192" y="0"/>
            <a:ext cx="220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89" r:id="rId13" imgW="139943" imgH="228998" progId="Equation.3">
                    <p:embed/>
                  </p:oleObj>
                </mc:Choice>
                <mc:Fallback>
                  <p:oleObj r:id="rId13" imgW="139943" imgH="228998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0"/>
                          <a:ext cx="220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44"/>
          <p:cNvGrpSpPr>
            <a:grpSpLocks/>
          </p:cNvGrpSpPr>
          <p:nvPr/>
        </p:nvGrpSpPr>
        <p:grpSpPr bwMode="auto">
          <a:xfrm>
            <a:off x="6054725" y="2462213"/>
            <a:ext cx="974725" cy="889000"/>
            <a:chOff x="0" y="0"/>
            <a:chExt cx="614" cy="747"/>
          </a:xfrm>
        </p:grpSpPr>
        <p:grpSp>
          <p:nvGrpSpPr>
            <p:cNvPr id="38937" name="Group 45"/>
            <p:cNvGrpSpPr>
              <a:grpSpLocks/>
            </p:cNvGrpSpPr>
            <p:nvPr/>
          </p:nvGrpSpPr>
          <p:grpSpPr bwMode="auto">
            <a:xfrm>
              <a:off x="0" y="68"/>
              <a:ext cx="614" cy="679"/>
              <a:chOff x="0" y="0"/>
              <a:chExt cx="614" cy="679"/>
            </a:xfrm>
          </p:grpSpPr>
          <p:sp>
            <p:nvSpPr>
              <p:cNvPr id="38939" name="未知"/>
              <p:cNvSpPr>
                <a:spLocks/>
              </p:cNvSpPr>
              <p:nvPr/>
            </p:nvSpPr>
            <p:spPr bwMode="auto">
              <a:xfrm>
                <a:off x="0" y="0"/>
                <a:ext cx="532" cy="388"/>
              </a:xfrm>
              <a:custGeom>
                <a:avLst/>
                <a:gdLst>
                  <a:gd name="T0" fmla="*/ 14 w 532"/>
                  <a:gd name="T1" fmla="*/ 0 h 379"/>
                  <a:gd name="T2" fmla="*/ 0 w 532"/>
                  <a:gd name="T3" fmla="*/ 27 h 379"/>
                  <a:gd name="T4" fmla="*/ 518 w 532"/>
                  <a:gd name="T5" fmla="*/ 426 h 379"/>
                  <a:gd name="T6" fmla="*/ 532 w 532"/>
                  <a:gd name="T7" fmla="*/ 401 h 379"/>
                  <a:gd name="T8" fmla="*/ 14 w 532"/>
                  <a:gd name="T9" fmla="*/ 0 h 37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32"/>
                  <a:gd name="T16" fmla="*/ 0 h 379"/>
                  <a:gd name="T17" fmla="*/ 532 w 532"/>
                  <a:gd name="T18" fmla="*/ 379 h 37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32" h="379">
                    <a:moveTo>
                      <a:pt x="14" y="0"/>
                    </a:moveTo>
                    <a:lnTo>
                      <a:pt x="0" y="22"/>
                    </a:lnTo>
                    <a:lnTo>
                      <a:pt x="518" y="379"/>
                    </a:lnTo>
                    <a:lnTo>
                      <a:pt x="532" y="35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CC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8940" name="未知"/>
              <p:cNvSpPr>
                <a:spLocks/>
              </p:cNvSpPr>
              <p:nvPr/>
            </p:nvSpPr>
            <p:spPr bwMode="auto">
              <a:xfrm>
                <a:off x="471" y="291"/>
                <a:ext cx="143" cy="388"/>
              </a:xfrm>
              <a:custGeom>
                <a:avLst/>
                <a:gdLst>
                  <a:gd name="T0" fmla="*/ 0 w 143"/>
                  <a:gd name="T1" fmla="*/ 32964 h 124"/>
                  <a:gd name="T2" fmla="*/ 143 w 143"/>
                  <a:gd name="T3" fmla="*/ 37195 h 124"/>
                  <a:gd name="T4" fmla="*/ 68 w 143"/>
                  <a:gd name="T5" fmla="*/ 0 h 124"/>
                  <a:gd name="T6" fmla="*/ 0 w 143"/>
                  <a:gd name="T7" fmla="*/ 32964 h 1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3"/>
                  <a:gd name="T13" fmla="*/ 0 h 124"/>
                  <a:gd name="T14" fmla="*/ 143 w 143"/>
                  <a:gd name="T15" fmla="*/ 124 h 1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3" h="124">
                    <a:moveTo>
                      <a:pt x="0" y="110"/>
                    </a:moveTo>
                    <a:lnTo>
                      <a:pt x="143" y="124"/>
                    </a:lnTo>
                    <a:lnTo>
                      <a:pt x="68" y="0"/>
                    </a:lnTo>
                    <a:lnTo>
                      <a:pt x="0" y="110"/>
                    </a:lnTo>
                    <a:close/>
                  </a:path>
                </a:pathLst>
              </a:custGeom>
              <a:solidFill>
                <a:srgbClr val="CC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aphicFrame>
          <p:nvGraphicFramePr>
            <p:cNvPr id="38938" name="Object 48"/>
            <p:cNvGraphicFramePr>
              <a:graphicFrameLocks noChangeAspect="1"/>
            </p:cNvGraphicFramePr>
            <p:nvPr/>
          </p:nvGraphicFramePr>
          <p:xfrm>
            <a:off x="336" y="0"/>
            <a:ext cx="217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90" r:id="rId15" imgW="152466" imgH="215994" progId="Equation.3">
                    <p:embed/>
                  </p:oleObj>
                </mc:Choice>
                <mc:Fallback>
                  <p:oleObj r:id="rId15" imgW="152466" imgH="215994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0"/>
                          <a:ext cx="217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Group 49"/>
          <p:cNvGrpSpPr>
            <a:grpSpLocks/>
          </p:cNvGrpSpPr>
          <p:nvPr/>
        </p:nvGrpSpPr>
        <p:grpSpPr bwMode="auto">
          <a:xfrm>
            <a:off x="5915025" y="2479675"/>
            <a:ext cx="2182813" cy="1136650"/>
            <a:chOff x="0" y="0"/>
            <a:chExt cx="1375" cy="954"/>
          </a:xfrm>
        </p:grpSpPr>
        <p:sp>
          <p:nvSpPr>
            <p:cNvPr id="38933" name="Line 50"/>
            <p:cNvSpPr>
              <a:spLocks noChangeShapeType="1"/>
            </p:cNvSpPr>
            <p:nvPr/>
          </p:nvSpPr>
          <p:spPr bwMode="auto">
            <a:xfrm>
              <a:off x="0" y="0"/>
              <a:ext cx="1296" cy="864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38934" name="Group 51"/>
            <p:cNvGrpSpPr>
              <a:grpSpLocks/>
            </p:cNvGrpSpPr>
            <p:nvPr/>
          </p:nvGrpSpPr>
          <p:grpSpPr bwMode="auto">
            <a:xfrm>
              <a:off x="1155" y="537"/>
              <a:ext cx="220" cy="417"/>
              <a:chOff x="0" y="0"/>
              <a:chExt cx="220" cy="417"/>
            </a:xfrm>
          </p:grpSpPr>
          <p:sp>
            <p:nvSpPr>
              <p:cNvPr id="38935" name="Rectangle 52"/>
              <p:cNvSpPr>
                <a:spLocks noChangeArrowheads="1"/>
              </p:cNvSpPr>
              <p:nvPr/>
            </p:nvSpPr>
            <p:spPr bwMode="auto">
              <a:xfrm>
                <a:off x="103" y="0"/>
                <a:ext cx="117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r>
                  <a:rPr lang="en-US" altLang="zh-CN" sz="1800" b="0" i="1">
                    <a:solidFill>
                      <a:srgbClr val="000000"/>
                    </a:solidFill>
                    <a:latin typeface="Symbol" pitchFamily="18" charset="2"/>
                    <a:ea typeface="宋体" pitchFamily="2" charset="-122"/>
                  </a:rPr>
                  <a:t>f</a:t>
                </a:r>
                <a:endParaRPr lang="en-US" altLang="zh-CN" sz="1800" b="0">
                  <a:ea typeface="宋体" pitchFamily="2" charset="-122"/>
                </a:endParaRPr>
              </a:p>
            </p:txBody>
          </p:sp>
          <p:sp>
            <p:nvSpPr>
              <p:cNvPr id="38936" name="未知"/>
              <p:cNvSpPr>
                <a:spLocks/>
              </p:cNvSpPr>
              <p:nvPr/>
            </p:nvSpPr>
            <p:spPr bwMode="auto">
              <a:xfrm>
                <a:off x="0" y="29"/>
                <a:ext cx="116" cy="388"/>
              </a:xfrm>
              <a:custGeom>
                <a:avLst/>
                <a:gdLst>
                  <a:gd name="T0" fmla="*/ 102 w 116"/>
                  <a:gd name="T1" fmla="*/ 0 h 211"/>
                  <a:gd name="T2" fmla="*/ 89 w 116"/>
                  <a:gd name="T3" fmla="*/ 149 h 211"/>
                  <a:gd name="T4" fmla="*/ 102 w 116"/>
                  <a:gd name="T5" fmla="*/ 1528 h 211"/>
                  <a:gd name="T6" fmla="*/ 102 w 116"/>
                  <a:gd name="T7" fmla="*/ 2289 h 211"/>
                  <a:gd name="T8" fmla="*/ 109 w 116"/>
                  <a:gd name="T9" fmla="*/ 2289 h 211"/>
                  <a:gd name="T10" fmla="*/ 102 w 116"/>
                  <a:gd name="T11" fmla="*/ 2151 h 211"/>
                  <a:gd name="T12" fmla="*/ 95 w 116"/>
                  <a:gd name="T13" fmla="*/ 2905 h 211"/>
                  <a:gd name="T14" fmla="*/ 75 w 116"/>
                  <a:gd name="T15" fmla="*/ 3216 h 211"/>
                  <a:gd name="T16" fmla="*/ 48 w 116"/>
                  <a:gd name="T17" fmla="*/ 3656 h 211"/>
                  <a:gd name="T18" fmla="*/ 20 w 116"/>
                  <a:gd name="T19" fmla="*/ 3979 h 211"/>
                  <a:gd name="T20" fmla="*/ 0 w 116"/>
                  <a:gd name="T21" fmla="*/ 4115 h 211"/>
                  <a:gd name="T22" fmla="*/ 7 w 116"/>
                  <a:gd name="T23" fmla="*/ 4433 h 211"/>
                  <a:gd name="T24" fmla="*/ 27 w 116"/>
                  <a:gd name="T25" fmla="*/ 4264 h 211"/>
                  <a:gd name="T26" fmla="*/ 54 w 116"/>
                  <a:gd name="T27" fmla="*/ 3979 h 211"/>
                  <a:gd name="T28" fmla="*/ 82 w 116"/>
                  <a:gd name="T29" fmla="*/ 3514 h 211"/>
                  <a:gd name="T30" fmla="*/ 102 w 116"/>
                  <a:gd name="T31" fmla="*/ 3053 h 211"/>
                  <a:gd name="T32" fmla="*/ 109 w 116"/>
                  <a:gd name="T33" fmla="*/ 2438 h 211"/>
                  <a:gd name="T34" fmla="*/ 116 w 116"/>
                  <a:gd name="T35" fmla="*/ 2289 h 211"/>
                  <a:gd name="T36" fmla="*/ 116 w 116"/>
                  <a:gd name="T37" fmla="*/ 2289 h 211"/>
                  <a:gd name="T38" fmla="*/ 116 w 116"/>
                  <a:gd name="T39" fmla="*/ 1528 h 211"/>
                  <a:gd name="T40" fmla="*/ 102 w 116"/>
                  <a:gd name="T41" fmla="*/ 0 h 211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16"/>
                  <a:gd name="T64" fmla="*/ 0 h 211"/>
                  <a:gd name="T65" fmla="*/ 116 w 116"/>
                  <a:gd name="T66" fmla="*/ 211 h 211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16" h="211">
                    <a:moveTo>
                      <a:pt x="102" y="0"/>
                    </a:moveTo>
                    <a:lnTo>
                      <a:pt x="89" y="7"/>
                    </a:lnTo>
                    <a:lnTo>
                      <a:pt x="102" y="73"/>
                    </a:lnTo>
                    <a:lnTo>
                      <a:pt x="102" y="109"/>
                    </a:lnTo>
                    <a:lnTo>
                      <a:pt x="109" y="109"/>
                    </a:lnTo>
                    <a:lnTo>
                      <a:pt x="102" y="102"/>
                    </a:lnTo>
                    <a:lnTo>
                      <a:pt x="95" y="138"/>
                    </a:lnTo>
                    <a:lnTo>
                      <a:pt x="75" y="153"/>
                    </a:lnTo>
                    <a:lnTo>
                      <a:pt x="48" y="174"/>
                    </a:lnTo>
                    <a:lnTo>
                      <a:pt x="20" y="189"/>
                    </a:lnTo>
                    <a:lnTo>
                      <a:pt x="0" y="196"/>
                    </a:lnTo>
                    <a:lnTo>
                      <a:pt x="7" y="211"/>
                    </a:lnTo>
                    <a:lnTo>
                      <a:pt x="27" y="203"/>
                    </a:lnTo>
                    <a:lnTo>
                      <a:pt x="54" y="189"/>
                    </a:lnTo>
                    <a:lnTo>
                      <a:pt x="82" y="167"/>
                    </a:lnTo>
                    <a:lnTo>
                      <a:pt x="102" y="145"/>
                    </a:lnTo>
                    <a:lnTo>
                      <a:pt x="109" y="116"/>
                    </a:lnTo>
                    <a:lnTo>
                      <a:pt x="116" y="109"/>
                    </a:lnTo>
                    <a:lnTo>
                      <a:pt x="116" y="73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93238" name="Object 54"/>
          <p:cNvGraphicFramePr>
            <a:graphicFrameLocks noChangeAspect="1"/>
          </p:cNvGraphicFramePr>
          <p:nvPr/>
        </p:nvGraphicFramePr>
        <p:xfrm>
          <a:off x="1476375" y="3100388"/>
          <a:ext cx="224790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91" name="Equation" r:id="rId17" imgW="838080" imgH="228600" progId="Equation.DSMT4">
                  <p:embed/>
                </p:oleObj>
              </mc:Choice>
              <mc:Fallback>
                <p:oleObj name="Equation" r:id="rId17" imgW="838080" imgH="22860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100388"/>
                        <a:ext cx="2247900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39" name="Object 55"/>
          <p:cNvGraphicFramePr>
            <a:graphicFrameLocks noChangeAspect="1"/>
          </p:cNvGraphicFramePr>
          <p:nvPr/>
        </p:nvGraphicFramePr>
        <p:xfrm>
          <a:off x="1476375" y="3598863"/>
          <a:ext cx="1020763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92" name="Equation" r:id="rId19" imgW="380880" imgH="177480" progId="Equation.DSMT4">
                  <p:embed/>
                </p:oleObj>
              </mc:Choice>
              <mc:Fallback>
                <p:oleObj name="Equation" r:id="rId19" imgW="380880" imgH="177480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598863"/>
                        <a:ext cx="1020763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40" name="Text Box 56"/>
          <p:cNvSpPr txBox="1">
            <a:spLocks noChangeArrowheads="1"/>
          </p:cNvSpPr>
          <p:nvPr/>
        </p:nvSpPr>
        <p:spPr bwMode="auto">
          <a:xfrm>
            <a:off x="833438" y="2093913"/>
            <a:ext cx="28019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（</a:t>
            </a:r>
            <a:r>
              <a:rPr lang="en-US" altLang="zh-CN" sz="1800">
                <a:latin typeface="华文中宋" pitchFamily="2" charset="-122"/>
                <a:ea typeface="华文中宋" pitchFamily="2" charset="-122"/>
              </a:rPr>
              <a:t>2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）对于</a:t>
            </a:r>
            <a:r>
              <a:rPr lang="en-US" altLang="zh-CN" sz="1800">
                <a:latin typeface="华文中宋" pitchFamily="2" charset="-122"/>
                <a:ea typeface="华文中宋" pitchFamily="2" charset="-122"/>
              </a:rPr>
              <a:t>A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点：</a:t>
            </a:r>
          </a:p>
        </p:txBody>
      </p:sp>
      <p:grpSp>
        <p:nvGrpSpPr>
          <p:cNvPr id="17" name="Group 57"/>
          <p:cNvGrpSpPr>
            <a:grpSpLocks/>
          </p:cNvGrpSpPr>
          <p:nvPr/>
        </p:nvGrpSpPr>
        <p:grpSpPr bwMode="auto">
          <a:xfrm>
            <a:off x="5576888" y="3087688"/>
            <a:ext cx="622300" cy="511175"/>
            <a:chOff x="0" y="0"/>
            <a:chExt cx="392" cy="430"/>
          </a:xfrm>
        </p:grpSpPr>
        <p:sp>
          <p:nvSpPr>
            <p:cNvPr id="38931" name="Line 58"/>
            <p:cNvSpPr>
              <a:spLocks noChangeShapeType="1"/>
            </p:cNvSpPr>
            <p:nvPr/>
          </p:nvSpPr>
          <p:spPr bwMode="auto">
            <a:xfrm flipH="1">
              <a:off x="0" y="0"/>
              <a:ext cx="288" cy="24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38932" name="Object 59"/>
            <p:cNvGraphicFramePr>
              <a:graphicFrameLocks noChangeAspect="1"/>
            </p:cNvGraphicFramePr>
            <p:nvPr/>
          </p:nvGraphicFramePr>
          <p:xfrm>
            <a:off x="183" y="126"/>
            <a:ext cx="209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93" name="Equation" r:id="rId21" imgW="139680" imgH="203040" progId="Equation.DSMT4">
                    <p:embed/>
                  </p:oleObj>
                </mc:Choice>
                <mc:Fallback>
                  <p:oleObj name="Equation" r:id="rId21" imgW="139680" imgH="203040" progId="Equation.DSMT4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" y="126"/>
                          <a:ext cx="209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Group 61"/>
          <p:cNvGrpSpPr>
            <a:grpSpLocks/>
          </p:cNvGrpSpPr>
          <p:nvPr/>
        </p:nvGrpSpPr>
        <p:grpSpPr bwMode="auto">
          <a:xfrm>
            <a:off x="304800" y="1160463"/>
            <a:ext cx="8588375" cy="368300"/>
            <a:chOff x="192" y="975"/>
            <a:chExt cx="5331" cy="310"/>
          </a:xfrm>
        </p:grpSpPr>
        <p:sp>
          <p:nvSpPr>
            <p:cNvPr id="38928" name="Text Box 3"/>
            <p:cNvSpPr txBox="1">
              <a:spLocks noChangeArrowheads="1"/>
            </p:cNvSpPr>
            <p:nvPr/>
          </p:nvSpPr>
          <p:spPr bwMode="auto">
            <a:xfrm>
              <a:off x="192" y="975"/>
              <a:ext cx="533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zh-CN" altLang="en-US" sz="1800">
                  <a:latin typeface="华文中宋" pitchFamily="2" charset="-122"/>
                  <a:ea typeface="华文中宋" pitchFamily="2" charset="-122"/>
                </a:rPr>
                <a:t>解</a:t>
              </a:r>
              <a:r>
                <a:rPr lang="en-US" altLang="zh-CN" sz="1800">
                  <a:latin typeface="华文中宋" pitchFamily="2" charset="-122"/>
                  <a:ea typeface="华文中宋" pitchFamily="2" charset="-122"/>
                </a:rPr>
                <a:t>:  </a:t>
              </a:r>
              <a:r>
                <a:rPr lang="zh-CN" altLang="en-US" sz="1800">
                  <a:latin typeface="华文中宋" pitchFamily="2" charset="-122"/>
                  <a:ea typeface="华文中宋" pitchFamily="2" charset="-122"/>
                </a:rPr>
                <a:t>（</a:t>
              </a:r>
              <a:r>
                <a:rPr lang="en-US" altLang="zh-CN" sz="1800">
                  <a:latin typeface="华文中宋" pitchFamily="2" charset="-122"/>
                  <a:ea typeface="华文中宋" pitchFamily="2" charset="-122"/>
                </a:rPr>
                <a:t>1</a:t>
              </a:r>
              <a:r>
                <a:rPr lang="zh-CN" altLang="en-US" sz="1800">
                  <a:latin typeface="华文中宋" pitchFamily="2" charset="-122"/>
                  <a:ea typeface="华文中宋" pitchFamily="2" charset="-122"/>
                </a:rPr>
                <a:t>）对</a:t>
              </a:r>
              <a:r>
                <a:rPr lang="zh-CN" altLang="en-US" sz="1800" i="1">
                  <a:ea typeface="华文中宋" pitchFamily="2" charset="-122"/>
                </a:rPr>
                <a:t>Ｏ</a:t>
              </a:r>
              <a:r>
                <a:rPr lang="zh-CN" altLang="en-US" sz="1800">
                  <a:latin typeface="华文中宋" pitchFamily="2" charset="-122"/>
                  <a:ea typeface="华文中宋" pitchFamily="2" charset="-122"/>
                </a:rPr>
                <a:t>点：由图知，    和      在同一直线上，夹角为零。</a:t>
              </a:r>
            </a:p>
          </p:txBody>
        </p:sp>
        <p:graphicFrame>
          <p:nvGraphicFramePr>
            <p:cNvPr id="38929" name="Object 4"/>
            <p:cNvGraphicFramePr>
              <a:graphicFrameLocks noChangeAspect="1"/>
            </p:cNvGraphicFramePr>
            <p:nvPr/>
          </p:nvGraphicFramePr>
          <p:xfrm>
            <a:off x="1980" y="1011"/>
            <a:ext cx="19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94" name="Equation" r:id="rId23" imgW="139700" imgH="228600" progId="Equation.DSMT4">
                    <p:embed/>
                  </p:oleObj>
                </mc:Choice>
                <mc:Fallback>
                  <p:oleObj name="Equation" r:id="rId23" imgW="139700" imgH="2286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0" y="1011"/>
                          <a:ext cx="19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0" name="Object 60"/>
            <p:cNvGraphicFramePr>
              <a:graphicFrameLocks noChangeAspect="1"/>
            </p:cNvGraphicFramePr>
            <p:nvPr/>
          </p:nvGraphicFramePr>
          <p:xfrm>
            <a:off x="2362" y="1011"/>
            <a:ext cx="336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95" name="Equation" r:id="rId25" imgW="241200" imgH="177480" progId="Equation.DSMT4">
                    <p:embed/>
                  </p:oleObj>
                </mc:Choice>
                <mc:Fallback>
                  <p:oleObj name="Equation" r:id="rId25" imgW="241200" imgH="177480" progId="Equation.DSMT4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2" y="1011"/>
                          <a:ext cx="336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9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93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9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93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6" grpId="0" autoUpdateAnimBg="0"/>
      <p:bldP spid="93240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ext Box 2"/>
          <p:cNvSpPr txBox="1">
            <a:spLocks noChangeArrowheads="1"/>
          </p:cNvSpPr>
          <p:nvPr/>
        </p:nvSpPr>
        <p:spPr bwMode="auto">
          <a:xfrm>
            <a:off x="228600" y="835025"/>
            <a:ext cx="57832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例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    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计算氢原子中电子绕原子核作圆周运动时的角动量。                         </a:t>
            </a:r>
          </a:p>
        </p:txBody>
      </p:sp>
      <p:sp>
        <p:nvSpPr>
          <p:cNvPr id="94211" name="Text Box 3"/>
          <p:cNvSpPr txBox="1">
            <a:spLocks noChangeArrowheads="1"/>
          </p:cNvSpPr>
          <p:nvPr/>
        </p:nvSpPr>
        <p:spPr bwMode="auto">
          <a:xfrm>
            <a:off x="5651500" y="1698625"/>
            <a:ext cx="9826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求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L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。</a:t>
            </a:r>
          </a:p>
        </p:txBody>
      </p:sp>
      <p:sp>
        <p:nvSpPr>
          <p:cNvPr id="94212" name="Text Box 4"/>
          <p:cNvSpPr txBox="1">
            <a:spLocks noChangeArrowheads="1"/>
          </p:cNvSpPr>
          <p:nvPr/>
        </p:nvSpPr>
        <p:spPr bwMode="auto">
          <a:xfrm>
            <a:off x="4983163" y="2284413"/>
            <a:ext cx="3692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FF0000"/>
                </a:solidFill>
                <a:ea typeface="华文中宋" pitchFamily="2" charset="-122"/>
              </a:rPr>
              <a:t>解：</a:t>
            </a:r>
            <a:r>
              <a:rPr lang="zh-CN" altLang="en-US" sz="1800">
                <a:ea typeface="华文中宋" pitchFamily="2" charset="-122"/>
              </a:rPr>
              <a:t>以原子核为参考点</a:t>
            </a:r>
          </a:p>
        </p:txBody>
      </p:sp>
      <p:graphicFrame>
        <p:nvGraphicFramePr>
          <p:cNvPr id="94213" name="Object 5"/>
          <p:cNvGraphicFramePr>
            <a:graphicFrameLocks noChangeAspect="1"/>
          </p:cNvGraphicFramePr>
          <p:nvPr/>
        </p:nvGraphicFramePr>
        <p:xfrm>
          <a:off x="1620838" y="3192463"/>
          <a:ext cx="56864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6" name="Equation" r:id="rId3" imgW="1752480" imgH="228600" progId="Equation.DSMT4">
                  <p:embed/>
                </p:oleObj>
              </mc:Choice>
              <mc:Fallback>
                <p:oleObj name="Equation" r:id="rId3" imgW="175248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838" y="3192463"/>
                        <a:ext cx="56864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4" name="Object 6"/>
          <p:cNvGraphicFramePr>
            <a:graphicFrameLocks noChangeAspect="1"/>
          </p:cNvGraphicFramePr>
          <p:nvPr/>
        </p:nvGraphicFramePr>
        <p:xfrm>
          <a:off x="2427288" y="3751263"/>
          <a:ext cx="5942012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7" name="Equation" r:id="rId5" imgW="2501640" imgH="228600" progId="Equation.DSMT4">
                  <p:embed/>
                </p:oleObj>
              </mc:Choice>
              <mc:Fallback>
                <p:oleObj name="Equation" r:id="rId5" imgW="250164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7288" y="3751263"/>
                        <a:ext cx="5942012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5" name="Object 7"/>
          <p:cNvGraphicFramePr>
            <a:graphicFrameLocks noChangeAspect="1"/>
          </p:cNvGraphicFramePr>
          <p:nvPr/>
        </p:nvGraphicFramePr>
        <p:xfrm>
          <a:off x="2424113" y="4249738"/>
          <a:ext cx="3732212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8" name="Equation" r:id="rId7" imgW="1562040" imgH="228600" progId="Equation.DSMT4">
                  <p:embed/>
                </p:oleObj>
              </mc:Choice>
              <mc:Fallback>
                <p:oleObj name="Equation" r:id="rId7" imgW="156204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4249738"/>
                        <a:ext cx="3732212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6" name="Text Box 8"/>
          <p:cNvSpPr txBox="1">
            <a:spLocks noChangeArrowheads="1"/>
          </p:cNvSpPr>
          <p:nvPr/>
        </p:nvSpPr>
        <p:spPr bwMode="auto">
          <a:xfrm>
            <a:off x="5867400" y="842963"/>
            <a:ext cx="319563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已知：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m</a:t>
            </a:r>
            <a:r>
              <a:rPr lang="en-US" altLang="zh-CN" sz="1800" i="1" baseline="-25000">
                <a:solidFill>
                  <a:srgbClr val="0000FF"/>
                </a:solidFill>
                <a:ea typeface="华文中宋" pitchFamily="2" charset="-122"/>
              </a:rPr>
              <a:t>e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=9.1×10</a:t>
            </a:r>
            <a:r>
              <a:rPr lang="en-US" altLang="zh-CN" sz="1800" i="1" baseline="30000">
                <a:solidFill>
                  <a:srgbClr val="0000FF"/>
                </a:solidFill>
                <a:ea typeface="华文中宋" pitchFamily="2" charset="-122"/>
              </a:rPr>
              <a:t>-31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kg</a:t>
            </a:r>
          </a:p>
          <a:p>
            <a:pPr eaLnBrk="1" hangingPunct="1"/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             r =5.59×10</a:t>
            </a:r>
            <a:r>
              <a:rPr lang="en-US" altLang="zh-CN" sz="1800" i="1" baseline="30000">
                <a:solidFill>
                  <a:srgbClr val="0000FF"/>
                </a:solidFill>
                <a:ea typeface="华文中宋" pitchFamily="2" charset="-122"/>
              </a:rPr>
              <a:t>-11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m</a:t>
            </a:r>
          </a:p>
          <a:p>
            <a:pPr eaLnBrk="1" hangingPunct="1"/>
            <a:r>
              <a:rPr lang="en-US" altLang="zh-CN" sz="1800" i="1" baseline="30000">
                <a:solidFill>
                  <a:srgbClr val="0000FF"/>
                </a:solidFill>
                <a:ea typeface="华文中宋" pitchFamily="2" charset="-122"/>
              </a:rPr>
              <a:t>                 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 =4.13×10</a:t>
            </a:r>
            <a:r>
              <a:rPr lang="en-US" altLang="zh-CN" sz="1800" i="1" baseline="30000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10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s</a:t>
            </a:r>
            <a:r>
              <a:rPr lang="en-US" altLang="zh-CN" sz="1800" baseline="30000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-1</a:t>
            </a:r>
            <a:endParaRPr lang="en-US" altLang="zh-CN" sz="1800">
              <a:solidFill>
                <a:srgbClr val="0000FF"/>
              </a:solidFill>
              <a:ea typeface="华文中宋" pitchFamily="2" charset="-122"/>
              <a:sym typeface="Symbol" pitchFamily="18" charset="2"/>
            </a:endParaRPr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604838" y="1198563"/>
            <a:ext cx="4119562" cy="1444625"/>
            <a:chOff x="381" y="775"/>
            <a:chExt cx="2595" cy="1214"/>
          </a:xfrm>
        </p:grpSpPr>
        <p:sp>
          <p:nvSpPr>
            <p:cNvPr id="39947" name="Arc 10"/>
            <p:cNvSpPr>
              <a:spLocks/>
            </p:cNvSpPr>
            <p:nvPr/>
          </p:nvSpPr>
          <p:spPr bwMode="auto">
            <a:xfrm flipV="1">
              <a:off x="1485" y="1382"/>
              <a:ext cx="1008" cy="3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948" name="Arc 11"/>
            <p:cNvSpPr>
              <a:spLocks/>
            </p:cNvSpPr>
            <p:nvPr/>
          </p:nvSpPr>
          <p:spPr bwMode="auto">
            <a:xfrm flipH="1">
              <a:off x="477" y="1088"/>
              <a:ext cx="1008" cy="3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949" name="Arc 12"/>
            <p:cNvSpPr>
              <a:spLocks/>
            </p:cNvSpPr>
            <p:nvPr/>
          </p:nvSpPr>
          <p:spPr bwMode="auto">
            <a:xfrm>
              <a:off x="1485" y="1088"/>
              <a:ext cx="1008" cy="3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950" name="Arc 13"/>
            <p:cNvSpPr>
              <a:spLocks/>
            </p:cNvSpPr>
            <p:nvPr/>
          </p:nvSpPr>
          <p:spPr bwMode="auto">
            <a:xfrm flipH="1" flipV="1">
              <a:off x="477" y="1382"/>
              <a:ext cx="1008" cy="3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951" name="Oval 14"/>
            <p:cNvSpPr>
              <a:spLocks noChangeArrowheads="1"/>
            </p:cNvSpPr>
            <p:nvPr/>
          </p:nvSpPr>
          <p:spPr bwMode="auto">
            <a:xfrm>
              <a:off x="1389" y="1156"/>
              <a:ext cx="192" cy="545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A9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952" name="Oval 15"/>
            <p:cNvSpPr>
              <a:spLocks noChangeArrowheads="1"/>
            </p:cNvSpPr>
            <p:nvPr/>
          </p:nvSpPr>
          <p:spPr bwMode="auto">
            <a:xfrm>
              <a:off x="2397" y="1156"/>
              <a:ext cx="192" cy="545"/>
            </a:xfrm>
            <a:prstGeom prst="ellipse">
              <a:avLst/>
            </a:prstGeom>
            <a:gradFill rotWithShape="0">
              <a:gsLst>
                <a:gs pos="0">
                  <a:srgbClr val="99FF66"/>
                </a:gs>
                <a:gs pos="100000">
                  <a:srgbClr val="568F3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953" name="Oval 16"/>
            <p:cNvSpPr>
              <a:spLocks noChangeArrowheads="1"/>
            </p:cNvSpPr>
            <p:nvPr/>
          </p:nvSpPr>
          <p:spPr bwMode="auto">
            <a:xfrm>
              <a:off x="1389" y="868"/>
              <a:ext cx="192" cy="545"/>
            </a:xfrm>
            <a:prstGeom prst="ellipse">
              <a:avLst/>
            </a:prstGeom>
            <a:gradFill rotWithShape="0">
              <a:gsLst>
                <a:gs pos="0">
                  <a:srgbClr val="99FF66"/>
                </a:gs>
                <a:gs pos="100000">
                  <a:srgbClr val="568F3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954" name="Oval 17"/>
            <p:cNvSpPr>
              <a:spLocks noChangeArrowheads="1"/>
            </p:cNvSpPr>
            <p:nvPr/>
          </p:nvSpPr>
          <p:spPr bwMode="auto">
            <a:xfrm>
              <a:off x="381" y="1108"/>
              <a:ext cx="192" cy="545"/>
            </a:xfrm>
            <a:prstGeom prst="ellipse">
              <a:avLst/>
            </a:prstGeom>
            <a:gradFill rotWithShape="0">
              <a:gsLst>
                <a:gs pos="0">
                  <a:srgbClr val="99FF66"/>
                </a:gs>
                <a:gs pos="100000">
                  <a:srgbClr val="568F3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955" name="Oval 18"/>
            <p:cNvSpPr>
              <a:spLocks noChangeArrowheads="1"/>
            </p:cNvSpPr>
            <p:nvPr/>
          </p:nvSpPr>
          <p:spPr bwMode="auto">
            <a:xfrm>
              <a:off x="1389" y="1444"/>
              <a:ext cx="192" cy="545"/>
            </a:xfrm>
            <a:prstGeom prst="ellipse">
              <a:avLst/>
            </a:prstGeom>
            <a:gradFill rotWithShape="0">
              <a:gsLst>
                <a:gs pos="0">
                  <a:srgbClr val="99FF66"/>
                </a:gs>
                <a:gs pos="100000">
                  <a:srgbClr val="568F3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956" name="Oval 19"/>
            <p:cNvSpPr>
              <a:spLocks noChangeArrowheads="1"/>
            </p:cNvSpPr>
            <p:nvPr/>
          </p:nvSpPr>
          <p:spPr bwMode="auto">
            <a:xfrm>
              <a:off x="2397" y="1156"/>
              <a:ext cx="192" cy="545"/>
            </a:xfrm>
            <a:prstGeom prst="ellipse">
              <a:avLst/>
            </a:prstGeom>
            <a:gradFill rotWithShape="0">
              <a:gsLst>
                <a:gs pos="0">
                  <a:srgbClr val="99FF66"/>
                </a:gs>
                <a:gs pos="100000">
                  <a:srgbClr val="568F3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39957" name="Group 20"/>
            <p:cNvGrpSpPr>
              <a:grpSpLocks/>
            </p:cNvGrpSpPr>
            <p:nvPr/>
          </p:nvGrpSpPr>
          <p:grpSpPr bwMode="auto">
            <a:xfrm>
              <a:off x="1150" y="775"/>
              <a:ext cx="335" cy="654"/>
              <a:chOff x="0" y="66"/>
              <a:chExt cx="335" cy="654"/>
            </a:xfrm>
          </p:grpSpPr>
          <p:sp>
            <p:nvSpPr>
              <p:cNvPr id="39966" name="Line 21"/>
              <p:cNvSpPr>
                <a:spLocks noChangeShapeType="1"/>
              </p:cNvSpPr>
              <p:nvPr/>
            </p:nvSpPr>
            <p:spPr bwMode="auto">
              <a:xfrm flipV="1">
                <a:off x="335" y="144"/>
                <a:ext cx="0" cy="576"/>
              </a:xfrm>
              <a:prstGeom prst="line">
                <a:avLst/>
              </a:prstGeom>
              <a:noFill/>
              <a:ln w="5715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39967" name="Object 22"/>
              <p:cNvGraphicFramePr>
                <a:graphicFrameLocks noChangeAspect="1"/>
              </p:cNvGraphicFramePr>
              <p:nvPr/>
            </p:nvGraphicFramePr>
            <p:xfrm>
              <a:off x="0" y="66"/>
              <a:ext cx="239" cy="3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979" name="Equation" r:id="rId9" imgW="139882" imgH="190748" progId="Equation.DSMT4">
                      <p:embed/>
                    </p:oleObj>
                  </mc:Choice>
                  <mc:Fallback>
                    <p:oleObj name="Equation" r:id="rId9" imgW="139882" imgH="190748" progId="Equation.DSMT4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66"/>
                            <a:ext cx="239" cy="3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9958" name="Group 23"/>
            <p:cNvGrpSpPr>
              <a:grpSpLocks/>
            </p:cNvGrpSpPr>
            <p:nvPr/>
          </p:nvGrpSpPr>
          <p:grpSpPr bwMode="auto">
            <a:xfrm>
              <a:off x="1485" y="1166"/>
              <a:ext cx="960" cy="311"/>
              <a:chOff x="0" y="0"/>
              <a:chExt cx="960" cy="311"/>
            </a:xfrm>
          </p:grpSpPr>
          <p:sp>
            <p:nvSpPr>
              <p:cNvPr id="39964" name="Line 24"/>
              <p:cNvSpPr>
                <a:spLocks noChangeShapeType="1"/>
              </p:cNvSpPr>
              <p:nvPr/>
            </p:nvSpPr>
            <p:spPr bwMode="auto">
              <a:xfrm>
                <a:off x="0" y="263"/>
                <a:ext cx="960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39965" name="Object 25"/>
              <p:cNvGraphicFramePr>
                <a:graphicFrameLocks noChangeAspect="1"/>
              </p:cNvGraphicFramePr>
              <p:nvPr/>
            </p:nvGraphicFramePr>
            <p:xfrm>
              <a:off x="288" y="0"/>
              <a:ext cx="259" cy="3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980" r:id="rId11" imgW="127000" imgH="152400" progId="Equation.3">
                      <p:embed/>
                    </p:oleObj>
                  </mc:Choice>
                  <mc:Fallback>
                    <p:oleObj r:id="rId11" imgW="127000" imgH="152400" progId="Equation.3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" y="0"/>
                            <a:ext cx="259" cy="31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9959" name="Group 26"/>
            <p:cNvGrpSpPr>
              <a:grpSpLocks/>
            </p:cNvGrpSpPr>
            <p:nvPr/>
          </p:nvGrpSpPr>
          <p:grpSpPr bwMode="auto">
            <a:xfrm>
              <a:off x="2205" y="996"/>
              <a:ext cx="354" cy="385"/>
              <a:chOff x="0" y="0"/>
              <a:chExt cx="354" cy="385"/>
            </a:xfrm>
          </p:grpSpPr>
          <p:sp>
            <p:nvSpPr>
              <p:cNvPr id="39962" name="Line 27"/>
              <p:cNvSpPr>
                <a:spLocks noChangeShapeType="1"/>
              </p:cNvSpPr>
              <p:nvPr/>
            </p:nvSpPr>
            <p:spPr bwMode="auto">
              <a:xfrm flipH="1" flipV="1">
                <a:off x="0" y="145"/>
                <a:ext cx="288" cy="240"/>
              </a:xfrm>
              <a:prstGeom prst="line">
                <a:avLst/>
              </a:prstGeom>
              <a:noFill/>
              <a:ln w="5715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39963" name="Object 28"/>
              <p:cNvGraphicFramePr>
                <a:graphicFrameLocks noChangeAspect="1"/>
              </p:cNvGraphicFramePr>
              <p:nvPr/>
            </p:nvGraphicFramePr>
            <p:xfrm>
              <a:off x="96" y="0"/>
              <a:ext cx="258" cy="3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981" r:id="rId13" imgW="127000" imgH="165100" progId="Equation.3">
                      <p:embed/>
                    </p:oleObj>
                  </mc:Choice>
                  <mc:Fallback>
                    <p:oleObj r:id="rId13" imgW="127000" imgH="165100" progId="Equation.3">
                      <p:embed/>
                      <p:pic>
                        <p:nvPicPr>
                          <p:cNvPr id="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6" y="0"/>
                            <a:ext cx="258" cy="3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9960" name="Text Box 29"/>
            <p:cNvSpPr txBox="1">
              <a:spLocks noChangeArrowheads="1"/>
            </p:cNvSpPr>
            <p:nvPr/>
          </p:nvSpPr>
          <p:spPr bwMode="auto">
            <a:xfrm>
              <a:off x="995" y="1380"/>
              <a:ext cx="252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i="1">
                  <a:ea typeface="宋体" pitchFamily="2" charset="-122"/>
                </a:rPr>
                <a:t>M</a:t>
              </a:r>
            </a:p>
          </p:txBody>
        </p:sp>
        <p:graphicFrame>
          <p:nvGraphicFramePr>
            <p:cNvPr id="39961" name="Object 30"/>
            <p:cNvGraphicFramePr>
              <a:graphicFrameLocks noChangeAspect="1"/>
            </p:cNvGraphicFramePr>
            <p:nvPr/>
          </p:nvGraphicFramePr>
          <p:xfrm>
            <a:off x="2589" y="1189"/>
            <a:ext cx="387" cy="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82" r:id="rId15" imgW="203288" imgH="228699" progId="Equation.3">
                    <p:embed/>
                  </p:oleObj>
                </mc:Choice>
                <mc:Fallback>
                  <p:oleObj r:id="rId15" imgW="203288" imgH="228699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9" y="1189"/>
                          <a:ext cx="387" cy="4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4239" name="Object 31"/>
          <p:cNvGraphicFramePr>
            <a:graphicFrameLocks noChangeAspect="1"/>
          </p:cNvGraphicFramePr>
          <p:nvPr/>
        </p:nvGraphicFramePr>
        <p:xfrm>
          <a:off x="1668463" y="2820988"/>
          <a:ext cx="1966912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3" name="Equation" r:id="rId17" imgW="799920" imgH="215640" progId="Equation.DSMT4">
                  <p:embed/>
                </p:oleObj>
              </mc:Choice>
              <mc:Fallback>
                <p:oleObj name="Equation" r:id="rId17" imgW="799920" imgH="21564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8463" y="2820988"/>
                        <a:ext cx="1966912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0" grpId="0" autoUpdateAnimBg="0"/>
      <p:bldP spid="94211" grpId="0" autoUpdateAnimBg="0"/>
      <p:bldP spid="94212" grpId="0" autoUpdateAnimBg="0"/>
      <p:bldP spid="94216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 Box 2"/>
          <p:cNvSpPr txBox="1">
            <a:spLocks noChangeArrowheads="1"/>
          </p:cNvSpPr>
          <p:nvPr/>
        </p:nvSpPr>
        <p:spPr bwMode="auto">
          <a:xfrm>
            <a:off x="228600" y="771525"/>
            <a:ext cx="4349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3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、质点的角动量定理及角动量守恒律</a:t>
            </a:r>
          </a:p>
        </p:txBody>
      </p:sp>
      <p:sp>
        <p:nvSpPr>
          <p:cNvPr id="96259" name="Text Box 3"/>
          <p:cNvSpPr txBox="1">
            <a:spLocks noChangeArrowheads="1"/>
          </p:cNvSpPr>
          <p:nvPr/>
        </p:nvSpPr>
        <p:spPr bwMode="auto">
          <a:xfrm>
            <a:off x="179388" y="1131888"/>
            <a:ext cx="30384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800000"/>
                </a:solidFill>
                <a:ea typeface="华文中宋" pitchFamily="2" charset="-122"/>
              </a:rPr>
              <a:t>（</a:t>
            </a:r>
            <a:r>
              <a:rPr lang="en-US" altLang="zh-CN" sz="1800">
                <a:solidFill>
                  <a:srgbClr val="800000"/>
                </a:solidFill>
                <a:ea typeface="华文中宋" pitchFamily="2" charset="-122"/>
              </a:rPr>
              <a:t>1</a:t>
            </a:r>
            <a:r>
              <a:rPr lang="zh-CN" altLang="en-US" sz="1800">
                <a:solidFill>
                  <a:srgbClr val="800000"/>
                </a:solidFill>
                <a:ea typeface="华文中宋" pitchFamily="2" charset="-122"/>
              </a:rPr>
              <a:t>）质点的角动量定理</a:t>
            </a:r>
            <a:endParaRPr lang="zh-CN" altLang="en-US" sz="1800" b="0">
              <a:solidFill>
                <a:srgbClr val="800000"/>
              </a:solidFill>
              <a:ea typeface="华文中宋" pitchFamily="2" charset="-122"/>
            </a:endParaRPr>
          </a:p>
        </p:txBody>
      </p:sp>
      <p:graphicFrame>
        <p:nvGraphicFramePr>
          <p:cNvPr id="96261" name="Object 5"/>
          <p:cNvGraphicFramePr>
            <a:graphicFrameLocks noChangeAspect="1"/>
          </p:cNvGraphicFramePr>
          <p:nvPr/>
        </p:nvGraphicFramePr>
        <p:xfrm>
          <a:off x="5059363" y="2201863"/>
          <a:ext cx="247967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0" name="Equation" r:id="rId4" imgW="1104840" imgH="393480" progId="Equation.DSMT4">
                  <p:embed/>
                </p:oleObj>
              </mc:Choice>
              <mc:Fallback>
                <p:oleObj name="Equation" r:id="rId4" imgW="1104840" imgH="393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9363" y="2201863"/>
                        <a:ext cx="2479675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3" name="Object 7"/>
          <p:cNvGraphicFramePr>
            <a:graphicFrameLocks noChangeAspect="1"/>
          </p:cNvGraphicFramePr>
          <p:nvPr/>
        </p:nvGraphicFramePr>
        <p:xfrm>
          <a:off x="3281363" y="1028700"/>
          <a:ext cx="5538787" cy="132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1" name="Equation" r:id="rId6" imgW="2539800" imgH="812520" progId="Equation.DSMT4">
                  <p:embed/>
                </p:oleObj>
              </mc:Choice>
              <mc:Fallback>
                <p:oleObj name="Equation" r:id="rId6" imgW="2539800" imgH="8125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1363" y="1028700"/>
                        <a:ext cx="5538787" cy="1327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9" name="Object 13"/>
          <p:cNvGraphicFramePr>
            <a:graphicFrameLocks noChangeAspect="1"/>
          </p:cNvGraphicFramePr>
          <p:nvPr/>
        </p:nvGraphicFramePr>
        <p:xfrm>
          <a:off x="5384800" y="2787650"/>
          <a:ext cx="126047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2" name="Equation" r:id="rId8" imgW="545760" imgH="419040" progId="Equation.DSMT4">
                  <p:embed/>
                </p:oleObj>
              </mc:Choice>
              <mc:Fallback>
                <p:oleObj name="Equation" r:id="rId8" imgW="545760" imgH="41904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4800" y="2787650"/>
                        <a:ext cx="1260475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70" name="Object 14"/>
          <p:cNvGraphicFramePr>
            <a:graphicFrameLocks noChangeAspect="1"/>
          </p:cNvGraphicFramePr>
          <p:nvPr/>
        </p:nvGraphicFramePr>
        <p:xfrm>
          <a:off x="873125" y="2792413"/>
          <a:ext cx="3221038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3" name="Equation" r:id="rId10" imgW="1358640" imgH="393480" progId="Equation.DSMT4">
                  <p:embed/>
                </p:oleObj>
              </mc:Choice>
              <mc:Fallback>
                <p:oleObj name="Equation" r:id="rId10" imgW="1358640" imgH="39348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125" y="2792413"/>
                        <a:ext cx="3221038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72" name="Text Box 16"/>
          <p:cNvSpPr txBox="1">
            <a:spLocks noChangeArrowheads="1"/>
          </p:cNvSpPr>
          <p:nvPr/>
        </p:nvSpPr>
        <p:spPr bwMode="auto">
          <a:xfrm>
            <a:off x="4578350" y="3001963"/>
            <a:ext cx="796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latin typeface="黑体" pitchFamily="2" charset="-122"/>
                <a:ea typeface="黑体" pitchFamily="2" charset="-122"/>
              </a:rPr>
              <a:t>即：</a:t>
            </a:r>
          </a:p>
        </p:txBody>
      </p:sp>
      <p:graphicFrame>
        <p:nvGraphicFramePr>
          <p:cNvPr id="96291" name="Object 35"/>
          <p:cNvGraphicFramePr>
            <a:graphicFrameLocks noChangeAspect="1"/>
          </p:cNvGraphicFramePr>
          <p:nvPr/>
        </p:nvGraphicFramePr>
        <p:xfrm>
          <a:off x="1328738" y="2201863"/>
          <a:ext cx="239395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4" name="Equation" r:id="rId12" imgW="1066680" imgH="393480" progId="Equation.DSMT4">
                  <p:embed/>
                </p:oleObj>
              </mc:Choice>
              <mc:Fallback>
                <p:oleObj name="Equation" r:id="rId12" imgW="1066680" imgH="39348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8738" y="2201863"/>
                        <a:ext cx="2393950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92" name="Line 36"/>
          <p:cNvSpPr>
            <a:spLocks noChangeShapeType="1"/>
          </p:cNvSpPr>
          <p:nvPr/>
        </p:nvSpPr>
        <p:spPr bwMode="auto">
          <a:xfrm>
            <a:off x="4067175" y="2571750"/>
            <a:ext cx="720725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96294" name="Object 38"/>
          <p:cNvGraphicFramePr>
            <a:graphicFrameLocks noChangeAspect="1"/>
          </p:cNvGraphicFramePr>
          <p:nvPr/>
        </p:nvGraphicFramePr>
        <p:xfrm>
          <a:off x="1914525" y="3543300"/>
          <a:ext cx="40386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5" name="Equation" r:id="rId14" imgW="1752480" imgH="355320" progId="Equation.DSMT4">
                  <p:embed/>
                </p:oleObj>
              </mc:Choice>
              <mc:Fallback>
                <p:oleObj name="Equation" r:id="rId14" imgW="1752480" imgH="35532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4525" y="3543300"/>
                        <a:ext cx="403860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179388" y="4090988"/>
            <a:ext cx="8153400" cy="784225"/>
            <a:chOff x="385" y="3702"/>
            <a:chExt cx="5136" cy="659"/>
          </a:xfrm>
        </p:grpSpPr>
        <p:sp>
          <p:nvSpPr>
            <p:cNvPr id="40977" name="Text Box 17"/>
            <p:cNvSpPr txBox="1">
              <a:spLocks noChangeArrowheads="1"/>
            </p:cNvSpPr>
            <p:nvPr/>
          </p:nvSpPr>
          <p:spPr bwMode="auto">
            <a:xfrm>
              <a:off x="385" y="3702"/>
              <a:ext cx="5136" cy="6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 cmpd="thickThin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>
                <a:lnSpc>
                  <a:spcPct val="125000"/>
                </a:lnSpc>
              </a:pPr>
              <a:r>
                <a:rPr lang="zh-CN" altLang="en-US" sz="1800">
                  <a:solidFill>
                    <a:schemeClr val="accent2"/>
                  </a:solidFill>
                  <a:ea typeface="华文中宋" pitchFamily="2" charset="-122"/>
                </a:rPr>
                <a:t>注意</a:t>
              </a:r>
              <a:r>
                <a:rPr lang="zh-CN" altLang="en-US" sz="1800">
                  <a:solidFill>
                    <a:schemeClr val="accent2"/>
                  </a:solidFill>
                  <a:ea typeface="华文中宋" pitchFamily="2" charset="-122"/>
                  <a:sym typeface="Wingdings" pitchFamily="2" charset="2"/>
                </a:rPr>
                <a:t>：（</a:t>
              </a:r>
              <a:r>
                <a:rPr lang="en-US" altLang="zh-CN" sz="1800">
                  <a:solidFill>
                    <a:schemeClr val="accent2"/>
                  </a:solidFill>
                  <a:ea typeface="华文中宋" pitchFamily="2" charset="-122"/>
                  <a:sym typeface="Wingdings" pitchFamily="2" charset="2"/>
                </a:rPr>
                <a:t>1</a:t>
              </a:r>
              <a:r>
                <a:rPr lang="zh-CN" altLang="en-US" sz="1800">
                  <a:solidFill>
                    <a:schemeClr val="accent2"/>
                  </a:solidFill>
                  <a:ea typeface="华文中宋" pitchFamily="2" charset="-122"/>
                  <a:sym typeface="Wingdings" pitchFamily="2" charset="2"/>
                </a:rPr>
                <a:t>）               称为冲量矩；</a:t>
              </a:r>
            </a:p>
            <a:p>
              <a:pPr>
                <a:lnSpc>
                  <a:spcPct val="125000"/>
                </a:lnSpc>
              </a:pPr>
              <a:r>
                <a:rPr lang="en-US" altLang="zh-CN" sz="1800">
                  <a:solidFill>
                    <a:schemeClr val="accent2"/>
                  </a:solidFill>
                  <a:ea typeface="华文中宋" pitchFamily="2" charset="-122"/>
                  <a:sym typeface="Wingdings" pitchFamily="2" charset="2"/>
                </a:rPr>
                <a:t>            </a:t>
              </a:r>
              <a:r>
                <a:rPr lang="zh-CN" altLang="en-US" sz="1800">
                  <a:solidFill>
                    <a:schemeClr val="accent2"/>
                  </a:solidFill>
                  <a:ea typeface="华文中宋" pitchFamily="2" charset="-122"/>
                  <a:sym typeface="Wingdings" pitchFamily="2" charset="2"/>
                </a:rPr>
                <a:t>（</a:t>
              </a:r>
              <a:r>
                <a:rPr lang="en-US" altLang="zh-CN" sz="1800">
                  <a:solidFill>
                    <a:schemeClr val="accent2"/>
                  </a:solidFill>
                  <a:ea typeface="华文中宋" pitchFamily="2" charset="-122"/>
                  <a:sym typeface="Wingdings" pitchFamily="2" charset="2"/>
                </a:rPr>
                <a:t>2</a:t>
              </a:r>
              <a:r>
                <a:rPr lang="zh-CN" altLang="en-US" sz="1800">
                  <a:solidFill>
                    <a:schemeClr val="accent2"/>
                  </a:solidFill>
                  <a:ea typeface="华文中宋" pitchFamily="2" charset="-122"/>
                  <a:sym typeface="Wingdings" pitchFamily="2" charset="2"/>
                </a:rPr>
                <a:t>）        和     必须是对同一点的力矩与角动量。</a:t>
              </a:r>
              <a:endParaRPr lang="zh-CN" altLang="en-US" sz="1800">
                <a:solidFill>
                  <a:srgbClr val="808000"/>
                </a:solidFill>
                <a:ea typeface="华文中宋" pitchFamily="2" charset="-122"/>
              </a:endParaRPr>
            </a:p>
          </p:txBody>
        </p:sp>
        <p:graphicFrame>
          <p:nvGraphicFramePr>
            <p:cNvPr id="40978" name="Object 39"/>
            <p:cNvGraphicFramePr>
              <a:graphicFrameLocks noChangeAspect="1"/>
            </p:cNvGraphicFramePr>
            <p:nvPr/>
          </p:nvGraphicFramePr>
          <p:xfrm>
            <a:off x="1247" y="4080"/>
            <a:ext cx="227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96" name="公式" r:id="rId16" imgW="203112" imgH="190417" progId="Equation.3">
                    <p:embed/>
                  </p:oleObj>
                </mc:Choice>
                <mc:Fallback>
                  <p:oleObj name="公式" r:id="rId16" imgW="203112" imgH="190417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7" y="4080"/>
                          <a:ext cx="227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79" name="Object 40"/>
            <p:cNvGraphicFramePr>
              <a:graphicFrameLocks noChangeAspect="1"/>
            </p:cNvGraphicFramePr>
            <p:nvPr/>
          </p:nvGraphicFramePr>
          <p:xfrm>
            <a:off x="1299" y="3702"/>
            <a:ext cx="529" cy="4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97" name="Equation" r:id="rId18" imgW="444240" imgH="355320" progId="Equation.DSMT4">
                    <p:embed/>
                  </p:oleObj>
                </mc:Choice>
                <mc:Fallback>
                  <p:oleObj name="Equation" r:id="rId18" imgW="444240" imgH="355320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9" y="3702"/>
                          <a:ext cx="529" cy="4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80" name="Object 41"/>
            <p:cNvGraphicFramePr>
              <a:graphicFrameLocks noChangeAspect="1"/>
            </p:cNvGraphicFramePr>
            <p:nvPr/>
          </p:nvGraphicFramePr>
          <p:xfrm>
            <a:off x="1655" y="4065"/>
            <a:ext cx="183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98" name="公式" r:id="rId20" imgW="152334" imgH="190417" progId="Equation.3">
                    <p:embed/>
                  </p:oleObj>
                </mc:Choice>
                <mc:Fallback>
                  <p:oleObj name="公式" r:id="rId20" imgW="152334" imgH="190417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5" y="4065"/>
                          <a:ext cx="183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6299" name="Text Box 43"/>
          <p:cNvSpPr txBox="1">
            <a:spLocks noChangeArrowheads="1"/>
          </p:cNvSpPr>
          <p:nvPr/>
        </p:nvSpPr>
        <p:spPr bwMode="auto">
          <a:xfrm>
            <a:off x="6948488" y="3616325"/>
            <a:ext cx="1612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chemeClr val="accent2"/>
                </a:solidFill>
                <a:ea typeface="华文中宋" pitchFamily="2" charset="-122"/>
              </a:rPr>
              <a:t>积分形式</a:t>
            </a:r>
            <a:endParaRPr lang="en-US" altLang="zh-CN" sz="1800" b="0">
              <a:solidFill>
                <a:schemeClr val="accent2"/>
              </a:solidFill>
              <a:ea typeface="华文中宋" pitchFamily="2" charset="-122"/>
            </a:endParaRPr>
          </a:p>
        </p:txBody>
      </p:sp>
      <p:sp>
        <p:nvSpPr>
          <p:cNvPr id="96300" name="Text Box 44"/>
          <p:cNvSpPr txBox="1">
            <a:spLocks noChangeArrowheads="1"/>
          </p:cNvSpPr>
          <p:nvPr/>
        </p:nvSpPr>
        <p:spPr bwMode="auto">
          <a:xfrm>
            <a:off x="6948488" y="2968625"/>
            <a:ext cx="1612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chemeClr val="accent2"/>
                </a:solidFill>
                <a:ea typeface="华文中宋" pitchFamily="2" charset="-122"/>
              </a:rPr>
              <a:t>微分形式</a:t>
            </a:r>
            <a:endParaRPr lang="zh-CN" altLang="en-US" sz="1800" b="0">
              <a:solidFill>
                <a:schemeClr val="accent2"/>
              </a:solidFill>
              <a:ea typeface="华文中宋" pitchFamily="2" charset="-122"/>
            </a:endParaRPr>
          </a:p>
        </p:txBody>
      </p:sp>
      <p:sp>
        <p:nvSpPr>
          <p:cNvPr id="96301" name="Rectangle 45"/>
          <p:cNvSpPr>
            <a:spLocks noChangeArrowheads="1"/>
          </p:cNvSpPr>
          <p:nvPr/>
        </p:nvSpPr>
        <p:spPr bwMode="auto">
          <a:xfrm>
            <a:off x="3708400" y="3609975"/>
            <a:ext cx="2376488" cy="46196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6302" name="Rectangle 46"/>
          <p:cNvSpPr>
            <a:spLocks noChangeArrowheads="1"/>
          </p:cNvSpPr>
          <p:nvPr/>
        </p:nvSpPr>
        <p:spPr bwMode="auto">
          <a:xfrm>
            <a:off x="5292725" y="2859088"/>
            <a:ext cx="1511300" cy="63182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6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6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6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6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6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6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6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6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6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6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9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6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96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0" dur="500"/>
                                        <p:tgtEl>
                                          <p:spTgt spid="962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96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96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6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8" grpId="0" autoUpdateAnimBg="0"/>
      <p:bldP spid="96259" grpId="0" autoUpdateAnimBg="0"/>
      <p:bldP spid="96272" grpId="0"/>
      <p:bldP spid="96292" grpId="0" animBg="1"/>
      <p:bldP spid="96299" grpId="0" autoUpdateAnimBg="0"/>
      <p:bldP spid="96300" grpId="0"/>
      <p:bldP spid="96301" grpId="0" animBg="1"/>
      <p:bldP spid="9630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Box 10"/>
          <p:cNvSpPr txBox="1">
            <a:spLocks noChangeArrowheads="1"/>
          </p:cNvSpPr>
          <p:nvPr/>
        </p:nvSpPr>
        <p:spPr bwMode="auto">
          <a:xfrm>
            <a:off x="539750" y="996950"/>
            <a:ext cx="48958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1800">
                <a:solidFill>
                  <a:srgbClr val="800000"/>
                </a:solidFill>
                <a:latin typeface="华文中宋" pitchFamily="2" charset="-122"/>
                <a:ea typeface="华文中宋" pitchFamily="2" charset="-122"/>
              </a:rPr>
              <a:t>（</a:t>
            </a:r>
            <a:r>
              <a:rPr lang="en-US" altLang="zh-CN" sz="1800">
                <a:solidFill>
                  <a:srgbClr val="800000"/>
                </a:solidFill>
                <a:latin typeface="华文中宋" pitchFamily="2" charset="-122"/>
                <a:ea typeface="华文中宋" pitchFamily="2" charset="-122"/>
              </a:rPr>
              <a:t>2</a:t>
            </a:r>
            <a:r>
              <a:rPr lang="zh-CN" altLang="en-US" sz="1800">
                <a:solidFill>
                  <a:srgbClr val="800000"/>
                </a:solidFill>
                <a:latin typeface="华文中宋" pitchFamily="2" charset="-122"/>
                <a:ea typeface="华文中宋" pitchFamily="2" charset="-122"/>
              </a:rPr>
              <a:t>）质点角动量守恒律</a:t>
            </a:r>
          </a:p>
        </p:txBody>
      </p:sp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2316163" y="1357313"/>
            <a:ext cx="2616200" cy="368300"/>
            <a:chOff x="1232" y="535"/>
            <a:chExt cx="1648" cy="309"/>
          </a:xfrm>
        </p:grpSpPr>
        <p:sp>
          <p:nvSpPr>
            <p:cNvPr id="41993" name="Text Box 13"/>
            <p:cNvSpPr txBox="1">
              <a:spLocks noChangeArrowheads="1"/>
            </p:cNvSpPr>
            <p:nvPr/>
          </p:nvSpPr>
          <p:spPr bwMode="auto">
            <a:xfrm>
              <a:off x="1232" y="535"/>
              <a:ext cx="1648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zh-CN" altLang="en-US" sz="180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若                ，则</a:t>
              </a:r>
            </a:p>
          </p:txBody>
        </p:sp>
        <p:graphicFrame>
          <p:nvGraphicFramePr>
            <p:cNvPr id="41994" name="Object 14"/>
            <p:cNvGraphicFramePr>
              <a:graphicFrameLocks noChangeAspect="1"/>
            </p:cNvGraphicFramePr>
            <p:nvPr/>
          </p:nvGraphicFramePr>
          <p:xfrm>
            <a:off x="1513" y="564"/>
            <a:ext cx="747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997" name="Equation" r:id="rId3" imgW="431640" imgH="203040" progId="Equation.DSMT4">
                    <p:embed/>
                  </p:oleObj>
                </mc:Choice>
                <mc:Fallback>
                  <p:oleObj name="Equation" r:id="rId3" imgW="431640" imgH="20304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3" y="564"/>
                          <a:ext cx="747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5148263" y="1347788"/>
            <a:ext cx="3311525" cy="368300"/>
            <a:chOff x="1641" y="1425"/>
            <a:chExt cx="1922" cy="309"/>
          </a:xfrm>
        </p:grpSpPr>
        <p:graphicFrame>
          <p:nvGraphicFramePr>
            <p:cNvPr id="41991" name="Object 15"/>
            <p:cNvGraphicFramePr>
              <a:graphicFrameLocks noChangeAspect="1"/>
            </p:cNvGraphicFramePr>
            <p:nvPr/>
          </p:nvGraphicFramePr>
          <p:xfrm>
            <a:off x="1641" y="1443"/>
            <a:ext cx="998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998" name="公式" r:id="rId5" imgW="736280" imgH="215806" progId="Equation.3">
                    <p:embed/>
                  </p:oleObj>
                </mc:Choice>
                <mc:Fallback>
                  <p:oleObj name="公式" r:id="rId5" imgW="736280" imgH="215806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1" y="1443"/>
                          <a:ext cx="998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992" name="Text Box 19"/>
            <p:cNvSpPr txBox="1">
              <a:spLocks noChangeArrowheads="1"/>
            </p:cNvSpPr>
            <p:nvPr/>
          </p:nvSpPr>
          <p:spPr bwMode="auto">
            <a:xfrm>
              <a:off x="2644" y="1425"/>
              <a:ext cx="919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华文中宋" pitchFamily="2" charset="-122"/>
                  <a:ea typeface="华文中宋" pitchFamily="2" charset="-122"/>
                </a:rPr>
                <a:t>=</a:t>
              </a:r>
              <a:r>
                <a:rPr lang="zh-CN" altLang="en-US" sz="1800">
                  <a:latin typeface="华文中宋" pitchFamily="2" charset="-122"/>
                  <a:ea typeface="华文中宋" pitchFamily="2" charset="-122"/>
                </a:rPr>
                <a:t>常矢量</a:t>
              </a:r>
            </a:p>
          </p:txBody>
        </p:sp>
      </p:grpSp>
      <p:sp>
        <p:nvSpPr>
          <p:cNvPr id="51" name="Text Box 23"/>
          <p:cNvSpPr txBox="1">
            <a:spLocks noChangeArrowheads="1"/>
          </p:cNvSpPr>
          <p:nvPr/>
        </p:nvSpPr>
        <p:spPr bwMode="auto">
          <a:xfrm>
            <a:off x="822325" y="1882775"/>
            <a:ext cx="742156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1800"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         </a:t>
            </a: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质点所受外力对某固定点的力矩为零，则质点对该固定点的角动量守恒。</a:t>
            </a:r>
          </a:p>
          <a:p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                     </a:t>
            </a:r>
            <a:r>
              <a:rPr lang="en-US" altLang="zh-CN" sz="1800"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——</a:t>
            </a:r>
            <a:r>
              <a:rPr lang="zh-CN" altLang="en-US" sz="1800">
                <a:solidFill>
                  <a:srgbClr val="FF00FF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质点的角动量守恒定律</a:t>
            </a:r>
            <a:endParaRPr lang="en-US" altLang="zh-CN" sz="1800">
              <a:solidFill>
                <a:srgbClr val="CC0000"/>
              </a:solidFill>
              <a:latin typeface="华文中宋" pitchFamily="2" charset="-122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2" name="Text Box 24"/>
          <p:cNvSpPr txBox="1">
            <a:spLocks noChangeArrowheads="1"/>
          </p:cNvSpPr>
          <p:nvPr/>
        </p:nvSpPr>
        <p:spPr bwMode="auto">
          <a:xfrm>
            <a:off x="661988" y="2862263"/>
            <a:ext cx="76168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1800">
                <a:latin typeface="华文中宋" pitchFamily="2" charset="-122"/>
                <a:ea typeface="华文中宋" pitchFamily="2" charset="-122"/>
              </a:rPr>
              <a:t>      </a:t>
            </a:r>
            <a:r>
              <a:rPr kumimoji="1" lang="zh-CN" altLang="en-US" sz="1800">
                <a:latin typeface="华文中宋" pitchFamily="2" charset="-122"/>
                <a:ea typeface="华文中宋" pitchFamily="2" charset="-122"/>
              </a:rPr>
              <a:t>角动量守恒定律是物理学的基本定律之一，它不仅适用于宏观体系，也适用于微观体系。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utoUpdateAnimBg="0"/>
      <p:bldP spid="51" grpId="0"/>
      <p:bldP spid="52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250825" y="844550"/>
            <a:ext cx="871378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例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   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质量为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m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的质点拴在一条细绳上，绳子通过一个光滑的套管可以往下牵引，使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m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在水平面内转动，当绳长为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r</a:t>
            </a:r>
            <a:r>
              <a:rPr lang="en-US" altLang="zh-CN" sz="1800" baseline="-25000">
                <a:solidFill>
                  <a:srgbClr val="0000FF"/>
                </a:solidFill>
                <a:ea typeface="华文中宋" pitchFamily="2" charset="-122"/>
              </a:rPr>
              <a:t>0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以速率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u</a:t>
            </a:r>
            <a:r>
              <a:rPr lang="en-US" altLang="zh-CN" sz="1800" baseline="-25000">
                <a:solidFill>
                  <a:srgbClr val="0000FF"/>
                </a:solidFill>
                <a:ea typeface="华文中宋" pitchFamily="2" charset="-122"/>
              </a:rPr>
              <a:t>0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转动，求把绳子缩到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r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需做的功。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881063" y="1771650"/>
            <a:ext cx="898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18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解：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779588" y="1843088"/>
            <a:ext cx="2505075" cy="368300"/>
            <a:chOff x="725" y="1054"/>
            <a:chExt cx="1428" cy="310"/>
          </a:xfrm>
        </p:grpSpPr>
        <p:sp>
          <p:nvSpPr>
            <p:cNvPr id="43030" name="Text Box 13"/>
            <p:cNvSpPr txBox="1">
              <a:spLocks noChangeArrowheads="1"/>
            </p:cNvSpPr>
            <p:nvPr/>
          </p:nvSpPr>
          <p:spPr bwMode="auto">
            <a:xfrm>
              <a:off x="725" y="1054"/>
              <a:ext cx="142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zh-CN" altLang="en-US" sz="180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因                  </a:t>
              </a:r>
              <a:r>
                <a:rPr lang="en-US" altLang="zh-CN" sz="180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,</a:t>
              </a:r>
              <a:r>
                <a:rPr lang="zh-CN" altLang="en-US" sz="180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则 </a:t>
              </a:r>
            </a:p>
          </p:txBody>
        </p:sp>
        <p:graphicFrame>
          <p:nvGraphicFramePr>
            <p:cNvPr id="43031" name="Object 14"/>
            <p:cNvGraphicFramePr>
              <a:graphicFrameLocks noChangeAspect="1"/>
            </p:cNvGraphicFramePr>
            <p:nvPr/>
          </p:nvGraphicFramePr>
          <p:xfrm>
            <a:off x="1014" y="1083"/>
            <a:ext cx="709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37" name="Equation" r:id="rId3" imgW="431640" imgH="203040" progId="Equation.DSMT4">
                    <p:embed/>
                  </p:oleObj>
                </mc:Choice>
                <mc:Fallback>
                  <p:oleObj name="Equation" r:id="rId3" imgW="431640" imgH="20304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4" y="1083"/>
                          <a:ext cx="709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12"/>
          <p:cNvGraphicFramePr>
            <a:graphicFrameLocks noChangeAspect="1"/>
          </p:cNvGraphicFramePr>
          <p:nvPr/>
        </p:nvGraphicFramePr>
        <p:xfrm>
          <a:off x="1989138" y="2312988"/>
          <a:ext cx="185578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8" name="Equation" r:id="rId5" imgW="787320" imgH="228600" progId="Equation.DSMT4">
                  <p:embed/>
                </p:oleObj>
              </mc:Choice>
              <mc:Fallback>
                <p:oleObj name="Equation" r:id="rId5" imgW="787320" imgH="228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8" y="2312988"/>
                        <a:ext cx="185578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3"/>
          <p:cNvGraphicFramePr>
            <a:graphicFrameLocks noChangeAspect="1"/>
          </p:cNvGraphicFramePr>
          <p:nvPr/>
        </p:nvGraphicFramePr>
        <p:xfrm>
          <a:off x="2020888" y="2709863"/>
          <a:ext cx="1546225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9" name="Equation" r:id="rId7" imgW="787320" imgH="393480" progId="Equation.DSMT4">
                  <p:embed/>
                </p:oleObj>
              </mc:Choice>
              <mc:Fallback>
                <p:oleObj name="Equation" r:id="rId7" imgW="787320" imgH="3934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888" y="2709863"/>
                        <a:ext cx="1546225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17"/>
          <p:cNvSpPr txBox="1">
            <a:spLocks noChangeArrowheads="1"/>
          </p:cNvSpPr>
          <p:nvPr/>
        </p:nvSpPr>
        <p:spPr bwMode="auto">
          <a:xfrm>
            <a:off x="1835150" y="3346450"/>
            <a:ext cx="1695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由动能定理</a:t>
            </a:r>
            <a:endParaRPr lang="zh-CN" altLang="en-US" sz="1800"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23" name="Object 25"/>
          <p:cNvGraphicFramePr>
            <a:graphicFrameLocks noChangeAspect="1"/>
          </p:cNvGraphicFramePr>
          <p:nvPr/>
        </p:nvGraphicFramePr>
        <p:xfrm>
          <a:off x="3927475" y="3244850"/>
          <a:ext cx="22479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0" name="Equation" r:id="rId9" imgW="1206360" imgH="393480" progId="Equation.DSMT4">
                  <p:embed/>
                </p:oleObj>
              </mc:Choice>
              <mc:Fallback>
                <p:oleObj name="Equation" r:id="rId9" imgW="1206360" imgH="39348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7475" y="3244850"/>
                        <a:ext cx="22479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17"/>
          <p:cNvSpPr txBox="1">
            <a:spLocks noChangeArrowheads="1"/>
          </p:cNvSpPr>
          <p:nvPr/>
        </p:nvSpPr>
        <p:spPr bwMode="auto">
          <a:xfrm>
            <a:off x="2370138" y="3975100"/>
            <a:ext cx="546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得</a:t>
            </a:r>
            <a:endParaRPr lang="zh-CN" altLang="en-US" sz="1800"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963863" y="3889375"/>
          <a:ext cx="2603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1" name="Equation" r:id="rId11" imgW="1282680" imgH="393480" progId="Equation.DSMT4">
                  <p:embed/>
                </p:oleObj>
              </mc:Choice>
              <mc:Fallback>
                <p:oleObj name="Equation" r:id="rId11" imgW="1282680" imgH="39348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3863" y="3889375"/>
                        <a:ext cx="26035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19"/>
          <p:cNvGrpSpPr>
            <a:grpSpLocks/>
          </p:cNvGrpSpPr>
          <p:nvPr/>
        </p:nvGrpSpPr>
        <p:grpSpPr bwMode="auto">
          <a:xfrm>
            <a:off x="5356225" y="1728788"/>
            <a:ext cx="3124200" cy="1158875"/>
            <a:chOff x="5381625" y="2035087"/>
            <a:chExt cx="3124200" cy="1545986"/>
          </a:xfrm>
        </p:grpSpPr>
        <p:sp>
          <p:nvSpPr>
            <p:cNvPr id="5" name="AutoShape 6"/>
            <p:cNvSpPr>
              <a:spLocks noChangeArrowheads="1"/>
            </p:cNvSpPr>
            <p:nvPr/>
          </p:nvSpPr>
          <p:spPr bwMode="auto">
            <a:xfrm>
              <a:off x="6829425" y="2570887"/>
              <a:ext cx="238125" cy="673457"/>
            </a:xfrm>
            <a:prstGeom prst="can">
              <a:avLst>
                <a:gd name="adj" fmla="val 38889"/>
              </a:avLst>
            </a:prstGeom>
            <a:solidFill>
              <a:schemeClr val="bg2">
                <a:lumMod val="50000"/>
              </a:schemeClr>
            </a:solidFill>
            <a:ln w="9525">
              <a:solidFill>
                <a:srgbClr val="002060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zh-CN" altLang="en-US" sz="1800" b="0">
                <a:ea typeface="宋体" pitchFamily="2" charset="-122"/>
              </a:endParaRPr>
            </a:p>
          </p:txBody>
        </p:sp>
        <p:sp>
          <p:nvSpPr>
            <p:cNvPr id="43025" name="Oval 7"/>
            <p:cNvSpPr>
              <a:spLocks noChangeArrowheads="1"/>
            </p:cNvSpPr>
            <p:nvPr/>
          </p:nvSpPr>
          <p:spPr bwMode="auto">
            <a:xfrm>
              <a:off x="5381625" y="2214474"/>
              <a:ext cx="3124200" cy="692325"/>
            </a:xfrm>
            <a:prstGeom prst="ellipse">
              <a:avLst/>
            </a:prstGeom>
            <a:solidFill>
              <a:srgbClr val="FDEADA">
                <a:alpha val="89018"/>
              </a:srgbClr>
            </a:solidFill>
            <a:ln w="12700">
              <a:solidFill>
                <a:srgbClr val="00206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endParaRPr lang="zh-CN" altLang="en-US" sz="1800" b="0">
                <a:ea typeface="宋体" pitchFamily="2" charset="-122"/>
              </a:endParaRPr>
            </a:p>
          </p:txBody>
        </p:sp>
        <p:sp>
          <p:nvSpPr>
            <p:cNvPr id="43026" name="Line 10"/>
            <p:cNvSpPr>
              <a:spLocks noChangeShapeType="1"/>
            </p:cNvSpPr>
            <p:nvPr/>
          </p:nvSpPr>
          <p:spPr bwMode="auto">
            <a:xfrm>
              <a:off x="6956131" y="3288973"/>
              <a:ext cx="0" cy="292100"/>
            </a:xfrm>
            <a:prstGeom prst="line">
              <a:avLst/>
            </a:prstGeom>
            <a:noFill/>
            <a:ln w="28575">
              <a:solidFill>
                <a:srgbClr val="00B0F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8" name="椭圆 16"/>
            <p:cNvSpPr>
              <a:spLocks noChangeArrowheads="1"/>
            </p:cNvSpPr>
            <p:nvPr/>
          </p:nvSpPr>
          <p:spPr bwMode="auto">
            <a:xfrm>
              <a:off x="6838950" y="2494647"/>
              <a:ext cx="222250" cy="133421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 w="9525" algn="ctr">
              <a:solidFill>
                <a:srgbClr val="00206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endParaRPr lang="zh-CN" altLang="en-US" sz="1800" b="0">
                <a:ea typeface="宋体" pitchFamily="2" charset="-122"/>
              </a:endParaRPr>
            </a:p>
          </p:txBody>
        </p:sp>
        <p:sp>
          <p:nvSpPr>
            <p:cNvPr id="43028" name="Line 9"/>
            <p:cNvSpPr>
              <a:spLocks noChangeShapeType="1"/>
            </p:cNvSpPr>
            <p:nvPr/>
          </p:nvSpPr>
          <p:spPr bwMode="auto">
            <a:xfrm flipH="1">
              <a:off x="6927850" y="2406650"/>
              <a:ext cx="838200" cy="152400"/>
            </a:xfrm>
            <a:prstGeom prst="line">
              <a:avLst/>
            </a:prstGeom>
            <a:noFill/>
            <a:ln w="28575">
              <a:solidFill>
                <a:srgbClr val="00B0F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29" name="Oval 8"/>
            <p:cNvSpPr>
              <a:spLocks noChangeArrowheads="1"/>
            </p:cNvSpPr>
            <p:nvPr/>
          </p:nvSpPr>
          <p:spPr bwMode="auto">
            <a:xfrm>
              <a:off x="7667917" y="2035087"/>
              <a:ext cx="259766" cy="692326"/>
            </a:xfrm>
            <a:prstGeom prst="ellipse">
              <a:avLst/>
            </a:prstGeom>
            <a:gradFill rotWithShape="1">
              <a:gsLst>
                <a:gs pos="0">
                  <a:srgbClr val="FFFF00"/>
                </a:gs>
                <a:gs pos="100000">
                  <a:srgbClr val="7676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endParaRPr lang="zh-CN" altLang="en-US" sz="1800" b="0">
                <a:ea typeface="宋体" pitchFamily="2" charset="-122"/>
              </a:endParaRPr>
            </a:p>
          </p:txBody>
        </p:sp>
      </p:grpSp>
      <p:grpSp>
        <p:nvGrpSpPr>
          <p:cNvPr id="6" name="组合 24"/>
          <p:cNvGrpSpPr>
            <a:grpSpLocks/>
          </p:cNvGrpSpPr>
          <p:nvPr/>
        </p:nvGrpSpPr>
        <p:grpSpPr bwMode="auto">
          <a:xfrm>
            <a:off x="7204075" y="1512888"/>
            <a:ext cx="579438" cy="933450"/>
            <a:chOff x="7239000" y="1784350"/>
            <a:chExt cx="579438" cy="1244600"/>
          </a:xfrm>
        </p:grpSpPr>
        <p:cxnSp>
          <p:nvCxnSpPr>
            <p:cNvPr id="43021" name="直接箭头连接符 24"/>
            <p:cNvCxnSpPr>
              <a:cxnSpLocks noChangeShapeType="1"/>
            </p:cNvCxnSpPr>
            <p:nvPr/>
          </p:nvCxnSpPr>
          <p:spPr bwMode="auto">
            <a:xfrm rot="5400000">
              <a:off x="7550944" y="2761456"/>
              <a:ext cx="533400" cy="1588"/>
            </a:xfrm>
            <a:prstGeom prst="straightConnector1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22" name="直接箭头连接符 26"/>
            <p:cNvCxnSpPr>
              <a:cxnSpLocks noChangeShapeType="1"/>
            </p:cNvCxnSpPr>
            <p:nvPr/>
          </p:nvCxnSpPr>
          <p:spPr bwMode="auto">
            <a:xfrm rot="5400000" flipH="1" flipV="1">
              <a:off x="7550944" y="2050256"/>
              <a:ext cx="533400" cy="1588"/>
            </a:xfrm>
            <a:prstGeom prst="straightConnector1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23" name="直接箭头连接符 28"/>
            <p:cNvCxnSpPr>
              <a:cxnSpLocks noChangeShapeType="1"/>
            </p:cNvCxnSpPr>
            <p:nvPr/>
          </p:nvCxnSpPr>
          <p:spPr bwMode="auto">
            <a:xfrm rot="10800000" flipV="1">
              <a:off x="7239000" y="2451100"/>
              <a:ext cx="444500" cy="88900"/>
            </a:xfrm>
            <a:prstGeom prst="straightConnector1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11" grpId="0" autoUpdateAnimBg="0"/>
      <p:bldP spid="21" grpId="0" autoUpdateAnimBg="0"/>
      <p:bldP spid="25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782638" y="1204913"/>
            <a:ext cx="44323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1</a:t>
            </a: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、刚体对轴的角动量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1258888" y="1635125"/>
            <a:ext cx="5699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刚体可看成质点系，刚体作定轴转动时：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1238250" y="2601913"/>
            <a:ext cx="56022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定轴转动刚体，其质元角速度</a:t>
            </a:r>
            <a:r>
              <a:rPr lang="zh-CN" altLang="en-US" sz="1800" i="1">
                <a:latin typeface="华文中宋" pitchFamily="2" charset="-122"/>
                <a:ea typeface="华文中宋" pitchFamily="2" charset="-122"/>
                <a:sym typeface="Symbol" pitchFamily="18" charset="2"/>
              </a:rPr>
              <a:t>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相同，且</a:t>
            </a: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001963" y="3043238"/>
          <a:ext cx="192405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7" name="公式" r:id="rId3" imgW="914003" imgH="266584" progId="Equation.3">
                  <p:embed/>
                </p:oleObj>
              </mc:Choice>
              <mc:Fallback>
                <p:oleObj name="公式" r:id="rId3" imgW="914003" imgH="266584" progId="Equation.3">
                  <p:embed/>
                  <p:pic>
                    <p:nvPicPr>
                      <p:cNvPr id="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1963" y="3043238"/>
                        <a:ext cx="1924050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1687513" y="2130425"/>
          <a:ext cx="5116512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8" name="公式" r:id="rId5" imgW="2476500" imgH="266700" progId="Equation.3">
                  <p:embed/>
                </p:oleObj>
              </mc:Choice>
              <mc:Fallback>
                <p:oleObj name="公式" r:id="rId5" imgW="2476500" imgH="266700" progId="Equation.3">
                  <p:embed/>
                  <p:pic>
                    <p:nvPicPr>
                      <p:cNvPr id="0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513" y="2130425"/>
                        <a:ext cx="5116512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333750" y="3600450"/>
          <a:ext cx="126365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9" name="公式" r:id="rId7" imgW="558800" imgH="228600" progId="Equation.3">
                  <p:embed/>
                </p:oleObj>
              </mc:Choice>
              <mc:Fallback>
                <p:oleObj name="公式" r:id="rId7" imgW="558800" imgH="228600" progId="Equation.3">
                  <p:embed/>
                  <p:pic>
                    <p:nvPicPr>
                      <p:cNvPr id="0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750" y="3600450"/>
                        <a:ext cx="1263650" cy="38417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7"/>
          <p:cNvSpPr txBox="1">
            <a:spLocks noChangeArrowheads="1"/>
          </p:cNvSpPr>
          <p:nvPr/>
        </p:nvSpPr>
        <p:spPr bwMode="auto">
          <a:xfrm>
            <a:off x="1379538" y="4195763"/>
            <a:ext cx="3248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注意与动量的类似性：</a:t>
            </a:r>
            <a:endParaRPr lang="en-US" altLang="zh-CN" sz="1800"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4" name="对象 21"/>
          <p:cNvGraphicFramePr>
            <a:graphicFrameLocks noChangeAspect="1"/>
          </p:cNvGraphicFramePr>
          <p:nvPr/>
        </p:nvGraphicFramePr>
        <p:xfrm>
          <a:off x="3779838" y="4219575"/>
          <a:ext cx="1235075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50" name="公式" r:id="rId9" imgW="545626" imgH="177646" progId="Equation.3">
                  <p:embed/>
                </p:oleObj>
              </mc:Choice>
              <mc:Fallback>
                <p:oleObj name="公式" r:id="rId9" imgW="545626" imgH="177646" progId="Equation.3">
                  <p:embed/>
                  <p:pic>
                    <p:nvPicPr>
                      <p:cNvPr id="0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4219575"/>
                        <a:ext cx="1235075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2" name="Text Box 2"/>
          <p:cNvSpPr>
            <a:spLocks noChangeArrowheads="1"/>
          </p:cNvSpPr>
          <p:nvPr/>
        </p:nvSpPr>
        <p:spPr bwMode="auto">
          <a:xfrm>
            <a:off x="782638" y="874713"/>
            <a:ext cx="4581525" cy="400050"/>
          </a:xfrm>
          <a:prstGeom prst="homePlate">
            <a:avLst>
              <a:gd name="adj" fmla="val 49680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二、刚体对轴的角动量与角动量定理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8" grpId="0"/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669925" y="781050"/>
            <a:ext cx="54149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2</a:t>
            </a: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、刚体转动的角动量定理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319463" y="1335088"/>
          <a:ext cx="1443037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3" name="Equation" r:id="rId3" imgW="723600" imgH="241200" progId="Equation.DSMT4">
                  <p:embed/>
                </p:oleObj>
              </mc:Choice>
              <mc:Fallback>
                <p:oleObj name="Equation" r:id="rId3" imgW="723600" imgH="241200" progId="Equation.DSMT4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9463" y="1335088"/>
                        <a:ext cx="1443037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1423988" y="1763713"/>
            <a:ext cx="32924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定轴转动刚体，转动惯量不变</a:t>
            </a: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573338" y="2187575"/>
          <a:ext cx="2211387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4" name="Equation" r:id="rId5" imgW="1460160" imgH="393480" progId="Equation.DSMT4">
                  <p:embed/>
                </p:oleObj>
              </mc:Choice>
              <mc:Fallback>
                <p:oleObj name="Equation" r:id="rId5" imgW="1460160" imgH="393480" progId="Equation.DSMT4">
                  <p:embed/>
                  <p:pic>
                    <p:nvPicPr>
                      <p:cNvPr id="0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3338" y="2187575"/>
                        <a:ext cx="2211387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4783138" y="2192338"/>
          <a:ext cx="701675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5" name="Equation" r:id="rId7" imgW="406080" imgH="393480" progId="Equation.DSMT4">
                  <p:embed/>
                </p:oleObj>
              </mc:Choice>
              <mc:Fallback>
                <p:oleObj name="Equation" r:id="rId7" imgW="406080" imgH="393480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3138" y="2192338"/>
                        <a:ext cx="701675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663825" y="2824163"/>
          <a:ext cx="1296988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6" name="Equation" r:id="rId9" imgW="723600" imgH="393480" progId="Equation.DSMT4">
                  <p:embed/>
                </p:oleObj>
              </mc:Choice>
              <mc:Fallback>
                <p:oleObj name="Equation" r:id="rId9" imgW="723600" imgH="393480" progId="Equation.DSMT4">
                  <p:embed/>
                  <p:pic>
                    <p:nvPicPr>
                      <p:cNvPr id="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825" y="2824163"/>
                        <a:ext cx="1296988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0"/>
          <p:cNvGraphicFramePr>
            <a:graphicFrameLocks noChangeAspect="1"/>
          </p:cNvGraphicFramePr>
          <p:nvPr/>
        </p:nvGraphicFramePr>
        <p:xfrm>
          <a:off x="2470150" y="3402013"/>
          <a:ext cx="33162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7" name="Equation" r:id="rId11" imgW="1828800" imgH="355320" progId="Equation.DSMT4">
                  <p:embed/>
                </p:oleObj>
              </mc:Choice>
              <mc:Fallback>
                <p:oleObj name="Equation" r:id="rId11" imgW="1828800" imgH="35532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0" y="3402013"/>
                        <a:ext cx="3316288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/>
          <p:cNvGraphicFramePr>
            <a:graphicFrameLocks noChangeAspect="1"/>
          </p:cNvGraphicFramePr>
          <p:nvPr/>
        </p:nvGraphicFramePr>
        <p:xfrm>
          <a:off x="2478088" y="3967163"/>
          <a:ext cx="284956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8" name="Equation" r:id="rId13" imgW="1371600" imgH="355320" progId="Equation.DSMT4">
                  <p:embed/>
                </p:oleObj>
              </mc:Choice>
              <mc:Fallback>
                <p:oleObj name="Equation" r:id="rId13" imgW="1371600" imgH="35532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8088" y="3967163"/>
                        <a:ext cx="2849562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23"/>
          <p:cNvSpPr txBox="1">
            <a:spLocks noChangeArrowheads="1"/>
          </p:cNvSpPr>
          <p:nvPr/>
        </p:nvSpPr>
        <p:spPr bwMode="auto">
          <a:xfrm>
            <a:off x="971550" y="4335463"/>
            <a:ext cx="6769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    定轴转动刚体的角动量的增量等于合外力矩对轴的冲量矩。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  <p:bldP spid="14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3"/>
          <p:cNvGrpSpPr>
            <a:grpSpLocks/>
          </p:cNvGrpSpPr>
          <p:nvPr/>
        </p:nvGrpSpPr>
        <p:grpSpPr bwMode="auto">
          <a:xfrm>
            <a:off x="1619250" y="1600200"/>
            <a:ext cx="2736850" cy="369888"/>
            <a:chOff x="1691866" y="1012923"/>
            <a:chExt cx="2320950" cy="491212"/>
          </a:xfrm>
        </p:grpSpPr>
        <p:sp>
          <p:nvSpPr>
            <p:cNvPr id="46089" name="Text Box 36"/>
            <p:cNvSpPr txBox="1">
              <a:spLocks noChangeArrowheads="1"/>
            </p:cNvSpPr>
            <p:nvPr/>
          </p:nvSpPr>
          <p:spPr bwMode="auto">
            <a:xfrm>
              <a:off x="1691866" y="1012923"/>
              <a:ext cx="2320950" cy="491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1800">
                  <a:latin typeface="华文中宋" pitchFamily="2" charset="-122"/>
                  <a:ea typeface="华文中宋" pitchFamily="2" charset="-122"/>
                </a:rPr>
                <a:t>若                  </a:t>
              </a:r>
              <a:r>
                <a:rPr lang="en-US" altLang="zh-CN" sz="1800">
                  <a:latin typeface="华文中宋" pitchFamily="2" charset="-122"/>
                  <a:ea typeface="华文中宋" pitchFamily="2" charset="-122"/>
                </a:rPr>
                <a:t>,</a:t>
              </a:r>
              <a:r>
                <a:rPr lang="zh-CN" altLang="en-US" sz="1800">
                  <a:latin typeface="华文中宋" pitchFamily="2" charset="-122"/>
                  <a:ea typeface="华文中宋" pitchFamily="2" charset="-122"/>
                </a:rPr>
                <a:t> 则</a:t>
              </a:r>
            </a:p>
          </p:txBody>
        </p:sp>
        <p:graphicFrame>
          <p:nvGraphicFramePr>
            <p:cNvPr id="46090" name="对象 12"/>
            <p:cNvGraphicFramePr>
              <a:graphicFrameLocks noChangeAspect="1"/>
            </p:cNvGraphicFramePr>
            <p:nvPr/>
          </p:nvGraphicFramePr>
          <p:xfrm>
            <a:off x="2009583" y="1019773"/>
            <a:ext cx="1113356" cy="483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092" name="Equation" r:id="rId3" imgW="558720" imgH="241200" progId="Equation.DSMT4">
                    <p:embed/>
                  </p:oleObj>
                </mc:Choice>
                <mc:Fallback>
                  <p:oleObj name="Equation" r:id="rId3" imgW="558720" imgH="241200" progId="Equation.DSMT4">
                    <p:embed/>
                    <p:pic>
                      <p:nvPicPr>
                        <p:cNvPr id="0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9583" y="1019773"/>
                          <a:ext cx="1113356" cy="4835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Text Box 37"/>
          <p:cNvSpPr txBox="1">
            <a:spLocks noChangeArrowheads="1"/>
          </p:cNvSpPr>
          <p:nvPr/>
        </p:nvSpPr>
        <p:spPr bwMode="auto">
          <a:xfrm>
            <a:off x="3708400" y="1625600"/>
            <a:ext cx="2735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1800" i="1">
                <a:ea typeface="华文中宋" pitchFamily="2" charset="-122"/>
              </a:rPr>
              <a:t>L </a:t>
            </a:r>
            <a:r>
              <a:rPr lang="en-US" altLang="zh-CN" sz="1800">
                <a:ea typeface="华文中宋" pitchFamily="2" charset="-122"/>
              </a:rPr>
              <a:t>= </a:t>
            </a:r>
            <a:r>
              <a:rPr lang="en-US" altLang="zh-CN" sz="1800" i="1">
                <a:ea typeface="华文中宋" pitchFamily="2" charset="-122"/>
              </a:rPr>
              <a:t>Jw </a:t>
            </a:r>
            <a:r>
              <a:rPr lang="en-US" altLang="zh-CN" sz="1800">
                <a:ea typeface="华文中宋" pitchFamily="2" charset="-122"/>
              </a:rPr>
              <a:t>= </a:t>
            </a:r>
            <a:r>
              <a:rPr lang="zh-CN" altLang="en-US" sz="1800">
                <a:ea typeface="华文中宋" pitchFamily="2" charset="-122"/>
              </a:rPr>
              <a:t>恒量 </a:t>
            </a:r>
          </a:p>
        </p:txBody>
      </p:sp>
      <p:sp>
        <p:nvSpPr>
          <p:cNvPr id="16" name="Text Box 38"/>
          <p:cNvSpPr txBox="1">
            <a:spLocks noChangeArrowheads="1"/>
          </p:cNvSpPr>
          <p:nvPr/>
        </p:nvSpPr>
        <p:spPr bwMode="auto">
          <a:xfrm>
            <a:off x="1025525" y="2130425"/>
            <a:ext cx="67802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    </a:t>
            </a:r>
            <a:r>
              <a:rPr lang="zh-CN" altLang="zh-CN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外力对某轴的力矩之和为零，则该物体对同一轴的角动量守恒</a:t>
            </a:r>
            <a:r>
              <a:rPr lang="en-US" altLang="zh-CN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.</a:t>
            </a: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827088" y="2689225"/>
            <a:ext cx="57007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>
              <a:buFont typeface="Arial" charset="0"/>
              <a:buNone/>
            </a:pPr>
            <a:r>
              <a:rPr lang="zh-CN" altLang="en-US" sz="18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讨论：</a:t>
            </a:r>
          </a:p>
          <a:p>
            <a:pPr>
              <a:buFont typeface="Arial" charset="0"/>
              <a:buNone/>
            </a:pPr>
            <a:r>
              <a:rPr lang="en-US" altLang="zh-CN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1</a:t>
            </a: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、刚体组绕同一轴转动时的角动量守恒 </a:t>
            </a:r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2316163" y="3363913"/>
            <a:ext cx="4056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1800" i="1">
                <a:solidFill>
                  <a:srgbClr val="C00000"/>
                </a:solidFill>
                <a:ea typeface="宋体" pitchFamily="2" charset="-122"/>
              </a:rPr>
              <a:t>L</a:t>
            </a:r>
            <a:r>
              <a:rPr lang="en-US" altLang="zh-CN" sz="1800">
                <a:solidFill>
                  <a:srgbClr val="C00000"/>
                </a:solidFill>
                <a:ea typeface="宋体" pitchFamily="2" charset="-122"/>
              </a:rPr>
              <a:t>= </a:t>
            </a:r>
            <a:r>
              <a:rPr lang="en-US" altLang="zh-CN" sz="1800" i="1">
                <a:solidFill>
                  <a:srgbClr val="C00000"/>
                </a:solidFill>
                <a:ea typeface="宋体" pitchFamily="2" charset="-122"/>
              </a:rPr>
              <a:t>J</a:t>
            </a:r>
            <a:r>
              <a:rPr lang="en-US" altLang="zh-CN" sz="1800" baseline="-25000">
                <a:solidFill>
                  <a:srgbClr val="C00000"/>
                </a:solidFill>
                <a:ea typeface="宋体" pitchFamily="2" charset="-122"/>
              </a:rPr>
              <a:t>1</a:t>
            </a:r>
            <a:r>
              <a:rPr lang="en-US" altLang="zh-CN" sz="1800" i="1">
                <a:solidFill>
                  <a:srgbClr val="C00000"/>
                </a:solidFill>
                <a:latin typeface="Symbol" pitchFamily="18" charset="2"/>
                <a:ea typeface="宋体" pitchFamily="2" charset="-122"/>
              </a:rPr>
              <a:t>w</a:t>
            </a:r>
            <a:r>
              <a:rPr lang="en-US" altLang="zh-CN" sz="1800" baseline="-25000">
                <a:solidFill>
                  <a:srgbClr val="C00000"/>
                </a:solidFill>
                <a:ea typeface="宋体" pitchFamily="2" charset="-122"/>
              </a:rPr>
              <a:t>1</a:t>
            </a:r>
            <a:r>
              <a:rPr lang="en-US" altLang="zh-CN" sz="1800">
                <a:solidFill>
                  <a:srgbClr val="C00000"/>
                </a:solidFill>
                <a:ea typeface="宋体" pitchFamily="2" charset="-122"/>
              </a:rPr>
              <a:t> +</a:t>
            </a:r>
            <a:r>
              <a:rPr lang="en-US" altLang="zh-CN" sz="1800" i="1">
                <a:solidFill>
                  <a:srgbClr val="C00000"/>
                </a:solidFill>
                <a:ea typeface="宋体" pitchFamily="2" charset="-122"/>
              </a:rPr>
              <a:t>J</a:t>
            </a:r>
            <a:r>
              <a:rPr lang="en-US" altLang="zh-CN" sz="1800" baseline="-25000">
                <a:solidFill>
                  <a:srgbClr val="C00000"/>
                </a:solidFill>
                <a:ea typeface="宋体" pitchFamily="2" charset="-122"/>
              </a:rPr>
              <a:t>2</a:t>
            </a:r>
            <a:r>
              <a:rPr lang="en-US" altLang="zh-CN" sz="1800" i="1">
                <a:solidFill>
                  <a:srgbClr val="C00000"/>
                </a:solidFill>
                <a:latin typeface="Symbol" pitchFamily="18" charset="2"/>
                <a:ea typeface="宋体" pitchFamily="2" charset="-122"/>
              </a:rPr>
              <a:t>w</a:t>
            </a:r>
            <a:r>
              <a:rPr lang="en-US" altLang="zh-CN" sz="1800" baseline="-25000">
                <a:solidFill>
                  <a:srgbClr val="C00000"/>
                </a:solidFill>
                <a:ea typeface="宋体" pitchFamily="2" charset="-122"/>
              </a:rPr>
              <a:t>2</a:t>
            </a:r>
            <a:r>
              <a:rPr lang="en-US" altLang="zh-CN" sz="1800">
                <a:solidFill>
                  <a:srgbClr val="C00000"/>
                </a:solidFill>
                <a:ea typeface="宋体" pitchFamily="2" charset="-122"/>
              </a:rPr>
              <a:t> +…= </a:t>
            </a:r>
            <a:r>
              <a:rPr lang="zh-CN" altLang="en-US" sz="1800">
                <a:solidFill>
                  <a:srgbClr val="C00000"/>
                </a:solidFill>
                <a:ea typeface="宋体" pitchFamily="2" charset="-122"/>
              </a:rPr>
              <a:t>常量 </a:t>
            </a:r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539750" y="3867150"/>
            <a:ext cx="813593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1800">
                <a:latin typeface="华文中宋" pitchFamily="2" charset="-122"/>
                <a:ea typeface="华文中宋" pitchFamily="2" charset="-122"/>
              </a:rPr>
              <a:t>     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内力成对出现，一对内力矩总是为零，故内力矩不影响质点系总角动量，但可影响质点系内某些质点的角动量。</a:t>
            </a:r>
          </a:p>
        </p:txBody>
      </p:sp>
      <p:sp>
        <p:nvSpPr>
          <p:cNvPr id="46088" name="Text Box 2"/>
          <p:cNvSpPr>
            <a:spLocks noChangeArrowheads="1"/>
          </p:cNvSpPr>
          <p:nvPr/>
        </p:nvSpPr>
        <p:spPr bwMode="auto">
          <a:xfrm>
            <a:off x="749300" y="874713"/>
            <a:ext cx="4581525" cy="401637"/>
          </a:xfrm>
          <a:prstGeom prst="homePlate">
            <a:avLst>
              <a:gd name="adj" fmla="val 49484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三、刚体对轴的角动量守恒定律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395288" y="1282700"/>
            <a:ext cx="3600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1800">
                <a:ea typeface="华文中宋" pitchFamily="2" charset="-122"/>
                <a:cs typeface="Times New Roman" pitchFamily="18" charset="0"/>
              </a:rPr>
              <a:t>（</a:t>
            </a:r>
            <a:r>
              <a:rPr kumimoji="1" lang="en-US" altLang="zh-CN" sz="1800">
                <a:ea typeface="华文中宋" pitchFamily="2" charset="-122"/>
                <a:cs typeface="Times New Roman" pitchFamily="18" charset="0"/>
              </a:rPr>
              <a:t>1</a:t>
            </a:r>
            <a:r>
              <a:rPr kumimoji="1" lang="zh-CN" altLang="en-US" sz="1800">
                <a:ea typeface="华文中宋" pitchFamily="2" charset="-122"/>
                <a:cs typeface="Times New Roman" pitchFamily="18" charset="0"/>
              </a:rPr>
              <a:t>）转动惯量</a:t>
            </a:r>
            <a:r>
              <a:rPr kumimoji="1" lang="en-US" altLang="zh-CN" sz="1800" i="1">
                <a:ea typeface="华文中宋" pitchFamily="2" charset="-122"/>
                <a:cs typeface="Times New Roman" pitchFamily="18" charset="0"/>
              </a:rPr>
              <a:t>J</a:t>
            </a:r>
            <a:r>
              <a:rPr kumimoji="1" lang="zh-CN" altLang="en-US" sz="1800">
                <a:ea typeface="华文中宋" pitchFamily="2" charset="-122"/>
                <a:cs typeface="Times New Roman" pitchFamily="18" charset="0"/>
              </a:rPr>
              <a:t>保持不变的刚体</a:t>
            </a:r>
          </a:p>
        </p:txBody>
      </p:sp>
      <p:grpSp>
        <p:nvGrpSpPr>
          <p:cNvPr id="4" name="组合 10"/>
          <p:cNvGrpSpPr>
            <a:grpSpLocks/>
          </p:cNvGrpSpPr>
          <p:nvPr/>
        </p:nvGrpSpPr>
        <p:grpSpPr bwMode="auto">
          <a:xfrm>
            <a:off x="884238" y="1716088"/>
            <a:ext cx="2143125" cy="388937"/>
            <a:chOff x="1691866" y="1012923"/>
            <a:chExt cx="2143717" cy="519608"/>
          </a:xfrm>
        </p:grpSpPr>
        <p:sp>
          <p:nvSpPr>
            <p:cNvPr id="47118" name="Text Box 36"/>
            <p:cNvSpPr txBox="1">
              <a:spLocks noChangeArrowheads="1"/>
            </p:cNvSpPr>
            <p:nvPr/>
          </p:nvSpPr>
          <p:spPr bwMode="auto">
            <a:xfrm>
              <a:off x="1691866" y="1012923"/>
              <a:ext cx="2143717" cy="494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1800">
                  <a:ea typeface="华文中宋" pitchFamily="2" charset="-122"/>
                </a:rPr>
                <a:t>当                      时，</a:t>
              </a:r>
            </a:p>
          </p:txBody>
        </p:sp>
        <p:graphicFrame>
          <p:nvGraphicFramePr>
            <p:cNvPr id="47119" name="对象 12"/>
            <p:cNvGraphicFramePr>
              <a:graphicFrameLocks noChangeAspect="1"/>
            </p:cNvGraphicFramePr>
            <p:nvPr/>
          </p:nvGraphicFramePr>
          <p:xfrm>
            <a:off x="2124331" y="1050331"/>
            <a:ext cx="1111557" cy="482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23" name="Equation" r:id="rId3" imgW="558720" imgH="241200" progId="Equation.DSMT4">
                    <p:embed/>
                  </p:oleObj>
                </mc:Choice>
                <mc:Fallback>
                  <p:oleObj name="Equation" r:id="rId3" imgW="558720" imgH="241200" progId="Equation.DSMT4">
                    <p:embed/>
                    <p:pic>
                      <p:nvPicPr>
                        <p:cNvPr id="0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4331" y="1050331"/>
                          <a:ext cx="1111557" cy="482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900363" y="1744663"/>
          <a:ext cx="1239837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4" name="公式" r:id="rId5" imgW="634725" imgH="228501" progId="Equation.3">
                  <p:embed/>
                </p:oleObj>
              </mc:Choice>
              <mc:Fallback>
                <p:oleObj name="公式" r:id="rId5" imgW="634725" imgH="228501" progId="Equation.3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0363" y="1744663"/>
                        <a:ext cx="1239837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16"/>
          <p:cNvGrpSpPr>
            <a:grpSpLocks/>
          </p:cNvGrpSpPr>
          <p:nvPr/>
        </p:nvGrpSpPr>
        <p:grpSpPr bwMode="auto">
          <a:xfrm>
            <a:off x="900113" y="2066925"/>
            <a:ext cx="1349375" cy="433388"/>
            <a:chOff x="1939362" y="2239186"/>
            <a:chExt cx="1349549" cy="574427"/>
          </a:xfrm>
        </p:grpSpPr>
        <p:sp>
          <p:nvSpPr>
            <p:cNvPr id="47116" name="矩形 34"/>
            <p:cNvSpPr>
              <a:spLocks noChangeArrowheads="1"/>
            </p:cNvSpPr>
            <p:nvPr/>
          </p:nvSpPr>
          <p:spPr bwMode="auto">
            <a:xfrm>
              <a:off x="1939362" y="2239186"/>
              <a:ext cx="541266" cy="4910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ea typeface="华文中宋" pitchFamily="2" charset="-122"/>
                </a:rPr>
                <a:t>则</a:t>
              </a:r>
              <a:endParaRPr lang="zh-CN" altLang="en-US" sz="1800">
                <a:ea typeface="华文中宋" pitchFamily="2" charset="-122"/>
              </a:endParaRPr>
            </a:p>
          </p:txBody>
        </p:sp>
        <p:graphicFrame>
          <p:nvGraphicFramePr>
            <p:cNvPr id="47117" name="对象 15"/>
            <p:cNvGraphicFramePr>
              <a:graphicFrameLocks noChangeAspect="1"/>
            </p:cNvGraphicFramePr>
            <p:nvPr/>
          </p:nvGraphicFramePr>
          <p:xfrm>
            <a:off x="2300031" y="2319174"/>
            <a:ext cx="988880" cy="494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25" name="公式" r:id="rId7" imgW="457200" imgH="228600" progId="Equation.3">
                    <p:embed/>
                  </p:oleObj>
                </mc:Choice>
                <mc:Fallback>
                  <p:oleObj name="公式" r:id="rId7" imgW="457200" imgH="228600" progId="Equation.3">
                    <p:embed/>
                    <p:pic>
                      <p:nvPicPr>
                        <p:cNvPr id="0" name="对象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0031" y="2319174"/>
                          <a:ext cx="988880" cy="4944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Rectangle 11"/>
          <p:cNvSpPr>
            <a:spLocks noChangeArrowheads="1"/>
          </p:cNvSpPr>
          <p:nvPr/>
        </p:nvSpPr>
        <p:spPr bwMode="auto">
          <a:xfrm>
            <a:off x="6492875" y="2635250"/>
            <a:ext cx="11033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1800">
                <a:ea typeface="华文中宋" pitchFamily="2" charset="-122"/>
              </a:rPr>
              <a:t>回转仪</a:t>
            </a:r>
          </a:p>
        </p:txBody>
      </p:sp>
      <p:pic>
        <p:nvPicPr>
          <p:cNvPr id="19" name="Picture 2" descr="A computer generated image of a gyroscope. The outer ring supports to free spinning inner rings and a disc at the center. The gyroscope stands on a supporting base which holds it upright."/>
          <p:cNvPicPr preferRelativeResize="0"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01" r="11177"/>
          <a:stretch>
            <a:fillRect/>
          </a:stretch>
        </p:blipFill>
        <p:spPr bwMode="auto">
          <a:xfrm>
            <a:off x="4665663" y="989013"/>
            <a:ext cx="2066925" cy="165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8" descr="File:Gyroscope operation.gif"/>
          <p:cNvPicPr preferRelativeResize="0"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100" y="866775"/>
            <a:ext cx="2466975" cy="184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468313" y="842963"/>
            <a:ext cx="35274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charset="0"/>
              <a:buNone/>
            </a:pPr>
            <a:r>
              <a:rPr kumimoji="1" lang="en-US" altLang="zh-CN" sz="1800">
                <a:solidFill>
                  <a:srgbClr val="0000FF"/>
                </a:solidFill>
                <a:ea typeface="华文中宋" pitchFamily="2" charset="-122"/>
              </a:rPr>
              <a:t>2</a:t>
            </a:r>
            <a:r>
              <a:rPr kumimoji="1" lang="zh-CN" altLang="en-US" sz="1800">
                <a:solidFill>
                  <a:srgbClr val="0000FF"/>
                </a:solidFill>
                <a:ea typeface="华文中宋" pitchFamily="2" charset="-122"/>
              </a:rPr>
              <a:t>、角动量守恒定律的两种情况：</a:t>
            </a:r>
          </a:p>
        </p:txBody>
      </p:sp>
      <p:pic>
        <p:nvPicPr>
          <p:cNvPr id="259092" name="Picture 4" descr="http://www.military-today.com/helicopters/kamov_ka50_hokum_l7.jpg"/>
          <p:cNvPicPr preferRelativeResize="0"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37"/>
          <a:stretch>
            <a:fillRect/>
          </a:stretch>
        </p:blipFill>
        <p:spPr bwMode="auto">
          <a:xfrm>
            <a:off x="1630363" y="2571750"/>
            <a:ext cx="3517900" cy="167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Box 18"/>
          <p:cNvSpPr txBox="1">
            <a:spLocks noChangeArrowheads="1"/>
          </p:cNvSpPr>
          <p:nvPr/>
        </p:nvSpPr>
        <p:spPr bwMode="auto">
          <a:xfrm>
            <a:off x="1908175" y="4191000"/>
            <a:ext cx="2808288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1800">
                <a:ea typeface="华文中宋" pitchFamily="2" charset="-122"/>
              </a:rPr>
              <a:t>装置反向转动的双旋翼产生反向角动量而相互抵消。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5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18" grpId="0" autoUpdateAnimBg="0"/>
      <p:bldP spid="13" grpId="0" autoUpdateAnimBg="0"/>
      <p:bldP spid="2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395288" y="835025"/>
            <a:ext cx="30241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（</a:t>
            </a:r>
            <a:r>
              <a:rPr kumimoji="1" lang="en-US" altLang="zh-CN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2</a:t>
            </a:r>
            <a:r>
              <a:rPr kumimoji="1"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）转动惯量可变的物体</a:t>
            </a:r>
          </a:p>
        </p:txBody>
      </p:sp>
      <p:grpSp>
        <p:nvGrpSpPr>
          <p:cNvPr id="4" name="组合 10"/>
          <p:cNvGrpSpPr>
            <a:grpSpLocks/>
          </p:cNvGrpSpPr>
          <p:nvPr/>
        </p:nvGrpSpPr>
        <p:grpSpPr bwMode="auto">
          <a:xfrm>
            <a:off x="971550" y="1155700"/>
            <a:ext cx="2028825" cy="377825"/>
            <a:chOff x="1691866" y="1012923"/>
            <a:chExt cx="2027896" cy="505956"/>
          </a:xfrm>
        </p:grpSpPr>
        <p:sp>
          <p:nvSpPr>
            <p:cNvPr id="48160" name="Text Box 36"/>
            <p:cNvSpPr txBox="1">
              <a:spLocks noChangeArrowheads="1"/>
            </p:cNvSpPr>
            <p:nvPr/>
          </p:nvSpPr>
          <p:spPr bwMode="auto">
            <a:xfrm>
              <a:off x="1691866" y="1012923"/>
              <a:ext cx="2027896" cy="4949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1800">
                  <a:latin typeface="华文中宋" pitchFamily="2" charset="-122"/>
                  <a:ea typeface="华文中宋" pitchFamily="2" charset="-122"/>
                </a:rPr>
                <a:t>当                  时</a:t>
              </a:r>
            </a:p>
          </p:txBody>
        </p:sp>
        <p:graphicFrame>
          <p:nvGraphicFramePr>
            <p:cNvPr id="48161" name="对象 12"/>
            <p:cNvGraphicFramePr>
              <a:graphicFrameLocks noChangeAspect="1"/>
            </p:cNvGraphicFramePr>
            <p:nvPr/>
          </p:nvGraphicFramePr>
          <p:xfrm>
            <a:off x="2197886" y="1061679"/>
            <a:ext cx="1138238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65" name="公式" r:id="rId4" imgW="571252" imgH="228501" progId="Equation.3">
                    <p:embed/>
                  </p:oleObj>
                </mc:Choice>
                <mc:Fallback>
                  <p:oleObj name="公式" r:id="rId4" imgW="571252" imgH="228501" progId="Equation.3">
                    <p:embed/>
                    <p:pic>
                      <p:nvPicPr>
                        <p:cNvPr id="0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7886" y="1061679"/>
                          <a:ext cx="1138238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203575" y="1160463"/>
          <a:ext cx="113665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66" name="公式" r:id="rId6" imgW="507780" imgH="215806" progId="Equation.3">
                  <p:embed/>
                </p:oleObj>
              </mc:Choice>
              <mc:Fallback>
                <p:oleObj name="公式" r:id="rId6" imgW="507780" imgH="215806" progId="Equation.3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1160463"/>
                        <a:ext cx="1136650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14"/>
          <p:cNvGrpSpPr>
            <a:grpSpLocks/>
          </p:cNvGrpSpPr>
          <p:nvPr/>
        </p:nvGrpSpPr>
        <p:grpSpPr bwMode="auto">
          <a:xfrm>
            <a:off x="1835150" y="1443038"/>
            <a:ext cx="1562100" cy="552450"/>
            <a:chOff x="1688921" y="1985726"/>
            <a:chExt cx="1561690" cy="736837"/>
          </a:xfrm>
        </p:grpSpPr>
        <p:sp>
          <p:nvSpPr>
            <p:cNvPr id="48158" name="矩形 34"/>
            <p:cNvSpPr>
              <a:spLocks noChangeArrowheads="1"/>
            </p:cNvSpPr>
            <p:nvPr/>
          </p:nvSpPr>
          <p:spPr bwMode="auto">
            <a:xfrm>
              <a:off x="1688921" y="2104827"/>
              <a:ext cx="490409" cy="4926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则</a:t>
              </a:r>
              <a:endParaRPr lang="zh-CN" altLang="en-US" sz="1800">
                <a:latin typeface="华文中宋" pitchFamily="2" charset="-122"/>
                <a:ea typeface="华文中宋" pitchFamily="2" charset="-122"/>
              </a:endParaRPr>
            </a:p>
          </p:txBody>
        </p:sp>
        <p:graphicFrame>
          <p:nvGraphicFramePr>
            <p:cNvPr id="48159" name="对象 16"/>
            <p:cNvGraphicFramePr>
              <a:graphicFrameLocks noChangeAspect="1"/>
            </p:cNvGraphicFramePr>
            <p:nvPr/>
          </p:nvGraphicFramePr>
          <p:xfrm>
            <a:off x="2422317" y="1985726"/>
            <a:ext cx="828294" cy="736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67" name="公式" r:id="rId8" imgW="457002" imgH="406224" progId="Equation.3">
                    <p:embed/>
                  </p:oleObj>
                </mc:Choice>
                <mc:Fallback>
                  <p:oleObj name="公式" r:id="rId8" imgW="457002" imgH="406224" progId="Equation.3">
                    <p:embed/>
                    <p:pic>
                      <p:nvPicPr>
                        <p:cNvPr id="0" name="对象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2317" y="1985726"/>
                          <a:ext cx="828294" cy="7368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Text Box 23"/>
          <p:cNvSpPr txBox="1">
            <a:spLocks noChangeArrowheads="1"/>
          </p:cNvSpPr>
          <p:nvPr/>
        </p:nvSpPr>
        <p:spPr bwMode="auto">
          <a:xfrm>
            <a:off x="1166813" y="1919288"/>
            <a:ext cx="27574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1800">
                <a:latin typeface="华文中宋" pitchFamily="2" charset="-122"/>
                <a:ea typeface="华文中宋" pitchFamily="2" charset="-122"/>
              </a:rPr>
              <a:t>例：旋转的舞蹈演员</a:t>
            </a:r>
          </a:p>
        </p:txBody>
      </p:sp>
      <p:pic>
        <p:nvPicPr>
          <p:cNvPr id="19" name="Picture 25" descr="滑冰"/>
          <p:cNvPicPr preferRelativeResize="0"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909"/>
          <a:stretch>
            <a:fillRect/>
          </a:stretch>
        </p:blipFill>
        <p:spPr bwMode="auto">
          <a:xfrm>
            <a:off x="755650" y="2501900"/>
            <a:ext cx="3568700" cy="2014538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0109" name="Rectangle 13"/>
          <p:cNvSpPr>
            <a:spLocks noChangeArrowheads="1"/>
          </p:cNvSpPr>
          <p:nvPr/>
        </p:nvSpPr>
        <p:spPr bwMode="auto">
          <a:xfrm>
            <a:off x="5441950" y="2365375"/>
            <a:ext cx="3276600" cy="368300"/>
          </a:xfrm>
          <a:prstGeom prst="rect">
            <a:avLst/>
          </a:prstGeom>
          <a:solidFill>
            <a:schemeClr val="bg1"/>
          </a:solidFill>
          <a:ln w="57150">
            <a:solidFill>
              <a:srgbClr val="99FF33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pic>
        <p:nvPicPr>
          <p:cNvPr id="260110" name="Picture 14" descr="跳水2"/>
          <p:cNvPicPr preferRelativeResize="0"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550" y="1441450"/>
            <a:ext cx="1158875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0111" name="Picture 15" descr="跳水"/>
          <p:cNvPicPr preferRelativeResize="0"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438" y="2252663"/>
            <a:ext cx="9429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0112" name="Picture 16" descr="跳水5"/>
          <p:cNvPicPr preferRelativeResize="0"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7950" y="2995613"/>
            <a:ext cx="6731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7"/>
          <p:cNvGrpSpPr>
            <a:grpSpLocks/>
          </p:cNvGrpSpPr>
          <p:nvPr/>
        </p:nvGrpSpPr>
        <p:grpSpPr bwMode="auto">
          <a:xfrm>
            <a:off x="5518150" y="1495425"/>
            <a:ext cx="1431925" cy="1122363"/>
            <a:chOff x="0" y="0"/>
            <a:chExt cx="902" cy="1178"/>
          </a:xfrm>
        </p:grpSpPr>
        <p:pic>
          <p:nvPicPr>
            <p:cNvPr id="48156" name="Picture 18" descr="跳水4"/>
            <p:cNvPicPr preferRelativeResize="0"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" y="0"/>
              <a:ext cx="566" cy="10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57" name="Rectangle 19"/>
            <p:cNvSpPr>
              <a:spLocks noChangeArrowheads="1"/>
            </p:cNvSpPr>
            <p:nvPr/>
          </p:nvSpPr>
          <p:spPr bwMode="auto">
            <a:xfrm>
              <a:off x="0" y="790"/>
              <a:ext cx="624" cy="3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pic>
        <p:nvPicPr>
          <p:cNvPr id="260116" name="Picture 20" descr="跳水4"/>
          <p:cNvPicPr preferRelativeResize="0"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0" y="1052513"/>
            <a:ext cx="750888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0117" name="Picture 21" descr="跳水3”"/>
          <p:cNvPicPr preferRelativeResize="0"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750" y="938213"/>
            <a:ext cx="914400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0118" name="Picture 22" descr="跳水3"/>
          <p:cNvPicPr preferRelativeResize="0"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3550" y="1074738"/>
            <a:ext cx="974725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0119" name="Rectangle 23"/>
          <p:cNvSpPr>
            <a:spLocks noChangeArrowheads="1"/>
          </p:cNvSpPr>
          <p:nvPr/>
        </p:nvSpPr>
        <p:spPr bwMode="auto">
          <a:xfrm>
            <a:off x="5518150" y="3879850"/>
            <a:ext cx="3200400" cy="368300"/>
          </a:xfrm>
          <a:prstGeom prst="rect">
            <a:avLst/>
          </a:prstGeom>
          <a:solidFill>
            <a:srgbClr val="66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7" name="Group 24"/>
          <p:cNvGrpSpPr>
            <a:grpSpLocks/>
          </p:cNvGrpSpPr>
          <p:nvPr/>
        </p:nvGrpSpPr>
        <p:grpSpPr bwMode="auto">
          <a:xfrm>
            <a:off x="5518150" y="938213"/>
            <a:ext cx="3200400" cy="2743200"/>
            <a:chOff x="0" y="0"/>
            <a:chExt cx="2016" cy="2880"/>
          </a:xfrm>
        </p:grpSpPr>
        <p:pic>
          <p:nvPicPr>
            <p:cNvPr id="48154" name="Picture 25" descr="跳水"/>
            <p:cNvPicPr preferRelativeResize="0"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966" cy="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55" name="Rectangle 26"/>
            <p:cNvSpPr>
              <a:spLocks noChangeArrowheads="1"/>
            </p:cNvSpPr>
            <p:nvPr/>
          </p:nvSpPr>
          <p:spPr bwMode="auto">
            <a:xfrm>
              <a:off x="0" y="2470"/>
              <a:ext cx="2016" cy="388"/>
            </a:xfrm>
            <a:prstGeom prst="rect">
              <a:avLst/>
            </a:prstGeom>
            <a:solidFill>
              <a:srgbClr val="66FFFF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60123" name="Rectangle 27"/>
          <p:cNvSpPr>
            <a:spLocks noChangeArrowheads="1"/>
          </p:cNvSpPr>
          <p:nvPr/>
        </p:nvSpPr>
        <p:spPr bwMode="auto">
          <a:xfrm>
            <a:off x="5365750" y="2279650"/>
            <a:ext cx="914400" cy="3683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scene3d>
            <a:camera prst="legacyObliqueTopRight">
              <a:rot lat="20999984" lon="0" rev="0"/>
            </a:camera>
            <a:lightRig rig="legacyFlat2" dir="t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anchor="ctr">
            <a:spAutoFit/>
            <a:flatTx/>
          </a:bodyPr>
          <a:lstStyle/>
          <a:p>
            <a:endParaRPr lang="zh-CN" altLang="en-US"/>
          </a:p>
        </p:txBody>
      </p:sp>
      <p:grpSp>
        <p:nvGrpSpPr>
          <p:cNvPr id="8" name="Group 28"/>
          <p:cNvGrpSpPr>
            <a:grpSpLocks/>
          </p:cNvGrpSpPr>
          <p:nvPr/>
        </p:nvGrpSpPr>
        <p:grpSpPr bwMode="auto">
          <a:xfrm>
            <a:off x="6584950" y="3306763"/>
            <a:ext cx="2667000" cy="793750"/>
            <a:chOff x="0" y="-127"/>
            <a:chExt cx="1728" cy="858"/>
          </a:xfrm>
        </p:grpSpPr>
        <p:sp>
          <p:nvSpPr>
            <p:cNvPr id="48149" name="未知"/>
            <p:cNvSpPr>
              <a:spLocks/>
            </p:cNvSpPr>
            <p:nvPr/>
          </p:nvSpPr>
          <p:spPr bwMode="auto">
            <a:xfrm>
              <a:off x="528" y="116"/>
              <a:ext cx="1056" cy="399"/>
            </a:xfrm>
            <a:custGeom>
              <a:avLst/>
              <a:gdLst>
                <a:gd name="T0" fmla="*/ 2 w 1600"/>
                <a:gd name="T1" fmla="*/ 24 h 440"/>
                <a:gd name="T2" fmla="*/ 7 w 1600"/>
                <a:gd name="T3" fmla="*/ 24 h 440"/>
                <a:gd name="T4" fmla="*/ 1 w 1600"/>
                <a:gd name="T5" fmla="*/ 15 h 440"/>
                <a:gd name="T6" fmla="*/ 4 w 1600"/>
                <a:gd name="T7" fmla="*/ 5 h 440"/>
                <a:gd name="T8" fmla="*/ 11 w 1600"/>
                <a:gd name="T9" fmla="*/ 5 h 440"/>
                <a:gd name="T10" fmla="*/ 20 w 1600"/>
                <a:gd name="T11" fmla="*/ 15 h 440"/>
                <a:gd name="T12" fmla="*/ 18 w 1600"/>
                <a:gd name="T13" fmla="*/ 5 h 440"/>
                <a:gd name="T14" fmla="*/ 20 w 1600"/>
                <a:gd name="T15" fmla="*/ 1 h 440"/>
                <a:gd name="T16" fmla="*/ 25 w 1600"/>
                <a:gd name="T17" fmla="*/ 11 h 440"/>
                <a:gd name="T18" fmla="*/ 30 w 1600"/>
                <a:gd name="T19" fmla="*/ 15 h 440"/>
                <a:gd name="T20" fmla="*/ 36 w 1600"/>
                <a:gd name="T21" fmla="*/ 1 h 440"/>
                <a:gd name="T22" fmla="*/ 36 w 1600"/>
                <a:gd name="T23" fmla="*/ 15 h 440"/>
                <a:gd name="T24" fmla="*/ 42 w 1600"/>
                <a:gd name="T25" fmla="*/ 11 h 440"/>
                <a:gd name="T26" fmla="*/ 49 w 1600"/>
                <a:gd name="T27" fmla="*/ 1 h 440"/>
                <a:gd name="T28" fmla="*/ 55 w 1600"/>
                <a:gd name="T29" fmla="*/ 11 h 440"/>
                <a:gd name="T30" fmla="*/ 51 w 1600"/>
                <a:gd name="T31" fmla="*/ 15 h 440"/>
                <a:gd name="T32" fmla="*/ 44 w 1600"/>
                <a:gd name="T33" fmla="*/ 24 h 440"/>
                <a:gd name="T34" fmla="*/ 55 w 1600"/>
                <a:gd name="T35" fmla="*/ 24 h 440"/>
                <a:gd name="T36" fmla="*/ 54 w 1600"/>
                <a:gd name="T37" fmla="*/ 34 h 440"/>
                <a:gd name="T38" fmla="*/ 49 w 1600"/>
                <a:gd name="T39" fmla="*/ 40 h 440"/>
                <a:gd name="T40" fmla="*/ 38 w 1600"/>
                <a:gd name="T41" fmla="*/ 44 h 440"/>
                <a:gd name="T42" fmla="*/ 11 w 1600"/>
                <a:gd name="T43" fmla="*/ 40 h 440"/>
                <a:gd name="T44" fmla="*/ 2 w 1600"/>
                <a:gd name="T45" fmla="*/ 24 h 44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600"/>
                <a:gd name="T70" fmla="*/ 0 h 440"/>
                <a:gd name="T71" fmla="*/ 1600 w 1600"/>
                <a:gd name="T72" fmla="*/ 440 h 440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600" h="440">
                  <a:moveTo>
                    <a:pt x="64" y="248"/>
                  </a:moveTo>
                  <a:cubicBezTo>
                    <a:pt x="48" y="224"/>
                    <a:pt x="216" y="264"/>
                    <a:pt x="208" y="248"/>
                  </a:cubicBezTo>
                  <a:cubicBezTo>
                    <a:pt x="200" y="232"/>
                    <a:pt x="32" y="184"/>
                    <a:pt x="16" y="152"/>
                  </a:cubicBezTo>
                  <a:cubicBezTo>
                    <a:pt x="0" y="120"/>
                    <a:pt x="64" y="72"/>
                    <a:pt x="112" y="56"/>
                  </a:cubicBezTo>
                  <a:cubicBezTo>
                    <a:pt x="160" y="40"/>
                    <a:pt x="232" y="40"/>
                    <a:pt x="304" y="56"/>
                  </a:cubicBezTo>
                  <a:cubicBezTo>
                    <a:pt x="376" y="72"/>
                    <a:pt x="512" y="152"/>
                    <a:pt x="544" y="152"/>
                  </a:cubicBezTo>
                  <a:cubicBezTo>
                    <a:pt x="576" y="152"/>
                    <a:pt x="496" y="80"/>
                    <a:pt x="496" y="56"/>
                  </a:cubicBezTo>
                  <a:cubicBezTo>
                    <a:pt x="496" y="32"/>
                    <a:pt x="512" y="0"/>
                    <a:pt x="544" y="8"/>
                  </a:cubicBezTo>
                  <a:cubicBezTo>
                    <a:pt x="576" y="16"/>
                    <a:pt x="640" y="80"/>
                    <a:pt x="688" y="104"/>
                  </a:cubicBezTo>
                  <a:cubicBezTo>
                    <a:pt x="736" y="128"/>
                    <a:pt x="776" y="168"/>
                    <a:pt x="832" y="152"/>
                  </a:cubicBezTo>
                  <a:cubicBezTo>
                    <a:pt x="888" y="136"/>
                    <a:pt x="992" y="8"/>
                    <a:pt x="1024" y="8"/>
                  </a:cubicBezTo>
                  <a:cubicBezTo>
                    <a:pt x="1056" y="8"/>
                    <a:pt x="1000" y="136"/>
                    <a:pt x="1024" y="152"/>
                  </a:cubicBezTo>
                  <a:cubicBezTo>
                    <a:pt x="1048" y="168"/>
                    <a:pt x="1112" y="128"/>
                    <a:pt x="1168" y="104"/>
                  </a:cubicBezTo>
                  <a:cubicBezTo>
                    <a:pt x="1224" y="80"/>
                    <a:pt x="1296" y="8"/>
                    <a:pt x="1360" y="8"/>
                  </a:cubicBezTo>
                  <a:cubicBezTo>
                    <a:pt x="1424" y="8"/>
                    <a:pt x="1544" y="80"/>
                    <a:pt x="1552" y="104"/>
                  </a:cubicBezTo>
                  <a:cubicBezTo>
                    <a:pt x="1560" y="128"/>
                    <a:pt x="1464" y="128"/>
                    <a:pt x="1408" y="152"/>
                  </a:cubicBezTo>
                  <a:cubicBezTo>
                    <a:pt x="1352" y="176"/>
                    <a:pt x="1192" y="232"/>
                    <a:pt x="1216" y="248"/>
                  </a:cubicBezTo>
                  <a:cubicBezTo>
                    <a:pt x="1240" y="264"/>
                    <a:pt x="1504" y="232"/>
                    <a:pt x="1552" y="248"/>
                  </a:cubicBezTo>
                  <a:cubicBezTo>
                    <a:pt x="1600" y="264"/>
                    <a:pt x="1536" y="320"/>
                    <a:pt x="1504" y="344"/>
                  </a:cubicBezTo>
                  <a:cubicBezTo>
                    <a:pt x="1472" y="368"/>
                    <a:pt x="1432" y="376"/>
                    <a:pt x="1360" y="392"/>
                  </a:cubicBezTo>
                  <a:cubicBezTo>
                    <a:pt x="1288" y="408"/>
                    <a:pt x="1248" y="440"/>
                    <a:pt x="1072" y="440"/>
                  </a:cubicBezTo>
                  <a:cubicBezTo>
                    <a:pt x="896" y="440"/>
                    <a:pt x="472" y="424"/>
                    <a:pt x="304" y="392"/>
                  </a:cubicBezTo>
                  <a:cubicBezTo>
                    <a:pt x="136" y="360"/>
                    <a:pt x="80" y="272"/>
                    <a:pt x="64" y="248"/>
                  </a:cubicBezTo>
                  <a:close/>
                </a:path>
              </a:pathLst>
            </a:custGeom>
            <a:gradFill rotWithShape="0">
              <a:gsLst>
                <a:gs pos="0">
                  <a:srgbClr val="CCFFFF"/>
                </a:gs>
                <a:gs pos="50000">
                  <a:srgbClr val="87A9A9"/>
                </a:gs>
                <a:gs pos="100000">
                  <a:srgbClr val="CC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150" name="未知"/>
            <p:cNvSpPr>
              <a:spLocks/>
            </p:cNvSpPr>
            <p:nvPr/>
          </p:nvSpPr>
          <p:spPr bwMode="auto">
            <a:xfrm>
              <a:off x="246" y="-49"/>
              <a:ext cx="474" cy="399"/>
            </a:xfrm>
            <a:custGeom>
              <a:avLst/>
              <a:gdLst>
                <a:gd name="T0" fmla="*/ 474 w 474"/>
                <a:gd name="T1" fmla="*/ 4983 h 198"/>
                <a:gd name="T2" fmla="*/ 352 w 474"/>
                <a:gd name="T3" fmla="*/ 1800 h 198"/>
                <a:gd name="T4" fmla="*/ 241 w 474"/>
                <a:gd name="T5" fmla="*/ 564 h 198"/>
                <a:gd name="T6" fmla="*/ 112 w 474"/>
                <a:gd name="T7" fmla="*/ 195 h 198"/>
                <a:gd name="T8" fmla="*/ 16 w 474"/>
                <a:gd name="T9" fmla="*/ 1800 h 198"/>
                <a:gd name="T10" fmla="*/ 16 w 474"/>
                <a:gd name="T11" fmla="*/ 4983 h 198"/>
                <a:gd name="T12" fmla="*/ 112 w 474"/>
                <a:gd name="T13" fmla="*/ 6579 h 198"/>
                <a:gd name="T14" fmla="*/ 160 w 474"/>
                <a:gd name="T15" fmla="*/ 4983 h 198"/>
                <a:gd name="T16" fmla="*/ 252 w 474"/>
                <a:gd name="T17" fmla="*/ 3895 h 198"/>
                <a:gd name="T18" fmla="*/ 352 w 474"/>
                <a:gd name="T19" fmla="*/ 4983 h 198"/>
                <a:gd name="T20" fmla="*/ 474 w 474"/>
                <a:gd name="T21" fmla="*/ 4983 h 19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74"/>
                <a:gd name="T34" fmla="*/ 0 h 198"/>
                <a:gd name="T35" fmla="*/ 474 w 474"/>
                <a:gd name="T36" fmla="*/ 198 h 19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74" h="198">
                  <a:moveTo>
                    <a:pt x="474" y="150"/>
                  </a:moveTo>
                  <a:cubicBezTo>
                    <a:pt x="474" y="134"/>
                    <a:pt x="391" y="76"/>
                    <a:pt x="352" y="54"/>
                  </a:cubicBezTo>
                  <a:cubicBezTo>
                    <a:pt x="313" y="32"/>
                    <a:pt x="281" y="25"/>
                    <a:pt x="241" y="17"/>
                  </a:cubicBezTo>
                  <a:cubicBezTo>
                    <a:pt x="201" y="9"/>
                    <a:pt x="149" y="0"/>
                    <a:pt x="112" y="6"/>
                  </a:cubicBezTo>
                  <a:cubicBezTo>
                    <a:pt x="75" y="12"/>
                    <a:pt x="32" y="30"/>
                    <a:pt x="16" y="54"/>
                  </a:cubicBezTo>
                  <a:cubicBezTo>
                    <a:pt x="0" y="78"/>
                    <a:pt x="0" y="126"/>
                    <a:pt x="16" y="150"/>
                  </a:cubicBezTo>
                  <a:cubicBezTo>
                    <a:pt x="32" y="174"/>
                    <a:pt x="88" y="198"/>
                    <a:pt x="112" y="198"/>
                  </a:cubicBezTo>
                  <a:cubicBezTo>
                    <a:pt x="136" y="198"/>
                    <a:pt x="137" y="163"/>
                    <a:pt x="160" y="150"/>
                  </a:cubicBezTo>
                  <a:cubicBezTo>
                    <a:pt x="183" y="137"/>
                    <a:pt x="220" y="117"/>
                    <a:pt x="252" y="117"/>
                  </a:cubicBezTo>
                  <a:cubicBezTo>
                    <a:pt x="284" y="117"/>
                    <a:pt x="315" y="144"/>
                    <a:pt x="352" y="150"/>
                  </a:cubicBezTo>
                  <a:cubicBezTo>
                    <a:pt x="389" y="156"/>
                    <a:pt x="474" y="166"/>
                    <a:pt x="474" y="150"/>
                  </a:cubicBezTo>
                  <a:close/>
                </a:path>
              </a:pathLst>
            </a:custGeom>
            <a:gradFill rotWithShape="0">
              <a:gsLst>
                <a:gs pos="0">
                  <a:srgbClr val="CCFFFF"/>
                </a:gs>
                <a:gs pos="100000">
                  <a:srgbClr val="5E7676"/>
                </a:gs>
              </a:gsLst>
              <a:lin ang="2700000" scaled="1"/>
            </a:gra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151" name="未知"/>
            <p:cNvSpPr>
              <a:spLocks/>
            </p:cNvSpPr>
            <p:nvPr/>
          </p:nvSpPr>
          <p:spPr bwMode="auto">
            <a:xfrm rot="-1561685">
              <a:off x="0" y="-127"/>
              <a:ext cx="288" cy="399"/>
            </a:xfrm>
            <a:custGeom>
              <a:avLst/>
              <a:gdLst>
                <a:gd name="T0" fmla="*/ 9 w 474"/>
                <a:gd name="T1" fmla="*/ 1900 h 198"/>
                <a:gd name="T2" fmla="*/ 7 w 474"/>
                <a:gd name="T3" fmla="*/ 661 h 198"/>
                <a:gd name="T4" fmla="*/ 4 w 474"/>
                <a:gd name="T5" fmla="*/ 228 h 198"/>
                <a:gd name="T6" fmla="*/ 2 w 474"/>
                <a:gd name="T7" fmla="*/ 64 h 198"/>
                <a:gd name="T8" fmla="*/ 1 w 474"/>
                <a:gd name="T9" fmla="*/ 661 h 198"/>
                <a:gd name="T10" fmla="*/ 1 w 474"/>
                <a:gd name="T11" fmla="*/ 1900 h 198"/>
                <a:gd name="T12" fmla="*/ 2 w 474"/>
                <a:gd name="T13" fmla="*/ 2521 h 198"/>
                <a:gd name="T14" fmla="*/ 3 w 474"/>
                <a:gd name="T15" fmla="*/ 1900 h 198"/>
                <a:gd name="T16" fmla="*/ 5 w 474"/>
                <a:gd name="T17" fmla="*/ 1499 h 198"/>
                <a:gd name="T18" fmla="*/ 7 w 474"/>
                <a:gd name="T19" fmla="*/ 1900 h 198"/>
                <a:gd name="T20" fmla="*/ 9 w 474"/>
                <a:gd name="T21" fmla="*/ 1900 h 19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74"/>
                <a:gd name="T34" fmla="*/ 0 h 198"/>
                <a:gd name="T35" fmla="*/ 474 w 474"/>
                <a:gd name="T36" fmla="*/ 198 h 19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74" h="198">
                  <a:moveTo>
                    <a:pt x="474" y="150"/>
                  </a:moveTo>
                  <a:cubicBezTo>
                    <a:pt x="474" y="134"/>
                    <a:pt x="391" y="76"/>
                    <a:pt x="352" y="54"/>
                  </a:cubicBezTo>
                  <a:cubicBezTo>
                    <a:pt x="313" y="32"/>
                    <a:pt x="281" y="25"/>
                    <a:pt x="241" y="17"/>
                  </a:cubicBezTo>
                  <a:cubicBezTo>
                    <a:pt x="201" y="9"/>
                    <a:pt x="149" y="0"/>
                    <a:pt x="112" y="6"/>
                  </a:cubicBezTo>
                  <a:cubicBezTo>
                    <a:pt x="75" y="12"/>
                    <a:pt x="32" y="30"/>
                    <a:pt x="16" y="54"/>
                  </a:cubicBezTo>
                  <a:cubicBezTo>
                    <a:pt x="0" y="78"/>
                    <a:pt x="0" y="126"/>
                    <a:pt x="16" y="150"/>
                  </a:cubicBezTo>
                  <a:cubicBezTo>
                    <a:pt x="32" y="174"/>
                    <a:pt x="88" y="198"/>
                    <a:pt x="112" y="198"/>
                  </a:cubicBezTo>
                  <a:cubicBezTo>
                    <a:pt x="136" y="198"/>
                    <a:pt x="137" y="163"/>
                    <a:pt x="160" y="150"/>
                  </a:cubicBezTo>
                  <a:cubicBezTo>
                    <a:pt x="183" y="137"/>
                    <a:pt x="220" y="117"/>
                    <a:pt x="252" y="117"/>
                  </a:cubicBezTo>
                  <a:cubicBezTo>
                    <a:pt x="284" y="117"/>
                    <a:pt x="315" y="144"/>
                    <a:pt x="352" y="150"/>
                  </a:cubicBezTo>
                  <a:cubicBezTo>
                    <a:pt x="389" y="156"/>
                    <a:pt x="474" y="166"/>
                    <a:pt x="474" y="150"/>
                  </a:cubicBezTo>
                  <a:close/>
                </a:path>
              </a:pathLst>
            </a:custGeom>
            <a:gradFill rotWithShape="0">
              <a:gsLst>
                <a:gs pos="0">
                  <a:srgbClr val="CCFFFF"/>
                </a:gs>
                <a:gs pos="100000">
                  <a:srgbClr val="5E7676"/>
                </a:gs>
              </a:gsLst>
              <a:lin ang="2700000" scaled="1"/>
            </a:gra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152" name="未知"/>
            <p:cNvSpPr>
              <a:spLocks/>
            </p:cNvSpPr>
            <p:nvPr/>
          </p:nvSpPr>
          <p:spPr bwMode="auto">
            <a:xfrm flipH="1">
              <a:off x="1296" y="-76"/>
              <a:ext cx="432" cy="399"/>
            </a:xfrm>
            <a:custGeom>
              <a:avLst/>
              <a:gdLst>
                <a:gd name="T0" fmla="*/ 226 w 474"/>
                <a:gd name="T1" fmla="*/ 1900 h 198"/>
                <a:gd name="T2" fmla="*/ 167 w 474"/>
                <a:gd name="T3" fmla="*/ 661 h 198"/>
                <a:gd name="T4" fmla="*/ 116 w 474"/>
                <a:gd name="T5" fmla="*/ 228 h 198"/>
                <a:gd name="T6" fmla="*/ 53 w 474"/>
                <a:gd name="T7" fmla="*/ 64 h 198"/>
                <a:gd name="T8" fmla="*/ 8 w 474"/>
                <a:gd name="T9" fmla="*/ 661 h 198"/>
                <a:gd name="T10" fmla="*/ 8 w 474"/>
                <a:gd name="T11" fmla="*/ 1900 h 198"/>
                <a:gd name="T12" fmla="*/ 53 w 474"/>
                <a:gd name="T13" fmla="*/ 2521 h 198"/>
                <a:gd name="T14" fmla="*/ 76 w 474"/>
                <a:gd name="T15" fmla="*/ 1900 h 198"/>
                <a:gd name="T16" fmla="*/ 120 w 474"/>
                <a:gd name="T17" fmla="*/ 1499 h 198"/>
                <a:gd name="T18" fmla="*/ 167 w 474"/>
                <a:gd name="T19" fmla="*/ 1900 h 198"/>
                <a:gd name="T20" fmla="*/ 226 w 474"/>
                <a:gd name="T21" fmla="*/ 1900 h 19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74"/>
                <a:gd name="T34" fmla="*/ 0 h 198"/>
                <a:gd name="T35" fmla="*/ 474 w 474"/>
                <a:gd name="T36" fmla="*/ 198 h 19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74" h="198">
                  <a:moveTo>
                    <a:pt x="474" y="150"/>
                  </a:moveTo>
                  <a:cubicBezTo>
                    <a:pt x="474" y="134"/>
                    <a:pt x="391" y="76"/>
                    <a:pt x="352" y="54"/>
                  </a:cubicBezTo>
                  <a:cubicBezTo>
                    <a:pt x="313" y="32"/>
                    <a:pt x="281" y="25"/>
                    <a:pt x="241" y="17"/>
                  </a:cubicBezTo>
                  <a:cubicBezTo>
                    <a:pt x="201" y="9"/>
                    <a:pt x="149" y="0"/>
                    <a:pt x="112" y="6"/>
                  </a:cubicBezTo>
                  <a:cubicBezTo>
                    <a:pt x="75" y="12"/>
                    <a:pt x="32" y="30"/>
                    <a:pt x="16" y="54"/>
                  </a:cubicBezTo>
                  <a:cubicBezTo>
                    <a:pt x="0" y="78"/>
                    <a:pt x="0" y="126"/>
                    <a:pt x="16" y="150"/>
                  </a:cubicBezTo>
                  <a:cubicBezTo>
                    <a:pt x="32" y="174"/>
                    <a:pt x="88" y="198"/>
                    <a:pt x="112" y="198"/>
                  </a:cubicBezTo>
                  <a:cubicBezTo>
                    <a:pt x="136" y="198"/>
                    <a:pt x="137" y="163"/>
                    <a:pt x="160" y="150"/>
                  </a:cubicBezTo>
                  <a:cubicBezTo>
                    <a:pt x="183" y="137"/>
                    <a:pt x="220" y="117"/>
                    <a:pt x="252" y="117"/>
                  </a:cubicBezTo>
                  <a:cubicBezTo>
                    <a:pt x="284" y="117"/>
                    <a:pt x="315" y="144"/>
                    <a:pt x="352" y="150"/>
                  </a:cubicBezTo>
                  <a:cubicBezTo>
                    <a:pt x="389" y="156"/>
                    <a:pt x="474" y="166"/>
                    <a:pt x="474" y="150"/>
                  </a:cubicBezTo>
                  <a:close/>
                </a:path>
              </a:pathLst>
            </a:custGeom>
            <a:gradFill rotWithShape="0">
              <a:gsLst>
                <a:gs pos="0">
                  <a:srgbClr val="CCFFFF"/>
                </a:gs>
                <a:gs pos="100000">
                  <a:srgbClr val="5E7676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153" name="未知"/>
            <p:cNvSpPr>
              <a:spLocks/>
            </p:cNvSpPr>
            <p:nvPr/>
          </p:nvSpPr>
          <p:spPr bwMode="auto">
            <a:xfrm>
              <a:off x="816" y="332"/>
              <a:ext cx="480" cy="399"/>
            </a:xfrm>
            <a:custGeom>
              <a:avLst/>
              <a:gdLst>
                <a:gd name="T0" fmla="*/ 0 w 872"/>
                <a:gd name="T1" fmla="*/ 201 h 197"/>
                <a:gd name="T2" fmla="*/ 1 w 872"/>
                <a:gd name="T3" fmla="*/ 32 h 197"/>
                <a:gd name="T4" fmla="*/ 2 w 872"/>
                <a:gd name="T5" fmla="*/ 32 h 197"/>
                <a:gd name="T6" fmla="*/ 4 w 872"/>
                <a:gd name="T7" fmla="*/ 201 h 197"/>
                <a:gd name="T8" fmla="*/ 5 w 872"/>
                <a:gd name="T9" fmla="*/ 32 h 197"/>
                <a:gd name="T10" fmla="*/ 6 w 872"/>
                <a:gd name="T11" fmla="*/ 32 h 197"/>
                <a:gd name="T12" fmla="*/ 7 w 872"/>
                <a:gd name="T13" fmla="*/ 201 h 197"/>
                <a:gd name="T14" fmla="*/ 7 w 872"/>
                <a:gd name="T15" fmla="*/ 608 h 197"/>
                <a:gd name="T16" fmla="*/ 5 w 872"/>
                <a:gd name="T17" fmla="*/ 608 h 197"/>
                <a:gd name="T18" fmla="*/ 4 w 872"/>
                <a:gd name="T19" fmla="*/ 788 h 197"/>
                <a:gd name="T20" fmla="*/ 3 w 872"/>
                <a:gd name="T21" fmla="*/ 608 h 197"/>
                <a:gd name="T22" fmla="*/ 1 w 872"/>
                <a:gd name="T23" fmla="*/ 640 h 197"/>
                <a:gd name="T24" fmla="*/ 1 w 872"/>
                <a:gd name="T25" fmla="*/ 608 h 197"/>
                <a:gd name="T26" fmla="*/ 0 w 872"/>
                <a:gd name="T27" fmla="*/ 201 h 19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872"/>
                <a:gd name="T43" fmla="*/ 0 h 197"/>
                <a:gd name="T44" fmla="*/ 872 w 872"/>
                <a:gd name="T45" fmla="*/ 197 h 197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872" h="197">
                  <a:moveTo>
                    <a:pt x="0" y="56"/>
                  </a:moveTo>
                  <a:cubicBezTo>
                    <a:pt x="0" y="32"/>
                    <a:pt x="56" y="16"/>
                    <a:pt x="96" y="8"/>
                  </a:cubicBezTo>
                  <a:cubicBezTo>
                    <a:pt x="136" y="0"/>
                    <a:pt x="184" y="0"/>
                    <a:pt x="240" y="8"/>
                  </a:cubicBezTo>
                  <a:cubicBezTo>
                    <a:pt x="296" y="16"/>
                    <a:pt x="368" y="56"/>
                    <a:pt x="432" y="56"/>
                  </a:cubicBezTo>
                  <a:cubicBezTo>
                    <a:pt x="496" y="56"/>
                    <a:pt x="576" y="16"/>
                    <a:pt x="624" y="8"/>
                  </a:cubicBezTo>
                  <a:cubicBezTo>
                    <a:pt x="672" y="0"/>
                    <a:pt x="680" y="0"/>
                    <a:pt x="720" y="8"/>
                  </a:cubicBezTo>
                  <a:cubicBezTo>
                    <a:pt x="760" y="16"/>
                    <a:pt x="856" y="32"/>
                    <a:pt x="864" y="56"/>
                  </a:cubicBezTo>
                  <a:cubicBezTo>
                    <a:pt x="872" y="80"/>
                    <a:pt x="815" y="136"/>
                    <a:pt x="768" y="152"/>
                  </a:cubicBezTo>
                  <a:cubicBezTo>
                    <a:pt x="721" y="168"/>
                    <a:pt x="637" y="146"/>
                    <a:pt x="580" y="153"/>
                  </a:cubicBezTo>
                  <a:cubicBezTo>
                    <a:pt x="523" y="160"/>
                    <a:pt x="465" y="197"/>
                    <a:pt x="424" y="197"/>
                  </a:cubicBezTo>
                  <a:cubicBezTo>
                    <a:pt x="383" y="197"/>
                    <a:pt x="378" y="157"/>
                    <a:pt x="336" y="152"/>
                  </a:cubicBezTo>
                  <a:cubicBezTo>
                    <a:pt x="294" y="147"/>
                    <a:pt x="209" y="164"/>
                    <a:pt x="169" y="164"/>
                  </a:cubicBezTo>
                  <a:cubicBezTo>
                    <a:pt x="129" y="164"/>
                    <a:pt x="124" y="170"/>
                    <a:pt x="96" y="152"/>
                  </a:cubicBezTo>
                  <a:cubicBezTo>
                    <a:pt x="68" y="134"/>
                    <a:pt x="0" y="80"/>
                    <a:pt x="0" y="56"/>
                  </a:cubicBezTo>
                  <a:close/>
                </a:path>
              </a:pathLst>
            </a:custGeom>
            <a:gradFill rotWithShape="0">
              <a:gsLst>
                <a:gs pos="0">
                  <a:srgbClr val="CCFFFF"/>
                </a:gs>
                <a:gs pos="100000">
                  <a:srgbClr val="5E767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" name="Text Box 23"/>
          <p:cNvSpPr txBox="1">
            <a:spLocks noChangeArrowheads="1"/>
          </p:cNvSpPr>
          <p:nvPr/>
        </p:nvSpPr>
        <p:spPr bwMode="auto">
          <a:xfrm>
            <a:off x="6443663" y="4300538"/>
            <a:ext cx="1531937" cy="30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1800">
                <a:latin typeface="华文中宋" pitchFamily="2" charset="-122"/>
                <a:ea typeface="华文中宋" pitchFamily="2" charset="-122"/>
              </a:rPr>
              <a:t>跳水运动员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0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2"/>
                                            </p:cond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0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0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0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0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1" dur="500"/>
                                        <p:tgtEl>
                                          <p:spTgt spid="2601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0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MTA_01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18" grpId="0" autoUpdateAnimBg="0"/>
      <p:bldP spid="260109" grpId="0" animBg="1"/>
      <p:bldP spid="260119" grpId="0" animBg="1"/>
      <p:bldP spid="260123" grpId="0" animBg="1"/>
      <p:bldP spid="2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Text Box 2"/>
          <p:cNvSpPr txBox="1">
            <a:spLocks noChangeArrowheads="1"/>
          </p:cNvSpPr>
          <p:nvPr/>
        </p:nvSpPr>
        <p:spPr bwMode="auto">
          <a:xfrm>
            <a:off x="179388" y="784225"/>
            <a:ext cx="87852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例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   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一根质量为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m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长为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2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l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  <a:sym typeface="MT Extra" pitchFamily="18" charset="2"/>
              </a:rPr>
              <a:t>的均匀细棒，可在竖直平面内绕通过其中心的水平轴转动，开始时细棒在水平位置，一质量为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  <a:sym typeface="MT Extra" pitchFamily="18" charset="2"/>
              </a:rPr>
              <a:t>m</a:t>
            </a:r>
            <a:r>
              <a:rPr lang="en-US" altLang="zh-CN" sz="1800" baseline="30000">
                <a:solidFill>
                  <a:srgbClr val="0000FF"/>
                </a:solidFill>
                <a:ea typeface="华文中宋" pitchFamily="2" charset="-122"/>
                <a:sym typeface="MT Extra" pitchFamily="18" charset="2"/>
              </a:rPr>
              <a:t>’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  <a:sym typeface="MT Extra" pitchFamily="18" charset="2"/>
              </a:rPr>
              <a:t>的小球，以速度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  <a:sym typeface="MT Extra" pitchFamily="18" charset="2"/>
              </a:rPr>
              <a:t>u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  <a:sym typeface="MT Extra" pitchFamily="18" charset="2"/>
              </a:rPr>
              <a:t>垂直落到棒的端点。设小球与棒作完全弹性碰撞，求碰撞后，小球的回弹速度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  <a:sym typeface="MT Extra" pitchFamily="18" charset="2"/>
              </a:rPr>
              <a:t>u</a:t>
            </a:r>
            <a:r>
              <a:rPr lang="en-US" altLang="zh-CN" sz="1800" baseline="30000">
                <a:solidFill>
                  <a:srgbClr val="0000FF"/>
                </a:solidFill>
                <a:ea typeface="华文中宋" pitchFamily="2" charset="-122"/>
                <a:sym typeface="MT Extra" pitchFamily="18" charset="2"/>
              </a:rPr>
              <a:t>’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  <a:sym typeface="MT Extra" pitchFamily="18" charset="2"/>
              </a:rPr>
              <a:t>及棒的角速度</a:t>
            </a:r>
            <a:r>
              <a:rPr lang="zh-CN" altLang="en-US" sz="1800" i="1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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  <a:sym typeface="MT Extra" pitchFamily="18" charset="2"/>
              </a:rPr>
              <a:t>？</a:t>
            </a:r>
            <a:endParaRPr lang="zh-CN" altLang="en-US" sz="1800">
              <a:solidFill>
                <a:srgbClr val="0000FF"/>
              </a:solidFill>
              <a:ea typeface="华文中宋" pitchFamily="2" charset="-122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153025" y="2700338"/>
            <a:ext cx="3883025" cy="474662"/>
            <a:chOff x="0" y="679"/>
            <a:chExt cx="2446" cy="622"/>
          </a:xfrm>
        </p:grpSpPr>
        <p:sp>
          <p:nvSpPr>
            <p:cNvPr id="49184" name="Rectangle 4"/>
            <p:cNvSpPr>
              <a:spLocks noChangeArrowheads="1"/>
            </p:cNvSpPr>
            <p:nvPr/>
          </p:nvSpPr>
          <p:spPr bwMode="auto">
            <a:xfrm>
              <a:off x="0" y="679"/>
              <a:ext cx="2446" cy="38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33CCCC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6069" name="Rectangle 5"/>
            <p:cNvSpPr>
              <a:spLocks noChangeArrowheads="1"/>
            </p:cNvSpPr>
            <p:nvPr/>
          </p:nvSpPr>
          <p:spPr bwMode="auto">
            <a:xfrm rot="534335">
              <a:off x="134" y="779"/>
              <a:ext cx="1970" cy="389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9186" name="Line 6"/>
            <p:cNvSpPr>
              <a:spLocks noChangeShapeType="1"/>
            </p:cNvSpPr>
            <p:nvPr/>
          </p:nvSpPr>
          <p:spPr bwMode="auto">
            <a:xfrm flipV="1">
              <a:off x="618" y="752"/>
              <a:ext cx="860" cy="4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9187" name="Group 7"/>
            <p:cNvGrpSpPr>
              <a:grpSpLocks/>
            </p:cNvGrpSpPr>
            <p:nvPr/>
          </p:nvGrpSpPr>
          <p:grpSpPr bwMode="auto">
            <a:xfrm>
              <a:off x="151" y="879"/>
              <a:ext cx="1903" cy="422"/>
              <a:chOff x="0" y="0"/>
              <a:chExt cx="1903" cy="422"/>
            </a:xfrm>
          </p:grpSpPr>
          <p:sp>
            <p:nvSpPr>
              <p:cNvPr id="49188" name="Line 8"/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9189" name="Line 9"/>
              <p:cNvSpPr>
                <a:spLocks noChangeShapeType="1"/>
              </p:cNvSpPr>
              <p:nvPr/>
            </p:nvSpPr>
            <p:spPr bwMode="auto">
              <a:xfrm>
                <a:off x="1891" y="296"/>
                <a:ext cx="0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9190" name="Line 10"/>
              <p:cNvSpPr>
                <a:spLocks noChangeShapeType="1"/>
              </p:cNvSpPr>
              <p:nvPr/>
            </p:nvSpPr>
            <p:spPr bwMode="auto">
              <a:xfrm>
                <a:off x="8" y="82"/>
                <a:ext cx="1895" cy="3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49191" name="Object 11"/>
              <p:cNvGraphicFramePr>
                <a:graphicFrameLocks noChangeAspect="1"/>
              </p:cNvGraphicFramePr>
              <p:nvPr/>
            </p:nvGraphicFramePr>
            <p:xfrm>
              <a:off x="873" y="256"/>
              <a:ext cx="147" cy="1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200" r:id="rId3" imgW="177800" imgH="177800" progId="Equation.3">
                      <p:embed/>
                    </p:oleObj>
                  </mc:Choice>
                  <mc:Fallback>
                    <p:oleObj r:id="rId3" imgW="177800" imgH="177800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73" y="256"/>
                            <a:ext cx="147" cy="1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8291513" y="2686050"/>
            <a:ext cx="428625" cy="450850"/>
            <a:chOff x="0" y="0"/>
            <a:chExt cx="270" cy="592"/>
          </a:xfrm>
        </p:grpSpPr>
        <p:sp>
          <p:nvSpPr>
            <p:cNvPr id="49181" name="Oval 13"/>
            <p:cNvSpPr>
              <a:spLocks noChangeArrowheads="1"/>
            </p:cNvSpPr>
            <p:nvPr/>
          </p:nvSpPr>
          <p:spPr bwMode="auto">
            <a:xfrm>
              <a:off x="0" y="47"/>
              <a:ext cx="142" cy="545"/>
            </a:xfrm>
            <a:prstGeom prst="ellipse">
              <a:avLst/>
            </a:prstGeom>
            <a:gradFill rotWithShape="0">
              <a:gsLst>
                <a:gs pos="0">
                  <a:srgbClr val="FF9933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182" name="Line 14"/>
            <p:cNvSpPr>
              <a:spLocks noChangeShapeType="1"/>
            </p:cNvSpPr>
            <p:nvPr/>
          </p:nvSpPr>
          <p:spPr bwMode="auto">
            <a:xfrm>
              <a:off x="68" y="0"/>
              <a:ext cx="0" cy="192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49183" name="Object 15"/>
            <p:cNvGraphicFramePr>
              <a:graphicFrameLocks noChangeAspect="1"/>
            </p:cNvGraphicFramePr>
            <p:nvPr/>
          </p:nvGraphicFramePr>
          <p:xfrm>
            <a:off x="128" y="4"/>
            <a:ext cx="142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01" r:id="rId5" imgW="127000" imgH="139700" progId="Equation.3">
                    <p:embed/>
                  </p:oleObj>
                </mc:Choice>
                <mc:Fallback>
                  <p:oleObj r:id="rId5" imgW="127000" imgH="1397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" y="4"/>
                          <a:ext cx="142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5084763" y="2630488"/>
            <a:ext cx="3883025" cy="531812"/>
            <a:chOff x="0" y="609"/>
            <a:chExt cx="2446" cy="697"/>
          </a:xfrm>
        </p:grpSpPr>
        <p:sp>
          <p:nvSpPr>
            <p:cNvPr id="49174" name="Rectangle 17"/>
            <p:cNvSpPr>
              <a:spLocks noChangeArrowheads="1"/>
            </p:cNvSpPr>
            <p:nvPr/>
          </p:nvSpPr>
          <p:spPr bwMode="auto">
            <a:xfrm>
              <a:off x="0" y="679"/>
              <a:ext cx="2446" cy="38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33CCCC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175" name="Line 18"/>
            <p:cNvSpPr>
              <a:spLocks noChangeShapeType="1"/>
            </p:cNvSpPr>
            <p:nvPr/>
          </p:nvSpPr>
          <p:spPr bwMode="auto">
            <a:xfrm flipV="1">
              <a:off x="662" y="856"/>
              <a:ext cx="834" cy="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16083" name="Rectangle 19"/>
            <p:cNvSpPr>
              <a:spLocks noChangeArrowheads="1"/>
            </p:cNvSpPr>
            <p:nvPr/>
          </p:nvSpPr>
          <p:spPr bwMode="auto">
            <a:xfrm rot="1182097">
              <a:off x="120" y="867"/>
              <a:ext cx="1972" cy="389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49177" name="Group 20"/>
            <p:cNvGrpSpPr>
              <a:grpSpLocks/>
            </p:cNvGrpSpPr>
            <p:nvPr/>
          </p:nvGrpSpPr>
          <p:grpSpPr bwMode="auto">
            <a:xfrm>
              <a:off x="1932" y="609"/>
              <a:ext cx="482" cy="545"/>
              <a:chOff x="0" y="-117"/>
              <a:chExt cx="482" cy="545"/>
            </a:xfrm>
          </p:grpSpPr>
          <p:sp>
            <p:nvSpPr>
              <p:cNvPr id="49178" name="Oval 21"/>
              <p:cNvSpPr>
                <a:spLocks noChangeArrowheads="1"/>
              </p:cNvSpPr>
              <p:nvPr/>
            </p:nvSpPr>
            <p:spPr bwMode="auto">
              <a:xfrm>
                <a:off x="0" y="-117"/>
                <a:ext cx="142" cy="545"/>
              </a:xfrm>
              <a:prstGeom prst="ellipse">
                <a:avLst/>
              </a:prstGeom>
              <a:gradFill rotWithShape="0">
                <a:gsLst>
                  <a:gs pos="0">
                    <a:srgbClr val="FF9933"/>
                  </a:gs>
                  <a:gs pos="100000">
                    <a:srgbClr val="00000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49179" name="Object 22"/>
              <p:cNvGraphicFramePr>
                <a:graphicFrameLocks noChangeAspect="1"/>
              </p:cNvGraphicFramePr>
              <p:nvPr/>
            </p:nvGraphicFramePr>
            <p:xfrm>
              <a:off x="280" y="0"/>
              <a:ext cx="202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202" r:id="rId7" imgW="165172" imgH="203288" progId="Equation.3">
                      <p:embed/>
                    </p:oleObj>
                  </mc:Choice>
                  <mc:Fallback>
                    <p:oleObj r:id="rId7" imgW="165172" imgH="203288" progId="Equation.3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0" y="0"/>
                            <a:ext cx="202" cy="2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9180" name="Line 23"/>
              <p:cNvSpPr>
                <a:spLocks noChangeShapeType="1"/>
              </p:cNvSpPr>
              <p:nvPr/>
            </p:nvSpPr>
            <p:spPr bwMode="auto">
              <a:xfrm flipV="1">
                <a:off x="224" y="0"/>
                <a:ext cx="0" cy="158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16088" name="Text Box 24"/>
          <p:cNvSpPr txBox="1">
            <a:spLocks noChangeArrowheads="1"/>
          </p:cNvSpPr>
          <p:nvPr/>
        </p:nvSpPr>
        <p:spPr bwMode="auto">
          <a:xfrm>
            <a:off x="228600" y="1565275"/>
            <a:ext cx="5638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ea typeface="华文中宋" pitchFamily="2" charset="-122"/>
              </a:rPr>
              <a:t>        解：以小球、细棒为一系统，其对水平轴的角动量和机械能守恒。</a:t>
            </a:r>
          </a:p>
        </p:txBody>
      </p:sp>
      <p:sp>
        <p:nvSpPr>
          <p:cNvPr id="216089" name="Text Box 25"/>
          <p:cNvSpPr txBox="1">
            <a:spLocks noChangeArrowheads="1"/>
          </p:cNvSpPr>
          <p:nvPr/>
        </p:nvSpPr>
        <p:spPr bwMode="auto">
          <a:xfrm>
            <a:off x="323850" y="3279775"/>
            <a:ext cx="11033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ea typeface="华文中宋" pitchFamily="2" charset="-122"/>
              </a:rPr>
              <a:t>解得：</a:t>
            </a:r>
          </a:p>
        </p:txBody>
      </p:sp>
      <p:graphicFrame>
        <p:nvGraphicFramePr>
          <p:cNvPr id="216090" name="Object 26"/>
          <p:cNvGraphicFramePr>
            <a:graphicFrameLocks noChangeAspect="1"/>
          </p:cNvGraphicFramePr>
          <p:nvPr/>
        </p:nvGraphicFramePr>
        <p:xfrm>
          <a:off x="1258888" y="3238500"/>
          <a:ext cx="2419350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03" name="Equation" r:id="rId9" imgW="1028520" imgH="419040" progId="Equation.DSMT4">
                  <p:embed/>
                </p:oleObj>
              </mc:Choice>
              <mc:Fallback>
                <p:oleObj name="Equation" r:id="rId9" imgW="1028520" imgH="41904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238500"/>
                        <a:ext cx="2419350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91" name="Object 27"/>
          <p:cNvGraphicFramePr>
            <a:graphicFrameLocks noChangeAspect="1"/>
          </p:cNvGraphicFramePr>
          <p:nvPr/>
        </p:nvGraphicFramePr>
        <p:xfrm>
          <a:off x="1331913" y="3949700"/>
          <a:ext cx="2328862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04" name="Equation" r:id="rId11" imgW="990360" imgH="444240" progId="Equation.DSMT4">
                  <p:embed/>
                </p:oleObj>
              </mc:Choice>
              <mc:Fallback>
                <p:oleObj name="Equation" r:id="rId11" imgW="990360" imgH="44424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949700"/>
                        <a:ext cx="2328862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28"/>
          <p:cNvGrpSpPr>
            <a:grpSpLocks/>
          </p:cNvGrpSpPr>
          <p:nvPr/>
        </p:nvGrpSpPr>
        <p:grpSpPr bwMode="auto">
          <a:xfrm>
            <a:off x="5060950" y="2041525"/>
            <a:ext cx="3883025" cy="831850"/>
            <a:chOff x="0" y="100"/>
            <a:chExt cx="2446" cy="1091"/>
          </a:xfrm>
        </p:grpSpPr>
        <p:sp>
          <p:nvSpPr>
            <p:cNvPr id="49167" name="Rectangle 29"/>
            <p:cNvSpPr>
              <a:spLocks noChangeArrowheads="1"/>
            </p:cNvSpPr>
            <p:nvPr/>
          </p:nvSpPr>
          <p:spPr bwMode="auto">
            <a:xfrm>
              <a:off x="0" y="679"/>
              <a:ext cx="2446" cy="38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33CCCC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168" name="Line 30"/>
            <p:cNvSpPr>
              <a:spLocks noChangeShapeType="1"/>
            </p:cNvSpPr>
            <p:nvPr/>
          </p:nvSpPr>
          <p:spPr bwMode="auto">
            <a:xfrm flipV="1">
              <a:off x="691" y="741"/>
              <a:ext cx="834" cy="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16095" name="Rectangle 31"/>
            <p:cNvSpPr>
              <a:spLocks noChangeArrowheads="1"/>
            </p:cNvSpPr>
            <p:nvPr/>
          </p:nvSpPr>
          <p:spPr bwMode="auto">
            <a:xfrm rot="1525184">
              <a:off x="118" y="779"/>
              <a:ext cx="1972" cy="387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49170" name="Group 32"/>
            <p:cNvGrpSpPr>
              <a:grpSpLocks/>
            </p:cNvGrpSpPr>
            <p:nvPr/>
          </p:nvGrpSpPr>
          <p:grpSpPr bwMode="auto">
            <a:xfrm>
              <a:off x="1934" y="100"/>
              <a:ext cx="482" cy="545"/>
              <a:chOff x="0" y="-117"/>
              <a:chExt cx="482" cy="545"/>
            </a:xfrm>
          </p:grpSpPr>
          <p:sp>
            <p:nvSpPr>
              <p:cNvPr id="49171" name="Oval 33"/>
              <p:cNvSpPr>
                <a:spLocks noChangeArrowheads="1"/>
              </p:cNvSpPr>
              <p:nvPr/>
            </p:nvSpPr>
            <p:spPr bwMode="auto">
              <a:xfrm>
                <a:off x="0" y="-117"/>
                <a:ext cx="142" cy="545"/>
              </a:xfrm>
              <a:prstGeom prst="ellipse">
                <a:avLst/>
              </a:prstGeom>
              <a:gradFill rotWithShape="0">
                <a:gsLst>
                  <a:gs pos="0">
                    <a:srgbClr val="FF9933"/>
                  </a:gs>
                  <a:gs pos="100000">
                    <a:srgbClr val="00000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49172" name="Object 34"/>
              <p:cNvGraphicFramePr>
                <a:graphicFrameLocks noChangeAspect="1"/>
              </p:cNvGraphicFramePr>
              <p:nvPr/>
            </p:nvGraphicFramePr>
            <p:xfrm>
              <a:off x="280" y="0"/>
              <a:ext cx="202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205" r:id="rId13" imgW="165172" imgH="203288" progId="Equation.3">
                      <p:embed/>
                    </p:oleObj>
                  </mc:Choice>
                  <mc:Fallback>
                    <p:oleObj r:id="rId13" imgW="165172" imgH="203288" progId="Equation.3">
                      <p:embed/>
                      <p:pic>
                        <p:nvPicPr>
                          <p:cNvPr id="0" name="Object 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0" y="0"/>
                            <a:ext cx="202" cy="2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9173" name="Line 35"/>
              <p:cNvSpPr>
                <a:spLocks noChangeShapeType="1"/>
              </p:cNvSpPr>
              <p:nvPr/>
            </p:nvSpPr>
            <p:spPr bwMode="auto">
              <a:xfrm flipV="1">
                <a:off x="224" y="0"/>
                <a:ext cx="0" cy="158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16100" name="Object 36"/>
          <p:cNvGraphicFramePr>
            <a:graphicFrameLocks noChangeAspect="1"/>
          </p:cNvGraphicFramePr>
          <p:nvPr/>
        </p:nvGraphicFramePr>
        <p:xfrm>
          <a:off x="250825" y="2643188"/>
          <a:ext cx="4779963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06" name="Equation" r:id="rId15" imgW="2425680" imgH="431640" progId="Equation.DSMT4">
                  <p:embed/>
                </p:oleObj>
              </mc:Choice>
              <mc:Fallback>
                <p:oleObj name="Equation" r:id="rId15" imgW="2425680" imgH="43164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643188"/>
                        <a:ext cx="4779963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01" name="Object 37"/>
          <p:cNvGraphicFramePr>
            <a:graphicFrameLocks noChangeAspect="1"/>
          </p:cNvGraphicFramePr>
          <p:nvPr/>
        </p:nvGraphicFramePr>
        <p:xfrm>
          <a:off x="504825" y="2066925"/>
          <a:ext cx="4138613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07" name="Equation" r:id="rId17" imgW="1917360" imgH="431640" progId="Equation.DSMT4">
                  <p:embed/>
                </p:oleObj>
              </mc:Choice>
              <mc:Fallback>
                <p:oleObj name="Equation" r:id="rId17" imgW="1917360" imgH="43164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825" y="2066925"/>
                        <a:ext cx="4138613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118" name="Text Box 54"/>
          <p:cNvSpPr txBox="1">
            <a:spLocks noChangeArrowheads="1"/>
          </p:cNvSpPr>
          <p:nvPr/>
        </p:nvSpPr>
        <p:spPr bwMode="auto">
          <a:xfrm>
            <a:off x="4719638" y="3736975"/>
            <a:ext cx="8207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ea typeface="华文中宋" pitchFamily="2" charset="-122"/>
              </a:rPr>
              <a:t>讨论：</a:t>
            </a:r>
          </a:p>
        </p:txBody>
      </p:sp>
      <p:sp>
        <p:nvSpPr>
          <p:cNvPr id="216119" name="Rectangle 55"/>
          <p:cNvSpPr>
            <a:spLocks noChangeArrowheads="1"/>
          </p:cNvSpPr>
          <p:nvPr/>
        </p:nvSpPr>
        <p:spPr bwMode="auto">
          <a:xfrm>
            <a:off x="5035550" y="3736975"/>
            <a:ext cx="4000500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1"/>
            <a:r>
              <a:rPr kumimoji="1" lang="zh-CN" altLang="en-US" sz="1800">
                <a:ea typeface="华文中宋" pitchFamily="2" charset="-122"/>
              </a:rPr>
              <a:t>当 </a:t>
            </a:r>
            <a:r>
              <a:rPr kumimoji="1" lang="en-US" altLang="zh-CN" sz="1800" i="1">
                <a:ea typeface="华文中宋" pitchFamily="2" charset="-122"/>
              </a:rPr>
              <a:t>m </a:t>
            </a:r>
            <a:r>
              <a:rPr kumimoji="1" lang="en-US" altLang="zh-CN" sz="1800">
                <a:ea typeface="华文中宋" pitchFamily="2" charset="-122"/>
              </a:rPr>
              <a:t>&gt;3</a:t>
            </a:r>
            <a:r>
              <a:rPr kumimoji="1" lang="en-US" altLang="zh-CN" sz="1800" i="1">
                <a:ea typeface="华文中宋" pitchFamily="2" charset="-122"/>
              </a:rPr>
              <a:t>m</a:t>
            </a:r>
            <a:r>
              <a:rPr kumimoji="1" lang="en-US" altLang="zh-CN" sz="1800">
                <a:ea typeface="华文中宋" pitchFamily="2" charset="-122"/>
              </a:rPr>
              <a:t>’ </a:t>
            </a:r>
            <a:r>
              <a:rPr kumimoji="1" lang="zh-CN" altLang="en-US" sz="1800">
                <a:ea typeface="华文中宋" pitchFamily="2" charset="-122"/>
              </a:rPr>
              <a:t>时</a:t>
            </a:r>
            <a:r>
              <a:rPr kumimoji="1" lang="en-US" altLang="zh-CN" sz="1800">
                <a:ea typeface="华文中宋" pitchFamily="2" charset="-122"/>
              </a:rPr>
              <a:t>,  </a:t>
            </a:r>
            <a:r>
              <a:rPr kumimoji="1" lang="en-US" altLang="zh-CN" sz="1800" i="1">
                <a:ea typeface="华文中宋" pitchFamily="2" charset="-122"/>
              </a:rPr>
              <a:t>u’ </a:t>
            </a:r>
            <a:r>
              <a:rPr kumimoji="1" lang="en-US" altLang="zh-CN" sz="1800">
                <a:ea typeface="华文中宋" pitchFamily="2" charset="-122"/>
              </a:rPr>
              <a:t>&gt; 0</a:t>
            </a:r>
            <a:r>
              <a:rPr kumimoji="1" lang="zh-CN" altLang="en-US" sz="1800">
                <a:ea typeface="华文中宋" pitchFamily="2" charset="-122"/>
              </a:rPr>
              <a:t>（向上）</a:t>
            </a:r>
            <a:endParaRPr kumimoji="1" lang="en-US" altLang="zh-CN" sz="1800">
              <a:ea typeface="华文中宋" pitchFamily="2" charset="-122"/>
            </a:endParaRPr>
          </a:p>
          <a:p>
            <a:pPr lvl="1"/>
            <a:r>
              <a:rPr kumimoji="1" lang="zh-CN" altLang="en-US" sz="1800">
                <a:ea typeface="华文中宋" pitchFamily="2" charset="-122"/>
              </a:rPr>
              <a:t>当 </a:t>
            </a:r>
            <a:r>
              <a:rPr kumimoji="1" lang="en-US" altLang="zh-CN" sz="1800" i="1">
                <a:ea typeface="华文中宋" pitchFamily="2" charset="-122"/>
              </a:rPr>
              <a:t>m </a:t>
            </a:r>
            <a:r>
              <a:rPr kumimoji="1" lang="en-US" altLang="zh-CN" sz="1800">
                <a:ea typeface="华文中宋" pitchFamily="2" charset="-122"/>
              </a:rPr>
              <a:t>=3</a:t>
            </a:r>
            <a:r>
              <a:rPr kumimoji="1" lang="en-US" altLang="zh-CN" sz="1800" i="1">
                <a:ea typeface="华文中宋" pitchFamily="2" charset="-122"/>
              </a:rPr>
              <a:t>m</a:t>
            </a:r>
            <a:r>
              <a:rPr kumimoji="1" lang="en-US" altLang="zh-CN" sz="1800">
                <a:ea typeface="华文中宋" pitchFamily="2" charset="-122"/>
              </a:rPr>
              <a:t>’ </a:t>
            </a:r>
            <a:r>
              <a:rPr kumimoji="1" lang="zh-CN" altLang="en-US" sz="1800">
                <a:ea typeface="华文中宋" pitchFamily="2" charset="-122"/>
              </a:rPr>
              <a:t>时</a:t>
            </a:r>
            <a:r>
              <a:rPr kumimoji="1" lang="en-US" altLang="zh-CN" sz="1800">
                <a:ea typeface="华文中宋" pitchFamily="2" charset="-122"/>
              </a:rPr>
              <a:t>,  </a:t>
            </a:r>
            <a:r>
              <a:rPr kumimoji="1" lang="en-US" altLang="zh-CN" sz="1800" i="1">
                <a:ea typeface="华文中宋" pitchFamily="2" charset="-122"/>
              </a:rPr>
              <a:t>u’ </a:t>
            </a:r>
            <a:r>
              <a:rPr kumimoji="1" lang="en-US" altLang="zh-CN" sz="1800">
                <a:ea typeface="华文中宋" pitchFamily="2" charset="-122"/>
              </a:rPr>
              <a:t>= 0</a:t>
            </a:r>
            <a:r>
              <a:rPr kumimoji="1" lang="zh-CN" altLang="en-US" sz="1800">
                <a:ea typeface="华文中宋" pitchFamily="2" charset="-122"/>
              </a:rPr>
              <a:t>（瞬时静止）</a:t>
            </a:r>
            <a:endParaRPr kumimoji="1" lang="en-US" altLang="zh-CN" sz="1800">
              <a:ea typeface="华文中宋" pitchFamily="2" charset="-122"/>
            </a:endParaRPr>
          </a:p>
          <a:p>
            <a:pPr lvl="1"/>
            <a:r>
              <a:rPr kumimoji="1" lang="zh-CN" altLang="en-US" sz="1800">
                <a:ea typeface="华文中宋" pitchFamily="2" charset="-122"/>
              </a:rPr>
              <a:t>当 </a:t>
            </a:r>
            <a:r>
              <a:rPr kumimoji="1" lang="en-US" altLang="zh-CN" sz="1800" i="1">
                <a:ea typeface="华文中宋" pitchFamily="2" charset="-122"/>
              </a:rPr>
              <a:t>m </a:t>
            </a:r>
            <a:r>
              <a:rPr kumimoji="1" lang="en-US" altLang="zh-CN" sz="1800">
                <a:ea typeface="华文中宋" pitchFamily="2" charset="-122"/>
              </a:rPr>
              <a:t>&lt;3</a:t>
            </a:r>
            <a:r>
              <a:rPr kumimoji="1" lang="en-US" altLang="zh-CN" sz="1800" i="1">
                <a:ea typeface="华文中宋" pitchFamily="2" charset="-122"/>
              </a:rPr>
              <a:t>m</a:t>
            </a:r>
            <a:r>
              <a:rPr kumimoji="1" lang="en-US" altLang="zh-CN" sz="1800">
                <a:ea typeface="华文中宋" pitchFamily="2" charset="-122"/>
              </a:rPr>
              <a:t>’ </a:t>
            </a:r>
            <a:r>
              <a:rPr kumimoji="1" lang="zh-CN" altLang="en-US" sz="1800">
                <a:ea typeface="华文中宋" pitchFamily="2" charset="-122"/>
              </a:rPr>
              <a:t>时</a:t>
            </a:r>
            <a:r>
              <a:rPr kumimoji="1" lang="en-US" altLang="zh-CN" sz="1800">
                <a:ea typeface="华文中宋" pitchFamily="2" charset="-122"/>
              </a:rPr>
              <a:t>,</a:t>
            </a:r>
            <a:r>
              <a:rPr kumimoji="1" lang="en-US" altLang="zh-CN" sz="1800" i="1">
                <a:ea typeface="华文中宋" pitchFamily="2" charset="-122"/>
              </a:rPr>
              <a:t>  u’ </a:t>
            </a:r>
            <a:r>
              <a:rPr kumimoji="1" lang="en-US" altLang="zh-CN" sz="1800">
                <a:ea typeface="华文中宋" pitchFamily="2" charset="-122"/>
              </a:rPr>
              <a:t>&lt; 0</a:t>
            </a:r>
            <a:r>
              <a:rPr kumimoji="1" lang="zh-CN" altLang="en-US" sz="1800">
                <a:ea typeface="华文中宋" pitchFamily="2" charset="-122"/>
              </a:rPr>
              <a:t>（向下）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60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60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60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60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6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6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16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6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160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160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6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16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160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160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16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16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16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6" grpId="0" autoUpdateAnimBg="0"/>
      <p:bldP spid="216088" grpId="0" autoUpdateAnimBg="0"/>
      <p:bldP spid="216089" grpId="0" autoUpdateAnimBg="0"/>
      <p:bldP spid="216118" grpId="0" autoUpdateAnimBg="0"/>
      <p:bldP spid="21611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Text Box 2"/>
          <p:cNvSpPr txBox="1">
            <a:spLocks noChangeArrowheads="1"/>
          </p:cNvSpPr>
          <p:nvPr/>
        </p:nvSpPr>
        <p:spPr bwMode="auto">
          <a:xfrm>
            <a:off x="228600" y="1654175"/>
            <a:ext cx="4953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FF0000"/>
                </a:solidFill>
                <a:ea typeface="华文中宋" pitchFamily="2" charset="-122"/>
              </a:rPr>
              <a:t>解：</a:t>
            </a:r>
            <a:r>
              <a:rPr lang="zh-CN" altLang="en-US" sz="1800">
                <a:ea typeface="华文中宋" pitchFamily="2" charset="-122"/>
              </a:rPr>
              <a:t>①</a:t>
            </a:r>
            <a:r>
              <a:rPr lang="en-US" altLang="zh-CN" sz="1800" i="1">
                <a:ea typeface="华文中宋" pitchFamily="2" charset="-122"/>
              </a:rPr>
              <a:t>m</a:t>
            </a:r>
            <a:r>
              <a:rPr lang="en-US" altLang="zh-CN" sz="1800">
                <a:ea typeface="华文中宋" pitchFamily="2" charset="-122"/>
              </a:rPr>
              <a:t>,</a:t>
            </a:r>
            <a:r>
              <a:rPr lang="en-US" altLang="zh-CN" sz="1800" i="1">
                <a:ea typeface="华文中宋" pitchFamily="2" charset="-122"/>
              </a:rPr>
              <a:t>M</a:t>
            </a:r>
            <a:r>
              <a:rPr lang="zh-CN" altLang="en-US" sz="1800">
                <a:ea typeface="华文中宋" pitchFamily="2" charset="-122"/>
              </a:rPr>
              <a:t>相碰过程，以摆球、木棒、地球为一系统，机械能守恒</a:t>
            </a:r>
            <a:r>
              <a:rPr lang="en-US" altLang="zh-CN" sz="1800">
                <a:ea typeface="华文中宋" pitchFamily="2" charset="-122"/>
              </a:rPr>
              <a:t>,</a:t>
            </a:r>
            <a:r>
              <a:rPr lang="zh-CN" altLang="en-US" sz="1800">
                <a:ea typeface="华文中宋" pitchFamily="2" charset="-122"/>
              </a:rPr>
              <a:t>即</a:t>
            </a:r>
          </a:p>
        </p:txBody>
      </p:sp>
      <p:sp>
        <p:nvSpPr>
          <p:cNvPr id="217092" name="Text Box 4"/>
          <p:cNvSpPr txBox="1">
            <a:spLocks noChangeArrowheads="1"/>
          </p:cNvSpPr>
          <p:nvPr/>
        </p:nvSpPr>
        <p:spPr bwMode="auto">
          <a:xfrm>
            <a:off x="228600" y="3219450"/>
            <a:ext cx="4902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ea typeface="华文中宋" pitchFamily="2" charset="-122"/>
              </a:rPr>
              <a:t>以摆球、木棒为一系统，对过</a:t>
            </a:r>
            <a:r>
              <a:rPr lang="en-US" altLang="zh-CN" sz="1800">
                <a:ea typeface="华文中宋" pitchFamily="2" charset="-122"/>
              </a:rPr>
              <a:t>0</a:t>
            </a:r>
            <a:r>
              <a:rPr lang="zh-CN" altLang="en-US" sz="1800">
                <a:ea typeface="华文中宋" pitchFamily="2" charset="-122"/>
              </a:rPr>
              <a:t>的水平轴角动量守恒，即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330825" y="2032000"/>
            <a:ext cx="3500438" cy="1200150"/>
            <a:chOff x="0" y="296"/>
            <a:chExt cx="2205" cy="1008"/>
          </a:xfrm>
        </p:grpSpPr>
        <p:sp>
          <p:nvSpPr>
            <p:cNvPr id="50232" name="Rectangle 6"/>
            <p:cNvSpPr>
              <a:spLocks noChangeArrowheads="1"/>
            </p:cNvSpPr>
            <p:nvPr/>
          </p:nvSpPr>
          <p:spPr bwMode="auto">
            <a:xfrm>
              <a:off x="0" y="916"/>
              <a:ext cx="2205" cy="38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9999FF"/>
                </a:gs>
              </a:gsLst>
              <a:lin ang="5400000" scaled="1"/>
            </a:gra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50233" name="Group 7"/>
            <p:cNvGrpSpPr>
              <a:grpSpLocks/>
            </p:cNvGrpSpPr>
            <p:nvPr/>
          </p:nvGrpSpPr>
          <p:grpSpPr bwMode="auto">
            <a:xfrm>
              <a:off x="122" y="296"/>
              <a:ext cx="1514" cy="687"/>
              <a:chOff x="0" y="-69"/>
              <a:chExt cx="1514" cy="687"/>
            </a:xfrm>
          </p:grpSpPr>
          <p:sp>
            <p:nvSpPr>
              <p:cNvPr id="217096" name="Rectangle 8"/>
              <p:cNvSpPr>
                <a:spLocks noChangeArrowheads="1"/>
              </p:cNvSpPr>
              <p:nvPr/>
            </p:nvSpPr>
            <p:spPr bwMode="auto">
              <a:xfrm>
                <a:off x="1257" y="230"/>
                <a:ext cx="78" cy="388"/>
              </a:xfrm>
              <a:prstGeom prst="rect">
                <a:avLst/>
              </a:prstGeom>
              <a:gradFill rotWithShape="0">
                <a:gsLst>
                  <a:gs pos="0">
                    <a:schemeClr val="tx2"/>
                  </a:gs>
                  <a:gs pos="50000">
                    <a:schemeClr val="tx2">
                      <a:gamma/>
                      <a:tint val="40000"/>
                      <a:invGamma/>
                    </a:schemeClr>
                  </a:gs>
                  <a:gs pos="100000">
                    <a:schemeClr val="tx2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defRPr/>
                </a:pPr>
                <a:endParaRPr lang="zh-CN" altLang="en-US"/>
              </a:p>
            </p:txBody>
          </p:sp>
          <p:graphicFrame>
            <p:nvGraphicFramePr>
              <p:cNvPr id="50235" name="Object 9"/>
              <p:cNvGraphicFramePr>
                <a:graphicFrameLocks noChangeAspect="1"/>
              </p:cNvGraphicFramePr>
              <p:nvPr/>
            </p:nvGraphicFramePr>
            <p:xfrm>
              <a:off x="331" y="0"/>
              <a:ext cx="443" cy="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251" r:id="rId3" imgW="393700" imgH="203200" progId="Equation.3">
                      <p:embed/>
                    </p:oleObj>
                  </mc:Choice>
                  <mc:Fallback>
                    <p:oleObj r:id="rId3" imgW="393700" imgH="203200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" y="0"/>
                            <a:ext cx="443" cy="2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50236" name="Group 10"/>
              <p:cNvGrpSpPr>
                <a:grpSpLocks/>
              </p:cNvGrpSpPr>
              <p:nvPr/>
            </p:nvGrpSpPr>
            <p:grpSpPr bwMode="auto">
              <a:xfrm>
                <a:off x="0" y="-69"/>
                <a:ext cx="1514" cy="562"/>
                <a:chOff x="0" y="-174"/>
                <a:chExt cx="1514" cy="562"/>
              </a:xfrm>
            </p:grpSpPr>
            <p:grpSp>
              <p:nvGrpSpPr>
                <p:cNvPr id="50237" name="Group 11"/>
                <p:cNvGrpSpPr>
                  <a:grpSpLocks/>
                </p:cNvGrpSpPr>
                <p:nvPr/>
              </p:nvGrpSpPr>
              <p:grpSpPr bwMode="auto">
                <a:xfrm>
                  <a:off x="1041" y="-122"/>
                  <a:ext cx="473" cy="510"/>
                  <a:chOff x="0" y="-122"/>
                  <a:chExt cx="473" cy="510"/>
                </a:xfrm>
              </p:grpSpPr>
              <p:sp>
                <p:nvSpPr>
                  <p:cNvPr id="50241" name="未知"/>
                  <p:cNvSpPr>
                    <a:spLocks/>
                  </p:cNvSpPr>
                  <p:nvPr/>
                </p:nvSpPr>
                <p:spPr bwMode="auto">
                  <a:xfrm rot="-691458">
                    <a:off x="112" y="-122"/>
                    <a:ext cx="275" cy="388"/>
                  </a:xfrm>
                  <a:custGeom>
                    <a:avLst/>
                    <a:gdLst>
                      <a:gd name="T0" fmla="*/ 0 w 275"/>
                      <a:gd name="T1" fmla="*/ 0 h 131"/>
                      <a:gd name="T2" fmla="*/ 53 w 275"/>
                      <a:gd name="T3" fmla="*/ 15019 h 131"/>
                      <a:gd name="T4" fmla="*/ 92 w 275"/>
                      <a:gd name="T5" fmla="*/ 29852 h 131"/>
                      <a:gd name="T6" fmla="*/ 197 w 275"/>
                      <a:gd name="T7" fmla="*/ 29852 h 131"/>
                      <a:gd name="T8" fmla="*/ 275 w 275"/>
                      <a:gd name="T9" fmla="*/ 15019 h 131"/>
                      <a:gd name="T10" fmla="*/ 0 w 275"/>
                      <a:gd name="T11" fmla="*/ 0 h 1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75"/>
                      <a:gd name="T19" fmla="*/ 0 h 131"/>
                      <a:gd name="T20" fmla="*/ 275 w 275"/>
                      <a:gd name="T21" fmla="*/ 131 h 131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75" h="131">
                        <a:moveTo>
                          <a:pt x="0" y="0"/>
                        </a:moveTo>
                        <a:lnTo>
                          <a:pt x="53" y="66"/>
                        </a:lnTo>
                        <a:lnTo>
                          <a:pt x="92" y="131"/>
                        </a:lnTo>
                        <a:lnTo>
                          <a:pt x="197" y="131"/>
                        </a:lnTo>
                        <a:lnTo>
                          <a:pt x="275" y="6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>
                    <a:round/>
                    <a:headEnd/>
                    <a:tailEnd/>
                  </a:ln>
                  <a:scene3d>
                    <a:camera prst="legacyObliqueTopRight"/>
                    <a:lightRig rig="legacyFlat3" dir="b"/>
                  </a:scene3d>
                  <a:sp3d extrusionH="430200" prstMaterial="legacyMatte">
                    <a:bevelT w="13500" h="13500" prst="angle"/>
                    <a:bevelB w="13500" h="13500" prst="angle"/>
                    <a:extrusionClr>
                      <a:schemeClr val="accent2"/>
                    </a:extrusionClr>
                  </a:sp3d>
                </p:spPr>
                <p:txBody>
                  <a:bodyPr>
                    <a:spAutoFit/>
                    <a:flatTx/>
                  </a:bodyPr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50242" name="Group 13"/>
                  <p:cNvGrpSpPr>
                    <a:grpSpLocks/>
                  </p:cNvGrpSpPr>
                  <p:nvPr/>
                </p:nvGrpSpPr>
                <p:grpSpPr bwMode="auto">
                  <a:xfrm>
                    <a:off x="0" y="0"/>
                    <a:ext cx="473" cy="388"/>
                    <a:chOff x="0" y="0"/>
                    <a:chExt cx="473" cy="388"/>
                  </a:xfrm>
                </p:grpSpPr>
                <p:sp>
                  <p:nvSpPr>
                    <p:cNvPr id="50243" name="Line 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0" y="26"/>
                      <a:ext cx="473" cy="0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008000"/>
                      </a:solidFill>
                      <a:round/>
                      <a:headEnd/>
                      <a:tailEnd/>
                    </a:ln>
                    <a:scene3d>
                      <a:camera prst="legacyObliqueTopRight"/>
                      <a:lightRig rig="legacyFlat3" dir="b"/>
                    </a:scene3d>
                    <a:sp3d extrusionH="430200" prstMaterial="legacyMatte">
                      <a:bevelT w="13500" h="13500" prst="angle"/>
                      <a:bevelB w="13500" h="13500" prst="angle"/>
                      <a:extrusionClr>
                        <a:srgbClr val="008000"/>
                      </a:extrusionClr>
                    </a:sp3d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>
                      <a:spAutoFit/>
                      <a:flatTx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0244" name="未知"/>
                    <p:cNvSpPr>
                      <a:spLocks/>
                    </p:cNvSpPr>
                    <p:nvPr/>
                  </p:nvSpPr>
                  <p:spPr bwMode="auto">
                    <a:xfrm>
                      <a:off x="57" y="0"/>
                      <a:ext cx="333" cy="388"/>
                    </a:xfrm>
                    <a:custGeom>
                      <a:avLst/>
                      <a:gdLst>
                        <a:gd name="T0" fmla="*/ 1 w 549"/>
                        <a:gd name="T1" fmla="*/ 0 h 225"/>
                        <a:gd name="T2" fmla="*/ 1 w 549"/>
                        <a:gd name="T3" fmla="*/ 143 h 225"/>
                        <a:gd name="T4" fmla="*/ 2 w 549"/>
                        <a:gd name="T5" fmla="*/ 460 h 225"/>
                        <a:gd name="T6" fmla="*/ 3 w 549"/>
                        <a:gd name="T7" fmla="*/ 857 h 225"/>
                        <a:gd name="T8" fmla="*/ 5 w 549"/>
                        <a:gd name="T9" fmla="*/ 1011 h 225"/>
                        <a:gd name="T10" fmla="*/ 8 w 549"/>
                        <a:gd name="T11" fmla="*/ 928 h 225"/>
                        <a:gd name="T12" fmla="*/ 10 w 549"/>
                        <a:gd name="T13" fmla="*/ 255 h 225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549"/>
                        <a:gd name="T22" fmla="*/ 0 h 225"/>
                        <a:gd name="T23" fmla="*/ 549 w 549"/>
                        <a:gd name="T24" fmla="*/ 225 h 225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549" h="225">
                          <a:moveTo>
                            <a:pt x="24" y="0"/>
                          </a:moveTo>
                          <a:cubicBezTo>
                            <a:pt x="39" y="10"/>
                            <a:pt x="58" y="16"/>
                            <a:pt x="69" y="30"/>
                          </a:cubicBezTo>
                          <a:cubicBezTo>
                            <a:pt x="152" y="134"/>
                            <a:pt x="0" y="19"/>
                            <a:pt x="129" y="105"/>
                          </a:cubicBezTo>
                          <a:cubicBezTo>
                            <a:pt x="149" y="135"/>
                            <a:pt x="155" y="184"/>
                            <a:pt x="189" y="195"/>
                          </a:cubicBezTo>
                          <a:cubicBezTo>
                            <a:pt x="219" y="205"/>
                            <a:pt x="279" y="225"/>
                            <a:pt x="279" y="225"/>
                          </a:cubicBezTo>
                          <a:cubicBezTo>
                            <a:pt x="334" y="220"/>
                            <a:pt x="390" y="222"/>
                            <a:pt x="444" y="210"/>
                          </a:cubicBezTo>
                          <a:cubicBezTo>
                            <a:pt x="511" y="196"/>
                            <a:pt x="500" y="109"/>
                            <a:pt x="549" y="60"/>
                          </a:cubicBezTo>
                        </a:path>
                      </a:pathLst>
                    </a:custGeom>
                    <a:solidFill>
                      <a:schemeClr val="accent2"/>
                    </a:solidFill>
                    <a:ln w="9525">
                      <a:round/>
                      <a:headEnd/>
                      <a:tailEnd/>
                    </a:ln>
                    <a:scene3d>
                      <a:camera prst="legacyObliqueTopRight"/>
                      <a:lightRig rig="legacyFlat3" dir="b"/>
                    </a:scene3d>
                    <a:sp3d extrusionH="430200" prstMaterial="legacyMatte">
                      <a:bevelT w="13500" h="13500" prst="angle"/>
                      <a:bevelB w="13500" h="13500" prst="angle"/>
                      <a:extrusionClr>
                        <a:schemeClr val="accent2"/>
                      </a:extrusionClr>
                    </a:sp3d>
                  </p:spPr>
                  <p:txBody>
                    <a:bodyPr>
                      <a:spAutoFit/>
                      <a:flatTx/>
                    </a:bodyPr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50238" name="Group 16"/>
                <p:cNvGrpSpPr>
                  <a:grpSpLocks/>
                </p:cNvGrpSpPr>
                <p:nvPr/>
              </p:nvGrpSpPr>
              <p:grpSpPr bwMode="auto">
                <a:xfrm>
                  <a:off x="0" y="-174"/>
                  <a:ext cx="1286" cy="545"/>
                  <a:chOff x="0" y="-195"/>
                  <a:chExt cx="1286" cy="545"/>
                </a:xfrm>
              </p:grpSpPr>
              <p:sp>
                <p:nvSpPr>
                  <p:cNvPr id="50239" name="Line 1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72" y="67"/>
                    <a:ext cx="1214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CC99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240" name="Oval 1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-195"/>
                    <a:ext cx="156" cy="545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FFFFFF"/>
                      </a:gs>
                      <a:gs pos="100000">
                        <a:srgbClr val="FF9933"/>
                      </a:gs>
                    </a:gsLst>
                    <a:path path="shape">
                      <a:fillToRect l="50000" t="50000" r="50000" b="50000"/>
                    </a:path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grpSp>
        <p:nvGrpSpPr>
          <p:cNvPr id="8" name="Group 19"/>
          <p:cNvGrpSpPr>
            <a:grpSpLocks/>
          </p:cNvGrpSpPr>
          <p:nvPr/>
        </p:nvGrpSpPr>
        <p:grpSpPr bwMode="auto">
          <a:xfrm rot="-3646304">
            <a:off x="6321425" y="2660650"/>
            <a:ext cx="1531938" cy="649288"/>
            <a:chOff x="0" y="-127"/>
            <a:chExt cx="1286" cy="409"/>
          </a:xfrm>
        </p:grpSpPr>
        <p:sp>
          <p:nvSpPr>
            <p:cNvPr id="50230" name="Line 20"/>
            <p:cNvSpPr>
              <a:spLocks noChangeShapeType="1"/>
            </p:cNvSpPr>
            <p:nvPr/>
          </p:nvSpPr>
          <p:spPr bwMode="auto">
            <a:xfrm flipH="1">
              <a:off x="72" y="67"/>
              <a:ext cx="1214" cy="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0231" name="Oval 21"/>
            <p:cNvSpPr>
              <a:spLocks noChangeArrowheads="1"/>
            </p:cNvSpPr>
            <p:nvPr/>
          </p:nvSpPr>
          <p:spPr bwMode="auto">
            <a:xfrm>
              <a:off x="0" y="-127"/>
              <a:ext cx="156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9933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9" name="Group 22"/>
          <p:cNvGrpSpPr>
            <a:grpSpLocks/>
          </p:cNvGrpSpPr>
          <p:nvPr/>
        </p:nvGrpSpPr>
        <p:grpSpPr bwMode="auto">
          <a:xfrm rot="-1509166">
            <a:off x="5675313" y="2338388"/>
            <a:ext cx="2041525" cy="649287"/>
            <a:chOff x="0" y="-195"/>
            <a:chExt cx="1286" cy="545"/>
          </a:xfrm>
        </p:grpSpPr>
        <p:sp>
          <p:nvSpPr>
            <p:cNvPr id="50228" name="Line 23"/>
            <p:cNvSpPr>
              <a:spLocks noChangeShapeType="1"/>
            </p:cNvSpPr>
            <p:nvPr/>
          </p:nvSpPr>
          <p:spPr bwMode="auto">
            <a:xfrm flipH="1">
              <a:off x="72" y="67"/>
              <a:ext cx="1214" cy="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0229" name="Oval 24"/>
            <p:cNvSpPr>
              <a:spLocks noChangeArrowheads="1"/>
            </p:cNvSpPr>
            <p:nvPr/>
          </p:nvSpPr>
          <p:spPr bwMode="auto">
            <a:xfrm>
              <a:off x="0" y="-195"/>
              <a:ext cx="156" cy="545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9933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0" name="Group 25"/>
          <p:cNvGrpSpPr>
            <a:grpSpLocks/>
          </p:cNvGrpSpPr>
          <p:nvPr/>
        </p:nvGrpSpPr>
        <p:grpSpPr bwMode="auto">
          <a:xfrm rot="-4983130">
            <a:off x="6731000" y="2759075"/>
            <a:ext cx="1531938" cy="649288"/>
            <a:chOff x="0" y="-127"/>
            <a:chExt cx="1286" cy="409"/>
          </a:xfrm>
        </p:grpSpPr>
        <p:sp>
          <p:nvSpPr>
            <p:cNvPr id="50226" name="Line 26"/>
            <p:cNvSpPr>
              <a:spLocks noChangeShapeType="1"/>
            </p:cNvSpPr>
            <p:nvPr/>
          </p:nvSpPr>
          <p:spPr bwMode="auto">
            <a:xfrm flipH="1">
              <a:off x="72" y="67"/>
              <a:ext cx="1214" cy="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0227" name="Oval 27"/>
            <p:cNvSpPr>
              <a:spLocks noChangeArrowheads="1"/>
            </p:cNvSpPr>
            <p:nvPr/>
          </p:nvSpPr>
          <p:spPr bwMode="auto">
            <a:xfrm>
              <a:off x="0" y="-127"/>
              <a:ext cx="156" cy="409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9933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" name="Group 28"/>
          <p:cNvGrpSpPr>
            <a:grpSpLocks/>
          </p:cNvGrpSpPr>
          <p:nvPr/>
        </p:nvGrpSpPr>
        <p:grpSpPr bwMode="auto">
          <a:xfrm>
            <a:off x="5326063" y="2112963"/>
            <a:ext cx="3500437" cy="1776412"/>
            <a:chOff x="0" y="348"/>
            <a:chExt cx="2205" cy="1493"/>
          </a:xfrm>
        </p:grpSpPr>
        <p:grpSp>
          <p:nvGrpSpPr>
            <p:cNvPr id="50214" name="Group 29"/>
            <p:cNvGrpSpPr>
              <a:grpSpLocks/>
            </p:cNvGrpSpPr>
            <p:nvPr/>
          </p:nvGrpSpPr>
          <p:grpSpPr bwMode="auto">
            <a:xfrm>
              <a:off x="0" y="348"/>
              <a:ext cx="2205" cy="1493"/>
              <a:chOff x="0" y="348"/>
              <a:chExt cx="2205" cy="1493"/>
            </a:xfrm>
          </p:grpSpPr>
          <p:sp>
            <p:nvSpPr>
              <p:cNvPr id="50216" name="Rectangle 30"/>
              <p:cNvSpPr>
                <a:spLocks noChangeArrowheads="1"/>
              </p:cNvSpPr>
              <p:nvPr/>
            </p:nvSpPr>
            <p:spPr bwMode="auto">
              <a:xfrm>
                <a:off x="0" y="916"/>
                <a:ext cx="2205" cy="388"/>
              </a:xfrm>
              <a:prstGeom prst="rect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9999FF"/>
                  </a:gs>
                </a:gsLst>
                <a:lin ang="5400000" scaled="1"/>
              </a:gra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50217" name="Group 31"/>
              <p:cNvGrpSpPr>
                <a:grpSpLocks/>
              </p:cNvGrpSpPr>
              <p:nvPr/>
            </p:nvGrpSpPr>
            <p:grpSpPr bwMode="auto">
              <a:xfrm>
                <a:off x="1163" y="348"/>
                <a:ext cx="473" cy="1493"/>
                <a:chOff x="0" y="-122"/>
                <a:chExt cx="473" cy="1493"/>
              </a:xfrm>
            </p:grpSpPr>
            <p:grpSp>
              <p:nvGrpSpPr>
                <p:cNvPr id="50218" name="Group 32"/>
                <p:cNvGrpSpPr>
                  <a:grpSpLocks/>
                </p:cNvGrpSpPr>
                <p:nvPr/>
              </p:nvGrpSpPr>
              <p:grpSpPr bwMode="auto">
                <a:xfrm>
                  <a:off x="0" y="-122"/>
                  <a:ext cx="473" cy="510"/>
                  <a:chOff x="0" y="-122"/>
                  <a:chExt cx="473" cy="510"/>
                </a:xfrm>
              </p:grpSpPr>
              <p:sp>
                <p:nvSpPr>
                  <p:cNvPr id="50222" name="未知"/>
                  <p:cNvSpPr>
                    <a:spLocks/>
                  </p:cNvSpPr>
                  <p:nvPr/>
                </p:nvSpPr>
                <p:spPr bwMode="auto">
                  <a:xfrm rot="-691458">
                    <a:off x="112" y="-122"/>
                    <a:ext cx="275" cy="388"/>
                  </a:xfrm>
                  <a:custGeom>
                    <a:avLst/>
                    <a:gdLst>
                      <a:gd name="T0" fmla="*/ 0 w 275"/>
                      <a:gd name="T1" fmla="*/ 0 h 131"/>
                      <a:gd name="T2" fmla="*/ 53 w 275"/>
                      <a:gd name="T3" fmla="*/ 15019 h 131"/>
                      <a:gd name="T4" fmla="*/ 92 w 275"/>
                      <a:gd name="T5" fmla="*/ 29852 h 131"/>
                      <a:gd name="T6" fmla="*/ 197 w 275"/>
                      <a:gd name="T7" fmla="*/ 29852 h 131"/>
                      <a:gd name="T8" fmla="*/ 275 w 275"/>
                      <a:gd name="T9" fmla="*/ 15019 h 131"/>
                      <a:gd name="T10" fmla="*/ 0 w 275"/>
                      <a:gd name="T11" fmla="*/ 0 h 1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75"/>
                      <a:gd name="T19" fmla="*/ 0 h 131"/>
                      <a:gd name="T20" fmla="*/ 275 w 275"/>
                      <a:gd name="T21" fmla="*/ 131 h 131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75" h="131">
                        <a:moveTo>
                          <a:pt x="0" y="0"/>
                        </a:moveTo>
                        <a:lnTo>
                          <a:pt x="53" y="66"/>
                        </a:lnTo>
                        <a:lnTo>
                          <a:pt x="92" y="131"/>
                        </a:lnTo>
                        <a:lnTo>
                          <a:pt x="197" y="131"/>
                        </a:lnTo>
                        <a:lnTo>
                          <a:pt x="275" y="6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>
                    <a:round/>
                    <a:headEnd/>
                    <a:tailEnd/>
                  </a:ln>
                  <a:scene3d>
                    <a:camera prst="legacyObliqueTopRight"/>
                    <a:lightRig rig="legacyFlat3" dir="b"/>
                  </a:scene3d>
                  <a:sp3d extrusionH="430200" prstMaterial="legacyMatte">
                    <a:bevelT w="13500" h="13500" prst="angle"/>
                    <a:bevelB w="13500" h="13500" prst="angle"/>
                    <a:extrusionClr>
                      <a:schemeClr val="accent2"/>
                    </a:extrusionClr>
                  </a:sp3d>
                </p:spPr>
                <p:txBody>
                  <a:bodyPr>
                    <a:spAutoFit/>
                    <a:flatTx/>
                  </a:bodyPr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50223" name="Group 34"/>
                  <p:cNvGrpSpPr>
                    <a:grpSpLocks/>
                  </p:cNvGrpSpPr>
                  <p:nvPr/>
                </p:nvGrpSpPr>
                <p:grpSpPr bwMode="auto">
                  <a:xfrm>
                    <a:off x="0" y="0"/>
                    <a:ext cx="473" cy="388"/>
                    <a:chOff x="0" y="0"/>
                    <a:chExt cx="473" cy="388"/>
                  </a:xfrm>
                </p:grpSpPr>
                <p:sp>
                  <p:nvSpPr>
                    <p:cNvPr id="50224" name="Line 3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0" y="26"/>
                      <a:ext cx="473" cy="0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008000"/>
                      </a:solidFill>
                      <a:round/>
                      <a:headEnd/>
                      <a:tailEnd/>
                    </a:ln>
                    <a:scene3d>
                      <a:camera prst="legacyObliqueTopRight"/>
                      <a:lightRig rig="legacyFlat3" dir="b"/>
                    </a:scene3d>
                    <a:sp3d extrusionH="430200" prstMaterial="legacyMatte">
                      <a:bevelT w="13500" h="13500" prst="angle"/>
                      <a:bevelB w="13500" h="13500" prst="angle"/>
                      <a:extrusionClr>
                        <a:srgbClr val="008000"/>
                      </a:extrusionClr>
                    </a:sp3d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>
                      <a:spAutoFit/>
                      <a:flatTx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0225" name="未知"/>
                    <p:cNvSpPr>
                      <a:spLocks/>
                    </p:cNvSpPr>
                    <p:nvPr/>
                  </p:nvSpPr>
                  <p:spPr bwMode="auto">
                    <a:xfrm>
                      <a:off x="57" y="0"/>
                      <a:ext cx="333" cy="388"/>
                    </a:xfrm>
                    <a:custGeom>
                      <a:avLst/>
                      <a:gdLst>
                        <a:gd name="T0" fmla="*/ 1 w 549"/>
                        <a:gd name="T1" fmla="*/ 0 h 225"/>
                        <a:gd name="T2" fmla="*/ 1 w 549"/>
                        <a:gd name="T3" fmla="*/ 143 h 225"/>
                        <a:gd name="T4" fmla="*/ 2 w 549"/>
                        <a:gd name="T5" fmla="*/ 460 h 225"/>
                        <a:gd name="T6" fmla="*/ 3 w 549"/>
                        <a:gd name="T7" fmla="*/ 857 h 225"/>
                        <a:gd name="T8" fmla="*/ 5 w 549"/>
                        <a:gd name="T9" fmla="*/ 1011 h 225"/>
                        <a:gd name="T10" fmla="*/ 8 w 549"/>
                        <a:gd name="T11" fmla="*/ 928 h 225"/>
                        <a:gd name="T12" fmla="*/ 10 w 549"/>
                        <a:gd name="T13" fmla="*/ 255 h 225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549"/>
                        <a:gd name="T22" fmla="*/ 0 h 225"/>
                        <a:gd name="T23" fmla="*/ 549 w 549"/>
                        <a:gd name="T24" fmla="*/ 225 h 225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549" h="225">
                          <a:moveTo>
                            <a:pt x="24" y="0"/>
                          </a:moveTo>
                          <a:cubicBezTo>
                            <a:pt x="39" y="10"/>
                            <a:pt x="58" y="16"/>
                            <a:pt x="69" y="30"/>
                          </a:cubicBezTo>
                          <a:cubicBezTo>
                            <a:pt x="152" y="134"/>
                            <a:pt x="0" y="19"/>
                            <a:pt x="129" y="105"/>
                          </a:cubicBezTo>
                          <a:cubicBezTo>
                            <a:pt x="149" y="135"/>
                            <a:pt x="155" y="184"/>
                            <a:pt x="189" y="195"/>
                          </a:cubicBezTo>
                          <a:cubicBezTo>
                            <a:pt x="219" y="205"/>
                            <a:pt x="279" y="225"/>
                            <a:pt x="279" y="225"/>
                          </a:cubicBezTo>
                          <a:cubicBezTo>
                            <a:pt x="334" y="220"/>
                            <a:pt x="390" y="222"/>
                            <a:pt x="444" y="210"/>
                          </a:cubicBezTo>
                          <a:cubicBezTo>
                            <a:pt x="511" y="196"/>
                            <a:pt x="500" y="109"/>
                            <a:pt x="549" y="60"/>
                          </a:cubicBezTo>
                        </a:path>
                      </a:pathLst>
                    </a:custGeom>
                    <a:solidFill>
                      <a:schemeClr val="accent2"/>
                    </a:solidFill>
                    <a:ln w="9525">
                      <a:round/>
                      <a:headEnd/>
                      <a:tailEnd/>
                    </a:ln>
                    <a:scene3d>
                      <a:camera prst="legacyObliqueTopRight"/>
                      <a:lightRig rig="legacyFlat3" dir="b"/>
                    </a:scene3d>
                    <a:sp3d extrusionH="430200" prstMaterial="legacyMatte">
                      <a:bevelT w="13500" h="13500" prst="angle"/>
                      <a:bevelB w="13500" h="13500" prst="angle"/>
                      <a:extrusionClr>
                        <a:schemeClr val="accent2"/>
                      </a:extrusionClr>
                    </a:sp3d>
                  </p:spPr>
                  <p:txBody>
                    <a:bodyPr>
                      <a:spAutoFit/>
                      <a:flatTx/>
                    </a:bodyPr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50219" name="Group 37"/>
                <p:cNvGrpSpPr>
                  <a:grpSpLocks/>
                </p:cNvGrpSpPr>
                <p:nvPr/>
              </p:nvGrpSpPr>
              <p:grpSpPr bwMode="auto">
                <a:xfrm>
                  <a:off x="59" y="80"/>
                  <a:ext cx="409" cy="1291"/>
                  <a:chOff x="-127" y="0"/>
                  <a:chExt cx="409" cy="1291"/>
                </a:xfrm>
              </p:grpSpPr>
              <p:sp>
                <p:nvSpPr>
                  <p:cNvPr id="50220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71" y="0"/>
                    <a:ext cx="0" cy="1210"/>
                  </a:xfrm>
                  <a:prstGeom prst="line">
                    <a:avLst/>
                  </a:prstGeom>
                  <a:noFill/>
                  <a:ln w="38100">
                    <a:solidFill>
                      <a:srgbClr val="FFCC99"/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221" name="Oval 39"/>
                  <p:cNvSpPr>
                    <a:spLocks noChangeArrowheads="1"/>
                  </p:cNvSpPr>
                  <p:nvPr/>
                </p:nvSpPr>
                <p:spPr bwMode="auto">
                  <a:xfrm rot="-5476135">
                    <a:off x="0" y="1008"/>
                    <a:ext cx="156" cy="409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FFFFFF"/>
                      </a:gs>
                      <a:gs pos="100000">
                        <a:srgbClr val="FF9933"/>
                      </a:gs>
                    </a:gsLst>
                    <a:path path="shape">
                      <a:fillToRect l="50000" t="50000" r="50000" b="50000"/>
                    </a:path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50215" name="Rectangle 40"/>
            <p:cNvSpPr>
              <a:spLocks noChangeArrowheads="1"/>
            </p:cNvSpPr>
            <p:nvPr/>
          </p:nvSpPr>
          <p:spPr bwMode="auto">
            <a:xfrm rot="-915557">
              <a:off x="1559" y="945"/>
              <a:ext cx="87" cy="388"/>
            </a:xfrm>
            <a:prstGeom prst="rect">
              <a:avLst/>
            </a:prstGeom>
            <a:solidFill>
              <a:srgbClr val="009999">
                <a:alpha val="50195"/>
              </a:srgbClr>
            </a:solidFill>
            <a:ln w="9525">
              <a:solidFill>
                <a:srgbClr val="000000"/>
              </a:solidFill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" name="Group 41"/>
          <p:cNvGrpSpPr>
            <a:grpSpLocks/>
          </p:cNvGrpSpPr>
          <p:nvPr/>
        </p:nvGrpSpPr>
        <p:grpSpPr bwMode="auto">
          <a:xfrm>
            <a:off x="5334000" y="2058988"/>
            <a:ext cx="3500438" cy="1847850"/>
            <a:chOff x="0" y="289"/>
            <a:chExt cx="2205" cy="1552"/>
          </a:xfrm>
        </p:grpSpPr>
        <p:grpSp>
          <p:nvGrpSpPr>
            <p:cNvPr id="50191" name="Group 42"/>
            <p:cNvGrpSpPr>
              <a:grpSpLocks/>
            </p:cNvGrpSpPr>
            <p:nvPr/>
          </p:nvGrpSpPr>
          <p:grpSpPr bwMode="auto">
            <a:xfrm>
              <a:off x="0" y="289"/>
              <a:ext cx="2205" cy="1552"/>
              <a:chOff x="0" y="289"/>
              <a:chExt cx="2205" cy="1552"/>
            </a:xfrm>
          </p:grpSpPr>
          <p:grpSp>
            <p:nvGrpSpPr>
              <p:cNvPr id="50193" name="Group 43"/>
              <p:cNvGrpSpPr>
                <a:grpSpLocks/>
              </p:cNvGrpSpPr>
              <p:nvPr/>
            </p:nvGrpSpPr>
            <p:grpSpPr bwMode="auto">
              <a:xfrm>
                <a:off x="0" y="289"/>
                <a:ext cx="2205" cy="1552"/>
                <a:chOff x="0" y="289"/>
                <a:chExt cx="2205" cy="1552"/>
              </a:xfrm>
            </p:grpSpPr>
            <p:grpSp>
              <p:nvGrpSpPr>
                <p:cNvPr id="50195" name="Group 44"/>
                <p:cNvGrpSpPr>
                  <a:grpSpLocks/>
                </p:cNvGrpSpPr>
                <p:nvPr/>
              </p:nvGrpSpPr>
              <p:grpSpPr bwMode="auto">
                <a:xfrm>
                  <a:off x="0" y="348"/>
                  <a:ext cx="2205" cy="1493"/>
                  <a:chOff x="0" y="348"/>
                  <a:chExt cx="2205" cy="1493"/>
                </a:xfrm>
              </p:grpSpPr>
              <p:grpSp>
                <p:nvGrpSpPr>
                  <p:cNvPr id="50199" name="Group 45"/>
                  <p:cNvGrpSpPr>
                    <a:grpSpLocks/>
                  </p:cNvGrpSpPr>
                  <p:nvPr/>
                </p:nvGrpSpPr>
                <p:grpSpPr bwMode="auto">
                  <a:xfrm>
                    <a:off x="0" y="348"/>
                    <a:ext cx="2205" cy="1493"/>
                    <a:chOff x="0" y="348"/>
                    <a:chExt cx="2205" cy="1493"/>
                  </a:xfrm>
                </p:grpSpPr>
                <p:sp>
                  <p:nvSpPr>
                    <p:cNvPr id="50204" name="Rectangle 4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0" y="916"/>
                      <a:ext cx="2205" cy="388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FFFFFF"/>
                        </a:gs>
                        <a:gs pos="100000">
                          <a:srgbClr val="9999FF"/>
                        </a:gs>
                      </a:gsLst>
                      <a:lin ang="5400000" scaled="1"/>
                    </a:gradFill>
                    <a:ln w="9525">
                      <a:solidFill>
                        <a:schemeClr val="bg1"/>
                      </a:solidFill>
                      <a:miter lim="800000"/>
                      <a:headEnd/>
                      <a:tailEnd/>
                    </a:ln>
                  </p:spPr>
                  <p:txBody>
                    <a:bodyPr anchor="ctr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50205" name="Group 4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63" y="348"/>
                      <a:ext cx="473" cy="1493"/>
                      <a:chOff x="0" y="-122"/>
                      <a:chExt cx="473" cy="1493"/>
                    </a:xfrm>
                  </p:grpSpPr>
                  <p:grpSp>
                    <p:nvGrpSpPr>
                      <p:cNvPr id="50206" name="Group 4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0" y="-122"/>
                        <a:ext cx="473" cy="510"/>
                        <a:chOff x="0" y="-122"/>
                        <a:chExt cx="473" cy="510"/>
                      </a:xfrm>
                    </p:grpSpPr>
                    <p:sp>
                      <p:nvSpPr>
                        <p:cNvPr id="50210" name="未知"/>
                        <p:cNvSpPr>
                          <a:spLocks/>
                        </p:cNvSpPr>
                        <p:nvPr/>
                      </p:nvSpPr>
                      <p:spPr bwMode="auto">
                        <a:xfrm rot="-691458">
                          <a:off x="112" y="-122"/>
                          <a:ext cx="275" cy="388"/>
                        </a:xfrm>
                        <a:custGeom>
                          <a:avLst/>
                          <a:gdLst>
                            <a:gd name="T0" fmla="*/ 0 w 275"/>
                            <a:gd name="T1" fmla="*/ 0 h 131"/>
                            <a:gd name="T2" fmla="*/ 53 w 275"/>
                            <a:gd name="T3" fmla="*/ 15019 h 131"/>
                            <a:gd name="T4" fmla="*/ 92 w 275"/>
                            <a:gd name="T5" fmla="*/ 29852 h 131"/>
                            <a:gd name="T6" fmla="*/ 197 w 275"/>
                            <a:gd name="T7" fmla="*/ 29852 h 131"/>
                            <a:gd name="T8" fmla="*/ 275 w 275"/>
                            <a:gd name="T9" fmla="*/ 15019 h 131"/>
                            <a:gd name="T10" fmla="*/ 0 w 275"/>
                            <a:gd name="T11" fmla="*/ 0 h 131"/>
                            <a:gd name="T12" fmla="*/ 0 60000 65536"/>
                            <a:gd name="T13" fmla="*/ 0 60000 65536"/>
                            <a:gd name="T14" fmla="*/ 0 60000 65536"/>
                            <a:gd name="T15" fmla="*/ 0 60000 65536"/>
                            <a:gd name="T16" fmla="*/ 0 60000 65536"/>
                            <a:gd name="T17" fmla="*/ 0 60000 65536"/>
                            <a:gd name="T18" fmla="*/ 0 w 275"/>
                            <a:gd name="T19" fmla="*/ 0 h 131"/>
                            <a:gd name="T20" fmla="*/ 275 w 275"/>
                            <a:gd name="T21" fmla="*/ 131 h 131"/>
                          </a:gdLst>
                          <a:ahLst/>
                          <a:cxnLst>
                            <a:cxn ang="T12">
                              <a:pos x="T0" y="T1"/>
                            </a:cxn>
                            <a:cxn ang="T13">
                              <a:pos x="T2" y="T3"/>
                            </a:cxn>
                            <a:cxn ang="T14">
                              <a:pos x="T4" y="T5"/>
                            </a:cxn>
                            <a:cxn ang="T15">
                              <a:pos x="T6" y="T7"/>
                            </a:cxn>
                            <a:cxn ang="T16">
                              <a:pos x="T8" y="T9"/>
                            </a:cxn>
                            <a:cxn ang="T17">
                              <a:pos x="T10" y="T11"/>
                            </a:cxn>
                          </a:cxnLst>
                          <a:rect l="T18" t="T19" r="T20" b="T21"/>
                          <a:pathLst>
                            <a:path w="275" h="131">
                              <a:moveTo>
                                <a:pt x="0" y="0"/>
                              </a:moveTo>
                              <a:lnTo>
                                <a:pt x="53" y="66"/>
                              </a:lnTo>
                              <a:lnTo>
                                <a:pt x="92" y="131"/>
                              </a:lnTo>
                              <a:lnTo>
                                <a:pt x="197" y="131"/>
                              </a:lnTo>
                              <a:lnTo>
                                <a:pt x="275" y="66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2"/>
                        </a:solidFill>
                        <a:ln w="9525">
                          <a:round/>
                          <a:headEnd/>
                          <a:tailEnd/>
                        </a:ln>
                        <a:scene3d>
                          <a:camera prst="legacyObliqueTopRight"/>
                          <a:lightRig rig="legacyFlat3" dir="b"/>
                        </a:scene3d>
                        <a:sp3d extrusionH="430200" prstMaterial="legacyMatte">
                          <a:bevelT w="13500" h="13500" prst="angle"/>
                          <a:bevelB w="13500" h="13500" prst="angle"/>
                          <a:extrusionClr>
                            <a:schemeClr val="accent2"/>
                          </a:extrusionClr>
                        </a:sp3d>
                      </p:spPr>
                      <p:txBody>
                        <a:bodyPr>
                          <a:spAutoFit/>
                          <a:flatTx/>
                        </a:bodyPr>
                        <a:lstStyle/>
                        <a:p>
                          <a:endParaRPr lang="zh-CN" altLang="en-US"/>
                        </a:p>
                      </p:txBody>
                    </p:sp>
                    <p:grpSp>
                      <p:nvGrpSpPr>
                        <p:cNvPr id="50211" name="Group 50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0" y="0"/>
                          <a:ext cx="473" cy="388"/>
                          <a:chOff x="0" y="0"/>
                          <a:chExt cx="473" cy="388"/>
                        </a:xfrm>
                      </p:grpSpPr>
                      <p:sp>
                        <p:nvSpPr>
                          <p:cNvPr id="50212" name="Line 51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0" y="26"/>
                            <a:ext cx="473" cy="0"/>
                          </a:xfrm>
                          <a:prstGeom prst="line">
                            <a:avLst/>
                          </a:prstGeom>
                          <a:noFill/>
                          <a:ln w="76200">
                            <a:solidFill>
                              <a:srgbClr val="008000"/>
                            </a:solidFill>
                            <a:round/>
                            <a:headEnd/>
                            <a:tailEnd/>
                          </a:ln>
                          <a:scene3d>
                            <a:camera prst="legacyObliqueTopRight"/>
                            <a:lightRig rig="legacyFlat3" dir="b"/>
                          </a:scene3d>
                          <a:sp3d extrusionH="430200" prstMaterial="legacyMatte">
                            <a:bevelT w="13500" h="13500" prst="angle"/>
                            <a:bevelB w="13500" h="13500" prst="angle"/>
                            <a:extrusionClr>
                              <a:srgbClr val="008000"/>
                            </a:extrusionClr>
                          </a:sp3d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>
                            <a:spAutoFit/>
                            <a:flatTx/>
                          </a:bodyPr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50213" name="未知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57" y="0"/>
                            <a:ext cx="333" cy="388"/>
                          </a:xfrm>
                          <a:custGeom>
                            <a:avLst/>
                            <a:gdLst>
                              <a:gd name="T0" fmla="*/ 1 w 549"/>
                              <a:gd name="T1" fmla="*/ 0 h 225"/>
                              <a:gd name="T2" fmla="*/ 1 w 549"/>
                              <a:gd name="T3" fmla="*/ 143 h 225"/>
                              <a:gd name="T4" fmla="*/ 2 w 549"/>
                              <a:gd name="T5" fmla="*/ 460 h 225"/>
                              <a:gd name="T6" fmla="*/ 3 w 549"/>
                              <a:gd name="T7" fmla="*/ 857 h 225"/>
                              <a:gd name="T8" fmla="*/ 5 w 549"/>
                              <a:gd name="T9" fmla="*/ 1011 h 225"/>
                              <a:gd name="T10" fmla="*/ 8 w 549"/>
                              <a:gd name="T11" fmla="*/ 928 h 225"/>
                              <a:gd name="T12" fmla="*/ 10 w 549"/>
                              <a:gd name="T13" fmla="*/ 255 h 225"/>
                              <a:gd name="T14" fmla="*/ 0 60000 65536"/>
                              <a:gd name="T15" fmla="*/ 0 60000 65536"/>
                              <a:gd name="T16" fmla="*/ 0 60000 65536"/>
                              <a:gd name="T17" fmla="*/ 0 60000 65536"/>
                              <a:gd name="T18" fmla="*/ 0 60000 65536"/>
                              <a:gd name="T19" fmla="*/ 0 60000 65536"/>
                              <a:gd name="T20" fmla="*/ 0 60000 65536"/>
                              <a:gd name="T21" fmla="*/ 0 w 549"/>
                              <a:gd name="T22" fmla="*/ 0 h 225"/>
                              <a:gd name="T23" fmla="*/ 549 w 549"/>
                              <a:gd name="T24" fmla="*/ 225 h 225"/>
                            </a:gdLst>
                            <a:ahLst/>
                            <a:cxnLst>
                              <a:cxn ang="T14">
                                <a:pos x="T0" y="T1"/>
                              </a:cxn>
                              <a:cxn ang="T15">
                                <a:pos x="T2" y="T3"/>
                              </a:cxn>
                              <a:cxn ang="T16">
                                <a:pos x="T4" y="T5"/>
                              </a:cxn>
                              <a:cxn ang="T17">
                                <a:pos x="T6" y="T7"/>
                              </a:cxn>
                              <a:cxn ang="T18">
                                <a:pos x="T8" y="T9"/>
                              </a:cxn>
                              <a:cxn ang="T19">
                                <a:pos x="T10" y="T11"/>
                              </a:cxn>
                              <a:cxn ang="T20">
                                <a:pos x="T12" y="T13"/>
                              </a:cxn>
                            </a:cxnLst>
                            <a:rect l="T21" t="T22" r="T23" b="T24"/>
                            <a:pathLst>
                              <a:path w="549" h="225">
                                <a:moveTo>
                                  <a:pt x="24" y="0"/>
                                </a:moveTo>
                                <a:cubicBezTo>
                                  <a:pt x="39" y="10"/>
                                  <a:pt x="58" y="16"/>
                                  <a:pt x="69" y="30"/>
                                </a:cubicBezTo>
                                <a:cubicBezTo>
                                  <a:pt x="152" y="134"/>
                                  <a:pt x="0" y="19"/>
                                  <a:pt x="129" y="105"/>
                                </a:cubicBezTo>
                                <a:cubicBezTo>
                                  <a:pt x="149" y="135"/>
                                  <a:pt x="155" y="184"/>
                                  <a:pt x="189" y="195"/>
                                </a:cubicBezTo>
                                <a:cubicBezTo>
                                  <a:pt x="219" y="205"/>
                                  <a:pt x="279" y="225"/>
                                  <a:pt x="279" y="225"/>
                                </a:cubicBezTo>
                                <a:cubicBezTo>
                                  <a:pt x="334" y="220"/>
                                  <a:pt x="390" y="222"/>
                                  <a:pt x="444" y="210"/>
                                </a:cubicBezTo>
                                <a:cubicBezTo>
                                  <a:pt x="511" y="196"/>
                                  <a:pt x="500" y="109"/>
                                  <a:pt x="549" y="60"/>
                                </a:cubicBezTo>
                              </a:path>
                            </a:pathLst>
                          </a:custGeom>
                          <a:solidFill>
                            <a:schemeClr val="accent2"/>
                          </a:solidFill>
                          <a:ln w="9525">
                            <a:round/>
                            <a:headEnd/>
                            <a:tailEnd/>
                          </a:ln>
                          <a:scene3d>
                            <a:camera prst="legacyObliqueTopRight"/>
                            <a:lightRig rig="legacyFlat3" dir="b"/>
                          </a:scene3d>
                          <a:sp3d extrusionH="430200" prstMaterial="legacyMatte">
                            <a:bevelT w="13500" h="13500" prst="angle"/>
                            <a:bevelB w="13500" h="13500" prst="angle"/>
                            <a:extrusionClr>
                              <a:schemeClr val="accent2"/>
                            </a:extrusionClr>
                          </a:sp3d>
                        </p:spPr>
                        <p:txBody>
                          <a:bodyPr>
                            <a:spAutoFit/>
                            <a:flatTx/>
                          </a:bodyPr>
                          <a:lstStyle/>
                          <a:p>
                            <a:endParaRPr lang="zh-CN" altLang="en-US"/>
                          </a:p>
                        </p:txBody>
                      </p:sp>
                    </p:grpSp>
                  </p:grpSp>
                  <p:grpSp>
                    <p:nvGrpSpPr>
                      <p:cNvPr id="50207" name="Group 5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59" y="80"/>
                        <a:ext cx="409" cy="1291"/>
                        <a:chOff x="-127" y="0"/>
                        <a:chExt cx="409" cy="1291"/>
                      </a:xfrm>
                    </p:grpSpPr>
                    <p:sp>
                      <p:nvSpPr>
                        <p:cNvPr id="50208" name="Line 5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71" y="0"/>
                          <a:ext cx="0" cy="1210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rgbClr val="FFCC99"/>
                          </a:solidFill>
                          <a:round/>
                          <a:headEnd type="oval" w="med" len="med"/>
                          <a:tailEnd type="oval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50209" name="Oval 5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-5476135">
                          <a:off x="0" y="1008"/>
                          <a:ext cx="156" cy="409"/>
                        </a:xfrm>
                        <a:prstGeom prst="ellipse">
                          <a:avLst/>
                        </a:prstGeom>
                        <a:gradFill rotWithShape="0">
                          <a:gsLst>
                            <a:gs pos="0">
                              <a:srgbClr val="FFFFFF"/>
                            </a:gs>
                            <a:gs pos="100000">
                              <a:srgbClr val="FF9933"/>
                            </a:gs>
                          </a:gsLst>
                          <a:path path="shape">
                            <a:fillToRect l="50000" t="50000" r="50000" b="50000"/>
                          </a:path>
                        </a:gra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anchor="ctr">
                          <a:spAutoFit/>
                        </a:bodyPr>
                        <a:lstStyle/>
                        <a:p>
                          <a:endParaRPr lang="zh-CN" altLang="en-US"/>
                        </a:p>
                      </p:txBody>
                    </p:sp>
                  </p:grpSp>
                </p:grpSp>
              </p:grpSp>
              <p:grpSp>
                <p:nvGrpSpPr>
                  <p:cNvPr id="50200" name="Group 56"/>
                  <p:cNvGrpSpPr>
                    <a:grpSpLocks/>
                  </p:cNvGrpSpPr>
                  <p:nvPr/>
                </p:nvGrpSpPr>
                <p:grpSpPr bwMode="auto">
                  <a:xfrm>
                    <a:off x="1445" y="895"/>
                    <a:ext cx="350" cy="624"/>
                    <a:chOff x="0" y="476"/>
                    <a:chExt cx="350" cy="624"/>
                  </a:xfrm>
                </p:grpSpPr>
                <p:sp>
                  <p:nvSpPr>
                    <p:cNvPr id="50201" name="Rectangle 57"/>
                    <p:cNvSpPr>
                      <a:spLocks noChangeArrowheads="1"/>
                    </p:cNvSpPr>
                    <p:nvPr/>
                  </p:nvSpPr>
                  <p:spPr bwMode="auto">
                    <a:xfrm rot="-1852987">
                      <a:off x="253" y="476"/>
                      <a:ext cx="97" cy="388"/>
                    </a:xfrm>
                    <a:prstGeom prst="rect">
                      <a:avLst/>
                    </a:prstGeom>
                    <a:solidFill>
                      <a:srgbClr val="009999">
                        <a:alpha val="50195"/>
                      </a:srgbClr>
                    </a:solidFill>
                    <a:ln w="9525">
                      <a:solidFill>
                        <a:srgbClr val="000000"/>
                      </a:solidFill>
                      <a:prstDash val="dash"/>
                      <a:miter lim="800000"/>
                      <a:headEnd/>
                      <a:tailEnd/>
                    </a:ln>
                  </p:spPr>
                  <p:txBody>
                    <a:bodyPr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0202" name="未知"/>
                    <p:cNvSpPr>
                      <a:spLocks/>
                    </p:cNvSpPr>
                    <p:nvPr/>
                  </p:nvSpPr>
                  <p:spPr bwMode="auto">
                    <a:xfrm>
                      <a:off x="0" y="712"/>
                      <a:ext cx="261" cy="388"/>
                    </a:xfrm>
                    <a:custGeom>
                      <a:avLst/>
                      <a:gdLst>
                        <a:gd name="T0" fmla="*/ 0 w 210"/>
                        <a:gd name="T1" fmla="*/ 33245 h 60"/>
                        <a:gd name="T2" fmla="*/ 1196 w 210"/>
                        <a:gd name="T3" fmla="*/ 0 h 60"/>
                        <a:gd name="T4" fmla="*/ 0 60000 65536"/>
                        <a:gd name="T5" fmla="*/ 0 60000 65536"/>
                        <a:gd name="T6" fmla="*/ 0 w 210"/>
                        <a:gd name="T7" fmla="*/ 0 h 60"/>
                        <a:gd name="T8" fmla="*/ 210 w 210"/>
                        <a:gd name="T9" fmla="*/ 60 h 60"/>
                      </a:gdLst>
                      <a:ahLst/>
                      <a:cxnLst>
                        <a:cxn ang="T4">
                          <a:pos x="T0" y="T1"/>
                        </a:cxn>
                        <a:cxn ang="T5">
                          <a:pos x="T2" y="T3"/>
                        </a:cxn>
                      </a:cxnLst>
                      <a:rect l="T6" t="T7" r="T8" b="T9"/>
                      <a:pathLst>
                        <a:path w="210" h="60">
                          <a:moveTo>
                            <a:pt x="0" y="30"/>
                          </a:moveTo>
                          <a:cubicBezTo>
                            <a:pt x="76" y="49"/>
                            <a:pt x="150" y="60"/>
                            <a:pt x="210" y="0"/>
                          </a:cubicBezTo>
                        </a:path>
                      </a:pathLst>
                    </a:custGeom>
                    <a:noFill/>
                    <a:ln w="38100" cmpd="sng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graphicFrame>
                  <p:nvGraphicFramePr>
                    <p:cNvPr id="50203" name="Object 59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56" y="764"/>
                    <a:ext cx="159" cy="222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50252" r:id="rId5" imgW="126725" imgH="177415" progId="Equation.3">
                            <p:embed/>
                          </p:oleObj>
                        </mc:Choice>
                        <mc:Fallback>
                          <p:oleObj r:id="rId5" imgW="126725" imgH="177415" progId="Equation.3">
                            <p:embed/>
                            <p:pic>
                              <p:nvPicPr>
                                <p:cNvPr id="0" name="Object 59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6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56" y="764"/>
                                  <a:ext cx="159" cy="222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</p:grpSp>
            <p:grpSp>
              <p:nvGrpSpPr>
                <p:cNvPr id="50196" name="Group 60"/>
                <p:cNvGrpSpPr>
                  <a:grpSpLocks/>
                </p:cNvGrpSpPr>
                <p:nvPr/>
              </p:nvGrpSpPr>
              <p:grpSpPr bwMode="auto">
                <a:xfrm>
                  <a:off x="130" y="289"/>
                  <a:ext cx="1301" cy="545"/>
                  <a:chOff x="0" y="-206"/>
                  <a:chExt cx="1301" cy="545"/>
                </a:xfrm>
              </p:grpSpPr>
              <p:sp>
                <p:nvSpPr>
                  <p:cNvPr id="50197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49" y="66"/>
                    <a:ext cx="1252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CC99"/>
                    </a:solidFill>
                    <a:prstDash val="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198" name="Oval 62"/>
                  <p:cNvSpPr>
                    <a:spLocks noChangeArrowheads="1"/>
                  </p:cNvSpPr>
                  <p:nvPr/>
                </p:nvSpPr>
                <p:spPr bwMode="auto">
                  <a:xfrm>
                    <a:off x="0" y="-206"/>
                    <a:ext cx="142" cy="545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FFFFFF"/>
                      </a:gs>
                      <a:gs pos="100000">
                        <a:srgbClr val="FF9933"/>
                      </a:gs>
                    </a:gsLst>
                    <a:path path="shape">
                      <a:fillToRect l="50000" t="50000" r="50000" b="50000"/>
                    </a:path>
                  </a:gradFill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</p:spPr>
                <p:txBody>
                  <a:bodyPr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</p:grpSp>
          <p:graphicFrame>
            <p:nvGraphicFramePr>
              <p:cNvPr id="50194" name="Object 63"/>
              <p:cNvGraphicFramePr>
                <a:graphicFrameLocks noChangeAspect="1"/>
              </p:cNvGraphicFramePr>
              <p:nvPr/>
            </p:nvGraphicFramePr>
            <p:xfrm>
              <a:off x="600" y="360"/>
              <a:ext cx="326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253" r:id="rId7" imgW="355754" imgH="203288" progId="Equation.3">
                      <p:embed/>
                    </p:oleObj>
                  </mc:Choice>
                  <mc:Fallback>
                    <p:oleObj r:id="rId7" imgW="355754" imgH="203288" progId="Equation.3">
                      <p:embed/>
                      <p:pic>
                        <p:nvPicPr>
                          <p:cNvPr id="0" name="Object 6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00" y="360"/>
                            <a:ext cx="326" cy="1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0192" name="Object 64"/>
            <p:cNvGraphicFramePr>
              <a:graphicFrameLocks noChangeAspect="1"/>
            </p:cNvGraphicFramePr>
            <p:nvPr/>
          </p:nvGraphicFramePr>
          <p:xfrm>
            <a:off x="1250" y="603"/>
            <a:ext cx="122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54" r:id="rId9" imgW="127000" imgH="177800" progId="Equation.3">
                    <p:embed/>
                  </p:oleObj>
                </mc:Choice>
                <mc:Fallback>
                  <p:oleObj r:id="rId9" imgW="127000" imgH="177800" progId="Equation.3">
                    <p:embed/>
                    <p:pic>
                      <p:nvPicPr>
                        <p:cNvPr id="0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0" y="603"/>
                          <a:ext cx="122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7154" name="Text Box 66"/>
          <p:cNvSpPr txBox="1">
            <a:spLocks noChangeArrowheads="1"/>
          </p:cNvSpPr>
          <p:nvPr/>
        </p:nvSpPr>
        <p:spPr bwMode="auto">
          <a:xfrm>
            <a:off x="165100" y="784225"/>
            <a:ext cx="89789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例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  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长为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l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的均匀细棒一端悬于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o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点，另一端自由下垂，紧靠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o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点有一摆线长也为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l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的单摆，摆球质量为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m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，现将单摆拉到水平位置后由静止释放，设摆球在其平衡位置与棒作完全弹性碰撞后洽好为静止，试求，①细捧的质量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M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，②细捧碰后摆动的最大角</a:t>
            </a:r>
            <a:r>
              <a:rPr lang="zh-CN" altLang="en-US" sz="1800" b="0" i="1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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。</a:t>
            </a:r>
            <a:endParaRPr lang="zh-CN" altLang="en-US" sz="1800">
              <a:solidFill>
                <a:srgbClr val="0000FF"/>
              </a:solidFill>
              <a:ea typeface="华文中宋" pitchFamily="2" charset="-122"/>
            </a:endParaRPr>
          </a:p>
        </p:txBody>
      </p:sp>
      <p:sp>
        <p:nvSpPr>
          <p:cNvPr id="217156" name="Rectangle 68"/>
          <p:cNvSpPr>
            <a:spLocks noChangeArrowheads="1"/>
          </p:cNvSpPr>
          <p:nvPr/>
        </p:nvSpPr>
        <p:spPr bwMode="auto">
          <a:xfrm>
            <a:off x="4140200" y="2503488"/>
            <a:ext cx="10795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</a:p>
        </p:txBody>
      </p:sp>
      <p:graphicFrame>
        <p:nvGraphicFramePr>
          <p:cNvPr id="217157" name="Object 69"/>
          <p:cNvGraphicFramePr>
            <a:graphicFrameLocks noChangeAspect="1"/>
          </p:cNvGraphicFramePr>
          <p:nvPr/>
        </p:nvGraphicFramePr>
        <p:xfrm>
          <a:off x="962025" y="4030663"/>
          <a:ext cx="2601913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5" name="Equation" r:id="rId11" imgW="952087" imgH="228501" progId="Equation.DSMT4">
                  <p:embed/>
                </p:oleObj>
              </mc:Choice>
              <mc:Fallback>
                <p:oleObj name="Equation" r:id="rId11" imgW="952087" imgH="228501" progId="Equation.DSMT4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4030663"/>
                        <a:ext cx="2601913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158" name="Rectangle 70"/>
          <p:cNvSpPr>
            <a:spLocks noChangeArrowheads="1"/>
          </p:cNvSpPr>
          <p:nvPr/>
        </p:nvSpPr>
        <p:spPr bwMode="auto">
          <a:xfrm>
            <a:off x="4140200" y="4014788"/>
            <a:ext cx="1079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</a:p>
        </p:txBody>
      </p:sp>
      <p:graphicFrame>
        <p:nvGraphicFramePr>
          <p:cNvPr id="217161" name="Object 73"/>
          <p:cNvGraphicFramePr>
            <a:graphicFrameLocks noChangeAspect="1"/>
          </p:cNvGraphicFramePr>
          <p:nvPr/>
        </p:nvGraphicFramePr>
        <p:xfrm>
          <a:off x="971550" y="2355850"/>
          <a:ext cx="273685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6" name="Equation" r:id="rId13" imgW="1155600" imgH="406080" progId="Equation.DSMT4">
                  <p:embed/>
                </p:oleObj>
              </mc:Choice>
              <mc:Fallback>
                <p:oleObj name="Equation" r:id="rId13" imgW="1155600" imgH="406080" progId="Equation.DSMT4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355850"/>
                        <a:ext cx="273685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7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7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7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7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17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1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1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1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0" grpId="0" autoUpdateAnimBg="0"/>
      <p:bldP spid="217092" grpId="0" autoUpdateAnimBg="0"/>
      <p:bldP spid="217154" grpId="0" autoUpdateAnimBg="0"/>
      <p:bldP spid="217156" grpId="0"/>
      <p:bldP spid="21715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Text Box 2"/>
          <p:cNvSpPr txBox="1">
            <a:spLocks noChangeArrowheads="1"/>
          </p:cNvSpPr>
          <p:nvPr/>
        </p:nvSpPr>
        <p:spPr bwMode="auto">
          <a:xfrm>
            <a:off x="228600" y="2205038"/>
            <a:ext cx="58435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②棒摆动过程机械能守恒，即</a:t>
            </a:r>
          </a:p>
        </p:txBody>
      </p:sp>
      <p:sp>
        <p:nvSpPr>
          <p:cNvPr id="51203" name="Rectangle 10"/>
          <p:cNvSpPr>
            <a:spLocks noChangeArrowheads="1"/>
          </p:cNvSpPr>
          <p:nvPr/>
        </p:nvSpPr>
        <p:spPr bwMode="auto">
          <a:xfrm>
            <a:off x="323850" y="938213"/>
            <a:ext cx="4248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联立（</a:t>
            </a:r>
            <a:r>
              <a:rPr lang="en-US" altLang="zh-CN" sz="1800">
                <a:latin typeface="华文中宋" pitchFamily="2" charset="-122"/>
                <a:ea typeface="华文中宋" pitchFamily="2" charset="-122"/>
              </a:rPr>
              <a:t>1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）和（</a:t>
            </a:r>
            <a:r>
              <a:rPr lang="en-US" altLang="zh-CN" sz="1800">
                <a:latin typeface="华文中宋" pitchFamily="2" charset="-122"/>
                <a:ea typeface="华文中宋" pitchFamily="2" charset="-122"/>
              </a:rPr>
              <a:t>2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）式，可得：</a:t>
            </a:r>
          </a:p>
        </p:txBody>
      </p:sp>
      <p:graphicFrame>
        <p:nvGraphicFramePr>
          <p:cNvPr id="51204" name="Object 11"/>
          <p:cNvGraphicFramePr>
            <a:graphicFrameLocks noChangeAspect="1"/>
          </p:cNvGraphicFramePr>
          <p:nvPr/>
        </p:nvGraphicFramePr>
        <p:xfrm>
          <a:off x="4427538" y="908050"/>
          <a:ext cx="1560512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2" name="Equation" r:id="rId3" imgW="571252" imgH="228501" progId="Equation.DSMT4">
                  <p:embed/>
                </p:oleObj>
              </mc:Choice>
              <mc:Fallback>
                <p:oleObj name="Equation" r:id="rId3" imgW="571252" imgH="228501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908050"/>
                        <a:ext cx="1560512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4" name="Object 12"/>
          <p:cNvGraphicFramePr>
            <a:graphicFrameLocks noChangeAspect="1"/>
          </p:cNvGraphicFramePr>
          <p:nvPr/>
        </p:nvGraphicFramePr>
        <p:xfrm>
          <a:off x="2627313" y="1501775"/>
          <a:ext cx="3600450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3" name="Equation" r:id="rId5" imgW="1574117" imgH="406224" progId="Equation.DSMT4">
                  <p:embed/>
                </p:oleObj>
              </mc:Choice>
              <mc:Fallback>
                <p:oleObj name="Equation" r:id="rId5" imgW="1574117" imgH="406224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1501775"/>
                        <a:ext cx="3600450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5" name="Object 13"/>
          <p:cNvGraphicFramePr>
            <a:graphicFrameLocks noChangeAspect="1"/>
          </p:cNvGraphicFramePr>
          <p:nvPr/>
        </p:nvGraphicFramePr>
        <p:xfrm>
          <a:off x="2771775" y="2797175"/>
          <a:ext cx="3313113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4" name="公式" r:id="rId7" imgW="1422400" imgH="406400" progId="Equation.3">
                  <p:embed/>
                </p:oleObj>
              </mc:Choice>
              <mc:Fallback>
                <p:oleObj name="公式" r:id="rId7" imgW="1422400" imgH="4064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797175"/>
                        <a:ext cx="3313113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6" name="Object 14"/>
          <p:cNvGraphicFramePr>
            <a:graphicFrameLocks noChangeAspect="1"/>
          </p:cNvGraphicFramePr>
          <p:nvPr/>
        </p:nvGraphicFramePr>
        <p:xfrm>
          <a:off x="3203575" y="3608388"/>
          <a:ext cx="1871663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5" name="公式" r:id="rId9" imgW="825142" imgH="406224" progId="Equation.3">
                  <p:embed/>
                </p:oleObj>
              </mc:Choice>
              <mc:Fallback>
                <p:oleObj name="公式" r:id="rId9" imgW="825142" imgH="406224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3608388"/>
                        <a:ext cx="1871663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8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8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8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8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8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4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Text Box 2"/>
          <p:cNvSpPr txBox="1">
            <a:spLocks noChangeArrowheads="1"/>
          </p:cNvSpPr>
          <p:nvPr/>
        </p:nvSpPr>
        <p:spPr bwMode="auto">
          <a:xfrm>
            <a:off x="228600" y="771525"/>
            <a:ext cx="89154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例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   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质量为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M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、半径为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R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的转台，可绕通过中心的竖直轴转动。质量为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m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的人站在边沿上，人和转台原来都静止。如果人沿台边缘奔跑一周，求对地而言，人和转台各转动了多少角度？</a:t>
            </a:r>
          </a:p>
        </p:txBody>
      </p:sp>
      <p:sp>
        <p:nvSpPr>
          <p:cNvPr id="219139" name="Text Box 3"/>
          <p:cNvSpPr txBox="1">
            <a:spLocks noChangeArrowheads="1"/>
          </p:cNvSpPr>
          <p:nvPr/>
        </p:nvSpPr>
        <p:spPr bwMode="auto">
          <a:xfrm>
            <a:off x="4724400" y="1277938"/>
            <a:ext cx="41703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FF0000"/>
                </a:solidFill>
                <a:ea typeface="华文中宋" pitchFamily="2" charset="-122"/>
              </a:rPr>
              <a:t>解：</a:t>
            </a:r>
            <a:r>
              <a:rPr lang="zh-CN" altLang="en-US" sz="1800">
                <a:ea typeface="华文中宋" pitchFamily="2" charset="-122"/>
              </a:rPr>
              <a:t>以</a:t>
            </a:r>
            <a:r>
              <a:rPr lang="en-US" altLang="zh-CN" sz="1800" i="1">
                <a:ea typeface="华文中宋" pitchFamily="2" charset="-122"/>
              </a:rPr>
              <a:t>M</a:t>
            </a:r>
            <a:r>
              <a:rPr lang="zh-CN" altLang="en-US" sz="1800">
                <a:ea typeface="华文中宋" pitchFamily="2" charset="-122"/>
              </a:rPr>
              <a:t>、</a:t>
            </a:r>
            <a:r>
              <a:rPr lang="en-US" altLang="zh-CN" sz="1800" i="1">
                <a:ea typeface="华文中宋" pitchFamily="2" charset="-122"/>
              </a:rPr>
              <a:t>m</a:t>
            </a:r>
            <a:r>
              <a:rPr lang="zh-CN" altLang="en-US" sz="1800">
                <a:ea typeface="华文中宋" pitchFamily="2" charset="-122"/>
              </a:rPr>
              <a:t>为研究对象</a:t>
            </a:r>
            <a:r>
              <a:rPr lang="en-US" altLang="zh-CN" sz="1800">
                <a:ea typeface="华文中宋" pitchFamily="2" charset="-122"/>
              </a:rPr>
              <a:t>,</a:t>
            </a:r>
            <a:r>
              <a:rPr lang="zh-CN" altLang="en-US" sz="1800">
                <a:ea typeface="华文中宋" pitchFamily="2" charset="-122"/>
              </a:rPr>
              <a:t>其对坚直轴的力矩为零，即</a:t>
            </a:r>
          </a:p>
        </p:txBody>
      </p:sp>
      <p:sp>
        <p:nvSpPr>
          <p:cNvPr id="219140" name="Text Box 4"/>
          <p:cNvSpPr txBox="1">
            <a:spLocks noChangeArrowheads="1"/>
          </p:cNvSpPr>
          <p:nvPr/>
        </p:nvSpPr>
        <p:spPr bwMode="auto">
          <a:xfrm>
            <a:off x="4800600" y="2176463"/>
            <a:ext cx="35544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ea typeface="华文中宋" pitchFamily="2" charset="-122"/>
              </a:rPr>
              <a:t>故对竖直轴的角动量守恒</a:t>
            </a:r>
          </a:p>
        </p:txBody>
      </p:sp>
      <p:graphicFrame>
        <p:nvGraphicFramePr>
          <p:cNvPr id="219141" name="Object 5"/>
          <p:cNvGraphicFramePr>
            <a:graphicFrameLocks noChangeAspect="1"/>
          </p:cNvGraphicFramePr>
          <p:nvPr/>
        </p:nvGraphicFramePr>
        <p:xfrm>
          <a:off x="6281738" y="1778000"/>
          <a:ext cx="174625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68" name="公式" r:id="rId3" imgW="761669" imgH="253890" progId="Equation.3">
                  <p:embed/>
                </p:oleObj>
              </mc:Choice>
              <mc:Fallback>
                <p:oleObj name="公式" r:id="rId3" imgW="761669" imgH="25389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1738" y="1778000"/>
                        <a:ext cx="1746250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65113" y="2176463"/>
            <a:ext cx="4271962" cy="2293937"/>
            <a:chOff x="0" y="726"/>
            <a:chExt cx="2691" cy="1926"/>
          </a:xfrm>
        </p:grpSpPr>
        <p:grpSp>
          <p:nvGrpSpPr>
            <p:cNvPr id="52247" name="Group 7"/>
            <p:cNvGrpSpPr>
              <a:grpSpLocks/>
            </p:cNvGrpSpPr>
            <p:nvPr/>
          </p:nvGrpSpPr>
          <p:grpSpPr bwMode="auto">
            <a:xfrm>
              <a:off x="0" y="726"/>
              <a:ext cx="2691" cy="1926"/>
              <a:chOff x="0" y="726"/>
              <a:chExt cx="2691" cy="1926"/>
            </a:xfrm>
          </p:grpSpPr>
          <p:grpSp>
            <p:nvGrpSpPr>
              <p:cNvPr id="52249" name="Group 8"/>
              <p:cNvGrpSpPr>
                <a:grpSpLocks/>
              </p:cNvGrpSpPr>
              <p:nvPr/>
            </p:nvGrpSpPr>
            <p:grpSpPr bwMode="auto">
              <a:xfrm>
                <a:off x="0" y="1150"/>
                <a:ext cx="2691" cy="1502"/>
                <a:chOff x="0" y="1150"/>
                <a:chExt cx="2699" cy="1502"/>
              </a:xfrm>
            </p:grpSpPr>
            <p:sp>
              <p:nvSpPr>
                <p:cNvPr id="52256" name="Rectangle 9"/>
                <p:cNvSpPr>
                  <a:spLocks noChangeArrowheads="1"/>
                </p:cNvSpPr>
                <p:nvPr/>
              </p:nvSpPr>
              <p:spPr bwMode="auto">
                <a:xfrm>
                  <a:off x="0" y="1150"/>
                  <a:ext cx="2638" cy="388"/>
                </a:xfrm>
                <a:prstGeom prst="rect">
                  <a:avLst/>
                </a:prstGeom>
                <a:gradFill rotWithShape="0">
                  <a:gsLst>
                    <a:gs pos="0">
                      <a:srgbClr val="33CCCC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257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62" y="2394"/>
                  <a:ext cx="1968" cy="0"/>
                </a:xfrm>
                <a:prstGeom prst="line">
                  <a:avLst/>
                </a:prstGeom>
                <a:noFill/>
                <a:ln w="9525">
                  <a:solidFill>
                    <a:srgbClr val="FF3300"/>
                  </a:solidFill>
                  <a:round/>
                  <a:headEnd/>
                  <a:tailEnd/>
                </a:ln>
                <a:scene3d>
                  <a:camera prst="legacyObliqueTopRight"/>
                  <a:lightRig rig="legacyFlat3" dir="r"/>
                </a:scene3d>
                <a:sp3d extrusionH="2513000" prstMaterial="legacyMatte">
                  <a:bevelT w="13500" h="13500" prst="angle"/>
                  <a:bevelB w="13500" h="13500" prst="angle"/>
                  <a:extrusionClr>
                    <a:srgbClr val="FF3300"/>
                  </a:extrusionClr>
                </a:sp3d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258" name="Rectangle 11"/>
                <p:cNvSpPr>
                  <a:spLocks noChangeArrowheads="1"/>
                </p:cNvSpPr>
                <p:nvPr/>
              </p:nvSpPr>
              <p:spPr bwMode="auto">
                <a:xfrm rot="-2684995">
                  <a:off x="1857" y="1990"/>
                  <a:ext cx="842" cy="388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259" name="Rectangle 12"/>
                <p:cNvSpPr>
                  <a:spLocks noChangeArrowheads="1"/>
                </p:cNvSpPr>
                <p:nvPr/>
              </p:nvSpPr>
              <p:spPr bwMode="auto">
                <a:xfrm>
                  <a:off x="50" y="2264"/>
                  <a:ext cx="1962" cy="388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260" name="Rectangle 13"/>
                <p:cNvSpPr>
                  <a:spLocks noChangeArrowheads="1"/>
                </p:cNvSpPr>
                <p:nvPr/>
              </p:nvSpPr>
              <p:spPr bwMode="auto">
                <a:xfrm>
                  <a:off x="2545" y="1681"/>
                  <a:ext cx="56" cy="38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250" name="Group 14"/>
              <p:cNvGrpSpPr>
                <a:grpSpLocks/>
              </p:cNvGrpSpPr>
              <p:nvPr/>
            </p:nvGrpSpPr>
            <p:grpSpPr bwMode="auto">
              <a:xfrm>
                <a:off x="258" y="726"/>
                <a:ext cx="2016" cy="1635"/>
                <a:chOff x="0" y="14"/>
                <a:chExt cx="2016" cy="1635"/>
              </a:xfrm>
            </p:grpSpPr>
            <p:sp>
              <p:nvSpPr>
                <p:cNvPr id="219151" name="Oval 15"/>
                <p:cNvSpPr>
                  <a:spLocks noChangeArrowheads="1"/>
                </p:cNvSpPr>
                <p:nvPr/>
              </p:nvSpPr>
              <p:spPr bwMode="auto">
                <a:xfrm>
                  <a:off x="396" y="1104"/>
                  <a:ext cx="1219" cy="54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56078"/>
                        <a:invGamma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rgbClr val="99FF33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9152" name="Oval 16"/>
                <p:cNvSpPr>
                  <a:spLocks noChangeArrowheads="1"/>
                </p:cNvSpPr>
                <p:nvPr/>
              </p:nvSpPr>
              <p:spPr bwMode="auto">
                <a:xfrm>
                  <a:off x="570" y="994"/>
                  <a:ext cx="871" cy="54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56078"/>
                        <a:invGamma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rgbClr val="99FF33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9153" name="AutoShape 17"/>
                <p:cNvSpPr>
                  <a:spLocks noChangeArrowheads="1"/>
                </p:cNvSpPr>
                <p:nvPr/>
              </p:nvSpPr>
              <p:spPr bwMode="auto">
                <a:xfrm>
                  <a:off x="832" y="739"/>
                  <a:ext cx="304" cy="609"/>
                </a:xfrm>
                <a:prstGeom prst="can">
                  <a:avLst>
                    <a:gd name="adj" fmla="val 36595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0" scaled="1"/>
                </a:gradFill>
                <a:ln w="9525">
                  <a:solidFill>
                    <a:srgbClr val="99FF33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254" name="Rectangle 18"/>
                <p:cNvSpPr>
                  <a:spLocks noChangeArrowheads="1"/>
                </p:cNvSpPr>
                <p:nvPr/>
              </p:nvSpPr>
              <p:spPr bwMode="auto">
                <a:xfrm>
                  <a:off x="919" y="531"/>
                  <a:ext cx="130" cy="388"/>
                </a:xfrm>
                <a:prstGeom prst="rect">
                  <a:avLst/>
                </a:prstGeom>
                <a:gradFill rotWithShape="0">
                  <a:gsLst>
                    <a:gs pos="0">
                      <a:srgbClr val="8F8F00"/>
                    </a:gs>
                    <a:gs pos="50000">
                      <a:srgbClr val="FFFF00"/>
                    </a:gs>
                    <a:gs pos="100000">
                      <a:srgbClr val="8F8F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255" name="Oval 19"/>
                <p:cNvSpPr>
                  <a:spLocks noChangeArrowheads="1"/>
                </p:cNvSpPr>
                <p:nvPr/>
              </p:nvSpPr>
              <p:spPr bwMode="auto">
                <a:xfrm>
                  <a:off x="0" y="14"/>
                  <a:ext cx="2016" cy="545"/>
                </a:xfrm>
                <a:prstGeom prst="ellipse">
                  <a:avLst/>
                </a:prstGeom>
                <a:solidFill>
                  <a:srgbClr val="FFFF00"/>
                </a:solidFill>
                <a:ln w="9525">
                  <a:round/>
                  <a:headEnd/>
                  <a:tailEnd/>
                </a:ln>
                <a:scene3d>
                  <a:camera prst="legacyPerspectiveBottom">
                    <a:rot lat="19499990" lon="0" rev="0"/>
                  </a:camera>
                  <a:lightRig rig="legacyFlat3" dir="t"/>
                </a:scene3d>
                <a:sp3d extrusionH="176200" prstMaterial="legacyMatte">
                  <a:bevelT w="13500" h="13500" prst="angle"/>
                  <a:bevelB w="13500" h="13500" prst="angle"/>
                  <a:extrusionClr>
                    <a:srgbClr val="FFFF00"/>
                  </a:extrusionClr>
                </a:sp3d>
              </p:spPr>
              <p:txBody>
                <a:bodyPr anchor="ctr">
                  <a:spAutoFit/>
                  <a:flatTx/>
                </a:bodyPr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52248" name="Object 20"/>
            <p:cNvGraphicFramePr>
              <a:graphicFrameLocks noChangeAspect="1"/>
            </p:cNvGraphicFramePr>
            <p:nvPr/>
          </p:nvGraphicFramePr>
          <p:xfrm>
            <a:off x="1597" y="1139"/>
            <a:ext cx="241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69" r:id="rId5" imgW="203288" imgH="165172" progId="Equation.3">
                    <p:embed/>
                  </p:oleObj>
                </mc:Choice>
                <mc:Fallback>
                  <p:oleObj r:id="rId5" imgW="203288" imgH="165172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7" y="1139"/>
                          <a:ext cx="241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9157" name="Object 21"/>
          <p:cNvGraphicFramePr>
            <a:graphicFrameLocks noChangeAspect="1"/>
          </p:cNvGraphicFramePr>
          <p:nvPr/>
        </p:nvGraphicFramePr>
        <p:xfrm>
          <a:off x="2408238" y="1641475"/>
          <a:ext cx="6096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70" r:id="rId7" imgW="1032358" imgH="1573682" progId="MS_ClipArt_Gallery.2">
                  <p:embed/>
                </p:oleObj>
              </mc:Choice>
              <mc:Fallback>
                <p:oleObj r:id="rId7" imgW="1032358" imgH="1573682" progId="MS_ClipArt_Gallery.2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238" y="1641475"/>
                        <a:ext cx="6096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58" name="Text Box 22"/>
          <p:cNvSpPr txBox="1">
            <a:spLocks noChangeArrowheads="1"/>
          </p:cNvSpPr>
          <p:nvPr/>
        </p:nvSpPr>
        <p:spPr bwMode="auto">
          <a:xfrm>
            <a:off x="2776538" y="1681163"/>
            <a:ext cx="4810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FFFF00"/>
                </a:solidFill>
                <a:ea typeface="宋体" pitchFamily="2" charset="-122"/>
              </a:rPr>
              <a:t>m</a:t>
            </a:r>
          </a:p>
        </p:txBody>
      </p: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701675" y="1595438"/>
            <a:ext cx="557213" cy="914400"/>
            <a:chOff x="0" y="0"/>
            <a:chExt cx="351" cy="768"/>
          </a:xfrm>
        </p:grpSpPr>
        <p:graphicFrame>
          <p:nvGraphicFramePr>
            <p:cNvPr id="52245" name="Object 24"/>
            <p:cNvGraphicFramePr>
              <a:graphicFrameLocks noChangeAspect="1"/>
            </p:cNvGraphicFramePr>
            <p:nvPr/>
          </p:nvGraphicFramePr>
          <p:xfrm>
            <a:off x="0" y="0"/>
            <a:ext cx="351" cy="7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71" r:id="rId9" imgW="2765425" imgH="6043613" progId="MS_ClipArt_Gallery.2">
                    <p:embed/>
                  </p:oleObj>
                </mc:Choice>
                <mc:Fallback>
                  <p:oleObj r:id="rId9" imgW="2765425" imgH="6043613" progId="MS_ClipArt_Gallery.2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51" cy="7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46" name="Line 25"/>
            <p:cNvSpPr>
              <a:spLocks noChangeShapeType="1"/>
            </p:cNvSpPr>
            <p:nvPr/>
          </p:nvSpPr>
          <p:spPr bwMode="auto">
            <a:xfrm flipV="1">
              <a:off x="144" y="48"/>
              <a:ext cx="96" cy="0"/>
            </a:xfrm>
            <a:prstGeom prst="line">
              <a:avLst/>
            </a:prstGeom>
            <a:noFill/>
            <a:ln w="9525">
              <a:solidFill>
                <a:srgbClr val="FF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2243138" y="2016125"/>
            <a:ext cx="1873250" cy="522288"/>
            <a:chOff x="0" y="0"/>
            <a:chExt cx="1180" cy="439"/>
          </a:xfrm>
        </p:grpSpPr>
        <p:sp>
          <p:nvSpPr>
            <p:cNvPr id="52243" name="Line 27"/>
            <p:cNvSpPr>
              <a:spLocks noChangeShapeType="1"/>
            </p:cNvSpPr>
            <p:nvPr/>
          </p:nvSpPr>
          <p:spPr bwMode="auto">
            <a:xfrm flipV="1">
              <a:off x="0" y="198"/>
              <a:ext cx="912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244" name="Text Box 28"/>
            <p:cNvSpPr txBox="1">
              <a:spLocks noChangeArrowheads="1"/>
            </p:cNvSpPr>
            <p:nvPr/>
          </p:nvSpPr>
          <p:spPr bwMode="auto">
            <a:xfrm>
              <a:off x="902" y="0"/>
              <a:ext cx="278" cy="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FFFF00"/>
                  </a:solidFill>
                  <a:ea typeface="幼圆" pitchFamily="49" charset="-122"/>
                </a:rPr>
                <a:t>X</a:t>
              </a:r>
            </a:p>
          </p:txBody>
        </p:sp>
      </p:grpSp>
      <p:grpSp>
        <p:nvGrpSpPr>
          <p:cNvPr id="8" name="Group 29"/>
          <p:cNvGrpSpPr>
            <a:grpSpLocks/>
          </p:cNvGrpSpPr>
          <p:nvPr/>
        </p:nvGrpSpPr>
        <p:grpSpPr bwMode="auto">
          <a:xfrm>
            <a:off x="1751013" y="1681163"/>
            <a:ext cx="492125" cy="828675"/>
            <a:chOff x="0" y="0"/>
            <a:chExt cx="310" cy="696"/>
          </a:xfrm>
        </p:grpSpPr>
        <p:sp>
          <p:nvSpPr>
            <p:cNvPr id="52241" name="Line 30"/>
            <p:cNvSpPr>
              <a:spLocks noChangeShapeType="1"/>
            </p:cNvSpPr>
            <p:nvPr/>
          </p:nvSpPr>
          <p:spPr bwMode="auto">
            <a:xfrm flipV="1">
              <a:off x="310" y="239"/>
              <a:ext cx="0" cy="457"/>
            </a:xfrm>
            <a:prstGeom prst="line">
              <a:avLst/>
            </a:prstGeom>
            <a:noFill/>
            <a:ln w="76200">
              <a:solidFill>
                <a:srgbClr val="99FF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242" name="Text Box 31"/>
            <p:cNvSpPr txBox="1">
              <a:spLocks noChangeArrowheads="1"/>
            </p:cNvSpPr>
            <p:nvPr/>
          </p:nvSpPr>
          <p:spPr bwMode="auto">
            <a:xfrm>
              <a:off x="0" y="0"/>
              <a:ext cx="244" cy="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FFFF00"/>
                  </a:solidFill>
                  <a:ea typeface="宋体" pitchFamily="2" charset="-122"/>
                </a:rPr>
                <a:t>+</a:t>
              </a:r>
            </a:p>
          </p:txBody>
        </p:sp>
      </p:grpSp>
      <p:sp>
        <p:nvSpPr>
          <p:cNvPr id="219168" name="Rectangle 32"/>
          <p:cNvSpPr>
            <a:spLocks noChangeArrowheads="1"/>
          </p:cNvSpPr>
          <p:nvPr/>
        </p:nvSpPr>
        <p:spPr bwMode="auto">
          <a:xfrm>
            <a:off x="4648200" y="2617788"/>
            <a:ext cx="43370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800">
                <a:ea typeface="华文中宋" pitchFamily="2" charset="-122"/>
              </a:rPr>
              <a:t>设人和转台对地的角速度分别为</a:t>
            </a:r>
            <a:r>
              <a:rPr lang="zh-CN" altLang="en-US" sz="1800" i="1">
                <a:ea typeface="华文中宋" pitchFamily="2" charset="-122"/>
                <a:sym typeface="Symbol" pitchFamily="18" charset="2"/>
              </a:rPr>
              <a:t></a:t>
            </a:r>
            <a:r>
              <a:rPr lang="zh-CN" altLang="en-US" sz="1800" baseline="-25000">
                <a:ea typeface="华文中宋" pitchFamily="2" charset="-122"/>
                <a:sym typeface="Symbol" pitchFamily="18" charset="2"/>
              </a:rPr>
              <a:t>人</a:t>
            </a:r>
            <a:r>
              <a:rPr lang="zh-CN" altLang="en-US" sz="1800">
                <a:ea typeface="华文中宋" pitchFamily="2" charset="-122"/>
                <a:sym typeface="Symbol" pitchFamily="18" charset="2"/>
              </a:rPr>
              <a:t>、</a:t>
            </a:r>
            <a:r>
              <a:rPr lang="zh-CN" altLang="en-US" sz="1800" i="1">
                <a:ea typeface="华文中宋" pitchFamily="2" charset="-122"/>
                <a:cs typeface="Times New Roman" pitchFamily="18" charset="0"/>
                <a:sym typeface="Symbol" pitchFamily="18" charset="2"/>
              </a:rPr>
              <a:t></a:t>
            </a:r>
            <a:r>
              <a:rPr lang="zh-CN" altLang="en-US" sz="1800" baseline="-25000">
                <a:ea typeface="华文中宋" pitchFamily="2" charset="-122"/>
                <a:sym typeface="Symbol" pitchFamily="18" charset="2"/>
              </a:rPr>
              <a:t>台</a:t>
            </a:r>
            <a:r>
              <a:rPr lang="zh-CN" altLang="en-US" sz="1800">
                <a:ea typeface="华文中宋" pitchFamily="2" charset="-122"/>
                <a:sym typeface="Symbol" pitchFamily="18" charset="2"/>
              </a:rPr>
              <a:t>，故有</a:t>
            </a:r>
            <a:endParaRPr lang="zh-CN" altLang="en-US" sz="1800">
              <a:ea typeface="华文中宋" pitchFamily="2" charset="-122"/>
            </a:endParaRPr>
          </a:p>
        </p:txBody>
      </p:sp>
      <p:graphicFrame>
        <p:nvGraphicFramePr>
          <p:cNvPr id="219169" name="Object 33"/>
          <p:cNvGraphicFramePr>
            <a:graphicFrameLocks noChangeAspect="1"/>
          </p:cNvGraphicFramePr>
          <p:nvPr/>
        </p:nvGraphicFramePr>
        <p:xfrm>
          <a:off x="5314950" y="3254375"/>
          <a:ext cx="350520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72" name="Equation" r:id="rId11" imgW="1600200" imgH="253800" progId="Equation.DSMT4">
                  <p:embed/>
                </p:oleObj>
              </mc:Choice>
              <mc:Fallback>
                <p:oleObj name="Equation" r:id="rId11" imgW="1600200" imgH="2538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4950" y="3254375"/>
                        <a:ext cx="3505200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70" name="Object 34"/>
          <p:cNvGraphicFramePr>
            <a:graphicFrameLocks noChangeAspect="1"/>
          </p:cNvGraphicFramePr>
          <p:nvPr/>
        </p:nvGraphicFramePr>
        <p:xfrm>
          <a:off x="5181600" y="3713163"/>
          <a:ext cx="3443288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73" name="Equation" r:id="rId13" imgW="1587240" imgH="253800" progId="Equation.DSMT4">
                  <p:embed/>
                </p:oleObj>
              </mc:Choice>
              <mc:Fallback>
                <p:oleObj name="Equation" r:id="rId13" imgW="1587240" imgH="2538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713163"/>
                        <a:ext cx="3443288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71" name="Text Box 35"/>
          <p:cNvSpPr txBox="1">
            <a:spLocks noChangeArrowheads="1"/>
          </p:cNvSpPr>
          <p:nvPr/>
        </p:nvSpPr>
        <p:spPr bwMode="auto">
          <a:xfrm>
            <a:off x="4999038" y="4237038"/>
            <a:ext cx="796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ea typeface="华文中宋" pitchFamily="2" charset="-122"/>
              </a:rPr>
              <a:t>故有</a:t>
            </a:r>
          </a:p>
        </p:txBody>
      </p:sp>
      <p:graphicFrame>
        <p:nvGraphicFramePr>
          <p:cNvPr id="219172" name="Object 36"/>
          <p:cNvGraphicFramePr>
            <a:graphicFrameLocks noChangeAspect="1"/>
          </p:cNvGraphicFramePr>
          <p:nvPr/>
        </p:nvGraphicFramePr>
        <p:xfrm>
          <a:off x="5854700" y="4057650"/>
          <a:ext cx="2998788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74" name="Equation" r:id="rId15" imgW="1409400" imgH="393480" progId="Equation.DSMT4">
                  <p:embed/>
                </p:oleObj>
              </mc:Choice>
              <mc:Fallback>
                <p:oleObj name="Equation" r:id="rId15" imgW="1409400" imgH="39348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4700" y="4057650"/>
                        <a:ext cx="2998788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9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9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21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19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19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19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19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19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19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19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19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19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19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19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19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8" grpId="0" autoUpdateAnimBg="0"/>
      <p:bldP spid="219139" grpId="0" autoUpdateAnimBg="0"/>
      <p:bldP spid="219140" grpId="0" autoUpdateAnimBg="0"/>
      <p:bldP spid="219158" grpId="0" autoUpdateAnimBg="0"/>
      <p:bldP spid="219168" grpId="0" autoUpdateAnimBg="0"/>
      <p:bldP spid="219171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50" name="Group 2"/>
          <p:cNvGrpSpPr>
            <a:grpSpLocks/>
          </p:cNvGrpSpPr>
          <p:nvPr/>
        </p:nvGrpSpPr>
        <p:grpSpPr bwMode="auto">
          <a:xfrm>
            <a:off x="4678363" y="1528763"/>
            <a:ext cx="4271962" cy="1835150"/>
            <a:chOff x="0" y="726"/>
            <a:chExt cx="2691" cy="1926"/>
          </a:xfrm>
        </p:grpSpPr>
        <p:grpSp>
          <p:nvGrpSpPr>
            <p:cNvPr id="53280" name="Group 3"/>
            <p:cNvGrpSpPr>
              <a:grpSpLocks/>
            </p:cNvGrpSpPr>
            <p:nvPr/>
          </p:nvGrpSpPr>
          <p:grpSpPr bwMode="auto">
            <a:xfrm>
              <a:off x="0" y="726"/>
              <a:ext cx="2691" cy="1926"/>
              <a:chOff x="0" y="726"/>
              <a:chExt cx="2691" cy="1926"/>
            </a:xfrm>
          </p:grpSpPr>
          <p:grpSp>
            <p:nvGrpSpPr>
              <p:cNvPr id="53282" name="Group 4"/>
              <p:cNvGrpSpPr>
                <a:grpSpLocks/>
              </p:cNvGrpSpPr>
              <p:nvPr/>
            </p:nvGrpSpPr>
            <p:grpSpPr bwMode="auto">
              <a:xfrm>
                <a:off x="0" y="1150"/>
                <a:ext cx="2691" cy="1502"/>
                <a:chOff x="0" y="1150"/>
                <a:chExt cx="2699" cy="1502"/>
              </a:xfrm>
            </p:grpSpPr>
            <p:sp>
              <p:nvSpPr>
                <p:cNvPr id="53289" name="Rectangle 5"/>
                <p:cNvSpPr>
                  <a:spLocks noChangeArrowheads="1"/>
                </p:cNvSpPr>
                <p:nvPr/>
              </p:nvSpPr>
              <p:spPr bwMode="auto">
                <a:xfrm>
                  <a:off x="0" y="1150"/>
                  <a:ext cx="2638" cy="388"/>
                </a:xfrm>
                <a:prstGeom prst="rect">
                  <a:avLst/>
                </a:prstGeom>
                <a:gradFill rotWithShape="0">
                  <a:gsLst>
                    <a:gs pos="0">
                      <a:srgbClr val="33CCCC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290" name="Line 6"/>
                <p:cNvSpPr>
                  <a:spLocks noChangeShapeType="1"/>
                </p:cNvSpPr>
                <p:nvPr/>
              </p:nvSpPr>
              <p:spPr bwMode="auto">
                <a:xfrm flipV="1">
                  <a:off x="62" y="2394"/>
                  <a:ext cx="1968" cy="0"/>
                </a:xfrm>
                <a:prstGeom prst="line">
                  <a:avLst/>
                </a:prstGeom>
                <a:noFill/>
                <a:ln w="9525">
                  <a:solidFill>
                    <a:srgbClr val="FF3300"/>
                  </a:solidFill>
                  <a:round/>
                  <a:headEnd/>
                  <a:tailEnd/>
                </a:ln>
                <a:scene3d>
                  <a:camera prst="legacyObliqueTopRight"/>
                  <a:lightRig rig="legacyFlat3" dir="r"/>
                </a:scene3d>
                <a:sp3d extrusionH="2513000" prstMaterial="legacyMatte">
                  <a:bevelT w="13500" h="13500" prst="angle"/>
                  <a:bevelB w="13500" h="13500" prst="angle"/>
                  <a:extrusionClr>
                    <a:srgbClr val="FF3300"/>
                  </a:extrusionClr>
                </a:sp3d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291" name="Rectangle 7"/>
                <p:cNvSpPr>
                  <a:spLocks noChangeArrowheads="1"/>
                </p:cNvSpPr>
                <p:nvPr/>
              </p:nvSpPr>
              <p:spPr bwMode="auto">
                <a:xfrm rot="-2684995">
                  <a:off x="1857" y="1990"/>
                  <a:ext cx="842" cy="388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292" name="Rectangle 8"/>
                <p:cNvSpPr>
                  <a:spLocks noChangeArrowheads="1"/>
                </p:cNvSpPr>
                <p:nvPr/>
              </p:nvSpPr>
              <p:spPr bwMode="auto">
                <a:xfrm>
                  <a:off x="50" y="2264"/>
                  <a:ext cx="1962" cy="388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293" name="Rectangle 9"/>
                <p:cNvSpPr>
                  <a:spLocks noChangeArrowheads="1"/>
                </p:cNvSpPr>
                <p:nvPr/>
              </p:nvSpPr>
              <p:spPr bwMode="auto">
                <a:xfrm>
                  <a:off x="2545" y="1681"/>
                  <a:ext cx="56" cy="38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283" name="Group 10"/>
              <p:cNvGrpSpPr>
                <a:grpSpLocks/>
              </p:cNvGrpSpPr>
              <p:nvPr/>
            </p:nvGrpSpPr>
            <p:grpSpPr bwMode="auto">
              <a:xfrm>
                <a:off x="258" y="726"/>
                <a:ext cx="2016" cy="1635"/>
                <a:chOff x="0" y="14"/>
                <a:chExt cx="2016" cy="1635"/>
              </a:xfrm>
            </p:grpSpPr>
            <p:sp>
              <p:nvSpPr>
                <p:cNvPr id="220171" name="Oval 11"/>
                <p:cNvSpPr>
                  <a:spLocks noChangeArrowheads="1"/>
                </p:cNvSpPr>
                <p:nvPr/>
              </p:nvSpPr>
              <p:spPr bwMode="auto">
                <a:xfrm>
                  <a:off x="396" y="1104"/>
                  <a:ext cx="1219" cy="54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56078"/>
                        <a:invGamma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rgbClr val="99FF33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0172" name="Oval 12"/>
                <p:cNvSpPr>
                  <a:spLocks noChangeArrowheads="1"/>
                </p:cNvSpPr>
                <p:nvPr/>
              </p:nvSpPr>
              <p:spPr bwMode="auto">
                <a:xfrm>
                  <a:off x="570" y="994"/>
                  <a:ext cx="871" cy="54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56078"/>
                        <a:invGamma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rgbClr val="99FF33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0173" name="AutoShape 13"/>
                <p:cNvSpPr>
                  <a:spLocks noChangeArrowheads="1"/>
                </p:cNvSpPr>
                <p:nvPr/>
              </p:nvSpPr>
              <p:spPr bwMode="auto">
                <a:xfrm>
                  <a:off x="832" y="739"/>
                  <a:ext cx="304" cy="608"/>
                </a:xfrm>
                <a:prstGeom prst="can">
                  <a:avLst>
                    <a:gd name="adj" fmla="val 36595"/>
                  </a:avLst>
                </a:prstGeom>
                <a:gradFill rotWithShape="0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0" scaled="1"/>
                </a:gradFill>
                <a:ln w="9525">
                  <a:solidFill>
                    <a:srgbClr val="99FF33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287" name="Rectangle 14"/>
                <p:cNvSpPr>
                  <a:spLocks noChangeArrowheads="1"/>
                </p:cNvSpPr>
                <p:nvPr/>
              </p:nvSpPr>
              <p:spPr bwMode="auto">
                <a:xfrm>
                  <a:off x="919" y="531"/>
                  <a:ext cx="130" cy="388"/>
                </a:xfrm>
                <a:prstGeom prst="rect">
                  <a:avLst/>
                </a:prstGeom>
                <a:gradFill rotWithShape="0">
                  <a:gsLst>
                    <a:gs pos="0">
                      <a:srgbClr val="8F8F00"/>
                    </a:gs>
                    <a:gs pos="50000">
                      <a:srgbClr val="FFFF00"/>
                    </a:gs>
                    <a:gs pos="100000">
                      <a:srgbClr val="8F8F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288" name="Oval 15"/>
                <p:cNvSpPr>
                  <a:spLocks noChangeArrowheads="1"/>
                </p:cNvSpPr>
                <p:nvPr/>
              </p:nvSpPr>
              <p:spPr bwMode="auto">
                <a:xfrm>
                  <a:off x="0" y="14"/>
                  <a:ext cx="2016" cy="545"/>
                </a:xfrm>
                <a:prstGeom prst="ellipse">
                  <a:avLst/>
                </a:prstGeom>
                <a:solidFill>
                  <a:srgbClr val="FFFF00"/>
                </a:solidFill>
                <a:ln w="9525">
                  <a:round/>
                  <a:headEnd/>
                  <a:tailEnd/>
                </a:ln>
                <a:scene3d>
                  <a:camera prst="legacyPerspectiveBottom">
                    <a:rot lat="19499990" lon="0" rev="0"/>
                  </a:camera>
                  <a:lightRig rig="legacyFlat3" dir="t"/>
                </a:scene3d>
                <a:sp3d extrusionH="176200" prstMaterial="legacyMatte">
                  <a:bevelT w="13500" h="13500" prst="angle"/>
                  <a:bevelB w="13500" h="13500" prst="angle"/>
                  <a:extrusionClr>
                    <a:srgbClr val="FFFF00"/>
                  </a:extrusionClr>
                </a:sp3d>
              </p:spPr>
              <p:txBody>
                <a:bodyPr anchor="ctr">
                  <a:spAutoFit/>
                  <a:flatTx/>
                </a:bodyPr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53281" name="Object 16"/>
            <p:cNvGraphicFramePr>
              <a:graphicFrameLocks noChangeAspect="1"/>
            </p:cNvGraphicFramePr>
            <p:nvPr/>
          </p:nvGraphicFramePr>
          <p:xfrm>
            <a:off x="1597" y="1139"/>
            <a:ext cx="241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03" name="Equation" r:id="rId3" imgW="203288" imgH="165172" progId="Equation.DSMT4">
                    <p:embed/>
                  </p:oleObj>
                </mc:Choice>
                <mc:Fallback>
                  <p:oleObj name="Equation" r:id="rId3" imgW="203288" imgH="165172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7" y="1139"/>
                          <a:ext cx="241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251" name="Group 17"/>
          <p:cNvGrpSpPr>
            <a:grpSpLocks/>
          </p:cNvGrpSpPr>
          <p:nvPr/>
        </p:nvGrpSpPr>
        <p:grpSpPr bwMode="auto">
          <a:xfrm>
            <a:off x="6696075" y="1319213"/>
            <a:ext cx="1873250" cy="417512"/>
            <a:chOff x="0" y="0"/>
            <a:chExt cx="1180" cy="439"/>
          </a:xfrm>
        </p:grpSpPr>
        <p:sp>
          <p:nvSpPr>
            <p:cNvPr id="53278" name="Line 18"/>
            <p:cNvSpPr>
              <a:spLocks noChangeShapeType="1"/>
            </p:cNvSpPr>
            <p:nvPr/>
          </p:nvSpPr>
          <p:spPr bwMode="auto">
            <a:xfrm flipV="1">
              <a:off x="0" y="198"/>
              <a:ext cx="912" cy="1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279" name="Text Box 19"/>
            <p:cNvSpPr txBox="1">
              <a:spLocks noChangeArrowheads="1"/>
            </p:cNvSpPr>
            <p:nvPr/>
          </p:nvSpPr>
          <p:spPr bwMode="auto">
            <a:xfrm>
              <a:off x="902" y="0"/>
              <a:ext cx="278" cy="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FFFF00"/>
                  </a:solidFill>
                  <a:ea typeface="幼圆" pitchFamily="49" charset="-122"/>
                </a:rPr>
                <a:t>X</a:t>
              </a:r>
            </a:p>
          </p:txBody>
        </p:sp>
      </p:grpSp>
      <p:graphicFrame>
        <p:nvGraphicFramePr>
          <p:cNvPr id="53252" name="Object 20"/>
          <p:cNvGraphicFramePr>
            <a:graphicFrameLocks noChangeAspect="1"/>
          </p:cNvGraphicFramePr>
          <p:nvPr/>
        </p:nvGraphicFramePr>
        <p:xfrm>
          <a:off x="6772275" y="982663"/>
          <a:ext cx="487363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04" r:id="rId5" imgW="1032358" imgH="1573682" progId="MS_ClipArt_Gallery.2">
                  <p:embed/>
                </p:oleObj>
              </mc:Choice>
              <mc:Fallback>
                <p:oleObj r:id="rId5" imgW="1032358" imgH="1573682" progId="MS_ClipArt_Gallery.2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2275" y="982663"/>
                        <a:ext cx="487363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3" name="Text Box 21"/>
          <p:cNvSpPr txBox="1">
            <a:spLocks noChangeArrowheads="1"/>
          </p:cNvSpPr>
          <p:nvPr/>
        </p:nvSpPr>
        <p:spPr bwMode="auto">
          <a:xfrm>
            <a:off x="6924675" y="1393825"/>
            <a:ext cx="481013" cy="41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rgbClr val="FFFF00"/>
                </a:solidFill>
                <a:ea typeface="宋体" pitchFamily="2" charset="-122"/>
              </a:rPr>
              <a:t>m</a:t>
            </a:r>
          </a:p>
        </p:txBody>
      </p:sp>
      <p:grpSp>
        <p:nvGrpSpPr>
          <p:cNvPr id="7" name="Group 22"/>
          <p:cNvGrpSpPr>
            <a:grpSpLocks/>
          </p:cNvGrpSpPr>
          <p:nvPr/>
        </p:nvGrpSpPr>
        <p:grpSpPr bwMode="auto">
          <a:xfrm>
            <a:off x="5335588" y="1492250"/>
            <a:ext cx="1814512" cy="496888"/>
            <a:chOff x="0" y="0"/>
            <a:chExt cx="1143" cy="521"/>
          </a:xfrm>
        </p:grpSpPr>
        <p:sp>
          <p:nvSpPr>
            <p:cNvPr id="53275" name="Line 23"/>
            <p:cNvSpPr>
              <a:spLocks noChangeShapeType="1"/>
            </p:cNvSpPr>
            <p:nvPr/>
          </p:nvSpPr>
          <p:spPr bwMode="auto">
            <a:xfrm>
              <a:off x="0" y="251"/>
              <a:ext cx="868" cy="0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3276" name="未知"/>
            <p:cNvSpPr>
              <a:spLocks/>
            </p:cNvSpPr>
            <p:nvPr/>
          </p:nvSpPr>
          <p:spPr bwMode="auto">
            <a:xfrm>
              <a:off x="709" y="133"/>
              <a:ext cx="434" cy="388"/>
            </a:xfrm>
            <a:custGeom>
              <a:avLst/>
              <a:gdLst>
                <a:gd name="T0" fmla="*/ 25 w 651"/>
                <a:gd name="T1" fmla="*/ 2080 h 175"/>
                <a:gd name="T2" fmla="*/ 23 w 651"/>
                <a:gd name="T3" fmla="*/ 1450 h 175"/>
                <a:gd name="T4" fmla="*/ 23 w 651"/>
                <a:gd name="T5" fmla="*/ 969 h 175"/>
                <a:gd name="T6" fmla="*/ 21 w 651"/>
                <a:gd name="T7" fmla="*/ 581 h 175"/>
                <a:gd name="T8" fmla="*/ 16 w 651"/>
                <a:gd name="T9" fmla="*/ 0 h 175"/>
                <a:gd name="T10" fmla="*/ 7 w 651"/>
                <a:gd name="T11" fmla="*/ 173 h 175"/>
                <a:gd name="T12" fmla="*/ 2 w 651"/>
                <a:gd name="T13" fmla="*/ 1623 h 175"/>
                <a:gd name="T14" fmla="*/ 0 w 651"/>
                <a:gd name="T15" fmla="*/ 3312 h 17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51"/>
                <a:gd name="T25" fmla="*/ 0 h 175"/>
                <a:gd name="T26" fmla="*/ 651 w 651"/>
                <a:gd name="T27" fmla="*/ 175 h 17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51" h="175">
                  <a:moveTo>
                    <a:pt x="635" y="108"/>
                  </a:moveTo>
                  <a:cubicBezTo>
                    <a:pt x="586" y="36"/>
                    <a:pt x="651" y="121"/>
                    <a:pt x="593" y="75"/>
                  </a:cubicBezTo>
                  <a:cubicBezTo>
                    <a:pt x="585" y="69"/>
                    <a:pt x="584" y="56"/>
                    <a:pt x="576" y="50"/>
                  </a:cubicBezTo>
                  <a:cubicBezTo>
                    <a:pt x="562" y="39"/>
                    <a:pt x="543" y="39"/>
                    <a:pt x="526" y="33"/>
                  </a:cubicBezTo>
                  <a:cubicBezTo>
                    <a:pt x="487" y="20"/>
                    <a:pt x="449" y="9"/>
                    <a:pt x="409" y="0"/>
                  </a:cubicBezTo>
                  <a:cubicBezTo>
                    <a:pt x="331" y="3"/>
                    <a:pt x="253" y="3"/>
                    <a:pt x="175" y="8"/>
                  </a:cubicBezTo>
                  <a:cubicBezTo>
                    <a:pt x="131" y="11"/>
                    <a:pt x="83" y="63"/>
                    <a:pt x="42" y="83"/>
                  </a:cubicBezTo>
                  <a:cubicBezTo>
                    <a:pt x="18" y="119"/>
                    <a:pt x="0" y="133"/>
                    <a:pt x="0" y="175"/>
                  </a:cubicBezTo>
                </a:path>
              </a:pathLst>
            </a:custGeom>
            <a:noFill/>
            <a:ln w="9525" cmpd="sng">
              <a:solidFill>
                <a:srgbClr val="FFFF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3277" name="Object 25"/>
            <p:cNvGraphicFramePr>
              <a:graphicFrameLocks noChangeAspect="1"/>
            </p:cNvGraphicFramePr>
            <p:nvPr/>
          </p:nvGraphicFramePr>
          <p:xfrm>
            <a:off x="519" y="0"/>
            <a:ext cx="292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05" name="Equation" r:id="rId7" imgW="304932" imgH="228699" progId="Equation.DSMT4">
                    <p:embed/>
                  </p:oleObj>
                </mc:Choice>
                <mc:Fallback>
                  <p:oleObj name="Equation" r:id="rId7" imgW="304932" imgH="228699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" y="0"/>
                          <a:ext cx="292" cy="2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255" name="Group 26"/>
          <p:cNvGrpSpPr>
            <a:grpSpLocks/>
          </p:cNvGrpSpPr>
          <p:nvPr/>
        </p:nvGrpSpPr>
        <p:grpSpPr bwMode="auto">
          <a:xfrm>
            <a:off x="5327650" y="849313"/>
            <a:ext cx="557213" cy="731837"/>
            <a:chOff x="0" y="0"/>
            <a:chExt cx="351" cy="768"/>
          </a:xfrm>
        </p:grpSpPr>
        <p:graphicFrame>
          <p:nvGraphicFramePr>
            <p:cNvPr id="53273" name="Object 27"/>
            <p:cNvGraphicFramePr>
              <a:graphicFrameLocks noChangeAspect="1"/>
            </p:cNvGraphicFramePr>
            <p:nvPr/>
          </p:nvGraphicFramePr>
          <p:xfrm>
            <a:off x="0" y="0"/>
            <a:ext cx="351" cy="7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06" r:id="rId9" imgW="2765425" imgH="6043613" progId="MS_ClipArt_Gallery.2">
                    <p:embed/>
                  </p:oleObj>
                </mc:Choice>
                <mc:Fallback>
                  <p:oleObj r:id="rId9" imgW="2765425" imgH="6043613" progId="MS_ClipArt_Gallery.2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51" cy="7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74" name="Line 28"/>
            <p:cNvSpPr>
              <a:spLocks noChangeShapeType="1"/>
            </p:cNvSpPr>
            <p:nvPr/>
          </p:nvSpPr>
          <p:spPr bwMode="auto">
            <a:xfrm flipV="1">
              <a:off x="144" y="48"/>
              <a:ext cx="96" cy="0"/>
            </a:xfrm>
            <a:prstGeom prst="line">
              <a:avLst/>
            </a:prstGeom>
            <a:noFill/>
            <a:ln w="9525">
              <a:solidFill>
                <a:srgbClr val="FF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3256" name="Group 29"/>
          <p:cNvGrpSpPr>
            <a:grpSpLocks/>
          </p:cNvGrpSpPr>
          <p:nvPr/>
        </p:nvGrpSpPr>
        <p:grpSpPr bwMode="auto">
          <a:xfrm>
            <a:off x="6229350" y="974725"/>
            <a:ext cx="492125" cy="663575"/>
            <a:chOff x="0" y="0"/>
            <a:chExt cx="310" cy="696"/>
          </a:xfrm>
        </p:grpSpPr>
        <p:sp>
          <p:nvSpPr>
            <p:cNvPr id="53271" name="Line 30"/>
            <p:cNvSpPr>
              <a:spLocks noChangeShapeType="1"/>
            </p:cNvSpPr>
            <p:nvPr/>
          </p:nvSpPr>
          <p:spPr bwMode="auto">
            <a:xfrm flipV="1">
              <a:off x="310" y="239"/>
              <a:ext cx="0" cy="457"/>
            </a:xfrm>
            <a:prstGeom prst="line">
              <a:avLst/>
            </a:prstGeom>
            <a:noFill/>
            <a:ln w="76200">
              <a:solidFill>
                <a:srgbClr val="99FF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272" name="Text Box 31"/>
            <p:cNvSpPr txBox="1">
              <a:spLocks noChangeArrowheads="1"/>
            </p:cNvSpPr>
            <p:nvPr/>
          </p:nvSpPr>
          <p:spPr bwMode="auto">
            <a:xfrm>
              <a:off x="0" y="0"/>
              <a:ext cx="244" cy="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FFFF00"/>
                  </a:solidFill>
                  <a:ea typeface="宋体" pitchFamily="2" charset="-122"/>
                </a:rPr>
                <a:t>+</a:t>
              </a:r>
            </a:p>
          </p:txBody>
        </p:sp>
      </p:grpSp>
      <p:sp>
        <p:nvSpPr>
          <p:cNvPr id="220192" name="Text Box 32"/>
          <p:cNvSpPr txBox="1">
            <a:spLocks noChangeArrowheads="1"/>
          </p:cNvSpPr>
          <p:nvPr/>
        </p:nvSpPr>
        <p:spPr bwMode="auto">
          <a:xfrm>
            <a:off x="477838" y="762000"/>
            <a:ext cx="1409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ea typeface="华文中宋" pitchFamily="2" charset="-122"/>
              </a:rPr>
              <a:t>于是，有</a:t>
            </a:r>
          </a:p>
        </p:txBody>
      </p:sp>
      <p:graphicFrame>
        <p:nvGraphicFramePr>
          <p:cNvPr id="220193" name="Object 33"/>
          <p:cNvGraphicFramePr>
            <a:graphicFrameLocks noChangeAspect="1"/>
          </p:cNvGraphicFramePr>
          <p:nvPr/>
        </p:nvGraphicFramePr>
        <p:xfrm>
          <a:off x="560388" y="952500"/>
          <a:ext cx="38671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07" name="Equation" r:id="rId11" imgW="1954951" imgH="406224" progId="Equation.DSMT4">
                  <p:embed/>
                </p:oleObj>
              </mc:Choice>
              <mc:Fallback>
                <p:oleObj name="Equation" r:id="rId11" imgW="1954951" imgH="406224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88" y="952500"/>
                        <a:ext cx="386715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194" name="Text Box 34"/>
          <p:cNvSpPr txBox="1">
            <a:spLocks noChangeArrowheads="1"/>
          </p:cNvSpPr>
          <p:nvPr/>
        </p:nvSpPr>
        <p:spPr bwMode="auto">
          <a:xfrm>
            <a:off x="203200" y="1492250"/>
            <a:ext cx="42576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ea typeface="华文中宋" pitchFamily="2" charset="-122"/>
              </a:rPr>
              <a:t>设人在台上奔跑一周的时间为</a:t>
            </a:r>
            <a:r>
              <a:rPr lang="en-US" altLang="zh-CN" sz="1800" i="1">
                <a:ea typeface="华文中宋" pitchFamily="2" charset="-122"/>
              </a:rPr>
              <a:t>t</a:t>
            </a:r>
            <a:r>
              <a:rPr lang="zh-CN" altLang="en-US" sz="1800">
                <a:ea typeface="华文中宋" pitchFamily="2" charset="-122"/>
              </a:rPr>
              <a:t>，则有</a:t>
            </a:r>
          </a:p>
        </p:txBody>
      </p:sp>
      <p:graphicFrame>
        <p:nvGraphicFramePr>
          <p:cNvPr id="220195" name="Object 35"/>
          <p:cNvGraphicFramePr>
            <a:graphicFrameLocks noChangeAspect="1"/>
          </p:cNvGraphicFramePr>
          <p:nvPr/>
        </p:nvGraphicFramePr>
        <p:xfrm>
          <a:off x="179388" y="1838325"/>
          <a:ext cx="4176712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08" name="Equation" r:id="rId13" imgW="2006280" imgH="393480" progId="Equation.DSMT4">
                  <p:embed/>
                </p:oleObj>
              </mc:Choice>
              <mc:Fallback>
                <p:oleObj name="Equation" r:id="rId13" imgW="2006280" imgH="39348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838325"/>
                        <a:ext cx="4176712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36"/>
          <p:cNvGrpSpPr>
            <a:grpSpLocks/>
          </p:cNvGrpSpPr>
          <p:nvPr/>
        </p:nvGrpSpPr>
        <p:grpSpPr bwMode="auto">
          <a:xfrm>
            <a:off x="395288" y="2498725"/>
            <a:ext cx="3732212" cy="839788"/>
            <a:chOff x="0" y="46"/>
            <a:chExt cx="2351" cy="705"/>
          </a:xfrm>
        </p:grpSpPr>
        <p:sp>
          <p:nvSpPr>
            <p:cNvPr id="53269" name="Text Box 37"/>
            <p:cNvSpPr txBox="1">
              <a:spLocks noChangeArrowheads="1"/>
            </p:cNvSpPr>
            <p:nvPr/>
          </p:nvSpPr>
          <p:spPr bwMode="auto">
            <a:xfrm>
              <a:off x="0" y="46"/>
              <a:ext cx="56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1800">
                  <a:ea typeface="华文中宋" pitchFamily="2" charset="-122"/>
                </a:rPr>
                <a:t>于是</a:t>
              </a:r>
            </a:p>
          </p:txBody>
        </p:sp>
        <p:graphicFrame>
          <p:nvGraphicFramePr>
            <p:cNvPr id="53270" name="Object 38"/>
            <p:cNvGraphicFramePr>
              <a:graphicFrameLocks noChangeAspect="1"/>
            </p:cNvGraphicFramePr>
            <p:nvPr/>
          </p:nvGraphicFramePr>
          <p:xfrm>
            <a:off x="140" y="246"/>
            <a:ext cx="2211" cy="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09" name="Equation" r:id="rId15" imgW="1726920" imgH="393480" progId="Equation.DSMT4">
                    <p:embed/>
                  </p:oleObj>
                </mc:Choice>
                <mc:Fallback>
                  <p:oleObj name="Equation" r:id="rId15" imgW="1726920" imgH="393480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" y="246"/>
                          <a:ext cx="2211" cy="5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39"/>
          <p:cNvGrpSpPr>
            <a:grpSpLocks/>
          </p:cNvGrpSpPr>
          <p:nvPr/>
        </p:nvGrpSpPr>
        <p:grpSpPr bwMode="auto">
          <a:xfrm>
            <a:off x="360363" y="3382963"/>
            <a:ext cx="4656137" cy="722312"/>
            <a:chOff x="0" y="7"/>
            <a:chExt cx="2882" cy="562"/>
          </a:xfrm>
        </p:grpSpPr>
        <p:sp>
          <p:nvSpPr>
            <p:cNvPr id="53267" name="Text Box 40"/>
            <p:cNvSpPr txBox="1">
              <a:spLocks noChangeArrowheads="1"/>
            </p:cNvSpPr>
            <p:nvPr/>
          </p:nvSpPr>
          <p:spPr bwMode="auto">
            <a:xfrm>
              <a:off x="0" y="146"/>
              <a:ext cx="683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1800">
                  <a:ea typeface="华文中宋" pitchFamily="2" charset="-122"/>
                </a:rPr>
                <a:t>同理，</a:t>
              </a:r>
            </a:p>
          </p:txBody>
        </p:sp>
        <p:graphicFrame>
          <p:nvGraphicFramePr>
            <p:cNvPr id="53268" name="Object 41"/>
            <p:cNvGraphicFramePr>
              <a:graphicFrameLocks noChangeAspect="1"/>
            </p:cNvGraphicFramePr>
            <p:nvPr/>
          </p:nvGraphicFramePr>
          <p:xfrm>
            <a:off x="864" y="7"/>
            <a:ext cx="2018" cy="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10" name="Equation" r:id="rId17" imgW="1688760" imgH="469800" progId="Equation.DSMT4">
                    <p:embed/>
                  </p:oleObj>
                </mc:Choice>
                <mc:Fallback>
                  <p:oleObj name="Equation" r:id="rId17" imgW="1688760" imgH="469800" progId="Equation.DSMT4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7"/>
                          <a:ext cx="2018" cy="5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0202" name="Object 42"/>
          <p:cNvGraphicFramePr>
            <a:graphicFrameLocks noChangeAspect="1"/>
          </p:cNvGraphicFramePr>
          <p:nvPr/>
        </p:nvGraphicFramePr>
        <p:xfrm>
          <a:off x="5359400" y="3603625"/>
          <a:ext cx="3209925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11" name="Equation" r:id="rId19" imgW="1600200" imgH="253800" progId="Equation.DSMT4">
                  <p:embed/>
                </p:oleObj>
              </mc:Choice>
              <mc:Fallback>
                <p:oleObj name="Equation" r:id="rId19" imgW="1600200" imgH="25380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9400" y="3603625"/>
                        <a:ext cx="3209925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203" name="Text Box 43"/>
          <p:cNvSpPr txBox="1">
            <a:spLocks noChangeArrowheads="1"/>
          </p:cNvSpPr>
          <p:nvPr/>
        </p:nvSpPr>
        <p:spPr bwMode="auto">
          <a:xfrm>
            <a:off x="225425" y="4029075"/>
            <a:ext cx="11033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ea typeface="华文中宋" pitchFamily="2" charset="-122"/>
              </a:rPr>
              <a:t>讨论：</a:t>
            </a:r>
          </a:p>
        </p:txBody>
      </p:sp>
      <p:sp>
        <p:nvSpPr>
          <p:cNvPr id="220204" name="Text Box 44"/>
          <p:cNvSpPr txBox="1">
            <a:spLocks noChangeArrowheads="1"/>
          </p:cNvSpPr>
          <p:nvPr/>
        </p:nvSpPr>
        <p:spPr bwMode="auto">
          <a:xfrm>
            <a:off x="1063625" y="4156075"/>
            <a:ext cx="4256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ea typeface="华文中宋" pitchFamily="2" charset="-122"/>
              </a:rPr>
              <a:t>（</a:t>
            </a:r>
            <a:r>
              <a:rPr lang="en-US" altLang="zh-CN" sz="1800">
                <a:ea typeface="华文中宋" pitchFamily="2" charset="-122"/>
              </a:rPr>
              <a:t>1</a:t>
            </a:r>
            <a:r>
              <a:rPr lang="zh-CN" altLang="en-US" sz="1800">
                <a:ea typeface="华文中宋" pitchFamily="2" charset="-122"/>
              </a:rPr>
              <a:t>）若</a:t>
            </a:r>
            <a:r>
              <a:rPr lang="en-US" altLang="zh-CN" sz="1800" i="1">
                <a:ea typeface="华文中宋" pitchFamily="2" charset="-122"/>
              </a:rPr>
              <a:t>M</a:t>
            </a:r>
            <a:r>
              <a:rPr lang="en-US" altLang="zh-CN" sz="1800">
                <a:ea typeface="华文中宋" pitchFamily="2" charset="-122"/>
              </a:rPr>
              <a:t>→∞</a:t>
            </a:r>
            <a:r>
              <a:rPr lang="zh-CN" altLang="en-US" sz="1800">
                <a:ea typeface="华文中宋" pitchFamily="2" charset="-122"/>
              </a:rPr>
              <a:t>，则</a:t>
            </a:r>
            <a:r>
              <a:rPr lang="zh-CN" altLang="en-US" sz="1800" i="1">
                <a:ea typeface="华文中宋" pitchFamily="2" charset="-122"/>
                <a:sym typeface="Symbol" pitchFamily="18" charset="2"/>
              </a:rPr>
              <a:t></a:t>
            </a:r>
            <a:r>
              <a:rPr lang="zh-CN" altLang="en-US" sz="1800" baseline="-25000">
                <a:ea typeface="华文中宋" pitchFamily="2" charset="-122"/>
                <a:sym typeface="Symbol" pitchFamily="18" charset="2"/>
              </a:rPr>
              <a:t>人地</a:t>
            </a:r>
            <a:r>
              <a:rPr lang="zh-CN" altLang="en-US" sz="1800">
                <a:ea typeface="华文中宋" pitchFamily="2" charset="-122"/>
                <a:sym typeface="Symbol" pitchFamily="18" charset="2"/>
              </a:rPr>
              <a:t>→</a:t>
            </a:r>
            <a:r>
              <a:rPr lang="en-US" altLang="zh-CN" sz="1800">
                <a:ea typeface="华文中宋" pitchFamily="2" charset="-122"/>
                <a:sym typeface="Symbol" pitchFamily="18" charset="2"/>
              </a:rPr>
              <a:t>2</a:t>
            </a:r>
            <a:r>
              <a:rPr lang="zh-CN" altLang="en-US" sz="1800">
                <a:ea typeface="华文中宋" pitchFamily="2" charset="-122"/>
                <a:sym typeface="Symbol" pitchFamily="18" charset="2"/>
              </a:rPr>
              <a:t>，</a:t>
            </a:r>
          </a:p>
        </p:txBody>
      </p:sp>
      <p:sp>
        <p:nvSpPr>
          <p:cNvPr id="220205" name="Text Box 45"/>
          <p:cNvSpPr txBox="1">
            <a:spLocks noChangeArrowheads="1"/>
          </p:cNvSpPr>
          <p:nvPr/>
        </p:nvSpPr>
        <p:spPr bwMode="auto">
          <a:xfrm>
            <a:off x="4981575" y="4159250"/>
            <a:ext cx="4054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ea typeface="华文中宋" pitchFamily="2" charset="-122"/>
              </a:rPr>
              <a:t>（</a:t>
            </a:r>
            <a:r>
              <a:rPr lang="en-US" altLang="zh-CN" sz="1800">
                <a:ea typeface="华文中宋" pitchFamily="2" charset="-122"/>
              </a:rPr>
              <a:t>2</a:t>
            </a:r>
            <a:r>
              <a:rPr lang="zh-CN" altLang="en-US" sz="1800">
                <a:ea typeface="华文中宋" pitchFamily="2" charset="-122"/>
              </a:rPr>
              <a:t>）若</a:t>
            </a:r>
            <a:r>
              <a:rPr lang="en-US" altLang="zh-CN" sz="1800" i="1">
                <a:ea typeface="华文中宋" pitchFamily="2" charset="-122"/>
              </a:rPr>
              <a:t>m</a:t>
            </a:r>
            <a:r>
              <a:rPr lang="en-US" altLang="zh-CN" sz="1800">
                <a:ea typeface="华文中宋" pitchFamily="2" charset="-122"/>
              </a:rPr>
              <a:t>→∞</a:t>
            </a:r>
            <a:r>
              <a:rPr lang="zh-CN" altLang="en-US" sz="1800">
                <a:ea typeface="华文中宋" pitchFamily="2" charset="-122"/>
              </a:rPr>
              <a:t>，则</a:t>
            </a:r>
            <a:r>
              <a:rPr lang="zh-CN" altLang="en-US" sz="1800" i="1">
                <a:ea typeface="华文中宋" pitchFamily="2" charset="-122"/>
                <a:sym typeface="Symbol" pitchFamily="18" charset="2"/>
              </a:rPr>
              <a:t></a:t>
            </a:r>
            <a:r>
              <a:rPr lang="zh-CN" altLang="en-US" sz="1800" baseline="-25000">
                <a:ea typeface="华文中宋" pitchFamily="2" charset="-122"/>
                <a:sym typeface="Symbol" pitchFamily="18" charset="2"/>
              </a:rPr>
              <a:t>人地</a:t>
            </a:r>
            <a:r>
              <a:rPr lang="zh-CN" altLang="en-US" sz="1800">
                <a:ea typeface="华文中宋" pitchFamily="2" charset="-122"/>
                <a:sym typeface="Symbol" pitchFamily="18" charset="2"/>
              </a:rPr>
              <a:t>→</a:t>
            </a:r>
            <a:r>
              <a:rPr lang="en-US" altLang="zh-CN" sz="1800">
                <a:ea typeface="华文中宋" pitchFamily="2" charset="-122"/>
                <a:sym typeface="Symbol" pitchFamily="18" charset="2"/>
              </a:rPr>
              <a:t>0</a:t>
            </a:r>
            <a:r>
              <a:rPr lang="zh-CN" altLang="en-US" sz="1800">
                <a:ea typeface="华文中宋" pitchFamily="2" charset="-122"/>
                <a:sym typeface="Symbol" pitchFamily="18" charset="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0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0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0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0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0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0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0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0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0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0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0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0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20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20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20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20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92" grpId="0" autoUpdateAnimBg="0"/>
      <p:bldP spid="220194" grpId="0" autoUpdateAnimBg="0"/>
      <p:bldP spid="220203" grpId="0" autoUpdateAnimBg="0"/>
      <p:bldP spid="220204" grpId="0" autoUpdateAnimBg="0"/>
      <p:bldP spid="220205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2255" name="Group 47"/>
          <p:cNvGraphicFramePr>
            <a:graphicFrameLocks noGrp="1"/>
          </p:cNvGraphicFramePr>
          <p:nvPr/>
        </p:nvGraphicFramePr>
        <p:xfrm>
          <a:off x="971550" y="842963"/>
          <a:ext cx="6913563" cy="3776662"/>
        </p:xfrm>
        <a:graphic>
          <a:graphicData uri="http://schemas.openxmlformats.org/drawingml/2006/table">
            <a:tbl>
              <a:tblPr/>
              <a:tblGrid>
                <a:gridCol w="3458219"/>
                <a:gridCol w="3455344"/>
              </a:tblGrid>
              <a:tr h="3704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平       动 </a:t>
                      </a:r>
                    </a:p>
                  </a:txBody>
                  <a:tcPr marL="91451" marR="91451" marT="34301" marB="343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转       动 </a:t>
                      </a:r>
                    </a:p>
                  </a:txBody>
                  <a:tcPr marL="91451" marR="91451" marT="34301" marB="343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4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力与冲量</a:t>
                      </a:r>
                    </a:p>
                  </a:txBody>
                  <a:tcPr marL="91451" marR="91451" marT="34301" marB="343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力矩与冲量矩</a:t>
                      </a: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 </a:t>
                      </a:r>
                    </a:p>
                  </a:txBody>
                  <a:tcPr marL="91451" marR="91451" marT="34301" marB="343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71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质量与动量</a:t>
                      </a: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中宋" pitchFamily="2" charset="-122"/>
                        <a:ea typeface="华文中宋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中宋" pitchFamily="2" charset="-122"/>
                        <a:ea typeface="华文中宋" pitchFamily="2" charset="-122"/>
                      </a:endParaRPr>
                    </a:p>
                  </a:txBody>
                  <a:tcPr marL="91451" marR="91451" marT="34301" marB="343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转动惯量与角动量</a:t>
                      </a: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中宋" pitchFamily="2" charset="-122"/>
                        <a:ea typeface="华文中宋" pitchFamily="2" charset="-122"/>
                      </a:endParaRPr>
                    </a:p>
                  </a:txBody>
                  <a:tcPr marL="91451" marR="91451" marT="34301" marB="343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71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平动动能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中宋" pitchFamily="2" charset="-122"/>
                        <a:ea typeface="华文中宋" pitchFamily="2" charset="-122"/>
                      </a:endParaRPr>
                    </a:p>
                  </a:txBody>
                  <a:tcPr marL="91451" marR="91451" marT="34301" marB="343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转动动能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 </a:t>
                      </a:r>
                    </a:p>
                  </a:txBody>
                  <a:tcPr marL="91451" marR="91451" marT="34301" marB="343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71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力的功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 </a:t>
                      </a:r>
                    </a:p>
                  </a:txBody>
                  <a:tcPr marL="91451" marR="91451" marT="34301" marB="343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力矩的功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 </a:t>
                      </a:r>
                    </a:p>
                  </a:txBody>
                  <a:tcPr marL="91451" marR="91451" marT="34301" marB="343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7441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势能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中宋" pitchFamily="2" charset="-122"/>
                        <a:ea typeface="华文中宋" pitchFamily="2" charset="-122"/>
                      </a:endParaRPr>
                    </a:p>
                  </a:txBody>
                  <a:tcPr marL="91451" marR="91451" marT="34301" marB="343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4296" name="Object 25"/>
          <p:cNvGraphicFramePr>
            <a:graphicFrameLocks noChangeAspect="1"/>
          </p:cNvGraphicFramePr>
          <p:nvPr/>
        </p:nvGraphicFramePr>
        <p:xfrm>
          <a:off x="2916238" y="1924050"/>
          <a:ext cx="1157287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24" name="公式" r:id="rId3" imgW="520474" imgH="215806" progId="Equation.3">
                  <p:embed/>
                </p:oleObj>
              </mc:Choice>
              <mc:Fallback>
                <p:oleObj name="公式" r:id="rId3" imgW="520474" imgH="215806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1924050"/>
                        <a:ext cx="1157287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7" name="Object 26"/>
          <p:cNvGraphicFramePr>
            <a:graphicFrameLocks noChangeAspect="1"/>
          </p:cNvGraphicFramePr>
          <p:nvPr/>
        </p:nvGraphicFramePr>
        <p:xfrm>
          <a:off x="6300788" y="2006600"/>
          <a:ext cx="854075" cy="27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25" name="公式" r:id="rId5" imgW="507780" imgH="215806" progId="Equation.3">
                  <p:embed/>
                </p:oleObj>
              </mc:Choice>
              <mc:Fallback>
                <p:oleObj name="公式" r:id="rId5" imgW="507780" imgH="215806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2006600"/>
                        <a:ext cx="854075" cy="277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8" name="Object 27"/>
          <p:cNvGraphicFramePr>
            <a:graphicFrameLocks noChangeAspect="1"/>
          </p:cNvGraphicFramePr>
          <p:nvPr/>
        </p:nvGraphicFramePr>
        <p:xfrm>
          <a:off x="2416175" y="2500313"/>
          <a:ext cx="1363663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26" name="公式" r:id="rId7" imgW="787058" imgH="406224" progId="Equation.3">
                  <p:embed/>
                </p:oleObj>
              </mc:Choice>
              <mc:Fallback>
                <p:oleObj name="公式" r:id="rId7" imgW="787058" imgH="406224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6175" y="2500313"/>
                        <a:ext cx="1363663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9" name="Object 29"/>
          <p:cNvGraphicFramePr>
            <a:graphicFrameLocks noChangeAspect="1"/>
          </p:cNvGraphicFramePr>
          <p:nvPr/>
        </p:nvGraphicFramePr>
        <p:xfrm>
          <a:off x="2435225" y="3302000"/>
          <a:ext cx="12446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27" name="Equation" r:id="rId9" imgW="761760" imgH="279360" progId="Equation.DSMT4">
                  <p:embed/>
                </p:oleObj>
              </mc:Choice>
              <mc:Fallback>
                <p:oleObj name="Equation" r:id="rId9" imgW="761760" imgH="27936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5225" y="3302000"/>
                        <a:ext cx="124460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0" name="Object 30"/>
          <p:cNvGraphicFramePr>
            <a:graphicFrameLocks noChangeAspect="1"/>
          </p:cNvGraphicFramePr>
          <p:nvPr/>
        </p:nvGraphicFramePr>
        <p:xfrm>
          <a:off x="5853113" y="3363913"/>
          <a:ext cx="147478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28" name="Equation" r:id="rId11" imgW="723600" imgH="279360" progId="Equation.DSMT4">
                  <p:embed/>
                </p:oleObj>
              </mc:Choice>
              <mc:Fallback>
                <p:oleObj name="Equation" r:id="rId11" imgW="723600" imgH="27936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3113" y="3363913"/>
                        <a:ext cx="1474787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1" name="Object 31"/>
          <p:cNvGraphicFramePr>
            <a:graphicFrameLocks noChangeAspect="1"/>
          </p:cNvGraphicFramePr>
          <p:nvPr/>
        </p:nvGraphicFramePr>
        <p:xfrm>
          <a:off x="4670425" y="4011613"/>
          <a:ext cx="275590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29" name="Equation" r:id="rId13" imgW="1536033" imgH="406224" progId="Equation.DSMT4">
                  <p:embed/>
                </p:oleObj>
              </mc:Choice>
              <mc:Fallback>
                <p:oleObj name="Equation" r:id="rId13" imgW="1536033" imgH="406224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0425" y="4011613"/>
                        <a:ext cx="2755900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2" name="Object 34"/>
          <p:cNvGraphicFramePr>
            <a:graphicFrameLocks noChangeAspect="1"/>
          </p:cNvGraphicFramePr>
          <p:nvPr/>
        </p:nvGraphicFramePr>
        <p:xfrm>
          <a:off x="2433638" y="1276350"/>
          <a:ext cx="338137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30" name="公式" r:id="rId15" imgW="164957" imgH="203024" progId="Equation.3">
                  <p:embed/>
                </p:oleObj>
              </mc:Choice>
              <mc:Fallback>
                <p:oleObj name="公式" r:id="rId15" imgW="164957" imgH="203024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3638" y="1276350"/>
                        <a:ext cx="338137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3" name="Object 35"/>
          <p:cNvGraphicFramePr>
            <a:graphicFrameLocks noChangeAspect="1"/>
          </p:cNvGraphicFramePr>
          <p:nvPr/>
        </p:nvGraphicFramePr>
        <p:xfrm>
          <a:off x="6084888" y="1243013"/>
          <a:ext cx="38735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31" name="公式" r:id="rId17" imgW="203024" imgH="203024" progId="Equation.3">
                  <p:embed/>
                </p:oleObj>
              </mc:Choice>
              <mc:Fallback>
                <p:oleObj name="公式" r:id="rId17" imgW="203024" imgH="203024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1243013"/>
                        <a:ext cx="38735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4" name="Object 37"/>
          <p:cNvGraphicFramePr>
            <a:graphicFrameLocks noChangeAspect="1"/>
          </p:cNvGraphicFramePr>
          <p:nvPr/>
        </p:nvGraphicFramePr>
        <p:xfrm>
          <a:off x="2987675" y="1249363"/>
          <a:ext cx="78105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32" name="Equation" r:id="rId19" imgW="380880" imgH="291960" progId="Equation.DSMT4">
                  <p:embed/>
                </p:oleObj>
              </mc:Choice>
              <mc:Fallback>
                <p:oleObj name="Equation" r:id="rId19" imgW="380880" imgH="29196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1249363"/>
                        <a:ext cx="781050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5" name="Object 38"/>
          <p:cNvGraphicFramePr>
            <a:graphicFrameLocks noChangeAspect="1"/>
          </p:cNvGraphicFramePr>
          <p:nvPr/>
        </p:nvGraphicFramePr>
        <p:xfrm>
          <a:off x="6651625" y="1211263"/>
          <a:ext cx="776288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33" name="Equation" r:id="rId21" imgW="406080" imgH="291960" progId="Equation.DSMT4">
                  <p:embed/>
                </p:oleObj>
              </mc:Choice>
              <mc:Fallback>
                <p:oleObj name="Equation" r:id="rId21" imgW="406080" imgH="29196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25" y="1211263"/>
                        <a:ext cx="776288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6" name="Object 39"/>
          <p:cNvGraphicFramePr>
            <a:graphicFrameLocks noChangeAspect="1"/>
          </p:cNvGraphicFramePr>
          <p:nvPr/>
        </p:nvGraphicFramePr>
        <p:xfrm>
          <a:off x="2339975" y="1995488"/>
          <a:ext cx="48895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34" name="公式" r:id="rId23" imgW="177646" imgH="139579" progId="Equation.3">
                  <p:embed/>
                </p:oleObj>
              </mc:Choice>
              <mc:Fallback>
                <p:oleObj name="公式" r:id="rId23" imgW="177646" imgH="139579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1995488"/>
                        <a:ext cx="488950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7" name="Object 40"/>
          <p:cNvGraphicFramePr>
            <a:graphicFrameLocks noChangeAspect="1"/>
          </p:cNvGraphicFramePr>
          <p:nvPr/>
        </p:nvGraphicFramePr>
        <p:xfrm>
          <a:off x="4706938" y="1979613"/>
          <a:ext cx="133667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35" name="Equation" r:id="rId25" imgW="812520" imgH="291960" progId="Equation.DSMT4">
                  <p:embed/>
                </p:oleObj>
              </mc:Choice>
              <mc:Fallback>
                <p:oleObj name="Equation" r:id="rId25" imgW="812520" imgH="291960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6938" y="1979613"/>
                        <a:ext cx="1336675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8" name="Object 41"/>
          <p:cNvGraphicFramePr>
            <a:graphicFrameLocks noChangeAspect="1"/>
          </p:cNvGraphicFramePr>
          <p:nvPr/>
        </p:nvGraphicFramePr>
        <p:xfrm>
          <a:off x="5802313" y="2500313"/>
          <a:ext cx="1389062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36" name="公式" r:id="rId27" imgW="761669" imgH="406224" progId="Equation.3">
                  <p:embed/>
                </p:oleObj>
              </mc:Choice>
              <mc:Fallback>
                <p:oleObj name="公式" r:id="rId27" imgW="761669" imgH="406224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2313" y="2500313"/>
                        <a:ext cx="1389062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9" name="Object 42"/>
          <p:cNvGraphicFramePr>
            <a:graphicFrameLocks noChangeAspect="1"/>
          </p:cNvGraphicFramePr>
          <p:nvPr/>
        </p:nvGraphicFramePr>
        <p:xfrm>
          <a:off x="2184400" y="4156075"/>
          <a:ext cx="18764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37" name="Equation" r:id="rId29" imgW="1079280" imgH="279360" progId="Equation.DSMT4">
                  <p:embed/>
                </p:oleObj>
              </mc:Choice>
              <mc:Fallback>
                <p:oleObj name="Equation" r:id="rId29" imgW="1079280" imgH="27936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4400" y="4156075"/>
                        <a:ext cx="187642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5218" name="Group 2"/>
          <p:cNvGraphicFramePr>
            <a:graphicFrameLocks noGrp="1"/>
          </p:cNvGraphicFramePr>
          <p:nvPr/>
        </p:nvGraphicFramePr>
        <p:xfrm>
          <a:off x="1117600" y="830263"/>
          <a:ext cx="7270750" cy="3686175"/>
        </p:xfrm>
        <a:graphic>
          <a:graphicData uri="http://schemas.openxmlformats.org/drawingml/2006/table">
            <a:tbl>
              <a:tblPr/>
              <a:tblGrid>
                <a:gridCol w="3636886"/>
                <a:gridCol w="3633864"/>
              </a:tblGrid>
              <a:tr h="3741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      </a:t>
                      </a: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平       动 </a:t>
                      </a:r>
                    </a:p>
                  </a:txBody>
                  <a:tcPr marL="91442" marR="91442"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       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转       动 </a:t>
                      </a:r>
                    </a:p>
                  </a:txBody>
                  <a:tcPr marL="91442" marR="91442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70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牛顿定律</a:t>
                      </a:r>
                    </a:p>
                  </a:txBody>
                  <a:tcPr marL="91442" marR="91442"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转动定律 </a:t>
                      </a:r>
                    </a:p>
                  </a:txBody>
                  <a:tcPr marL="91442" marR="91442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2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动量定理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中宋" pitchFamily="2" charset="-122"/>
                        <a:ea typeface="华文中宋" pitchFamily="2" charset="-122"/>
                      </a:endParaRPr>
                    </a:p>
                  </a:txBody>
                  <a:tcPr marL="91442" marR="91442"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角动量定理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 </a:t>
                      </a:r>
                    </a:p>
                  </a:txBody>
                  <a:tcPr marL="91442" marR="91442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2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动量守恒定律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中宋" pitchFamily="2" charset="-122"/>
                        <a:ea typeface="华文中宋" pitchFamily="2" charset="-122"/>
                      </a:endParaRPr>
                    </a:p>
                  </a:txBody>
                  <a:tcPr marL="91442" marR="91442"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角动量守恒定律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 </a:t>
                      </a:r>
                    </a:p>
                  </a:txBody>
                  <a:tcPr marL="91442" marR="91442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82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动能定理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 </a:t>
                      </a:r>
                    </a:p>
                  </a:txBody>
                  <a:tcPr marL="91442" marR="91442"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动能定理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 </a:t>
                      </a:r>
                    </a:p>
                  </a:txBody>
                  <a:tcPr marL="91442" marR="91442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92377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机 械 能 守 恒 定 律 条件：                         （或只有保守力作功）</a:t>
                      </a:r>
                      <a:r>
                        <a:rPr kumimoji="0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 </a:t>
                      </a:r>
                    </a:p>
                  </a:txBody>
                  <a:tcPr marL="91442" marR="91442"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5320" name="Object 24"/>
          <p:cNvGraphicFramePr>
            <a:graphicFrameLocks noChangeAspect="1"/>
          </p:cNvGraphicFramePr>
          <p:nvPr/>
        </p:nvGraphicFramePr>
        <p:xfrm>
          <a:off x="3924300" y="3673475"/>
          <a:ext cx="915988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43" name="公式" r:id="rId3" imgW="495085" imgH="241195" progId="Equation.3">
                  <p:embed/>
                </p:oleObj>
              </mc:Choice>
              <mc:Fallback>
                <p:oleObj name="公式" r:id="rId3" imgW="495085" imgH="241195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3673475"/>
                        <a:ext cx="915988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21" name="Object 25"/>
          <p:cNvGraphicFramePr>
            <a:graphicFrameLocks noChangeAspect="1"/>
          </p:cNvGraphicFramePr>
          <p:nvPr/>
        </p:nvGraphicFramePr>
        <p:xfrm>
          <a:off x="2192338" y="1851025"/>
          <a:ext cx="1941512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44" name="公式" r:id="rId5" imgW="1129810" imgH="291973" progId="Equation.3">
                  <p:embed/>
                </p:oleObj>
              </mc:Choice>
              <mc:Fallback>
                <p:oleObj name="公式" r:id="rId5" imgW="1129810" imgH="291973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2338" y="1851025"/>
                        <a:ext cx="1941512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22" name="Object 26"/>
          <p:cNvGraphicFramePr>
            <a:graphicFrameLocks noChangeAspect="1"/>
          </p:cNvGraphicFramePr>
          <p:nvPr/>
        </p:nvGraphicFramePr>
        <p:xfrm>
          <a:off x="5703888" y="1862138"/>
          <a:ext cx="2163762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45" name="公式" r:id="rId7" imgW="1143000" imgH="292100" progId="Equation.3">
                  <p:embed/>
                </p:oleObj>
              </mc:Choice>
              <mc:Fallback>
                <p:oleObj name="公式" r:id="rId7" imgW="1143000" imgH="2921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3888" y="1862138"/>
                        <a:ext cx="2163762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23" name="Object 27"/>
          <p:cNvGraphicFramePr>
            <a:graphicFrameLocks noChangeAspect="1"/>
          </p:cNvGraphicFramePr>
          <p:nvPr/>
        </p:nvGraphicFramePr>
        <p:xfrm>
          <a:off x="1844675" y="2552700"/>
          <a:ext cx="245745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46" name="公式" r:id="rId9" imgW="1586811" imgH="253890" progId="Equation.3">
                  <p:embed/>
                </p:oleObj>
              </mc:Choice>
              <mc:Fallback>
                <p:oleObj name="公式" r:id="rId9" imgW="1586811" imgH="25389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4675" y="2552700"/>
                        <a:ext cx="2457450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24" name="Object 28"/>
          <p:cNvGraphicFramePr>
            <a:graphicFrameLocks noChangeAspect="1"/>
          </p:cNvGraphicFramePr>
          <p:nvPr/>
        </p:nvGraphicFramePr>
        <p:xfrm>
          <a:off x="5334000" y="2598738"/>
          <a:ext cx="29019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47" name="公式" r:id="rId11" imgW="1688367" imgH="253890" progId="Equation.3">
                  <p:embed/>
                </p:oleObj>
              </mc:Choice>
              <mc:Fallback>
                <p:oleObj name="公式" r:id="rId11" imgW="1688367" imgH="25389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598738"/>
                        <a:ext cx="290195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25" name="Object 29"/>
          <p:cNvGraphicFramePr>
            <a:graphicFrameLocks noChangeAspect="1"/>
          </p:cNvGraphicFramePr>
          <p:nvPr/>
        </p:nvGraphicFramePr>
        <p:xfrm>
          <a:off x="2051050" y="3168650"/>
          <a:ext cx="2057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48" name="公式" r:id="rId13" imgW="1562100" imgH="406400" progId="Equation.3">
                  <p:embed/>
                </p:oleObj>
              </mc:Choice>
              <mc:Fallback>
                <p:oleObj name="公式" r:id="rId13" imgW="1562100" imgH="4064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168650"/>
                        <a:ext cx="20574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26" name="Object 30"/>
          <p:cNvGraphicFramePr>
            <a:graphicFrameLocks noChangeAspect="1"/>
          </p:cNvGraphicFramePr>
          <p:nvPr/>
        </p:nvGraphicFramePr>
        <p:xfrm>
          <a:off x="5724525" y="3157538"/>
          <a:ext cx="246697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49" name="公式" r:id="rId15" imgW="1523339" imgH="406224" progId="Equation.3">
                  <p:embed/>
                </p:oleObj>
              </mc:Choice>
              <mc:Fallback>
                <p:oleObj name="公式" r:id="rId15" imgW="1523339" imgH="406224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3157538"/>
                        <a:ext cx="2466975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27" name="Object 31"/>
          <p:cNvGraphicFramePr>
            <a:graphicFrameLocks noChangeAspect="1"/>
          </p:cNvGraphicFramePr>
          <p:nvPr/>
        </p:nvGraphicFramePr>
        <p:xfrm>
          <a:off x="2874963" y="3897313"/>
          <a:ext cx="406082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0" name="公式" r:id="rId17" imgW="2413000" imgH="406400" progId="Equation.3">
                  <p:embed/>
                </p:oleObj>
              </mc:Choice>
              <mc:Fallback>
                <p:oleObj name="公式" r:id="rId17" imgW="2413000" imgH="4064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4963" y="3897313"/>
                        <a:ext cx="406082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28" name="Object 32"/>
          <p:cNvGraphicFramePr>
            <a:graphicFrameLocks noChangeAspect="1"/>
          </p:cNvGraphicFramePr>
          <p:nvPr/>
        </p:nvGraphicFramePr>
        <p:xfrm>
          <a:off x="4805363" y="3651250"/>
          <a:ext cx="1135062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1" name="公式" r:id="rId19" imgW="571252" imgH="241195" progId="Equation.3">
                  <p:embed/>
                </p:oleObj>
              </mc:Choice>
              <mc:Fallback>
                <p:oleObj name="公式" r:id="rId19" imgW="571252" imgH="241195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5363" y="3651250"/>
                        <a:ext cx="1135062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29" name="Text Box 33"/>
          <p:cNvSpPr txBox="1">
            <a:spLocks noChangeArrowheads="1"/>
          </p:cNvSpPr>
          <p:nvPr/>
        </p:nvSpPr>
        <p:spPr bwMode="auto">
          <a:xfrm>
            <a:off x="4013200" y="474663"/>
            <a:ext cx="1422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续       表</a:t>
            </a:r>
            <a:endParaRPr lang="zh-CN" altLang="en-US" sz="1800"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55330" name="Object 34"/>
          <p:cNvGraphicFramePr>
            <a:graphicFrameLocks noChangeAspect="1"/>
          </p:cNvGraphicFramePr>
          <p:nvPr/>
        </p:nvGraphicFramePr>
        <p:xfrm>
          <a:off x="2627313" y="1203325"/>
          <a:ext cx="114300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2" name="公式" r:id="rId21" imgW="532937" imgH="215713" progId="Equation.3">
                  <p:embed/>
                </p:oleObj>
              </mc:Choice>
              <mc:Fallback>
                <p:oleObj name="公式" r:id="rId21" imgW="532937" imgH="215713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1203325"/>
                        <a:ext cx="1143000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31" name="Object 35"/>
          <p:cNvGraphicFramePr>
            <a:graphicFrameLocks noChangeAspect="1"/>
          </p:cNvGraphicFramePr>
          <p:nvPr/>
        </p:nvGraphicFramePr>
        <p:xfrm>
          <a:off x="6372225" y="1258888"/>
          <a:ext cx="1117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3" name="公式" r:id="rId23" imgW="558558" imgH="203112" progId="Equation.3">
                  <p:embed/>
                </p:oleObj>
              </mc:Choice>
              <mc:Fallback>
                <p:oleObj name="公式" r:id="rId23" imgW="558558" imgH="203112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1258888"/>
                        <a:ext cx="11176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3094</TotalTime>
  <Pages>0</Pages>
  <Words>2330</Words>
  <Characters>0</Characters>
  <Application>Microsoft Office PowerPoint</Application>
  <DocSecurity>0</DocSecurity>
  <PresentationFormat>全屏显示(16:9)</PresentationFormat>
  <Lines>0</Lines>
  <Paragraphs>323</Paragraphs>
  <Slides>46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46</vt:i4>
      </vt:variant>
    </vt:vector>
  </HeadingPairs>
  <TitlesOfParts>
    <vt:vector size="52" baseType="lpstr">
      <vt:lpstr>1_自定义设计方案</vt:lpstr>
      <vt:lpstr>公式</vt:lpstr>
      <vt:lpstr>Equation</vt:lpstr>
      <vt:lpstr>Microsoft 公式 3.0</vt:lpstr>
      <vt:lpstr>MS_ClipArt_Gallery.2</vt:lpstr>
      <vt:lpstr>Microsoft Word Picture</vt:lpstr>
      <vt:lpstr>PowerPoint 演示文稿</vt:lpstr>
      <vt:lpstr>PowerPoint 演示文稿</vt:lpstr>
      <vt:lpstr>2、转动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fxn</Company>
  <LinksUpToDate>false</LinksUpToDate>
  <CharactersWithSpaces>0</CharactersWithSpaces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胡柯</dc:creator>
  <cp:lastModifiedBy>Alex</cp:lastModifiedBy>
  <cp:revision>468</cp:revision>
  <dcterms:created xsi:type="dcterms:W3CDTF">2002-04-19T13:42:26Z</dcterms:created>
  <dcterms:modified xsi:type="dcterms:W3CDTF">2018-02-23T02:44:22Z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2052-8.1.0.3526</vt:lpwstr>
  </property>
</Properties>
</file>