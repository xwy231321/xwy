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399" r:id="rId2"/>
    <p:sldId id="257" r:id="rId3"/>
    <p:sldId id="275" r:id="rId4"/>
    <p:sldId id="439" r:id="rId5"/>
    <p:sldId id="294" r:id="rId6"/>
    <p:sldId id="436" r:id="rId7"/>
    <p:sldId id="440" r:id="rId8"/>
    <p:sldId id="441" r:id="rId9"/>
    <p:sldId id="297" r:id="rId10"/>
    <p:sldId id="443" r:id="rId11"/>
    <p:sldId id="421" r:id="rId12"/>
    <p:sldId id="299" r:id="rId13"/>
    <p:sldId id="420" r:id="rId14"/>
    <p:sldId id="298" r:id="rId15"/>
    <p:sldId id="442" r:id="rId16"/>
    <p:sldId id="300" r:id="rId17"/>
    <p:sldId id="388" r:id="rId18"/>
    <p:sldId id="389" r:id="rId19"/>
    <p:sldId id="444" r:id="rId20"/>
    <p:sldId id="437" r:id="rId21"/>
    <p:sldId id="390" r:id="rId22"/>
    <p:sldId id="391" r:id="rId23"/>
    <p:sldId id="438" r:id="rId24"/>
    <p:sldId id="344" r:id="rId25"/>
    <p:sldId id="345" r:id="rId26"/>
    <p:sldId id="347" r:id="rId27"/>
    <p:sldId id="348" r:id="rId28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5">
          <p15:clr>
            <a:srgbClr val="A4A3A4"/>
          </p15:clr>
        </p15:guide>
        <p15:guide id="2" pos="14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00"/>
    <a:srgbClr val="FF66FF"/>
    <a:srgbClr val="808000"/>
    <a:srgbClr val="006600"/>
    <a:srgbClr val="FF9900"/>
    <a:srgbClr val="80008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58" autoAdjust="0"/>
    <p:restoredTop sz="90929"/>
  </p:normalViewPr>
  <p:slideViewPr>
    <p:cSldViewPr showGuides="1">
      <p:cViewPr varScale="1">
        <p:scale>
          <a:sx n="65" d="100"/>
          <a:sy n="65" d="100"/>
        </p:scale>
        <p:origin x="196" y="40"/>
      </p:cViewPr>
      <p:guideLst>
        <p:guide orient="horz" pos="1765"/>
        <p:guide pos="14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33" d="100"/>
        <a:sy n="33" d="100"/>
      </p:scale>
      <p:origin x="0" y="0"/>
    </p:cViewPr>
  </p:sorterViewPr>
  <p:gridSpacing cx="45003" cy="45003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88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20151" y="365125"/>
            <a:ext cx="2660651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827709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38919">
            <a:hlinkClick r:id="" action="ppaction://hlinkshowjump?jump=previousslide"/>
          </p:cNvPr>
          <p:cNvSpPr/>
          <p:nvPr userDrawn="1"/>
        </p:nvSpPr>
        <p:spPr>
          <a:xfrm>
            <a:off x="8534400" y="6292850"/>
            <a:ext cx="914400" cy="381000"/>
          </a:xfrm>
          <a:prstGeom prst="rect">
            <a:avLst/>
          </a:prstGeom>
          <a:noFill/>
          <a:ln w="57150">
            <a:noFill/>
          </a:ln>
        </p:spPr>
        <p:txBody>
          <a:bodyPr anchor="t"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7" name="矩形 38920">
            <a:hlinkClick r:id="" action="ppaction://hlinkshowjump?jump=nextslide"/>
          </p:cNvPr>
          <p:cNvSpPr/>
          <p:nvPr userDrawn="1"/>
        </p:nvSpPr>
        <p:spPr>
          <a:xfrm>
            <a:off x="9710738" y="6292850"/>
            <a:ext cx="914400" cy="381000"/>
          </a:xfrm>
          <a:prstGeom prst="rect">
            <a:avLst/>
          </a:prstGeom>
          <a:noFill/>
          <a:ln w="57150">
            <a:noFill/>
          </a:ln>
        </p:spPr>
        <p:txBody>
          <a:bodyPr anchor="t"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矩形 38921">
            <a:hlinkClick r:id="" action="ppaction://hlinkshowjump?jump=firstslide"/>
          </p:cNvPr>
          <p:cNvSpPr/>
          <p:nvPr userDrawn="1"/>
        </p:nvSpPr>
        <p:spPr>
          <a:xfrm>
            <a:off x="10871200" y="6292850"/>
            <a:ext cx="914400" cy="381000"/>
          </a:xfrm>
          <a:prstGeom prst="rect">
            <a:avLst/>
          </a:prstGeom>
          <a:noFill/>
          <a:ln w="57150">
            <a:noFill/>
          </a:ln>
        </p:spPr>
        <p:txBody>
          <a:bodyPr anchor="t"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24" name="标题 38923"/>
          <p:cNvSpPr>
            <a:spLocks noGrp="1"/>
          </p:cNvSpPr>
          <p:nvPr>
            <p:ph type="title"/>
          </p:nvPr>
        </p:nvSpPr>
        <p:spPr>
          <a:xfrm>
            <a:off x="1117600" y="609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b="1" kern="1200">
          <a:solidFill>
            <a:srgbClr val="0000FF"/>
          </a:solidFill>
          <a:effectLst>
            <a:outerShdw blurRad="38100" dist="38100" dir="2700000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7.emf"/><Relationship Id="rId18" Type="http://schemas.openxmlformats.org/officeDocument/2006/relationships/oleObject" Target="../embeddings/oleObject10.bin"/><Relationship Id="rId26" Type="http://schemas.openxmlformats.org/officeDocument/2006/relationships/oleObject" Target="../embeddings/oleObject14.bin"/><Relationship Id="rId3" Type="http://schemas.openxmlformats.org/officeDocument/2006/relationships/image" Target="../media/image2.wmf"/><Relationship Id="rId21" Type="http://schemas.openxmlformats.org/officeDocument/2006/relationships/image" Target="../media/image11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9.emf"/><Relationship Id="rId25" Type="http://schemas.openxmlformats.org/officeDocument/2006/relationships/image" Target="../media/image13.emf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1.bin"/><Relationship Id="rId29" Type="http://schemas.openxmlformats.org/officeDocument/2006/relationships/image" Target="../media/image15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6.emf"/><Relationship Id="rId24" Type="http://schemas.openxmlformats.org/officeDocument/2006/relationships/oleObject" Target="../embeddings/oleObject13.bin"/><Relationship Id="rId5" Type="http://schemas.openxmlformats.org/officeDocument/2006/relationships/image" Target="../media/image3.wmf"/><Relationship Id="rId15" Type="http://schemas.openxmlformats.org/officeDocument/2006/relationships/image" Target="../media/image8.emf"/><Relationship Id="rId23" Type="http://schemas.openxmlformats.org/officeDocument/2006/relationships/image" Target="../media/image12.emf"/><Relationship Id="rId28" Type="http://schemas.openxmlformats.org/officeDocument/2006/relationships/oleObject" Target="../embeddings/oleObject15.bin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0.emf"/><Relationship Id="rId31" Type="http://schemas.openxmlformats.org/officeDocument/2006/relationships/image" Target="../media/image16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8.bin"/><Relationship Id="rId22" Type="http://schemas.openxmlformats.org/officeDocument/2006/relationships/oleObject" Target="../embeddings/oleObject12.bin"/><Relationship Id="rId27" Type="http://schemas.openxmlformats.org/officeDocument/2006/relationships/image" Target="../media/image14.emf"/><Relationship Id="rId30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22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9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41.wmf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36.bin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37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9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48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4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4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WordArt 6"/>
          <p:cNvSpPr>
            <a:spLocks noTextEdit="1"/>
          </p:cNvSpPr>
          <p:nvPr/>
        </p:nvSpPr>
        <p:spPr>
          <a:xfrm>
            <a:off x="3094038" y="1179513"/>
            <a:ext cx="6357937" cy="7985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000" dirty="0">
                <a:ln w="19050" cap="flat" cmpd="sng">
                  <a:solidFill>
                    <a:srgbClr val="99CCFF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6CC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华文新魏" panose="02010800040101010101" charset="-122"/>
                <a:ea typeface="华文新魏" panose="02010800040101010101" charset="-122"/>
              </a:rPr>
              <a:t>第一节  向量组及其线性组合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22650" y="2574925"/>
            <a:ext cx="5186363" cy="58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一、</a:t>
            </a:r>
            <a:r>
              <a:rPr lang="en-US" altLang="zh-CN" sz="3200" b="1" i="1" noProof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3200" noProof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维向量的概念</a:t>
            </a:r>
            <a:endParaRPr lang="zh-CN" altLang="en-US" sz="32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22888" y="3256594"/>
            <a:ext cx="414623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rPr>
              <a:t>二、</a:t>
            </a:r>
            <a:r>
              <a:rPr lang="zh-CN" altLang="en-US" sz="3200" noProof="1">
                <a:latin typeface="+mj-ea"/>
                <a:ea typeface="+mj-ea"/>
                <a:cs typeface="+mn-cs"/>
                <a:sym typeface="+mn-ea"/>
              </a:rPr>
              <a:t>向量组与矩阵</a:t>
            </a:r>
            <a:endParaRPr lang="zh-CN" altLang="en-US" sz="32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22650" y="4002088"/>
            <a:ext cx="5702300" cy="582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noProof="1">
                <a:latin typeface="+mj-ea"/>
                <a:ea typeface="+mj-ea"/>
                <a:cs typeface="+mn-cs"/>
              </a:rPr>
              <a:t>三、</a:t>
            </a:r>
            <a:r>
              <a:rPr lang="zh-CN" altLang="en-US" sz="3200" noProof="1">
                <a:latin typeface="+mj-ea"/>
                <a:ea typeface="+mj-ea"/>
                <a:cs typeface="+mn-cs"/>
                <a:sym typeface="+mn-ea"/>
              </a:rPr>
              <a:t>向量的线性组合</a:t>
            </a:r>
            <a:endParaRPr lang="zh-CN" altLang="en-US" sz="32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22650" y="4784725"/>
            <a:ext cx="4146550" cy="582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noProof="1">
                <a:latin typeface="+mj-ea"/>
                <a:ea typeface="+mj-ea"/>
                <a:cs typeface="+mn-cs"/>
              </a:rPr>
              <a:t>四、</a:t>
            </a:r>
            <a:r>
              <a:rPr lang="zh-CN" altLang="en-US" sz="3200" noProof="1">
                <a:latin typeface="+mj-ea"/>
                <a:ea typeface="+mj-ea"/>
                <a:cs typeface="+mn-cs"/>
                <a:sym typeface="+mn-ea"/>
              </a:rPr>
              <a:t>向量组的等价</a:t>
            </a:r>
            <a:endParaRPr lang="zh-CN" altLang="en-US" sz="32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sym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EE9C36-02AE-4992-AFBA-75504BE05568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A587496-BAC5-46CA-B024-D5579D2E211C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5146" name="标题 5145"/>
          <p:cNvSpPr txBox="1">
            <a:spLocks noGrp="1"/>
          </p:cNvSpPr>
          <p:nvPr>
            <p:ph type="title"/>
          </p:nvPr>
        </p:nvSpPr>
        <p:spPr>
          <a:xfrm>
            <a:off x="1319443" y="124296"/>
            <a:ext cx="7772400" cy="595313"/>
          </a:xfrm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+mj-ea"/>
                <a:cs typeface="+mj-cs"/>
              </a:rPr>
              <a:t>维向量的概念</a:t>
            </a:r>
          </a:p>
        </p:txBody>
      </p:sp>
      <p:sp>
        <p:nvSpPr>
          <p:cNvPr id="3078" name="文本框 4"/>
          <p:cNvSpPr txBox="1"/>
          <p:nvPr/>
        </p:nvSpPr>
        <p:spPr>
          <a:xfrm>
            <a:off x="908050" y="2213919"/>
            <a:ext cx="10279063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zh-CN" sz="28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个有次序的数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aseline="-25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i="1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所组成的数组称为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维向量。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9" name="文本框 5"/>
          <p:cNvSpPr txBox="1"/>
          <p:nvPr/>
        </p:nvSpPr>
        <p:spPr>
          <a:xfrm>
            <a:off x="2460625" y="2736207"/>
            <a:ext cx="8648700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这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个数称为该向量的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分量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坐标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，第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个数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i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i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称为向量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3080" name="文本框 6"/>
          <p:cNvSpPr txBox="1"/>
          <p:nvPr/>
        </p:nvSpPr>
        <p:spPr>
          <a:xfrm>
            <a:off x="1640703" y="4355724"/>
            <a:ext cx="68249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注：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向量的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维数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是指分量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或坐标）的个数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.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81" name="文本框 7"/>
          <p:cNvSpPr txBox="1"/>
          <p:nvPr/>
        </p:nvSpPr>
        <p:spPr>
          <a:xfrm>
            <a:off x="2460625" y="3258494"/>
            <a:ext cx="4044950" cy="5207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的第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i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个分量或第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i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个坐标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.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09CB4F-F81F-4D4E-B6C7-56A3A4073671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EB4BF2-6013-43CF-9A0A-AAA070F73636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/>
      <p:bldP spid="3079" grpId="0"/>
      <p:bldP spid="3080" grpId="0"/>
      <p:bldP spid="30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文本框 30734"/>
          <p:cNvSpPr txBox="1"/>
          <p:nvPr/>
        </p:nvSpPr>
        <p:spPr>
          <a:xfrm>
            <a:off x="1477963" y="1628880"/>
            <a:ext cx="10493375" cy="52324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维向量写成一行，称为</a:t>
            </a:r>
            <a:r>
              <a:rPr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行向量（或行矩阵）</a:t>
            </a:r>
            <a:r>
              <a:rPr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通常用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表示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　　　　　　</a:t>
            </a:r>
          </a:p>
        </p:txBody>
      </p:sp>
      <p:sp>
        <p:nvSpPr>
          <p:cNvPr id="5126" name="文本框 2"/>
          <p:cNvSpPr txBox="1"/>
          <p:nvPr/>
        </p:nvSpPr>
        <p:spPr>
          <a:xfrm>
            <a:off x="4865688" y="2413740"/>
            <a:ext cx="518795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5127" name="文本框 3"/>
          <p:cNvSpPr txBox="1"/>
          <p:nvPr/>
        </p:nvSpPr>
        <p:spPr>
          <a:xfrm>
            <a:off x="1477963" y="3197330"/>
            <a:ext cx="9936162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 dirty="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维向量写成一列，称为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列向量（或</a:t>
            </a:r>
            <a:r>
              <a:rPr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列矩阵）</a:t>
            </a:r>
            <a:r>
              <a:rPr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通常用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sym typeface="+mn-ea"/>
              </a:rPr>
              <a:t>表示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　　　　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499100" y="4968980"/>
            <a:ext cx="1209675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5986463" y="4149830"/>
            <a:ext cx="555625" cy="2259013"/>
            <a:chOff x="4748" y="6327"/>
            <a:chExt cx="874" cy="3557"/>
          </a:xfrm>
        </p:grpSpPr>
        <p:graphicFrame>
          <p:nvGraphicFramePr>
            <p:cNvPr id="4109" name="对象 30735"/>
            <p:cNvGraphicFramePr/>
            <p:nvPr/>
          </p:nvGraphicFramePr>
          <p:xfrm>
            <a:off x="4748" y="6567"/>
            <a:ext cx="874" cy="3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54000" imgH="914400" progId="Equation.3">
                    <p:embed/>
                  </p:oleObj>
                </mc:Choice>
                <mc:Fallback>
                  <p:oleObj r:id="rId2" imgW="254000" imgH="9144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748" y="6567"/>
                          <a:ext cx="874" cy="3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10" name="组合 8"/>
            <p:cNvGrpSpPr/>
            <p:nvPr/>
          </p:nvGrpSpPr>
          <p:grpSpPr>
            <a:xfrm>
              <a:off x="4828" y="6327"/>
              <a:ext cx="775" cy="3399"/>
              <a:chOff x="10485" y="6456"/>
              <a:chExt cx="775" cy="3399"/>
            </a:xfrm>
          </p:grpSpPr>
          <p:sp>
            <p:nvSpPr>
              <p:cNvPr id="4111" name="文本框 6"/>
              <p:cNvSpPr txBox="1"/>
              <p:nvPr/>
            </p:nvSpPr>
            <p:spPr>
              <a:xfrm>
                <a:off x="10510" y="6456"/>
                <a:ext cx="750" cy="33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28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2800" b="1" i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28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800" i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</a:p>
            </p:txBody>
          </p:sp>
          <p:sp>
            <p:nvSpPr>
              <p:cNvPr id="4112" name="文本框 7"/>
              <p:cNvSpPr txBox="1"/>
              <p:nvPr/>
            </p:nvSpPr>
            <p:spPr>
              <a:xfrm rot="5400000">
                <a:off x="10455" y="8271"/>
                <a:ext cx="770" cy="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r>
                  <a:rPr lang="en-US" altLang="zh-CN" b="1" i="1" dirty="0">
                    <a:latin typeface="宋体" panose="02010600030101010101" pitchFamily="2" charset="-122"/>
                    <a:ea typeface="宋体" panose="02010600030101010101" pitchFamily="2" charset="-122"/>
                    <a:sym typeface="宋体" panose="02010600030101010101" pitchFamily="2" charset="-122"/>
                  </a:rPr>
                  <a:t>…</a:t>
                </a:r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1BB2D8BE-2909-4A9C-A759-78125D8CBB67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9BC24A-853F-4732-B3BC-B5313408372A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71C810-9BE4-4036-8F92-D1FE418F6309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18" name="标题 5145">
            <a:extLst>
              <a:ext uri="{FF2B5EF4-FFF2-40B4-BE49-F238E27FC236}">
                <a16:creationId xmlns:a16="http://schemas.microsoft.com/office/drawing/2014/main" id="{AB83D961-6E56-4D29-97F0-2A4EB5E08A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9443" y="124296"/>
            <a:ext cx="7772400" cy="595313"/>
          </a:xfrm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+mj-ea"/>
                <a:cs typeface="+mj-cs"/>
              </a:rPr>
              <a:t>维向量的概念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6" grpId="0"/>
      <p:bldP spid="5127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99260" y="1417032"/>
            <a:ext cx="8176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向量与矩阵的区别和联系：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95700" y="2328574"/>
            <a:ext cx="8176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zh-CN" altLang="en-US" sz="2800" b="1" dirty="0"/>
              <a:t>向量是特殊的矩阵。向量仅包括行向量和列向量。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99259" y="3037140"/>
            <a:ext cx="8176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zh-CN" altLang="en-US" sz="2800" b="1" dirty="0"/>
              <a:t>矩阵用阶数来表示，向量用维数来表示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99260" y="3762087"/>
            <a:ext cx="98761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zh-CN" altLang="en-US" sz="2800" b="1" dirty="0"/>
              <a:t>矩阵是向量的推广，矩阵由一组行向量或一组列向量构成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74F1CA-4774-4706-AA06-B18950C7E8C9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3CC04C-104F-48CF-B975-651FB2D317E0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A92F7A-B432-4EF8-9987-8760F02AB386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12" name="标题 5145">
            <a:extLst>
              <a:ext uri="{FF2B5EF4-FFF2-40B4-BE49-F238E27FC236}">
                <a16:creationId xmlns:a16="http://schemas.microsoft.com/office/drawing/2014/main" id="{83F7A544-4117-48A3-AC3A-361098541FAD}"/>
              </a:ext>
            </a:extLst>
          </p:cNvPr>
          <p:cNvSpPr txBox="1">
            <a:spLocks/>
          </p:cNvSpPr>
          <p:nvPr/>
        </p:nvSpPr>
        <p:spPr>
          <a:xfrm>
            <a:off x="1319443" y="124296"/>
            <a:ext cx="7772400" cy="5953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3200" i="1" noProof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noProof="1">
                <a:solidFill>
                  <a:schemeClr val="tx1"/>
                </a:solidFill>
                <a:effectLst/>
                <a:latin typeface="黑体" panose="02010609060101010101" pitchFamily="49" charset="-122"/>
              </a:rPr>
              <a:t>维向量的概念</a:t>
            </a:r>
          </a:p>
        </p:txBody>
      </p:sp>
    </p:spTree>
    <p:extLst>
      <p:ext uri="{BB962C8B-B14F-4D97-AF65-F5344CB8AC3E}">
        <p14:creationId xmlns:p14="http://schemas.microsoft.com/office/powerpoint/2010/main" val="338505116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C7938636-7EA7-4223-A277-84BCF091CEC3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3073" name="文本框 2051"/>
          <p:cNvSpPr txBox="1"/>
          <p:nvPr/>
        </p:nvSpPr>
        <p:spPr>
          <a:xfrm>
            <a:off x="889000" y="1244600"/>
            <a:ext cx="10363200" cy="11245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noProof="1">
                <a:solidFill>
                  <a:schemeClr val="accent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</a:t>
            </a:r>
            <a:r>
              <a:rPr lang="zh-CN" altLang="en-US" sz="2800" b="1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向量组的定义：</a:t>
            </a:r>
            <a:r>
              <a:rPr lang="en-US" altLang="zh-CN" sz="2800" noProof="1">
                <a:solidFill>
                  <a:schemeClr val="accent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lang="zh-CN" altLang="en-US" sz="2800" b="1" noProof="1">
                <a:solidFill>
                  <a:schemeClr val="accent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若干个</a:t>
            </a:r>
            <a:r>
              <a:rPr lang="zh-CN" altLang="en-US" sz="2800" b="1" noProof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同维数</a:t>
            </a:r>
            <a:r>
              <a:rPr lang="zh-CN" altLang="en-US" sz="2800" b="1" noProof="1">
                <a:solidFill>
                  <a:schemeClr val="accent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</a:t>
            </a:r>
            <a:r>
              <a:rPr lang="zh-CN" altLang="en-US" sz="2800" b="1" noProof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列向量</a:t>
            </a:r>
            <a:r>
              <a:rPr lang="zh-CN" altLang="en-US" sz="2800" b="1" noProof="1">
                <a:solidFill>
                  <a:schemeClr val="accent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（或</a:t>
            </a:r>
            <a:r>
              <a:rPr lang="zh-CN" altLang="en-US" sz="2800" b="1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同维数</a:t>
            </a:r>
            <a:r>
              <a:rPr lang="zh-CN" altLang="en-US" sz="2800" b="1" noProof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</a:t>
            </a:r>
            <a:r>
              <a:rPr lang="zh-CN" altLang="en-US" sz="2800" b="1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行向量</a:t>
            </a:r>
            <a:r>
              <a:rPr lang="zh-CN" altLang="en-US" sz="2800" b="1" noProof="1">
                <a:solidFill>
                  <a:schemeClr val="accent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）所组成的</a:t>
            </a:r>
            <a:r>
              <a:rPr lang="zh-CN" altLang="en-US" sz="2800" b="1" u="sng" noProof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集合</a:t>
            </a:r>
            <a:r>
              <a:rPr lang="zh-CN" altLang="en-US" sz="2800" b="1" noProof="1">
                <a:solidFill>
                  <a:schemeClr val="accent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叫做向量组．</a:t>
            </a:r>
            <a:endParaRPr lang="zh-CN" altLang="en-US" sz="2800" b="1" noProof="1">
              <a:solidFill>
                <a:schemeClr val="accent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6" name="文本框 2061"/>
          <p:cNvSpPr txBox="1"/>
          <p:nvPr/>
        </p:nvSpPr>
        <p:spPr>
          <a:xfrm>
            <a:off x="1349375" y="2449513"/>
            <a:ext cx="898525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例如</a:t>
            </a:r>
          </a:p>
        </p:txBody>
      </p:sp>
      <p:graphicFrame>
        <p:nvGraphicFramePr>
          <p:cNvPr id="6148" name="对象 2063"/>
          <p:cNvGraphicFramePr/>
          <p:nvPr/>
        </p:nvGraphicFramePr>
        <p:xfrm>
          <a:off x="3390900" y="2787650"/>
          <a:ext cx="52197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219700" imgH="2082800" progId="Equation.3">
                  <p:embed/>
                </p:oleObj>
              </mc:Choice>
              <mc:Fallback>
                <p:oleObj r:id="rId2" imgW="5219700" imgH="20828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90900" y="2787650"/>
                        <a:ext cx="5219700" cy="208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2" name="组合 2118"/>
          <p:cNvGrpSpPr/>
          <p:nvPr/>
        </p:nvGrpSpPr>
        <p:grpSpPr>
          <a:xfrm>
            <a:off x="1295400" y="5245100"/>
            <a:ext cx="6527800" cy="457200"/>
            <a:chOff x="1036" y="3444"/>
            <a:chExt cx="4112" cy="288"/>
          </a:xfrm>
        </p:grpSpPr>
        <p:graphicFrame>
          <p:nvGraphicFramePr>
            <p:cNvPr id="5126" name="对象 2072"/>
            <p:cNvGraphicFramePr/>
            <p:nvPr/>
          </p:nvGraphicFramePr>
          <p:xfrm>
            <a:off x="1036" y="3476"/>
            <a:ext cx="411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6522085" imgH="405765" progId="Equation.3">
                    <p:embed/>
                  </p:oleObj>
                </mc:Choice>
                <mc:Fallback>
                  <p:oleObj r:id="rId4" imgW="6522085" imgH="405765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36" y="3476"/>
                          <a:ext cx="4112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7" name="对象 2074"/>
            <p:cNvGraphicFramePr/>
            <p:nvPr/>
          </p:nvGraphicFramePr>
          <p:xfrm>
            <a:off x="1720" y="3444"/>
            <a:ext cx="20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79705" imgH="220345" progId="Equation.3">
                    <p:embed/>
                  </p:oleObj>
                </mc:Choice>
                <mc:Fallback>
                  <p:oleObj r:id="rId6" imgW="179705" imgH="220345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20" y="3444"/>
                          <a:ext cx="200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8" name="对象 2075"/>
            <p:cNvGraphicFramePr/>
            <p:nvPr/>
          </p:nvGraphicFramePr>
          <p:xfrm>
            <a:off x="1992" y="3444"/>
            <a:ext cx="216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96215" imgH="220345" progId="Equation.3">
                    <p:embed/>
                  </p:oleObj>
                </mc:Choice>
                <mc:Fallback>
                  <p:oleObj r:id="rId8" imgW="196215" imgH="220345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92" y="3444"/>
                          <a:ext cx="216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9" name="对象 2076"/>
            <p:cNvGraphicFramePr/>
            <p:nvPr/>
          </p:nvGraphicFramePr>
          <p:xfrm>
            <a:off x="2632" y="3444"/>
            <a:ext cx="22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03835" imgH="220345" progId="Equation.3">
                    <p:embed/>
                  </p:oleObj>
                </mc:Choice>
                <mc:Fallback>
                  <p:oleObj r:id="rId10" imgW="203835" imgH="220345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32" y="3444"/>
                          <a:ext cx="224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68" name="组合 2105"/>
          <p:cNvGrpSpPr/>
          <p:nvPr/>
        </p:nvGrpSpPr>
        <p:grpSpPr>
          <a:xfrm>
            <a:off x="4191000" y="2419350"/>
            <a:ext cx="571500" cy="2387600"/>
            <a:chOff x="1740" y="1796"/>
            <a:chExt cx="360" cy="1504"/>
          </a:xfrm>
        </p:grpSpPr>
        <p:graphicFrame>
          <p:nvGraphicFramePr>
            <p:cNvPr id="5131" name="对象 2106"/>
            <p:cNvGraphicFramePr/>
            <p:nvPr/>
          </p:nvGraphicFramePr>
          <p:xfrm>
            <a:off x="1816" y="1796"/>
            <a:ext cx="20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79705" imgH="220345" progId="Equation.3">
                    <p:embed/>
                  </p:oleObj>
                </mc:Choice>
                <mc:Fallback>
                  <p:oleObj r:id="rId12" imgW="179705" imgH="220345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16" y="1796"/>
                          <a:ext cx="200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2" name="矩形 2107"/>
            <p:cNvSpPr/>
            <p:nvPr/>
          </p:nvSpPr>
          <p:spPr>
            <a:xfrm>
              <a:off x="1740" y="2064"/>
              <a:ext cx="360" cy="1236"/>
            </a:xfrm>
            <a:prstGeom prst="rect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171" name="组合 2108"/>
          <p:cNvGrpSpPr/>
          <p:nvPr/>
        </p:nvGrpSpPr>
        <p:grpSpPr>
          <a:xfrm>
            <a:off x="5064125" y="2419350"/>
            <a:ext cx="571500" cy="2387600"/>
            <a:chOff x="2268" y="1796"/>
            <a:chExt cx="360" cy="1504"/>
          </a:xfrm>
        </p:grpSpPr>
        <p:graphicFrame>
          <p:nvGraphicFramePr>
            <p:cNvPr id="5134" name="对象 2109"/>
            <p:cNvGraphicFramePr/>
            <p:nvPr/>
          </p:nvGraphicFramePr>
          <p:xfrm>
            <a:off x="2336" y="1796"/>
            <a:ext cx="216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96215" imgH="220345" progId="Equation.3">
                    <p:embed/>
                  </p:oleObj>
                </mc:Choice>
                <mc:Fallback>
                  <p:oleObj r:id="rId14" imgW="196215" imgH="220345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36" y="1796"/>
                          <a:ext cx="216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5" name="矩形 2110"/>
            <p:cNvSpPr/>
            <p:nvPr/>
          </p:nvSpPr>
          <p:spPr>
            <a:xfrm>
              <a:off x="2268" y="2064"/>
              <a:ext cx="360" cy="1236"/>
            </a:xfrm>
            <a:prstGeom prst="rect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174" name="组合 2111"/>
          <p:cNvGrpSpPr/>
          <p:nvPr/>
        </p:nvGrpSpPr>
        <p:grpSpPr>
          <a:xfrm>
            <a:off x="6429375" y="2425700"/>
            <a:ext cx="571500" cy="2413000"/>
            <a:chOff x="3156" y="1780"/>
            <a:chExt cx="360" cy="1520"/>
          </a:xfrm>
        </p:grpSpPr>
        <p:graphicFrame>
          <p:nvGraphicFramePr>
            <p:cNvPr id="5137" name="对象 2112"/>
            <p:cNvGraphicFramePr/>
            <p:nvPr/>
          </p:nvGraphicFramePr>
          <p:xfrm>
            <a:off x="3224" y="1780"/>
            <a:ext cx="21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96215" imgH="253365" progId="Equation.3">
                    <p:embed/>
                  </p:oleObj>
                </mc:Choice>
                <mc:Fallback>
                  <p:oleObj r:id="rId16" imgW="196215" imgH="253365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24" y="1780"/>
                          <a:ext cx="216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8" name="矩形 2113"/>
            <p:cNvSpPr/>
            <p:nvPr/>
          </p:nvSpPr>
          <p:spPr>
            <a:xfrm>
              <a:off x="3156" y="2064"/>
              <a:ext cx="360" cy="1236"/>
            </a:xfrm>
            <a:prstGeom prst="rect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177" name="组合 2114"/>
          <p:cNvGrpSpPr/>
          <p:nvPr/>
        </p:nvGrpSpPr>
        <p:grpSpPr>
          <a:xfrm>
            <a:off x="7918450" y="2451100"/>
            <a:ext cx="571500" cy="2387600"/>
            <a:chOff x="4056" y="1796"/>
            <a:chExt cx="360" cy="1504"/>
          </a:xfrm>
        </p:grpSpPr>
        <p:graphicFrame>
          <p:nvGraphicFramePr>
            <p:cNvPr id="5140" name="对象 2115"/>
            <p:cNvGraphicFramePr/>
            <p:nvPr/>
          </p:nvGraphicFramePr>
          <p:xfrm>
            <a:off x="4108" y="1796"/>
            <a:ext cx="22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03835" imgH="220345" progId="Equation.3">
                    <p:embed/>
                  </p:oleObj>
                </mc:Choice>
                <mc:Fallback>
                  <p:oleObj r:id="rId18" imgW="203835" imgH="220345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08" y="1796"/>
                          <a:ext cx="224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1" name="矩形 2116"/>
            <p:cNvSpPr/>
            <p:nvPr/>
          </p:nvSpPr>
          <p:spPr>
            <a:xfrm>
              <a:off x="4056" y="2064"/>
              <a:ext cx="360" cy="1236"/>
            </a:xfrm>
            <a:prstGeom prst="rect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标题 5145"/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向量组的概念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23200" y="5238115"/>
            <a:ext cx="3816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且有</a:t>
            </a:r>
            <a:r>
              <a:rPr lang="en-US" altLang="zh-CN" sz="2800" b="1"/>
              <a:t>n</a:t>
            </a:r>
            <a:r>
              <a:rPr lang="zh-CN" altLang="en-US" sz="2800" b="1"/>
              <a:t>个</a:t>
            </a:r>
            <a:r>
              <a:rPr lang="en-US" altLang="zh-CN" sz="2800" b="1"/>
              <a:t>m</a:t>
            </a:r>
            <a:r>
              <a:rPr lang="zh-CN" altLang="en-US" sz="2800" b="1"/>
              <a:t>维的列向量</a:t>
            </a:r>
          </a:p>
        </p:txBody>
      </p:sp>
      <p:sp>
        <p:nvSpPr>
          <p:cNvPr id="10" name="矩形 38922"/>
          <p:cNvSpPr/>
          <p:nvPr/>
        </p:nvSpPr>
        <p:spPr>
          <a:xfrm>
            <a:off x="4076700" y="2819400"/>
            <a:ext cx="4465320" cy="5334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4" name="对象 38918"/>
          <p:cNvGraphicFramePr/>
          <p:nvPr/>
        </p:nvGraphicFramePr>
        <p:xfrm>
          <a:off x="8680450" y="2863533"/>
          <a:ext cx="419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253365" imgH="277495" progId="Equation.3">
                  <p:embed/>
                </p:oleObj>
              </mc:Choice>
              <mc:Fallback>
                <p:oleObj r:id="rId20" imgW="253365" imgH="277495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680450" y="2863533"/>
                        <a:ext cx="4191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4" name="组合 38950"/>
          <p:cNvGrpSpPr/>
          <p:nvPr/>
        </p:nvGrpSpPr>
        <p:grpSpPr>
          <a:xfrm>
            <a:off x="4116705" y="3452813"/>
            <a:ext cx="4951413" cy="561975"/>
            <a:chOff x="1428" y="1428"/>
            <a:chExt cx="3119" cy="354"/>
          </a:xfrm>
        </p:grpSpPr>
        <p:graphicFrame>
          <p:nvGraphicFramePr>
            <p:cNvPr id="6151" name="对象 38919"/>
            <p:cNvGraphicFramePr/>
            <p:nvPr/>
          </p:nvGraphicFramePr>
          <p:xfrm>
            <a:off x="4283" y="1465"/>
            <a:ext cx="26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53365" imgH="277495" progId="Equation.3">
                    <p:embed/>
                  </p:oleObj>
                </mc:Choice>
                <mc:Fallback>
                  <p:oleObj r:id="rId22" imgW="253365" imgH="277495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3" y="1465"/>
                          <a:ext cx="264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38923"/>
            <p:cNvSpPr/>
            <p:nvPr/>
          </p:nvSpPr>
          <p:spPr>
            <a:xfrm>
              <a:off x="1428" y="1428"/>
              <a:ext cx="2788" cy="354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80" name="组合 38952"/>
          <p:cNvGrpSpPr/>
          <p:nvPr/>
        </p:nvGrpSpPr>
        <p:grpSpPr>
          <a:xfrm>
            <a:off x="4116070" y="4363085"/>
            <a:ext cx="4951730" cy="568325"/>
            <a:chOff x="1428" y="2714"/>
            <a:chExt cx="3072" cy="358"/>
          </a:xfrm>
        </p:grpSpPr>
        <p:graphicFrame>
          <p:nvGraphicFramePr>
            <p:cNvPr id="6157" name="对象 38921"/>
            <p:cNvGraphicFramePr/>
            <p:nvPr/>
          </p:nvGraphicFramePr>
          <p:xfrm>
            <a:off x="4212" y="2714"/>
            <a:ext cx="28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277495" imgH="277495" progId="Equation.3">
                    <p:embed/>
                  </p:oleObj>
                </mc:Choice>
                <mc:Fallback>
                  <p:oleObj r:id="rId24" imgW="277495" imgH="277495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12" y="2714"/>
                          <a:ext cx="288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8" name="矩形 38925"/>
            <p:cNvSpPr/>
            <p:nvPr/>
          </p:nvSpPr>
          <p:spPr>
            <a:xfrm>
              <a:off x="1428" y="2736"/>
              <a:ext cx="2741" cy="336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92" name="组合 38954"/>
          <p:cNvGrpSpPr/>
          <p:nvPr/>
        </p:nvGrpSpPr>
        <p:grpSpPr>
          <a:xfrm>
            <a:off x="1107123" y="5886768"/>
            <a:ext cx="7219950" cy="531812"/>
            <a:chOff x="672" y="3278"/>
            <a:chExt cx="4548" cy="335"/>
          </a:xfrm>
        </p:grpSpPr>
        <p:sp>
          <p:nvSpPr>
            <p:cNvPr id="6160" name="文本框 38943"/>
            <p:cNvSpPr txBox="1"/>
            <p:nvPr/>
          </p:nvSpPr>
          <p:spPr>
            <a:xfrm>
              <a:off x="672" y="3284"/>
              <a:ext cx="454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向量组     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      , ...,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称为矩阵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的行向量组．</a:t>
              </a:r>
            </a:p>
          </p:txBody>
        </p:sp>
        <p:graphicFrame>
          <p:nvGraphicFramePr>
            <p:cNvPr id="6161" name="对象 38944"/>
            <p:cNvGraphicFramePr/>
            <p:nvPr/>
          </p:nvGraphicFramePr>
          <p:xfrm>
            <a:off x="1490" y="3278"/>
            <a:ext cx="26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253365" imgH="277495" progId="Equation.3">
                    <p:embed/>
                  </p:oleObj>
                </mc:Choice>
                <mc:Fallback>
                  <p:oleObj r:id="rId26" imgW="253365" imgH="277495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90" y="3278"/>
                          <a:ext cx="264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2" name="对象 38945"/>
            <p:cNvGraphicFramePr/>
            <p:nvPr/>
          </p:nvGraphicFramePr>
          <p:xfrm>
            <a:off x="1846" y="3284"/>
            <a:ext cx="26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253365" imgH="277495" progId="Equation.3">
                    <p:embed/>
                  </p:oleObj>
                </mc:Choice>
                <mc:Fallback>
                  <p:oleObj r:id="rId28" imgW="253365" imgH="277495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29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46" y="3284"/>
                          <a:ext cx="264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3" name="对象 38946"/>
            <p:cNvGraphicFramePr/>
            <p:nvPr/>
          </p:nvGraphicFramePr>
          <p:xfrm>
            <a:off x="2486" y="3284"/>
            <a:ext cx="28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0" imgW="277495" imgH="277495" progId="Equation.3">
                    <p:embed/>
                  </p:oleObj>
                </mc:Choice>
                <mc:Fallback>
                  <p:oleObj r:id="rId30" imgW="277495" imgH="277495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86" y="3284"/>
                          <a:ext cx="288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16"/>
          <p:cNvSpPr txBox="1"/>
          <p:nvPr/>
        </p:nvSpPr>
        <p:spPr>
          <a:xfrm>
            <a:off x="8001000" y="5819140"/>
            <a:ext cx="3816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且有</a:t>
            </a:r>
            <a:r>
              <a:rPr lang="en-US" altLang="zh-CN" sz="2800" b="1"/>
              <a:t>m</a:t>
            </a:r>
            <a:r>
              <a:rPr lang="zh-CN" altLang="en-US" sz="2800" b="1"/>
              <a:t>个</a:t>
            </a:r>
            <a:r>
              <a:rPr lang="en-US" altLang="zh-CN" sz="2800" b="1"/>
              <a:t>n</a:t>
            </a:r>
            <a:r>
              <a:rPr lang="zh-CN" altLang="en-US" sz="2800" b="1"/>
              <a:t>维的行向量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266EC4B-49C0-42EC-B2D6-8B253D1FFEFC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2C03A0F-4322-4AE4-8F23-C6C14D5B9BA6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" grpId="0"/>
      <p:bldP spid="6146" grpId="0"/>
      <p:bldP spid="5" grpId="0"/>
      <p:bldP spid="10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31290" y="1943901"/>
            <a:ext cx="85794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向量组与矩阵之间的区别和联系：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31290" y="2943391"/>
            <a:ext cx="928306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区别</a:t>
            </a:r>
            <a:r>
              <a:rPr lang="zh-CN" altLang="en-US" sz="2800" b="1"/>
              <a:t>：</a:t>
            </a:r>
            <a:r>
              <a:rPr lang="zh-CN" altLang="en-US" sz="2800" b="1">
                <a:solidFill>
                  <a:srgbClr val="0000FF"/>
                </a:solidFill>
              </a:rPr>
              <a:t>向量组</a:t>
            </a:r>
            <a:r>
              <a:rPr lang="zh-CN" altLang="en-US" sz="2800" b="1"/>
              <a:t>是若干个同维数的行向量（或者列向量）所组成的</a:t>
            </a:r>
            <a:r>
              <a:rPr lang="zh-CN" altLang="en-US" sz="2800" b="1">
                <a:solidFill>
                  <a:srgbClr val="0000FF"/>
                </a:solidFill>
              </a:rPr>
              <a:t>集合</a:t>
            </a:r>
            <a:r>
              <a:rPr lang="zh-CN" altLang="en-US" sz="2800" b="1"/>
              <a:t>。</a:t>
            </a:r>
            <a:r>
              <a:rPr lang="zh-CN" altLang="en-US" sz="2800" b="1">
                <a:solidFill>
                  <a:srgbClr val="0000FF"/>
                </a:solidFill>
              </a:rPr>
              <a:t>矩阵</a:t>
            </a:r>
            <a:r>
              <a:rPr lang="zh-CN" altLang="en-US" sz="2800" b="1"/>
              <a:t>是</a:t>
            </a:r>
            <a:r>
              <a:rPr lang="en-US" altLang="zh-CN" sz="2800" b="1"/>
              <a:t>m*n</a:t>
            </a:r>
            <a:r>
              <a:rPr lang="zh-CN" altLang="en-US" sz="2800" b="1"/>
              <a:t>个数排成</a:t>
            </a:r>
            <a:r>
              <a:rPr lang="en-US" altLang="zh-CN" sz="2800" b="1"/>
              <a:t>m</a:t>
            </a:r>
            <a:r>
              <a:rPr lang="zh-CN" altLang="en-US" sz="2800" b="1"/>
              <a:t>行</a:t>
            </a:r>
            <a:r>
              <a:rPr lang="en-US" altLang="zh-CN" sz="2800" b="1"/>
              <a:t>n</a:t>
            </a:r>
            <a:r>
              <a:rPr lang="zh-CN" altLang="en-US" sz="2800" b="1"/>
              <a:t>列的</a:t>
            </a:r>
            <a:r>
              <a:rPr lang="zh-CN" altLang="en-US" sz="2800" b="1">
                <a:solidFill>
                  <a:srgbClr val="0000FF"/>
                </a:solidFill>
              </a:rPr>
              <a:t>数表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54785" y="4278796"/>
            <a:ext cx="92830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联系：矩阵由向量组构成，</a:t>
            </a:r>
            <a:r>
              <a:rPr lang="zh-CN" altLang="en-US" sz="2800" b="1">
                <a:solidFill>
                  <a:schemeClr val="tx1"/>
                </a:solidFill>
                <a:sym typeface="+mn-ea"/>
              </a:rPr>
              <a:t>有序向量组与矩阵</a:t>
            </a:r>
            <a:r>
              <a:rPr lang="zh-CN" altLang="en-US" sz="2800" b="1">
                <a:solidFill>
                  <a:srgbClr val="0000FF"/>
                </a:solidFill>
                <a:sym typeface="+mn-ea"/>
              </a:rPr>
              <a:t>一一对应。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AA9E72-1501-464C-947C-00063C88E368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8" name="标题 5145">
            <a:extLst>
              <a:ext uri="{FF2B5EF4-FFF2-40B4-BE49-F238E27FC236}">
                <a16:creationId xmlns:a16="http://schemas.microsoft.com/office/drawing/2014/main" id="{3748BC35-C855-4FCE-887F-BF45FD0F1A63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向量组与矩阵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6461E3-BBF1-4CD5-BBAF-6F39A6E9139F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E1EDD6-6082-4457-B9E7-4845749609E5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58B7EB1-BDF2-4903-AFB6-D178826B06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863239"/>
              </p:ext>
            </p:extLst>
          </p:nvPr>
        </p:nvGraphicFramePr>
        <p:xfrm>
          <a:off x="2000535" y="354884"/>
          <a:ext cx="3600450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92300" imgH="939800" progId="Equation.DSMT4">
                  <p:embed/>
                </p:oleObj>
              </mc:Choice>
              <mc:Fallback>
                <p:oleObj r:id="rId2" imgW="1892300" imgH="9398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5CC81D0C-0172-43BE-9B00-2993F2FF18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535" y="354884"/>
                        <a:ext cx="3600450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9EF76E71-9235-40AE-88C5-2B611DF177CB}"/>
              </a:ext>
            </a:extLst>
          </p:cNvPr>
          <p:cNvSpPr txBox="1"/>
          <p:nvPr/>
        </p:nvSpPr>
        <p:spPr>
          <a:xfrm>
            <a:off x="245610" y="3784943"/>
            <a:ext cx="143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矩阵形式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F4CEDA-01DD-42EC-B317-D640B02B66A5}"/>
              </a:ext>
            </a:extLst>
          </p:cNvPr>
          <p:cNvSpPr txBox="1"/>
          <p:nvPr/>
        </p:nvSpPr>
        <p:spPr>
          <a:xfrm>
            <a:off x="263487" y="1017813"/>
            <a:ext cx="143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代数形式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465EFA6-0148-4456-AFDD-7473571B9F3B}"/>
              </a:ext>
            </a:extLst>
          </p:cNvPr>
          <p:cNvGrpSpPr/>
          <p:nvPr/>
        </p:nvGrpSpPr>
        <p:grpSpPr>
          <a:xfrm>
            <a:off x="2205322" y="3132479"/>
            <a:ext cx="3190875" cy="1304927"/>
            <a:chOff x="4655904" y="1420147"/>
            <a:chExt cx="3190875" cy="1304927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298501F2-38AF-49CC-A86B-78BA04896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5904" y="1420149"/>
              <a:ext cx="1857375" cy="1304925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ACED72B3-25C7-4FAC-B0C0-B49BF2CBB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3279" y="1420148"/>
              <a:ext cx="552450" cy="1304925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907D121D-AE35-4BF5-8B39-54F00A486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5729" y="1420147"/>
              <a:ext cx="781050" cy="1304926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B2694BD1-D076-4C71-83E5-193C76E19BC6}"/>
              </a:ext>
            </a:extLst>
          </p:cNvPr>
          <p:cNvSpPr txBox="1"/>
          <p:nvPr/>
        </p:nvSpPr>
        <p:spPr>
          <a:xfrm>
            <a:off x="245611" y="5677051"/>
            <a:ext cx="143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向量形式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1CD2208-E60C-40B9-BF4E-683A30A9319B}"/>
                  </a:ext>
                </a:extLst>
              </p:cNvPr>
              <p:cNvSpPr txBox="1"/>
              <p:nvPr/>
            </p:nvSpPr>
            <p:spPr>
              <a:xfrm>
                <a:off x="1685447" y="5135555"/>
                <a:ext cx="7425495" cy="1471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：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：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+…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：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：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1CD2208-E60C-40B9-BF4E-683A30A93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447" y="5135555"/>
                <a:ext cx="7425495" cy="14719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4BBABF1-C1A6-4261-9EF1-C245216F4082}"/>
                  </a:ext>
                </a:extLst>
              </p:cNvPr>
              <p:cNvSpPr txBox="1"/>
              <p:nvPr/>
            </p:nvSpPr>
            <p:spPr>
              <a:xfrm>
                <a:off x="7761111" y="5666534"/>
                <a:ext cx="46307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+…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4BBABF1-C1A6-4261-9EF1-C245216F4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111" y="5666534"/>
                <a:ext cx="4630722" cy="461665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D169256B-35EE-431D-B5B9-EBA20297D9F7}"/>
              </a:ext>
            </a:extLst>
          </p:cNvPr>
          <p:cNvSpPr txBox="1"/>
          <p:nvPr/>
        </p:nvSpPr>
        <p:spPr>
          <a:xfrm>
            <a:off x="8481159" y="3346595"/>
            <a:ext cx="1890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A</a:t>
            </a:r>
            <a:r>
              <a:rPr lang="en-US" altLang="zh-CN" sz="3200" b="1" i="1" dirty="0"/>
              <a:t>x</a:t>
            </a:r>
            <a:r>
              <a:rPr lang="en-US" altLang="zh-CN" sz="3200" dirty="0"/>
              <a:t>=</a:t>
            </a:r>
            <a:r>
              <a:rPr lang="en-US" altLang="zh-CN" sz="3200" b="1" i="1" dirty="0"/>
              <a:t>b</a:t>
            </a:r>
            <a:endParaRPr lang="zh-CN" altLang="en-US" sz="3200" b="1" i="1" dirty="0"/>
          </a:p>
        </p:txBody>
      </p:sp>
    </p:spTree>
    <p:extLst>
      <p:ext uri="{BB962C8B-B14F-4D97-AF65-F5344CB8AC3E}">
        <p14:creationId xmlns:p14="http://schemas.microsoft.com/office/powerpoint/2010/main" val="316899896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0" grpId="0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8C170A8-1F5F-4D36-B6AE-541DB0B6D94C}"/>
                  </a:ext>
                </a:extLst>
              </p:cNvPr>
              <p:cNvSpPr txBox="1"/>
              <p:nvPr/>
            </p:nvSpPr>
            <p:spPr>
              <a:xfrm>
                <a:off x="3575832" y="1268856"/>
                <a:ext cx="4230282" cy="1271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8C170A8-1F5F-4D36-B6AE-541DB0B6D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832" y="1268856"/>
                <a:ext cx="4230282" cy="12714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DFB5D383-69B2-453C-A722-8960C038155D}"/>
              </a:ext>
            </a:extLst>
          </p:cNvPr>
          <p:cNvSpPr txBox="1"/>
          <p:nvPr/>
        </p:nvSpPr>
        <p:spPr>
          <a:xfrm>
            <a:off x="1955724" y="3416834"/>
            <a:ext cx="9540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把该方程组的矩阵形式和向量形式分别写粗来</a:t>
            </a:r>
          </a:p>
        </p:txBody>
      </p:sp>
    </p:spTree>
    <p:extLst>
      <p:ext uri="{BB962C8B-B14F-4D97-AF65-F5344CB8AC3E}">
        <p14:creationId xmlns:p14="http://schemas.microsoft.com/office/powerpoint/2010/main" val="3865995558"/>
      </p:ext>
    </p:extLst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87463" y="1385543"/>
            <a:ext cx="10104437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1.2 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给定向量组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A: 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及向量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zh-CN" altLang="en-US" sz="2800" b="1" u="sng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存在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 sz="2800" b="1" i="1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1907830"/>
            <a:ext cx="194310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使得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701925" y="2430118"/>
            <a:ext cx="543877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b=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n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5800" y="2952405"/>
            <a:ext cx="107061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则称向量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能由向量组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线性表示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77255" y="2952405"/>
            <a:ext cx="60071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称数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为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表示系数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或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组合系数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93370" y="1178850"/>
            <a:ext cx="11656060" cy="239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8455" y="3732185"/>
            <a:ext cx="11610975" cy="2802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227" name="对象 -21474825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109868"/>
              </p:ext>
            </p:extLst>
          </p:nvPr>
        </p:nvGraphicFramePr>
        <p:xfrm>
          <a:off x="1537653" y="4208118"/>
          <a:ext cx="3697287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602230" imgH="711200" progId="Equation.3">
                  <p:embed/>
                </p:oleObj>
              </mc:Choice>
              <mc:Fallback>
                <p:oleObj r:id="rId3" imgW="2602230" imgH="7112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7653" y="4208118"/>
                        <a:ext cx="3697287" cy="1260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302895" y="5513360"/>
            <a:ext cx="66941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sym typeface="+mn-ea"/>
              </a:rPr>
              <a:t>设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k</a:t>
            </a:r>
            <a:r>
              <a:rPr lang="en-US" altLang="zh-CN" b="1" baseline="-25000">
                <a:solidFill>
                  <a:srgbClr val="0000FF"/>
                </a:solidFill>
                <a:sym typeface="+mn-ea"/>
              </a:rPr>
              <a:t>1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1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+k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2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+k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3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3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=</a:t>
            </a:r>
            <a:r>
              <a:rPr lang="en-US" altLang="zh-CN" b="1" i="1">
                <a:solidFill>
                  <a:srgbClr val="0000FF"/>
                </a:solidFill>
                <a:sym typeface="宋体" panose="02010600030101010101" pitchFamily="2" charset="-122"/>
              </a:rPr>
              <a:t>b,</a:t>
            </a:r>
            <a:r>
              <a:rPr lang="zh-CN" altLang="en-US" b="1">
                <a:solidFill>
                  <a:srgbClr val="0000FF"/>
                </a:solidFill>
                <a:sym typeface="宋体" panose="02010600030101010101" pitchFamily="2" charset="-122"/>
              </a:rPr>
              <a:t>解得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：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k</a:t>
            </a:r>
            <a:r>
              <a:rPr lang="en-US" altLang="zh-CN" b="1" baseline="-25000">
                <a:solidFill>
                  <a:srgbClr val="0000FF"/>
                </a:solidFill>
                <a:sym typeface="+mn-ea"/>
              </a:rPr>
              <a:t>1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=2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，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k</a:t>
            </a:r>
            <a:r>
              <a:rPr lang="en-US" altLang="zh-CN" b="1" baseline="-25000">
                <a:solidFill>
                  <a:srgbClr val="0000FF"/>
                </a:solidFill>
                <a:sym typeface="+mn-ea"/>
              </a:rPr>
              <a:t>2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=3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，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k</a:t>
            </a:r>
            <a:r>
              <a:rPr lang="en-US" altLang="zh-CN" b="1" baseline="-25000">
                <a:solidFill>
                  <a:srgbClr val="0000FF"/>
                </a:solidFill>
                <a:sym typeface="+mn-ea"/>
              </a:rPr>
              <a:t>3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=4</a:t>
            </a:r>
            <a:endParaRPr lang="en-US" altLang="zh-CN" b="1" i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80695" y="3792510"/>
            <a:ext cx="63411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sym typeface="+mn-ea"/>
              </a:rPr>
              <a:t>例题：判定</a:t>
            </a:r>
            <a:r>
              <a:rPr lang="en-US" altLang="zh-CN" b="1" i="1">
                <a:solidFill>
                  <a:srgbClr val="0000FF"/>
                </a:solidFill>
                <a:sym typeface="宋体" panose="02010600030101010101" pitchFamily="2" charset="-122"/>
              </a:rPr>
              <a:t>b</a:t>
            </a:r>
            <a:r>
              <a:rPr lang="zh-CN" altLang="en-US" b="1">
                <a:solidFill>
                  <a:srgbClr val="0000FF"/>
                </a:solidFill>
                <a:sym typeface="宋体" panose="02010600030101010101" pitchFamily="2" charset="-122"/>
              </a:rPr>
              <a:t>能否由向量组</a:t>
            </a:r>
            <a:r>
              <a:rPr lang="en-US" altLang="zh-CN" b="1" i="1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: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1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,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,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3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: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174230" y="5985800"/>
            <a:ext cx="465709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i="1">
                <a:solidFill>
                  <a:srgbClr val="0000FF"/>
                </a:solidFill>
                <a:sym typeface="宋体" panose="02010600030101010101" pitchFamily="2" charset="-122"/>
              </a:rPr>
              <a:t>b</a:t>
            </a:r>
            <a:r>
              <a:rPr lang="zh-CN" altLang="en-US" b="1">
                <a:solidFill>
                  <a:srgbClr val="FF0000"/>
                </a:solidFill>
                <a:sym typeface="宋体" panose="02010600030101010101" pitchFamily="2" charset="-122"/>
              </a:rPr>
              <a:t>不能</a:t>
            </a:r>
            <a:r>
              <a:rPr lang="zh-CN" altLang="en-US" b="1">
                <a:solidFill>
                  <a:srgbClr val="0000FF"/>
                </a:solidFill>
                <a:sym typeface="宋体" panose="02010600030101010101" pitchFamily="2" charset="-122"/>
              </a:rPr>
              <a:t>由向量组</a:t>
            </a:r>
            <a:r>
              <a:rPr lang="en-US" altLang="zh-CN" b="1" i="1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: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1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,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,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3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endParaRPr lang="zh-CN" altLang="en-US"/>
          </a:p>
        </p:txBody>
      </p:sp>
      <p:graphicFrame>
        <p:nvGraphicFramePr>
          <p:cNvPr id="10244" name="对象 -21474824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844985"/>
              </p:ext>
            </p:extLst>
          </p:nvPr>
        </p:nvGraphicFramePr>
        <p:xfrm>
          <a:off x="7275513" y="4144300"/>
          <a:ext cx="369887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602230" imgH="711200" progId="Equation.3">
                  <p:embed/>
                </p:oleObj>
              </mc:Choice>
              <mc:Fallback>
                <p:oleObj r:id="rId5" imgW="2602230" imgH="7112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75513" y="4144300"/>
                        <a:ext cx="3698875" cy="1260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6881495" y="5513360"/>
            <a:ext cx="50679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不存在</a:t>
            </a:r>
            <a:r>
              <a:rPr lang="en-US" altLang="zh-CN" i="1">
                <a:sym typeface="+mn-ea"/>
              </a:rPr>
              <a:t>k</a:t>
            </a:r>
            <a:r>
              <a:rPr lang="en-US" altLang="zh-CN" baseline="-25000">
                <a:sym typeface="+mn-ea"/>
              </a:rPr>
              <a:t>1</a:t>
            </a:r>
            <a:r>
              <a:rPr lang="zh-CN" altLang="en-US" baseline="-25000">
                <a:sym typeface="+mn-ea"/>
              </a:rPr>
              <a:t>，</a:t>
            </a:r>
            <a:r>
              <a:rPr lang="en-US" altLang="zh-CN" i="1">
                <a:sym typeface="+mn-ea"/>
              </a:rPr>
              <a:t>k</a:t>
            </a:r>
            <a:r>
              <a:rPr lang="en-US" altLang="zh-CN" baseline="-25000">
                <a:sym typeface="+mn-ea"/>
              </a:rPr>
              <a:t>2</a:t>
            </a:r>
            <a:r>
              <a:rPr lang="zh-CN" altLang="en-US" baseline="-25000">
                <a:sym typeface="+mn-ea"/>
              </a:rPr>
              <a:t>，</a:t>
            </a:r>
            <a:r>
              <a:rPr lang="en-US" altLang="zh-CN" i="1">
                <a:sym typeface="+mn-ea"/>
              </a:rPr>
              <a:t>k</a:t>
            </a:r>
            <a:r>
              <a:rPr lang="en-US" altLang="zh-CN" i="1" baseline="-25000">
                <a:sym typeface="+mn-ea"/>
              </a:rPr>
              <a:t>3</a:t>
            </a:r>
            <a:r>
              <a:rPr lang="zh-CN" altLang="en-US">
                <a:sym typeface="+mn-ea"/>
              </a:rPr>
              <a:t>使得</a:t>
            </a:r>
            <a:r>
              <a:rPr lang="en-US" altLang="zh-CN" i="1">
                <a:sym typeface="+mn-ea"/>
              </a:rPr>
              <a:t>k</a:t>
            </a:r>
            <a:r>
              <a:rPr lang="en-US" altLang="zh-CN" baseline="-25000">
                <a:sym typeface="+mn-ea"/>
              </a:rPr>
              <a:t>1</a:t>
            </a:r>
            <a:r>
              <a:rPr lang="zh-CN" altLang="en-US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+</a:t>
            </a:r>
            <a:r>
              <a:rPr lang="en-US" altLang="zh-CN" i="1">
                <a:sym typeface="+mn-ea"/>
              </a:rPr>
              <a:t>k</a:t>
            </a:r>
            <a:r>
              <a:rPr lang="en-US" altLang="zh-CN" baseline="-25000">
                <a:sym typeface="+mn-ea"/>
              </a:rPr>
              <a:t>2</a:t>
            </a:r>
            <a:r>
              <a:rPr lang="zh-CN" altLang="en-US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+</a:t>
            </a:r>
            <a:r>
              <a:rPr lang="en-US" altLang="zh-CN" i="1">
                <a:sym typeface="+mn-ea"/>
              </a:rPr>
              <a:t>k</a:t>
            </a:r>
            <a:r>
              <a:rPr lang="en-US" altLang="zh-CN" i="1" baseline="-25000">
                <a:sym typeface="+mn-ea"/>
              </a:rPr>
              <a:t>3</a:t>
            </a:r>
            <a:r>
              <a:rPr lang="zh-CN" altLang="en-US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</a:p>
        </p:txBody>
      </p:sp>
      <p:sp>
        <p:nvSpPr>
          <p:cNvPr id="27" name="右箭头 26"/>
          <p:cNvSpPr/>
          <p:nvPr/>
        </p:nvSpPr>
        <p:spPr>
          <a:xfrm>
            <a:off x="685800" y="6117880"/>
            <a:ext cx="405130" cy="1955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/>
        </p:nvSpPr>
        <p:spPr>
          <a:xfrm flipV="1">
            <a:off x="6724650" y="6140740"/>
            <a:ext cx="405130" cy="172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090930" y="5997230"/>
            <a:ext cx="43510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i="1">
                <a:solidFill>
                  <a:srgbClr val="0000FF"/>
                </a:solidFill>
                <a:sym typeface="宋体" panose="02010600030101010101" pitchFamily="2" charset="-122"/>
              </a:rPr>
              <a:t>b</a:t>
            </a:r>
            <a:r>
              <a:rPr lang="zh-CN" altLang="en-US" b="1">
                <a:solidFill>
                  <a:srgbClr val="FF0000"/>
                </a:solidFill>
                <a:sym typeface="宋体" panose="02010600030101010101" pitchFamily="2" charset="-122"/>
              </a:rPr>
              <a:t>能</a:t>
            </a:r>
            <a:r>
              <a:rPr lang="zh-CN" altLang="en-US" b="1">
                <a:solidFill>
                  <a:srgbClr val="0000FF"/>
                </a:solidFill>
                <a:sym typeface="宋体" panose="02010600030101010101" pitchFamily="2" charset="-122"/>
              </a:rPr>
              <a:t>由向量组</a:t>
            </a:r>
            <a:r>
              <a:rPr lang="en-US" altLang="zh-CN" b="1" i="1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: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1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,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,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3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E9B288-CD7A-4322-AB30-58A765B0DF29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20" name="标题 5145">
            <a:extLst>
              <a:ext uri="{FF2B5EF4-FFF2-40B4-BE49-F238E27FC236}">
                <a16:creationId xmlns:a16="http://schemas.microsoft.com/office/drawing/2014/main" id="{DC86760B-57E3-41D4-A00A-B87AE9C8EC57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向量组的线性组合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D184B8-0268-42F4-8547-0B80DA9A5587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875353-88FE-4E81-954B-30FB0683542C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21" grpId="0"/>
      <p:bldP spid="22" grpId="0"/>
      <p:bldP spid="24" grpId="0"/>
      <p:bldP spid="25" grpId="0"/>
      <p:bldP spid="27" grpId="0" bldLvl="0" animBg="1"/>
      <p:bldP spid="28" grpId="0" bldLvl="0" animBg="1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DE9B288-CD7A-4322-AB30-58A765B0DF29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20" name="标题 5145">
            <a:extLst>
              <a:ext uri="{FF2B5EF4-FFF2-40B4-BE49-F238E27FC236}">
                <a16:creationId xmlns:a16="http://schemas.microsoft.com/office/drawing/2014/main" id="{DC86760B-57E3-41D4-A00A-B87AE9C8EC57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向量组的线性组合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D184B8-0268-42F4-8547-0B80DA9A5587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875353-88FE-4E81-954B-30FB0683542C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ACDDB4-009B-4498-9B6A-EAE5D7180F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718" y="1033815"/>
            <a:ext cx="8248707" cy="530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05795"/>
      </p:ext>
    </p:extLst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87463" y="1205531"/>
            <a:ext cx="10104437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1.2 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给定向量组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A: 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及向量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zh-CN" altLang="en-US" sz="2800" b="1" u="sng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存在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 sz="2800" b="1" i="1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1727818"/>
            <a:ext cx="194310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使得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701925" y="2250106"/>
            <a:ext cx="543877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b=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n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5800" y="2772393"/>
            <a:ext cx="107061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则称向量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能由向量组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线性表示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77255" y="2772393"/>
            <a:ext cx="60071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称数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为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表示系数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或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组合系数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87463" y="3948731"/>
            <a:ext cx="10104437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推论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：向量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: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n</a:t>
            </a:r>
            <a:r>
              <a:rPr lang="zh-CN" alt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            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94740" y="5249528"/>
            <a:ext cx="41744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+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+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+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x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n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n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=b </a:t>
            </a:r>
            <a:r>
              <a:rPr lang="zh-CN" altLang="en-US" sz="2800" b="1" u="sng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有解</a:t>
            </a:r>
          </a:p>
        </p:txBody>
      </p:sp>
      <p:sp>
        <p:nvSpPr>
          <p:cNvPr id="20" name="上下箭头 19"/>
          <p:cNvSpPr/>
          <p:nvPr/>
        </p:nvSpPr>
        <p:spPr>
          <a:xfrm>
            <a:off x="2929255" y="4725653"/>
            <a:ext cx="272415" cy="62992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93370" y="998838"/>
            <a:ext cx="11656060" cy="2654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8455" y="3745848"/>
            <a:ext cx="11610975" cy="263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左大括号 15"/>
          <p:cNvSpPr/>
          <p:nvPr/>
        </p:nvSpPr>
        <p:spPr>
          <a:xfrm>
            <a:off x="5334000" y="4758673"/>
            <a:ext cx="120015" cy="1574165"/>
          </a:xfrm>
          <a:prstGeom prst="leftBrace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784850" y="4625958"/>
            <a:ext cx="2372360" cy="8299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b="1" dirty="0">
                <a:solidFill>
                  <a:schemeClr val="accent4"/>
                </a:solidFill>
                <a:effectLst/>
              </a:rPr>
              <a:t>可能是唯一解：一组</a:t>
            </a:r>
            <a:r>
              <a:rPr lang="en-US" altLang="zh-CN" b="1" i="1" dirty="0">
                <a:solidFill>
                  <a:schemeClr val="accent4"/>
                </a:solidFill>
                <a:effectLst/>
                <a:sym typeface="+mn-ea"/>
              </a:rPr>
              <a:t>k</a:t>
            </a:r>
            <a:r>
              <a:rPr lang="en-US" altLang="zh-CN" b="1" baseline="-25000" dirty="0">
                <a:solidFill>
                  <a:schemeClr val="accent4"/>
                </a:solidFill>
                <a:effectLst/>
                <a:sym typeface="+mn-ea"/>
              </a:rPr>
              <a:t>1</a:t>
            </a:r>
            <a:r>
              <a:rPr lang="en-US" altLang="zh-CN" b="1" dirty="0">
                <a:solidFill>
                  <a:schemeClr val="accent4"/>
                </a:solidFill>
                <a:effectLst/>
                <a:sym typeface="+mn-ea"/>
              </a:rPr>
              <a:t>,</a:t>
            </a:r>
            <a:r>
              <a:rPr lang="en-US" altLang="zh-CN" b="1" i="1" dirty="0">
                <a:solidFill>
                  <a:schemeClr val="accent4"/>
                </a:solidFill>
                <a:effectLst/>
                <a:sym typeface="+mn-ea"/>
              </a:rPr>
              <a:t>k</a:t>
            </a:r>
            <a:r>
              <a:rPr lang="en-US" altLang="zh-CN" b="1" baseline="-25000" dirty="0">
                <a:solidFill>
                  <a:schemeClr val="accent4"/>
                </a:solidFill>
                <a:effectLst/>
                <a:sym typeface="+mn-ea"/>
              </a:rPr>
              <a:t>2</a:t>
            </a:r>
            <a:r>
              <a:rPr lang="en-US" altLang="zh-CN" b="1" dirty="0">
                <a:solidFill>
                  <a:schemeClr val="accent4"/>
                </a:solidFill>
                <a:effectLst/>
                <a:sym typeface="+mn-ea"/>
              </a:rPr>
              <a:t>,</a:t>
            </a:r>
            <a:r>
              <a:rPr lang="en-US" altLang="zh-CN" b="1" dirty="0">
                <a:solidFill>
                  <a:schemeClr val="accent4"/>
                </a:solidFill>
                <a:effectLst/>
                <a:latin typeface="宋体" panose="02010600030101010101" pitchFamily="2" charset="-122"/>
                <a:sym typeface="+mn-ea"/>
              </a:rPr>
              <a:t>…</a:t>
            </a:r>
            <a:r>
              <a:rPr lang="en-US" altLang="zh-CN" b="1" dirty="0">
                <a:solidFill>
                  <a:schemeClr val="accent4"/>
                </a:solidFill>
                <a:effectLst/>
                <a:sym typeface="+mn-ea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k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n</a:t>
            </a:r>
            <a:endParaRPr lang="en-US" altLang="zh-CN" b="1" i="1" dirty="0">
              <a:solidFill>
                <a:schemeClr val="accent4"/>
              </a:solidFill>
              <a:effectLst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84850" y="5554963"/>
            <a:ext cx="2372360" cy="8299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可能是无穷解：多组</a:t>
            </a:r>
            <a:r>
              <a:rPr lang="en-US" altLang="zh-CN" i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</a:t>
            </a:r>
            <a:r>
              <a:rPr lang="en-US" altLang="zh-CN" baseline="-25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,</a:t>
            </a:r>
            <a:r>
              <a:rPr lang="en-US" altLang="zh-CN" i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</a:t>
            </a:r>
            <a:r>
              <a:rPr lang="en-US" altLang="zh-CN" baseline="-25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+mn-ea"/>
              </a:rPr>
              <a:t>…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n</a:t>
            </a:r>
            <a:endParaRPr lang="en-US" altLang="zh-CN" i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2" name="左右箭头 1"/>
          <p:cNvSpPr/>
          <p:nvPr/>
        </p:nvSpPr>
        <p:spPr>
          <a:xfrm>
            <a:off x="8202295" y="5455903"/>
            <a:ext cx="694055" cy="28194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985250" y="4725653"/>
            <a:ext cx="2778125" cy="15684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b="1" dirty="0">
                <a:latin typeface="宋体" panose="02010600030101010101" pitchFamily="2" charset="-122"/>
                <a:sym typeface="宋体" panose="02010600030101010101" pitchFamily="2" charset="-122"/>
              </a:rPr>
              <a:t>系数矩阵</a:t>
            </a: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sym typeface="宋体" panose="02010600030101010101" pitchFamily="2" charset="-122"/>
              </a:rPr>
              <a:t>的秩等于增广矩阵</a:t>
            </a: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b="1" dirty="0">
                <a:latin typeface="宋体" panose="02010600030101010101" pitchFamily="2" charset="-122"/>
                <a:sym typeface="宋体" panose="02010600030101010101" pitchFamily="2" charset="-122"/>
              </a:rPr>
              <a:t>的秩，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algn="l"/>
            <a:r>
              <a:rPr lang="en-US" altLang="zh-CN" b="1" i="1" dirty="0">
                <a:sym typeface="宋体" panose="02010600030101010101" pitchFamily="2" charset="-122"/>
              </a:rPr>
              <a:t>A</a:t>
            </a:r>
            <a:r>
              <a:rPr lang="en-US" altLang="zh-CN" b="1" dirty="0">
                <a:sym typeface="宋体" panose="02010600030101010101" pitchFamily="2" charset="-122"/>
              </a:rPr>
              <a:t>=(</a:t>
            </a:r>
            <a:r>
              <a:rPr lang="zh-CN" altLang="en-US" b="1" i="1" dirty="0">
                <a:sym typeface="宋体" panose="02010600030101010101" pitchFamily="2" charset="-122"/>
              </a:rPr>
              <a:t>α</a:t>
            </a:r>
            <a:r>
              <a:rPr lang="en-US" altLang="zh-CN" b="1" baseline="-25000" dirty="0">
                <a:sym typeface="宋体" panose="02010600030101010101" pitchFamily="2" charset="-122"/>
              </a:rPr>
              <a:t>1</a:t>
            </a:r>
            <a:r>
              <a:rPr lang="en-US" altLang="zh-CN" b="1" dirty="0">
                <a:sym typeface="宋体" panose="02010600030101010101" pitchFamily="2" charset="-122"/>
              </a:rPr>
              <a:t>,</a:t>
            </a:r>
            <a:r>
              <a:rPr lang="zh-CN" altLang="en-US" b="1" i="1" dirty="0">
                <a:sym typeface="宋体" panose="02010600030101010101" pitchFamily="2" charset="-122"/>
              </a:rPr>
              <a:t>α</a:t>
            </a:r>
            <a:r>
              <a:rPr lang="en-US" altLang="zh-CN" b="1" baseline="-25000" dirty="0">
                <a:sym typeface="宋体" panose="02010600030101010101" pitchFamily="2" charset="-122"/>
              </a:rPr>
              <a:t>2</a:t>
            </a:r>
            <a:r>
              <a:rPr lang="en-US" altLang="zh-CN" b="1" dirty="0">
                <a:sym typeface="宋体" panose="02010600030101010101" pitchFamily="2" charset="-122"/>
              </a:rPr>
              <a:t>,</a:t>
            </a: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b="1" dirty="0">
                <a:sym typeface="宋体" panose="02010600030101010101" pitchFamily="2" charset="-122"/>
              </a:rPr>
              <a:t>,</a:t>
            </a:r>
            <a:r>
              <a:rPr lang="zh-CN" altLang="en-US" b="1" i="1" dirty="0">
                <a:sym typeface="宋体" panose="02010600030101010101" pitchFamily="2" charset="-122"/>
              </a:rPr>
              <a:t>α</a:t>
            </a:r>
            <a:r>
              <a:rPr lang="en-US" altLang="zh-CN" b="1" i="1" baseline="-25000" dirty="0">
                <a:sym typeface="宋体" panose="02010600030101010101" pitchFamily="2" charset="-122"/>
              </a:rPr>
              <a:t>n</a:t>
            </a:r>
            <a:r>
              <a:rPr lang="en-US" altLang="zh-CN" b="1" dirty="0">
                <a:sym typeface="宋体" panose="02010600030101010101" pitchFamily="2" charset="-122"/>
              </a:rPr>
              <a:t>)     </a:t>
            </a:r>
            <a:r>
              <a:rPr lang="en-US" altLang="zh-CN" b="1" i="1" dirty="0">
                <a:sym typeface="宋体" panose="02010600030101010101" pitchFamily="2" charset="-122"/>
              </a:rPr>
              <a:t>B=</a:t>
            </a:r>
            <a:r>
              <a:rPr lang="en-US" altLang="zh-CN" b="1" dirty="0">
                <a:sym typeface="宋体" panose="02010600030101010101" pitchFamily="2" charset="-122"/>
              </a:rPr>
              <a:t>(</a:t>
            </a:r>
            <a:r>
              <a:rPr lang="zh-CN" altLang="en-US" b="1" i="1" dirty="0">
                <a:sym typeface="宋体" panose="02010600030101010101" pitchFamily="2" charset="-122"/>
              </a:rPr>
              <a:t>α</a:t>
            </a:r>
            <a:r>
              <a:rPr lang="en-US" altLang="zh-CN" b="1" baseline="-25000" dirty="0">
                <a:sym typeface="宋体" panose="02010600030101010101" pitchFamily="2" charset="-122"/>
              </a:rPr>
              <a:t>1</a:t>
            </a:r>
            <a:r>
              <a:rPr lang="en-US" altLang="zh-CN" b="1" dirty="0">
                <a:sym typeface="宋体" panose="02010600030101010101" pitchFamily="2" charset="-122"/>
              </a:rPr>
              <a:t>,</a:t>
            </a:r>
            <a:r>
              <a:rPr lang="zh-CN" altLang="en-US" b="1" i="1" dirty="0">
                <a:sym typeface="宋体" panose="02010600030101010101" pitchFamily="2" charset="-122"/>
              </a:rPr>
              <a:t>α</a:t>
            </a:r>
            <a:r>
              <a:rPr lang="en-US" altLang="zh-CN" b="1" baseline="-25000" dirty="0">
                <a:sym typeface="宋体" panose="02010600030101010101" pitchFamily="2" charset="-122"/>
              </a:rPr>
              <a:t>2</a:t>
            </a:r>
            <a:r>
              <a:rPr lang="en-US" altLang="zh-CN" b="1" dirty="0">
                <a:sym typeface="宋体" panose="02010600030101010101" pitchFamily="2" charset="-122"/>
              </a:rPr>
              <a:t>,</a:t>
            </a: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b="1" dirty="0">
                <a:sym typeface="宋体" panose="02010600030101010101" pitchFamily="2" charset="-122"/>
              </a:rPr>
              <a:t>,</a:t>
            </a:r>
            <a:r>
              <a:rPr lang="zh-CN" altLang="en-US" b="1" i="1" dirty="0">
                <a:sym typeface="宋体" panose="02010600030101010101" pitchFamily="2" charset="-122"/>
              </a:rPr>
              <a:t>α</a:t>
            </a:r>
            <a:r>
              <a:rPr lang="en-US" altLang="zh-CN" b="1" i="1" baseline="-25000" dirty="0">
                <a:sym typeface="宋体" panose="02010600030101010101" pitchFamily="2" charset="-122"/>
              </a:rPr>
              <a:t>n</a:t>
            </a:r>
            <a:r>
              <a:rPr lang="en-US" altLang="zh-CN" b="1" dirty="0">
                <a:sym typeface="宋体" panose="02010600030101010101" pitchFamily="2" charset="-122"/>
              </a:rPr>
              <a:t>, </a:t>
            </a:r>
            <a:r>
              <a:rPr lang="en-US" altLang="zh-CN" b="1" i="1" dirty="0">
                <a:sym typeface="宋体" panose="02010600030101010101" pitchFamily="2" charset="-122"/>
              </a:rPr>
              <a:t>b</a:t>
            </a:r>
            <a:r>
              <a:rPr lang="en-US" altLang="zh-CN" b="1" dirty="0">
                <a:latin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B54725B-CC86-4763-9310-B7A409471CDD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21" name="标题 5145">
            <a:extLst>
              <a:ext uri="{FF2B5EF4-FFF2-40B4-BE49-F238E27FC236}">
                <a16:creationId xmlns:a16="http://schemas.microsoft.com/office/drawing/2014/main" id="{82A4761F-2986-4AF4-9B49-E2BF514CE8AC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向量的线性组合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EFB557-FE8F-49EF-A92B-2B38869E9A83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86DACDE-E2FA-443C-99C1-FA19AD8DCEE6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0" grpId="0" bldLvl="0" animBg="1"/>
      <p:bldP spid="16" grpId="0" bldLvl="0" animBg="1"/>
      <p:bldP spid="17" grpId="0" uiExpand="1" bldLvl="0" animBg="1"/>
      <p:bldP spid="18" grpId="0" bldLvl="0" animBg="1"/>
      <p:bldP spid="2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文本框 1"/>
          <p:cNvSpPr txBox="1"/>
          <p:nvPr/>
        </p:nvSpPr>
        <p:spPr>
          <a:xfrm>
            <a:off x="377508" y="1448276"/>
            <a:ext cx="178435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07858" y="1448276"/>
            <a:ext cx="5329238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设向量组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及向量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b,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3022" y="2156281"/>
            <a:ext cx="967422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向量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不能由向量组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⇔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≠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;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6417" y="2819618"/>
            <a:ext cx="96742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向量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⇔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sym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0000FF"/>
                </a:solidFill>
                <a:sym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 err="1">
                <a:solidFill>
                  <a:srgbClr val="0000FF"/>
                </a:solidFill>
                <a:sym typeface="宋体" panose="02010600030101010101" pitchFamily="2" charset="-122"/>
              </a:rPr>
              <a:t>A,b</a:t>
            </a:r>
            <a:r>
              <a:rPr lang="zh-CN" altLang="en-US" sz="2800" b="1" dirty="0">
                <a:solidFill>
                  <a:srgbClr val="0000FF"/>
                </a:solidFill>
                <a:sym typeface="宋体" panose="02010600030101010101" pitchFamily="2" charset="-122"/>
              </a:rPr>
              <a:t>）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15477" y="4049713"/>
            <a:ext cx="3815715" cy="95313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当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n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时，</a:t>
            </a:r>
          </a:p>
          <a:p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组唯一线性表示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015477" y="5513705"/>
            <a:ext cx="6138545" cy="95313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2800" b="1" dirty="0">
                <a:sym typeface="宋体" panose="02010600030101010101" pitchFamily="2" charset="-122"/>
              </a:rPr>
              <a:t>当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sym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0000FF"/>
                </a:solidFill>
                <a:sym typeface="宋体" panose="02010600030101010101" pitchFamily="2" charset="-122"/>
              </a:rPr>
              <a:t>)=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 err="1">
                <a:solidFill>
                  <a:srgbClr val="0000FF"/>
                </a:solidFill>
                <a:sym typeface="宋体" panose="02010600030101010101" pitchFamily="2" charset="-122"/>
              </a:rPr>
              <a:t>A,b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rgbClr val="0000FF"/>
                </a:solidFill>
                <a:sym typeface="宋体" panose="02010600030101010101" pitchFamily="2" charset="-122"/>
              </a:rPr>
              <a:t>&lt;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n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时</a:t>
            </a:r>
            <a:r>
              <a:rPr lang="en-US" altLang="zh-CN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,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algn="l"/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组线性表示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表示法有无穷多种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15628" y="5202555"/>
            <a:ext cx="3305810" cy="95313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其中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A=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),   (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)=(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n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,b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7" name="左大括号 16"/>
          <p:cNvSpPr/>
          <p:nvPr/>
        </p:nvSpPr>
        <p:spPr>
          <a:xfrm>
            <a:off x="3800847" y="3910330"/>
            <a:ext cx="405130" cy="2556510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9513" y="4572000"/>
            <a:ext cx="26066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0000FF"/>
                </a:solidFill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en-US" altLang="zh-CN" sz="2800" b="1">
                <a:solidFill>
                  <a:srgbClr val="0000FF"/>
                </a:solidFill>
                <a:sym typeface="宋体" panose="02010600030101010101" pitchFamily="2" charset="-122"/>
              </a:rPr>
              <a:t>)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800" b="1" i="1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FF"/>
                </a:solidFill>
                <a:sym typeface="宋体" panose="02010600030101010101" pitchFamily="2" charset="-122"/>
              </a:rPr>
              <a:t>A,b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B226E2-D37C-4FC5-9069-1FF25938D1CC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4" name="标题 5145">
            <a:extLst>
              <a:ext uri="{FF2B5EF4-FFF2-40B4-BE49-F238E27FC236}">
                <a16:creationId xmlns:a16="http://schemas.microsoft.com/office/drawing/2014/main" id="{9C472ED7-062E-4178-8E9F-D646EE558693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向量的线性组合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D624F8A-4ABC-4DE2-B6D3-8A9B2970C1D5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B9718E-7E79-40B7-AE62-65CE4F79663E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2708D0-8887-4C96-A4DE-A40AF38882E1}"/>
              </a:ext>
            </a:extLst>
          </p:cNvPr>
          <p:cNvSpPr txBox="1"/>
          <p:nvPr/>
        </p:nvSpPr>
        <p:spPr>
          <a:xfrm>
            <a:off x="9316567" y="3364839"/>
            <a:ext cx="193512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i="1" dirty="0"/>
              <a:t>n</a:t>
            </a:r>
            <a:r>
              <a:rPr lang="zh-CN" altLang="en-US" dirty="0"/>
              <a:t>是什么？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0C6D0D-FA36-4662-8FB6-7597899B5DCB}"/>
              </a:ext>
            </a:extLst>
          </p:cNvPr>
          <p:cNvSpPr txBox="1"/>
          <p:nvPr/>
        </p:nvSpPr>
        <p:spPr>
          <a:xfrm>
            <a:off x="8896384" y="3979790"/>
            <a:ext cx="2775493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i="1" dirty="0"/>
              <a:t>n</a:t>
            </a:r>
            <a:r>
              <a:rPr lang="zh-CN" altLang="en-US" dirty="0"/>
              <a:t>是向量组</a:t>
            </a:r>
            <a:r>
              <a:rPr lang="en-US" altLang="zh-CN" dirty="0"/>
              <a:t>A</a:t>
            </a:r>
            <a:r>
              <a:rPr lang="zh-CN" altLang="en-US" dirty="0"/>
              <a:t>中所包含的向量的个数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298A2B-8743-4A15-AB64-66B070A7A7BB}"/>
              </a:ext>
            </a:extLst>
          </p:cNvPr>
          <p:cNvSpPr txBox="1"/>
          <p:nvPr/>
        </p:nvSpPr>
        <p:spPr>
          <a:xfrm>
            <a:off x="8896384" y="5008655"/>
            <a:ext cx="2775493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i="1" dirty="0"/>
              <a:t>n</a:t>
            </a:r>
            <a:r>
              <a:rPr lang="zh-CN" altLang="en-US" dirty="0"/>
              <a:t>是对应非齐次线程组未知元的个数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" grpId="0"/>
      <p:bldP spid="4" grpId="0"/>
      <p:bldP spid="7" grpId="0"/>
      <p:bldP spid="10" grpId="0"/>
      <p:bldP spid="12" grpId="0"/>
      <p:bldP spid="15" grpId="0"/>
      <p:bldP spid="16" grpId="0" bldLvl="0" animBg="1"/>
      <p:bldP spid="17" grpId="0" bldLvl="0" animBg="1"/>
      <p:bldP spid="18" grpId="0"/>
      <p:bldP spid="2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11225" y="986683"/>
            <a:ext cx="10691813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1.1 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判定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能否由向量组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:</a:t>
            </a:r>
            <a:r>
              <a:rPr lang="zh-CN" altLang="en-US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:</a:t>
            </a:r>
          </a:p>
        </p:txBody>
      </p:sp>
      <p:graphicFrame>
        <p:nvGraphicFramePr>
          <p:cNvPr id="9227" name="对象 -21474825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612583"/>
              </p:ext>
            </p:extLst>
          </p:nvPr>
        </p:nvGraphicFramePr>
        <p:xfrm>
          <a:off x="2646363" y="1686771"/>
          <a:ext cx="3697287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02230" imgH="711200" progId="Equation.3">
                  <p:embed/>
                </p:oleObj>
              </mc:Choice>
              <mc:Fallback>
                <p:oleObj r:id="rId2" imgW="2602230" imgH="7112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46363" y="1686771"/>
                        <a:ext cx="3697287" cy="1260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2894330" y="2947563"/>
            <a:ext cx="66135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+k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+k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b,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解得</a:t>
            </a:r>
            <a:r>
              <a:rPr lang="zh-CN" altLang="en-US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k</a:t>
            </a:r>
            <a:r>
              <a:rPr lang="en-US" altLang="zh-CN" b="1" baseline="-25000" dirty="0">
                <a:solidFill>
                  <a:srgbClr val="0000FF"/>
                </a:solidFill>
                <a:sym typeface="+mn-ea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=2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k</a:t>
            </a:r>
            <a:r>
              <a:rPr lang="en-US" altLang="zh-CN" b="1" baseline="-25000" dirty="0">
                <a:solidFill>
                  <a:srgbClr val="0000FF"/>
                </a:solidFill>
                <a:sym typeface="+mn-ea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=3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k</a:t>
            </a:r>
            <a:r>
              <a:rPr lang="en-US" altLang="zh-CN" b="1" baseline="-25000" dirty="0">
                <a:solidFill>
                  <a:srgbClr val="0000FF"/>
                </a:solidFill>
                <a:sym typeface="+mn-ea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=4</a:t>
            </a:r>
            <a:endParaRPr lang="zh-CN" altLang="en-US" b="1" i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9230" name="对象 -21474824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814834"/>
              </p:ext>
            </p:extLst>
          </p:nvPr>
        </p:nvGraphicFramePr>
        <p:xfrm>
          <a:off x="3570605" y="3969596"/>
          <a:ext cx="213995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09065" imgH="711200" progId="Equation.DSMT4">
                  <p:embed/>
                </p:oleObj>
              </mc:Choice>
              <mc:Fallback>
                <p:oleObj r:id="rId4" imgW="1409065" imgH="7112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0605" y="3969596"/>
                        <a:ext cx="2139950" cy="1081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3305493" y="5130058"/>
            <a:ext cx="27051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)=3⇔</a:t>
            </a:r>
            <a:endParaRPr lang="en-US" altLang="zh-CN" b="1" i="1" baseline="3000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362200" y="5703146"/>
            <a:ext cx="48037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方程组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Ax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有唯一解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且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x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=(2, 3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 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4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b="1" i="1" baseline="30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T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59560" y="2983758"/>
            <a:ext cx="1442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解法一：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59560" y="4280428"/>
            <a:ext cx="1442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解法二：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2894330" y="3407938"/>
            <a:ext cx="53295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sym typeface="宋体" panose="02010600030101010101" pitchFamily="2" charset="-122"/>
              </a:rPr>
              <a:t>故</a:t>
            </a:r>
            <a:r>
              <a:rPr lang="en-US" altLang="zh-CN" b="1" i="1" dirty="0">
                <a:solidFill>
                  <a:srgbClr val="0000FF"/>
                </a:solidFill>
                <a:sym typeface="宋体" panose="02010600030101010101" pitchFamily="2" charset="-122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sym typeface="宋体" panose="02010600030101010101" pitchFamily="2" charset="-122"/>
              </a:rPr>
              <a:t>能</a:t>
            </a:r>
            <a:r>
              <a:rPr lang="zh-CN" altLang="en-US" b="1" dirty="0">
                <a:solidFill>
                  <a:srgbClr val="0000FF"/>
                </a:solidFill>
                <a:sym typeface="宋体" panose="02010600030101010101" pitchFamily="2" charset="-122"/>
              </a:rPr>
              <a:t>由向量组</a:t>
            </a:r>
            <a:r>
              <a:rPr lang="en-US" altLang="zh-CN" b="1" i="1" dirty="0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sym typeface="宋体" panose="02010600030101010101" pitchFamily="2" charset="-122"/>
              </a:rPr>
              <a:t>:</a:t>
            </a:r>
            <a:r>
              <a:rPr lang="zh-CN" altLang="en-US" b="1" i="1" dirty="0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 dirty="0">
                <a:solidFill>
                  <a:srgbClr val="0000FF"/>
                </a:solidFill>
                <a:sym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sym typeface="宋体" panose="02010600030101010101" pitchFamily="2" charset="-122"/>
              </a:rPr>
              <a:t>,</a:t>
            </a:r>
            <a:r>
              <a:rPr lang="zh-CN" altLang="en-US" b="1" i="1" dirty="0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 dirty="0">
                <a:solidFill>
                  <a:srgbClr val="0000FF"/>
                </a:solidFill>
                <a:sym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sym typeface="宋体" panose="02010600030101010101" pitchFamily="2" charset="-122"/>
              </a:rPr>
              <a:t>,</a:t>
            </a:r>
            <a:r>
              <a:rPr lang="zh-CN" altLang="en-US" b="1" i="1" dirty="0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 dirty="0">
                <a:solidFill>
                  <a:srgbClr val="0000FF"/>
                </a:solidFill>
                <a:sym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354580" y="6163838"/>
            <a:ext cx="53295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sym typeface="宋体" panose="02010600030101010101" pitchFamily="2" charset="-122"/>
              </a:rPr>
              <a:t>故</a:t>
            </a:r>
            <a:r>
              <a:rPr lang="en-US" altLang="zh-CN" b="1" i="1">
                <a:solidFill>
                  <a:srgbClr val="0000FF"/>
                </a:solidFill>
                <a:sym typeface="宋体" panose="02010600030101010101" pitchFamily="2" charset="-122"/>
              </a:rPr>
              <a:t>b</a:t>
            </a:r>
            <a:r>
              <a:rPr lang="zh-CN" altLang="en-US" b="1">
                <a:solidFill>
                  <a:srgbClr val="FF0000"/>
                </a:solidFill>
                <a:sym typeface="宋体" panose="02010600030101010101" pitchFamily="2" charset="-122"/>
              </a:rPr>
              <a:t>能</a:t>
            </a:r>
            <a:r>
              <a:rPr lang="zh-CN" altLang="en-US" b="1">
                <a:solidFill>
                  <a:srgbClr val="0000FF"/>
                </a:solidFill>
                <a:sym typeface="宋体" panose="02010600030101010101" pitchFamily="2" charset="-122"/>
              </a:rPr>
              <a:t>由向量组</a:t>
            </a:r>
            <a:r>
              <a:rPr lang="en-US" altLang="zh-CN" b="1" i="1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: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1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,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sym typeface="宋体" panose="02010600030101010101" pitchFamily="2" charset="-122"/>
              </a:rPr>
              <a:t>,</a:t>
            </a:r>
            <a:r>
              <a:rPr lang="zh-CN" altLang="en-US" b="1" i="1">
                <a:solidFill>
                  <a:srgbClr val="0000FF"/>
                </a:solidFill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sym typeface="宋体" panose="02010600030101010101" pitchFamily="2" charset="-122"/>
              </a:rPr>
              <a:t>3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74838" y="2036021"/>
            <a:ext cx="7715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BB680B6-40F7-41A7-8C19-44F3A55F0863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6" name="标题 5145">
            <a:extLst>
              <a:ext uri="{FF2B5EF4-FFF2-40B4-BE49-F238E27FC236}">
                <a16:creationId xmlns:a16="http://schemas.microsoft.com/office/drawing/2014/main" id="{29561629-94D1-4FB3-8F3E-9346B0E86AC0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向量的线性组合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67D111-E556-4D69-82AF-F0575AD1F2F8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AE5FBE-0FC9-4C0D-8BD0-72CEC3B8CC8B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7" grpId="0"/>
      <p:bldP spid="19" grpId="0"/>
      <p:bldP spid="2" grpId="0"/>
      <p:bldP spid="3" grpId="0"/>
      <p:bldP spid="29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874838" y="1236663"/>
            <a:ext cx="77152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874838" y="4006850"/>
            <a:ext cx="771525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</a:p>
        </p:txBody>
      </p:sp>
      <p:graphicFrame>
        <p:nvGraphicFramePr>
          <p:cNvPr id="10244" name="对象 -2147482411"/>
          <p:cNvGraphicFramePr>
            <a:graphicFrameLocks noChangeAspect="1"/>
          </p:cNvGraphicFramePr>
          <p:nvPr/>
        </p:nvGraphicFramePr>
        <p:xfrm>
          <a:off x="2544763" y="866775"/>
          <a:ext cx="369887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02230" imgH="711200" progId="Equation.3">
                  <p:embed/>
                </p:oleObj>
              </mc:Choice>
              <mc:Fallback>
                <p:oleObj r:id="rId2" imgW="2602230" imgH="7112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44763" y="866775"/>
                        <a:ext cx="3698875" cy="1260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对象 -2147482410"/>
          <p:cNvGraphicFramePr>
            <a:graphicFrameLocks noChangeAspect="1"/>
          </p:cNvGraphicFramePr>
          <p:nvPr/>
        </p:nvGraphicFramePr>
        <p:xfrm>
          <a:off x="2544763" y="3698875"/>
          <a:ext cx="369887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02230" imgH="711200" progId="Equation.3">
                  <p:embed/>
                </p:oleObj>
              </mc:Choice>
              <mc:Fallback>
                <p:oleObj r:id="rId4" imgW="2602230" imgH="7112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44763" y="3698875"/>
                        <a:ext cx="3698875" cy="1260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对象 -2147482400"/>
          <p:cNvGraphicFramePr>
            <a:graphicFrameLocks noChangeAspect="1"/>
          </p:cNvGraphicFramePr>
          <p:nvPr/>
        </p:nvGraphicFramePr>
        <p:xfrm>
          <a:off x="2347913" y="2127250"/>
          <a:ext cx="2497137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09065" imgH="711200" progId="Equation.DSMT4">
                  <p:embed/>
                </p:oleObj>
              </mc:Choice>
              <mc:Fallback>
                <p:oleObj r:id="rId6" imgW="1409065" imgH="7112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47913" y="2127250"/>
                        <a:ext cx="2497137" cy="1260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819650" y="2349500"/>
            <a:ext cx="63976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)=2</a:t>
            </a:r>
            <a:r>
              <a:rPr lang="en-US" altLang="zh-CN" sz="20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≠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)=3⇔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方程组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Ax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无解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endParaRPr lang="en-US" altLang="zh-CN" b="1" i="1" baseline="3000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19650" y="2809875"/>
            <a:ext cx="63976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⇔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所以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不能由向量组</a:t>
            </a:r>
            <a:r>
              <a:rPr lang="zh-CN" altLang="en-US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endParaRPr lang="en-US" altLang="zh-CN" b="1" i="1" baseline="3000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10251" name="对象 -2147482395"/>
          <p:cNvGraphicFramePr>
            <a:graphicFrameLocks noChangeAspect="1"/>
          </p:cNvGraphicFramePr>
          <p:nvPr/>
        </p:nvGraphicFramePr>
        <p:xfrm>
          <a:off x="2389188" y="4975225"/>
          <a:ext cx="2497137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09065" imgH="711200" progId="Equation.DSMT4">
                  <p:embed/>
                </p:oleObj>
              </mc:Choice>
              <mc:Fallback>
                <p:oleObj r:id="rId8" imgW="1409065" imgH="7112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89188" y="4975225"/>
                        <a:ext cx="2497137" cy="1258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886325" y="4975225"/>
            <a:ext cx="63976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2&lt;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3⇔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方程组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Ax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有无穷多解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endParaRPr lang="en-US" altLang="zh-CN" b="1" i="1" baseline="3000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19650" y="5373688"/>
            <a:ext cx="68008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且解为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x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=(2-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c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 3-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c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 </a:t>
            </a:r>
            <a:r>
              <a:rPr lang="en-US" altLang="zh-CN" i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c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b="1" i="1" baseline="30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T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,c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为任意常数，</a:t>
            </a:r>
            <a:endParaRPr lang="en-US" altLang="zh-CN" b="1" i="1" baseline="3000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86325" y="5773738"/>
            <a:ext cx="343281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⇔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</a:t>
            </a:r>
            <a:r>
              <a:rPr lang="zh-CN" altLang="en-US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50940A-2E47-4DC4-A2A8-AE6D49936D65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8" name="标题 5145">
            <a:extLst>
              <a:ext uri="{FF2B5EF4-FFF2-40B4-BE49-F238E27FC236}">
                <a16:creationId xmlns:a16="http://schemas.microsoft.com/office/drawing/2014/main" id="{4753ECBA-2B5D-4CB8-B0E9-C1D3E24B61A7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向量的线性组合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BB9126A-BCF6-44A9-BA46-C5929210005D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1524D1-6517-4190-A5A1-5FF009BED21C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17" grpId="0"/>
      <p:bldP spid="10" grpId="0"/>
      <p:bldP spid="14" grpId="0"/>
      <p:bldP spid="15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050940A-2E47-4DC4-A2A8-AE6D49936D65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8" name="标题 5145">
            <a:extLst>
              <a:ext uri="{FF2B5EF4-FFF2-40B4-BE49-F238E27FC236}">
                <a16:creationId xmlns:a16="http://schemas.microsoft.com/office/drawing/2014/main" id="{4753ECBA-2B5D-4CB8-B0E9-C1D3E24B61A7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向量的线性组合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BB9126A-BCF6-44A9-BA46-C5929210005D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1524D1-6517-4190-A5A1-5FF009BED21C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33C022-CE5B-415B-8EEB-7A4680D3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528" y="1261354"/>
            <a:ext cx="4533391" cy="513784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50532FE-9286-4169-8B8D-288333A646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61355"/>
            <a:ext cx="4635309" cy="505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73718"/>
      </p:ext>
    </p:extLst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框 99"/>
          <p:cNvSpPr txBox="1"/>
          <p:nvPr/>
        </p:nvSpPr>
        <p:spPr>
          <a:xfrm>
            <a:off x="908050" y="1133475"/>
            <a:ext cx="5080000" cy="5222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1.2</a:t>
            </a:r>
            <a:r>
              <a:rPr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设向量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67" name="对象 -2147482386"/>
          <p:cNvGraphicFramePr>
            <a:graphicFrameLocks noChangeAspect="1"/>
          </p:cNvGraphicFramePr>
          <p:nvPr/>
        </p:nvGraphicFramePr>
        <p:xfrm>
          <a:off x="2257425" y="1655763"/>
          <a:ext cx="338455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79700" imgH="914400" progId="Equation.3">
                  <p:embed/>
                </p:oleObj>
              </mc:Choice>
              <mc:Fallback>
                <p:oleObj r:id="rId2" imgW="2679700" imgH="9144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57425" y="1655763"/>
                        <a:ext cx="3384550" cy="1439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文本框 10"/>
          <p:cNvSpPr txBox="1"/>
          <p:nvPr/>
        </p:nvSpPr>
        <p:spPr>
          <a:xfrm>
            <a:off x="908050" y="3095625"/>
            <a:ext cx="10215563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讨论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a,b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为何值时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不能由</a:t>
            </a:r>
            <a:r>
              <a:rPr lang="zh-CN" altLang="en-US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线性表示？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为何值时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</a:t>
            </a:r>
            <a:endParaRPr lang="en-US" altLang="zh-CN" sz="2800" i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9" name="文本框 11"/>
          <p:cNvSpPr txBox="1"/>
          <p:nvPr/>
        </p:nvSpPr>
        <p:spPr>
          <a:xfrm>
            <a:off x="908050" y="3617913"/>
            <a:ext cx="1021397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并写出所有表示式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en-US" sz="2800" b="1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050" y="4635500"/>
            <a:ext cx="557213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1271" name="对象 -2147482379"/>
          <p:cNvGraphicFramePr>
            <a:graphicFrameLocks noChangeAspect="1"/>
          </p:cNvGraphicFramePr>
          <p:nvPr/>
        </p:nvGraphicFramePr>
        <p:xfrm>
          <a:off x="1801813" y="4140200"/>
          <a:ext cx="45085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03600" imgH="914400" progId="Equation.3">
                  <p:embed/>
                </p:oleObj>
              </mc:Choice>
              <mc:Fallback>
                <p:oleObj r:id="rId4" imgW="3403600" imgH="9144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01813" y="4140200"/>
                        <a:ext cx="4508500" cy="151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644650" y="5784850"/>
            <a:ext cx="10073640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显然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≠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≠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),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方程组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Ax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无解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</a:p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此时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不能由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线性表示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949700" y="4248150"/>
            <a:ext cx="0" cy="1308100"/>
          </a:xfrm>
          <a:prstGeom prst="line">
            <a:avLst/>
          </a:prstGeom>
          <a:ln w="28575" cmpd="dbl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5727700" y="4248150"/>
            <a:ext cx="0" cy="1308100"/>
          </a:xfrm>
          <a:prstGeom prst="line">
            <a:avLst/>
          </a:prstGeom>
          <a:ln w="28575" cmpd="dbl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1840C1F0-B779-42B7-B698-3671090DE606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4" name="标题 5145">
            <a:extLst>
              <a:ext uri="{FF2B5EF4-FFF2-40B4-BE49-F238E27FC236}">
                <a16:creationId xmlns:a16="http://schemas.microsoft.com/office/drawing/2014/main" id="{779BBB12-F2F0-4FC9-86BE-1B995AC6EA52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向量的线性组合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A0F8CE-C908-4B2E-8316-CFD5AEE02BF3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4D3485-7BF8-4466-B7FD-785CBF159923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8345488" y="1178602"/>
            <a:ext cx="3016250" cy="15303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5" name="文本框 14"/>
          <p:cNvSpPr txBox="1"/>
          <p:nvPr/>
        </p:nvSpPr>
        <p:spPr>
          <a:xfrm>
            <a:off x="908050" y="1133475"/>
            <a:ext cx="10506075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-1,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≠-2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方程组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08050" y="1655763"/>
            <a:ext cx="734377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Ax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有唯一解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=(0, 7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 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1)</a:t>
            </a:r>
            <a:r>
              <a:rPr lang="en-US" altLang="zh-CN" sz="2800" b="1" i="1" baseline="30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T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故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线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293" name="对象 -21474823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807645"/>
              </p:ext>
            </p:extLst>
          </p:nvPr>
        </p:nvGraphicFramePr>
        <p:xfrm>
          <a:off x="8574881" y="1319096"/>
          <a:ext cx="2557463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36800" imgH="914400" progId="Equation.3">
                  <p:embed/>
                </p:oleObj>
              </mc:Choice>
              <mc:Fallback>
                <p:oleObj r:id="rId2" imgW="2336800" imgH="9144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74881" y="1319096"/>
                        <a:ext cx="2557463" cy="1249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08050" y="2178050"/>
            <a:ext cx="10453688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性表示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且表示法唯一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表示式为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52750" y="2700338"/>
            <a:ext cx="494347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b=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+7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-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08050" y="3292475"/>
            <a:ext cx="10506075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-2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)=2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&lt;3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方程组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Ax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有无穷多解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4885" y="3815080"/>
            <a:ext cx="2563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其解为</a:t>
            </a:r>
          </a:p>
        </p:txBody>
      </p:sp>
      <p:graphicFrame>
        <p:nvGraphicFramePr>
          <p:cNvPr id="12298" name="对象 -2147482363"/>
          <p:cNvGraphicFramePr>
            <a:graphicFrameLocks noChangeAspect="1"/>
          </p:cNvGraphicFramePr>
          <p:nvPr/>
        </p:nvGraphicFramePr>
        <p:xfrm>
          <a:off x="3657600" y="4066540"/>
          <a:ext cx="3533775" cy="1062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62100" imgH="469900" progId="Equation.DSMT4">
                  <p:embed/>
                </p:oleObj>
              </mc:Choice>
              <mc:Fallback>
                <p:oleObj r:id="rId4" imgW="1562100" imgH="4699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57600" y="4066540"/>
                        <a:ext cx="3533775" cy="10629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755140" y="5129213"/>
            <a:ext cx="8985250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故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α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且表示法有无穷多种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表示式为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300" name="对象 -2147482540"/>
          <p:cNvGraphicFramePr>
            <a:graphicFrameLocks noChangeAspect="1"/>
          </p:cNvGraphicFramePr>
          <p:nvPr/>
        </p:nvGraphicFramePr>
        <p:xfrm>
          <a:off x="2760980" y="5780405"/>
          <a:ext cx="443039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45665" imgH="431800" progId="Equation.DSMT4">
                  <p:embed/>
                </p:oleObj>
              </mc:Choice>
              <mc:Fallback>
                <p:oleObj r:id="rId6" imgW="2145665" imgH="431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60980" y="5780405"/>
                        <a:ext cx="4430395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172325" y="5907088"/>
            <a:ext cx="24606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其中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c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为任意常数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A75919-B358-495E-A10A-3C64C30FD436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7" name="标题 5145">
            <a:extLst>
              <a:ext uri="{FF2B5EF4-FFF2-40B4-BE49-F238E27FC236}">
                <a16:creationId xmlns:a16="http://schemas.microsoft.com/office/drawing/2014/main" id="{6CC49BFF-A1C7-4502-9D7B-7D9B5A16A992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向量的线性组合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FE4309-530B-4B70-BDC0-C5320036BA8A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A57513-5589-47D6-8458-150D90FAA37A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5" grpId="0"/>
      <p:bldP spid="7" grpId="0"/>
      <p:bldP spid="8" grpId="0"/>
      <p:bldP spid="8" grpId="1"/>
      <p:bldP spid="9" grpId="0"/>
      <p:bldP spid="10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65263" y="2224138"/>
            <a:ext cx="10104437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设有两个向量组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及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若向量组</a:t>
            </a:r>
            <a:endParaRPr lang="en-US" altLang="zh-CN" sz="2800" b="1" i="1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08100" y="2879776"/>
            <a:ext cx="10447338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中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每个向量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都能由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线性表示，则称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向量组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能由向量组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08100" y="3402063"/>
            <a:ext cx="17018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21EAE6-B87C-48FB-800A-4D576CDCF92E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5" name="标题 5145">
            <a:extLst>
              <a:ext uri="{FF2B5EF4-FFF2-40B4-BE49-F238E27FC236}">
                <a16:creationId xmlns:a16="http://schemas.microsoft.com/office/drawing/2014/main" id="{DBAC73D8-D3E1-4E17-85EF-FD56251513B9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向量组等价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BD9CA9-026F-420F-B9A2-C9078978BF61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E8CCBF-6AE6-406F-A411-292910CA759E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-9525" y="2597245"/>
            <a:ext cx="602043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与向量组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</a:t>
            </a:r>
            <a:r>
              <a:rPr lang="zh-CN" altLang="en-US" sz="2800" b="1" u="sng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相互线性表示</a:t>
            </a:r>
          </a:p>
        </p:txBody>
      </p:sp>
      <p:sp>
        <p:nvSpPr>
          <p:cNvPr id="8" name="左右箭头 7"/>
          <p:cNvSpPr/>
          <p:nvPr/>
        </p:nvSpPr>
        <p:spPr>
          <a:xfrm>
            <a:off x="5972810" y="2724562"/>
            <a:ext cx="765175" cy="26987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左大括号 8"/>
          <p:cNvSpPr/>
          <p:nvPr/>
        </p:nvSpPr>
        <p:spPr>
          <a:xfrm>
            <a:off x="6967220" y="1937162"/>
            <a:ext cx="225425" cy="1845310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192645" y="1808892"/>
            <a:ext cx="4163060" cy="9531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sym typeface="+mn-ea"/>
              </a:rPr>
              <a:t>向量组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sym typeface="宋体" panose="02010600030101010101" pitchFamily="2" charset="-122"/>
              </a:rPr>
              <a:t>中每个向量都能由</a:t>
            </a:r>
            <a:r>
              <a:rPr lang="zh-CN" altLang="en-US" sz="2800" b="1" dirty="0">
                <a:solidFill>
                  <a:srgbClr val="0000FF"/>
                </a:solidFill>
                <a:sym typeface="+mn-ea"/>
              </a:rPr>
              <a:t>向量组</a:t>
            </a:r>
            <a:r>
              <a:rPr lang="en-US" altLang="zh-CN" sz="2800" b="1" i="1" dirty="0">
                <a:solidFill>
                  <a:srgbClr val="0000FF"/>
                </a:solidFill>
                <a:sym typeface="+mn-ea"/>
              </a:rPr>
              <a:t>A</a:t>
            </a:r>
            <a:r>
              <a:rPr lang="zh-CN" altLang="en-US" sz="2800" b="1" dirty="0">
                <a:sym typeface="+mn-ea"/>
              </a:rPr>
              <a:t>线性表示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92645" y="3119532"/>
            <a:ext cx="4163060" cy="9531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sym typeface="+mn-ea"/>
              </a:rPr>
              <a:t>向量组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sym typeface="宋体" panose="02010600030101010101" pitchFamily="2" charset="-122"/>
              </a:rPr>
              <a:t>中每个向量都能由</a:t>
            </a:r>
            <a:r>
              <a:rPr lang="zh-CN" altLang="en-US" sz="2800" b="1" dirty="0">
                <a:solidFill>
                  <a:srgbClr val="0000FF"/>
                </a:solidFill>
                <a:sym typeface="+mn-ea"/>
              </a:rPr>
              <a:t>向量组</a:t>
            </a:r>
            <a:r>
              <a:rPr lang="en-US" altLang="zh-CN" sz="2800" b="1" i="1" dirty="0">
                <a:solidFill>
                  <a:srgbClr val="0000FF"/>
                </a:solidFill>
                <a:sym typeface="+mn-ea"/>
              </a:rPr>
              <a:t>B</a:t>
            </a:r>
            <a:r>
              <a:rPr lang="zh-CN" altLang="en-US" sz="2800" b="1" dirty="0">
                <a:sym typeface="+mn-ea"/>
              </a:rPr>
              <a:t>线性表示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上下箭头 11"/>
          <p:cNvSpPr/>
          <p:nvPr/>
        </p:nvSpPr>
        <p:spPr>
          <a:xfrm>
            <a:off x="2630805" y="3219227"/>
            <a:ext cx="345440" cy="85534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00075" y="4273645"/>
            <a:ext cx="387540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向量组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与向量组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等价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21EAE6-B87C-48FB-800A-4D576CDCF92E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5" name="标题 5145">
            <a:extLst>
              <a:ext uri="{FF2B5EF4-FFF2-40B4-BE49-F238E27FC236}">
                <a16:creationId xmlns:a16="http://schemas.microsoft.com/office/drawing/2014/main" id="{DBAC73D8-D3E1-4E17-85EF-FD56251513B9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向量组等价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BD9CA9-026F-420F-B9A2-C9078978BF61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E8CCBF-6AE6-406F-A411-292910CA759E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20100041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bldLvl="0" animBg="1"/>
      <p:bldP spid="11" grpId="0" bldLvl="0" animBg="1"/>
      <p:bldP spid="12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4375" y="1221740"/>
            <a:ext cx="11526520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>
              <a:buFont typeface="Wingdings" panose="05000000000000000000" charset="0"/>
              <a:buChar char="ü"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矩阵等价是指矩阵通过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初等变换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得到另一个矩阵</a:t>
            </a:r>
          </a:p>
          <a:p>
            <a:pPr>
              <a:buFont typeface="Wingdings" panose="05000000000000000000" charset="0"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   （要求两者是同型矩阵）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9925" y="2326640"/>
            <a:ext cx="10894060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 algn="l">
              <a:buFont typeface="Wingdings" panose="05000000000000000000" charset="0"/>
              <a:buChar char="ü"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向量组等价是指两个</a:t>
            </a:r>
            <a:r>
              <a:rPr lang="zh-CN" altLang="en-US" sz="2800" b="1">
                <a:sym typeface="+mn-ea"/>
              </a:rPr>
              <a:t>向量组之间</a:t>
            </a:r>
            <a:r>
              <a:rPr lang="zh-CN" altLang="en-US" sz="2800" b="1">
                <a:sym typeface="宋体" panose="02010600030101010101" pitchFamily="2" charset="-122"/>
              </a:rPr>
              <a:t>能</a:t>
            </a:r>
            <a:r>
              <a:rPr lang="zh-CN" altLang="en-US" sz="2800" b="1">
                <a:solidFill>
                  <a:srgbClr val="0000FF"/>
                </a:solidFill>
                <a:sym typeface="宋体" panose="02010600030101010101" pitchFamily="2" charset="-122"/>
              </a:rPr>
              <a:t>相互线性表示  </a:t>
            </a:r>
          </a:p>
          <a:p>
            <a:pPr algn="l">
              <a:buFont typeface="Wingdings" panose="05000000000000000000" charset="0"/>
            </a:pPr>
            <a:r>
              <a:rPr lang="zh-CN" altLang="en-US" sz="2800" b="1">
                <a:solidFill>
                  <a:srgbClr val="FF0000"/>
                </a:solidFill>
                <a:sym typeface="宋体" panose="02010600030101010101" pitchFamily="2" charset="-122"/>
              </a:rPr>
              <a:t>   （要求向量同维数，但是向量的个数可以不同）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95855" y="3498850"/>
          <a:ext cx="2273300" cy="1675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65200" imgH="711200" progId="Equation.KSEE3">
                  <p:embed/>
                </p:oleObj>
              </mc:Choice>
              <mc:Fallback>
                <p:oleObj r:id="rId2" imgW="965200" imgH="7112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95855" y="3498850"/>
                        <a:ext cx="2273300" cy="1675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602480" y="4038600"/>
            <a:ext cx="848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与</a:t>
            </a: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22215" y="3441700"/>
          <a:ext cx="1708785" cy="1649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36600" imgH="711200" progId="Equation.KSEE3">
                  <p:embed/>
                </p:oleObj>
              </mc:Choice>
              <mc:Fallback>
                <p:oleObj r:id="rId4" imgW="736600" imgH="711200" progId="Equation.KSEE3">
                  <p:embed/>
                  <p:pic>
                    <p:nvPicPr>
                      <p:cNvPr id="0" name="图片 205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22215" y="3441700"/>
                        <a:ext cx="1708785" cy="1649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920230" y="4137660"/>
            <a:ext cx="20993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</a:rPr>
              <a:t>矩阵不等价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003425" y="5620385"/>
            <a:ext cx="804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但是</a:t>
            </a:r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978150" y="5174615"/>
          <a:ext cx="617143" cy="14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04800" imgH="711200" progId="Equation.KSEE3">
                  <p:embed/>
                </p:oleObj>
              </mc:Choice>
              <mc:Fallback>
                <p:oleObj r:id="rId6" imgW="304800" imgH="7112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78150" y="5174615"/>
                        <a:ext cx="617143" cy="14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595370" y="5174615"/>
          <a:ext cx="617143" cy="14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04800" imgH="711200" progId="Equation.KSEE3">
                  <p:embed/>
                </p:oleObj>
              </mc:Choice>
              <mc:Fallback>
                <p:oleObj r:id="rId8" imgW="304800" imgH="7112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95370" y="5174615"/>
                        <a:ext cx="617143" cy="14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212552" y="5174525"/>
          <a:ext cx="617220" cy="1440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04800" imgH="711200" progId="Equation.KSEE3">
                  <p:embed/>
                </p:oleObj>
              </mc:Choice>
              <mc:Fallback>
                <p:oleObj r:id="rId10" imgW="304800" imgH="7112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12552" y="5174525"/>
                        <a:ext cx="617220" cy="1440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829810" y="5664200"/>
            <a:ext cx="848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与</a:t>
            </a:r>
          </a:p>
        </p:txBody>
      </p:sp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69865" y="5228590"/>
          <a:ext cx="617143" cy="14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04800" imgH="711200" progId="Equation.KSEE3">
                  <p:embed/>
                </p:oleObj>
              </mc:Choice>
              <mc:Fallback>
                <p:oleObj r:id="rId12" imgW="304800" imgH="7112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269865" y="5228590"/>
                        <a:ext cx="617143" cy="14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18530" y="5229225"/>
          <a:ext cx="617143" cy="14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04800" imgH="711200" progId="Equation.KSEE3">
                  <p:embed/>
                </p:oleObj>
              </mc:Choice>
              <mc:Fallback>
                <p:oleObj r:id="rId14" imgW="304800" imgH="7112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018530" y="5229225"/>
                        <a:ext cx="617143" cy="14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6731000" y="5664200"/>
            <a:ext cx="20993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</a:rPr>
              <a:t>列向量组等价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281430" y="3536950"/>
            <a:ext cx="11150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例如：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C87EDD-A06B-417B-BF0C-A63A80E946BE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21" name="标题 5145">
            <a:extLst>
              <a:ext uri="{FF2B5EF4-FFF2-40B4-BE49-F238E27FC236}">
                <a16:creationId xmlns:a16="http://schemas.microsoft.com/office/drawing/2014/main" id="{8EF29305-321D-43DE-9CC2-7CBABAE6D9AF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向量组等价与矩阵等价的区别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A0FFF86-DB9F-42F0-A6E8-40B9EDF934FA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A219639-14E5-48F0-8040-E2D9ACB200C6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10" grpId="0"/>
      <p:bldP spid="11" grpId="0"/>
      <p:bldP spid="17" grpId="0"/>
      <p:bldP spid="22" grpId="0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2" name="文本框 6"/>
          <p:cNvSpPr txBox="1"/>
          <p:nvPr/>
        </p:nvSpPr>
        <p:spPr>
          <a:xfrm>
            <a:off x="996720" y="4165218"/>
            <a:ext cx="887730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: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线性表示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20715" y="4900538"/>
            <a:ext cx="2257425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E4332E-8C50-4406-8DA5-CAC749840CAD}"/>
              </a:ext>
            </a:extLst>
          </p:cNvPr>
          <p:cNvSpPr/>
          <p:nvPr/>
        </p:nvSpPr>
        <p:spPr>
          <a:xfrm>
            <a:off x="11113" y="8719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8" name="标题 5145">
            <a:extLst>
              <a:ext uri="{FF2B5EF4-FFF2-40B4-BE49-F238E27FC236}">
                <a16:creationId xmlns:a16="http://schemas.microsoft.com/office/drawing/2014/main" id="{78E2C5A7-7205-4A19-813B-DF6B513A2DFC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向量组等价</a:t>
            </a:r>
            <a:r>
              <a:rPr lang="zh-CN" altLang="en-US" sz="3200" noProof="1">
                <a:solidFill>
                  <a:schemeClr val="tx1"/>
                </a:solidFill>
                <a:effectLst/>
                <a:sym typeface="+mn-ea"/>
              </a:rPr>
              <a:t>与秩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D8CC80-ABF3-44A7-96DB-11F8C30051F4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3D9D1B-2766-4886-AC02-318516203F86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CF603F-839C-408D-A37C-E59C7D2A9393}"/>
              </a:ext>
            </a:extLst>
          </p:cNvPr>
          <p:cNvSpPr txBox="1"/>
          <p:nvPr/>
        </p:nvSpPr>
        <p:spPr>
          <a:xfrm>
            <a:off x="1160087" y="1431120"/>
            <a:ext cx="9674225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向量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C268A2-F7FC-42B1-976B-12D9C5F47122}"/>
              </a:ext>
            </a:extLst>
          </p:cNvPr>
          <p:cNvSpPr txBox="1"/>
          <p:nvPr/>
        </p:nvSpPr>
        <p:spPr>
          <a:xfrm>
            <a:off x="1160087" y="4721853"/>
            <a:ext cx="9000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宋体" panose="02010600030101010101" pitchFamily="2" charset="-122"/>
                <a:sym typeface="宋体" panose="02010600030101010101" pitchFamily="2" charset="-122"/>
              </a:rPr>
              <a:t>⇔</a:t>
            </a:r>
            <a:endParaRPr lang="zh-CN" altLang="en-US" sz="4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A2722A-F330-4BDB-90B5-3B469F884FB2}"/>
              </a:ext>
            </a:extLst>
          </p:cNvPr>
          <p:cNvSpPr txBox="1"/>
          <p:nvPr/>
        </p:nvSpPr>
        <p:spPr>
          <a:xfrm>
            <a:off x="1160087" y="2603106"/>
            <a:ext cx="9000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宋体" panose="02010600030101010101" pitchFamily="2" charset="-122"/>
                <a:sym typeface="宋体" panose="02010600030101010101" pitchFamily="2" charset="-122"/>
              </a:rPr>
              <a:t>⇔</a:t>
            </a:r>
            <a:endParaRPr lang="zh-CN" altLang="en-US" sz="4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2E67CF-3FFD-4ED5-A19C-3305A6264868}"/>
              </a:ext>
            </a:extLst>
          </p:cNvPr>
          <p:cNvSpPr txBox="1"/>
          <p:nvPr/>
        </p:nvSpPr>
        <p:spPr>
          <a:xfrm>
            <a:off x="1919987" y="2763993"/>
            <a:ext cx="2160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/>
              <a:t>A</a:t>
            </a:r>
            <a:r>
              <a:rPr lang="en-US" altLang="zh-CN" sz="2800" b="1" i="1" dirty="0"/>
              <a:t>x</a:t>
            </a:r>
            <a:r>
              <a:rPr lang="en-US" altLang="zh-CN" sz="2800" dirty="0"/>
              <a:t>=</a:t>
            </a:r>
            <a:r>
              <a:rPr lang="en-US" altLang="zh-CN" sz="2800" b="1" i="1" dirty="0"/>
              <a:t>b</a:t>
            </a:r>
            <a:r>
              <a:rPr lang="en-US" altLang="zh-CN" sz="2800" dirty="0"/>
              <a:t>  </a:t>
            </a:r>
            <a:r>
              <a:rPr lang="zh-CN" altLang="en-US" sz="2800" b="1" dirty="0"/>
              <a:t>有解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C603733-15AC-4535-AE16-DCA0EE50D0F0}"/>
              </a:ext>
            </a:extLst>
          </p:cNvPr>
          <p:cNvSpPr txBox="1"/>
          <p:nvPr/>
        </p:nvSpPr>
        <p:spPr>
          <a:xfrm>
            <a:off x="1904115" y="5617859"/>
            <a:ext cx="2160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/>
              <a:t>AX</a:t>
            </a:r>
            <a:r>
              <a:rPr lang="en-US" altLang="zh-CN" sz="2800" dirty="0"/>
              <a:t>=</a:t>
            </a:r>
            <a:r>
              <a:rPr lang="en-US" altLang="zh-CN" sz="2800" i="1" dirty="0"/>
              <a:t>B</a:t>
            </a:r>
            <a:r>
              <a:rPr lang="en-US" altLang="zh-CN" sz="2800" dirty="0"/>
              <a:t>  </a:t>
            </a:r>
            <a:r>
              <a:rPr lang="zh-CN" altLang="en-US" sz="2800" b="1" dirty="0"/>
              <a:t>有解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E37A7A1-ADBF-49CA-823E-D5170AFBDA36}"/>
              </a:ext>
            </a:extLst>
          </p:cNvPr>
          <p:cNvSpPr txBox="1"/>
          <p:nvPr/>
        </p:nvSpPr>
        <p:spPr>
          <a:xfrm>
            <a:off x="1160087" y="5494748"/>
            <a:ext cx="8243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宋体" panose="02010600030101010101" pitchFamily="2" charset="-122"/>
                <a:sym typeface="宋体" panose="02010600030101010101" pitchFamily="2" charset="-122"/>
              </a:rPr>
              <a:t>⇔</a:t>
            </a:r>
            <a:endParaRPr lang="zh-CN" altLang="en-US" sz="44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5BE5C7-AC93-49E4-9532-2DD570D5FD9E}"/>
              </a:ext>
            </a:extLst>
          </p:cNvPr>
          <p:cNvSpPr/>
          <p:nvPr/>
        </p:nvSpPr>
        <p:spPr>
          <a:xfrm>
            <a:off x="529214" y="1243136"/>
            <a:ext cx="10935970" cy="212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75A57D-8A21-4523-A61D-842C267D2164}"/>
              </a:ext>
            </a:extLst>
          </p:cNvPr>
          <p:cNvSpPr/>
          <p:nvPr/>
        </p:nvSpPr>
        <p:spPr>
          <a:xfrm>
            <a:off x="665278" y="3994781"/>
            <a:ext cx="10935970" cy="212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19B977-C45A-43D9-9F3C-E7F0480CCDA8}"/>
              </a:ext>
            </a:extLst>
          </p:cNvPr>
          <p:cNvSpPr txBox="1"/>
          <p:nvPr/>
        </p:nvSpPr>
        <p:spPr>
          <a:xfrm>
            <a:off x="1984408" y="2056039"/>
            <a:ext cx="2706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sym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0000FF"/>
                </a:solidFill>
                <a:sym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 err="1">
                <a:solidFill>
                  <a:srgbClr val="0000FF"/>
                </a:solidFill>
                <a:sym typeface="宋体" panose="02010600030101010101" pitchFamily="2" charset="-122"/>
              </a:rPr>
              <a:t>A,b</a:t>
            </a:r>
            <a:r>
              <a:rPr lang="zh-CN" altLang="en-US" sz="2800" b="1" dirty="0">
                <a:solidFill>
                  <a:srgbClr val="0000FF"/>
                </a:solidFill>
                <a:sym typeface="宋体" panose="02010600030101010101" pitchFamily="2" charset="-122"/>
              </a:rPr>
              <a:t>）</a:t>
            </a:r>
            <a:endParaRPr lang="zh-CN" altLang="en-US" sz="28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C5F18BB-9420-4E2F-98DD-42F6A874C7E1}"/>
              </a:ext>
            </a:extLst>
          </p:cNvPr>
          <p:cNvSpPr txBox="1"/>
          <p:nvPr/>
        </p:nvSpPr>
        <p:spPr>
          <a:xfrm>
            <a:off x="1180941" y="1909217"/>
            <a:ext cx="9000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宋体" panose="02010600030101010101" pitchFamily="2" charset="-122"/>
                <a:sym typeface="宋体" panose="02010600030101010101" pitchFamily="2" charset="-122"/>
              </a:rPr>
              <a:t>⇔</a:t>
            </a:r>
            <a:endParaRPr lang="zh-CN" altLang="en-US" sz="4400" dirty="0"/>
          </a:p>
        </p:txBody>
      </p:sp>
    </p:spTree>
  </p:cSld>
  <p:clrMapOvr>
    <a:masterClrMapping/>
  </p:clrMapOvr>
  <p:transition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"/>
          <p:cNvSpPr txBox="1"/>
          <p:nvPr/>
        </p:nvSpPr>
        <p:spPr>
          <a:xfrm>
            <a:off x="424180" y="1219200"/>
            <a:ext cx="120142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推论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99" name="文本框 11"/>
          <p:cNvSpPr txBox="1"/>
          <p:nvPr/>
        </p:nvSpPr>
        <p:spPr>
          <a:xfrm>
            <a:off x="2339975" y="1219200"/>
            <a:ext cx="7310438" cy="5207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向量组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与向量组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等价</a:t>
            </a:r>
          </a:p>
        </p:txBody>
      </p:sp>
      <p:sp>
        <p:nvSpPr>
          <p:cNvPr id="13" name="左右箭头 12"/>
          <p:cNvSpPr/>
          <p:nvPr/>
        </p:nvSpPr>
        <p:spPr>
          <a:xfrm>
            <a:off x="2543075" y="2190113"/>
            <a:ext cx="897990" cy="41910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solidFill>
                <a:srgbClr val="C0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19170" y="1852295"/>
            <a:ext cx="6984604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en-US" altLang="zh-CN" sz="2800" b="1" i="1" dirty="0">
                <a:solidFill>
                  <a:srgbClr val="0000FF"/>
                </a:solidFill>
                <a:latin typeface="+mj-lt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由</a:t>
            </a:r>
            <a:r>
              <a:rPr lang="en-US" altLang="zh-CN" sz="2800" b="1" i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线性表示：</a:t>
            </a:r>
            <a:r>
              <a:rPr lang="en-US" altLang="zh-CN" sz="2800" b="1" dirty="0">
                <a:sym typeface="宋体" panose="02010600030101010101" pitchFamily="2" charset="-122"/>
              </a:rPr>
              <a:t>AX=B</a:t>
            </a:r>
            <a:r>
              <a:rPr lang="zh-CN" altLang="en-US" sz="2800" b="1" dirty="0">
                <a:sym typeface="宋体" panose="02010600030101010101" pitchFamily="2" charset="-122"/>
              </a:rPr>
              <a:t>有解，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sym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0000FF"/>
                </a:solidFill>
                <a:sym typeface="宋体" panose="02010600030101010101" pitchFamily="2" charset="-122"/>
              </a:rPr>
              <a:t>)=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A,B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57575" y="2486660"/>
            <a:ext cx="71647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由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线性表示：</a:t>
            </a:r>
            <a:r>
              <a:rPr lang="en-US" altLang="zh-CN" sz="2800" b="1" dirty="0">
                <a:sym typeface="宋体" panose="02010600030101010101" pitchFamily="2" charset="-122"/>
              </a:rPr>
              <a:t>B</a:t>
            </a:r>
            <a:r>
              <a:rPr lang="en-US" altLang="zh-CN" sz="2800" b="1" i="1" dirty="0">
                <a:sym typeface="宋体" panose="02010600030101010101" pitchFamily="2" charset="-122"/>
              </a:rPr>
              <a:t>X</a:t>
            </a:r>
            <a:r>
              <a:rPr lang="en-US" altLang="zh-CN" sz="2800" b="1" dirty="0">
                <a:sym typeface="宋体" panose="02010600030101010101" pitchFamily="2" charset="-122"/>
              </a:rPr>
              <a:t>=A</a:t>
            </a:r>
            <a:r>
              <a:rPr lang="zh-CN" altLang="en-US" sz="2800" b="1" dirty="0">
                <a:sym typeface="宋体" panose="02010600030101010101" pitchFamily="2" charset="-122"/>
              </a:rPr>
              <a:t>有解，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sym typeface="宋体" panose="02010600030101010101" pitchFamily="2" charset="-122"/>
              </a:rPr>
              <a:t>A,B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) </a:t>
            </a:r>
            <a:endParaRPr lang="zh-CN" altLang="en-US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3519170" y="3434080"/>
            <a:ext cx="32943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2800" b="1" i="1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0000FF"/>
                </a:solidFill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en-US" altLang="zh-CN" sz="2800" b="1">
                <a:solidFill>
                  <a:srgbClr val="0000FF"/>
                </a:solidFill>
                <a:sym typeface="宋体" panose="02010600030101010101" pitchFamily="2" charset="-122"/>
              </a:rPr>
              <a:t>)=</a:t>
            </a:r>
            <a:r>
              <a:rPr lang="en-US" altLang="zh-CN" sz="2800" b="1" i="1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FF"/>
                </a:solidFill>
                <a:sym typeface="宋体" panose="02010600030101010101" pitchFamily="2" charset="-122"/>
              </a:rPr>
              <a:t>B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sz="2800" b="1">
                <a:solidFill>
                  <a:srgbClr val="FF0000"/>
                </a:solidFill>
                <a:sym typeface="宋体" panose="02010600030101010101" pitchFamily="2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sym typeface="宋体" panose="02010600030101010101" pitchFamily="2" charset="-122"/>
              </a:rPr>
              <a:t>A,B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)</a:t>
            </a:r>
          </a:p>
        </p:txBody>
      </p:sp>
      <p:sp>
        <p:nvSpPr>
          <p:cNvPr id="31" name="矩形 30"/>
          <p:cNvSpPr/>
          <p:nvPr/>
        </p:nvSpPr>
        <p:spPr>
          <a:xfrm>
            <a:off x="154305" y="1089025"/>
            <a:ext cx="11901170" cy="571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左大括号 32"/>
          <p:cNvSpPr/>
          <p:nvPr/>
        </p:nvSpPr>
        <p:spPr>
          <a:xfrm>
            <a:off x="3441065" y="1943735"/>
            <a:ext cx="89535" cy="945515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1"/>
          <p:cNvSpPr txBox="1"/>
          <p:nvPr/>
        </p:nvSpPr>
        <p:spPr>
          <a:xfrm>
            <a:off x="154305" y="4127500"/>
            <a:ext cx="119005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提出问题：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两个向量组等价则它们的秩相同，那么秩相同的两个向量组是否一定等价？</a:t>
            </a:r>
          </a:p>
        </p:txBody>
      </p:sp>
      <p:sp>
        <p:nvSpPr>
          <p:cNvPr id="36" name="文本框 1"/>
          <p:cNvSpPr txBox="1"/>
          <p:nvPr/>
        </p:nvSpPr>
        <p:spPr>
          <a:xfrm>
            <a:off x="1970405" y="4826000"/>
            <a:ext cx="39897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答：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不一定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154170" y="4764405"/>
            <a:ext cx="32943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2800" b="1" i="1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0000FF"/>
                </a:solidFill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FF"/>
                </a:solidFill>
                <a:sym typeface="宋体" panose="02010600030101010101" pitchFamily="2" charset="-122"/>
              </a:rPr>
              <a:t>A</a:t>
            </a:r>
            <a:r>
              <a:rPr lang="en-US" altLang="zh-CN" sz="2800" b="1">
                <a:solidFill>
                  <a:srgbClr val="0000FF"/>
                </a:solidFill>
                <a:sym typeface="宋体" panose="02010600030101010101" pitchFamily="2" charset="-122"/>
              </a:rPr>
              <a:t>)=</a:t>
            </a:r>
            <a:r>
              <a:rPr lang="en-US" altLang="zh-CN" sz="2800" b="1" i="1">
                <a:solidFill>
                  <a:srgbClr val="0000FF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FF"/>
                </a:solidFill>
                <a:sym typeface="宋体" panose="02010600030101010101" pitchFamily="2" charset="-122"/>
              </a:rPr>
              <a:t>B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sz="2800" b="1">
                <a:solidFill>
                  <a:srgbClr val="FF0000"/>
                </a:solidFill>
                <a:sym typeface="宋体" panose="02010600030101010101" pitchFamily="2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sym typeface="宋体" panose="02010600030101010101" pitchFamily="2" charset="-122"/>
              </a:rPr>
              <a:t>A,B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)</a:t>
            </a:r>
          </a:p>
        </p:txBody>
      </p:sp>
      <p:graphicFrame>
        <p:nvGraphicFramePr>
          <p:cNvPr id="38" name="对象 3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009265" y="5376545"/>
          <a:ext cx="431800" cy="1151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6700" imgH="711200" progId="Equation.KSEE3">
                  <p:embed/>
                </p:oleObj>
              </mc:Choice>
              <mc:Fallback>
                <p:oleObj r:id="rId2" imgW="2667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09265" y="5376545"/>
                        <a:ext cx="431800" cy="1151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512820" y="5772150"/>
            <a:ext cx="332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与</a:t>
            </a:r>
          </a:p>
        </p:txBody>
      </p:sp>
      <p:graphicFrame>
        <p:nvGraphicFramePr>
          <p:cNvPr id="40" name="对象 3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61765" y="5408295"/>
          <a:ext cx="431800" cy="1151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6700" imgH="711200" progId="Equation.KSEE3">
                  <p:embed/>
                </p:oleObj>
              </mc:Choice>
              <mc:Fallback>
                <p:oleObj r:id="rId4" imgW="2667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61765" y="5408295"/>
                        <a:ext cx="431800" cy="1151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4479925" y="5829935"/>
            <a:ext cx="1372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秩均为</a:t>
            </a:r>
            <a:r>
              <a:rPr lang="en-US" altLang="zh-CN" b="1"/>
              <a:t>1</a:t>
            </a:r>
            <a:r>
              <a:rPr lang="zh-CN" altLang="en-US" b="1"/>
              <a:t>，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852160" y="5829935"/>
            <a:ext cx="3342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但是向量组不等价，</a:t>
            </a:r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453755" y="5808980"/>
          <a:ext cx="357378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47800" imgH="203200" progId="Equation.KSEE3">
                  <p:embed/>
                </p:oleObj>
              </mc:Choice>
              <mc:Fallback>
                <p:oleObj r:id="rId6" imgW="1447800" imgH="2032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53755" y="5808980"/>
                        <a:ext cx="3573780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71E6CA05-8DB4-4A0C-B0FA-6C0C7BC6316E}"/>
              </a:ext>
            </a:extLst>
          </p:cNvPr>
          <p:cNvSpPr/>
          <p:nvPr/>
        </p:nvSpPr>
        <p:spPr>
          <a:xfrm>
            <a:off x="11113" y="8719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22" name="标题 5145">
            <a:extLst>
              <a:ext uri="{FF2B5EF4-FFF2-40B4-BE49-F238E27FC236}">
                <a16:creationId xmlns:a16="http://schemas.microsoft.com/office/drawing/2014/main" id="{E64B9476-39D0-45ED-B812-C96E4D34A5E6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向量组等价与秩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74F98E6-D98F-4836-B82D-5599C35BFF28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90385E-9EBA-4AFE-9906-9E810D55EAFC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5" name="左右箭头 12">
            <a:extLst>
              <a:ext uri="{FF2B5EF4-FFF2-40B4-BE49-F238E27FC236}">
                <a16:creationId xmlns:a16="http://schemas.microsoft.com/office/drawing/2014/main" id="{B2757FFC-E0F0-474C-A0FC-54839C112201}"/>
              </a:ext>
            </a:extLst>
          </p:cNvPr>
          <p:cNvSpPr/>
          <p:nvPr/>
        </p:nvSpPr>
        <p:spPr>
          <a:xfrm>
            <a:off x="2566183" y="3485514"/>
            <a:ext cx="897990" cy="41910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399" grpId="0"/>
      <p:bldP spid="13" grpId="0" bldLvl="0" animBg="1"/>
      <p:bldP spid="14" grpId="0"/>
      <p:bldP spid="7" grpId="0"/>
      <p:bldP spid="12" grpId="0"/>
      <p:bldP spid="33" grpId="0" animBg="1"/>
      <p:bldP spid="35" grpId="0"/>
      <p:bldP spid="36" grpId="0"/>
      <p:bldP spid="37" grpId="0"/>
      <p:bldP spid="39" grpId="0"/>
      <p:bldP spid="42" grpId="0"/>
      <p:bldP spid="43" grpId="0"/>
      <p:bldP spid="25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"/>
          <p:cNvSpPr txBox="1"/>
          <p:nvPr/>
        </p:nvSpPr>
        <p:spPr>
          <a:xfrm>
            <a:off x="952500" y="2155825"/>
            <a:ext cx="17843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824163" y="2678113"/>
            <a:ext cx="1924050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)≤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85900" y="3259138"/>
            <a:ext cx="66357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439988" y="3216275"/>
            <a:ext cx="8878887" cy="6076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组能由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组线性表示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由定理知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，而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527300" y="3913188"/>
            <a:ext cx="5064125" cy="6080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)≤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),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因此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)≤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).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420938" y="2155825"/>
            <a:ext cx="8878887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向量组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能由向量组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线性表示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则</a:t>
            </a:r>
          </a:p>
        </p:txBody>
      </p:sp>
      <p:sp>
        <p:nvSpPr>
          <p:cNvPr id="32" name="矩形 31"/>
          <p:cNvSpPr/>
          <p:nvPr/>
        </p:nvSpPr>
        <p:spPr>
          <a:xfrm>
            <a:off x="554355" y="2155825"/>
            <a:ext cx="10935970" cy="2698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AAAF4D-7AFA-45DA-A2B9-F7B5F04B7787}"/>
              </a:ext>
            </a:extLst>
          </p:cNvPr>
          <p:cNvSpPr/>
          <p:nvPr/>
        </p:nvSpPr>
        <p:spPr>
          <a:xfrm>
            <a:off x="11113" y="8719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0" name="标题 5145">
            <a:extLst>
              <a:ext uri="{FF2B5EF4-FFF2-40B4-BE49-F238E27FC236}">
                <a16:creationId xmlns:a16="http://schemas.microsoft.com/office/drawing/2014/main" id="{E65F79F8-6E1A-4B81-8951-61477EA3081A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向量组等价与秩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FD7E67-E911-4CF8-B726-B0237B8EB11E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6A0F7C-CA32-48D3-8506-88B29A26397B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  <p:bldP spid="21" grpId="0"/>
      <p:bldP spid="22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文本框 105"/>
          <p:cNvSpPr txBox="1"/>
          <p:nvPr/>
        </p:nvSpPr>
        <p:spPr>
          <a:xfrm>
            <a:off x="908050" y="1133475"/>
            <a:ext cx="5080000" cy="5222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1.3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已知向量组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7411" name="对象 -2147482519"/>
          <p:cNvGraphicFramePr>
            <a:graphicFrameLocks noChangeAspect="1"/>
          </p:cNvGraphicFramePr>
          <p:nvPr/>
        </p:nvGraphicFramePr>
        <p:xfrm>
          <a:off x="2036763" y="1655763"/>
          <a:ext cx="3067050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59000" imgH="914400" progId="Equation.3">
                  <p:embed/>
                </p:oleObj>
              </mc:Choice>
              <mc:Fallback>
                <p:oleObj r:id="rId2" imgW="2159000" imgH="9144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36763" y="1655763"/>
                        <a:ext cx="3067050" cy="1620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对象 -2147482518"/>
          <p:cNvGraphicFramePr>
            <a:graphicFrameLocks noChangeAspect="1"/>
          </p:cNvGraphicFramePr>
          <p:nvPr/>
        </p:nvGraphicFramePr>
        <p:xfrm>
          <a:off x="6175375" y="1655763"/>
          <a:ext cx="3140075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09800" imgH="914400" progId="Equation.3">
                  <p:embed/>
                </p:oleObj>
              </mc:Choice>
              <mc:Fallback>
                <p:oleObj r:id="rId4" imgW="2209800" imgH="9144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75375" y="1655763"/>
                        <a:ext cx="3140075" cy="1620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908050" y="3276600"/>
            <a:ext cx="8578850" cy="5207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证明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组能由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组线性表示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但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组不能由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组线性表示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08050" y="3802063"/>
            <a:ext cx="10256838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证   </a:t>
            </a:r>
            <a:r>
              <a:rPr lang="zh-CN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只要证明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，而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≠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即可</a:t>
            </a:r>
          </a:p>
        </p:txBody>
      </p:sp>
      <p:graphicFrame>
        <p:nvGraphicFramePr>
          <p:cNvPr id="17415" name="对象 -2147482510"/>
          <p:cNvGraphicFramePr>
            <a:graphicFrameLocks noChangeAspect="1"/>
          </p:cNvGraphicFramePr>
          <p:nvPr/>
        </p:nvGraphicFramePr>
        <p:xfrm>
          <a:off x="1768475" y="4324350"/>
          <a:ext cx="6659563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759200" imgH="914400" progId="Equation.DSMT4">
                  <p:embed/>
                </p:oleObj>
              </mc:Choice>
              <mc:Fallback>
                <p:oleObj r:id="rId6" imgW="3759200" imgH="9144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68475" y="4324350"/>
                        <a:ext cx="6659563" cy="161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1B9CA02-D0FA-41ED-BFAA-4DB24340FA6B}"/>
              </a:ext>
            </a:extLst>
          </p:cNvPr>
          <p:cNvSpPr/>
          <p:nvPr/>
        </p:nvSpPr>
        <p:spPr>
          <a:xfrm>
            <a:off x="11113" y="8719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2" name="标题 5145">
            <a:extLst>
              <a:ext uri="{FF2B5EF4-FFF2-40B4-BE49-F238E27FC236}">
                <a16:creationId xmlns:a16="http://schemas.microsoft.com/office/drawing/2014/main" id="{38CA09CC-FE18-4E61-B4E0-A187559B4736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向量组等价与秩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9439CC-5237-4DF3-8083-B1E3A9656A0A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3BF4BE-AB64-430A-B455-C268EDD2A35B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对象 -2147482509"/>
          <p:cNvGraphicFramePr>
            <a:graphicFrameLocks noChangeAspect="1"/>
          </p:cNvGraphicFramePr>
          <p:nvPr/>
        </p:nvGraphicFramePr>
        <p:xfrm>
          <a:off x="2155825" y="1133475"/>
          <a:ext cx="6524625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83000" imgH="914400" progId="Equation.DSMT4">
                  <p:embed/>
                </p:oleObj>
              </mc:Choice>
              <mc:Fallback>
                <p:oleObj r:id="rId2" imgW="3683000" imgH="9144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55825" y="1133475"/>
                        <a:ext cx="6524625" cy="1620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08050" y="2828925"/>
            <a:ext cx="10256838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可见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)=3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)=3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，所以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能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由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组线性表示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6996113" y="1152525"/>
            <a:ext cx="4763" cy="151130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908050" y="3349625"/>
            <a:ext cx="549275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又</a:t>
            </a:r>
          </a:p>
        </p:txBody>
      </p:sp>
      <p:graphicFrame>
        <p:nvGraphicFramePr>
          <p:cNvPr id="18438" name="对象 -2147482505"/>
          <p:cNvGraphicFramePr>
            <a:graphicFrameLocks noChangeAspect="1"/>
          </p:cNvGraphicFramePr>
          <p:nvPr/>
        </p:nvGraphicFramePr>
        <p:xfrm>
          <a:off x="2032000" y="3871913"/>
          <a:ext cx="5332413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009900" imgH="914400" progId="Equation.DSMT4">
                  <p:embed/>
                </p:oleObj>
              </mc:Choice>
              <mc:Fallback>
                <p:oleObj r:id="rId4" imgW="3009900" imgH="9144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32000" y="3871913"/>
                        <a:ext cx="5332413" cy="1620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08050" y="5492750"/>
            <a:ext cx="1025683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可见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)=2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≠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)=3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，所以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不能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由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组线性表示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5A012E-67C1-4DAE-B730-00D2165C5645}"/>
              </a:ext>
            </a:extLst>
          </p:cNvPr>
          <p:cNvSpPr/>
          <p:nvPr/>
        </p:nvSpPr>
        <p:spPr>
          <a:xfrm>
            <a:off x="11113" y="8719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0" name="标题 5145">
            <a:extLst>
              <a:ext uri="{FF2B5EF4-FFF2-40B4-BE49-F238E27FC236}">
                <a16:creationId xmlns:a16="http://schemas.microsoft.com/office/drawing/2014/main" id="{BDB219E0-77A6-43EC-9685-329D70553770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向量组等价与秩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B3963C-DDC7-4FC8-857B-84E65D31874C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BC8ECB-3A26-435C-A8AB-7C002BFE0E56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文本框 109"/>
          <p:cNvSpPr txBox="1"/>
          <p:nvPr/>
        </p:nvSpPr>
        <p:spPr>
          <a:xfrm>
            <a:off x="1489075" y="1133475"/>
            <a:ext cx="9896475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矩阵的等价关系和向量组的等价关系之间的联系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7263" y="2011998"/>
            <a:ext cx="9799637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(1)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矩阵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与矩阵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行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等价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46650" y="2011363"/>
            <a:ext cx="104775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则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的行向量组与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的行向量组等价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57580" y="5705475"/>
            <a:ext cx="1117092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(2)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矩阵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与矩阵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列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等价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则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的列向量组与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的列向量组等价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</a:p>
        </p:txBody>
      </p:sp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406775" y="2693035"/>
          <a:ext cx="1442085" cy="837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7400" imgH="457200" progId="Equation.KSEE3">
                  <p:embed/>
                </p:oleObj>
              </mc:Choice>
              <mc:Fallback>
                <p:oleObj r:id="rId2" imgW="787400" imgH="4572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06775" y="2693035"/>
                        <a:ext cx="1442085" cy="837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57140" y="2693035"/>
          <a:ext cx="1417955" cy="837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74065" imgH="457200" progId="Equation.KSEE3">
                  <p:embed/>
                </p:oleObj>
              </mc:Choice>
              <mc:Fallback>
                <p:oleObj r:id="rId4" imgW="774065" imgH="4572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57140" y="2693035"/>
                        <a:ext cx="1417955" cy="837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2545715" y="3840480"/>
            <a:ext cx="1528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列向量组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042150" y="2881630"/>
            <a:ext cx="2417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矩阵行等价</a:t>
            </a:r>
          </a:p>
        </p:txBody>
      </p:sp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70848" y="3575087"/>
          <a:ext cx="3808095" cy="100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27200" imgH="457200" progId="Equation.KSEE3">
                  <p:embed/>
                </p:oleObj>
              </mc:Choice>
              <mc:Fallback>
                <p:oleObj r:id="rId6" imgW="1727200" imgH="457200" progId="Equation.KSEE3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70848" y="3575087"/>
                        <a:ext cx="3808095" cy="1007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2545715" y="4729480"/>
            <a:ext cx="1528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行向量组</a:t>
            </a:r>
          </a:p>
        </p:txBody>
      </p:sp>
      <p:graphicFrame>
        <p:nvGraphicFramePr>
          <p:cNvPr id="20" name="对象 1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074011" y="4729200"/>
          <a:ext cx="45085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044700" imgH="215900" progId="Equation.KSEE3">
                  <p:embed/>
                </p:oleObj>
              </mc:Choice>
              <mc:Fallback>
                <p:oleObj r:id="rId8" imgW="2044700" imgH="215900" progId="Equation.KSEE3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74011" y="4729200"/>
                        <a:ext cx="4508500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C6BC5817-56AB-4311-B8FB-67EFDF25D462}"/>
              </a:ext>
            </a:extLst>
          </p:cNvPr>
          <p:cNvSpPr/>
          <p:nvPr/>
        </p:nvSpPr>
        <p:spPr>
          <a:xfrm>
            <a:off x="11113" y="8719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21" name="标题 5145">
            <a:extLst>
              <a:ext uri="{FF2B5EF4-FFF2-40B4-BE49-F238E27FC236}">
                <a16:creationId xmlns:a16="http://schemas.microsoft.com/office/drawing/2014/main" id="{EA408B86-888C-4ECE-8458-4445AFC2B4A7}"/>
              </a:ext>
            </a:extLst>
          </p:cNvPr>
          <p:cNvSpPr txBox="1">
            <a:spLocks noGrp="1"/>
          </p:cNvSpPr>
          <p:nvPr/>
        </p:nvSpPr>
        <p:spPr>
          <a:xfrm>
            <a:off x="1177925" y="133702"/>
            <a:ext cx="7772400" cy="59531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 kern="12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strike="noStrike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向量组等价与矩阵等价的区别和联系</a:t>
            </a:r>
            <a:endParaRPr kumimoji="0" lang="zh-CN" altLang="en-US" sz="3200" b="1" i="0" u="none" strike="noStrike" kern="1200" cap="none" spc="0" normalizeH="0" baseline="0" noProof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2CCF05-2D0D-4A47-8796-739B46EDD02F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DEC189-7CFE-45B7-9ADD-E66283F8A114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6" grpId="0"/>
      <p:bldP spid="17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文本框 1"/>
          <p:cNvSpPr txBox="1"/>
          <p:nvPr/>
        </p:nvSpPr>
        <p:spPr>
          <a:xfrm>
            <a:off x="908050" y="928713"/>
            <a:ext cx="10323513" cy="6076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增广矩阵行等价则非齐次方程组一定同解，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反之不一定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3600450" y="5395145"/>
            <a:ext cx="5080000" cy="252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sz="1050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endParaRPr lang="zh-CN" altLang="en-US" noProof="1"/>
          </a:p>
        </p:txBody>
      </p:sp>
      <p:sp>
        <p:nvSpPr>
          <p:cNvPr id="2" name="文本框 1"/>
          <p:cNvSpPr txBox="1"/>
          <p:nvPr/>
        </p:nvSpPr>
        <p:spPr>
          <a:xfrm>
            <a:off x="934085" y="2978970"/>
            <a:ext cx="80162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ym typeface="+mn-ea"/>
              </a:rPr>
              <a:t>2.      </a:t>
            </a:r>
            <a:r>
              <a:rPr lang="zh-CN" altLang="en-US" sz="2800" b="1" dirty="0">
                <a:sym typeface="+mn-ea"/>
              </a:rPr>
              <a:t>非齐次（齐次）方程组</a:t>
            </a:r>
            <a:r>
              <a:rPr lang="zh-CN" altLang="zh-CN" sz="2800" b="1" dirty="0">
                <a:sym typeface="+mn-ea"/>
              </a:rPr>
              <a:t>能</a:t>
            </a:r>
            <a:r>
              <a:rPr lang="zh-CN" altLang="zh-CN" sz="2800" b="1" dirty="0">
                <a:solidFill>
                  <a:srgbClr val="FF0000"/>
                </a:solidFill>
                <a:sym typeface="+mn-ea"/>
              </a:rPr>
              <a:t>相互线性表示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080799" y="4204520"/>
            <a:ext cx="5479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sym typeface="+mn-ea"/>
              </a:rPr>
              <a:t>非齐次（齐次）方程组</a:t>
            </a:r>
            <a:r>
              <a:rPr lang="zh-CN" altLang="zh-CN" sz="2800" b="1" dirty="0">
                <a:solidFill>
                  <a:srgbClr val="FF0000"/>
                </a:solidFill>
                <a:sym typeface="+mn-ea"/>
              </a:rPr>
              <a:t>同解.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45670" y="5395145"/>
            <a:ext cx="112242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sym typeface="+mn-ea"/>
              </a:rPr>
              <a:t>               </a:t>
            </a:r>
            <a:r>
              <a:rPr lang="zh-CN" altLang="zh-CN" sz="2800" b="1" dirty="0">
                <a:sym typeface="+mn-ea"/>
              </a:rPr>
              <a:t>方程组的增广（系数）矩阵的</a:t>
            </a:r>
            <a:r>
              <a:rPr lang="zh-CN" altLang="zh-CN" sz="2800" b="1" dirty="0">
                <a:solidFill>
                  <a:srgbClr val="FF0000"/>
                </a:solidFill>
                <a:sym typeface="+mn-ea"/>
              </a:rPr>
              <a:t>行向量组等价</a:t>
            </a:r>
          </a:p>
          <a:p>
            <a:r>
              <a:rPr lang="zh-CN" altLang="zh-CN" sz="2800" b="1" dirty="0">
                <a:solidFill>
                  <a:schemeClr val="tx1"/>
                </a:solidFill>
                <a:sym typeface="+mn-ea"/>
              </a:rPr>
              <a:t>（注意：矩阵行等价是方程组同解的充分而非必要条件）</a:t>
            </a:r>
          </a:p>
        </p:txBody>
      </p:sp>
      <p:sp>
        <p:nvSpPr>
          <p:cNvPr id="7" name="上下箭头 6"/>
          <p:cNvSpPr/>
          <p:nvPr/>
        </p:nvSpPr>
        <p:spPr>
          <a:xfrm>
            <a:off x="4973320" y="3539675"/>
            <a:ext cx="269875" cy="62992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上下箭头 7"/>
          <p:cNvSpPr/>
          <p:nvPr/>
        </p:nvSpPr>
        <p:spPr>
          <a:xfrm>
            <a:off x="4976495" y="4765225"/>
            <a:ext cx="269875" cy="62992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1"/>
          <p:cNvSpPr txBox="1"/>
          <p:nvPr/>
        </p:nvSpPr>
        <p:spPr>
          <a:xfrm>
            <a:off x="934085" y="1463383"/>
            <a:ext cx="10323513" cy="6076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系数矩阵行等价则齐次方程组一定同解，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反之不一定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307330" y="4849680"/>
            <a:ext cx="2487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充分必要条件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03595F-3D2A-4AE4-9EA5-5682F088EF45}"/>
              </a:ext>
            </a:extLst>
          </p:cNvPr>
          <p:cNvSpPr/>
          <p:nvPr/>
        </p:nvSpPr>
        <p:spPr>
          <a:xfrm>
            <a:off x="380619" y="2798958"/>
            <a:ext cx="11610975" cy="369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0B9BD24-9AD1-47C8-9F4E-C52829845017}"/>
              </a:ext>
            </a:extLst>
          </p:cNvPr>
          <p:cNvSpPr/>
          <p:nvPr/>
        </p:nvSpPr>
        <p:spPr>
          <a:xfrm>
            <a:off x="411021" y="509720"/>
            <a:ext cx="11610975" cy="203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  <p:bldP spid="2" grpId="0"/>
      <p:bldP spid="4" grpId="0"/>
      <p:bldP spid="5" grpId="0"/>
      <p:bldP spid="7" grpId="0" animBg="1"/>
      <p:bldP spid="8" grpId="0" animBg="1"/>
      <p:bldP spid="3" grpId="0"/>
      <p:bldP spid="9" grpId="0"/>
    </p:bldLst>
  </p:timing>
</p:sld>
</file>

<file path=ppt/theme/theme1.xml><?xml version="1.0" encoding="utf-8"?>
<a:theme xmlns:a="http://schemas.openxmlformats.org/drawingml/2006/main" name="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E:\线性代数\模板.POT</Template>
  <TotalTime>10973</TotalTime>
  <Words>2108</Words>
  <Application>Microsoft Office PowerPoint</Application>
  <PresentationFormat>宽屏</PresentationFormat>
  <Paragraphs>192</Paragraphs>
  <Slides>27</Slides>
  <Notes>4</Notes>
  <HiddenSlides>3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黑体</vt:lpstr>
      <vt:lpstr>胡晓波男神体</vt:lpstr>
      <vt:lpstr>华文新魏</vt:lpstr>
      <vt:lpstr>宋体</vt:lpstr>
      <vt:lpstr>Arial</vt:lpstr>
      <vt:lpstr>Calibri</vt:lpstr>
      <vt:lpstr>Cambria Math</vt:lpstr>
      <vt:lpstr>Times New Roman</vt:lpstr>
      <vt:lpstr>Wingdings</vt:lpstr>
      <vt:lpstr>模板</vt:lpstr>
      <vt:lpstr>Equation.3</vt:lpstr>
      <vt:lpstr>Equation.DSMT4</vt:lpstr>
      <vt:lpstr>WPS 公式 3.0</vt:lpstr>
      <vt:lpstr>PowerPoint 演示文稿</vt:lpstr>
      <vt:lpstr>n维向量的概念</vt:lpstr>
      <vt:lpstr>n维向量的概念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西安通信学院数学教研室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西安通信学院数学教研室</dc:creator>
  <cp:lastModifiedBy>宝 申</cp:lastModifiedBy>
  <cp:revision>259</cp:revision>
  <dcterms:created xsi:type="dcterms:W3CDTF">1990-03-28T01:10:00Z</dcterms:created>
  <dcterms:modified xsi:type="dcterms:W3CDTF">2024-04-26T07:48:59Z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2052-11.1.0.9192</vt:lpwstr>
  </property>
</Properties>
</file>