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457" r:id="rId2"/>
    <p:sldId id="538" r:id="rId3"/>
    <p:sldId id="488" r:id="rId4"/>
    <p:sldId id="525" r:id="rId5"/>
    <p:sldId id="537" r:id="rId6"/>
    <p:sldId id="539" r:id="rId7"/>
    <p:sldId id="490" r:id="rId8"/>
    <p:sldId id="528" r:id="rId9"/>
    <p:sldId id="526" r:id="rId10"/>
    <p:sldId id="494" r:id="rId11"/>
    <p:sldId id="534" r:id="rId12"/>
    <p:sldId id="529" r:id="rId13"/>
    <p:sldId id="531" r:id="rId14"/>
    <p:sldId id="510" r:id="rId15"/>
    <p:sldId id="540" r:id="rId16"/>
    <p:sldId id="541" r:id="rId17"/>
    <p:sldId id="542" r:id="rId18"/>
    <p:sldId id="543" r:id="rId19"/>
    <p:sldId id="544" r:id="rId20"/>
    <p:sldId id="545" r:id="rId21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7">
          <p15:clr>
            <a:srgbClr val="A4A3A4"/>
          </p15:clr>
        </p15:guide>
        <p15:guide id="2" pos="8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申 宝" initials="申" lastIdx="1" clrIdx="0">
    <p:extLst>
      <p:ext uri="{19B8F6BF-5375-455C-9EA6-DF929625EA0E}">
        <p15:presenceInfo xmlns:p15="http://schemas.microsoft.com/office/powerpoint/2012/main" userId="c500a97d66947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F6021"/>
    <a:srgbClr val="00FF00"/>
    <a:srgbClr val="80008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2786"/>
    <p:restoredTop sz="90929"/>
  </p:normalViewPr>
  <p:slideViewPr>
    <p:cSldViewPr showGuides="1">
      <p:cViewPr varScale="1">
        <p:scale>
          <a:sx n="66" d="100"/>
          <a:sy n="66" d="100"/>
        </p:scale>
        <p:origin x="972" y="40"/>
      </p:cViewPr>
      <p:guideLst>
        <p:guide orient="horz" pos="3667"/>
        <p:guide pos="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33" d="100"/>
        <a:sy n="33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2024/5/6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64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5165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5165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09600"/>
            <a:ext cx="10058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027" name="Rectangle 3">
            <a:hlinkClick r:id="" action="ppaction://hlinkshowjump?jump=previousslide"/>
          </p:cNvPr>
          <p:cNvSpPr/>
          <p:nvPr userDrawn="1"/>
        </p:nvSpPr>
        <p:spPr>
          <a:xfrm>
            <a:off x="8516938" y="6286500"/>
            <a:ext cx="898525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Rectangle 4">
            <a:hlinkClick r:id="" action="ppaction://hlinkshowjump?jump=nextslide"/>
          </p:cNvPr>
          <p:cNvSpPr/>
          <p:nvPr userDrawn="1"/>
        </p:nvSpPr>
        <p:spPr>
          <a:xfrm>
            <a:off x="9720263" y="6299200"/>
            <a:ext cx="896937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Rectangle 5">
            <a:hlinkClick r:id="" action="ppaction://hlinkshowjump?jump=firstslide"/>
          </p:cNvPr>
          <p:cNvSpPr/>
          <p:nvPr userDrawn="1"/>
        </p:nvSpPr>
        <p:spPr>
          <a:xfrm>
            <a:off x="10939463" y="6299200"/>
            <a:ext cx="896937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.jpeg"/><Relationship Id="rId21" Type="http://schemas.openxmlformats.org/officeDocument/2006/relationships/image" Target="../media/image11.wmf"/><Relationship Id="rId34" Type="http://schemas.openxmlformats.org/officeDocument/2006/relationships/oleObject" Target="../embeddings/oleObject17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33" Type="http://schemas.openxmlformats.org/officeDocument/2006/relationships/image" Target="../media/image17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31" Type="http://schemas.openxmlformats.org/officeDocument/2006/relationships/image" Target="../media/image1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18.wmf"/><Relationship Id="rId8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6.xml"/><Relationship Id="rId4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4.w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4.wmf"/><Relationship Id="rId3" Type="http://schemas.openxmlformats.org/officeDocument/2006/relationships/image" Target="../media/image30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3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2071"/>
          <p:cNvSpPr>
            <a:spLocks noGrp="1"/>
          </p:cNvSpPr>
          <p:nvPr/>
        </p:nvSpPr>
        <p:spPr>
          <a:xfrm>
            <a:off x="1828800" y="2628900"/>
            <a:ext cx="7826375" cy="4953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一、秩与极大无关组的概念</a:t>
            </a:r>
          </a:p>
        </p:txBody>
      </p:sp>
      <p:sp>
        <p:nvSpPr>
          <p:cNvPr id="3074" name="标题 2071"/>
          <p:cNvSpPr>
            <a:spLocks noGrp="1"/>
          </p:cNvSpPr>
          <p:nvPr/>
        </p:nvSpPr>
        <p:spPr>
          <a:xfrm>
            <a:off x="1828800" y="4397375"/>
            <a:ext cx="7826375" cy="508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三、向量组的秩和矩阵的秩的关系</a:t>
            </a:r>
          </a:p>
        </p:txBody>
      </p:sp>
      <p:sp>
        <p:nvSpPr>
          <p:cNvPr id="3075" name="标题 2071"/>
          <p:cNvSpPr>
            <a:spLocks noGrp="1"/>
          </p:cNvSpPr>
          <p:nvPr/>
        </p:nvSpPr>
        <p:spPr>
          <a:xfrm>
            <a:off x="1828800" y="3498850"/>
            <a:ext cx="7826375" cy="5175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/>
          <a:lstStyle/>
          <a:p>
            <a:r>
              <a:rPr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二、向量组秩的性质</a:t>
            </a:r>
          </a:p>
        </p:txBody>
      </p:sp>
      <p:sp>
        <p:nvSpPr>
          <p:cNvPr id="3076" name="WordArt 6"/>
          <p:cNvSpPr>
            <a:spLocks noTextEdit="1"/>
          </p:cNvSpPr>
          <p:nvPr/>
        </p:nvSpPr>
        <p:spPr>
          <a:xfrm>
            <a:off x="3094038" y="1179513"/>
            <a:ext cx="6357937" cy="798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000">
                <a:ln w="19050" cap="flat" cmpd="sng">
                  <a:solidFill>
                    <a:srgbClr val="99CCFF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CC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华文新魏" panose="02010800040101010101" charset="-122"/>
                <a:ea typeface="华文新魏" panose="02010800040101010101" charset="-122"/>
              </a:rPr>
              <a:t>第三节     向量组的秩及其极大无关组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9435" y="5290185"/>
            <a:ext cx="79406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noProof="1"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四、矩阵的初等变换与向量组的极大无关组</a:t>
            </a:r>
            <a:endParaRPr lang="zh-CN" altLang="en-US" sz="3200" b="1" noProof="1"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CDB082-AF3D-450D-AD90-68E9EF4711A5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9624D8-9CB5-4629-8B68-37BE88657FA7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A07314-6CB8-454D-91D2-B6EC5EE1E9BA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9CDB082-AF3D-450D-AD90-68E9EF4711A5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9624D8-9CB5-4629-8B68-37BE88657FA7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A07314-6CB8-454D-91D2-B6EC5EE1E9BA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FAAA8E-4EB7-4270-89D4-CD973CB1B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278" y="2276920"/>
            <a:ext cx="106076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2.2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设向量组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</a:rPr>
              <a:t>，由向量组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的一部分向量构成的向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8525CF-7967-4D79-A461-652A1F663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778" y="2797620"/>
            <a:ext cx="79883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量组称为</a:t>
            </a:r>
            <a:r>
              <a:rPr lang="en-US" altLang="zh-CN" sz="2800" b="1" i="1" dirty="0"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的一个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部分组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 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向量组</a:t>
            </a:r>
            <a:r>
              <a:rPr lang="en-US" altLang="zh-CN" sz="2800" b="1" i="1" dirty="0"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也称作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整体组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9CFC7A-4333-4647-852B-B521C78F4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528" y="3583433"/>
            <a:ext cx="103854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例如：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  <a:sym typeface="宋体" panose="02010600030101010101" pitchFamily="2" charset="-122"/>
              </a:rPr>
              <a:t>就是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  <a:sym typeface="宋体" panose="02010600030101010101" pitchFamily="2" charset="-122"/>
              </a:rPr>
              <a:t>的一个部分组</a:t>
            </a:r>
            <a:r>
              <a:rPr lang="en-US" altLang="zh-CN" sz="2800" b="1">
                <a:latin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39438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文本框 2059"/>
          <p:cNvSpPr txBox="1"/>
          <p:nvPr/>
        </p:nvSpPr>
        <p:spPr>
          <a:xfrm>
            <a:off x="884238" y="1147763"/>
            <a:ext cx="1035843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设向量组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满足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2165" y="1670050"/>
            <a:ext cx="9900698" cy="539750"/>
            <a:chOff x="2636" y="2630"/>
            <a:chExt cx="15589" cy="850"/>
          </a:xfrm>
        </p:grpSpPr>
        <p:sp>
          <p:nvSpPr>
            <p:cNvPr id="5124" name="文本框 1"/>
            <p:cNvSpPr txBox="1"/>
            <p:nvPr/>
          </p:nvSpPr>
          <p:spPr>
            <a:xfrm>
              <a:off x="2636" y="2630"/>
              <a:ext cx="15589" cy="8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(1) </a:t>
              </a:r>
              <a:r>
                <a:rPr lang="zh-CN" altLang="en-US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存在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一个部分组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:          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（含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个向量）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线性无关；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25" name="对象 -2147482399"/>
            <p:cNvGraphicFramePr/>
            <p:nvPr/>
          </p:nvGraphicFramePr>
          <p:xfrm>
            <a:off x="8319" y="2630"/>
            <a:ext cx="3174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12800" imgH="241300" progId="Equation.3">
                    <p:embed/>
                  </p:oleObj>
                </mc:Choice>
                <mc:Fallback>
                  <p:oleObj r:id="rId2" imgW="812800" imgH="2413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319" y="2630"/>
                          <a:ext cx="3174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/>
          <p:cNvSpPr txBox="1"/>
          <p:nvPr/>
        </p:nvSpPr>
        <p:spPr>
          <a:xfrm>
            <a:off x="812165" y="2239963"/>
            <a:ext cx="956945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(2)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组中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任意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个向量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如果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中有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+1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个向量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都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线性相关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437688" y="2676208"/>
            <a:ext cx="2865437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简称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极大无关组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  <p:sp>
        <p:nvSpPr>
          <p:cNvPr id="5129" name="文本框 8"/>
          <p:cNvSpPr txBox="1"/>
          <p:nvPr/>
        </p:nvSpPr>
        <p:spPr>
          <a:xfrm>
            <a:off x="1443355" y="2676525"/>
            <a:ext cx="82810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称部分组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是向量组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的一个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极大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线性无关向量组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32" name="文本框 13"/>
          <p:cNvSpPr txBox="1"/>
          <p:nvPr/>
        </p:nvSpPr>
        <p:spPr>
          <a:xfrm>
            <a:off x="1748155" y="3996690"/>
            <a:ext cx="100584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极大无关组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所含向量的个数</a:t>
            </a:r>
            <a:r>
              <a:rPr lang="en-US" altLang="zh-CN" sz="2800" b="1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宋体" panose="02010600030101010101" pitchFamily="2" charset="-122"/>
              </a:rPr>
              <a:t>=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组</a:t>
            </a:r>
            <a:r>
              <a:rPr lang="en-US" altLang="zh-CN" sz="2800" b="1">
                <a:sym typeface="宋体" panose="02010600030101010101" pitchFamily="2" charset="-122"/>
              </a:rPr>
              <a:t>A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的秩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833563" y="4620260"/>
            <a:ext cx="304165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即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r. </a:t>
            </a:r>
          </a:p>
        </p:txBody>
      </p:sp>
      <p:sp>
        <p:nvSpPr>
          <p:cNvPr id="2" name="矩形 1"/>
          <p:cNvSpPr/>
          <p:nvPr/>
        </p:nvSpPr>
        <p:spPr>
          <a:xfrm>
            <a:off x="1415415" y="3573145"/>
            <a:ext cx="8496935" cy="201612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B8DAA0-1B8B-45AD-B921-E7984D0D291B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54F3C9-01AC-4754-8E2E-40B0D881C731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879CFD-9DE6-4C39-8597-82A4D9EFDADF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" name="标题 5145">
            <a:extLst>
              <a:ext uri="{FF2B5EF4-FFF2-40B4-BE49-F238E27FC236}">
                <a16:creationId xmlns:a16="http://schemas.microsoft.com/office/drawing/2014/main" id="{F18B600B-2AF1-4E47-B8BC-CCC6A8B9B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向量组的秩与极大无关组的概念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0" grpId="0"/>
      <p:bldP spid="6" grpId="0"/>
      <p:bldP spid="10" grpId="0"/>
      <p:bldP spid="5129" grpId="0"/>
      <p:bldP spid="5132" grpId="0"/>
      <p:bldP spid="20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7059346dec1a4f3c8e061ab933e8f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404790"/>
            <a:ext cx="6083300" cy="445833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1330325" y="3697265"/>
            <a:ext cx="692785" cy="2444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" name="直接箭头连接符 5"/>
          <p:cNvCxnSpPr/>
          <p:nvPr/>
        </p:nvCxnSpPr>
        <p:spPr>
          <a:xfrm>
            <a:off x="1373505" y="3731555"/>
            <a:ext cx="1266825" cy="3962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 flipV="1">
            <a:off x="1369695" y="3262925"/>
            <a:ext cx="1053465" cy="4343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 flipH="1" flipV="1">
            <a:off x="1280795" y="2280580"/>
            <a:ext cx="49530" cy="14509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021877"/>
              </p:ext>
            </p:extLst>
          </p:nvPr>
        </p:nvGraphicFramePr>
        <p:xfrm>
          <a:off x="1654810" y="3941740"/>
          <a:ext cx="368300" cy="52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400" imgH="215900" progId="Equation.KSEE3">
                  <p:embed/>
                </p:oleObj>
              </mc:Choice>
              <mc:Fallback>
                <p:oleObj r:id="rId4" imgW="152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54810" y="3941740"/>
                        <a:ext cx="368300" cy="522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105193"/>
              </p:ext>
            </p:extLst>
          </p:nvPr>
        </p:nvGraphicFramePr>
        <p:xfrm>
          <a:off x="2211705" y="4064930"/>
          <a:ext cx="428625" cy="52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7165" imgH="215900" progId="Equation.KSEE3">
                  <p:embed/>
                </p:oleObj>
              </mc:Choice>
              <mc:Fallback>
                <p:oleObj r:id="rId6" imgW="1771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11705" y="4064930"/>
                        <a:ext cx="428625" cy="522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995885"/>
              </p:ext>
            </p:extLst>
          </p:nvPr>
        </p:nvGraphicFramePr>
        <p:xfrm>
          <a:off x="2023110" y="2679360"/>
          <a:ext cx="399415" cy="58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5100" imgH="241300" progId="Equation.KSEE3">
                  <p:embed/>
                </p:oleObj>
              </mc:Choice>
              <mc:Fallback>
                <p:oleObj r:id="rId8" imgW="1651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23110" y="2679360"/>
                        <a:ext cx="399415" cy="583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814748"/>
              </p:ext>
            </p:extLst>
          </p:nvPr>
        </p:nvGraphicFramePr>
        <p:xfrm>
          <a:off x="784860" y="2281850"/>
          <a:ext cx="36893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2400" imgH="215900" progId="Equation.KSEE3">
                  <p:embed/>
                </p:oleObj>
              </mc:Choice>
              <mc:Fallback>
                <p:oleObj r:id="rId10" imgW="152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4860" y="2281850"/>
                        <a:ext cx="368935" cy="523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354503" y="68580"/>
          <a:ext cx="167703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85800" imgH="241300" progId="Equation.KSEE3">
                  <p:embed/>
                </p:oleObj>
              </mc:Choice>
              <mc:Fallback>
                <p:oleObj r:id="rId12" imgW="6858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354503" y="68580"/>
                        <a:ext cx="167703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6830695" y="129540"/>
            <a:ext cx="2950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1.</a:t>
            </a:r>
            <a:r>
              <a:rPr lang="zh-CN" altLang="en-US" b="1"/>
              <a:t>从几何意义考虑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173595" y="740410"/>
            <a:ext cx="4300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是线性相关还是线性无关？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830695" y="1336040"/>
            <a:ext cx="3826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2.</a:t>
            </a:r>
            <a:r>
              <a:rPr lang="zh-CN" altLang="en-US" b="1"/>
              <a:t>有哪些线性无关部分组？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8806815" y="1885950"/>
            <a:ext cx="1969770" cy="521970"/>
            <a:chOff x="14886" y="3648"/>
            <a:chExt cx="3102" cy="822"/>
          </a:xfrm>
        </p:grpSpPr>
        <p:graphicFrame>
          <p:nvGraphicFramePr>
            <p:cNvPr id="26" name="对象 25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4886" y="3648"/>
            <a:ext cx="734" cy="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90500" imgH="215900" progId="Equation.KSEE3">
                    <p:embed/>
                  </p:oleObj>
                </mc:Choice>
                <mc:Fallback>
                  <p:oleObj r:id="rId14" imgW="190500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886" y="3648"/>
                          <a:ext cx="734" cy="7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5669" y="3648"/>
            <a:ext cx="783" cy="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03200" imgH="215900" progId="Equation.KSEE3">
                    <p:embed/>
                  </p:oleObj>
                </mc:Choice>
                <mc:Fallback>
                  <p:oleObj r:id="rId16" imgW="203200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5669" y="3648"/>
                          <a:ext cx="783" cy="7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6452" y="3648"/>
            <a:ext cx="783" cy="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03200" imgH="241300" progId="Equation.KSEE3">
                    <p:embed/>
                  </p:oleObj>
                </mc:Choice>
                <mc:Fallback>
                  <p:oleObj r:id="rId18" imgW="203200" imgH="2413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6452" y="3648"/>
                          <a:ext cx="783" cy="8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7254" y="3691"/>
            <a:ext cx="735" cy="7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90500" imgH="215900" progId="Equation.KSEE3">
                    <p:embed/>
                  </p:oleObj>
                </mc:Choice>
                <mc:Fallback>
                  <p:oleObj r:id="rId20" imgW="190500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7254" y="3691"/>
                          <a:ext cx="735" cy="7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文本框 32"/>
          <p:cNvSpPr txBox="1"/>
          <p:nvPr/>
        </p:nvSpPr>
        <p:spPr>
          <a:xfrm>
            <a:off x="6703695" y="1889125"/>
            <a:ext cx="21024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包含一个向量</a:t>
            </a:r>
            <a:r>
              <a:rPr lang="en-US" altLang="zh-CN" b="1"/>
              <a:t>: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703695" y="2567305"/>
            <a:ext cx="2101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包含两个向量</a:t>
            </a:r>
            <a:r>
              <a:rPr lang="en-US" altLang="zh-CN" b="1"/>
              <a:t>:</a:t>
            </a:r>
          </a:p>
        </p:txBody>
      </p:sp>
      <p:graphicFrame>
        <p:nvGraphicFramePr>
          <p:cNvPr id="36" name="对象 3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31275" y="2506345"/>
          <a:ext cx="86995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355600" imgH="241300" progId="Equation.KSEE3">
                  <p:embed/>
                </p:oleObj>
              </mc:Choice>
              <mc:Fallback>
                <p:oleObj r:id="rId22" imgW="3556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931275" y="2506345"/>
                        <a:ext cx="869950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15718" y="3027680"/>
          <a:ext cx="90106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368300" imgH="241300" progId="Equation.KSEE3">
                  <p:embed/>
                </p:oleObj>
              </mc:Choice>
              <mc:Fallback>
                <p:oleObj r:id="rId24" imgW="3683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915718" y="3027680"/>
                        <a:ext cx="90106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888413" y="3549015"/>
          <a:ext cx="87058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355600" imgH="215900" progId="Equation.KSEE3">
                  <p:embed/>
                </p:oleObj>
              </mc:Choice>
              <mc:Fallback>
                <p:oleObj r:id="rId26" imgW="3556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888413" y="3549015"/>
                        <a:ext cx="87058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36038" y="4015740"/>
          <a:ext cx="90106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368300" imgH="215900" progId="Equation.KSEE3">
                  <p:embed/>
                </p:oleObj>
              </mc:Choice>
              <mc:Fallback>
                <p:oleObj r:id="rId28" imgW="3683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936038" y="4015740"/>
                        <a:ext cx="90106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46198" y="4468495"/>
          <a:ext cx="83883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342900" imgH="241300" progId="Equation.KSEE3">
                  <p:embed/>
                </p:oleObj>
              </mc:Choice>
              <mc:Fallback>
                <p:oleObj r:id="rId30" imgW="3429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946198" y="4468495"/>
                        <a:ext cx="838835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6761480" y="5042535"/>
            <a:ext cx="2154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包含三个向量</a:t>
            </a:r>
            <a:r>
              <a:rPr lang="en-US" altLang="zh-CN" b="1"/>
              <a:t>:</a:t>
            </a:r>
          </a:p>
        </p:txBody>
      </p:sp>
      <p:graphicFrame>
        <p:nvGraphicFramePr>
          <p:cNvPr id="47" name="对象 4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16035" y="5042535"/>
          <a:ext cx="127381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520700" imgH="241300" progId="Equation.KSEE3">
                  <p:embed/>
                </p:oleObj>
              </mc:Choice>
              <mc:Fallback>
                <p:oleObj r:id="rId32" imgW="5207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916035" y="5042535"/>
                        <a:ext cx="1273810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16035" y="5563870"/>
          <a:ext cx="1334770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545465" imgH="241300" progId="Equation.KSEE3">
                  <p:embed/>
                </p:oleObj>
              </mc:Choice>
              <mc:Fallback>
                <p:oleObj r:id="rId34" imgW="545465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916035" y="5563870"/>
                        <a:ext cx="1334770" cy="52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右大括号 54"/>
          <p:cNvSpPr/>
          <p:nvPr/>
        </p:nvSpPr>
        <p:spPr>
          <a:xfrm>
            <a:off x="10272395" y="5156835"/>
            <a:ext cx="287655" cy="864235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560050" y="5334000"/>
            <a:ext cx="1774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极大无关组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8C47007-4050-4CEE-8968-AD70E634C2A7}"/>
              </a:ext>
            </a:extLst>
          </p:cNvPr>
          <p:cNvSpPr/>
          <p:nvPr/>
        </p:nvSpPr>
        <p:spPr>
          <a:xfrm>
            <a:off x="7178351" y="6234260"/>
            <a:ext cx="3853187" cy="526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极大无关组一般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不唯一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5" grpId="0"/>
      <p:bldP spid="33" grpId="0"/>
      <p:bldP spid="35" grpId="0"/>
      <p:bldP spid="46" grpId="0"/>
      <p:bldP spid="55" grpId="0" animBg="1"/>
      <p:bldP spid="56" grpId="0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4B8DAA0-1B8B-45AD-B921-E7984D0D291B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54F3C9-01AC-4754-8E2E-40B0D881C731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879CFD-9DE6-4C39-8597-82A4D9EFDADF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" name="标题 5145">
            <a:extLst>
              <a:ext uri="{FF2B5EF4-FFF2-40B4-BE49-F238E27FC236}">
                <a16:creationId xmlns:a16="http://schemas.microsoft.com/office/drawing/2014/main" id="{F18B600B-2AF1-4E47-B8BC-CCC6A8B9B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向量组的秩与极大无关组的概念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E399C4E-2227-4387-A0DE-409C059F7B8F}"/>
              </a:ext>
            </a:extLst>
          </p:cNvPr>
          <p:cNvCxnSpPr/>
          <p:nvPr/>
        </p:nvCxnSpPr>
        <p:spPr bwMode="auto">
          <a:xfrm>
            <a:off x="657766" y="3598627"/>
            <a:ext cx="8364907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6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636FE38-25E1-4768-AA62-A60AE7037935}"/>
              </a:ext>
            </a:extLst>
          </p:cNvPr>
          <p:cNvSpPr txBox="1"/>
          <p:nvPr/>
        </p:nvSpPr>
        <p:spPr>
          <a:xfrm>
            <a:off x="2505254" y="3946076"/>
            <a:ext cx="662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存在</a:t>
            </a:r>
            <a:r>
              <a:rPr lang="zh-CN" altLang="en-US" b="1" dirty="0"/>
              <a:t>部分组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（含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个向量）线性无关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655525-0685-49D5-BD3F-B6D99FA4BEB7}"/>
              </a:ext>
            </a:extLst>
          </p:cNvPr>
          <p:cNvSpPr txBox="1"/>
          <p:nvPr/>
        </p:nvSpPr>
        <p:spPr>
          <a:xfrm>
            <a:off x="2493359" y="2881271"/>
            <a:ext cx="662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任意</a:t>
            </a:r>
            <a:r>
              <a:rPr lang="zh-CN" altLang="en-US" b="1" dirty="0"/>
              <a:t>部分组</a:t>
            </a:r>
            <a:r>
              <a:rPr lang="en-US" altLang="zh-CN" b="1" dirty="0"/>
              <a:t>A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FF0000"/>
                </a:solidFill>
              </a:rPr>
              <a:t>含</a:t>
            </a:r>
            <a:r>
              <a:rPr lang="en-US" altLang="zh-CN" b="1" dirty="0">
                <a:solidFill>
                  <a:srgbClr val="FF0000"/>
                </a:solidFill>
              </a:rPr>
              <a:t>r+1</a:t>
            </a:r>
            <a:r>
              <a:rPr lang="zh-CN" altLang="en-US" b="1" dirty="0">
                <a:solidFill>
                  <a:srgbClr val="FF0000"/>
                </a:solidFill>
              </a:rPr>
              <a:t>个向量</a:t>
            </a:r>
            <a:r>
              <a:rPr lang="zh-CN" altLang="en-US" b="1" dirty="0"/>
              <a:t>）</a:t>
            </a:r>
            <a:r>
              <a:rPr lang="zh-CN" altLang="en-US" b="1" dirty="0">
                <a:solidFill>
                  <a:srgbClr val="FF0000"/>
                </a:solidFill>
              </a:rPr>
              <a:t>线性相关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44F8181-3842-4C44-99DC-AE09E4A08377}"/>
              </a:ext>
            </a:extLst>
          </p:cNvPr>
          <p:cNvSpPr/>
          <p:nvPr/>
        </p:nvSpPr>
        <p:spPr bwMode="auto">
          <a:xfrm>
            <a:off x="7905629" y="3985663"/>
            <a:ext cx="731945" cy="457619"/>
          </a:xfrm>
          <a:prstGeom prst="rightArrow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9AFE67-9546-48D4-A56D-D3CDA6323922}"/>
              </a:ext>
            </a:extLst>
          </p:cNvPr>
          <p:cNvSpPr txBox="1"/>
          <p:nvPr/>
        </p:nvSpPr>
        <p:spPr>
          <a:xfrm>
            <a:off x="8806658" y="3738520"/>
            <a:ext cx="345624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zh-CN" altLang="en-US" dirty="0"/>
              <a:t>：极大线性无关组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FBC3EC-0811-450D-88F9-CC95FABEFEF3}"/>
              </a:ext>
            </a:extLst>
          </p:cNvPr>
          <p:cNvSpPr txBox="1"/>
          <p:nvPr/>
        </p:nvSpPr>
        <p:spPr>
          <a:xfrm>
            <a:off x="8832190" y="4443282"/>
            <a:ext cx="345624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向量组的秩</a:t>
            </a:r>
            <a:r>
              <a:rPr lang="en-US" altLang="zh-CN" dirty="0"/>
              <a:t>=</a:t>
            </a:r>
            <a:r>
              <a:rPr lang="zh-CN" altLang="en-US" dirty="0"/>
              <a:t>极大无关组中向量的个数</a:t>
            </a:r>
            <a:r>
              <a:rPr lang="en-US" altLang="zh-CN" dirty="0"/>
              <a:t>=r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630225-4729-4216-AF88-1A3B04798982}"/>
              </a:ext>
            </a:extLst>
          </p:cNvPr>
          <p:cNvSpPr txBox="1"/>
          <p:nvPr/>
        </p:nvSpPr>
        <p:spPr>
          <a:xfrm>
            <a:off x="2493359" y="4755189"/>
            <a:ext cx="662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存在部分组</a:t>
            </a:r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zh-CN" altLang="en-US" dirty="0"/>
              <a:t>（含</a:t>
            </a:r>
            <a:r>
              <a:rPr lang="en-US" altLang="zh-CN" dirty="0"/>
              <a:t>r-1</a:t>
            </a:r>
            <a:r>
              <a:rPr lang="zh-CN" altLang="en-US" dirty="0"/>
              <a:t>个向量）线性无关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653016-1F25-43CD-BA40-1BC4819DD590}"/>
              </a:ext>
            </a:extLst>
          </p:cNvPr>
          <p:cNvSpPr txBox="1"/>
          <p:nvPr/>
        </p:nvSpPr>
        <p:spPr>
          <a:xfrm>
            <a:off x="2505254" y="5565878"/>
            <a:ext cx="662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存在部分组</a:t>
            </a:r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zh-CN" altLang="en-US" dirty="0"/>
              <a:t>（含</a:t>
            </a:r>
            <a:r>
              <a:rPr lang="en-US" altLang="zh-CN" dirty="0"/>
              <a:t>r-2</a:t>
            </a:r>
            <a:r>
              <a:rPr lang="zh-CN" altLang="en-US" dirty="0"/>
              <a:t>个向量）线性无关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92555-9036-4717-8766-CB8AE1146132}"/>
              </a:ext>
            </a:extLst>
          </p:cNvPr>
          <p:cNvSpPr txBox="1"/>
          <p:nvPr/>
        </p:nvSpPr>
        <p:spPr>
          <a:xfrm>
            <a:off x="2567755" y="6074788"/>
            <a:ext cx="1881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:</a:t>
            </a:r>
          </a:p>
          <a:p>
            <a:r>
              <a:rPr lang="en-US" altLang="zh-CN" b="1" dirty="0"/>
              <a:t>:</a:t>
            </a:r>
            <a:endParaRPr lang="zh-CN" altLang="en-US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1696787-B0C1-495D-8902-B55292EC2FEE}"/>
              </a:ext>
            </a:extLst>
          </p:cNvPr>
          <p:cNvSpPr txBox="1"/>
          <p:nvPr/>
        </p:nvSpPr>
        <p:spPr>
          <a:xfrm>
            <a:off x="2493359" y="2279714"/>
            <a:ext cx="662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任意部分组</a:t>
            </a:r>
            <a:r>
              <a:rPr lang="en-US" altLang="zh-CN" dirty="0"/>
              <a:t>A</a:t>
            </a:r>
            <a:r>
              <a:rPr lang="zh-CN" altLang="en-US" dirty="0"/>
              <a:t>（含</a:t>
            </a:r>
            <a:r>
              <a:rPr lang="en-US" altLang="zh-CN" dirty="0"/>
              <a:t>r+2</a:t>
            </a:r>
            <a:r>
              <a:rPr lang="zh-CN" altLang="en-US" dirty="0"/>
              <a:t>个向量）线性相关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13BBE4-907A-43BC-982C-76A289B4F9B9}"/>
              </a:ext>
            </a:extLst>
          </p:cNvPr>
          <p:cNvSpPr txBox="1"/>
          <p:nvPr/>
        </p:nvSpPr>
        <p:spPr>
          <a:xfrm>
            <a:off x="2480726" y="1758591"/>
            <a:ext cx="662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任意部分组</a:t>
            </a:r>
            <a:r>
              <a:rPr lang="en-US" altLang="zh-CN" dirty="0"/>
              <a:t>A</a:t>
            </a:r>
            <a:r>
              <a:rPr lang="zh-CN" altLang="en-US" dirty="0"/>
              <a:t>（含</a:t>
            </a:r>
            <a:r>
              <a:rPr lang="en-US" altLang="zh-CN" dirty="0"/>
              <a:t>r+3</a:t>
            </a:r>
            <a:r>
              <a:rPr lang="zh-CN" altLang="en-US" dirty="0"/>
              <a:t>个向量）线性相关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C221BC-8BA5-4A80-8DCA-D05E08D4B9B9}"/>
              </a:ext>
            </a:extLst>
          </p:cNvPr>
          <p:cNvSpPr txBox="1"/>
          <p:nvPr/>
        </p:nvSpPr>
        <p:spPr>
          <a:xfrm>
            <a:off x="2567755" y="980830"/>
            <a:ext cx="6624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:</a:t>
            </a:r>
          </a:p>
          <a:p>
            <a:r>
              <a:rPr lang="en-US" altLang="zh-CN" b="1" dirty="0"/>
              <a:t>: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71E69-BC00-42D4-8E4B-0CAACF4ED639}"/>
              </a:ext>
            </a:extLst>
          </p:cNvPr>
          <p:cNvSpPr txBox="1"/>
          <p:nvPr/>
        </p:nvSpPr>
        <p:spPr>
          <a:xfrm>
            <a:off x="65939" y="2176871"/>
            <a:ext cx="2439315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部分组线性相关，则整体组线性相关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9ADD233-2581-4B28-A309-8BE5CED39DAF}"/>
              </a:ext>
            </a:extLst>
          </p:cNvPr>
          <p:cNvSpPr txBox="1"/>
          <p:nvPr/>
        </p:nvSpPr>
        <p:spPr>
          <a:xfrm>
            <a:off x="120323" y="4418393"/>
            <a:ext cx="2439315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整体组线性无关，则部分组线性无关</a:t>
            </a:r>
          </a:p>
        </p:txBody>
      </p:sp>
    </p:spTree>
    <p:extLst>
      <p:ext uri="{BB962C8B-B14F-4D97-AF65-F5344CB8AC3E}">
        <p14:creationId xmlns:p14="http://schemas.microsoft.com/office/powerpoint/2010/main" val="3294676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21C07594-DE52-4D03-AB22-6D5A7F640F67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B6DD8DD-848C-4C26-8F9B-3BF600E3506B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FB289F1-A48C-4A1E-AE12-6AEF6D5282B3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1" name="标题 5145">
            <a:extLst>
              <a:ext uri="{FF2B5EF4-FFF2-40B4-BE49-F238E27FC236}">
                <a16:creationId xmlns:a16="http://schemas.microsoft.com/office/drawing/2014/main" id="{CD0892F1-1449-4C57-B9AD-00D9E1648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向量组的秩与矩阵的秩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E942CF7-AE7C-46C7-9543-AB205F05A30A}"/>
              </a:ext>
            </a:extLst>
          </p:cNvPr>
          <p:cNvSpPr/>
          <p:nvPr/>
        </p:nvSpPr>
        <p:spPr bwMode="auto">
          <a:xfrm>
            <a:off x="794967" y="2420930"/>
            <a:ext cx="5154901" cy="1800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矩阵的秩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最高阶非零子式的阶数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B47CF6E-D3E1-4DC9-A66E-FECA10C50CAB}"/>
              </a:ext>
            </a:extLst>
          </p:cNvPr>
          <p:cNvSpPr/>
          <p:nvPr/>
        </p:nvSpPr>
        <p:spPr bwMode="auto">
          <a:xfrm>
            <a:off x="6384020" y="2394558"/>
            <a:ext cx="5526039" cy="18264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向量组的秩</a:t>
            </a:r>
            <a:r>
              <a:rPr kumimoji="1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极大无关组中向量的个数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85B258A-C6BE-4932-BEAA-148C896DF3CB}"/>
              </a:ext>
            </a:extLst>
          </p:cNvPr>
          <p:cNvCxnSpPr/>
          <p:nvPr/>
        </p:nvCxnSpPr>
        <p:spPr bwMode="auto">
          <a:xfrm>
            <a:off x="2423745" y="2996970"/>
            <a:ext cx="208814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159FD39-7086-43AB-93AE-654E04900D65}"/>
              </a:ext>
            </a:extLst>
          </p:cNvPr>
          <p:cNvSpPr txBox="1"/>
          <p:nvPr/>
        </p:nvSpPr>
        <p:spPr>
          <a:xfrm>
            <a:off x="2423746" y="3090159"/>
            <a:ext cx="208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一般不唯一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E571052-E0D7-45A2-AD9D-9F228891E730}"/>
              </a:ext>
            </a:extLst>
          </p:cNvPr>
          <p:cNvSpPr txBox="1"/>
          <p:nvPr/>
        </p:nvSpPr>
        <p:spPr>
          <a:xfrm>
            <a:off x="8256150" y="3198167"/>
            <a:ext cx="208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一般不唯一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BAB1609-09C5-43E9-A501-3EC33A3B5ECF}"/>
              </a:ext>
            </a:extLst>
          </p:cNvPr>
          <p:cNvCxnSpPr>
            <a:cxnSpLocks/>
          </p:cNvCxnSpPr>
          <p:nvPr/>
        </p:nvCxnSpPr>
        <p:spPr bwMode="auto">
          <a:xfrm>
            <a:off x="8256150" y="3015226"/>
            <a:ext cx="166528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0A62857-4839-40B0-E233-550A90F5C166}"/>
              </a:ext>
            </a:extLst>
          </p:cNvPr>
          <p:cNvSpPr txBox="1"/>
          <p:nvPr/>
        </p:nvSpPr>
        <p:spPr>
          <a:xfrm>
            <a:off x="794967" y="4502694"/>
            <a:ext cx="105600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" name="文本框 18">
            <a:extLst>
              <a:ext uri="{FF2B5EF4-FFF2-40B4-BE49-F238E27FC236}">
                <a16:creationId xmlns:a16="http://schemas.microsoft.com/office/drawing/2014/main" id="{25456ACF-A40F-C3F0-BCCD-65BD8C6F6567}"/>
              </a:ext>
            </a:extLst>
          </p:cNvPr>
          <p:cNvSpPr txBox="1"/>
          <p:nvPr/>
        </p:nvSpPr>
        <p:spPr>
          <a:xfrm>
            <a:off x="669843" y="4994861"/>
            <a:ext cx="10560050" cy="5598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(1)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极大无关组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可能不唯一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B380A2-AA4D-7890-C87F-DD33CC18BDD9}"/>
              </a:ext>
            </a:extLst>
          </p:cNvPr>
          <p:cNvSpPr txBox="1"/>
          <p:nvPr/>
        </p:nvSpPr>
        <p:spPr>
          <a:xfrm>
            <a:off x="668573" y="5790826"/>
            <a:ext cx="11297920" cy="5598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(2)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若干个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极大无关组向量的个数均相等，且都等于向量组的秩；</a:t>
            </a:r>
          </a:p>
        </p:txBody>
      </p:sp>
    </p:spTree>
    <p:extLst>
      <p:ext uri="{BB962C8B-B14F-4D97-AF65-F5344CB8AC3E}">
        <p14:creationId xmlns:p14="http://schemas.microsoft.com/office/powerpoint/2010/main" val="19017439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3" grpId="0" animBg="1"/>
      <p:bldP spid="13" grpId="0"/>
      <p:bldP spid="50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文本框 125"/>
          <p:cNvSpPr txBox="1"/>
          <p:nvPr/>
        </p:nvSpPr>
        <p:spPr>
          <a:xfrm>
            <a:off x="884238" y="1147763"/>
            <a:ext cx="204354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7725" y="2124075"/>
            <a:ext cx="855186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性无关，则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≥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17725" y="2646363"/>
            <a:ext cx="930275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若向量组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中所有含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t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t≤n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个向量的部分组都线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17725" y="3168650"/>
            <a:ext cx="855186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性相关，则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85913" y="3689350"/>
            <a:ext cx="9132887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(2)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⇔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=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…=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=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0</a:t>
            </a:r>
            <a:endParaRPr lang="en-US" altLang="zh-CN" sz="2800" b="1">
              <a:latin typeface="宋体" panose="02010600030101010101" pitchFamily="2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05038" y="4211638"/>
            <a:ext cx="619442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indent="9525"/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⇔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2,</a:t>
            </a:r>
            <a:r>
              <a:rPr lang="en-US" altLang="zh-CN" sz="2800" b="1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线性无关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84238" y="4733925"/>
            <a:ext cx="163512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524000" y="5256213"/>
            <a:ext cx="9428163" cy="561975"/>
            <a:chOff x="2465" y="7843"/>
            <a:chExt cx="14848" cy="886"/>
          </a:xfrm>
        </p:grpSpPr>
        <p:graphicFrame>
          <p:nvGraphicFramePr>
            <p:cNvPr id="8201" name="对象 -2147482399"/>
            <p:cNvGraphicFramePr/>
            <p:nvPr/>
          </p:nvGraphicFramePr>
          <p:xfrm>
            <a:off x="12866" y="7879"/>
            <a:ext cx="3174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12800" imgH="241300" progId="Equation.3">
                    <p:embed/>
                  </p:oleObj>
                </mc:Choice>
                <mc:Fallback>
                  <p:oleObj r:id="rId2" imgW="812800" imgH="2413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866" y="7879"/>
                          <a:ext cx="3174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2" name="文本框 11"/>
            <p:cNvSpPr txBox="1"/>
            <p:nvPr/>
          </p:nvSpPr>
          <p:spPr>
            <a:xfrm>
              <a:off x="2465" y="7843"/>
              <a:ext cx="1484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indent="9525"/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(1) </a:t>
              </a:r>
              <a:r>
                <a:rPr lang="zh-CN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向量组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: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1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,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2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,</a:t>
              </a:r>
              <a:r>
                <a:rPr lang="en-US" altLang="zh-CN" sz="2800" b="1">
                  <a:latin typeface="黑体" panose="02010609060101010101" pitchFamily="49" charset="-122"/>
                  <a:ea typeface="宋体" panose="02010600030101010101" pitchFamily="2" charset="-122"/>
                  <a:sym typeface="宋体" panose="02010600030101010101" pitchFamily="2" charset="-122"/>
                </a:rPr>
                <a:t>…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,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i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宋体" panose="02010600030101010101" pitchFamily="2" charset="-122"/>
                </a:rPr>
                <a:t>n</a:t>
              </a:r>
              <a:r>
                <a:rPr lang="zh-CN" altLang="en-US" sz="2800" b="1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与其极大无关组</a:t>
              </a:r>
              <a:r>
                <a:rPr lang="en-US" altLang="zh-CN" sz="2800" b="1" i="1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r>
                <a:rPr lang="en-US" altLang="zh-CN" sz="2800" b="1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:           </a:t>
              </a:r>
              <a:r>
                <a:rPr lang="zh-CN" altLang="en-US" sz="2800" b="1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等价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524000" y="1603375"/>
            <a:ext cx="989647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中有一个含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s≤n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个向量的部分组线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14475" y="5818505"/>
            <a:ext cx="1074420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(2) 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的各个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极大无关组所含向量个数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相等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r>
              <a:rPr lang="zh-CN" altLang="zh-CN" sz="2800" b="1">
                <a:sym typeface="+mn-ea"/>
              </a:rPr>
              <a:t>就是</a:t>
            </a:r>
            <a:r>
              <a:rPr lang="zh-CN" altLang="zh-CN" sz="2800" b="1">
                <a:solidFill>
                  <a:srgbClr val="C00000"/>
                </a:solidFill>
                <a:sym typeface="+mn-ea"/>
              </a:rPr>
              <a:t>向量组的秩</a:t>
            </a:r>
            <a:r>
              <a:rPr lang="en-US" altLang="zh-CN" sz="2800" b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.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9525"/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0EDA20-70FB-4A33-83E1-2896FF481103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96B5D7-0010-4672-AB8E-C9F6B89FD49A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CBBCA8-89CE-4D90-B394-6FCFDE6726AF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0" name="标题 5145">
            <a:extLst>
              <a:ext uri="{FF2B5EF4-FFF2-40B4-BE49-F238E27FC236}">
                <a16:creationId xmlns:a16="http://schemas.microsoft.com/office/drawing/2014/main" id="{A2A3B9E8-B433-48D6-B71A-FB2A43C97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向量组的秩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4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文本框 157"/>
          <p:cNvSpPr txBox="1"/>
          <p:nvPr/>
        </p:nvSpPr>
        <p:spPr>
          <a:xfrm>
            <a:off x="884238" y="1850390"/>
            <a:ext cx="105346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4.</a:t>
            </a:r>
            <a:r>
              <a:rPr lang="zh-CN" altLang="zh-CN" sz="2800" b="1" dirty="0">
                <a:solidFill>
                  <a:srgbClr val="0000FF"/>
                </a:solidFill>
                <a:latin typeface="+mn-lt"/>
              </a:rPr>
              <a:t>3.1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（极大无关组的等价定义）若向量组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: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黑体" panose="02010609060101010101" pitchFamily="49" charset="-122"/>
                <a:ea typeface="宋体" panose="02010600030101010101" pitchFamily="2" charset="-122"/>
                <a:sym typeface="宋体" panose="02010600030101010101" pitchFamily="2" charset="-122"/>
              </a:rPr>
              <a:t>…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满足：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73225" y="2372678"/>
            <a:ext cx="7486650" cy="539750"/>
            <a:chOff x="2636" y="2630"/>
            <a:chExt cx="11788" cy="850"/>
          </a:xfrm>
        </p:grpSpPr>
        <p:sp>
          <p:nvSpPr>
            <p:cNvPr id="10248" name="文本框 2"/>
            <p:cNvSpPr txBox="1"/>
            <p:nvPr/>
          </p:nvSpPr>
          <p:spPr>
            <a:xfrm>
              <a:off x="2636" y="2630"/>
              <a:ext cx="1178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(1) </a:t>
              </a:r>
              <a:r>
                <a:rPr lang="zh-CN" altLang="en-US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存在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一个部分组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:           </a:t>
              </a:r>
              <a:r>
                <a:rPr lang="zh-CN" altLang="en-US" sz="2800" b="1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线性无关；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249" name="对象 -2147482399"/>
            <p:cNvGraphicFramePr/>
            <p:nvPr/>
          </p:nvGraphicFramePr>
          <p:xfrm>
            <a:off x="8319" y="2630"/>
            <a:ext cx="3175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12800" imgH="241300" progId="Equation.3">
                    <p:embed/>
                  </p:oleObj>
                </mc:Choice>
                <mc:Fallback>
                  <p:oleObj r:id="rId2" imgW="812800" imgH="2413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319" y="2630"/>
                          <a:ext cx="3175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1673225" y="2912428"/>
            <a:ext cx="95694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(2)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组中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任意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向量都可由向量组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线性表示；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112963" y="3593465"/>
            <a:ext cx="8829675" cy="539750"/>
            <a:chOff x="1392" y="4350"/>
            <a:chExt cx="13905" cy="850"/>
          </a:xfrm>
        </p:grpSpPr>
        <p:sp>
          <p:nvSpPr>
            <p:cNvPr id="10252" name="文本框 9"/>
            <p:cNvSpPr txBox="1"/>
            <p:nvPr/>
          </p:nvSpPr>
          <p:spPr>
            <a:xfrm>
              <a:off x="1392" y="4350"/>
              <a:ext cx="13905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则部分组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:          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是向量组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A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的一个</a:t>
              </a:r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极大</a:t>
              </a:r>
              <a:r>
                <a:rPr lang="zh-CN" altLang="en-US" sz="28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无关组</a:t>
              </a:r>
              <a:r>
                <a:rPr lang="en-US" altLang="zh-CN" sz="2800" b="1"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0253" name="对象 -2147482399"/>
            <p:cNvGraphicFramePr/>
            <p:nvPr/>
          </p:nvGraphicFramePr>
          <p:xfrm>
            <a:off x="4527" y="4350"/>
            <a:ext cx="3175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812800" imgH="241300" progId="Equation.3">
                    <p:embed/>
                  </p:oleObj>
                </mc:Choice>
                <mc:Fallback>
                  <p:oleObj r:id="rId4" imgW="812800" imgH="2413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527" y="4350"/>
                          <a:ext cx="3175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6C7CE3C3-25F1-432B-A39A-74C8E4548621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39DD47-BFD7-48D7-9871-CE3267224C22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E4A926-E201-400C-AC2D-B5A078784F41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6" name="标题 5145">
            <a:extLst>
              <a:ext uri="{FF2B5EF4-FFF2-40B4-BE49-F238E27FC236}">
                <a16:creationId xmlns:a16="http://schemas.microsoft.com/office/drawing/2014/main" id="{9604F1DB-4236-48D0-B88C-CE0EBF27B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向量组的秩与极大无关组的概念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886585" y="880720"/>
            <a:ext cx="6148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案例：</a:t>
            </a:r>
            <a:r>
              <a:rPr lang="zh-CN" altLang="en-US" b="1"/>
              <a:t>绘画三原色</a:t>
            </a:r>
          </a:p>
        </p:txBody>
      </p:sp>
      <p:sp>
        <p:nvSpPr>
          <p:cNvPr id="16" name="椭圆 15"/>
          <p:cNvSpPr/>
          <p:nvPr/>
        </p:nvSpPr>
        <p:spPr>
          <a:xfrm>
            <a:off x="4944110" y="857860"/>
            <a:ext cx="504190" cy="50419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079490" y="857860"/>
            <a:ext cx="504190" cy="504190"/>
          </a:xfrm>
          <a:prstGeom prst="ellipse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7248525" y="857860"/>
            <a:ext cx="504190" cy="504190"/>
          </a:xfrm>
          <a:prstGeom prst="ellipse">
            <a:avLst/>
          </a:prstGeom>
          <a:solidFill>
            <a:srgbClr val="00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346700" y="3126080"/>
            <a:ext cx="504190" cy="504190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757805" y="3126080"/>
            <a:ext cx="504190" cy="50419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185285" y="3126080"/>
            <a:ext cx="504190" cy="504190"/>
          </a:xfrm>
          <a:prstGeom prst="ellipse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538220" y="316989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＋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4870450" y="4590390"/>
            <a:ext cx="360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53" name="椭圆 52"/>
          <p:cNvSpPr/>
          <p:nvPr/>
        </p:nvSpPr>
        <p:spPr>
          <a:xfrm>
            <a:off x="4185285" y="3886810"/>
            <a:ext cx="504190" cy="504190"/>
          </a:xfrm>
          <a:prstGeom prst="ellipse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757805" y="3937610"/>
            <a:ext cx="504190" cy="504190"/>
          </a:xfrm>
          <a:prstGeom prst="ellipse">
            <a:avLst/>
          </a:prstGeom>
          <a:solidFill>
            <a:srgbClr val="00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538220" y="388681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＋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870450" y="3908400"/>
            <a:ext cx="360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57" name="椭圆 56"/>
          <p:cNvSpPr/>
          <p:nvPr/>
        </p:nvSpPr>
        <p:spPr>
          <a:xfrm>
            <a:off x="5346700" y="3842995"/>
            <a:ext cx="504190" cy="504190"/>
          </a:xfrm>
          <a:prstGeom prst="ellipse">
            <a:avLst/>
          </a:prstGeom>
          <a:solidFill>
            <a:srgbClr val="00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628685" y="1764312"/>
            <a:ext cx="819657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三原色中任意一个颜色都不能由剩余的那两个颜色调出；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2602230" y="5704815"/>
            <a:ext cx="5993765" cy="4603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三原色就是所有颜色这个集合的极大无关组</a:t>
            </a:r>
          </a:p>
        </p:txBody>
      </p:sp>
      <p:sp>
        <p:nvSpPr>
          <p:cNvPr id="62" name="椭圆 61"/>
          <p:cNvSpPr/>
          <p:nvPr/>
        </p:nvSpPr>
        <p:spPr>
          <a:xfrm>
            <a:off x="2757805" y="4590390"/>
            <a:ext cx="504190" cy="504190"/>
          </a:xfrm>
          <a:prstGeom prst="ellipse">
            <a:avLst/>
          </a:prstGeom>
          <a:solidFill>
            <a:srgbClr val="00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538855" y="463420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＋</a:t>
            </a:r>
          </a:p>
        </p:txBody>
      </p:sp>
      <p:sp>
        <p:nvSpPr>
          <p:cNvPr id="64" name="椭圆 63"/>
          <p:cNvSpPr/>
          <p:nvPr/>
        </p:nvSpPr>
        <p:spPr>
          <a:xfrm>
            <a:off x="4199890" y="4590390"/>
            <a:ext cx="504190" cy="50419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 flipV="1">
            <a:off x="4870450" y="3186405"/>
            <a:ext cx="349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66" name="椭圆 65"/>
          <p:cNvSpPr/>
          <p:nvPr/>
        </p:nvSpPr>
        <p:spPr>
          <a:xfrm>
            <a:off x="5346700" y="4590390"/>
            <a:ext cx="504190" cy="504190"/>
          </a:xfrm>
          <a:prstGeom prst="ellipse">
            <a:avLst/>
          </a:prstGeom>
          <a:solidFill>
            <a:srgbClr val="80008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A446BC-E369-46BF-9079-E453683E59F6}"/>
              </a:ext>
            </a:extLst>
          </p:cNvPr>
          <p:cNvSpPr txBox="1"/>
          <p:nvPr/>
        </p:nvSpPr>
        <p:spPr>
          <a:xfrm>
            <a:off x="2605190" y="2680102"/>
            <a:ext cx="819657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任一颜色都可以由该三原色成比例调出；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34" grpId="0"/>
      <p:bldP spid="52" grpId="0"/>
      <p:bldP spid="53" grpId="0" animBg="1"/>
      <p:bldP spid="54" grpId="0" animBg="1"/>
      <p:bldP spid="55" grpId="0"/>
      <p:bldP spid="56" grpId="0"/>
      <p:bldP spid="57" grpId="0" animBg="1"/>
      <p:bldP spid="58" grpId="0" animBg="1"/>
      <p:bldP spid="61" grpId="0" animBg="1"/>
      <p:bldP spid="62" grpId="0" animBg="1"/>
      <p:bldP spid="63" grpId="0"/>
      <p:bldP spid="64" grpId="0" animBg="1"/>
      <p:bldP spid="65" grpId="0"/>
      <p:bldP spid="66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文本框 157"/>
          <p:cNvSpPr txBox="1"/>
          <p:nvPr/>
        </p:nvSpPr>
        <p:spPr>
          <a:xfrm>
            <a:off x="883603" y="1268850"/>
            <a:ext cx="105346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4.</a:t>
            </a:r>
            <a:r>
              <a:rPr lang="zh-CN" altLang="zh-CN" sz="2800" b="1" dirty="0">
                <a:solidFill>
                  <a:srgbClr val="0000FF"/>
                </a:solidFill>
                <a:latin typeface="+mn-lt"/>
              </a:rPr>
              <a:t>3.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</a:rPr>
              <a:t>2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矩阵的秩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它的列向量组的秩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它的行向量组的秩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26AFA4-D6CB-41AF-9701-2C4EAC2AD460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5ECDF5-A082-499B-82CB-D72A74244622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32C4DD-9520-4C89-870F-D14459895C6F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" name="标题 5145">
            <a:extLst>
              <a:ext uri="{FF2B5EF4-FFF2-40B4-BE49-F238E27FC236}">
                <a16:creationId xmlns:a16="http://schemas.microsoft.com/office/drawing/2014/main" id="{1239B03F-4178-4C31-B338-D60B91B7B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向量组的秩与矩阵的秩的关系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40514B-3355-D250-ECF6-64236C5DA93A}"/>
              </a:ext>
            </a:extLst>
          </p:cNvPr>
          <p:cNvSpPr txBox="1"/>
          <p:nvPr/>
        </p:nvSpPr>
        <p:spPr>
          <a:xfrm>
            <a:off x="884238" y="2180180"/>
            <a:ext cx="682148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4.3.3</a:t>
            </a:r>
            <a:r>
              <a:rPr lang="en-US" altLang="zh-CN" sz="2800" b="1" dirty="0">
                <a:latin typeface="+mj-lt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矩阵，则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BF6BA7-F12C-6513-F3AD-CA11BE8EB7C5}"/>
              </a:ext>
            </a:extLst>
          </p:cNvPr>
          <p:cNvSpPr txBox="1"/>
          <p:nvPr/>
        </p:nvSpPr>
        <p:spPr>
          <a:xfrm>
            <a:off x="2122488" y="3224755"/>
            <a:ext cx="232727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同的线性关系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E2FB7E7-8B0C-90C2-72BA-4B5CD5C9FAB0}"/>
              </a:ext>
            </a:extLst>
          </p:cNvPr>
          <p:cNvGrpSpPr/>
          <p:nvPr/>
        </p:nvGrpSpPr>
        <p:grpSpPr>
          <a:xfrm>
            <a:off x="1676400" y="2559592"/>
            <a:ext cx="9605963" cy="665163"/>
            <a:chOff x="2641" y="2404"/>
            <a:chExt cx="15126" cy="1048"/>
          </a:xfrm>
        </p:grpSpPr>
        <p:sp>
          <p:nvSpPr>
            <p:cNvPr id="9" name="文本框 7">
              <a:extLst>
                <a:ext uri="{FF2B5EF4-FFF2-40B4-BE49-F238E27FC236}">
                  <a16:creationId xmlns:a16="http://schemas.microsoft.com/office/drawing/2014/main" id="{FCE27212-6E1E-0AAF-2F1A-C96A4F823590}"/>
                </a:ext>
              </a:extLst>
            </p:cNvPr>
            <p:cNvSpPr txBox="1"/>
            <p:nvPr/>
          </p:nvSpPr>
          <p:spPr>
            <a:xfrm>
              <a:off x="2641" y="2630"/>
              <a:ext cx="1512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(1)</a:t>
              </a:r>
              <a:r>
                <a:rPr lang="zh-CN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若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~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zh-CN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则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的任意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个列向量与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中对应的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个列向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量具有相</a:t>
              </a:r>
              <a:endPara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E6DB039-7E1F-7982-ED22-DE0510623F4C}"/>
                </a:ext>
              </a:extLst>
            </p:cNvPr>
            <p:cNvSpPr txBox="1"/>
            <p:nvPr/>
          </p:nvSpPr>
          <p:spPr>
            <a:xfrm>
              <a:off x="4374" y="2404"/>
              <a:ext cx="494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835C8E9-1244-0970-A0BD-F2FE3A185B13}"/>
              </a:ext>
            </a:extLst>
          </p:cNvPr>
          <p:cNvGrpSpPr/>
          <p:nvPr/>
        </p:nvGrpSpPr>
        <p:grpSpPr>
          <a:xfrm>
            <a:off x="1676400" y="4355372"/>
            <a:ext cx="9605963" cy="665163"/>
            <a:chOff x="2641" y="2404"/>
            <a:chExt cx="15126" cy="1048"/>
          </a:xfrm>
        </p:grpSpPr>
        <p:sp>
          <p:nvSpPr>
            <p:cNvPr id="12" name="文本框 14">
              <a:extLst>
                <a:ext uri="{FF2B5EF4-FFF2-40B4-BE49-F238E27FC236}">
                  <a16:creationId xmlns:a16="http://schemas.microsoft.com/office/drawing/2014/main" id="{7084FF81-A658-B01F-2106-3475DBE57A27}"/>
                </a:ext>
              </a:extLst>
            </p:cNvPr>
            <p:cNvSpPr txBox="1"/>
            <p:nvPr/>
          </p:nvSpPr>
          <p:spPr>
            <a:xfrm>
              <a:off x="2641" y="2630"/>
              <a:ext cx="1512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(2)</a:t>
              </a:r>
              <a:r>
                <a:rPr lang="zh-CN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若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A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~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B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,</a:t>
              </a:r>
              <a:r>
                <a:rPr lang="zh-CN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则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A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的任意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s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个行向量与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B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中对应的</a:t>
              </a:r>
              <a:r>
                <a:rPr lang="en-US" altLang="zh-CN" sz="2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s</a:t>
              </a:r>
              <a:r>
                <a:rPr lang="zh-CN" altLang="en-US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个行向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量具有相</a:t>
              </a:r>
              <a:endPara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文本框 15">
              <a:extLst>
                <a:ext uri="{FF2B5EF4-FFF2-40B4-BE49-F238E27FC236}">
                  <a16:creationId xmlns:a16="http://schemas.microsoft.com/office/drawing/2014/main" id="{3C9AE367-2DCC-E2E1-9339-EFC6FEC8984C}"/>
                </a:ext>
              </a:extLst>
            </p:cNvPr>
            <p:cNvSpPr txBox="1"/>
            <p:nvPr/>
          </p:nvSpPr>
          <p:spPr>
            <a:xfrm>
              <a:off x="4261" y="2404"/>
              <a:ext cx="494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8947B-61C7-6AEC-8170-70D44BE5F164}"/>
              </a:ext>
            </a:extLst>
          </p:cNvPr>
          <p:cNvSpPr txBox="1"/>
          <p:nvPr/>
        </p:nvSpPr>
        <p:spPr>
          <a:xfrm>
            <a:off x="2122488" y="5100545"/>
            <a:ext cx="232727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同的线性关系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8B9A81-4C34-0129-CECB-16A03279A644}"/>
              </a:ext>
            </a:extLst>
          </p:cNvPr>
          <p:cNvSpPr txBox="1"/>
          <p:nvPr/>
        </p:nvSpPr>
        <p:spPr>
          <a:xfrm>
            <a:off x="2198688" y="3833085"/>
            <a:ext cx="661797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初等行变换不改变列向量之间的线性关系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480AAC-4B54-EA41-5AF7-C8C8DD868F6A}"/>
              </a:ext>
            </a:extLst>
          </p:cNvPr>
          <p:cNvSpPr txBox="1"/>
          <p:nvPr/>
        </p:nvSpPr>
        <p:spPr>
          <a:xfrm>
            <a:off x="2122488" y="5715225"/>
            <a:ext cx="661797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初等列变换不改变行向量之间的线性关系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2" grpId="0"/>
      <p:bldP spid="3" grpId="0"/>
      <p:bldP spid="14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882650" y="1470025"/>
            <a:ext cx="304006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3.1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设向量组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922713" y="1101725"/>
            <a:ext cx="3132137" cy="1260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" name="文本框 101"/>
          <p:cNvSpPr txBox="1"/>
          <p:nvPr/>
        </p:nvSpPr>
        <p:spPr>
          <a:xfrm>
            <a:off x="884238" y="2362200"/>
            <a:ext cx="87566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求向量组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的秩，并找出</a:t>
            </a:r>
            <a:r>
              <a:rPr lang="zh-CN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所有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的极大无关组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.</a:t>
            </a:r>
            <a:endParaRPr lang="en-US" altLang="zh-CN" sz="2800" b="1" i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-57785" y="2909570"/>
            <a:ext cx="12369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初等变换法：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71105" y="3652520"/>
          <a:ext cx="1728470" cy="58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96900" imgH="203200" progId="Equation.KSEE3">
                  <p:embed/>
                </p:oleObj>
              </mc:Choice>
              <mc:Fallback>
                <p:oleObj r:id="rId3" imgW="5969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71105" y="3652520"/>
                        <a:ext cx="1728470" cy="588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94945" y="4927600"/>
            <a:ext cx="11863705" cy="521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2800" b="1" dirty="0">
                <a:solidFill>
                  <a:schemeClr val="accent4"/>
                </a:solidFill>
                <a:effectLst/>
              </a:rPr>
              <a:t>找极大无关组：行最简型线性无关的向量所在的列，对应到原来</a:t>
            </a:r>
            <a:r>
              <a:rPr lang="zh-CN" altLang="en-US" sz="2800" b="1" dirty="0">
                <a:solidFill>
                  <a:schemeClr val="accent4"/>
                </a:solidFill>
              </a:rPr>
              <a:t>向量</a:t>
            </a:r>
            <a:endParaRPr lang="zh-CN" altLang="en-US" sz="2800" b="1" dirty="0">
              <a:solidFill>
                <a:schemeClr val="accent4"/>
              </a:solidFill>
              <a:effectLst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8298" y="5801995"/>
            <a:ext cx="87566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所有的极大无关组：</a:t>
            </a:r>
            <a:endParaRPr lang="en-US" altLang="zh-CN" sz="2800" b="1" i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23030" y="5449570"/>
          <a:ext cx="1022350" cy="1396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20700" imgH="711200" progId="Equation.KSEE3">
                  <p:embed/>
                </p:oleObj>
              </mc:Choice>
              <mc:Fallback>
                <p:oleObj r:id="rId5" imgW="520700" imgH="711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3030" y="5449570"/>
                        <a:ext cx="1022350" cy="1396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845175" y="5449570"/>
          <a:ext cx="1022350" cy="1396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20700" imgH="711200" progId="Equation.KSEE3">
                  <p:embed/>
                </p:oleObj>
              </mc:Choice>
              <mc:Fallback>
                <p:oleObj r:id="rId7" imgW="520700" imgH="711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45175" y="5449570"/>
                        <a:ext cx="1022350" cy="1396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082915" y="5449570"/>
          <a:ext cx="1022350" cy="1396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20700" imgH="711200" progId="Equation.KSEE3">
                  <p:embed/>
                </p:oleObj>
              </mc:Choice>
              <mc:Fallback>
                <p:oleObj r:id="rId9" imgW="520700" imgH="711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82915" y="5449570"/>
                        <a:ext cx="1022350" cy="1396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2526665" y="3073400"/>
            <a:ext cx="4205605" cy="1747520"/>
            <a:chOff x="4753" y="4840"/>
            <a:chExt cx="5849" cy="2752"/>
          </a:xfrm>
        </p:grpSpPr>
        <p:graphicFrame>
          <p:nvGraphicFramePr>
            <p:cNvPr id="7" name="对象 6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4753" y="4840"/>
            <a:ext cx="5849" cy="2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511300" imgH="711200" progId="Equation.KSEE3">
                    <p:embed/>
                  </p:oleObj>
                </mc:Choice>
                <mc:Fallback>
                  <p:oleObj r:id="rId11" imgW="1511300" imgH="711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753" y="4840"/>
                          <a:ext cx="5849" cy="27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7397" y="5404"/>
            <a:ext cx="560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01600" imgH="127000" progId="Equation.KSEE3">
                    <p:embed/>
                  </p:oleObj>
                </mc:Choice>
                <mc:Fallback>
                  <p:oleObj r:id="rId13" imgW="101600" imgH="127000" progId="Equation.KSEE3">
                    <p:embed/>
                    <p:pic>
                      <p:nvPicPr>
                        <p:cNvPr id="0" name="图片 102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397" y="5404"/>
                          <a:ext cx="560" cy="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89B5232B-BFC4-41A1-813B-292846CA8A41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4B7BFF-261A-4571-A266-F47B9E7062D1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4E8180-CA66-48F0-923A-CE700E687748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0" name="标题 5145">
            <a:extLst>
              <a:ext uri="{FF2B5EF4-FFF2-40B4-BE49-F238E27FC236}">
                <a16:creationId xmlns:a16="http://schemas.microsoft.com/office/drawing/2014/main" id="{85840AD3-D7CF-46BB-8C42-F0BCE1F92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黑体" panose="02010609060101010101" pitchFamily="49" charset="-122"/>
              </a:rPr>
              <a:t>向量组的秩与极大无关组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  <p:bldP spid="102" grpId="0"/>
      <p:bldP spid="102" grpId="1"/>
      <p:bldP spid="103" grpId="0"/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04"/>
          <p:cNvSpPr txBox="1"/>
          <p:nvPr/>
        </p:nvSpPr>
        <p:spPr>
          <a:xfrm>
            <a:off x="884238" y="1147763"/>
            <a:ext cx="5080000" cy="5222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indent="9525"/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3.2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设矩阵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363" name="对象 -2147482465"/>
          <p:cNvGraphicFramePr>
            <a:graphicFrameLocks noChangeAspect="1"/>
          </p:cNvGraphicFramePr>
          <p:nvPr/>
        </p:nvGraphicFramePr>
        <p:xfrm>
          <a:off x="3111500" y="1598613"/>
          <a:ext cx="2671763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89100" imgH="914400" progId="Equation.3">
                  <p:embed/>
                </p:oleObj>
              </mc:Choice>
              <mc:Fallback>
                <p:oleObj r:id="rId2" imgW="1689100" imgH="914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11500" y="1598613"/>
                        <a:ext cx="2671763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文本框 2"/>
          <p:cNvSpPr txBox="1"/>
          <p:nvPr/>
        </p:nvSpPr>
        <p:spPr>
          <a:xfrm>
            <a:off x="884238" y="3217863"/>
            <a:ext cx="103695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矩阵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的列向量组的秩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;(2)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的列向量组的</a:t>
            </a:r>
            <a:r>
              <a:rPr lang="zh-CN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一个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极大无关组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  <a:endParaRPr lang="zh-CN" altLang="en-US" sz="2800" b="1" i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5" name="文本框 6"/>
          <p:cNvSpPr txBox="1"/>
          <p:nvPr/>
        </p:nvSpPr>
        <p:spPr>
          <a:xfrm>
            <a:off x="1323975" y="3740150"/>
            <a:ext cx="91773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(3)</a:t>
            </a: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把不属于极大无关组的列向量用极大无关组线性表示．</a:t>
            </a:r>
          </a:p>
        </p:txBody>
      </p:sp>
      <p:sp>
        <p:nvSpPr>
          <p:cNvPr id="15366" name="文本框 7"/>
          <p:cNvSpPr txBox="1"/>
          <p:nvPr/>
        </p:nvSpPr>
        <p:spPr>
          <a:xfrm>
            <a:off x="884238" y="4262438"/>
            <a:ext cx="55403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16391" name="文本框 8"/>
          <p:cNvSpPr txBox="1"/>
          <p:nvPr/>
        </p:nvSpPr>
        <p:spPr>
          <a:xfrm>
            <a:off x="1438275" y="4262755"/>
            <a:ext cx="950404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9525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对矩阵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施行初等行变换化为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行最简形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必须是）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392" name="对象 -2147482461"/>
          <p:cNvGraphicFramePr>
            <a:graphicFrameLocks noChangeAspect="1"/>
          </p:cNvGraphicFramePr>
          <p:nvPr/>
        </p:nvGraphicFramePr>
        <p:xfrm>
          <a:off x="1660525" y="4784725"/>
          <a:ext cx="4498975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187700" imgH="914400" progId="Equation.3">
                  <p:embed/>
                </p:oleObj>
              </mc:Choice>
              <mc:Fallback>
                <p:oleObj r:id="rId4" imgW="3187700" imgH="9144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60525" y="4784725"/>
                        <a:ext cx="4498975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对象 -2147482460"/>
          <p:cNvGraphicFramePr>
            <a:graphicFrameLocks noChangeAspect="1"/>
          </p:cNvGraphicFramePr>
          <p:nvPr/>
        </p:nvGraphicFramePr>
        <p:xfrm>
          <a:off x="6159500" y="4783138"/>
          <a:ext cx="3979863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19400" imgH="914400" progId="Equation.3">
                  <p:embed/>
                </p:oleObj>
              </mc:Choice>
              <mc:Fallback>
                <p:oleObj r:id="rId6" imgW="2819400" imgH="9144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9500" y="4783138"/>
                        <a:ext cx="3979863" cy="162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A2AB7B1-1CED-44BE-9561-C979DD66FC12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87CFE7-DBFB-404B-8695-A39D7E141F8F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CC6652-D0B4-4598-9C90-48D4CE7B44A7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" name="标题 5145">
            <a:extLst>
              <a:ext uri="{FF2B5EF4-FFF2-40B4-BE49-F238E27FC236}">
                <a16:creationId xmlns:a16="http://schemas.microsoft.com/office/drawing/2014/main" id="{D430794F-EB14-41E2-9206-C40E7C077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矩阵的初等变换与向量组的极大无关组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-2147482461"/>
          <p:cNvGraphicFramePr>
            <a:graphicFrameLocks noChangeAspect="1"/>
          </p:cNvGraphicFramePr>
          <p:nvPr/>
        </p:nvGraphicFramePr>
        <p:xfrm>
          <a:off x="1987550" y="1149350"/>
          <a:ext cx="3836988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95500" imgH="914400" progId="Equation.3">
                  <p:embed/>
                </p:oleObj>
              </mc:Choice>
              <mc:Fallback>
                <p:oleObj r:id="rId3" imgW="2095500" imgH="9144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7550" y="1149350"/>
                        <a:ext cx="3836988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84238" y="1697038"/>
            <a:ext cx="90963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4238" y="3078163"/>
            <a:ext cx="867092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记矩阵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A=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，   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B=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3136900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2722563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3606800" y="2690813"/>
            <a:ext cx="142875" cy="503237"/>
          </a:xfrm>
          <a:prstGeom prst="downArrow">
            <a:avLst>
              <a:gd name="adj1" fmla="val 50000"/>
              <a:gd name="adj2" fmla="val 5035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4110038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4657725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6383655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6853555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7285355" y="2690813"/>
            <a:ext cx="142875" cy="503237"/>
          </a:xfrm>
          <a:prstGeom prst="downArrow">
            <a:avLst>
              <a:gd name="adj1" fmla="val 50000"/>
              <a:gd name="adj2" fmla="val 5035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7791768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8372793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155" y="3959225"/>
            <a:ext cx="109347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，知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)=3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97155" y="4768850"/>
            <a:ext cx="11950700" cy="527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是列向量组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的一个极大无关组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首非零元所在的列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7410" name="对象 -2147482460"/>
          <p:cNvGraphicFramePr>
            <a:graphicFrameLocks noChangeAspect="1"/>
          </p:cNvGraphicFramePr>
          <p:nvPr/>
        </p:nvGraphicFramePr>
        <p:xfrm>
          <a:off x="5824855" y="1148080"/>
          <a:ext cx="2921000" cy="162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33500" imgH="914400" progId="Equation.3">
                  <p:embed/>
                </p:oleObj>
              </mc:Choice>
              <mc:Fallback>
                <p:oleObj r:id="rId5" imgW="1333500" imgH="9144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24855" y="1148080"/>
                        <a:ext cx="2921000" cy="16205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6248400" y="1607185"/>
            <a:ext cx="533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/>
        </p:nvCxnSpPr>
        <p:spPr>
          <a:xfrm>
            <a:off x="7618095" y="2364740"/>
            <a:ext cx="86677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直接连接符 22"/>
          <p:cNvCxnSpPr/>
          <p:nvPr/>
        </p:nvCxnSpPr>
        <p:spPr>
          <a:xfrm>
            <a:off x="6781800" y="1607185"/>
            <a:ext cx="0" cy="3098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直接连接符 23"/>
          <p:cNvCxnSpPr/>
          <p:nvPr/>
        </p:nvCxnSpPr>
        <p:spPr>
          <a:xfrm>
            <a:off x="7585075" y="1917065"/>
            <a:ext cx="9525" cy="4476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直接连接符 24"/>
          <p:cNvCxnSpPr/>
          <p:nvPr/>
        </p:nvCxnSpPr>
        <p:spPr>
          <a:xfrm>
            <a:off x="6774180" y="1917065"/>
            <a:ext cx="81089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文本框 33"/>
          <p:cNvSpPr txBox="1"/>
          <p:nvPr/>
        </p:nvSpPr>
        <p:spPr>
          <a:xfrm>
            <a:off x="539750" y="5427980"/>
            <a:ext cx="11372850" cy="5651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latin typeface="宋体" panose="02010600030101010101" pitchFamily="2" charset="-122"/>
                <a:sym typeface="宋体" panose="02010600030101010101" pitchFamily="2" charset="-122"/>
              </a:rPr>
              <a:t>由定理</a:t>
            </a:r>
            <a:r>
              <a:rPr lang="en-US" altLang="zh-CN" sz="2800" b="1">
                <a:sym typeface="宋体" panose="02010600030101010101" pitchFamily="2" charset="-122"/>
              </a:rPr>
              <a:t>3.3</a:t>
            </a:r>
            <a:r>
              <a:rPr lang="zh-CN" altLang="en-US" sz="2800" b="1">
                <a:sym typeface="宋体" panose="02010600030101010101" pitchFamily="2" charset="-122"/>
              </a:rPr>
              <a:t>知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zh-CN" altLang="en-US" sz="2800" b="1">
                <a:latin typeface="宋体" panose="02010600030101010101" pitchFamily="2" charset="-122"/>
                <a:sym typeface="宋体" panose="02010600030101010101" pitchFamily="2" charset="-122"/>
              </a:rPr>
              <a:t>是原矩阵对应列向量组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zh-CN" altLang="en-US" sz="2800" b="1">
                <a:latin typeface="宋体" panose="02010600030101010101" pitchFamily="2" charset="-122"/>
                <a:sym typeface="宋体" panose="02010600030101010101" pitchFamily="2" charset="-122"/>
              </a:rPr>
              <a:t>的一个极大无关组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6750" y="5993130"/>
            <a:ext cx="5902960" cy="5651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rgbClr val="0000FF"/>
                </a:solidFill>
              </a:rPr>
              <a:t>注意：第二问的作答为第三问作铺垫</a:t>
            </a:r>
          </a:p>
        </p:txBody>
      </p:sp>
      <p:sp>
        <p:nvSpPr>
          <p:cNvPr id="19" name="椭圆 18"/>
          <p:cNvSpPr/>
          <p:nvPr/>
        </p:nvSpPr>
        <p:spPr>
          <a:xfrm>
            <a:off x="6168390" y="1197610"/>
            <a:ext cx="360045" cy="360045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618095" y="2004695"/>
            <a:ext cx="360045" cy="360045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745605" y="1557020"/>
            <a:ext cx="360045" cy="360045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38A50B-160C-4688-B07D-FD86CC18929B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A42C02-131F-4F4A-9949-BF3434AC593C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31E534-2AB9-408D-BE55-A14620BF38AB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2" name="标题 5145">
            <a:extLst>
              <a:ext uri="{FF2B5EF4-FFF2-40B4-BE49-F238E27FC236}">
                <a16:creationId xmlns:a16="http://schemas.microsoft.com/office/drawing/2014/main" id="{0663B1D6-D8B2-4B18-8C82-F97BA4CB0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矩阵的初等变换与向量组的极大无关组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/>
      <p:bldP spid="108" grpId="0"/>
      <p:bldP spid="34" grpId="0"/>
      <p:bldP spid="5" grpId="0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对象 -2147482460"/>
          <p:cNvGraphicFramePr>
            <a:graphicFrameLocks noChangeAspect="1"/>
          </p:cNvGraphicFramePr>
          <p:nvPr/>
        </p:nvGraphicFramePr>
        <p:xfrm>
          <a:off x="5824538" y="1147763"/>
          <a:ext cx="2921000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33500" imgH="914400" progId="Equation.3">
                  <p:embed/>
                </p:oleObj>
              </mc:Choice>
              <mc:Fallback>
                <p:oleObj r:id="rId2" imgW="1333500" imgH="9144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24538" y="1147763"/>
                        <a:ext cx="2921000" cy="162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对象 -2147482461"/>
          <p:cNvGraphicFramePr>
            <a:graphicFrameLocks noChangeAspect="1"/>
          </p:cNvGraphicFramePr>
          <p:nvPr/>
        </p:nvGraphicFramePr>
        <p:xfrm>
          <a:off x="1987550" y="1149350"/>
          <a:ext cx="3836988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95500" imgH="914400" progId="Equation.3">
                  <p:embed/>
                </p:oleObj>
              </mc:Choice>
              <mc:Fallback>
                <p:oleObj r:id="rId4" imgW="2095500" imgH="9144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87550" y="1149350"/>
                        <a:ext cx="3836988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文本框 3"/>
          <p:cNvSpPr txBox="1"/>
          <p:nvPr/>
        </p:nvSpPr>
        <p:spPr>
          <a:xfrm>
            <a:off x="884238" y="1697038"/>
            <a:ext cx="90963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17413" name="文本框 4"/>
          <p:cNvSpPr txBox="1"/>
          <p:nvPr/>
        </p:nvSpPr>
        <p:spPr>
          <a:xfrm>
            <a:off x="1987550" y="3078163"/>
            <a:ext cx="7567613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A=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，   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B=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)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4" name="下箭头 5"/>
          <p:cNvSpPr/>
          <p:nvPr/>
        </p:nvSpPr>
        <p:spPr>
          <a:xfrm>
            <a:off x="3136900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5" name="下箭头 6"/>
          <p:cNvSpPr/>
          <p:nvPr/>
        </p:nvSpPr>
        <p:spPr>
          <a:xfrm>
            <a:off x="2722563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6" name="下箭头 7"/>
          <p:cNvSpPr/>
          <p:nvPr/>
        </p:nvSpPr>
        <p:spPr>
          <a:xfrm>
            <a:off x="3606800" y="2690813"/>
            <a:ext cx="142875" cy="503237"/>
          </a:xfrm>
          <a:prstGeom prst="downArrow">
            <a:avLst>
              <a:gd name="adj1" fmla="val 50000"/>
              <a:gd name="adj2" fmla="val 5035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7" name="下箭头 8"/>
          <p:cNvSpPr/>
          <p:nvPr/>
        </p:nvSpPr>
        <p:spPr>
          <a:xfrm>
            <a:off x="4110038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8" name="下箭头 9"/>
          <p:cNvSpPr/>
          <p:nvPr/>
        </p:nvSpPr>
        <p:spPr>
          <a:xfrm>
            <a:off x="4657725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9" name="下箭头 10"/>
          <p:cNvSpPr/>
          <p:nvPr/>
        </p:nvSpPr>
        <p:spPr>
          <a:xfrm>
            <a:off x="6311900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0" name="下箭头 12"/>
          <p:cNvSpPr/>
          <p:nvPr/>
        </p:nvSpPr>
        <p:spPr>
          <a:xfrm>
            <a:off x="6781800" y="2690813"/>
            <a:ext cx="144463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1" name="下箭头 13"/>
          <p:cNvSpPr/>
          <p:nvPr/>
        </p:nvSpPr>
        <p:spPr>
          <a:xfrm>
            <a:off x="7213600" y="2690813"/>
            <a:ext cx="142875" cy="503237"/>
          </a:xfrm>
          <a:prstGeom prst="downArrow">
            <a:avLst>
              <a:gd name="adj1" fmla="val 50000"/>
              <a:gd name="adj2" fmla="val 5035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2" name="下箭头 14"/>
          <p:cNvSpPr/>
          <p:nvPr/>
        </p:nvSpPr>
        <p:spPr>
          <a:xfrm>
            <a:off x="7720013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3" name="下箭头 15"/>
          <p:cNvSpPr/>
          <p:nvPr/>
        </p:nvSpPr>
        <p:spPr>
          <a:xfrm>
            <a:off x="8301038" y="2690813"/>
            <a:ext cx="144462" cy="503237"/>
          </a:xfrm>
          <a:prstGeom prst="downArrow">
            <a:avLst>
              <a:gd name="adj1" fmla="val 50000"/>
              <a:gd name="adj2" fmla="val 49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4" name="文本框 17"/>
          <p:cNvSpPr txBox="1"/>
          <p:nvPr/>
        </p:nvSpPr>
        <p:spPr>
          <a:xfrm>
            <a:off x="884238" y="3702685"/>
            <a:ext cx="103695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(3)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向量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b</a:t>
            </a:r>
            <a:r>
              <a:rPr lang="en-US" altLang="zh-CN" sz="2800" b="1" baseline="-25000">
                <a:latin typeface="Times New Roman" panose="02020603050405020304" pitchFamily="18" charset="0"/>
                <a:ea typeface="黑体" panose="02010609060101010101" pitchFamily="49" charset="-122"/>
                <a:sym typeface="宋体" panose="02010600030101010101" pitchFamily="2" charset="-122"/>
              </a:rPr>
              <a:t>5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间的线性关系有</a:t>
            </a:r>
          </a:p>
        </p:txBody>
      </p:sp>
      <p:graphicFrame>
        <p:nvGraphicFramePr>
          <p:cNvPr id="18449" name="对象 -2147482449"/>
          <p:cNvGraphicFramePr>
            <a:graphicFrameLocks noChangeAspect="1"/>
          </p:cNvGraphicFramePr>
          <p:nvPr/>
        </p:nvGraphicFramePr>
        <p:xfrm>
          <a:off x="5737225" y="4122738"/>
          <a:ext cx="5075238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743200" imgH="914400" progId="Equation.DSMT4">
                  <p:embed/>
                </p:oleObj>
              </mc:Choice>
              <mc:Fallback>
                <p:oleObj r:id="rId6" imgW="2743200" imgH="9144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37225" y="4122738"/>
                        <a:ext cx="5075238" cy="169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对象 -2147482448"/>
          <p:cNvGraphicFramePr>
            <a:graphicFrameLocks noChangeAspect="1"/>
          </p:cNvGraphicFramePr>
          <p:nvPr/>
        </p:nvGraphicFramePr>
        <p:xfrm>
          <a:off x="5737225" y="5903913"/>
          <a:ext cx="22336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91565" imgH="228600" progId="Equation.DSMT4">
                  <p:embed/>
                </p:oleObj>
              </mc:Choice>
              <mc:Fallback>
                <p:oleObj r:id="rId8" imgW="1091565" imgH="228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7225" y="5903913"/>
                        <a:ext cx="2233613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1" name="对象 -2147482447"/>
          <p:cNvGraphicFramePr>
            <a:graphicFrameLocks noChangeAspect="1"/>
          </p:cNvGraphicFramePr>
          <p:nvPr/>
        </p:nvGraphicFramePr>
        <p:xfrm>
          <a:off x="1987550" y="4733925"/>
          <a:ext cx="23399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43000" imgH="228600" progId="Equation.DSMT4">
                  <p:embed/>
                </p:oleObj>
              </mc:Choice>
              <mc:Fallback>
                <p:oleObj r:id="rId10" imgW="1143000" imgH="228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87550" y="4733925"/>
                        <a:ext cx="2339975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2" name="对象 -2147482446"/>
          <p:cNvGraphicFramePr>
            <a:graphicFrameLocks noChangeAspect="1"/>
          </p:cNvGraphicFramePr>
          <p:nvPr/>
        </p:nvGraphicFramePr>
        <p:xfrm>
          <a:off x="1987550" y="5903913"/>
          <a:ext cx="23399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43000" imgH="228600" progId="Equation.DSMT4">
                  <p:embed/>
                </p:oleObj>
              </mc:Choice>
              <mc:Fallback>
                <p:oleObj r:id="rId12" imgW="1143000" imgH="2286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87550" y="5903913"/>
                        <a:ext cx="2339975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左箭头 24"/>
          <p:cNvSpPr/>
          <p:nvPr/>
        </p:nvSpPr>
        <p:spPr>
          <a:xfrm>
            <a:off x="4456113" y="5957888"/>
            <a:ext cx="1152525" cy="360362"/>
          </a:xfrm>
          <a:prstGeom prst="leftArrow">
            <a:avLst>
              <a:gd name="adj1" fmla="val 50000"/>
              <a:gd name="adj2" fmla="val 4992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左箭头 25"/>
          <p:cNvSpPr/>
          <p:nvPr/>
        </p:nvSpPr>
        <p:spPr>
          <a:xfrm>
            <a:off x="4456113" y="4787900"/>
            <a:ext cx="1152525" cy="360363"/>
          </a:xfrm>
          <a:prstGeom prst="leftArrow">
            <a:avLst>
              <a:gd name="adj1" fmla="val 50000"/>
              <a:gd name="adj2" fmla="val 4992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t"/>
          <a:lstStyle/>
          <a:p>
            <a:pPr>
              <a:buSz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76135" y="2007235"/>
            <a:ext cx="288290" cy="28511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76135" y="1603375"/>
            <a:ext cx="288290" cy="27241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76135" y="1148080"/>
            <a:ext cx="288290" cy="32258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250045" y="4830445"/>
            <a:ext cx="249555" cy="28003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66300" y="4830445"/>
            <a:ext cx="249555" cy="28003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314940" y="4827905"/>
            <a:ext cx="249555" cy="28003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28965" y="1192530"/>
            <a:ext cx="288290" cy="322580"/>
          </a:xfrm>
          <a:prstGeom prst="rect">
            <a:avLst/>
          </a:prstGeom>
          <a:noFill/>
          <a:ln>
            <a:solidFill>
              <a:srgbClr val="AF6021"/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28965" y="1603375"/>
            <a:ext cx="288290" cy="322580"/>
          </a:xfrm>
          <a:prstGeom prst="rect">
            <a:avLst/>
          </a:prstGeom>
          <a:noFill/>
          <a:ln>
            <a:solidFill>
              <a:srgbClr val="AF6021"/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29600" y="1969770"/>
            <a:ext cx="288290" cy="322580"/>
          </a:xfrm>
          <a:prstGeom prst="rect">
            <a:avLst/>
          </a:prstGeom>
          <a:noFill/>
          <a:ln>
            <a:solidFill>
              <a:srgbClr val="AF6021"/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75070" y="5911850"/>
            <a:ext cx="288290" cy="322580"/>
          </a:xfrm>
          <a:prstGeom prst="rect">
            <a:avLst/>
          </a:prstGeom>
          <a:noFill/>
          <a:ln>
            <a:solidFill>
              <a:srgbClr val="AF6021"/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05600" y="5911850"/>
            <a:ext cx="288290" cy="322580"/>
          </a:xfrm>
          <a:prstGeom prst="rect">
            <a:avLst/>
          </a:prstGeom>
          <a:noFill/>
          <a:ln>
            <a:solidFill>
              <a:srgbClr val="AF6021"/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94905" y="5911850"/>
            <a:ext cx="288290" cy="322580"/>
          </a:xfrm>
          <a:prstGeom prst="rect">
            <a:avLst/>
          </a:prstGeom>
          <a:noFill/>
          <a:ln>
            <a:solidFill>
              <a:srgbClr val="AF6021"/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9819E5-D798-4329-A7F5-F07373E4AD1A}"/>
              </a:ext>
            </a:extLst>
          </p:cNvPr>
          <p:cNvSpPr/>
          <p:nvPr/>
        </p:nvSpPr>
        <p:spPr>
          <a:xfrm>
            <a:off x="11113" y="-33338"/>
            <a:ext cx="12192000" cy="900113"/>
          </a:xfrm>
          <a:prstGeom prst="rect">
            <a:avLst/>
          </a:prstGeom>
          <a:solidFill>
            <a:srgbClr val="269599"/>
          </a:solidFill>
        </p:spPr>
        <p:txBody>
          <a:bodyPr anchor="ctr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endParaRPr lang="zh-CN" altLang="en-US" sz="2000" spc="300" dirty="0">
              <a:solidFill>
                <a:srgbClr val="0BD1F9"/>
              </a:solidFill>
              <a:latin typeface="胡晓波男神体" panose="02010600030101010101" pitchFamily="2" charset="-122"/>
              <a:ea typeface="胡晓波男神体" panose="02010600030101010101" pitchFamily="2" charset="-122"/>
              <a:cs typeface="胡晓波男神体" panose="02010600030101010101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F76342-5DAE-4B9B-9F81-DFAB2C912102}"/>
              </a:ext>
            </a:extLst>
          </p:cNvPr>
          <p:cNvSpPr/>
          <p:nvPr/>
        </p:nvSpPr>
        <p:spPr>
          <a:xfrm>
            <a:off x="120323" y="99611"/>
            <a:ext cx="684000" cy="68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6B76626-5E29-4788-99D6-9906BB862552}"/>
              </a:ext>
            </a:extLst>
          </p:cNvPr>
          <p:cNvSpPr/>
          <p:nvPr/>
        </p:nvSpPr>
        <p:spPr>
          <a:xfrm>
            <a:off x="395278" y="459021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" name="标题 5145">
            <a:extLst>
              <a:ext uri="{FF2B5EF4-FFF2-40B4-BE49-F238E27FC236}">
                <a16:creationId xmlns:a16="http://schemas.microsoft.com/office/drawing/2014/main" id="{4DF7658F-D387-4EB9-BAE1-79CC9811F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488" y="156214"/>
            <a:ext cx="77724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矩阵的初等变换与向量组的极大无关组</a:t>
            </a:r>
            <a:endParaRPr lang="zh-CN" altLang="en-US" b="1" noProof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8E89921-123A-4599-972B-950A62CDCB4E}"/>
              </a:ext>
            </a:extLst>
          </p:cNvPr>
          <p:cNvCxnSpPr/>
          <p:nvPr/>
        </p:nvCxnSpPr>
        <p:spPr>
          <a:xfrm>
            <a:off x="6248400" y="1607185"/>
            <a:ext cx="533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4E7DD13-6233-47F2-BD44-5E6BB326C01F}"/>
              </a:ext>
            </a:extLst>
          </p:cNvPr>
          <p:cNvCxnSpPr/>
          <p:nvPr/>
        </p:nvCxnSpPr>
        <p:spPr>
          <a:xfrm>
            <a:off x="7618095" y="2364740"/>
            <a:ext cx="86677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295801D-01E0-4AE7-83E0-23D5447D8FE0}"/>
              </a:ext>
            </a:extLst>
          </p:cNvPr>
          <p:cNvCxnSpPr/>
          <p:nvPr/>
        </p:nvCxnSpPr>
        <p:spPr>
          <a:xfrm>
            <a:off x="6781800" y="1607185"/>
            <a:ext cx="0" cy="3098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9211F63-3646-4043-9BE6-40D3E3492170}"/>
              </a:ext>
            </a:extLst>
          </p:cNvPr>
          <p:cNvCxnSpPr/>
          <p:nvPr/>
        </p:nvCxnSpPr>
        <p:spPr>
          <a:xfrm>
            <a:off x="7585075" y="1917065"/>
            <a:ext cx="9525" cy="4476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2F7C434-BA46-4F77-A4CD-A2531851C9AF}"/>
              </a:ext>
            </a:extLst>
          </p:cNvPr>
          <p:cNvCxnSpPr/>
          <p:nvPr/>
        </p:nvCxnSpPr>
        <p:spPr>
          <a:xfrm>
            <a:off x="6774180" y="1917065"/>
            <a:ext cx="81089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C2C07E44-B735-2983-810F-3258565DD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549" y="0"/>
            <a:ext cx="8963776" cy="6858000"/>
          </a:xfrm>
          <a:prstGeom prst="rect">
            <a:avLst/>
          </a:prstGeom>
        </p:spPr>
      </p:pic>
      <p:sp>
        <p:nvSpPr>
          <p:cNvPr id="18" name="心形 17">
            <a:extLst>
              <a:ext uri="{FF2B5EF4-FFF2-40B4-BE49-F238E27FC236}">
                <a16:creationId xmlns:a16="http://schemas.microsoft.com/office/drawing/2014/main" id="{A6D90337-72C7-98D8-8944-A2BAB59C90E9}"/>
              </a:ext>
            </a:extLst>
          </p:cNvPr>
          <p:cNvSpPr/>
          <p:nvPr/>
        </p:nvSpPr>
        <p:spPr bwMode="auto">
          <a:xfrm>
            <a:off x="2135725" y="3429000"/>
            <a:ext cx="432030" cy="504035"/>
          </a:xfrm>
          <a:prstGeom prst="hear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53373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C88D69-FDE2-36BD-DC5B-D0479FBDD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60" y="0"/>
            <a:ext cx="8871745" cy="6858000"/>
          </a:xfrm>
          <a:prstGeom prst="rect">
            <a:avLst/>
          </a:prstGeom>
        </p:spPr>
      </p:pic>
      <p:sp>
        <p:nvSpPr>
          <p:cNvPr id="5" name="心形 4">
            <a:extLst>
              <a:ext uri="{FF2B5EF4-FFF2-40B4-BE49-F238E27FC236}">
                <a16:creationId xmlns:a16="http://schemas.microsoft.com/office/drawing/2014/main" id="{78CCAB0C-93E4-CDFD-A216-28DF36FCD6FB}"/>
              </a:ext>
            </a:extLst>
          </p:cNvPr>
          <p:cNvSpPr/>
          <p:nvPr/>
        </p:nvSpPr>
        <p:spPr bwMode="auto">
          <a:xfrm>
            <a:off x="1847705" y="4941105"/>
            <a:ext cx="432030" cy="504035"/>
          </a:xfrm>
          <a:prstGeom prst="hear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84924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69188A-D80C-7FC3-E5CF-FF97C7DD0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37" y="-29595"/>
            <a:ext cx="8880863" cy="6858000"/>
          </a:xfrm>
          <a:prstGeom prst="rect">
            <a:avLst/>
          </a:prstGeom>
        </p:spPr>
      </p:pic>
      <p:sp>
        <p:nvSpPr>
          <p:cNvPr id="4" name="心形 3">
            <a:extLst>
              <a:ext uri="{FF2B5EF4-FFF2-40B4-BE49-F238E27FC236}">
                <a16:creationId xmlns:a16="http://schemas.microsoft.com/office/drawing/2014/main" id="{619CBF9E-469B-E686-BFE2-ADBCFEC194E5}"/>
              </a:ext>
            </a:extLst>
          </p:cNvPr>
          <p:cNvSpPr/>
          <p:nvPr/>
        </p:nvSpPr>
        <p:spPr bwMode="auto">
          <a:xfrm>
            <a:off x="1775700" y="3284990"/>
            <a:ext cx="432030" cy="504035"/>
          </a:xfrm>
          <a:prstGeom prst="hear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5765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A33811-E7F8-E19F-A5A0-74B519ABD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222" y="0"/>
            <a:ext cx="8719556" cy="6858000"/>
          </a:xfrm>
          <a:prstGeom prst="rect">
            <a:avLst/>
          </a:prstGeom>
        </p:spPr>
      </p:pic>
      <p:sp>
        <p:nvSpPr>
          <p:cNvPr id="4" name="心形 3">
            <a:extLst>
              <a:ext uri="{FF2B5EF4-FFF2-40B4-BE49-F238E27FC236}">
                <a16:creationId xmlns:a16="http://schemas.microsoft.com/office/drawing/2014/main" id="{FB31D7F3-202C-D3D7-708A-80E8311C164D}"/>
              </a:ext>
            </a:extLst>
          </p:cNvPr>
          <p:cNvSpPr/>
          <p:nvPr/>
        </p:nvSpPr>
        <p:spPr bwMode="auto">
          <a:xfrm>
            <a:off x="1919710" y="5301130"/>
            <a:ext cx="432030" cy="504035"/>
          </a:xfrm>
          <a:prstGeom prst="hear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00188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60461A-DC5A-8C97-8A12-3DAF914ED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439" y="0"/>
            <a:ext cx="9173121" cy="6858000"/>
          </a:xfrm>
          <a:prstGeom prst="rect">
            <a:avLst/>
          </a:prstGeom>
        </p:spPr>
      </p:pic>
      <p:sp>
        <p:nvSpPr>
          <p:cNvPr id="4" name="心形 3">
            <a:extLst>
              <a:ext uri="{FF2B5EF4-FFF2-40B4-BE49-F238E27FC236}">
                <a16:creationId xmlns:a16="http://schemas.microsoft.com/office/drawing/2014/main" id="{69C83430-C827-BECB-D51E-DACD888D865B}"/>
              </a:ext>
            </a:extLst>
          </p:cNvPr>
          <p:cNvSpPr/>
          <p:nvPr/>
        </p:nvSpPr>
        <p:spPr bwMode="auto">
          <a:xfrm>
            <a:off x="1847705" y="5229125"/>
            <a:ext cx="432030" cy="504035"/>
          </a:xfrm>
          <a:prstGeom prst="hear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86422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4147CA1-1C17-C9F1-7364-A87011346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29" y="0"/>
            <a:ext cx="9029342" cy="6858000"/>
          </a:xfrm>
          <a:prstGeom prst="rect">
            <a:avLst/>
          </a:prstGeom>
        </p:spPr>
      </p:pic>
      <p:sp>
        <p:nvSpPr>
          <p:cNvPr id="4" name="心形 3">
            <a:extLst>
              <a:ext uri="{FF2B5EF4-FFF2-40B4-BE49-F238E27FC236}">
                <a16:creationId xmlns:a16="http://schemas.microsoft.com/office/drawing/2014/main" id="{D559906D-B964-CC9B-D583-EC5A3C2DBFE6}"/>
              </a:ext>
            </a:extLst>
          </p:cNvPr>
          <p:cNvSpPr/>
          <p:nvPr/>
        </p:nvSpPr>
        <p:spPr bwMode="auto">
          <a:xfrm>
            <a:off x="1847705" y="4221055"/>
            <a:ext cx="432030" cy="504035"/>
          </a:xfrm>
          <a:prstGeom prst="hear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83953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模板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D:\线性代数电子教案\模板.pot</Template>
  <TotalTime>2160</TotalTime>
  <Words>1248</Words>
  <Application>Microsoft Office PowerPoint</Application>
  <PresentationFormat>宽屏</PresentationFormat>
  <Paragraphs>107</Paragraphs>
  <Slides>20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黑体</vt:lpstr>
      <vt:lpstr>胡晓波男神体</vt:lpstr>
      <vt:lpstr>华文新魏</vt:lpstr>
      <vt:lpstr>宋体</vt:lpstr>
      <vt:lpstr>Arial</vt:lpstr>
      <vt:lpstr>Calibri</vt:lpstr>
      <vt:lpstr>Times New Roman</vt:lpstr>
      <vt:lpstr>模板</vt:lpstr>
      <vt:lpstr>Equation.3</vt:lpstr>
      <vt:lpstr>WPS 公式 3.0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西安通信学院数学教研室</dc:creator>
  <cp:lastModifiedBy>宝 申</cp:lastModifiedBy>
  <cp:revision>270</cp:revision>
  <dcterms:created xsi:type="dcterms:W3CDTF">1990-03-28T00:00:00Z</dcterms:created>
  <dcterms:modified xsi:type="dcterms:W3CDTF">2024-05-06T08:40:46Z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</Properties>
</file>