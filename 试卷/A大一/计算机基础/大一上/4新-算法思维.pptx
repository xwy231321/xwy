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Default Extension="gif" ContentType="image/gif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77" r:id="rId1"/>
  </p:sldMasterIdLst>
  <p:notesMasterIdLst>
    <p:notesMasterId r:id="rId58"/>
  </p:notesMasterIdLst>
  <p:handoutMasterIdLst>
    <p:handoutMasterId r:id="rId59"/>
  </p:handoutMasterIdLst>
  <p:sldIdLst>
    <p:sldId id="387" r:id="rId2"/>
    <p:sldId id="363" r:id="rId3"/>
    <p:sldId id="491" r:id="rId4"/>
    <p:sldId id="451" r:id="rId5"/>
    <p:sldId id="495" r:id="rId6"/>
    <p:sldId id="452" r:id="rId7"/>
    <p:sldId id="482" r:id="rId8"/>
    <p:sldId id="453" r:id="rId9"/>
    <p:sldId id="461" r:id="rId10"/>
    <p:sldId id="498" r:id="rId11"/>
    <p:sldId id="499" r:id="rId12"/>
    <p:sldId id="500" r:id="rId13"/>
    <p:sldId id="462" r:id="rId14"/>
    <p:sldId id="531" r:id="rId15"/>
    <p:sldId id="501" r:id="rId16"/>
    <p:sldId id="557" r:id="rId17"/>
    <p:sldId id="502" r:id="rId18"/>
    <p:sldId id="463" r:id="rId19"/>
    <p:sldId id="503" r:id="rId20"/>
    <p:sldId id="511" r:id="rId21"/>
    <p:sldId id="519" r:id="rId22"/>
    <p:sldId id="527" r:id="rId23"/>
    <p:sldId id="509" r:id="rId24"/>
    <p:sldId id="466" r:id="rId25"/>
    <p:sldId id="508" r:id="rId26"/>
    <p:sldId id="467" r:id="rId27"/>
    <p:sldId id="522" r:id="rId28"/>
    <p:sldId id="473" r:id="rId29"/>
    <p:sldId id="474" r:id="rId30"/>
    <p:sldId id="475" r:id="rId31"/>
    <p:sldId id="476" r:id="rId32"/>
    <p:sldId id="481" r:id="rId33"/>
    <p:sldId id="540" r:id="rId34"/>
    <p:sldId id="541" r:id="rId35"/>
    <p:sldId id="542" r:id="rId36"/>
    <p:sldId id="543" r:id="rId37"/>
    <p:sldId id="532" r:id="rId38"/>
    <p:sldId id="534" r:id="rId39"/>
    <p:sldId id="535" r:id="rId40"/>
    <p:sldId id="514" r:id="rId41"/>
    <p:sldId id="544" r:id="rId42"/>
    <p:sldId id="515" r:id="rId43"/>
    <p:sldId id="516" r:id="rId44"/>
    <p:sldId id="545" r:id="rId45"/>
    <p:sldId id="546" r:id="rId46"/>
    <p:sldId id="517" r:id="rId47"/>
    <p:sldId id="518" r:id="rId48"/>
    <p:sldId id="553" r:id="rId49"/>
    <p:sldId id="547" r:id="rId50"/>
    <p:sldId id="554" r:id="rId51"/>
    <p:sldId id="552" r:id="rId52"/>
    <p:sldId id="556" r:id="rId53"/>
    <p:sldId id="548" r:id="rId54"/>
    <p:sldId id="549" r:id="rId55"/>
    <p:sldId id="550" r:id="rId56"/>
    <p:sldId id="555" r:id="rId57"/>
  </p:sldIdLst>
  <p:sldSz cx="9144000" cy="6858000" type="screen4x3"/>
  <p:notesSz cx="6858000" cy="9144000"/>
  <p:custShowLst>
    <p:custShow name="自定义放映1" id="0">
      <p:sldLst/>
    </p:custShow>
    <p:custShow name="简介" id="1">
      <p:sldLst/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3300"/>
    <a:srgbClr val="0000FF"/>
    <a:srgbClr val="DE4610"/>
    <a:srgbClr val="9FFF9F"/>
    <a:srgbClr val="CCFFCC"/>
    <a:srgbClr val="FFCCCC"/>
    <a:srgbClr val="99CCFF"/>
    <a:srgbClr val="A5002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098" autoAdjust="0"/>
  </p:normalViewPr>
  <p:slideViewPr>
    <p:cSldViewPr>
      <p:cViewPr varScale="1">
        <p:scale>
          <a:sx n="50" d="100"/>
          <a:sy n="50" d="100"/>
        </p:scale>
        <p:origin x="-194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-2722" y="-8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A4408F8-AA3A-4764-8F05-F44EEC3C92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398658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E5702D2E-7774-498A-923B-82EA8C7601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64040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454ED91-9675-40F2-96FC-D79410D9B969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IPO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算法 </a:t>
            </a:r>
            <a:r>
              <a:rPr lang="en-US" altLang="zh-CN" baseline="0" dirty="0" smtClean="0"/>
              <a:t>input process output </a:t>
            </a:r>
            <a:r>
              <a:rPr lang="zh-CN" altLang="en-US" baseline="0" dirty="0" smtClean="0"/>
              <a:t>输入、处理（选择排序计算等）、输出，所有算法都要有这三部分。</a:t>
            </a:r>
            <a:endParaRPr lang="en-US" altLang="zh-CN" dirty="0" smtClean="0"/>
          </a:p>
          <a:p>
            <a:r>
              <a:rPr lang="zh-CN" altLang="en-US" dirty="0" smtClean="0"/>
              <a:t>举出</a:t>
            </a:r>
            <a:r>
              <a:rPr lang="en-US" altLang="zh-CN" dirty="0" smtClean="0"/>
              <a:t>X+Y</a:t>
            </a:r>
            <a:r>
              <a:rPr lang="zh-CN" altLang="en-US" dirty="0" smtClean="0"/>
              <a:t>求和</a:t>
            </a:r>
            <a:r>
              <a:rPr lang="en-US" altLang="zh-CN" dirty="0" smtClean="0"/>
              <a:t>Z</a:t>
            </a:r>
            <a:r>
              <a:rPr lang="zh-CN" altLang="en-US" dirty="0" smtClean="0"/>
              <a:t>的例子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、给</a:t>
            </a:r>
            <a:r>
              <a:rPr lang="en-US" altLang="zh-CN" dirty="0" smtClean="0"/>
              <a:t>X</a:t>
            </a:r>
            <a:r>
              <a:rPr lang="en-US" altLang="zh-CN" baseline="0" dirty="0" smtClean="0"/>
              <a:t> Y </a:t>
            </a:r>
            <a:r>
              <a:rPr lang="zh-CN" altLang="en-US" baseline="0" dirty="0" smtClean="0"/>
              <a:t>赋值</a:t>
            </a:r>
            <a:endParaRPr lang="en-US" altLang="zh-CN" baseline="0" dirty="0" smtClean="0"/>
          </a:p>
          <a:p>
            <a:r>
              <a:rPr lang="en-US" altLang="zh-CN" baseline="0" dirty="0" smtClean="0"/>
              <a:t>2</a:t>
            </a:r>
            <a:r>
              <a:rPr lang="zh-CN" altLang="en-US" baseline="0" dirty="0" smtClean="0"/>
              <a:t>、求和</a:t>
            </a:r>
            <a:r>
              <a:rPr lang="en-US" altLang="zh-CN" baseline="0" dirty="0" smtClean="0"/>
              <a:t>Z</a:t>
            </a:r>
          </a:p>
          <a:p>
            <a:r>
              <a:rPr lang="en-US" altLang="zh-CN" baseline="0" dirty="0" smtClean="0"/>
              <a:t>3</a:t>
            </a:r>
            <a:r>
              <a:rPr lang="zh-CN" altLang="en-US" baseline="0" dirty="0" smtClean="0"/>
              <a:t>、输出</a:t>
            </a:r>
            <a:r>
              <a:rPr lang="en-US" altLang="zh-CN" baseline="0" dirty="0" smtClean="0"/>
              <a:t>Z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02D2E-7774-498A-923B-82EA8C7601A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DDC536D-7E41-4B6E-A4A1-265F866874A5}" type="slidenum">
              <a:rPr lang="en-US" altLang="zh-CN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C018591-9B21-413C-A3A9-A30B89DFC878}" type="slidenum">
              <a:rPr lang="zh-CN" altLang="en-US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zh-CN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b="1" smtClean="0"/>
              <a:t>介绍算法的特点，最后总结出程序的设计方法。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301CAF3-5BDB-4283-8B7E-5BE575BAA9B5}" type="slidenum">
              <a:rPr lang="en-US" altLang="zh-CN" smtClean="0"/>
              <a:pPr eaLnBrk="1" hangingPunct="1">
                <a:spcBef>
                  <a:spcPct val="0"/>
                </a:spcBef>
              </a:pPr>
              <a:t>7</a:t>
            </a:fld>
            <a:endParaRPr lang="en-US" altLang="zh-CN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301CAF3-5BDB-4283-8B7E-5BE575BAA9B5}" type="slidenum">
              <a:rPr lang="en-US" altLang="zh-CN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zh-CN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27B3DA8-2A6B-4D17-9E0F-046E59E8609F}" type="slidenum">
              <a:rPr lang="en-US" altLang="zh-CN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zh-CN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2C1E459-3E56-451D-83CE-1108BC7E5F6A}" type="slidenum">
              <a:rPr lang="en-US" altLang="zh-CN" smtClean="0"/>
              <a:pPr eaLnBrk="1" hangingPunct="1">
                <a:spcBef>
                  <a:spcPct val="0"/>
                </a:spcBef>
              </a:pPr>
              <a:t>13</a:t>
            </a:fld>
            <a:endParaRPr lang="en-US" altLang="zh-CN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8997AAB-055D-419E-8664-DE2B940CCA5D}" type="slidenum">
              <a:rPr lang="en-US" altLang="zh-CN" smtClean="0"/>
              <a:pPr eaLnBrk="1" hangingPunct="1">
                <a:spcBef>
                  <a:spcPct val="0"/>
                </a:spcBef>
              </a:pPr>
              <a:t>18</a:t>
            </a:fld>
            <a:endParaRPr lang="en-US" altLang="zh-CN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02D2E-7774-498A-923B-82EA8C7601A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用自然语言说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02D2E-7774-498A-923B-82EA8C7601A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213EEE6-D7A1-43D0-AFC7-0CA6C67CA659}" type="slidenum">
              <a:rPr lang="en-US" altLang="zh-CN" smtClean="0"/>
              <a:pPr eaLnBrk="1" hangingPunct="1">
                <a:spcBef>
                  <a:spcPct val="0"/>
                </a:spcBef>
              </a:pPr>
              <a:t>26</a:t>
            </a:fld>
            <a:endParaRPr lang="en-US" altLang="zh-CN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4F5715D-3DFE-47CA-ACBC-7D43EACC4751}" type="slidenum">
              <a:rPr lang="zh-CN" altLang="en-US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zh-CN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b="1" smtClean="0"/>
              <a:t>介绍算法的特点，最后总结出程序的设计方法。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F4ADB13-CC17-42EA-90FC-6A23222133BD}" type="slidenum">
              <a:rPr lang="en-US" altLang="zh-CN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zh-CN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EA59E60-1937-4AB6-B6D6-96A452B08F40}" type="slidenum">
              <a:rPr lang="en-US" altLang="zh-CN" smtClean="0"/>
              <a:pPr eaLnBrk="1" hangingPunct="1">
                <a:spcBef>
                  <a:spcPct val="0"/>
                </a:spcBef>
              </a:pPr>
              <a:t>30</a:t>
            </a:fld>
            <a:endParaRPr lang="en-US" altLang="zh-CN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演示用</a:t>
            </a:r>
            <a:r>
              <a:rPr lang="en-US" altLang="zh-CN" smtClean="0"/>
              <a:t>VB</a:t>
            </a:r>
            <a:r>
              <a:rPr lang="zh-CN" altLang="en-US" smtClean="0"/>
              <a:t>编写的</a:t>
            </a:r>
            <a:r>
              <a:rPr lang="zh-CN" altLang="en-US" smtClean="0">
                <a:latin typeface="Arial" charset="0"/>
              </a:rPr>
              <a:t>“</a:t>
            </a:r>
            <a:r>
              <a:rPr lang="zh-CN" altLang="en-US" smtClean="0"/>
              <a:t>幸运之星</a:t>
            </a:r>
            <a:r>
              <a:rPr lang="zh-CN" altLang="en-US" smtClean="0">
                <a:latin typeface="Arial" charset="0"/>
              </a:rPr>
              <a:t>”</a:t>
            </a:r>
            <a:r>
              <a:rPr lang="zh-CN" altLang="en-US" smtClean="0"/>
              <a:t>小程序，然后引导学生理解高级语言和编译程序的概念。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02D2E-7774-498A-923B-82EA8C7601A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21AC033-3B0C-42E9-BF92-1F659B19E5B0}" type="slidenum">
              <a:rPr lang="en-US" altLang="zh-CN" smtClean="0"/>
              <a:pPr eaLnBrk="1" hangingPunct="1">
                <a:spcBef>
                  <a:spcPct val="0"/>
                </a:spcBef>
              </a:pPr>
              <a:t>33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21AC033-3B0C-42E9-BF92-1F659B19E5B0}" type="slidenum">
              <a:rPr lang="en-US" altLang="zh-CN" smtClean="0"/>
              <a:pPr eaLnBrk="1" hangingPunct="1">
                <a:spcBef>
                  <a:spcPct val="0"/>
                </a:spcBef>
              </a:pPr>
              <a:t>34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21AC033-3B0C-42E9-BF92-1F659B19E5B0}" type="slidenum">
              <a:rPr lang="en-US" altLang="zh-CN" smtClean="0"/>
              <a:pPr eaLnBrk="1" hangingPunct="1">
                <a:spcBef>
                  <a:spcPct val="0"/>
                </a:spcBef>
              </a:pPr>
              <a:t>35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21AC033-3B0C-42E9-BF92-1F659B19E5B0}" type="slidenum">
              <a:rPr lang="en-US" altLang="zh-CN" smtClean="0"/>
              <a:pPr eaLnBrk="1" hangingPunct="1">
                <a:spcBef>
                  <a:spcPct val="0"/>
                </a:spcBef>
              </a:pPr>
              <a:t>36</a:t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02D2E-7774-498A-923B-82EA8C7601A3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33C2B-FC15-43D8-A839-4A7A443055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53327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28BBE-E6D4-42D8-BE36-81D24CADD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13158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6617E-1079-4BBA-80D7-CB506F1F1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55578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295DC-80F7-42A5-8D32-D8F854BBDA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13399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47C981-2E47-457E-B4E0-64237E12A8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21256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94B6F-3C68-484A-9DC6-F737D6CCA0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35476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7163F-71EE-4FDA-83FD-5B16CFF78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95131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4773A-F909-419C-B005-F836DD1EEF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12688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A12D7-951E-4EF4-958E-C0EDF0A799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30628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96F42-F9BE-4D91-8593-41462C88C6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7885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FB8D2-19A2-455D-A958-8F1F7A16C2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171593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7" descr="底图-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8"/>
          <p:cNvSpPr>
            <a:spLocks noChangeArrowheads="1"/>
          </p:cNvSpPr>
          <p:nvPr userDrawn="1"/>
        </p:nvSpPr>
        <p:spPr bwMode="black">
          <a:xfrm>
            <a:off x="0" y="1524000"/>
            <a:ext cx="9144000" cy="2438400"/>
          </a:xfrm>
          <a:prstGeom prst="rect">
            <a:avLst/>
          </a:prstGeom>
          <a:gradFill rotWithShape="1">
            <a:gsLst>
              <a:gs pos="0">
                <a:schemeClr val="tx2">
                  <a:alpha val="59000"/>
                </a:schemeClr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>
                  <a:alpha val="59000"/>
                </a:schemeClr>
              </a:gs>
            </a:gsLst>
            <a:lin ang="5400000" scaled="1"/>
          </a:gradFill>
          <a:ln w="1587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5" name="Picture 50" descr="1_08052822520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37338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26"/>
          <p:cNvSpPr>
            <a:spLocks noChangeShapeType="1"/>
          </p:cNvSpPr>
          <p:nvPr userDrawn="1"/>
        </p:nvSpPr>
        <p:spPr bwMode="auto">
          <a:xfrm>
            <a:off x="0" y="4038600"/>
            <a:ext cx="9144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26"/>
          <p:cNvSpPr>
            <a:spLocks noChangeShapeType="1"/>
          </p:cNvSpPr>
          <p:nvPr userDrawn="1"/>
        </p:nvSpPr>
        <p:spPr bwMode="auto">
          <a:xfrm>
            <a:off x="0" y="4191000"/>
            <a:ext cx="9144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79"/>
          <p:cNvSpPr>
            <a:spLocks noChangeArrowheads="1"/>
          </p:cNvSpPr>
          <p:nvPr userDrawn="1"/>
        </p:nvSpPr>
        <p:spPr bwMode="black">
          <a:xfrm>
            <a:off x="0" y="6400800"/>
            <a:ext cx="9144000" cy="457200"/>
          </a:xfrm>
          <a:prstGeom prst="rect">
            <a:avLst/>
          </a:prstGeom>
          <a:gradFill rotWithShape="1">
            <a:gsLst>
              <a:gs pos="0">
                <a:schemeClr val="tx2">
                  <a:alpha val="59000"/>
                </a:schemeClr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>
                  <a:alpha val="59000"/>
                </a:schemeClr>
              </a:gs>
            </a:gsLst>
            <a:lin ang="5400000" scaled="1"/>
          </a:gradFill>
          <a:ln w="1587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533400" y="2362200"/>
            <a:ext cx="8077200" cy="1143000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zh-CN" noProof="0" smtClean="0"/>
              <a:t>Click to edit Master title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477000"/>
            <a:ext cx="2133600" cy="2444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77000"/>
            <a:ext cx="2895600" cy="2444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477000"/>
            <a:ext cx="2133600" cy="2444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 b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F882030-4AC9-4DBF-A535-0B8A987847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5384704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1A695C-2593-4E96-B229-BB1C520528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9" descr="Now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9359" b="83008"/>
          <a:stretch>
            <a:fillRect/>
          </a:stretch>
        </p:blipFill>
        <p:spPr bwMode="auto">
          <a:xfrm>
            <a:off x="7812088" y="-1588"/>
            <a:ext cx="1331912" cy="82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104946.ht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aike.baidu.com/view/540497.ht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2209800"/>
            <a:ext cx="6934200" cy="99060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大学计算机</a:t>
            </a:r>
            <a:r>
              <a:rPr lang="en-US" altLang="zh-CN" dirty="0" smtClean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/>
            </a:r>
            <a:br>
              <a:rPr lang="en-US" altLang="zh-CN" dirty="0" smtClean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en-US" altLang="zh-CN" dirty="0" smtClean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——</a:t>
            </a:r>
            <a:r>
              <a:rPr lang="zh-CN" altLang="en-US" dirty="0" smtClean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计算思维导论</a:t>
            </a:r>
            <a:endParaRPr lang="en-US" altLang="zh-CN" dirty="0" smtClean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FFBB5D-3077-4A9C-8431-B2E760A0DBEB}" type="slidenum">
              <a:rPr lang="zh-CN" altLang="en-US" sz="12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200" smtClean="0">
              <a:latin typeface="Arial" charset="0"/>
            </a:endParaRPr>
          </a:p>
        </p:txBody>
      </p:sp>
      <p:pic>
        <p:nvPicPr>
          <p:cNvPr id="3076" name="Picture 4" descr="ball"/>
          <p:cNvPicPr>
            <a:picLocks noChangeAspect="1" noChangeArrowheads="1"/>
          </p:cNvPicPr>
          <p:nvPr/>
        </p:nvPicPr>
        <p:blipFill>
          <a:blip r:embed="rId3" cstate="print">
            <a:lum bright="6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 rot="8371068" flipH="1" flipV="1">
            <a:off x="4953000" y="4114800"/>
            <a:ext cx="382587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5" descr="智慧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0"/>
            <a:ext cx="17208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 Box 3"/>
          <p:cNvSpPr txBox="1">
            <a:spLocks noChangeArrowheads="1"/>
          </p:cNvSpPr>
          <p:nvPr/>
        </p:nvSpPr>
        <p:spPr bwMode="auto">
          <a:xfrm>
            <a:off x="228600" y="4343400"/>
            <a:ext cx="6172200" cy="188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Arial" charset="0"/>
              </a:rPr>
              <a:t>主讲教师</a:t>
            </a:r>
            <a:r>
              <a:rPr lang="zh-CN" altLang="en-US" sz="2800" dirty="0" smtClean="0">
                <a:latin typeface="Arial" charset="0"/>
              </a:rPr>
              <a:t>：</a:t>
            </a:r>
            <a:r>
              <a:rPr lang="en-US" altLang="zh-CN" sz="2800" dirty="0" smtClean="0">
                <a:latin typeface="Arial" charset="0"/>
              </a:rPr>
              <a:t>Yellow Far</a:t>
            </a:r>
            <a:endParaRPr lang="en-US" altLang="zh-CN" sz="2800" dirty="0">
              <a:latin typeface="Arial" charset="0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Arial" charset="0"/>
              </a:rPr>
              <a:t>河北工程大学信息与电气工程学院 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endParaRPr lang="zh-CN" altLang="en-US" sz="2800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68313" y="1865313"/>
            <a:ext cx="8496300" cy="265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zh-CN" dirty="0"/>
              <a:t>理解问题求解中的数学建模、常用的算法设计策略、算法的描述、算法分析，初步理解计算机解决问题的自动实现过程。</a:t>
            </a:r>
          </a:p>
          <a:p>
            <a:r>
              <a:rPr lang="zh-CN" altLang="zh-CN" dirty="0"/>
              <a:t>初步掌握算法的表示与评价、程序的基本控制结构的使用。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348038" y="836613"/>
            <a:ext cx="2447925" cy="650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方正楷体简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3600" smtClean="0"/>
              <a:t>本章重点</a:t>
            </a:r>
          </a:p>
        </p:txBody>
      </p:sp>
      <p:pic>
        <p:nvPicPr>
          <p:cNvPr id="5124" name="Picture 4" descr="line1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4946650"/>
            <a:ext cx="8208963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395536" y="1772816"/>
            <a:ext cx="28921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/>
              <a:t>4.1.1  </a:t>
            </a:r>
            <a:r>
              <a:rPr lang="zh-CN" altLang="en-US" sz="2800" dirty="0" smtClean="0"/>
              <a:t>什么是</a:t>
            </a:r>
            <a:r>
              <a:rPr lang="zh-CN" altLang="zh-CN" sz="2800" dirty="0" smtClean="0"/>
              <a:t>算法</a:t>
            </a:r>
            <a:endParaRPr lang="zh-CN" altLang="zh-CN" sz="2800" dirty="0">
              <a:latin typeface="Times New Roman" pitchFamily="18" charset="0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26128" y="2708920"/>
            <a:ext cx="87693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/>
              <a:t>         </a:t>
            </a:r>
            <a:r>
              <a:rPr lang="zh-CN" altLang="zh-CN" sz="2800" dirty="0">
                <a:solidFill>
                  <a:srgbClr val="FF0000"/>
                </a:solidFill>
              </a:rPr>
              <a:t>为解决一个确定类问题而采取的方法和步骤</a:t>
            </a:r>
            <a:r>
              <a:rPr lang="zh-CN" altLang="zh-CN" sz="2800" dirty="0"/>
              <a:t>称为“算法”（</a:t>
            </a:r>
            <a:r>
              <a:rPr lang="en-US" altLang="zh-CN" sz="2800" dirty="0"/>
              <a:t>Algorithm</a:t>
            </a:r>
            <a:r>
              <a:rPr lang="zh-CN" altLang="zh-CN" sz="2800" dirty="0"/>
              <a:t>）。算法规定了任务执行</a:t>
            </a:r>
            <a:r>
              <a:rPr lang="en-US" altLang="zh-CN" sz="2800" dirty="0"/>
              <a:t>/</a:t>
            </a:r>
            <a:r>
              <a:rPr lang="zh-CN" altLang="zh-CN" sz="2800" dirty="0"/>
              <a:t>问题求解的一系列步骤。</a:t>
            </a:r>
            <a:endParaRPr lang="zh-CN" altLang="zh-CN" sz="2800" dirty="0">
              <a:latin typeface="Times New Roman" pitchFamily="18" charset="0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67544" y="836712"/>
            <a:ext cx="780854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zh-CN" sz="2800" dirty="0">
                <a:latin typeface="Times New Roman" pitchFamily="18" charset="0"/>
              </a:rPr>
              <a:t>程序</a:t>
            </a:r>
            <a:r>
              <a:rPr lang="en-US" altLang="zh-CN" sz="2800" dirty="0">
                <a:latin typeface="Times New Roman" pitchFamily="18" charset="0"/>
              </a:rPr>
              <a:t>=</a:t>
            </a:r>
            <a:r>
              <a:rPr lang="zh-CN" altLang="zh-CN" sz="2800" dirty="0">
                <a:latin typeface="Times New Roman" pitchFamily="18" charset="0"/>
              </a:rPr>
              <a:t>算法</a:t>
            </a:r>
            <a:r>
              <a:rPr lang="en-US" altLang="zh-CN" sz="2800" dirty="0">
                <a:latin typeface="Times New Roman" pitchFamily="18" charset="0"/>
              </a:rPr>
              <a:t>+</a:t>
            </a:r>
            <a:r>
              <a:rPr lang="zh-CN" altLang="zh-CN" sz="2800" dirty="0" smtClean="0">
                <a:latin typeface="Times New Roman" pitchFamily="18" charset="0"/>
              </a:rPr>
              <a:t>数据结构</a:t>
            </a:r>
            <a:r>
              <a:rPr lang="zh-CN" altLang="en-US" sz="2800" dirty="0" smtClean="0">
                <a:latin typeface="Times New Roman" pitchFamily="18" charset="0"/>
              </a:rPr>
              <a:t>（计算机组织数据的方式）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8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320675" y="549275"/>
            <a:ext cx="28114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sz="2800" dirty="0" smtClean="0"/>
              <a:t>4.1.2 </a:t>
            </a:r>
            <a:r>
              <a:rPr lang="zh-CN" altLang="zh-CN" sz="2800" dirty="0"/>
              <a:t>算法的分类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547664" y="1484784"/>
            <a:ext cx="861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算法有三种</a:t>
            </a:r>
            <a:r>
              <a:rPr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形式</a:t>
            </a:r>
            <a:endParaRPr lang="zh-CN" altLang="en-US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black">
          <a:xfrm>
            <a:off x="1570584" y="3330352"/>
            <a:ext cx="8358187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、数学</a:t>
            </a:r>
            <a:r>
              <a:rPr lang="zh-CN" altLang="en-US" sz="2800" dirty="0" smtClean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算法</a:t>
            </a:r>
            <a:endParaRPr lang="zh-CN" altLang="en-US" sz="2800" dirty="0">
              <a:solidFill>
                <a:srgbClr val="0000FF"/>
              </a:solidFill>
              <a:latin typeface="宋体" pitchFamily="2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570584" y="4266456"/>
            <a:ext cx="861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、计算机</a:t>
            </a:r>
            <a:r>
              <a:rPr lang="zh-CN" altLang="en-US" sz="2800" dirty="0" smtClean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算法</a:t>
            </a:r>
            <a:endParaRPr lang="zh-CN" altLang="en-US" sz="2800" dirty="0">
              <a:solidFill>
                <a:srgbClr val="0000FF"/>
              </a:solidFill>
              <a:latin typeface="宋体" pitchFamily="2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70584" y="2394248"/>
            <a:ext cx="2169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800" dirty="0" smtClean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、生活算法</a:t>
            </a:r>
            <a:endParaRPr lang="zh-CN" altLang="en-US" sz="2800" dirty="0">
              <a:solidFill>
                <a:srgbClr val="0000FF"/>
              </a:solidFill>
              <a:latin typeface="宋体" pitchFamily="2" charset="-122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build="allAtOnce"/>
      <p:bldP spid="15" grpId="0" build="allAtOnce"/>
      <p:bldP spid="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7584" y="4725144"/>
            <a:ext cx="7344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宋体" pitchFamily="2" charset="-122"/>
                <a:ea typeface="黑体" pitchFamily="49" charset="-122"/>
                <a:cs typeface="Times New Roman" pitchFamily="18" charset="0"/>
              </a:rPr>
              <a:t>计算机算法：问题求解方案的精确描述。 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757882"/>
            <a:ext cx="2664296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70C0"/>
                </a:solidFill>
              </a:rPr>
              <a:t>生活算法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910010"/>
            <a:ext cx="2664296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70C0"/>
                </a:solidFill>
              </a:rPr>
              <a:t>计算思维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3206154"/>
            <a:ext cx="2664296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70C0"/>
                </a:solidFill>
              </a:rPr>
              <a:t>计算机特点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7008" y="3262396"/>
            <a:ext cx="2664296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rgbClr val="0070C0"/>
                </a:solidFill>
              </a:rPr>
              <a:t>计算机算法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2051720" y="1340768"/>
            <a:ext cx="216024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2044898" y="2564904"/>
            <a:ext cx="254378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3635896" y="3429000"/>
            <a:ext cx="144016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 algn="l">
              <a:defRPr/>
            </a:pPr>
            <a:fld id="{24A6EE44-AD84-492E-8F94-AD04802F1A23}" type="slidenum">
              <a:rPr lang="zh-CN" altLang="en-US"/>
              <a:pPr algn="l">
                <a:defRPr/>
              </a:pPr>
              <a:t>6</a:t>
            </a:fld>
            <a:endParaRPr lang="en-US" altLang="zh-CN"/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687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4.1.3 </a:t>
            </a:r>
            <a:r>
              <a:rPr lang="zh-CN" altLang="zh-CN" sz="2800" dirty="0">
                <a:latin typeface="Times New Roman" pitchFamily="18" charset="0"/>
              </a:rPr>
              <a:t>算法应具备的特征</a:t>
            </a:r>
          </a:p>
        </p:txBody>
      </p:sp>
      <p:sp>
        <p:nvSpPr>
          <p:cNvPr id="544771" name="Text Box 3"/>
          <p:cNvSpPr txBox="1">
            <a:spLocks noChangeArrowheads="1"/>
          </p:cNvSpPr>
          <p:nvPr/>
        </p:nvSpPr>
        <p:spPr bwMode="auto">
          <a:xfrm>
            <a:off x="989013" y="1087438"/>
            <a:ext cx="7850187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solidFill>
                  <a:srgbClr val="660066"/>
                </a:solidFill>
                <a:latin typeface="宋体" pitchFamily="2" charset="-122"/>
              </a:rPr>
              <a:t>1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、</a:t>
            </a:r>
            <a:r>
              <a:rPr lang="zh-CN" altLang="en-US" sz="2800" dirty="0">
                <a:solidFill>
                  <a:srgbClr val="CC0000"/>
                </a:solidFill>
                <a:latin typeface="宋体" pitchFamily="2" charset="-122"/>
              </a:rPr>
              <a:t>有穷性</a:t>
            </a:r>
            <a:r>
              <a:rPr lang="zh-CN" altLang="en-US" sz="2800" dirty="0">
                <a:latin typeface="宋体" pitchFamily="2" charset="-122"/>
              </a:rPr>
              <a:t>：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必须保证执行</a:t>
            </a:r>
            <a:r>
              <a:rPr lang="zh-CN" altLang="en-US" sz="2800" dirty="0">
                <a:solidFill>
                  <a:srgbClr val="0000FF"/>
                </a:solidFill>
                <a:latin typeface="宋体" pitchFamily="2" charset="-122"/>
              </a:rPr>
              <a:t>有限步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后结束；</a:t>
            </a:r>
            <a:endParaRPr lang="zh-CN" altLang="en-US" sz="2800" dirty="0">
              <a:solidFill>
                <a:srgbClr val="660066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solidFill>
                  <a:srgbClr val="660066"/>
                </a:solidFill>
                <a:latin typeface="宋体" pitchFamily="2" charset="-122"/>
              </a:rPr>
              <a:t>2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、</a:t>
            </a:r>
            <a:r>
              <a:rPr lang="zh-CN" altLang="en-US" sz="2800" dirty="0">
                <a:solidFill>
                  <a:srgbClr val="CC0000"/>
                </a:solidFill>
                <a:latin typeface="宋体" pitchFamily="2" charset="-122"/>
              </a:rPr>
              <a:t>确切性</a:t>
            </a:r>
            <a:r>
              <a:rPr lang="zh-CN" altLang="en-US" sz="2800" dirty="0">
                <a:solidFill>
                  <a:srgbClr val="008000"/>
                </a:solidFill>
                <a:latin typeface="宋体" pitchFamily="2" charset="-122"/>
              </a:rPr>
              <a:t>：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每一个步骤必须具有</a:t>
            </a:r>
            <a:r>
              <a:rPr lang="zh-CN" altLang="en-US" sz="2800" dirty="0">
                <a:solidFill>
                  <a:srgbClr val="0000FF"/>
                </a:solidFill>
                <a:latin typeface="宋体" pitchFamily="2" charset="-122"/>
              </a:rPr>
              <a:t>确切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的定义；</a:t>
            </a: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solidFill>
                  <a:srgbClr val="660066"/>
                </a:solidFill>
                <a:latin typeface="宋体" pitchFamily="2" charset="-122"/>
              </a:rPr>
              <a:t>3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、</a:t>
            </a:r>
            <a:r>
              <a:rPr lang="zh-CN" altLang="en-US" sz="2800" dirty="0" smtClean="0">
                <a:solidFill>
                  <a:srgbClr val="CC0000"/>
                </a:solidFill>
                <a:latin typeface="宋体" pitchFamily="2" charset="-122"/>
              </a:rPr>
              <a:t>输入 </a:t>
            </a:r>
            <a:r>
              <a:rPr lang="en-US" altLang="zh-CN" sz="2800" dirty="0" smtClean="0">
                <a:solidFill>
                  <a:srgbClr val="CC0000"/>
                </a:solidFill>
                <a:latin typeface="宋体" pitchFamily="2" charset="-122"/>
              </a:rPr>
              <a:t>0</a:t>
            </a:r>
            <a:r>
              <a:rPr lang="zh-CN" altLang="en-US" sz="2800" dirty="0" smtClean="0">
                <a:solidFill>
                  <a:srgbClr val="CC0000"/>
                </a:solidFill>
                <a:latin typeface="宋体" pitchFamily="2" charset="-122"/>
              </a:rPr>
              <a:t>个或多个</a:t>
            </a:r>
            <a:endParaRPr lang="zh-CN" altLang="en-US" sz="2800" dirty="0">
              <a:solidFill>
                <a:srgbClr val="660066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solidFill>
                  <a:srgbClr val="660066"/>
                </a:solidFill>
                <a:latin typeface="宋体" pitchFamily="2" charset="-122"/>
              </a:rPr>
              <a:t>4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、</a:t>
            </a:r>
            <a:r>
              <a:rPr lang="zh-CN" altLang="en-US" sz="2800" dirty="0" smtClean="0">
                <a:solidFill>
                  <a:srgbClr val="CC0000"/>
                </a:solidFill>
                <a:latin typeface="宋体" pitchFamily="2" charset="-122"/>
              </a:rPr>
              <a:t>输出 </a:t>
            </a:r>
            <a:r>
              <a:rPr lang="en-US" altLang="zh-CN" sz="2800" dirty="0" smtClean="0">
                <a:solidFill>
                  <a:srgbClr val="CC0000"/>
                </a:solidFill>
                <a:latin typeface="宋体" pitchFamily="2" charset="-122"/>
              </a:rPr>
              <a:t>1</a:t>
            </a:r>
            <a:r>
              <a:rPr lang="zh-CN" altLang="en-US" sz="2800" dirty="0" smtClean="0">
                <a:solidFill>
                  <a:srgbClr val="CC0000"/>
                </a:solidFill>
                <a:latin typeface="宋体" pitchFamily="2" charset="-122"/>
              </a:rPr>
              <a:t>个或多个</a:t>
            </a:r>
            <a:endParaRPr lang="zh-CN" altLang="en-US" sz="2800" dirty="0">
              <a:solidFill>
                <a:srgbClr val="660066"/>
              </a:solidFill>
              <a:latin typeface="宋体" pitchFamily="2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dirty="0">
                <a:solidFill>
                  <a:srgbClr val="660066"/>
                </a:solidFill>
                <a:latin typeface="宋体" pitchFamily="2" charset="-122"/>
              </a:rPr>
              <a:t>5</a:t>
            </a:r>
            <a:r>
              <a:rPr lang="zh-CN" altLang="en-US" sz="2800" dirty="0">
                <a:solidFill>
                  <a:srgbClr val="660066"/>
                </a:solidFill>
                <a:latin typeface="宋体" pitchFamily="2" charset="-122"/>
              </a:rPr>
              <a:t>、</a:t>
            </a:r>
            <a:r>
              <a:rPr lang="zh-CN" altLang="en-US" sz="2800" dirty="0">
                <a:solidFill>
                  <a:srgbClr val="CC0000"/>
                </a:solidFill>
                <a:latin typeface="宋体" pitchFamily="2" charset="-122"/>
              </a:rPr>
              <a:t>可行性</a:t>
            </a:r>
            <a:r>
              <a:rPr lang="zh-CN" altLang="en-US" sz="2800" dirty="0">
                <a:latin typeface="Times New Roman" pitchFamily="18" charset="0"/>
              </a:rPr>
              <a:t> </a:t>
            </a:r>
          </a:p>
        </p:txBody>
      </p:sp>
      <p:sp>
        <p:nvSpPr>
          <p:cNvPr id="544783" name="Text Box 15"/>
          <p:cNvSpPr txBox="1">
            <a:spLocks noChangeArrowheads="1"/>
          </p:cNvSpPr>
          <p:nvPr/>
        </p:nvSpPr>
        <p:spPr bwMode="black">
          <a:xfrm>
            <a:off x="2483768" y="4725144"/>
            <a:ext cx="556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zh-CN" altLang="en-US" dirty="0">
                <a:latin typeface="楷体_GB2312" charset="-122"/>
              </a:rPr>
              <a:t>算法是程序设计的灵魂。  </a:t>
            </a:r>
          </a:p>
        </p:txBody>
      </p:sp>
      <p:pic>
        <p:nvPicPr>
          <p:cNvPr id="544784" name="Picture 16" descr="u=68776359,2935500872&amp;fm=23&amp;gp=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888" y="4194175"/>
            <a:ext cx="5334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4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4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1" grpId="0" build="p" autoUpdateAnimBg="0" advAuto="3000"/>
      <p:bldP spid="5447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1012825"/>
            <a:ext cx="9144000" cy="184150"/>
            <a:chOff x="0" y="758"/>
            <a:chExt cx="5760" cy="116"/>
          </a:xfrm>
        </p:grpSpPr>
        <p:pic>
          <p:nvPicPr>
            <p:cNvPr id="10246" name="Picture 3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312" y="75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7" name="Picture 4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12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8" name="Picture 5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0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9" name="Picture 6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" y="770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0" name="Picture 7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1" name="Picture 8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3" name="Rectangle 9"/>
          <p:cNvSpPr>
            <a:spLocks noChangeArrowheads="1"/>
          </p:cNvSpPr>
          <p:nvPr/>
        </p:nvSpPr>
        <p:spPr bwMode="auto">
          <a:xfrm>
            <a:off x="381000" y="149225"/>
            <a:ext cx="7772400" cy="914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66"/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sz="4000" dirty="0" smtClean="0"/>
              <a:t>4.2 </a:t>
            </a:r>
            <a:r>
              <a:rPr lang="zh-CN" altLang="zh-CN" sz="4000" dirty="0"/>
              <a:t>算法的设计与分析</a:t>
            </a:r>
            <a:endParaRPr lang="zh-CN" altLang="en-US" sz="4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395536" y="1700808"/>
            <a:ext cx="4004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4.2.1 </a:t>
            </a:r>
            <a:r>
              <a:rPr lang="zh-CN" altLang="zh-CN" dirty="0">
                <a:solidFill>
                  <a:srgbClr val="0000FF"/>
                </a:solidFill>
              </a:rPr>
              <a:t>问题求解的步骤</a:t>
            </a:r>
          </a:p>
        </p:txBody>
      </p:sp>
      <p:sp>
        <p:nvSpPr>
          <p:cNvPr id="10245" name="矩形 3"/>
          <p:cNvSpPr>
            <a:spLocks noChangeArrowheads="1"/>
          </p:cNvSpPr>
          <p:nvPr/>
        </p:nvSpPr>
        <p:spPr bwMode="auto">
          <a:xfrm>
            <a:off x="251520" y="2852936"/>
            <a:ext cx="8586787" cy="155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zh-CN" sz="2800" dirty="0"/>
              <a:t>）建立现实问题的数学模型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2</a:t>
            </a:r>
            <a:r>
              <a:rPr lang="zh-CN" altLang="zh-CN" sz="2800" dirty="0"/>
              <a:t>）输入输出问题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3</a:t>
            </a:r>
            <a:r>
              <a:rPr lang="zh-CN" altLang="zh-CN" sz="2800" dirty="0"/>
              <a:t>）算法设计与分析</a:t>
            </a:r>
          </a:p>
        </p:txBody>
      </p:sp>
    </p:spTree>
    <p:extLst>
      <p:ext uri="{BB962C8B-B14F-4D97-AF65-F5344CB8AC3E}">
        <p14:creationId xmlns="" xmlns:p14="http://schemas.microsoft.com/office/powerpoint/2010/main" val="339035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1012825"/>
            <a:ext cx="9144000" cy="184150"/>
            <a:chOff x="0" y="758"/>
            <a:chExt cx="5760" cy="116"/>
          </a:xfrm>
        </p:grpSpPr>
        <p:pic>
          <p:nvPicPr>
            <p:cNvPr id="10246" name="Picture 3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312" y="75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7" name="Picture 4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12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8" name="Picture 5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0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9" name="Picture 6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" y="770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0" name="Picture 7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1" name="Picture 8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3" name="Rectangle 9"/>
          <p:cNvSpPr>
            <a:spLocks noChangeArrowheads="1"/>
          </p:cNvSpPr>
          <p:nvPr/>
        </p:nvSpPr>
        <p:spPr bwMode="auto">
          <a:xfrm>
            <a:off x="381000" y="149225"/>
            <a:ext cx="7772400" cy="914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66"/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sz="4000" dirty="0" smtClean="0"/>
              <a:t>4.2 </a:t>
            </a:r>
            <a:r>
              <a:rPr lang="zh-CN" altLang="zh-CN" sz="4000" dirty="0"/>
              <a:t>算法的设计与分析</a:t>
            </a:r>
            <a:endParaRPr lang="zh-CN" altLang="en-US" sz="4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396875" y="1435100"/>
            <a:ext cx="2768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4.2.2 </a:t>
            </a:r>
            <a:r>
              <a:rPr lang="zh-CN" altLang="zh-CN" dirty="0">
                <a:solidFill>
                  <a:srgbClr val="0000FF"/>
                </a:solidFill>
              </a:rPr>
              <a:t>数学建模</a:t>
            </a:r>
          </a:p>
        </p:txBody>
      </p:sp>
      <p:sp>
        <p:nvSpPr>
          <p:cNvPr id="10245" name="矩形 3"/>
          <p:cNvSpPr>
            <a:spLocks noChangeArrowheads="1"/>
          </p:cNvSpPr>
          <p:nvPr/>
        </p:nvSpPr>
        <p:spPr bwMode="auto">
          <a:xfrm>
            <a:off x="251520" y="2204864"/>
            <a:ext cx="8586787" cy="276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Arial" charset="0"/>
              <a:buNone/>
            </a:pPr>
            <a:r>
              <a:rPr lang="en-US" altLang="zh-CN" sz="2800" dirty="0"/>
              <a:t>         </a:t>
            </a:r>
            <a:r>
              <a:rPr lang="zh-CN" altLang="zh-CN" sz="2800" dirty="0"/>
              <a:t>问题求解中的计算思维的过程为：首先要建立问题的模型，然后根据模型设计相应的算法。</a:t>
            </a:r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US" altLang="zh-CN" sz="2800" dirty="0"/>
              <a:t>         </a:t>
            </a:r>
            <a:r>
              <a:rPr lang="zh-CN" altLang="zh-CN" sz="2800" dirty="0" smtClean="0"/>
              <a:t>数学</a:t>
            </a:r>
            <a:r>
              <a:rPr lang="zh-CN" altLang="zh-CN" sz="2800" dirty="0"/>
              <a:t>建模是运用数学的语言和方法，通过抽象、简化，建立对问题进行精确描述和定义的数学模型</a:t>
            </a:r>
            <a:r>
              <a:rPr lang="zh-CN" altLang="zh-CN" sz="2800" dirty="0" smtClean="0"/>
              <a:t>。</a:t>
            </a:r>
            <a:endParaRPr lang="zh-CN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"/>
          <p:cNvSpPr>
            <a:spLocks noChangeArrowheads="1"/>
          </p:cNvSpPr>
          <p:nvPr/>
        </p:nvSpPr>
        <p:spPr bwMode="auto">
          <a:xfrm>
            <a:off x="396875" y="549275"/>
            <a:ext cx="318067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4.2.3 </a:t>
            </a:r>
            <a:r>
              <a:rPr lang="zh-CN" altLang="zh-CN" dirty="0">
                <a:solidFill>
                  <a:srgbClr val="0000FF"/>
                </a:solidFill>
              </a:rPr>
              <a:t>算法的描述</a:t>
            </a:r>
          </a:p>
        </p:txBody>
      </p:sp>
      <p:sp>
        <p:nvSpPr>
          <p:cNvPr id="18435" name="矩形 3"/>
          <p:cNvSpPr>
            <a:spLocks noChangeArrowheads="1"/>
          </p:cNvSpPr>
          <p:nvPr/>
        </p:nvSpPr>
        <p:spPr bwMode="auto">
          <a:xfrm>
            <a:off x="539750" y="1296988"/>
            <a:ext cx="31226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dirty="0">
                <a:solidFill>
                  <a:srgbClr val="0000FF"/>
                </a:solidFill>
              </a:rPr>
              <a:t>1. </a:t>
            </a:r>
            <a:r>
              <a:rPr lang="zh-CN" altLang="zh-CN" dirty="0">
                <a:solidFill>
                  <a:srgbClr val="0000FF"/>
                </a:solidFill>
              </a:rPr>
              <a:t>自然语言</a:t>
            </a:r>
          </a:p>
        </p:txBody>
      </p:sp>
      <p:sp>
        <p:nvSpPr>
          <p:cNvPr id="5" name="矩形 4"/>
          <p:cNvSpPr/>
          <p:nvPr/>
        </p:nvSpPr>
        <p:spPr>
          <a:xfrm>
            <a:off x="1187624" y="2132856"/>
            <a:ext cx="648072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优点：容易理解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缺点：冗长、二义性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使用方法：粗线条描述算法思想</a:t>
            </a:r>
            <a:r>
              <a:rPr lang="zh-CN" altLang="en-US" sz="2800" dirty="0" smtClean="0">
                <a:ea typeface="宋体" charset="-12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ea typeface="宋体" charset="-122"/>
              </a:rPr>
              <a:t>注意事项：避免写成自然段</a:t>
            </a:r>
            <a:endParaRPr lang="zh-CN" altLang="en-US" sz="2800" dirty="0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683568" y="1268760"/>
            <a:ext cx="734377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【案例</a:t>
            </a:r>
            <a:r>
              <a:rPr lang="en-US" altLang="zh-CN" sz="2800" dirty="0">
                <a:latin typeface="Times New Roman" pitchFamily="18" charset="0"/>
              </a:rPr>
              <a:t>3</a:t>
            </a:r>
            <a:r>
              <a:rPr lang="zh-CN" altLang="zh-CN" sz="2800" dirty="0">
                <a:latin typeface="Times New Roman" pitchFamily="18" charset="0"/>
              </a:rPr>
              <a:t>】已知圆半径，计算圆面积的过程。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我们可以用自然语言表达出以下的算法步骤</a:t>
            </a:r>
            <a:r>
              <a:rPr lang="zh-CN" altLang="zh-CN" sz="2800" dirty="0" smtClean="0">
                <a:latin typeface="Times New Roman" pitchFamily="18" charset="0"/>
              </a:rPr>
              <a:t>：</a:t>
            </a:r>
            <a:endParaRPr lang="zh-CN" altLang="zh-CN" sz="2800" dirty="0">
              <a:latin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3688" y="2852936"/>
            <a:ext cx="4572000" cy="19495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</a:rPr>
              <a:t>第一步，输入圆半径</a:t>
            </a:r>
            <a:r>
              <a:rPr lang="en-US" altLang="zh-CN" sz="2800" dirty="0" smtClean="0">
                <a:solidFill>
                  <a:srgbClr val="FF0000"/>
                </a:solidFill>
              </a:rPr>
              <a:t>r</a:t>
            </a:r>
            <a:r>
              <a:rPr lang="zh-CN" altLang="zh-CN" sz="2800" dirty="0" smtClean="0">
                <a:solidFill>
                  <a:srgbClr val="FF0000"/>
                </a:solidFill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</a:rPr>
              <a:t>第二步，计算</a:t>
            </a:r>
            <a:r>
              <a:rPr lang="en-US" altLang="zh-CN" sz="2800" dirty="0" smtClean="0">
                <a:solidFill>
                  <a:srgbClr val="FF0000"/>
                </a:solidFill>
              </a:rPr>
              <a:t>S=3.14</a:t>
            </a:r>
            <a:r>
              <a:rPr lang="zh-CN" altLang="zh-CN" sz="2800" dirty="0" smtClean="0">
                <a:solidFill>
                  <a:srgbClr val="FF0000"/>
                </a:solidFill>
              </a:rPr>
              <a:t>×</a:t>
            </a:r>
            <a:r>
              <a:rPr lang="en-US" altLang="zh-CN" sz="2800" dirty="0" smtClean="0">
                <a:solidFill>
                  <a:srgbClr val="FF0000"/>
                </a:solidFill>
              </a:rPr>
              <a:t>r</a:t>
            </a:r>
            <a:r>
              <a:rPr lang="zh-CN" altLang="zh-CN" sz="2800" dirty="0" smtClean="0">
                <a:solidFill>
                  <a:srgbClr val="FF0000"/>
                </a:solidFill>
              </a:rPr>
              <a:t>×</a:t>
            </a:r>
            <a:r>
              <a:rPr lang="en-US" altLang="zh-CN" sz="2800" dirty="0" smtClean="0">
                <a:solidFill>
                  <a:srgbClr val="FF0000"/>
                </a:solidFill>
              </a:rPr>
              <a:t>r</a:t>
            </a:r>
            <a:r>
              <a:rPr lang="zh-CN" altLang="zh-CN" sz="2800" dirty="0" smtClean="0">
                <a:solidFill>
                  <a:srgbClr val="FF0000"/>
                </a:solidFill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</a:rPr>
              <a:t>第三步，输出</a:t>
            </a:r>
            <a:r>
              <a:rPr lang="en-US" altLang="zh-CN" sz="2800" dirty="0" smtClean="0">
                <a:solidFill>
                  <a:srgbClr val="FF0000"/>
                </a:solidFill>
              </a:rPr>
              <a:t>S</a:t>
            </a:r>
            <a:r>
              <a:rPr lang="zh-CN" altLang="zh-CN" sz="2800" dirty="0" smtClean="0">
                <a:solidFill>
                  <a:srgbClr val="FF0000"/>
                </a:solidFill>
              </a:rPr>
              <a:t>。</a:t>
            </a:r>
            <a:endParaRPr lang="zh-CN" altLang="zh-C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771775" y="3114675"/>
            <a:ext cx="3327400" cy="1708150"/>
          </a:xfrm>
          <a:prstGeom prst="rect">
            <a:avLst/>
          </a:prstGeom>
          <a:noFill/>
          <a:ln>
            <a:solidFill>
              <a:schemeClr val="bg2"/>
            </a:solidFill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bg2"/>
            </a:extrusionClr>
          </a:sp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flatTx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欧几里德算法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331913" y="3860800"/>
            <a:ext cx="1295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stealth" w="lg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403350" y="3140075"/>
            <a:ext cx="7191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331913" y="4327525"/>
            <a:ext cx="1295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stealth" w="lg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03350" y="4148138"/>
            <a:ext cx="7191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6157913" y="4005263"/>
            <a:ext cx="1295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 type="stealth" w="lg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732588" y="3308350"/>
            <a:ext cx="71913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4400" i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881063" y="1223963"/>
            <a:ext cx="7272337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80000"/>
              </a:spcBef>
            </a:pPr>
            <a:r>
              <a:rPr lang="zh-CN" altLang="en-US" sz="3200" b="1" dirty="0">
                <a:solidFill>
                  <a:schemeClr val="tx1"/>
                </a:solidFill>
                <a:ea typeface="宋体" charset="-122"/>
              </a:rPr>
              <a:t>例：欧几里德算法</a:t>
            </a:r>
            <a:r>
              <a:rPr lang="en-US" altLang="zh-CN" sz="3200" b="1" dirty="0">
                <a:solidFill>
                  <a:schemeClr val="tx1"/>
                </a:solidFill>
                <a:ea typeface="宋体" charset="-122"/>
              </a:rPr>
              <a:t>——</a:t>
            </a:r>
            <a:r>
              <a:rPr lang="zh-CN" altLang="en-US" sz="3200" b="1" dirty="0">
                <a:solidFill>
                  <a:schemeClr val="tx1"/>
                </a:solidFill>
                <a:ea typeface="宋体" charset="-122"/>
              </a:rPr>
              <a:t>辗转相除法求两个自然数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lang="en-US" altLang="zh-CN" sz="32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charset="-122"/>
              </a:rPr>
              <a:t>和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zh-CN" sz="32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ea typeface="宋体" charset="-122"/>
              </a:rPr>
              <a:t>的最大公约数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68313" y="1557338"/>
            <a:ext cx="8424862" cy="374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30000"/>
              </a:spcBef>
            </a:pPr>
            <a:r>
              <a:rPr kumimoji="1" lang="en-US" altLang="zh-CN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① 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输入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和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  <a:endParaRPr kumimoji="1" lang="zh-CN" altLang="en-US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algn="just">
              <a:spcBef>
                <a:spcPct val="3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② 求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除以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的余数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  <a:endParaRPr kumimoji="1" lang="zh-CN" altLang="en-US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algn="just">
              <a:spcBef>
                <a:spcPct val="3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③ 若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等于</a:t>
            </a:r>
            <a:r>
              <a:rPr kumimoji="1" lang="en-US" altLang="zh-CN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0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，则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为最大公约数，算法结束；</a:t>
            </a:r>
          </a:p>
          <a:p>
            <a:pPr algn="just">
              <a:spcBef>
                <a:spcPct val="3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   否则执行第④步；</a:t>
            </a:r>
            <a:endParaRPr kumimoji="1" lang="zh-CN" altLang="en-US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algn="just">
              <a:spcBef>
                <a:spcPct val="3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④ 将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的值放在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中，将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的值放在</a:t>
            </a:r>
            <a:r>
              <a:rPr kumimoji="1" lang="en-US" altLang="zh-CN" sz="3200" b="1" i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中；</a:t>
            </a:r>
            <a:endParaRPr kumimoji="1" lang="zh-CN" altLang="en-US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algn="just">
              <a:spcBef>
                <a:spcPct val="3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宋体" charset="-122"/>
                <a:ea typeface="宋体" charset="-122"/>
              </a:rPr>
              <a:t>⑤ 重新执行第②步。</a:t>
            </a:r>
            <a:endParaRPr kumimoji="1" lang="zh-CN" altLang="en-US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76250" y="773113"/>
            <a:ext cx="48244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ea typeface="宋体" charset="-122"/>
              </a:rPr>
              <a:t>欧几里德算法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3"/>
          <p:cNvSpPr>
            <a:spLocks noChangeArrowheads="1"/>
          </p:cNvSpPr>
          <p:nvPr/>
        </p:nvSpPr>
        <p:spPr bwMode="auto">
          <a:xfrm>
            <a:off x="468313" y="825376"/>
            <a:ext cx="31226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dirty="0">
                <a:solidFill>
                  <a:srgbClr val="0000FF"/>
                </a:solidFill>
              </a:rPr>
              <a:t>2. </a:t>
            </a:r>
            <a:r>
              <a:rPr lang="zh-CN" altLang="zh-CN" dirty="0">
                <a:solidFill>
                  <a:srgbClr val="0000FF"/>
                </a:solidFill>
              </a:rPr>
              <a:t>流程图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11560" y="1689770"/>
            <a:ext cx="6551612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3200" b="1" dirty="0" smtClean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优点</a:t>
            </a:r>
            <a:r>
              <a:rPr kumimoji="1" lang="zh-CN" altLang="en-US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：流程直观 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缺点：缺少严密性、灵活性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使用方法：描述简单算法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注意事项：注意抽象层次</a:t>
            </a:r>
          </a:p>
          <a:p>
            <a:pPr algn="l">
              <a:spcBef>
                <a:spcPct val="50000"/>
              </a:spcBef>
            </a:pPr>
            <a:endParaRPr kumimoji="1" lang="en-US" altLang="zh-CN" sz="3200" b="1" dirty="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11188" y="1989138"/>
            <a:ext cx="3384550" cy="2592387"/>
            <a:chOff x="385" y="1253"/>
            <a:chExt cx="2132" cy="1633"/>
          </a:xfrm>
        </p:grpSpPr>
        <p:sp>
          <p:nvSpPr>
            <p:cNvPr id="191503" name="AutoShape 15"/>
            <p:cNvSpPr>
              <a:spLocks noChangeArrowheads="1"/>
            </p:cNvSpPr>
            <p:nvPr/>
          </p:nvSpPr>
          <p:spPr bwMode="auto">
            <a:xfrm>
              <a:off x="385" y="1253"/>
              <a:ext cx="2132" cy="1633"/>
            </a:xfrm>
            <a:prstGeom prst="star8">
              <a:avLst>
                <a:gd name="adj" fmla="val 38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492" name="Rectangle 4"/>
            <p:cNvSpPr>
              <a:spLocks noChangeArrowheads="1"/>
            </p:cNvSpPr>
            <p:nvPr/>
          </p:nvSpPr>
          <p:spPr bwMode="auto">
            <a:xfrm>
              <a:off x="657" y="1434"/>
              <a:ext cx="1620" cy="10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/>
                <a:t>1</a:t>
              </a:r>
              <a:r>
                <a:rPr lang="zh-CN" altLang="en-US" sz="2400"/>
                <a:t>、把冰箱门打开 </a:t>
              </a:r>
              <a:br>
                <a:rPr lang="zh-CN" altLang="en-US" sz="2400"/>
              </a:br>
              <a:r>
                <a:rPr lang="en-US" altLang="zh-CN" sz="2400"/>
                <a:t>2</a:t>
              </a:r>
              <a:r>
                <a:rPr lang="zh-CN" altLang="en-US" sz="2400"/>
                <a:t>、把大象装进去 </a:t>
              </a:r>
              <a:br>
                <a:rPr lang="zh-CN" altLang="en-US" sz="2400"/>
              </a:br>
              <a:r>
                <a:rPr lang="en-US" altLang="zh-CN" sz="2400"/>
                <a:t>3</a:t>
              </a:r>
              <a:r>
                <a:rPr lang="zh-CN" altLang="en-US" sz="2400"/>
                <a:t>、把冰箱门关上 </a:t>
              </a:r>
            </a:p>
          </p:txBody>
        </p:sp>
      </p:grpSp>
      <p:sp>
        <p:nvSpPr>
          <p:cNvPr id="191497" name="AutoShape 9"/>
          <p:cNvSpPr>
            <a:spLocks noChangeArrowheads="1"/>
          </p:cNvSpPr>
          <p:nvPr/>
        </p:nvSpPr>
        <p:spPr bwMode="auto">
          <a:xfrm>
            <a:off x="5651500" y="5373688"/>
            <a:ext cx="1584325" cy="6477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b="1"/>
              <a:t>结束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5580063" y="836613"/>
            <a:ext cx="1584325" cy="1079500"/>
            <a:chOff x="3515" y="527"/>
            <a:chExt cx="998" cy="680"/>
          </a:xfrm>
        </p:grpSpPr>
        <p:sp>
          <p:nvSpPr>
            <p:cNvPr id="191493" name="AutoShape 5"/>
            <p:cNvSpPr>
              <a:spLocks noChangeArrowheads="1"/>
            </p:cNvSpPr>
            <p:nvPr/>
          </p:nvSpPr>
          <p:spPr bwMode="auto">
            <a:xfrm>
              <a:off x="3515" y="527"/>
              <a:ext cx="998" cy="40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800" b="1"/>
                <a:t>开始</a:t>
              </a:r>
            </a:p>
          </p:txBody>
        </p:sp>
        <p:sp>
          <p:nvSpPr>
            <p:cNvPr id="191499" name="AutoShape 11"/>
            <p:cNvSpPr>
              <a:spLocks noChangeArrowheads="1"/>
            </p:cNvSpPr>
            <p:nvPr/>
          </p:nvSpPr>
          <p:spPr bwMode="auto">
            <a:xfrm>
              <a:off x="3969" y="935"/>
              <a:ext cx="45" cy="272"/>
            </a:xfrm>
            <a:prstGeom prst="downArrow">
              <a:avLst>
                <a:gd name="adj1" fmla="val 50000"/>
                <a:gd name="adj2" fmla="val 151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 sz="2000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651500" y="1916113"/>
            <a:ext cx="1512888" cy="1150937"/>
            <a:chOff x="3560" y="1253"/>
            <a:chExt cx="953" cy="725"/>
          </a:xfrm>
        </p:grpSpPr>
        <p:sp>
          <p:nvSpPr>
            <p:cNvPr id="191494" name="Rectangle 6"/>
            <p:cNvSpPr>
              <a:spLocks noChangeArrowheads="1"/>
            </p:cNvSpPr>
            <p:nvPr/>
          </p:nvSpPr>
          <p:spPr bwMode="auto">
            <a:xfrm>
              <a:off x="3560" y="1253"/>
              <a:ext cx="953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800" b="1" dirty="0"/>
                <a:t>把冰箱门打开</a:t>
              </a:r>
            </a:p>
          </p:txBody>
        </p:sp>
        <p:sp>
          <p:nvSpPr>
            <p:cNvPr id="191500" name="AutoShape 12"/>
            <p:cNvSpPr>
              <a:spLocks noChangeArrowheads="1"/>
            </p:cNvSpPr>
            <p:nvPr/>
          </p:nvSpPr>
          <p:spPr bwMode="auto">
            <a:xfrm>
              <a:off x="3969" y="1706"/>
              <a:ext cx="45" cy="272"/>
            </a:xfrm>
            <a:prstGeom prst="downArrow">
              <a:avLst>
                <a:gd name="adj1" fmla="val 50000"/>
                <a:gd name="adj2" fmla="val 151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 sz="2000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651500" y="2997200"/>
            <a:ext cx="1512888" cy="1150938"/>
            <a:chOff x="3560" y="1888"/>
            <a:chExt cx="953" cy="725"/>
          </a:xfrm>
        </p:grpSpPr>
        <p:sp>
          <p:nvSpPr>
            <p:cNvPr id="191495" name="Rectangle 7"/>
            <p:cNvSpPr>
              <a:spLocks noChangeArrowheads="1"/>
            </p:cNvSpPr>
            <p:nvPr/>
          </p:nvSpPr>
          <p:spPr bwMode="auto">
            <a:xfrm>
              <a:off x="3560" y="1888"/>
              <a:ext cx="953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800" b="1" dirty="0"/>
                <a:t>把大象装进去</a:t>
              </a:r>
            </a:p>
          </p:txBody>
        </p:sp>
        <p:sp>
          <p:nvSpPr>
            <p:cNvPr id="191501" name="AutoShape 13"/>
            <p:cNvSpPr>
              <a:spLocks noChangeArrowheads="1"/>
            </p:cNvSpPr>
            <p:nvPr/>
          </p:nvSpPr>
          <p:spPr bwMode="auto">
            <a:xfrm>
              <a:off x="3969" y="2341"/>
              <a:ext cx="45" cy="272"/>
            </a:xfrm>
            <a:prstGeom prst="downArrow">
              <a:avLst>
                <a:gd name="adj1" fmla="val 50000"/>
                <a:gd name="adj2" fmla="val 151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 sz="2000"/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5651500" y="4149725"/>
            <a:ext cx="1512888" cy="1222375"/>
            <a:chOff x="3560" y="2614"/>
            <a:chExt cx="953" cy="770"/>
          </a:xfrm>
        </p:grpSpPr>
        <p:sp>
          <p:nvSpPr>
            <p:cNvPr id="191496" name="Rectangle 8"/>
            <p:cNvSpPr>
              <a:spLocks noChangeArrowheads="1"/>
            </p:cNvSpPr>
            <p:nvPr/>
          </p:nvSpPr>
          <p:spPr bwMode="auto">
            <a:xfrm>
              <a:off x="3560" y="2614"/>
              <a:ext cx="953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800" b="1" dirty="0"/>
                <a:t>把冰箱门关上</a:t>
              </a:r>
            </a:p>
          </p:txBody>
        </p:sp>
        <p:sp>
          <p:nvSpPr>
            <p:cNvPr id="191502" name="AutoShape 14"/>
            <p:cNvSpPr>
              <a:spLocks noChangeArrowheads="1"/>
            </p:cNvSpPr>
            <p:nvPr/>
          </p:nvSpPr>
          <p:spPr bwMode="auto">
            <a:xfrm>
              <a:off x="3969" y="3112"/>
              <a:ext cx="45" cy="272"/>
            </a:xfrm>
            <a:prstGeom prst="downArrow">
              <a:avLst>
                <a:gd name="adj1" fmla="val 50000"/>
                <a:gd name="adj2" fmla="val 151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 sz="2000"/>
            </a:p>
          </p:txBody>
        </p:sp>
      </p:grpSp>
      <p:sp>
        <p:nvSpPr>
          <p:cNvPr id="191508" name="Text Box 20"/>
          <p:cNvSpPr txBox="1">
            <a:spLocks noChangeArrowheads="1"/>
          </p:cNvSpPr>
          <p:nvPr/>
        </p:nvSpPr>
        <p:spPr bwMode="auto">
          <a:xfrm>
            <a:off x="323850" y="6092825"/>
            <a:ext cx="85693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ea typeface="黑体" pitchFamily="2" charset="-122"/>
              </a:rPr>
              <a:t>用程序框图表示的算法更加简练</a:t>
            </a:r>
            <a:r>
              <a:rPr lang="en-US" altLang="zh-CN" sz="3200" b="1">
                <a:solidFill>
                  <a:srgbClr val="FF0000"/>
                </a:solidFill>
                <a:ea typeface="黑体" pitchFamily="2" charset="-122"/>
              </a:rPr>
              <a:t>,</a:t>
            </a:r>
            <a:r>
              <a:rPr lang="zh-CN" altLang="en-US" sz="3200" b="1">
                <a:solidFill>
                  <a:srgbClr val="FF0000"/>
                </a:solidFill>
                <a:ea typeface="黑体" pitchFamily="2" charset="-122"/>
              </a:rPr>
              <a:t>直观</a:t>
            </a:r>
            <a:r>
              <a:rPr lang="en-US" altLang="zh-CN" sz="3200" b="1">
                <a:solidFill>
                  <a:srgbClr val="FF0000"/>
                </a:solidFill>
                <a:ea typeface="黑体" pitchFamily="2" charset="-122"/>
              </a:rPr>
              <a:t>,</a:t>
            </a:r>
            <a:r>
              <a:rPr lang="zh-CN" altLang="en-US" sz="3200" b="1">
                <a:solidFill>
                  <a:srgbClr val="FF0000"/>
                </a:solidFill>
                <a:ea typeface="黑体" pitchFamily="2" charset="-122"/>
              </a:rPr>
              <a:t>流向清楚</a:t>
            </a:r>
            <a:r>
              <a:rPr lang="en-US" altLang="zh-CN" sz="3200" b="1">
                <a:solidFill>
                  <a:srgbClr val="FF0000"/>
                </a:solidFill>
                <a:ea typeface="黑体" pitchFamily="2" charset="-122"/>
              </a:rPr>
              <a:t>.</a:t>
            </a:r>
          </a:p>
        </p:txBody>
      </p:sp>
      <p:sp>
        <p:nvSpPr>
          <p:cNvPr id="191509" name="Text Box 21"/>
          <p:cNvSpPr txBox="1">
            <a:spLocks noChangeArrowheads="1"/>
          </p:cNvSpPr>
          <p:nvPr/>
        </p:nvSpPr>
        <p:spPr bwMode="auto">
          <a:xfrm>
            <a:off x="684213" y="692150"/>
            <a:ext cx="40322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>
                <a:solidFill>
                  <a:schemeClr val="tx2"/>
                </a:solidFill>
              </a:rPr>
              <a:t>（</a:t>
            </a:r>
            <a:r>
              <a:rPr lang="en-US" altLang="zh-CN" sz="4000">
                <a:solidFill>
                  <a:schemeClr val="tx2"/>
                </a:solidFill>
              </a:rPr>
              <a:t>2</a:t>
            </a:r>
            <a:r>
              <a:rPr lang="zh-CN" altLang="en-US" sz="4000">
                <a:solidFill>
                  <a:schemeClr val="tx2"/>
                </a:solidFill>
              </a:rPr>
              <a:t>）流程图表示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7" grpId="0" animBg="1"/>
      <p:bldP spid="191508" grpId="0"/>
      <p:bldP spid="191508" grpId="1"/>
      <p:bldP spid="19150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332656"/>
            <a:ext cx="6658670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828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【案例</a:t>
            </a:r>
            <a:r>
              <a:rPr lang="en-US" altLang="zh-CN" sz="2800" dirty="0">
                <a:latin typeface="Times New Roman" pitchFamily="18" charset="0"/>
              </a:rPr>
              <a:t>4】</a:t>
            </a:r>
            <a:r>
              <a:rPr lang="zh-CN" altLang="en-US" sz="2800" dirty="0">
                <a:latin typeface="Times New Roman" pitchFamily="18" charset="0"/>
              </a:rPr>
              <a:t>用流程图表示上例的算法。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 smtClean="0">
                <a:latin typeface="Times New Roman" pitchFamily="18" charset="0"/>
              </a:rPr>
              <a:t>  上例</a:t>
            </a:r>
            <a:r>
              <a:rPr lang="zh-CN" altLang="en-US" sz="2800" dirty="0">
                <a:latin typeface="Times New Roman" pitchFamily="18" charset="0"/>
              </a:rPr>
              <a:t>的算法用自然语言表示为：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 smtClean="0">
                <a:latin typeface="Times New Roman" pitchFamily="18" charset="0"/>
              </a:rPr>
              <a:t>  第一</a:t>
            </a:r>
            <a:r>
              <a:rPr lang="zh-CN" altLang="en-US" sz="2800" dirty="0">
                <a:latin typeface="Times New Roman" pitchFamily="18" charset="0"/>
              </a:rPr>
              <a:t>步，输入圆半径</a:t>
            </a:r>
            <a:r>
              <a:rPr lang="en-US" altLang="zh-CN" sz="2800" dirty="0">
                <a:latin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 smtClean="0">
                <a:latin typeface="Times New Roman" pitchFamily="18" charset="0"/>
              </a:rPr>
              <a:t>  第二</a:t>
            </a:r>
            <a:r>
              <a:rPr lang="zh-CN" altLang="en-US" sz="2800" dirty="0">
                <a:latin typeface="Times New Roman" pitchFamily="18" charset="0"/>
              </a:rPr>
              <a:t>步，计算</a:t>
            </a:r>
            <a:r>
              <a:rPr lang="en-US" altLang="zh-CN" sz="2800" dirty="0">
                <a:latin typeface="Times New Roman" pitchFamily="18" charset="0"/>
              </a:rPr>
              <a:t>S=3.14×r×r</a:t>
            </a:r>
            <a:r>
              <a:rPr lang="zh-CN" altLang="en-US" sz="2800" dirty="0">
                <a:latin typeface="Times New Roman" pitchFamily="18" charset="0"/>
              </a:rPr>
              <a:t>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 smtClean="0">
                <a:latin typeface="Times New Roman" pitchFamily="18" charset="0"/>
              </a:rPr>
              <a:t>  第三</a:t>
            </a:r>
            <a:r>
              <a:rPr lang="zh-CN" altLang="en-US" sz="2800" dirty="0">
                <a:latin typeface="Times New Roman" pitchFamily="18" charset="0"/>
              </a:rPr>
              <a:t>步，输出</a:t>
            </a:r>
            <a:r>
              <a:rPr lang="en-US" altLang="zh-CN" sz="2800" dirty="0">
                <a:latin typeface="Times New Roman" pitchFamily="18" charset="0"/>
              </a:rPr>
              <a:t>S</a:t>
            </a:r>
            <a:r>
              <a:rPr lang="zh-CN" altLang="en-US" sz="2800" dirty="0">
                <a:latin typeface="Times New Roman" pitchFamily="18" charset="0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latin typeface="Times New Roman" pitchFamily="18" charset="0"/>
            </a:endParaRPr>
          </a:p>
        </p:txBody>
      </p: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4499992" y="1988840"/>
            <a:ext cx="4176713" cy="4653136"/>
            <a:chOff x="6384" y="7692"/>
            <a:chExt cx="1944" cy="3065"/>
          </a:xfrm>
        </p:grpSpPr>
        <p:cxnSp>
          <p:nvCxnSpPr>
            <p:cNvPr id="6" name="AutoShape 11"/>
            <p:cNvCxnSpPr>
              <a:cxnSpLocks noChangeShapeType="1"/>
              <a:stCxn id="13" idx="2"/>
              <a:endCxn id="12" idx="1"/>
            </p:cNvCxnSpPr>
            <p:nvPr/>
          </p:nvCxnSpPr>
          <p:spPr bwMode="auto">
            <a:xfrm>
              <a:off x="7359" y="9352"/>
              <a:ext cx="3" cy="3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" name="Group 2"/>
            <p:cNvGrpSpPr>
              <a:grpSpLocks/>
            </p:cNvGrpSpPr>
            <p:nvPr/>
          </p:nvGrpSpPr>
          <p:grpSpPr bwMode="auto">
            <a:xfrm>
              <a:off x="6384" y="7692"/>
              <a:ext cx="1944" cy="3065"/>
              <a:chOff x="4157" y="5762"/>
              <a:chExt cx="2226" cy="3065"/>
            </a:xfrm>
          </p:grpSpPr>
          <p:sp>
            <p:nvSpPr>
              <p:cNvPr id="8" name="AutoShape 10"/>
              <p:cNvSpPr>
                <a:spLocks noChangeArrowheads="1"/>
              </p:cNvSpPr>
              <p:nvPr/>
            </p:nvSpPr>
            <p:spPr bwMode="auto">
              <a:xfrm>
                <a:off x="4541" y="8477"/>
                <a:ext cx="1494" cy="350"/>
              </a:xfrm>
              <a:prstGeom prst="flowChartAlternate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18000" bIns="18000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zh-CN" sz="2800">
                    <a:latin typeface="宋体" pitchFamily="2" charset="-122"/>
                  </a:rPr>
                  <a:t>结束</a:t>
                </a:r>
                <a:endParaRPr lang="zh-CN" altLang="zh-CN" sz="7200">
                  <a:latin typeface="Times New Roman" pitchFamily="18" charset="0"/>
                </a:endParaRPr>
              </a:p>
            </p:txBody>
          </p:sp>
          <p:cxnSp>
            <p:nvCxnSpPr>
              <p:cNvPr id="9" name="AutoShape 9"/>
              <p:cNvCxnSpPr>
                <a:cxnSpLocks noChangeShapeType="1"/>
              </p:cNvCxnSpPr>
              <p:nvPr/>
            </p:nvCxnSpPr>
            <p:spPr bwMode="auto">
              <a:xfrm>
                <a:off x="5291" y="8300"/>
                <a:ext cx="0" cy="17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" name="AutoShape 8"/>
              <p:cNvSpPr>
                <a:spLocks noChangeArrowheads="1"/>
              </p:cNvSpPr>
              <p:nvPr/>
            </p:nvSpPr>
            <p:spPr bwMode="auto">
              <a:xfrm>
                <a:off x="4529" y="5762"/>
                <a:ext cx="1494" cy="350"/>
              </a:xfrm>
              <a:prstGeom prst="flowChartAlternateProcess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18000" bIns="18000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zh-CN" sz="2800">
                    <a:latin typeface="宋体" pitchFamily="2" charset="-122"/>
                  </a:rPr>
                  <a:t>开始</a:t>
                </a:r>
                <a:endParaRPr lang="zh-CN" altLang="zh-CN" sz="7200">
                  <a:latin typeface="Times New Roman" pitchFamily="18" charset="0"/>
                </a:endParaRPr>
              </a:p>
            </p:txBody>
          </p:sp>
          <p:sp>
            <p:nvSpPr>
              <p:cNvPr id="11" name="AutoShape 7"/>
              <p:cNvSpPr>
                <a:spLocks noChangeArrowheads="1"/>
              </p:cNvSpPr>
              <p:nvPr/>
            </p:nvSpPr>
            <p:spPr bwMode="auto">
              <a:xfrm>
                <a:off x="4157" y="6291"/>
                <a:ext cx="2214" cy="495"/>
              </a:xfrm>
              <a:prstGeom prst="flowChartInputOutpu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57600" rIns="0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zh-CN" sz="2800" dirty="0">
                    <a:latin typeface="宋体" pitchFamily="2" charset="-122"/>
                  </a:rPr>
                  <a:t>输入圆半径</a:t>
                </a:r>
                <a:r>
                  <a:rPr lang="en-US" altLang="zh-CN" sz="2800" dirty="0">
                    <a:latin typeface="宋体" pitchFamily="2" charset="-122"/>
                  </a:rPr>
                  <a:t>r</a:t>
                </a:r>
                <a:endParaRPr lang="en-US" altLang="zh-CN" sz="7200" dirty="0">
                  <a:latin typeface="Times New Roman" pitchFamily="18" charset="0"/>
                </a:endParaRPr>
              </a:p>
            </p:txBody>
          </p:sp>
          <p:sp>
            <p:nvSpPr>
              <p:cNvPr id="12" name="AutoShape 6"/>
              <p:cNvSpPr>
                <a:spLocks noChangeArrowheads="1"/>
              </p:cNvSpPr>
              <p:nvPr/>
            </p:nvSpPr>
            <p:spPr bwMode="auto">
              <a:xfrm>
                <a:off x="4169" y="7791"/>
                <a:ext cx="2214" cy="495"/>
              </a:xfrm>
              <a:prstGeom prst="flowChartInputOutpu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57600" rIns="0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CN" altLang="zh-CN" sz="2800" dirty="0" smtClean="0">
                    <a:latin typeface="宋体" pitchFamily="2" charset="-122"/>
                  </a:rPr>
                  <a:t>输出</a:t>
                </a:r>
                <a:r>
                  <a:rPr lang="en-US" altLang="zh-CN" sz="2800" smtClean="0">
                    <a:latin typeface="宋体" pitchFamily="2" charset="-122"/>
                  </a:rPr>
                  <a:t>S</a:t>
                </a:r>
                <a:endParaRPr lang="en-US" altLang="zh-CN" sz="72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4245" y="6972"/>
                <a:ext cx="2056" cy="4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21600" rIns="0" bIns="21600"/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ts val="2400"/>
                  </a:spcBef>
                  <a:buFontTx/>
                  <a:buNone/>
                </a:pPr>
                <a:r>
                  <a:rPr lang="zh-CN" altLang="zh-CN" sz="2800" dirty="0" smtClean="0">
                    <a:latin typeface="宋体" pitchFamily="2" charset="-122"/>
                  </a:rPr>
                  <a:t>计算</a:t>
                </a:r>
                <a:r>
                  <a:rPr lang="en-US" altLang="zh-CN" sz="2800" dirty="0">
                    <a:latin typeface="宋体" pitchFamily="2" charset="-122"/>
                  </a:rPr>
                  <a:t>S</a:t>
                </a:r>
                <a:endParaRPr lang="en-US" altLang="zh-CN" sz="7200" dirty="0">
                  <a:latin typeface="Times New Roman" pitchFamily="18" charset="0"/>
                </a:endParaRPr>
              </a:p>
            </p:txBody>
          </p:sp>
          <p:cxnSp>
            <p:nvCxnSpPr>
              <p:cNvPr id="14" name="AutoShape 4"/>
              <p:cNvCxnSpPr>
                <a:cxnSpLocks noChangeShapeType="1"/>
              </p:cNvCxnSpPr>
              <p:nvPr/>
            </p:nvCxnSpPr>
            <p:spPr bwMode="auto">
              <a:xfrm>
                <a:off x="5259" y="6798"/>
                <a:ext cx="0" cy="17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3"/>
              <p:cNvCxnSpPr>
                <a:cxnSpLocks noChangeShapeType="1"/>
              </p:cNvCxnSpPr>
              <p:nvPr/>
            </p:nvCxnSpPr>
            <p:spPr bwMode="auto">
              <a:xfrm>
                <a:off x="5282" y="6117"/>
                <a:ext cx="0" cy="17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9" name="TextBox 18"/>
          <p:cNvSpPr txBox="1"/>
          <p:nvPr/>
        </p:nvSpPr>
        <p:spPr>
          <a:xfrm>
            <a:off x="827584" y="3717032"/>
            <a:ext cx="3024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P102</a:t>
            </a:r>
            <a:r>
              <a:rPr lang="zh-CN" altLang="en-US" dirty="0" smtClean="0">
                <a:solidFill>
                  <a:srgbClr val="FF0000"/>
                </a:solidFill>
              </a:rPr>
              <a:t>不同形状图形代表什么含义一定记住，不要乱画！！！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788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8704" y="144016"/>
            <a:ext cx="6221648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3181350" y="620713"/>
            <a:ext cx="4895850" cy="5864225"/>
            <a:chOff x="1474" y="391"/>
            <a:chExt cx="3084" cy="3694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3257" y="2319"/>
              <a:ext cx="184" cy="2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fontAlgn="ctr" hangingPunct="0"/>
              <a:r>
                <a:rPr lang="en-US" altLang="zh-CN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2557" y="391"/>
              <a:ext cx="857" cy="264"/>
            </a:xfrm>
            <a:prstGeom prst="flowChartAlternateProcess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0" rIns="54000" bIns="0"/>
            <a:lstStyle/>
            <a:p>
              <a:pPr algn="ctr" eaLnBrk="0" fontAlgn="ctr" hangingPunct="0">
                <a:lnSpc>
                  <a:spcPct val="85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开始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1945" y="910"/>
              <a:ext cx="2143" cy="265"/>
            </a:xfrm>
            <a:prstGeom prst="flowChartInputOutpu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/>
            <a:p>
              <a:pPr eaLnBrk="0" fontAlgn="ctr" hangingPunct="0">
                <a:lnSpc>
                  <a:spcPct val="9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输入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和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2064" y="1434"/>
              <a:ext cx="1851" cy="287"/>
            </a:xfrm>
            <a:prstGeom prst="flowChartProcess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/>
            <a:p>
              <a:pPr algn="ctr" eaLnBrk="0" fontAlgn="ctr" hangingPunct="0"/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   r=m % n</a:t>
              </a:r>
            </a:p>
          </p:txBody>
        </p:sp>
        <p:sp>
          <p:nvSpPr>
            <p:cNvPr id="9" name="AutoShape 9"/>
            <p:cNvSpPr>
              <a:spLocks noChangeArrowheads="1"/>
            </p:cNvSpPr>
            <p:nvPr/>
          </p:nvSpPr>
          <p:spPr bwMode="auto">
            <a:xfrm>
              <a:off x="2006" y="1990"/>
              <a:ext cx="2000" cy="396"/>
            </a:xfrm>
            <a:prstGeom prst="flowChartDecision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0" rIns="54000" bIns="0"/>
            <a:lstStyle/>
            <a:p>
              <a:pPr eaLnBrk="0" fontAlgn="ctr" hangingPunct="0"/>
              <a:endParaRPr lang="zh-CN" altLang="zh-CN" sz="28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823" y="2057"/>
              <a:ext cx="387" cy="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fontAlgn="ctr" hangingPunct="0"/>
              <a:r>
                <a:rPr lang="en-US" altLang="zh-CN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r=0</a:t>
              </a:r>
            </a:p>
          </p:txBody>
        </p:sp>
        <p:sp>
          <p:nvSpPr>
            <p:cNvPr id="11" name="AutoShape 11"/>
            <p:cNvSpPr>
              <a:spLocks noChangeArrowheads="1"/>
            </p:cNvSpPr>
            <p:nvPr/>
          </p:nvSpPr>
          <p:spPr bwMode="auto">
            <a:xfrm>
              <a:off x="2251" y="2625"/>
              <a:ext cx="1572" cy="396"/>
            </a:xfrm>
            <a:prstGeom prst="flowChartProcess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08000" bIns="0"/>
            <a:lstStyle/>
            <a:p>
              <a:pPr algn="ctr" eaLnBrk="0" fontAlgn="ctr" hangingPunct="0">
                <a:lnSpc>
                  <a:spcPct val="80000"/>
                </a:lnSpc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m=n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；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n=r</a:t>
              </a:r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1904" y="3273"/>
              <a:ext cx="2144" cy="293"/>
            </a:xfrm>
            <a:prstGeom prst="flowChartInputOutpu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0" rIns="54000" bIns="0"/>
            <a:lstStyle/>
            <a:p>
              <a:pPr algn="ctr" eaLnBrk="0" fontAlgn="ctr" hangingPunct="0"/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输出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>
              <a:off x="2557" y="3822"/>
              <a:ext cx="857" cy="263"/>
            </a:xfrm>
            <a:prstGeom prst="flowChartAlternateProcess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0" rIns="54000" bIns="0"/>
            <a:lstStyle/>
            <a:p>
              <a:pPr algn="ctr" eaLnBrk="0" fontAlgn="ctr" hangingPunct="0">
                <a:lnSpc>
                  <a:spcPct val="85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结束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985" y="658"/>
              <a:ext cx="0" cy="2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985" y="1177"/>
              <a:ext cx="0" cy="2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985" y="1730"/>
              <a:ext cx="0" cy="2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006" y="2376"/>
              <a:ext cx="0" cy="24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985" y="3558"/>
              <a:ext cx="0" cy="2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3997" y="2191"/>
              <a:ext cx="5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558" y="2191"/>
              <a:ext cx="0" cy="9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231" y="3115"/>
              <a:ext cx="1" cy="1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3231" y="3103"/>
              <a:ext cx="132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2985" y="3021"/>
              <a:ext cx="0" cy="13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>
              <a:off x="1475" y="3154"/>
              <a:ext cx="14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1474" y="1278"/>
              <a:ext cx="1" cy="1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479" y="1270"/>
              <a:ext cx="14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4154" y="1916"/>
              <a:ext cx="305" cy="21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fontAlgn="ctr" hangingPunct="0"/>
              <a:r>
                <a:rPr lang="en-US" altLang="zh-CN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Y</a:t>
              </a:r>
            </a:p>
          </p:txBody>
        </p:sp>
      </p:grp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250825" y="819150"/>
            <a:ext cx="48244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欧几里德算法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395288" y="250330"/>
            <a:ext cx="8532812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3. 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盒图（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N—S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图）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4. 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伪代码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5. 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程序设计语言</a:t>
            </a:r>
            <a:endParaRPr lang="en-US" altLang="zh-CN" sz="2800" dirty="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计算机语言的学习过程也很类似：基本符号及书写规则→常量、变量→运算符和表达式→语句→过程、函数→程序</a:t>
            </a:r>
            <a:r>
              <a:rPr lang="zh-CN" altLang="zh-CN" sz="2800" dirty="0" smtClean="0">
                <a:latin typeface="Times New Roman" pitchFamily="18" charset="0"/>
              </a:rPr>
              <a:t>。</a:t>
            </a:r>
            <a:endParaRPr lang="en-US" altLang="zh-CN" sz="2800" dirty="0" smtClean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优点：能由计算机执行 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缺点：抽象性差，对语言要求高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使用方法：算法需要验证</a:t>
            </a:r>
          </a:p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宋体" charset="-122"/>
                <a:ea typeface="宋体" charset="-122"/>
              </a:rPr>
              <a:t>注意事项：将算法写成子函数</a:t>
            </a:r>
            <a:endParaRPr lang="zh-CN" altLang="zh-CN" sz="2800" dirty="0">
              <a:solidFill>
                <a:srgbClr val="0000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79712" y="476672"/>
            <a:ext cx="5689600" cy="565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#include &lt;iostream.h&gt;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int CommonFactor(int m, int n)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{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int r=m % n;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while (r!=0) </a:t>
            </a:r>
          </a:p>
          <a:p>
            <a:pPr algn="just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{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m=n;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n=r;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r=m % n;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}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return n;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}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void main( )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{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cout&lt;&lt;CommonFactor(63, 54)&lt;&lt;endl;</a:t>
            </a:r>
          </a:p>
          <a:p>
            <a:pPr algn="l">
              <a:lnSpc>
                <a:spcPct val="95000"/>
              </a:lnSpc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}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7299" y="1367259"/>
            <a:ext cx="79375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000" dirty="0">
                <a:solidFill>
                  <a:schemeClr val="tx1"/>
                </a:solidFill>
                <a:ea typeface="宋体" charset="-122"/>
              </a:rPr>
              <a:t>欧几里德算法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564904"/>
            <a:ext cx="8229600" cy="3849291"/>
          </a:xfrm>
        </p:spPr>
        <p:txBody>
          <a:bodyPr/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自然语言：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 marL="514350" indent="-514350">
              <a:buAutoNum type="arabicParenBoth"/>
            </a:pPr>
            <a:r>
              <a:rPr lang="zh-CN" altLang="en-US" sz="2800" b="1" dirty="0" smtClean="0"/>
              <a:t>初始化：</a:t>
            </a:r>
            <a:r>
              <a:rPr lang="en-US" altLang="zh-CN" sz="2800" b="1" dirty="0" smtClean="0"/>
              <a:t>x=1;</a:t>
            </a:r>
          </a:p>
          <a:p>
            <a:pPr marL="514350" indent="-514350">
              <a:buAutoNum type="arabicParenBoth"/>
            </a:pPr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从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循环到</a:t>
            </a:r>
            <a:r>
              <a:rPr lang="en-US" altLang="zh-CN" sz="2800" b="1" dirty="0" smtClean="0"/>
              <a:t>1000</a:t>
            </a:r>
            <a:r>
              <a:rPr lang="zh-CN" altLang="en-US" sz="2800" b="1" dirty="0" smtClean="0"/>
              <a:t>；</a:t>
            </a:r>
            <a:endParaRPr lang="en-US" altLang="zh-CN" sz="2800" b="1" dirty="0" smtClean="0"/>
          </a:p>
          <a:p>
            <a:pPr marL="514350" indent="-514350">
              <a:buAutoNum type="arabicParenBoth"/>
            </a:pPr>
            <a:r>
              <a:rPr lang="zh-CN" altLang="en-US" sz="2800" b="1" dirty="0" smtClean="0"/>
              <a:t>对于每一个</a:t>
            </a:r>
            <a:r>
              <a:rPr lang="en-US" altLang="zh-CN" sz="2800" b="1" dirty="0" smtClean="0"/>
              <a:t>x</a:t>
            </a:r>
            <a:r>
              <a:rPr lang="zh-CN" altLang="en-US" sz="2800" b="1" dirty="0" smtClean="0"/>
              <a:t>，依次地对每个数进行检验：如果能被</a:t>
            </a:r>
            <a:r>
              <a:rPr lang="en-US" altLang="zh-CN" sz="2800" b="1" dirty="0" smtClean="0"/>
              <a:t>17</a:t>
            </a:r>
            <a:r>
              <a:rPr lang="zh-CN" altLang="en-US" sz="2800" b="1" dirty="0" smtClean="0"/>
              <a:t>整除，就打印输出，否则继续下一个数；</a:t>
            </a:r>
            <a:endParaRPr lang="en-US" altLang="zh-CN" sz="2800" b="1" dirty="0" smtClean="0"/>
          </a:p>
          <a:p>
            <a:pPr marL="514350" indent="-514350">
              <a:buAutoNum type="arabicParenBoth"/>
            </a:pPr>
            <a:r>
              <a:rPr lang="zh-CN" altLang="en-US" sz="2800" b="1" dirty="0" smtClean="0"/>
              <a:t>重复</a:t>
            </a:r>
            <a:r>
              <a:rPr lang="en-US" altLang="zh-CN" sz="2800" b="1" dirty="0" smtClean="0"/>
              <a:t>(2)~(3)</a:t>
            </a:r>
            <a:r>
              <a:rPr lang="zh-CN" altLang="en-US" sz="2800" b="1" dirty="0" smtClean="0"/>
              <a:t>步，直到循环结束。</a:t>
            </a:r>
            <a:endParaRPr lang="en-US" altLang="zh-CN" sz="2800" b="1" dirty="0" smtClean="0"/>
          </a:p>
          <a:p>
            <a:endParaRPr lang="zh-CN" altLang="en-US" dirty="0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395536" y="332656"/>
            <a:ext cx="84201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【</a:t>
            </a:r>
            <a:r>
              <a:rPr lang="zh-CN" altLang="zh-CN" sz="2800" dirty="0" smtClean="0">
                <a:latin typeface="Times New Roman" pitchFamily="18" charset="0"/>
              </a:rPr>
              <a:t>案例</a:t>
            </a:r>
            <a:r>
              <a:rPr lang="en-US" altLang="zh-CN" sz="2800" dirty="0" smtClean="0">
                <a:latin typeface="Times New Roman" pitchFamily="18" charset="0"/>
              </a:rPr>
              <a:t>6</a:t>
            </a:r>
            <a:r>
              <a:rPr lang="zh-CN" altLang="zh-CN" sz="2800" dirty="0" smtClean="0">
                <a:latin typeface="Times New Roman" pitchFamily="18" charset="0"/>
              </a:rPr>
              <a:t>】</a:t>
            </a:r>
            <a:r>
              <a:rPr lang="zh-CN" altLang="zh-CN" sz="2800" dirty="0">
                <a:latin typeface="Times New Roman" pitchFamily="18" charset="0"/>
              </a:rPr>
              <a:t>求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zh-CN" sz="2800" dirty="0">
                <a:latin typeface="Times New Roman" pitchFamily="18" charset="0"/>
              </a:rPr>
              <a:t>～</a:t>
            </a:r>
            <a:r>
              <a:rPr lang="en-US" altLang="zh-CN" sz="2800" dirty="0">
                <a:latin typeface="Times New Roman" pitchFamily="18" charset="0"/>
              </a:rPr>
              <a:t>1000</a:t>
            </a:r>
            <a:r>
              <a:rPr lang="zh-CN" altLang="zh-CN" sz="2800" dirty="0">
                <a:latin typeface="Times New Roman" pitchFamily="18" charset="0"/>
              </a:rPr>
              <a:t>中，所有能</a:t>
            </a:r>
            <a:r>
              <a:rPr lang="zh-CN" altLang="zh-CN" sz="2800" dirty="0" smtClean="0">
                <a:latin typeface="Times New Roman" pitchFamily="18" charset="0"/>
              </a:rPr>
              <a:t>被</a:t>
            </a:r>
            <a:r>
              <a:rPr lang="en-US" altLang="zh-CN" sz="2800" dirty="0" smtClean="0">
                <a:latin typeface="Times New Roman" pitchFamily="18" charset="0"/>
              </a:rPr>
              <a:t>17</a:t>
            </a:r>
            <a:r>
              <a:rPr lang="zh-CN" altLang="zh-CN" sz="2800" dirty="0" smtClean="0">
                <a:latin typeface="Times New Roman" pitchFamily="18" charset="0"/>
              </a:rPr>
              <a:t>整除</a:t>
            </a:r>
            <a:r>
              <a:rPr lang="zh-CN" altLang="zh-CN" sz="2800" dirty="0">
                <a:latin typeface="Times New Roman" pitchFamily="18" charset="0"/>
              </a:rPr>
              <a:t>的数。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问题分析：这类问题可以使用枚举法，从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zh-CN" sz="2800" dirty="0">
                <a:latin typeface="Times New Roman" pitchFamily="18" charset="0"/>
              </a:rPr>
              <a:t>～</a:t>
            </a:r>
            <a:r>
              <a:rPr lang="en-US" altLang="zh-CN" sz="2800" dirty="0">
                <a:latin typeface="Times New Roman" pitchFamily="18" charset="0"/>
              </a:rPr>
              <a:t>1000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一一列举，然后对每个数进行检验。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1763688" y="260648"/>
          <a:ext cx="6120680" cy="6371526"/>
        </p:xfrm>
        <a:graphic>
          <a:graphicData uri="http://schemas.openxmlformats.org/presentationml/2006/ole">
            <p:oleObj spid="_x0000_s181250" name="Visio" r:id="rId3" imgW="2435485" imgH="3346494" progId="Visio.Drawing.11">
              <p:embed/>
            </p:oleObj>
          </a:graphicData>
        </a:graphic>
      </p:graphicFrame>
      <p:sp>
        <p:nvSpPr>
          <p:cNvPr id="3" name="矩形 2"/>
          <p:cNvSpPr/>
          <p:nvPr/>
        </p:nvSpPr>
        <p:spPr>
          <a:xfrm>
            <a:off x="251520" y="332656"/>
            <a:ext cx="1973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kumimoji="0" lang="zh-CN" altLang="en-US" sz="2800" dirty="0" smtClean="0">
                <a:solidFill>
                  <a:srgbClr val="FF0000"/>
                </a:solidFill>
                <a:latin typeface="Calibri"/>
                <a:ea typeface="宋体"/>
              </a:rPr>
              <a:t>流程图：</a:t>
            </a:r>
            <a:endParaRPr kumimoji="0" lang="en-US" altLang="zh-CN" sz="2800" dirty="0" smtClean="0">
              <a:solidFill>
                <a:srgbClr val="FF0000"/>
              </a:solidFill>
              <a:latin typeface="Calibri"/>
              <a:ea typeface="宋体"/>
            </a:endParaRPr>
          </a:p>
        </p:txBody>
      </p:sp>
      <p:sp>
        <p:nvSpPr>
          <p:cNvPr id="4" name="椭圆形标注 3"/>
          <p:cNvSpPr/>
          <p:nvPr/>
        </p:nvSpPr>
        <p:spPr>
          <a:xfrm>
            <a:off x="7812360" y="4653136"/>
            <a:ext cx="1152128" cy="504056"/>
          </a:xfrm>
          <a:prstGeom prst="wedgeEllipseCallout">
            <a:avLst>
              <a:gd name="adj1" fmla="val -214417"/>
              <a:gd name="adj2" fmla="val 8439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注意！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4340" name="Picture 4" descr="图片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0" y="0"/>
            <a:ext cx="9525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在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>
                <a:solidFill>
                  <a:schemeClr val="accent2"/>
                </a:solidFill>
              </a:rPr>
              <a:t>到</a:t>
            </a:r>
            <a:r>
              <a:rPr lang="en-US" altLang="zh-CN" sz="2800" b="1">
                <a:solidFill>
                  <a:schemeClr val="accent2"/>
                </a:solidFill>
              </a:rPr>
              <a:t>2008</a:t>
            </a:r>
            <a:r>
              <a:rPr lang="zh-CN" altLang="en-US" sz="2800" b="1">
                <a:solidFill>
                  <a:schemeClr val="accent2"/>
                </a:solidFill>
              </a:rPr>
              <a:t>这些自然数中，找出所有是</a:t>
            </a:r>
            <a:r>
              <a:rPr lang="en-US" altLang="zh-CN" sz="2800" b="1">
                <a:solidFill>
                  <a:schemeClr val="accent2"/>
                </a:solidFill>
              </a:rPr>
              <a:t>37</a:t>
            </a:r>
            <a:r>
              <a:rPr lang="zh-CN" altLang="en-US" sz="2800" b="1">
                <a:solidFill>
                  <a:schemeClr val="accent2"/>
                </a:solidFill>
              </a:rPr>
              <a:t>倍数的自然数</a:t>
            </a:r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7010400" y="114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6400800" y="1371600"/>
            <a:ext cx="1295400" cy="45720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/>
              <a:t>初始</a:t>
            </a:r>
            <a:r>
              <a:rPr lang="en-US" altLang="zh-CN" b="1"/>
              <a:t>n</a:t>
            </a:r>
            <a:r>
              <a:rPr lang="en-US" altLang="zh-CN" b="1">
                <a:sym typeface="Wingdings" pitchFamily="2" charset="2"/>
              </a:rPr>
              <a:t>1</a:t>
            </a:r>
            <a:endParaRPr lang="en-US" altLang="zh-CN" b="1"/>
          </a:p>
        </p:txBody>
      </p:sp>
      <p:sp>
        <p:nvSpPr>
          <p:cNvPr id="14345" name="AutoShape 9"/>
          <p:cNvSpPr>
            <a:spLocks noChangeArrowheads="1"/>
          </p:cNvSpPr>
          <p:nvPr/>
        </p:nvSpPr>
        <p:spPr bwMode="auto">
          <a:xfrm rot="1956921">
            <a:off x="6400800" y="2209800"/>
            <a:ext cx="1219200" cy="838200"/>
          </a:xfrm>
          <a:prstGeom prst="parallelogram">
            <a:avLst>
              <a:gd name="adj" fmla="val 36364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>
            <a:off x="7010400" y="182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>
            <a:off x="7086600" y="4572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70104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6477000" y="2438400"/>
            <a:ext cx="1143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/>
              <a:t>n≦2008?</a:t>
            </a:r>
          </a:p>
        </p:txBody>
      </p:sp>
      <p:sp>
        <p:nvSpPr>
          <p:cNvPr id="14350" name="AutoShape 14"/>
          <p:cNvSpPr>
            <a:spLocks noChangeArrowheads="1"/>
          </p:cNvSpPr>
          <p:nvPr/>
        </p:nvSpPr>
        <p:spPr bwMode="auto">
          <a:xfrm rot="1956921">
            <a:off x="6273593" y="3470074"/>
            <a:ext cx="1524000" cy="1035050"/>
          </a:xfrm>
          <a:prstGeom prst="parallelogram">
            <a:avLst>
              <a:gd name="adj" fmla="val 36810"/>
            </a:avLst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7772400" y="2590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6199584" y="3789040"/>
            <a:ext cx="1828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b="1" dirty="0"/>
              <a:t>n</a:t>
            </a:r>
            <a:r>
              <a:rPr lang="zh-CN" altLang="en-US" sz="1800" b="1" dirty="0"/>
              <a:t>能被</a:t>
            </a:r>
            <a:r>
              <a:rPr lang="en-US" altLang="zh-CN" sz="1800" b="1" dirty="0"/>
              <a:t>37</a:t>
            </a:r>
            <a:r>
              <a:rPr lang="zh-CN" altLang="en-US" sz="1800" b="1" dirty="0"/>
              <a:t>整除？</a:t>
            </a:r>
          </a:p>
        </p:txBody>
      </p:sp>
      <p:sp>
        <p:nvSpPr>
          <p:cNvPr id="14354" name="AutoShape 18"/>
          <p:cNvSpPr>
            <a:spLocks noChangeArrowheads="1"/>
          </p:cNvSpPr>
          <p:nvPr/>
        </p:nvSpPr>
        <p:spPr bwMode="auto">
          <a:xfrm>
            <a:off x="6324600" y="4876800"/>
            <a:ext cx="1524000" cy="533400"/>
          </a:xfrm>
          <a:prstGeom prst="parallelogram">
            <a:avLst>
              <a:gd name="adj" fmla="val 71429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/>
              <a:t>输出</a:t>
            </a:r>
            <a:r>
              <a:rPr lang="en-US" altLang="zh-CN" b="1"/>
              <a:t>n</a:t>
            </a:r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>
            <a:off x="7010400" y="541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6324600" y="5715000"/>
            <a:ext cx="1447800" cy="68580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/>
              <a:t>n</a:t>
            </a:r>
            <a:r>
              <a:rPr lang="en-US" altLang="zh-CN" sz="2000">
                <a:sym typeface="Wingdings" pitchFamily="2" charset="2"/>
              </a:rPr>
              <a:t>n+1</a:t>
            </a:r>
            <a:endParaRPr lang="en-US" altLang="zh-CN" sz="2000"/>
          </a:p>
        </p:txBody>
      </p:sp>
      <p:sp>
        <p:nvSpPr>
          <p:cNvPr id="14357" name="Line 21"/>
          <p:cNvSpPr>
            <a:spLocks noChangeShapeType="1"/>
          </p:cNvSpPr>
          <p:nvPr/>
        </p:nvSpPr>
        <p:spPr bwMode="auto">
          <a:xfrm>
            <a:off x="7010400" y="640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 flipH="1">
            <a:off x="5181600" y="66294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59" name="Line 23"/>
          <p:cNvSpPr>
            <a:spLocks noChangeShapeType="1"/>
          </p:cNvSpPr>
          <p:nvPr/>
        </p:nvSpPr>
        <p:spPr bwMode="auto">
          <a:xfrm flipV="1">
            <a:off x="5181600" y="1981200"/>
            <a:ext cx="0" cy="464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0" name="Line 24"/>
          <p:cNvSpPr>
            <a:spLocks noChangeShapeType="1"/>
          </p:cNvSpPr>
          <p:nvPr/>
        </p:nvSpPr>
        <p:spPr bwMode="auto">
          <a:xfrm>
            <a:off x="5181600" y="19812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1" name="Line 25"/>
          <p:cNvSpPr>
            <a:spLocks noChangeShapeType="1"/>
          </p:cNvSpPr>
          <p:nvPr/>
        </p:nvSpPr>
        <p:spPr bwMode="auto">
          <a:xfrm>
            <a:off x="7924800" y="3962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2" name="Line 26"/>
          <p:cNvSpPr>
            <a:spLocks noChangeShapeType="1"/>
          </p:cNvSpPr>
          <p:nvPr/>
        </p:nvSpPr>
        <p:spPr bwMode="auto">
          <a:xfrm>
            <a:off x="8534400" y="396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H="1">
            <a:off x="7010400" y="5486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7772400" y="3505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6629400" y="44958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Y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7620000" y="21336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6629400" y="3048000"/>
            <a:ext cx="228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Y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381000" y="3124200"/>
            <a:ext cx="4191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CC00CC"/>
                </a:solidFill>
              </a:rPr>
              <a:t>以上提供的只是一种求被</a:t>
            </a:r>
            <a:r>
              <a:rPr lang="en-US" altLang="zh-CN" sz="2400" b="1">
                <a:solidFill>
                  <a:srgbClr val="CC00CC"/>
                </a:solidFill>
              </a:rPr>
              <a:t>37</a:t>
            </a:r>
            <a:r>
              <a:rPr lang="zh-CN" altLang="en-US" sz="2400" b="1">
                <a:solidFill>
                  <a:srgbClr val="CC00CC"/>
                </a:solidFill>
              </a:rPr>
              <a:t>整除的数的算法，你有没有更好的算法？</a:t>
            </a:r>
          </a:p>
        </p:txBody>
      </p:sp>
      <p:pic>
        <p:nvPicPr>
          <p:cNvPr id="14369" name="Picture 33" descr="200891701947495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600200"/>
            <a:ext cx="857250" cy="857250"/>
          </a:xfrm>
          <a:prstGeom prst="rect">
            <a:avLst/>
          </a:prstGeom>
          <a:noFill/>
        </p:spPr>
      </p:pic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381000" y="1600200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>
                <a:solidFill>
                  <a:srgbClr val="FF9933"/>
                </a:solidFill>
              </a:rPr>
              <a:t>思  考：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444208" y="620688"/>
            <a:ext cx="1224136" cy="5040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开始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100392" y="2348880"/>
            <a:ext cx="1043608" cy="5040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结束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animBg="1"/>
      <p:bldP spid="14344" grpId="0" animBg="1"/>
      <p:bldP spid="14345" grpId="0" animBg="1"/>
      <p:bldP spid="14346" grpId="0" animBg="1"/>
      <p:bldP spid="14347" grpId="0" animBg="1"/>
      <p:bldP spid="14348" grpId="0" animBg="1"/>
      <p:bldP spid="14349" grpId="0"/>
      <p:bldP spid="14350" grpId="0" animBg="1"/>
      <p:bldP spid="14351" grpId="0" animBg="1"/>
      <p:bldP spid="14353" grpId="0"/>
      <p:bldP spid="14354" grpId="0" animBg="1"/>
      <p:bldP spid="14355" grpId="0" animBg="1"/>
      <p:bldP spid="14356" grpId="0" animBg="1"/>
      <p:bldP spid="14357" grpId="0" animBg="1"/>
      <p:bldP spid="14358" grpId="0" animBg="1"/>
      <p:bldP spid="14359" grpId="0" animBg="1"/>
      <p:bldP spid="14360" grpId="0" animBg="1"/>
      <p:bldP spid="14361" grpId="0" animBg="1"/>
      <p:bldP spid="14362" grpId="0" animBg="1"/>
      <p:bldP spid="14363" grpId="0" animBg="1"/>
      <p:bldP spid="14364" grpId="0"/>
      <p:bldP spid="14365" grpId="0"/>
      <p:bldP spid="14366" grpId="0"/>
      <p:bldP spid="14367" grpId="0"/>
      <p:bldP spid="14368" grpId="0"/>
      <p:bldP spid="143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577483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/>
              <a:t>自然语言算法：</a:t>
            </a:r>
            <a:endParaRPr lang="en-US" altLang="zh-CN" b="1" dirty="0" smtClean="0"/>
          </a:p>
          <a:p>
            <a:pPr>
              <a:spcBef>
                <a:spcPts val="1800"/>
              </a:spcBef>
              <a:buNone/>
            </a:pPr>
            <a:r>
              <a:rPr lang="en-US" altLang="zh-CN" b="1" dirty="0" smtClean="0"/>
              <a:t>1</a:t>
            </a:r>
            <a:r>
              <a:rPr lang="zh-CN" altLang="en-US" b="1" dirty="0" smtClean="0"/>
              <a:t>、初始化</a:t>
            </a:r>
            <a:r>
              <a:rPr lang="en-US" altLang="zh-CN" b="1" dirty="0" smtClean="0"/>
              <a:t>x=1;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b="1" dirty="0" smtClean="0"/>
              <a:t>2</a:t>
            </a:r>
            <a:r>
              <a:rPr lang="zh-CN" altLang="en-US" b="1" dirty="0" smtClean="0"/>
              <a:t>、从第六天循环到第一天，对于每一天进行计算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i-1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 = (x</a:t>
            </a:r>
            <a:r>
              <a:rPr lang="en-US" altLang="zh-CN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i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+ 1)*2</a:t>
            </a:r>
            <a:r>
              <a:rPr lang="en-US" altLang="zh-CN" b="1" dirty="0" smtClean="0">
                <a:latin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i=1,2,3,4,5,6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b="1" dirty="0" smtClean="0">
                <a:latin typeface="Times New Roman" pitchFamily="18" charset="0"/>
              </a:rPr>
              <a:t>3</a:t>
            </a:r>
            <a:r>
              <a:rPr lang="zh-CN" altLang="en-US" b="1" dirty="0" smtClean="0">
                <a:latin typeface="Times New Roman" pitchFamily="18" charset="0"/>
              </a:rPr>
              <a:t>、循环结束后，</a:t>
            </a:r>
            <a:r>
              <a:rPr lang="en-US" altLang="zh-CN" b="1" dirty="0" smtClean="0">
                <a:latin typeface="Times New Roman" pitchFamily="18" charset="0"/>
              </a:rPr>
              <a:t>x</a:t>
            </a:r>
            <a:r>
              <a:rPr lang="zh-CN" altLang="en-US" b="1" dirty="0" smtClean="0">
                <a:latin typeface="Times New Roman" pitchFamily="18" charset="0"/>
              </a:rPr>
              <a:t>的值即为第一天的桃子数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913" y="908050"/>
            <a:ext cx="8323262" cy="2592388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kumimoji="1" lang="en-US" altLang="zh-CN" b="1" smtClean="0">
                <a:latin typeface="楷体_GB2312" charset="-122"/>
                <a:ea typeface="楷体_GB2312" charset="-122"/>
              </a:rPr>
              <a:t>x = 1                  </a:t>
            </a:r>
            <a:endParaRPr kumimoji="1" lang="zh-CN" altLang="en-US" b="1" smtClean="0">
              <a:solidFill>
                <a:srgbClr val="008000"/>
              </a:solidFill>
              <a:latin typeface="楷体_GB2312" charset="-122"/>
              <a:ea typeface="楷体_GB2312" charset="-122"/>
            </a:endParaRPr>
          </a:p>
          <a:p>
            <a:pPr marL="0" indent="0">
              <a:buFont typeface="Arial" charset="0"/>
              <a:buNone/>
            </a:pPr>
            <a:r>
              <a:rPr kumimoji="1" lang="en-US" altLang="zh-CN" b="1" smtClean="0">
                <a:latin typeface="楷体_GB2312" charset="-122"/>
                <a:ea typeface="楷体_GB2312" charset="-122"/>
              </a:rPr>
              <a:t>For i = 6 To 1 Step -1 </a:t>
            </a:r>
            <a:r>
              <a:rPr kumimoji="1" lang="en-US" altLang="zh-CN" b="1" smtClean="0">
                <a:solidFill>
                  <a:srgbClr val="008000"/>
                </a:solidFill>
                <a:latin typeface="Arial" charset="0"/>
                <a:ea typeface="楷体_GB2312" charset="-122"/>
              </a:rPr>
              <a:t>‘</a:t>
            </a:r>
            <a:r>
              <a:rPr kumimoji="1" lang="en-US" altLang="zh-CN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 </a:t>
            </a:r>
            <a:r>
              <a:rPr kumimoji="1" lang="zh-CN" altLang="en-US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从后向前进行推导</a:t>
            </a:r>
          </a:p>
          <a:p>
            <a:pPr marL="0" indent="0">
              <a:buFont typeface="Arial" charset="0"/>
              <a:buNone/>
            </a:pPr>
            <a:r>
              <a:rPr kumimoji="1" lang="zh-CN" altLang="en-US" b="1" smtClean="0">
                <a:latin typeface="楷体_GB2312" charset="-122"/>
                <a:ea typeface="楷体_GB2312" charset="-122"/>
              </a:rPr>
              <a:t>  </a:t>
            </a:r>
            <a:r>
              <a:rPr kumimoji="1" lang="en-US" altLang="zh-CN" b="1" smtClean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x = (x + 1) * 2      </a:t>
            </a:r>
            <a:r>
              <a:rPr kumimoji="1" lang="en-US" altLang="zh-CN" b="1" smtClean="0">
                <a:solidFill>
                  <a:srgbClr val="008000"/>
                </a:solidFill>
                <a:latin typeface="Arial" charset="0"/>
                <a:ea typeface="楷体_GB2312" charset="-122"/>
              </a:rPr>
              <a:t>‘</a:t>
            </a:r>
            <a:r>
              <a:rPr kumimoji="1" lang="en-US" altLang="zh-CN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 </a:t>
            </a:r>
            <a:r>
              <a:rPr kumimoji="1" lang="zh-CN" altLang="en-US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循环要做的事</a:t>
            </a:r>
            <a:r>
              <a:rPr kumimoji="1" lang="zh-CN" altLang="en-US" b="1" smtClean="0">
                <a:solidFill>
                  <a:srgbClr val="FF0000"/>
                </a:solidFill>
                <a:latin typeface="楷体_GB2312" charset="-122"/>
                <a:ea typeface="楷体_GB2312" charset="-122"/>
              </a:rPr>
              <a:t>            </a:t>
            </a:r>
            <a:endParaRPr kumimoji="1" lang="zh-CN" altLang="en-US" b="1" smtClean="0">
              <a:latin typeface="楷体_GB2312" charset="-122"/>
              <a:ea typeface="楷体_GB2312" charset="-122"/>
            </a:endParaRPr>
          </a:p>
          <a:p>
            <a:pPr marL="0" indent="0">
              <a:buFont typeface="Arial" charset="0"/>
              <a:buNone/>
            </a:pPr>
            <a:r>
              <a:rPr kumimoji="1" lang="en-US" altLang="zh-CN" b="1" smtClean="0">
                <a:latin typeface="楷体_GB2312" charset="-122"/>
                <a:ea typeface="楷体_GB2312" charset="-122"/>
              </a:rPr>
              <a:t>Next I                 </a:t>
            </a:r>
            <a:r>
              <a:rPr kumimoji="1" lang="en-US" altLang="zh-CN" b="1" smtClean="0">
                <a:solidFill>
                  <a:srgbClr val="008000"/>
                </a:solidFill>
                <a:latin typeface="Arial" charset="0"/>
                <a:ea typeface="楷体_GB2312" charset="-122"/>
              </a:rPr>
              <a:t>‘</a:t>
            </a:r>
            <a:r>
              <a:rPr kumimoji="1" lang="en-US" altLang="zh-CN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 </a:t>
            </a:r>
            <a:r>
              <a:rPr kumimoji="1" lang="zh-CN" altLang="en-US" b="1" smtClean="0">
                <a:solidFill>
                  <a:srgbClr val="008000"/>
                </a:solidFill>
                <a:latin typeface="楷体_GB2312" charset="-122"/>
                <a:ea typeface="楷体_GB2312" charset="-122"/>
              </a:rPr>
              <a:t>循环变量增加一个步长</a:t>
            </a:r>
          </a:p>
          <a:p>
            <a:pPr marL="0" indent="0">
              <a:buFont typeface="Arial" charset="0"/>
              <a:buNone/>
            </a:pPr>
            <a:r>
              <a:rPr kumimoji="1" lang="en-US" altLang="zh-CN" b="1" smtClean="0"/>
              <a:t>Print x</a:t>
            </a:r>
            <a:endParaRPr kumimoji="1" lang="en-US" altLang="zh-CN" b="1" smtClean="0">
              <a:latin typeface="楷体_GB2312" charset="-122"/>
              <a:ea typeface="楷体_GB2312" charset="-122"/>
            </a:endParaRPr>
          </a:p>
          <a:p>
            <a:pPr marL="0" indent="0">
              <a:buFont typeface="Arial" charset="0"/>
              <a:buNone/>
            </a:pPr>
            <a:endParaRPr lang="en-US" altLang="zh-CN" b="1" smtClean="0">
              <a:latin typeface="楷体_GB2312" charset="-122"/>
              <a:ea typeface="楷体_GB2312" charset="-122"/>
            </a:endParaRPr>
          </a:p>
        </p:txBody>
      </p:sp>
      <p:grpSp>
        <p:nvGrpSpPr>
          <p:cNvPr id="41996" name="Group 12"/>
          <p:cNvGrpSpPr>
            <a:grpSpLocks/>
          </p:cNvGrpSpPr>
          <p:nvPr/>
        </p:nvGrpSpPr>
        <p:grpSpPr bwMode="auto">
          <a:xfrm>
            <a:off x="0" y="3760788"/>
            <a:ext cx="8653463" cy="3097212"/>
            <a:chOff x="0" y="2369"/>
            <a:chExt cx="5451" cy="1951"/>
          </a:xfrm>
        </p:grpSpPr>
        <p:pic>
          <p:nvPicPr>
            <p:cNvPr id="23558" name="Picture 5" descr="u=2230988150,460274770&amp;fm=23&amp;gp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7242" t="4286" r="8200" b="2809"/>
            <a:stretch>
              <a:fillRect/>
            </a:stretch>
          </p:blipFill>
          <p:spPr bwMode="auto">
            <a:xfrm>
              <a:off x="0" y="2369"/>
              <a:ext cx="1588" cy="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9" name="WordArt 9"/>
            <p:cNvSpPr>
              <a:spLocks noChangeArrowheads="1" noChangeShapeType="1" noTextEdit="1"/>
            </p:cNvSpPr>
            <p:nvPr/>
          </p:nvSpPr>
          <p:spPr bwMode="black">
            <a:xfrm rot="-411985">
              <a:off x="1707" y="2749"/>
              <a:ext cx="3744" cy="49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26227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FF"/>
                  </a:solidFill>
                  <a:latin typeface="宋体"/>
                  <a:ea typeface="宋体"/>
                </a:rPr>
                <a:t>终于知道我摘了多少桃子了！</a:t>
              </a:r>
            </a:p>
          </p:txBody>
        </p:sp>
      </p:grp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00025" y="188913"/>
            <a:ext cx="8494713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itchFamily="18" charset="0"/>
              </a:rPr>
              <a:t>    </a:t>
            </a:r>
            <a:r>
              <a:rPr lang="zh-CN" altLang="en-US">
                <a:latin typeface="Times New Roman" pitchFamily="18" charset="0"/>
              </a:rPr>
              <a:t>即：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= 0.5x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i-1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 - 1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，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i-1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 = (x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i + 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1)*2</a:t>
            </a:r>
            <a:r>
              <a:rPr lang="en-US" altLang="zh-CN">
                <a:latin typeface="Times New Roman" pitchFamily="18" charset="0"/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r>
              <a:rPr lang="en-US" altLang="zh-CN" b="1" dirty="0" smtClean="0"/>
              <a:t>Python</a:t>
            </a:r>
            <a:r>
              <a:rPr lang="zh-CN" altLang="en-US" b="1" dirty="0" smtClean="0"/>
              <a:t>程序代码实现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x=1</a:t>
            </a:r>
          </a:p>
          <a:p>
            <a:pPr>
              <a:buNone/>
            </a:pPr>
            <a:r>
              <a:rPr lang="en-US" altLang="zh-CN" b="1" dirty="0" smtClean="0"/>
              <a:t>for i in range(6,0,-1)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           x=(x+1)*2</a:t>
            </a:r>
          </a:p>
          <a:p>
            <a:pPr>
              <a:buNone/>
            </a:pPr>
            <a:r>
              <a:rPr lang="en-US" altLang="zh-CN" b="1" dirty="0" smtClean="0"/>
              <a:t>print(“</a:t>
            </a:r>
            <a:r>
              <a:rPr lang="zh-CN" altLang="en-US" b="1" dirty="0" smtClean="0"/>
              <a:t>共摘的桃子数：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x)</a:t>
            </a:r>
            <a:endParaRPr lang="zh-CN" altLang="en-US" b="1" dirty="0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2627784" y="3645024"/>
            <a:ext cx="4105275" cy="280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2"/>
          <p:cNvSpPr>
            <a:spLocks noChangeArrowheads="1"/>
          </p:cNvSpPr>
          <p:nvPr/>
        </p:nvSpPr>
        <p:spPr bwMode="auto">
          <a:xfrm>
            <a:off x="250825" y="188913"/>
            <a:ext cx="865822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itchFamily="18" charset="0"/>
              </a:rPr>
              <a:t>4. 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递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归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法</a:t>
            </a:r>
            <a:endParaRPr lang="en-US" altLang="zh-CN" sz="2800" dirty="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itchFamily="18" charset="0"/>
              </a:rPr>
              <a:t>        </a:t>
            </a:r>
            <a:r>
              <a:rPr lang="zh-CN" altLang="zh-CN" sz="2800" dirty="0">
                <a:latin typeface="Times New Roman" pitchFamily="18" charset="0"/>
              </a:rPr>
              <a:t>递归算法求解问题的基本思想是：对于一个较为复杂的问题，把原问题分解成若干个相对简单且类同的子问题，这样较为复杂的原问题就变成了相对简单的子问题；而简单到一定程度的子问题可以直接求解；这样，原问题就可递推得到解。</a:t>
            </a:r>
            <a:endParaRPr lang="en-US" altLang="zh-CN" sz="2800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24579" name="矩形 9"/>
          <p:cNvSpPr>
            <a:spLocks noChangeArrowheads="1"/>
          </p:cNvSpPr>
          <p:nvPr/>
        </p:nvSpPr>
        <p:spPr bwMode="auto">
          <a:xfrm>
            <a:off x="236538" y="2894013"/>
            <a:ext cx="8439150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【</a:t>
            </a:r>
            <a:r>
              <a:rPr lang="zh-CN" altLang="zh-CN" sz="2800" dirty="0" smtClean="0">
                <a:latin typeface="Times New Roman" pitchFamily="18" charset="0"/>
              </a:rPr>
              <a:t>案例</a:t>
            </a:r>
            <a:r>
              <a:rPr lang="en-US" altLang="zh-CN" sz="2800" dirty="0" smtClean="0">
                <a:latin typeface="Times New Roman" pitchFamily="18" charset="0"/>
              </a:rPr>
              <a:t>10</a:t>
            </a:r>
            <a:r>
              <a:rPr lang="zh-CN" altLang="zh-CN" sz="2800" dirty="0" smtClean="0">
                <a:latin typeface="Times New Roman" pitchFamily="18" charset="0"/>
              </a:rPr>
              <a:t>】</a:t>
            </a:r>
            <a:r>
              <a:rPr lang="zh-CN" altLang="zh-CN" sz="2800" dirty="0">
                <a:latin typeface="Times New Roman" pitchFamily="18" charset="0"/>
              </a:rPr>
              <a:t>使用递归法解决斐波那契数（</a:t>
            </a:r>
            <a:r>
              <a:rPr lang="en-US" altLang="zh-CN" sz="2800" dirty="0">
                <a:latin typeface="Times New Roman" pitchFamily="18" charset="0"/>
              </a:rPr>
              <a:t>Fibonacci</a:t>
            </a:r>
            <a:r>
              <a:rPr lang="zh-CN" altLang="zh-CN" sz="2800" dirty="0">
                <a:latin typeface="Times New Roman" pitchFamily="18" charset="0"/>
              </a:rPr>
              <a:t>）数列问题。无穷数列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2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3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5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8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13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21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34</a:t>
            </a:r>
            <a:r>
              <a:rPr lang="zh-CN" altLang="zh-CN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55</a:t>
            </a:r>
            <a:r>
              <a:rPr lang="zh-CN" altLang="zh-CN" sz="2800" dirty="0">
                <a:latin typeface="Times New Roman" pitchFamily="18" charset="0"/>
              </a:rPr>
              <a:t>，…，被称为</a:t>
            </a:r>
            <a:r>
              <a:rPr lang="en-US" altLang="zh-CN" sz="2800" dirty="0">
                <a:latin typeface="Times New Roman" pitchFamily="18" charset="0"/>
              </a:rPr>
              <a:t>Fibonacci</a:t>
            </a:r>
            <a:r>
              <a:rPr lang="zh-CN" altLang="zh-CN" sz="2800" dirty="0">
                <a:latin typeface="Times New Roman" pitchFamily="18" charset="0"/>
              </a:rPr>
              <a:t>数列。它可以递归地定义为：</a:t>
            </a:r>
          </a:p>
        </p:txBody>
      </p:sp>
      <p:graphicFrame>
        <p:nvGraphicFramePr>
          <p:cNvPr id="24580" name="对象 10"/>
          <p:cNvGraphicFramePr>
            <a:graphicFrameLocks noChangeAspect="1"/>
          </p:cNvGraphicFramePr>
          <p:nvPr/>
        </p:nvGraphicFramePr>
        <p:xfrm>
          <a:off x="1476375" y="4441825"/>
          <a:ext cx="5616575" cy="1868488"/>
        </p:xfrm>
        <a:graphic>
          <a:graphicData uri="http://schemas.openxmlformats.org/presentationml/2006/ole">
            <p:oleObj spid="_x0000_s24588" name="公式" r:id="rId4" imgW="2501900" imgH="736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502" y="5379"/>
            <a:ext cx="9121497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算法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：</a:t>
            </a:r>
            <a:endParaRPr kumimoji="0" lang="en-US" altLang="zh-CN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）输入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的值。</a:t>
            </a:r>
            <a:endParaRPr kumimoji="0" lang="zh-CN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）在递推阶段，把较复杂的问题（规模为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）的求解递推到比原问题简单一些的问题（规模小于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）的求解。</a:t>
            </a:r>
            <a:endParaRPr kumimoji="0" lang="zh-CN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本例中，求解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，把它递推到求解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F(n-2)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。也就是说，为计算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，必须先计算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F(n-2)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，而计算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F(n-2)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，又必须先计算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F(n-3)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F(n-4)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。依次类推，直至计算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F(0)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，分别能立即得到结果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。</a:t>
            </a:r>
            <a:endParaRPr kumimoji="0" lang="zh-CN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）在回归阶段，当满足递归结束条件后，逐级返回，依次得到稍复杂问题的解，本例中得到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F(0)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后，返回得到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F(2)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的结果，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Times New Roman" pitchFamily="18" charset="0"/>
              </a:rPr>
              <a:t>……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，在得到了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F(n-1)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和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F(n-2)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的结果后，返回得到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F(n)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的结果。</a:t>
            </a:r>
            <a:endParaRPr kumimoji="0" lang="zh-CN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）输出</a:t>
            </a:r>
            <a:r>
              <a:rPr kumimoji="0" lang="en-US" altLang="zh-CN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F(n) </a:t>
            </a:r>
            <a:r>
              <a:rPr kumimoji="0" lang="zh-CN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的值。</a:t>
            </a:r>
            <a:endParaRPr kumimoji="0" lang="zh-CN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503" y="537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12384860"/>
              </p:ext>
            </p:extLst>
          </p:nvPr>
        </p:nvGraphicFramePr>
        <p:xfrm>
          <a:off x="-16912" y="5013176"/>
          <a:ext cx="4876936" cy="1621583"/>
        </p:xfrm>
        <a:graphic>
          <a:graphicData uri="http://schemas.openxmlformats.org/presentationml/2006/ole">
            <p:oleObj spid="_x0000_s264194" r:id="rId3" imgW="2501900" imgH="736600" progId="Equation.3">
              <p:embed/>
            </p:oleObj>
          </a:graphicData>
        </a:graphic>
      </p:graphicFrame>
      <p:sp>
        <p:nvSpPr>
          <p:cNvPr id="5" name="矩形 4"/>
          <p:cNvSpPr/>
          <p:nvPr/>
        </p:nvSpPr>
        <p:spPr>
          <a:xfrm>
            <a:off x="4981545" y="4725144"/>
            <a:ext cx="41624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eaLnBrk="0" hangingPunct="0"/>
            <a:r>
              <a:rPr kumimoji="0"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注意：在使用递归策略时，在递推阶段，必须有一个明确的递归结束条件，称为递归出口。例如在函数</a:t>
            </a:r>
            <a:r>
              <a:rPr kumimoji="0" lang="en-US" altLang="zh-CN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F</a:t>
            </a:r>
            <a:r>
              <a:rPr kumimoji="0"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中，当</a:t>
            </a:r>
            <a:r>
              <a:rPr kumimoji="0" lang="en-US" altLang="zh-CN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n</a:t>
            </a:r>
            <a:r>
              <a:rPr kumimoji="0"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为</a:t>
            </a:r>
            <a:r>
              <a:rPr kumimoji="0" lang="en-US" altLang="zh-CN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1</a:t>
            </a:r>
            <a:r>
              <a:rPr kumimoji="0"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和</a:t>
            </a:r>
            <a:r>
              <a:rPr kumimoji="0" lang="en-US" altLang="zh-CN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0</a:t>
            </a:r>
            <a:r>
              <a:rPr kumimoji="0"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的情况。</a:t>
            </a:r>
            <a:endParaRPr kumimoji="0"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035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228600" y="2336800"/>
            <a:ext cx="8610600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rgbClr val="0000FF"/>
              </a:solidFill>
              <a:latin typeface="宋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  <a:latin typeface="宋体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30724" name="Text Box 13"/>
          <p:cNvSpPr txBox="1">
            <a:spLocks noChangeArrowheads="1"/>
          </p:cNvSpPr>
          <p:nvPr/>
        </p:nvSpPr>
        <p:spPr bwMode="auto">
          <a:xfrm>
            <a:off x="263525" y="260350"/>
            <a:ext cx="8686800" cy="569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itchFamily="18" charset="0"/>
              </a:rPr>
              <a:t>4.2.5 </a:t>
            </a:r>
            <a:r>
              <a:rPr lang="zh-CN" altLang="zh-CN" sz="2800" dirty="0">
                <a:solidFill>
                  <a:srgbClr val="0000FF"/>
                </a:solidFill>
                <a:latin typeface="Times New Roman" pitchFamily="18" charset="0"/>
              </a:rPr>
              <a:t>算法分析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对算法进行全面分析，可分两个阶段进行：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（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zh-CN" sz="2800" dirty="0">
                <a:latin typeface="Times New Roman" pitchFamily="18" charset="0"/>
              </a:rPr>
              <a:t>）事前分析</a:t>
            </a: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事前分析是指通过对算法本身的执行性能的理论分析，得出算法特性。一般使用数学方法严格地证明和计算它的正确性和性能指标；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~</a:t>
            </a:r>
            <a:r>
              <a:rPr lang="zh-CN" altLang="zh-CN" sz="2800" dirty="0" smtClean="0">
                <a:latin typeface="Times New Roman" pitchFamily="18" charset="0"/>
              </a:rPr>
              <a:t>算法</a:t>
            </a:r>
            <a:r>
              <a:rPr lang="zh-CN" altLang="zh-CN" sz="2800" dirty="0">
                <a:latin typeface="Times New Roman" pitchFamily="18" charset="0"/>
              </a:rPr>
              <a:t>复杂性 </a:t>
            </a:r>
            <a:r>
              <a:rPr lang="en-US" altLang="zh-CN" sz="2800" dirty="0">
                <a:latin typeface="Times New Roman" pitchFamily="18" charset="0"/>
              </a:rPr>
              <a:t>= </a:t>
            </a:r>
            <a:r>
              <a:rPr lang="zh-CN" altLang="zh-CN" sz="2800" dirty="0">
                <a:latin typeface="Times New Roman" pitchFamily="18" charset="0"/>
              </a:rPr>
              <a:t>算法所需要的计算机资源，</a:t>
            </a:r>
            <a:r>
              <a:rPr lang="zh-CN" altLang="zh-CN" sz="2800" dirty="0">
                <a:solidFill>
                  <a:srgbClr val="FF0000"/>
                </a:solidFill>
                <a:latin typeface="Times New Roman" pitchFamily="18" charset="0"/>
              </a:rPr>
              <a:t>一个算法的评价</a:t>
            </a:r>
            <a:r>
              <a:rPr lang="zh-CN" altLang="zh-CN" sz="2800" dirty="0">
                <a:latin typeface="Times New Roman" pitchFamily="18" charset="0"/>
              </a:rPr>
              <a:t>主要从</a:t>
            </a:r>
            <a:r>
              <a:rPr lang="en-US" altLang="zh-CN" sz="2800" dirty="0" err="1">
                <a:latin typeface="Times New Roman" pitchFamily="18" charset="0"/>
                <a:hlinkClick r:id="rId3"/>
              </a:rPr>
              <a:t>时间复杂度</a:t>
            </a:r>
            <a:r>
              <a:rPr lang="zh-CN" altLang="zh-CN" sz="2800" dirty="0">
                <a:latin typeface="Times New Roman" pitchFamily="18" charset="0"/>
              </a:rPr>
              <a:t>和</a:t>
            </a:r>
            <a:r>
              <a:rPr lang="en-US" altLang="zh-CN" sz="2800" dirty="0" err="1">
                <a:latin typeface="Times New Roman" pitchFamily="18" charset="0"/>
                <a:hlinkClick r:id="rId4"/>
              </a:rPr>
              <a:t>空间复杂度</a:t>
            </a:r>
            <a:r>
              <a:rPr lang="zh-CN" altLang="zh-CN" sz="2800" dirty="0">
                <a:latin typeface="Times New Roman" pitchFamily="18" charset="0"/>
              </a:rPr>
              <a:t>来考虑。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~</a:t>
            </a:r>
            <a:r>
              <a:rPr lang="zh-CN" altLang="zh-CN" sz="2800" dirty="0" smtClean="0">
                <a:latin typeface="Times New Roman" pitchFamily="18" charset="0"/>
              </a:rPr>
              <a:t>数量</a:t>
            </a:r>
            <a:r>
              <a:rPr lang="zh-CN" altLang="zh-CN" sz="2800" dirty="0">
                <a:latin typeface="Times New Roman" pitchFamily="18" charset="0"/>
              </a:rPr>
              <a:t>关系评价体现在时间</a:t>
            </a:r>
            <a:r>
              <a:rPr lang="en-US" altLang="zh-CN" sz="2800" dirty="0">
                <a:latin typeface="Times New Roman" pitchFamily="18" charset="0"/>
              </a:rPr>
              <a:t>——</a:t>
            </a:r>
            <a:r>
              <a:rPr lang="zh-CN" altLang="zh-CN" sz="2800" dirty="0">
                <a:latin typeface="Times New Roman" pitchFamily="18" charset="0"/>
              </a:rPr>
              <a:t>算法编程后在机器中所耗费的时间。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~</a:t>
            </a:r>
            <a:r>
              <a:rPr lang="zh-CN" altLang="zh-CN" sz="2800" dirty="0" smtClean="0">
                <a:latin typeface="Times New Roman" pitchFamily="18" charset="0"/>
              </a:rPr>
              <a:t>数量</a:t>
            </a:r>
            <a:r>
              <a:rPr lang="zh-CN" altLang="zh-CN" sz="2800" dirty="0">
                <a:latin typeface="Times New Roman" pitchFamily="18" charset="0"/>
              </a:rPr>
              <a:t>关系评价体现在空间</a:t>
            </a:r>
            <a:r>
              <a:rPr lang="en-US" altLang="zh-CN" sz="2800" dirty="0">
                <a:latin typeface="Times New Roman" pitchFamily="18" charset="0"/>
              </a:rPr>
              <a:t>——</a:t>
            </a:r>
            <a:r>
              <a:rPr lang="zh-CN" altLang="zh-CN" sz="2800" dirty="0">
                <a:latin typeface="Times New Roman" pitchFamily="18" charset="0"/>
              </a:rPr>
              <a:t>算法编程后在机器中所占的存储量。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（</a:t>
            </a:r>
            <a:r>
              <a:rPr lang="en-US" altLang="zh-CN" sz="2800" dirty="0">
                <a:latin typeface="Times New Roman" pitchFamily="18" charset="0"/>
              </a:rPr>
              <a:t>2</a:t>
            </a:r>
            <a:r>
              <a:rPr lang="zh-CN" altLang="zh-CN" sz="2800" dirty="0">
                <a:latin typeface="Times New Roman" pitchFamily="18" charset="0"/>
              </a:rPr>
              <a:t>）事后测试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0" y="1012825"/>
            <a:ext cx="9144000" cy="184150"/>
            <a:chOff x="0" y="758"/>
            <a:chExt cx="5760" cy="116"/>
          </a:xfrm>
        </p:grpSpPr>
        <p:pic>
          <p:nvPicPr>
            <p:cNvPr id="31752" name="Picture 3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3312" y="75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3" name="Picture 4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12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4" name="Picture 5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0" y="768"/>
              <a:ext cx="2256" cy="106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5" name="Picture 6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6" y="770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6" name="Picture 7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7" name="Picture 8" descr="line0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" y="768"/>
              <a:ext cx="2154" cy="10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47" name="Rectangle 9"/>
          <p:cNvSpPr>
            <a:spLocks noChangeArrowheads="1"/>
          </p:cNvSpPr>
          <p:nvPr/>
        </p:nvSpPr>
        <p:spPr bwMode="auto">
          <a:xfrm>
            <a:off x="381000" y="149225"/>
            <a:ext cx="7772400" cy="914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66"/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n-US" altLang="zh-CN" sz="4000" dirty="0" smtClean="0"/>
              <a:t>4.3 </a:t>
            </a:r>
            <a:r>
              <a:rPr lang="zh-CN" altLang="zh-CN" sz="4000" dirty="0"/>
              <a:t>算法的实现——程序设计语言</a:t>
            </a:r>
            <a:endParaRPr lang="zh-CN" altLang="en-US" sz="4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748" name="矩形 1"/>
          <p:cNvSpPr>
            <a:spLocks noChangeArrowheads="1"/>
          </p:cNvSpPr>
          <p:nvPr/>
        </p:nvSpPr>
        <p:spPr bwMode="auto">
          <a:xfrm>
            <a:off x="1377950" y="1897063"/>
            <a:ext cx="437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sz="2800" dirty="0" smtClean="0"/>
              <a:t>4.3.1 </a:t>
            </a:r>
            <a:r>
              <a:rPr lang="zh-CN" altLang="zh-CN" sz="2800" dirty="0"/>
              <a:t>程序设计语言的分类</a:t>
            </a:r>
          </a:p>
        </p:txBody>
      </p:sp>
      <p:sp>
        <p:nvSpPr>
          <p:cNvPr id="31749" name="矩形 2"/>
          <p:cNvSpPr>
            <a:spLocks noChangeArrowheads="1"/>
          </p:cNvSpPr>
          <p:nvPr/>
        </p:nvSpPr>
        <p:spPr bwMode="auto">
          <a:xfrm>
            <a:off x="1404938" y="2689225"/>
            <a:ext cx="3157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4.3.2 </a:t>
            </a:r>
            <a:r>
              <a:rPr lang="zh-CN" altLang="zh-CN" sz="2800" dirty="0">
                <a:latin typeface="Times New Roman" pitchFamily="18" charset="0"/>
              </a:rPr>
              <a:t>语言处理程序</a:t>
            </a:r>
          </a:p>
        </p:txBody>
      </p:sp>
      <p:sp>
        <p:nvSpPr>
          <p:cNvPr id="31751" name="矩形 4"/>
          <p:cNvSpPr>
            <a:spLocks noChangeArrowheads="1"/>
          </p:cNvSpPr>
          <p:nvPr/>
        </p:nvSpPr>
        <p:spPr bwMode="auto">
          <a:xfrm>
            <a:off x="1480344" y="3501008"/>
            <a:ext cx="3516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4.3.3 </a:t>
            </a:r>
            <a:r>
              <a:rPr lang="zh-CN" altLang="zh-CN" sz="2800" dirty="0">
                <a:latin typeface="Times New Roman" pitchFamily="18" charset="0"/>
              </a:rPr>
              <a:t>常用的高级语言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900113" y="2133600"/>
            <a:ext cx="3214687" cy="3429000"/>
            <a:chOff x="960" y="1344"/>
            <a:chExt cx="1632" cy="2160"/>
          </a:xfrm>
        </p:grpSpPr>
        <p:sp>
          <p:nvSpPr>
            <p:cNvPr id="32783" name="Rectangle 3"/>
            <p:cNvSpPr>
              <a:spLocks noChangeArrowheads="1"/>
            </p:cNvSpPr>
            <p:nvPr/>
          </p:nvSpPr>
          <p:spPr bwMode="auto">
            <a:xfrm>
              <a:off x="960" y="2064"/>
              <a:ext cx="1632" cy="720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宋体" pitchFamily="2" charset="-122"/>
                </a:rPr>
                <a:t>汇编语言</a:t>
              </a:r>
            </a:p>
          </p:txBody>
        </p:sp>
        <p:sp>
          <p:nvSpPr>
            <p:cNvPr id="235524" name="Rectangle 4"/>
            <p:cNvSpPr>
              <a:spLocks noChangeArrowheads="1"/>
            </p:cNvSpPr>
            <p:nvPr/>
          </p:nvSpPr>
          <p:spPr bwMode="auto">
            <a:xfrm>
              <a:off x="960" y="1344"/>
              <a:ext cx="1632" cy="720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>
                  <a:latin typeface="宋体" pitchFamily="2" charset="-122"/>
                </a:rPr>
                <a:t>机器语言</a:t>
              </a:r>
              <a:endParaRPr lang="zh-CN" altLang="en-US">
                <a:solidFill>
                  <a:srgbClr val="00CCFF"/>
                </a:solidFill>
                <a:effectDag name="">
                  <a:cont type="tree" name="">
                    <a:effect ref="fillLine"/>
                    <a:outerShdw dist="38100" dir="13500000" algn="br">
                      <a:srgbClr val="55DDFF"/>
                    </a:outerShdw>
                  </a:cont>
                  <a:cont type="tree" name="">
                    <a:effect ref="fillLine"/>
                    <a:outerShdw dist="38100" dir="2700000" algn="tl">
                      <a:srgbClr val="007A99"/>
                    </a:outerShdw>
                  </a:cont>
                  <a:effect ref="fillLine"/>
                </a:effectDag>
                <a:latin typeface="宋体" pitchFamily="2" charset="-122"/>
              </a:endParaRPr>
            </a:p>
          </p:txBody>
        </p:sp>
        <p:sp>
          <p:nvSpPr>
            <p:cNvPr id="32785" name="Rectangle 5"/>
            <p:cNvSpPr>
              <a:spLocks noChangeArrowheads="1"/>
            </p:cNvSpPr>
            <p:nvPr/>
          </p:nvSpPr>
          <p:spPr bwMode="auto">
            <a:xfrm>
              <a:off x="960" y="2784"/>
              <a:ext cx="1632" cy="72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宋体" pitchFamily="2" charset="-122"/>
                </a:rPr>
                <a:t>高级语言</a:t>
              </a:r>
              <a:endParaRPr lang="zh-CN" altLang="en-US" sz="2400">
                <a:latin typeface="宋体" pitchFamily="2" charset="-122"/>
              </a:endParaRPr>
            </a:p>
          </p:txBody>
        </p:sp>
      </p:grpSp>
      <p:sp>
        <p:nvSpPr>
          <p:cNvPr id="235526" name="AutoShape 6"/>
          <p:cNvSpPr>
            <a:spLocks noChangeArrowheads="1"/>
          </p:cNvSpPr>
          <p:nvPr/>
        </p:nvSpPr>
        <p:spPr bwMode="auto">
          <a:xfrm>
            <a:off x="4038600" y="2438400"/>
            <a:ext cx="4495800" cy="4114800"/>
          </a:xfrm>
          <a:prstGeom prst="wedgeRoundRectCallout">
            <a:avLst>
              <a:gd name="adj1" fmla="val -57417"/>
              <a:gd name="adj2" fmla="val -20102"/>
              <a:gd name="adj3" fmla="val 16667"/>
            </a:avLst>
          </a:prstGeom>
          <a:solidFill>
            <a:srgbClr val="EDE93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用助记符代替操作码。用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地址符号代替操作数。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(1)</a:t>
            </a:r>
            <a:r>
              <a:rPr lang="zh-CN" altLang="en-US" sz="2400">
                <a:latin typeface="宋体" pitchFamily="2" charset="-122"/>
              </a:rPr>
              <a:t>面向机器，速度快，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itchFamily="2" charset="-122"/>
              </a:rPr>
              <a:t>占用存储空间小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必须通过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汇编程序翻译成机器语言。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(2)</a:t>
            </a: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通用性和可移植性差。</a:t>
            </a:r>
          </a:p>
        </p:txBody>
      </p:sp>
      <p:sp>
        <p:nvSpPr>
          <p:cNvPr id="235527" name="AutoShape 7"/>
          <p:cNvSpPr>
            <a:spLocks noChangeArrowheads="1"/>
          </p:cNvSpPr>
          <p:nvPr/>
        </p:nvSpPr>
        <p:spPr bwMode="auto">
          <a:xfrm>
            <a:off x="3032125" y="3200400"/>
            <a:ext cx="5578475" cy="2971800"/>
          </a:xfrm>
          <a:prstGeom prst="wedgeRoundRectCallout">
            <a:avLst>
              <a:gd name="adj1" fmla="val -56481"/>
              <a:gd name="adj2" fmla="val 20292"/>
              <a:gd name="adj3" fmla="val 16667"/>
            </a:avLst>
          </a:prstGeom>
          <a:solidFill>
            <a:srgbClr val="EDE93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由各种意义的“词”和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“数学公式”按照一定的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“语法规则”组成。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(1)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面向问题，而不是面向机器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(2)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很强的通用性和可移植性</a:t>
            </a:r>
            <a:endParaRPr lang="zh-CN" altLang="en-US" sz="2400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235529" name="AutoShape 9"/>
          <p:cNvSpPr>
            <a:spLocks noChangeArrowheads="1"/>
          </p:cNvSpPr>
          <p:nvPr/>
        </p:nvSpPr>
        <p:spPr bwMode="auto">
          <a:xfrm>
            <a:off x="3829050" y="0"/>
            <a:ext cx="5351463" cy="2667000"/>
          </a:xfrm>
          <a:prstGeom prst="wedgeRoundRectCallout">
            <a:avLst>
              <a:gd name="adj1" fmla="val -57148"/>
              <a:gd name="adj2" fmla="val 40236"/>
              <a:gd name="adj3" fmla="val 16667"/>
            </a:avLst>
          </a:prstGeom>
          <a:solidFill>
            <a:srgbClr val="EDE93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itchFamily="2" charset="-122"/>
              </a:rPr>
              <a:t>每一条语句是一条二进制数形式的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itchFamily="2" charset="-122"/>
              </a:rPr>
              <a:t>指令代码，由操作码和操作数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itchFamily="2" charset="-122"/>
              </a:rPr>
              <a:t>组成。</a:t>
            </a: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(1)</a:t>
            </a: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面向机器，不需翻译，速度快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(2)</a:t>
            </a: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通用性和可移植性差</a:t>
            </a:r>
          </a:p>
        </p:txBody>
      </p:sp>
      <p:sp>
        <p:nvSpPr>
          <p:cNvPr id="32774" name="Rectangle 14"/>
          <p:cNvSpPr>
            <a:spLocks noChangeArrowheads="1"/>
          </p:cNvSpPr>
          <p:nvPr/>
        </p:nvSpPr>
        <p:spPr bwMode="auto">
          <a:xfrm>
            <a:off x="1847850" y="5734050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甚高级语言</a:t>
            </a:r>
          </a:p>
        </p:txBody>
      </p:sp>
      <p:sp>
        <p:nvSpPr>
          <p:cNvPr id="32775" name="Rectangle 15"/>
          <p:cNvSpPr>
            <a:spLocks noChangeArrowheads="1"/>
          </p:cNvSpPr>
          <p:nvPr/>
        </p:nvSpPr>
        <p:spPr bwMode="auto">
          <a:xfrm>
            <a:off x="1531938" y="5581650"/>
            <a:ext cx="2535237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600">
              <a:latin typeface="Arial" charset="0"/>
            </a:endParaRPr>
          </a:p>
        </p:txBody>
      </p:sp>
      <p:sp>
        <p:nvSpPr>
          <p:cNvPr id="32777" name="矩形 1"/>
          <p:cNvSpPr>
            <a:spLocks noChangeArrowheads="1"/>
          </p:cNvSpPr>
          <p:nvPr/>
        </p:nvSpPr>
        <p:spPr bwMode="auto">
          <a:xfrm>
            <a:off x="179388" y="333375"/>
            <a:ext cx="364966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Font typeface="Arial" charset="0"/>
              <a:buNone/>
            </a:pPr>
            <a:r>
              <a:rPr lang="en-US" altLang="zh-CN" dirty="0" smtClean="0"/>
              <a:t>4.3.1 </a:t>
            </a:r>
            <a:r>
              <a:rPr lang="zh-CN" altLang="zh-CN" dirty="0"/>
              <a:t>程序设计语言的分类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6" grpId="0" animBg="1" autoUpdateAnimBg="0"/>
      <p:bldP spid="235527" grpId="0" animBg="1" autoUpdateAnimBg="0"/>
      <p:bldP spid="235529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654" name="Group 6"/>
          <p:cNvGrpSpPr>
            <a:grpSpLocks/>
          </p:cNvGrpSpPr>
          <p:nvPr/>
        </p:nvGrpSpPr>
        <p:grpSpPr bwMode="auto">
          <a:xfrm>
            <a:off x="251460" y="981075"/>
            <a:ext cx="8892540" cy="4464050"/>
            <a:chOff x="756" y="1392"/>
            <a:chExt cx="4668" cy="1920"/>
          </a:xfrm>
        </p:grpSpPr>
        <p:sp>
          <p:nvSpPr>
            <p:cNvPr id="33796" name="Oval 7" descr="花束"/>
            <p:cNvSpPr>
              <a:spLocks noChangeArrowheads="1"/>
            </p:cNvSpPr>
            <p:nvPr/>
          </p:nvSpPr>
          <p:spPr bwMode="auto">
            <a:xfrm>
              <a:off x="756" y="2135"/>
              <a:ext cx="1200" cy="816"/>
            </a:xfrm>
            <a:prstGeom prst="ellipse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CCFF"/>
              </a:extrusionClr>
            </a:sp3d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汇编程序和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编译程序</a:t>
              </a:r>
            </a:p>
          </p:txBody>
        </p:sp>
        <p:sp>
          <p:nvSpPr>
            <p:cNvPr id="33797" name="AutoShape 8"/>
            <p:cNvSpPr>
              <a:spLocks noChangeArrowheads="1"/>
            </p:cNvSpPr>
            <p:nvPr/>
          </p:nvSpPr>
          <p:spPr bwMode="auto">
            <a:xfrm>
              <a:off x="2016" y="1392"/>
              <a:ext cx="3408" cy="1920"/>
            </a:xfrm>
            <a:prstGeom prst="wedgeEllipseCallout">
              <a:avLst>
                <a:gd name="adj1" fmla="val -58185"/>
                <a:gd name="adj2" fmla="val 10366"/>
              </a:avLst>
            </a:prstGeom>
            <a:solidFill>
              <a:srgbClr val="EDE93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 smtClean="0">
                  <a:solidFill>
                    <a:srgbClr val="000000"/>
                  </a:solidFill>
                  <a:latin typeface="宋体" pitchFamily="2" charset="-122"/>
                </a:rPr>
                <a:t>  将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汇编语言源程序翻译成目标程序时，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其翻译程序称为“</a:t>
              </a: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汇编程序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”，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将高级语言源程序翻译成目标程序时，</a:t>
              </a: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其翻译程序称为“</a:t>
              </a:r>
              <a:r>
                <a:rPr lang="zh-CN" altLang="en-US" sz="2800" dirty="0">
                  <a:solidFill>
                    <a:srgbClr val="FF0000"/>
                  </a:solidFill>
                  <a:latin typeface="宋体" pitchFamily="2" charset="-122"/>
                </a:rPr>
                <a:t>编译程序</a:t>
              </a: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</a:rPr>
                <a:t>”</a:t>
              </a:r>
            </a:p>
          </p:txBody>
        </p:sp>
      </p:grpSp>
      <p:sp>
        <p:nvSpPr>
          <p:cNvPr id="33795" name="矩形 5"/>
          <p:cNvSpPr>
            <a:spLocks noChangeArrowheads="1"/>
          </p:cNvSpPr>
          <p:nvPr/>
        </p:nvSpPr>
        <p:spPr bwMode="auto">
          <a:xfrm>
            <a:off x="357188" y="719138"/>
            <a:ext cx="35798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 smtClean="0">
                <a:latin typeface="Times New Roman" pitchFamily="18" charset="0"/>
              </a:rPr>
              <a:t>4.3.2 </a:t>
            </a:r>
            <a:r>
              <a:rPr lang="zh-CN" altLang="zh-CN" dirty="0">
                <a:latin typeface="Times New Roman" pitchFamily="18" charset="0"/>
              </a:rPr>
              <a:t>语言处理程序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"/>
          <p:cNvSpPr>
            <a:spLocks noChangeArrowheads="1"/>
          </p:cNvSpPr>
          <p:nvPr/>
        </p:nvSpPr>
        <p:spPr bwMode="auto">
          <a:xfrm>
            <a:off x="395288" y="981075"/>
            <a:ext cx="853281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Times New Roman" pitchFamily="18" charset="0"/>
              </a:rPr>
              <a:t>4.3.3 </a:t>
            </a:r>
            <a:r>
              <a:rPr lang="zh-CN" altLang="zh-CN" sz="2800" dirty="0">
                <a:latin typeface="Times New Roman" pitchFamily="18" charset="0"/>
              </a:rPr>
              <a:t>常用的高级语言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2800" dirty="0">
                <a:latin typeface="Times New Roman" pitchFamily="18" charset="0"/>
              </a:rPr>
              <a:t>常用的高级语言包括</a:t>
            </a:r>
            <a:r>
              <a:rPr lang="en-US" altLang="zh-CN" sz="2800" dirty="0">
                <a:latin typeface="Times New Roman" pitchFamily="18" charset="0"/>
              </a:rPr>
              <a:t>VB</a:t>
            </a:r>
            <a:r>
              <a:rPr lang="zh-CN" altLang="zh-CN" sz="2800" dirty="0">
                <a:latin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</a:rPr>
              <a:t>C</a:t>
            </a:r>
            <a:r>
              <a:rPr lang="zh-CN" altLang="zh-CN" sz="2800" dirty="0">
                <a:latin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</a:rPr>
              <a:t>Python</a:t>
            </a:r>
            <a:r>
              <a:rPr lang="zh-CN" altLang="zh-CN" sz="2800" dirty="0">
                <a:latin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</a:rPr>
              <a:t>Java</a:t>
            </a:r>
            <a:r>
              <a:rPr lang="zh-CN" altLang="zh-CN" sz="2800" dirty="0">
                <a:latin typeface="Times New Roman" pitchFamily="18" charset="0"/>
              </a:rPr>
              <a:t>等</a:t>
            </a:r>
            <a:r>
              <a:rPr lang="zh-CN" altLang="en-US" sz="2800" dirty="0">
                <a:latin typeface="Times New Roman" pitchFamily="18" charset="0"/>
              </a:rPr>
              <a:t>。</a:t>
            </a: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itchFamily="18" charset="0"/>
              </a:rPr>
              <a:t>请</a:t>
            </a:r>
            <a:r>
              <a:rPr lang="zh-CN" altLang="en-US" sz="2800" dirty="0" smtClean="0">
                <a:latin typeface="Times New Roman" pitchFamily="18" charset="0"/>
              </a:rPr>
              <a:t>同学们阅读了解</a:t>
            </a:r>
            <a:r>
              <a:rPr lang="zh-CN" altLang="en-US" sz="2800" dirty="0">
                <a:latin typeface="Times New Roman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0" y="765451"/>
            <a:ext cx="9144000" cy="5904656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2</a:t>
            </a:r>
            <a:r>
              <a:rPr lang="zh-CN" altLang="zh-CN" sz="2800" dirty="0"/>
              <a:t>）什么是算法？ 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3</a:t>
            </a:r>
            <a:r>
              <a:rPr lang="zh-CN" altLang="zh-CN" sz="2800" dirty="0"/>
              <a:t>）算法应具备哪些特征？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4</a:t>
            </a:r>
            <a:r>
              <a:rPr lang="zh-CN" altLang="zh-CN" sz="2800" dirty="0"/>
              <a:t>）常用的算法设计策略有哪些？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5</a:t>
            </a:r>
            <a:r>
              <a:rPr lang="zh-CN" altLang="zh-CN" sz="2800" dirty="0"/>
              <a:t>）算法的描述方式有哪些？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8</a:t>
            </a:r>
            <a:r>
              <a:rPr lang="zh-CN" altLang="zh-CN" sz="2800" dirty="0"/>
              <a:t>）设计一个算法，求</a:t>
            </a:r>
            <a:r>
              <a:rPr lang="en-US" altLang="zh-CN" sz="2800" dirty="0"/>
              <a:t>1+2+4+…+2</a:t>
            </a:r>
            <a:r>
              <a:rPr lang="en-US" altLang="zh-CN" sz="2800" baseline="30000" dirty="0"/>
              <a:t>n</a:t>
            </a:r>
            <a:r>
              <a:rPr lang="zh-CN" altLang="zh-CN" sz="2800" dirty="0"/>
              <a:t>的</a:t>
            </a:r>
            <a:r>
              <a:rPr lang="zh-CN" altLang="zh-CN" sz="2800" dirty="0" smtClean="0"/>
              <a:t>值。</a:t>
            </a:r>
            <a:endParaRPr lang="zh-CN" altLang="zh-CN" sz="2800" dirty="0"/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9</a:t>
            </a:r>
            <a:r>
              <a:rPr lang="zh-CN" altLang="zh-CN" sz="2800" dirty="0"/>
              <a:t>）某单位发放临时工工资，工人每月工作不超过</a:t>
            </a:r>
            <a:r>
              <a:rPr lang="en-US" altLang="zh-CN" sz="2800" dirty="0"/>
              <a:t>20</a:t>
            </a:r>
            <a:r>
              <a:rPr lang="zh-CN" altLang="zh-CN" sz="2800" dirty="0" smtClean="0"/>
              <a:t>天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时</a:t>
            </a:r>
            <a:r>
              <a:rPr lang="zh-CN" altLang="zh-CN" sz="2800" dirty="0"/>
              <a:t>一律发放</a:t>
            </a:r>
            <a:r>
              <a:rPr lang="en-US" altLang="zh-CN" sz="2800" dirty="0"/>
              <a:t>2000</a:t>
            </a:r>
            <a:r>
              <a:rPr lang="zh-CN" altLang="zh-CN" sz="2800" dirty="0"/>
              <a:t>元。超过</a:t>
            </a:r>
            <a:r>
              <a:rPr lang="en-US" altLang="zh-CN" sz="2800" dirty="0"/>
              <a:t>20</a:t>
            </a:r>
            <a:r>
              <a:rPr lang="zh-CN" altLang="zh-CN" sz="2800" dirty="0"/>
              <a:t>天时分段处理</a:t>
            </a:r>
            <a:r>
              <a:rPr lang="zh-CN" altLang="zh-CN" sz="2800" dirty="0" smtClean="0"/>
              <a:t>：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25</a:t>
            </a:r>
            <a:r>
              <a:rPr lang="zh-CN" altLang="zh-CN" sz="2800" dirty="0"/>
              <a:t>天以内，超过天数每天</a:t>
            </a:r>
            <a:r>
              <a:rPr lang="en-US" altLang="zh-CN" sz="2800" dirty="0"/>
              <a:t>100</a:t>
            </a:r>
            <a:r>
              <a:rPr lang="zh-CN" altLang="zh-CN" sz="2800" dirty="0"/>
              <a:t>元，</a:t>
            </a:r>
            <a:r>
              <a:rPr lang="en-US" altLang="zh-CN" sz="2800" dirty="0"/>
              <a:t>25</a:t>
            </a:r>
            <a:r>
              <a:rPr lang="zh-CN" altLang="zh-CN" sz="2800" dirty="0"/>
              <a:t>天以上每天</a:t>
            </a:r>
            <a:r>
              <a:rPr lang="en-US" altLang="zh-CN" sz="2800" dirty="0"/>
              <a:t>150</a:t>
            </a:r>
            <a:r>
              <a:rPr lang="zh-CN" altLang="zh-CN" sz="2800" dirty="0"/>
              <a:t>元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设</a:t>
            </a:r>
            <a:r>
              <a:rPr lang="zh-CN" altLang="zh-CN" sz="2800" dirty="0"/>
              <a:t>计一个算法，根据输入的天数，计算应发的工</a:t>
            </a:r>
            <a:r>
              <a:rPr lang="zh-CN" altLang="zh-CN" sz="2800" dirty="0" smtClean="0"/>
              <a:t>资。</a:t>
            </a:r>
            <a:endParaRPr lang="zh-CN" altLang="zh-CN" sz="2800" dirty="0"/>
          </a:p>
        </p:txBody>
      </p:sp>
      <p:sp>
        <p:nvSpPr>
          <p:cNvPr id="245762" name="Rectangle 2"/>
          <p:cNvSpPr>
            <a:spLocks noChangeArrowheads="1"/>
          </p:cNvSpPr>
          <p:nvPr/>
        </p:nvSpPr>
        <p:spPr bwMode="auto">
          <a:xfrm>
            <a:off x="2771800" y="204850"/>
            <a:ext cx="3960440" cy="608484"/>
          </a:xfrm>
          <a:prstGeom prst="rect">
            <a:avLst/>
          </a:prstGeom>
          <a:gradFill rotWithShape="0">
            <a:gsLst>
              <a:gs pos="0">
                <a:srgbClr val="FFCCFF">
                  <a:gamma/>
                  <a:shade val="46275"/>
                  <a:invGamma/>
                </a:srgbClr>
              </a:gs>
              <a:gs pos="50000">
                <a:srgbClr val="FFCCFF"/>
              </a:gs>
              <a:gs pos="100000">
                <a:srgbClr val="FFCC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784225">
              <a:defRPr/>
            </a:pPr>
            <a:r>
              <a:rPr lang="zh-CN" altLang="en-US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作业（复习题）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0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0" y="620688"/>
            <a:ext cx="9144000" cy="5904656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zh-CN" altLang="zh-CN" sz="2800" dirty="0" smtClean="0"/>
              <a:t>（</a:t>
            </a:r>
            <a:r>
              <a:rPr lang="en-US" altLang="zh-CN" sz="2800" dirty="0"/>
              <a:t>10</a:t>
            </a:r>
            <a:r>
              <a:rPr lang="zh-CN" altLang="zh-CN" sz="2800" dirty="0" smtClean="0"/>
              <a:t>）</a:t>
            </a:r>
            <a:r>
              <a:rPr lang="zh-CN" altLang="en-US" sz="2800" dirty="0" smtClean="0"/>
              <a:t>设计算法</a:t>
            </a:r>
            <a:r>
              <a:rPr lang="zh-CN" altLang="zh-CN" sz="2800" dirty="0" smtClean="0"/>
              <a:t>找</a:t>
            </a:r>
            <a:r>
              <a:rPr lang="zh-CN" altLang="zh-CN" sz="2800" dirty="0"/>
              <a:t>出由</a:t>
            </a:r>
            <a:r>
              <a:rPr lang="en-US" altLang="zh-CN" sz="2800" dirty="0"/>
              <a:t>n</a:t>
            </a:r>
            <a:r>
              <a:rPr lang="zh-CN" altLang="zh-CN" sz="2800" dirty="0"/>
              <a:t>个数组成的数列</a:t>
            </a:r>
            <a:r>
              <a:rPr lang="en-US" altLang="zh-CN" sz="2800" dirty="0"/>
              <a:t>x</a:t>
            </a:r>
            <a:r>
              <a:rPr lang="zh-CN" altLang="zh-CN" sz="2800" dirty="0"/>
              <a:t>中最大的数</a:t>
            </a:r>
            <a:r>
              <a:rPr lang="en-US" altLang="zh-CN" sz="2800" dirty="0"/>
              <a:t>Max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如</a:t>
            </a:r>
            <a:r>
              <a:rPr lang="zh-CN" altLang="zh-CN" sz="2800" dirty="0"/>
              <a:t>果将数列中的每一个数字大小看成是一颗豆子的大小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我</a:t>
            </a:r>
            <a:r>
              <a:rPr lang="zh-CN" altLang="zh-CN" sz="2800" dirty="0"/>
              <a:t>们可以利用一个</a:t>
            </a:r>
            <a:r>
              <a:rPr lang="en-US" altLang="zh-CN" sz="2800" dirty="0"/>
              <a:t>“</a:t>
            </a:r>
            <a:r>
              <a:rPr lang="zh-CN" altLang="zh-CN" sz="2800" dirty="0"/>
              <a:t>捡豆子</a:t>
            </a:r>
            <a:r>
              <a:rPr lang="en-US" altLang="zh-CN" sz="2800" dirty="0"/>
              <a:t>”</a:t>
            </a:r>
            <a:r>
              <a:rPr lang="zh-CN" altLang="zh-CN" sz="2800" dirty="0"/>
              <a:t>的生活算法来找到最大数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步</a:t>
            </a:r>
            <a:r>
              <a:rPr lang="zh-CN" altLang="zh-CN" sz="2800" dirty="0"/>
              <a:t>骤如下：首先将第一颗豆子放入口袋中</a:t>
            </a:r>
            <a:r>
              <a:rPr lang="zh-CN" altLang="zh-CN" sz="2800" dirty="0" smtClean="0"/>
              <a:t>；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从</a:t>
            </a:r>
            <a:r>
              <a:rPr lang="zh-CN" altLang="zh-CN" sz="2800" dirty="0"/>
              <a:t>第二颗豆子开始比较，如果正在比较的豆子比口袋中</a:t>
            </a:r>
            <a:r>
              <a:rPr lang="zh-CN" altLang="zh-CN" sz="2800" dirty="0" smtClean="0"/>
              <a:t>的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还</a:t>
            </a:r>
            <a:r>
              <a:rPr lang="zh-CN" altLang="zh-CN" sz="2800" dirty="0"/>
              <a:t>大，则将它捡起放入口袋中，同时丢掉原先口袋中的</a:t>
            </a:r>
            <a:r>
              <a:rPr lang="zh-CN" altLang="zh-CN" sz="2800" dirty="0" smtClean="0"/>
              <a:t>豆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子</a:t>
            </a:r>
            <a:r>
              <a:rPr lang="en-US" altLang="zh-CN" sz="2800" dirty="0"/>
              <a:t>,</a:t>
            </a:r>
            <a:r>
              <a:rPr lang="zh-CN" altLang="zh-CN" sz="2800" dirty="0"/>
              <a:t>如此循环直到最后一颗豆子；最后口袋中的豆子就</a:t>
            </a:r>
            <a:r>
              <a:rPr lang="zh-CN" altLang="zh-CN" sz="2800" dirty="0" smtClean="0"/>
              <a:t>是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所</a:t>
            </a:r>
            <a:r>
              <a:rPr lang="zh-CN" altLang="zh-CN" sz="2800" dirty="0"/>
              <a:t>有的豆子中最大的一颗。尝试用流程图表示这个算法。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11</a:t>
            </a:r>
            <a:r>
              <a:rPr lang="zh-CN" altLang="zh-CN" sz="2800" dirty="0"/>
              <a:t>）写出用递归法计算</a:t>
            </a:r>
            <a:r>
              <a:rPr lang="en-US" altLang="zh-CN" sz="2800" dirty="0"/>
              <a:t>n!</a:t>
            </a:r>
            <a:r>
              <a:rPr lang="zh-CN" altLang="zh-CN" sz="2800" dirty="0"/>
              <a:t>的算法。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12</a:t>
            </a:r>
            <a:r>
              <a:rPr lang="zh-CN" altLang="zh-CN" sz="2800" dirty="0"/>
              <a:t>）设计一个算法，找出</a:t>
            </a:r>
            <a:r>
              <a:rPr lang="en-US" altLang="zh-CN" sz="2800" dirty="0"/>
              <a:t>[1</a:t>
            </a:r>
            <a:r>
              <a:rPr lang="zh-CN" altLang="zh-CN" sz="2800" dirty="0"/>
              <a:t>，</a:t>
            </a:r>
            <a:r>
              <a:rPr lang="en-US" altLang="zh-CN" sz="2800" dirty="0"/>
              <a:t>1000]</a:t>
            </a:r>
            <a:r>
              <a:rPr lang="zh-CN" altLang="zh-CN" sz="2800" dirty="0"/>
              <a:t>中所有能被</a:t>
            </a:r>
            <a:r>
              <a:rPr lang="en-US" altLang="zh-CN" sz="2800" dirty="0"/>
              <a:t>7</a:t>
            </a:r>
            <a:r>
              <a:rPr lang="zh-CN" altLang="zh-CN" sz="2800" dirty="0"/>
              <a:t>和</a:t>
            </a:r>
            <a:r>
              <a:rPr lang="en-US" altLang="zh-CN" sz="2800" dirty="0" smtClean="0"/>
              <a:t>11</a:t>
            </a:r>
          </a:p>
          <a:p>
            <a:pPr>
              <a:buNone/>
            </a:pPr>
            <a:r>
              <a:rPr lang="zh-CN" altLang="zh-CN" sz="2800" dirty="0" smtClean="0"/>
              <a:t>整</a:t>
            </a:r>
            <a:r>
              <a:rPr lang="zh-CN" altLang="zh-CN" sz="2800" dirty="0"/>
              <a:t>除的数</a:t>
            </a:r>
            <a:r>
              <a:rPr lang="zh-CN" altLang="zh-CN" sz="2800" dirty="0" smtClean="0"/>
              <a:t>。</a:t>
            </a:r>
            <a:endParaRPr lang="zh-CN" altLang="zh-CN" sz="2800" dirty="0"/>
          </a:p>
        </p:txBody>
      </p:sp>
    </p:spTree>
    <p:extLst>
      <p:ext uri="{BB962C8B-B14F-4D97-AF65-F5344CB8AC3E}">
        <p14:creationId xmlns="" xmlns:p14="http://schemas.microsoft.com/office/powerpoint/2010/main" val="31671717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0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23900" y="69491"/>
            <a:ext cx="9144000" cy="6813376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zh-CN" altLang="zh-CN" sz="2800" dirty="0" smtClean="0"/>
              <a:t>（</a:t>
            </a:r>
            <a:r>
              <a:rPr lang="en-US" altLang="zh-CN" sz="2800" dirty="0"/>
              <a:t>13</a:t>
            </a:r>
            <a:r>
              <a:rPr lang="zh-CN" altLang="zh-CN" sz="2800" dirty="0"/>
              <a:t>）一张单据上有一个</a:t>
            </a:r>
            <a:r>
              <a:rPr lang="en-US" altLang="zh-CN" sz="2800" dirty="0"/>
              <a:t>5</a:t>
            </a:r>
            <a:r>
              <a:rPr lang="zh-CN" altLang="zh-CN" sz="2800" dirty="0"/>
              <a:t>位数的编号，万位数是</a:t>
            </a:r>
            <a:r>
              <a:rPr lang="en-US" altLang="zh-CN" sz="2800" dirty="0"/>
              <a:t>1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千</a:t>
            </a:r>
            <a:r>
              <a:rPr lang="zh-CN" altLang="zh-CN" sz="2800" dirty="0"/>
              <a:t>位数时</a:t>
            </a:r>
            <a:r>
              <a:rPr lang="en-US" altLang="zh-CN" sz="2800" dirty="0"/>
              <a:t>4</a:t>
            </a:r>
            <a:r>
              <a:rPr lang="zh-CN" altLang="zh-CN" sz="2800" dirty="0"/>
              <a:t>，百位数是</a:t>
            </a:r>
            <a:r>
              <a:rPr lang="en-US" altLang="zh-CN" sz="2800" dirty="0"/>
              <a:t>7</a:t>
            </a:r>
            <a:r>
              <a:rPr lang="zh-CN" altLang="zh-CN" sz="2800" dirty="0"/>
              <a:t>，个位数、十位数已经模糊不清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该</a:t>
            </a:r>
            <a:r>
              <a:rPr lang="en-US" altLang="zh-CN" sz="2800" dirty="0"/>
              <a:t>5</a:t>
            </a:r>
            <a:r>
              <a:rPr lang="zh-CN" altLang="zh-CN" sz="2800" dirty="0"/>
              <a:t>位数是</a:t>
            </a:r>
            <a:r>
              <a:rPr lang="en-US" altLang="zh-CN" sz="2800" dirty="0"/>
              <a:t>57</a:t>
            </a:r>
            <a:r>
              <a:rPr lang="zh-CN" altLang="zh-CN" sz="2800" dirty="0"/>
              <a:t>或</a:t>
            </a:r>
            <a:r>
              <a:rPr lang="en-US" altLang="zh-CN" sz="2800" dirty="0"/>
              <a:t>67</a:t>
            </a:r>
            <a:r>
              <a:rPr lang="zh-CN" altLang="zh-CN" sz="2800" dirty="0"/>
              <a:t>的倍数，输出所有满足这些条件的</a:t>
            </a:r>
            <a:r>
              <a:rPr lang="en-US" altLang="zh-CN" sz="2800" dirty="0"/>
              <a:t>5</a:t>
            </a:r>
            <a:r>
              <a:rPr lang="zh-CN" altLang="zh-CN" sz="2800" dirty="0"/>
              <a:t>位</a:t>
            </a:r>
            <a:r>
              <a:rPr lang="zh-CN" altLang="zh-CN" sz="2800" dirty="0" smtClean="0"/>
              <a:t>数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的</a:t>
            </a:r>
            <a:r>
              <a:rPr lang="zh-CN" altLang="zh-CN" sz="2800" dirty="0"/>
              <a:t>个数。设计本问题的算法。</a:t>
            </a:r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14</a:t>
            </a:r>
            <a:r>
              <a:rPr lang="zh-CN" altLang="zh-CN" sz="2800" dirty="0"/>
              <a:t>）雨水淋湿了算术书的一道题，</a:t>
            </a:r>
            <a:r>
              <a:rPr lang="en-US" altLang="zh-CN" sz="2800" dirty="0"/>
              <a:t>8</a:t>
            </a:r>
            <a:r>
              <a:rPr lang="zh-CN" altLang="zh-CN" sz="2800" dirty="0"/>
              <a:t>个数字只能看清</a:t>
            </a:r>
            <a:r>
              <a:rPr lang="en-US" altLang="zh-CN" sz="2800" dirty="0" smtClean="0"/>
              <a:t>3</a:t>
            </a:r>
          </a:p>
          <a:p>
            <a:pPr>
              <a:buNone/>
            </a:pPr>
            <a:r>
              <a:rPr lang="zh-CN" altLang="zh-CN" sz="2800" dirty="0" smtClean="0"/>
              <a:t>个，</a:t>
            </a:r>
            <a:r>
              <a:rPr lang="zh-CN" altLang="zh-CN" sz="2800" dirty="0"/>
              <a:t>第一个数字虽然看不清，但可看出不是</a:t>
            </a:r>
            <a:r>
              <a:rPr lang="en-US" altLang="zh-CN" sz="2800" dirty="0"/>
              <a:t>1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设</a:t>
            </a:r>
            <a:r>
              <a:rPr lang="zh-CN" altLang="zh-CN" sz="2800" dirty="0"/>
              <a:t>计一个算法求其余数字是什么？</a:t>
            </a:r>
          </a:p>
          <a:p>
            <a:pPr>
              <a:buNone/>
            </a:pPr>
            <a:r>
              <a:rPr lang="en-US" altLang="zh-CN" sz="2800" dirty="0"/>
              <a:t>        [ </a:t>
            </a:r>
            <a:r>
              <a:rPr lang="zh-CN" altLang="zh-CN" sz="2800" dirty="0"/>
              <a:t>□×（□</a:t>
            </a:r>
            <a:r>
              <a:rPr lang="en-US" altLang="zh-CN" sz="2800" dirty="0"/>
              <a:t>3</a:t>
            </a:r>
            <a:r>
              <a:rPr lang="zh-CN" altLang="zh-CN" sz="2800" dirty="0"/>
              <a:t>＋□）</a:t>
            </a:r>
            <a:r>
              <a:rPr lang="en-US" altLang="zh-CN" sz="2800" dirty="0"/>
              <a:t>]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= 8</a:t>
            </a:r>
            <a:r>
              <a:rPr lang="zh-CN" altLang="zh-CN" sz="2800" dirty="0"/>
              <a:t>□□</a:t>
            </a:r>
            <a:r>
              <a:rPr lang="en-US" altLang="zh-CN" sz="2800" dirty="0"/>
              <a:t>9</a:t>
            </a:r>
            <a:endParaRPr lang="zh-CN" altLang="zh-CN" sz="2800" dirty="0"/>
          </a:p>
          <a:p>
            <a:pPr>
              <a:buNone/>
            </a:pPr>
            <a:r>
              <a:rPr lang="zh-CN" altLang="zh-CN" sz="2800" dirty="0"/>
              <a:t>（</a:t>
            </a:r>
            <a:r>
              <a:rPr lang="en-US" altLang="zh-CN" sz="2800" dirty="0"/>
              <a:t>15</a:t>
            </a:r>
            <a:r>
              <a:rPr lang="zh-CN" altLang="zh-CN" sz="2800" dirty="0"/>
              <a:t>）有</a:t>
            </a:r>
            <a:r>
              <a:rPr lang="en-US" altLang="zh-CN" sz="2800" dirty="0"/>
              <a:t>5</a:t>
            </a:r>
            <a:r>
              <a:rPr lang="zh-CN" altLang="zh-CN" sz="2800" dirty="0"/>
              <a:t>个人，第</a:t>
            </a:r>
            <a:r>
              <a:rPr lang="en-US" altLang="zh-CN" sz="2800" dirty="0"/>
              <a:t>5</a:t>
            </a:r>
            <a:r>
              <a:rPr lang="zh-CN" altLang="zh-CN" sz="2800" dirty="0"/>
              <a:t>个人说他比第</a:t>
            </a:r>
            <a:r>
              <a:rPr lang="en-US" altLang="zh-CN" sz="2800" dirty="0"/>
              <a:t>4</a:t>
            </a:r>
            <a:r>
              <a:rPr lang="zh-CN" altLang="zh-CN" sz="2800" dirty="0"/>
              <a:t>个人大</a:t>
            </a:r>
            <a:r>
              <a:rPr lang="en-US" altLang="zh-CN" sz="2800" dirty="0"/>
              <a:t>2</a:t>
            </a:r>
            <a:r>
              <a:rPr lang="zh-CN" altLang="zh-CN" sz="2800" dirty="0"/>
              <a:t>岁，第</a:t>
            </a:r>
            <a:r>
              <a:rPr lang="en-US" altLang="zh-CN" sz="2800" dirty="0"/>
              <a:t>4</a:t>
            </a:r>
            <a:r>
              <a:rPr lang="zh-CN" altLang="zh-CN" sz="2800" dirty="0"/>
              <a:t>个</a:t>
            </a:r>
            <a:r>
              <a:rPr lang="zh-CN" altLang="zh-CN" sz="2800" dirty="0" smtClean="0"/>
              <a:t>人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说</a:t>
            </a:r>
            <a:r>
              <a:rPr lang="zh-CN" altLang="zh-CN" sz="2800" dirty="0"/>
              <a:t>他对第</a:t>
            </a:r>
            <a:r>
              <a:rPr lang="en-US" altLang="zh-CN" sz="2800" dirty="0"/>
              <a:t>3</a:t>
            </a:r>
            <a:r>
              <a:rPr lang="zh-CN" altLang="zh-CN" sz="2800" dirty="0"/>
              <a:t>个人大</a:t>
            </a:r>
            <a:r>
              <a:rPr lang="en-US" altLang="zh-CN" sz="2800" dirty="0"/>
              <a:t>2</a:t>
            </a:r>
            <a:r>
              <a:rPr lang="zh-CN" altLang="zh-CN" sz="2800" dirty="0"/>
              <a:t>岁，第</a:t>
            </a:r>
            <a:r>
              <a:rPr lang="en-US" altLang="zh-CN" sz="2800" dirty="0"/>
              <a:t>3</a:t>
            </a:r>
            <a:r>
              <a:rPr lang="zh-CN" altLang="zh-CN" sz="2800" dirty="0"/>
              <a:t>个人说他比第</a:t>
            </a:r>
            <a:r>
              <a:rPr lang="en-US" altLang="zh-CN" sz="2800" dirty="0"/>
              <a:t>2</a:t>
            </a:r>
            <a:r>
              <a:rPr lang="zh-CN" altLang="zh-CN" sz="2800" dirty="0"/>
              <a:t>个人大</a:t>
            </a:r>
            <a:r>
              <a:rPr lang="en-US" altLang="zh-CN" sz="2800" dirty="0"/>
              <a:t>2</a:t>
            </a:r>
            <a:r>
              <a:rPr lang="zh-CN" altLang="zh-CN" sz="2800" dirty="0"/>
              <a:t>岁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第</a:t>
            </a:r>
            <a:r>
              <a:rPr lang="en-US" altLang="zh-CN" sz="2800" dirty="0"/>
              <a:t>2</a:t>
            </a:r>
            <a:r>
              <a:rPr lang="zh-CN" altLang="zh-CN" sz="2800" dirty="0"/>
              <a:t>个人说他比第</a:t>
            </a:r>
            <a:r>
              <a:rPr lang="en-US" altLang="zh-CN" sz="2800" dirty="0"/>
              <a:t>1</a:t>
            </a:r>
            <a:r>
              <a:rPr lang="zh-CN" altLang="zh-CN" sz="2800" dirty="0"/>
              <a:t>个人大</a:t>
            </a:r>
            <a:r>
              <a:rPr lang="en-US" altLang="zh-CN" sz="2800" dirty="0"/>
              <a:t>2</a:t>
            </a:r>
            <a:r>
              <a:rPr lang="zh-CN" altLang="zh-CN" sz="2800" dirty="0"/>
              <a:t>岁，第</a:t>
            </a:r>
            <a:r>
              <a:rPr lang="en-US" altLang="zh-CN" sz="2800" dirty="0"/>
              <a:t>1</a:t>
            </a:r>
            <a:r>
              <a:rPr lang="zh-CN" altLang="zh-CN" sz="2800" dirty="0"/>
              <a:t>个人说他</a:t>
            </a:r>
            <a:r>
              <a:rPr lang="en-US" altLang="zh-CN" sz="2800" dirty="0"/>
              <a:t>10</a:t>
            </a:r>
            <a:r>
              <a:rPr lang="zh-CN" altLang="zh-CN" sz="2800" dirty="0"/>
              <a:t>岁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求</a:t>
            </a:r>
            <a:r>
              <a:rPr lang="zh-CN" altLang="zh-CN" sz="2800" dirty="0"/>
              <a:t>第</a:t>
            </a:r>
            <a:r>
              <a:rPr lang="en-US" altLang="zh-CN" sz="2800" dirty="0"/>
              <a:t>5</a:t>
            </a:r>
            <a:r>
              <a:rPr lang="zh-CN" altLang="zh-CN" sz="2800" dirty="0"/>
              <a:t>个人多少岁</a:t>
            </a:r>
            <a:r>
              <a:rPr lang="zh-CN" altLang="zh-CN" sz="2800" dirty="0" smtClean="0"/>
              <a:t>。设</a:t>
            </a:r>
            <a:r>
              <a:rPr lang="zh-CN" altLang="zh-CN" sz="2800" dirty="0"/>
              <a:t>计本问题的算法</a:t>
            </a:r>
            <a:r>
              <a:rPr lang="zh-CN" altLang="zh-CN" sz="2800" dirty="0" smtClean="0"/>
              <a:t>。</a:t>
            </a:r>
            <a:endParaRPr lang="zh-CN" altLang="zh-CN" sz="2800" dirty="0"/>
          </a:p>
        </p:txBody>
      </p:sp>
    </p:spTree>
    <p:extLst>
      <p:ext uri="{BB962C8B-B14F-4D97-AF65-F5344CB8AC3E}">
        <p14:creationId xmlns="" xmlns:p14="http://schemas.microsoft.com/office/powerpoint/2010/main" val="16917843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0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36512" y="0"/>
            <a:ext cx="9144000" cy="6813376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buNone/>
            </a:pPr>
            <a:r>
              <a:rPr lang="en-US" altLang="zh-CN" sz="2800" dirty="0" smtClean="0"/>
              <a:t>(</a:t>
            </a:r>
            <a:r>
              <a:rPr lang="en-US" altLang="zh-CN" sz="2800" dirty="0"/>
              <a:t>16</a:t>
            </a:r>
            <a:r>
              <a:rPr lang="zh-CN" altLang="zh-CN" sz="2800" dirty="0"/>
              <a:t>）有个莲花池里起初有一只莲花，每过一天莲花的</a:t>
            </a:r>
            <a:r>
              <a:rPr lang="zh-CN" altLang="zh-CN" sz="2800" dirty="0" smtClean="0"/>
              <a:t>数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量</a:t>
            </a:r>
            <a:r>
              <a:rPr lang="zh-CN" altLang="zh-CN" sz="2800" dirty="0"/>
              <a:t>就会翻一倍。假设莲花永远不凋谢，</a:t>
            </a:r>
            <a:r>
              <a:rPr lang="en-US" altLang="zh-CN" sz="2800" dirty="0"/>
              <a:t>30</a:t>
            </a:r>
            <a:r>
              <a:rPr lang="zh-CN" altLang="zh-CN" sz="2800" dirty="0"/>
              <a:t>天的时候莲</a:t>
            </a:r>
            <a:r>
              <a:rPr lang="zh-CN" altLang="zh-CN" sz="2800" dirty="0" smtClean="0"/>
              <a:t>花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池</a:t>
            </a:r>
            <a:r>
              <a:rPr lang="zh-CN" altLang="zh-CN" sz="2800" dirty="0"/>
              <a:t>全部长满了莲花，请问第</a:t>
            </a:r>
            <a:r>
              <a:rPr lang="en-US" altLang="zh-CN" sz="2800" dirty="0"/>
              <a:t>23</a:t>
            </a:r>
            <a:r>
              <a:rPr lang="zh-CN" altLang="zh-CN" sz="2800" dirty="0"/>
              <a:t>天的莲花占莲花池的几</a:t>
            </a:r>
            <a:r>
              <a:rPr lang="zh-CN" altLang="zh-CN" sz="2800" dirty="0" smtClean="0"/>
              <a:t>分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之</a:t>
            </a:r>
            <a:r>
              <a:rPr lang="zh-CN" altLang="zh-CN" sz="2800" dirty="0"/>
              <a:t>几</a:t>
            </a:r>
            <a:r>
              <a:rPr lang="zh-CN" altLang="zh-CN" sz="2800" dirty="0" smtClean="0"/>
              <a:t>？设</a:t>
            </a:r>
            <a:r>
              <a:rPr lang="zh-CN" altLang="zh-CN" sz="2800" dirty="0"/>
              <a:t>计本问题的算法。</a:t>
            </a:r>
          </a:p>
          <a:p>
            <a:pPr>
              <a:buNone/>
            </a:pPr>
            <a:r>
              <a:rPr lang="en-US" altLang="zh-CN" sz="2800" dirty="0"/>
              <a:t>(17</a:t>
            </a:r>
            <a:r>
              <a:rPr lang="zh-CN" altLang="zh-CN" sz="2800" dirty="0"/>
              <a:t>）有一个农场在第一年的时候买了一头刚出生的牛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这</a:t>
            </a:r>
            <a:r>
              <a:rPr lang="zh-CN" altLang="zh-CN" sz="2800" dirty="0"/>
              <a:t>头牛在第四年的时候就能生一头小牛，以后每年这</a:t>
            </a:r>
            <a:r>
              <a:rPr lang="zh-CN" altLang="zh-CN" sz="2800" dirty="0" smtClean="0"/>
              <a:t>头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牛</a:t>
            </a:r>
            <a:r>
              <a:rPr lang="zh-CN" altLang="zh-CN" sz="2800" dirty="0"/>
              <a:t>就会生一头小牛。这些小牛成长到第四牛又会生小牛</a:t>
            </a:r>
            <a:r>
              <a:rPr lang="zh-CN" altLang="zh-CN" sz="2800" dirty="0" smtClean="0"/>
              <a:t>，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以</a:t>
            </a:r>
            <a:r>
              <a:rPr lang="zh-CN" altLang="zh-CN" sz="2800" dirty="0"/>
              <a:t>后每年同样会生一头牛，假设牛不死，如此反复</a:t>
            </a:r>
            <a:r>
              <a:rPr lang="zh-CN" altLang="zh-CN" sz="2800" dirty="0" smtClean="0"/>
              <a:t>。</a:t>
            </a:r>
            <a:endParaRPr lang="en-US" altLang="zh-CN" sz="2800" dirty="0" smtClean="0"/>
          </a:p>
          <a:p>
            <a:pPr>
              <a:buNone/>
            </a:pPr>
            <a:r>
              <a:rPr lang="zh-CN" altLang="zh-CN" sz="2800" dirty="0" smtClean="0"/>
              <a:t>请</a:t>
            </a:r>
            <a:r>
              <a:rPr lang="zh-CN" altLang="zh-CN" sz="2800" dirty="0"/>
              <a:t>问</a:t>
            </a:r>
            <a:r>
              <a:rPr lang="en-US" altLang="zh-CN" sz="2800" dirty="0"/>
              <a:t>50</a:t>
            </a:r>
            <a:r>
              <a:rPr lang="zh-CN" altLang="zh-CN" sz="2800" dirty="0"/>
              <a:t>年后，这个农场会有多少头牛</a:t>
            </a:r>
            <a:r>
              <a:rPr lang="zh-CN" altLang="zh-CN" sz="2800" dirty="0" smtClean="0"/>
              <a:t>？设计</a:t>
            </a:r>
            <a:r>
              <a:rPr lang="zh-CN" altLang="zh-CN" sz="2800" dirty="0"/>
              <a:t>本问题的算法。</a:t>
            </a:r>
          </a:p>
        </p:txBody>
      </p:sp>
    </p:spTree>
    <p:extLst>
      <p:ext uri="{BB962C8B-B14F-4D97-AF65-F5344CB8AC3E}">
        <p14:creationId xmlns="" xmlns:p14="http://schemas.microsoft.com/office/powerpoint/2010/main" val="15105958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0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752475"/>
            <a:ext cx="2751137" cy="501650"/>
          </a:xfrm>
          <a:solidFill>
            <a:srgbClr val="FFFF99"/>
          </a:solidFill>
        </p:spPr>
        <p:txBody>
          <a:bodyPr/>
          <a:lstStyle/>
          <a:p>
            <a:r>
              <a:rPr lang="zh-CN" sz="2800" i="1">
                <a:solidFill>
                  <a:schemeClr val="hlink"/>
                </a:solidFill>
                <a:ea typeface="宋体" pitchFamily="2" charset="-122"/>
              </a:rPr>
              <a:t>计算长方形面积</a:t>
            </a:r>
            <a:endParaRPr lang="zh-CN"/>
          </a:p>
        </p:txBody>
      </p:sp>
      <p:sp>
        <p:nvSpPr>
          <p:cNvPr id="10243" name="AutoShape 3"/>
          <p:cNvSpPr>
            <a:spLocks noChangeAspect="1" noChangeArrowheads="1"/>
          </p:cNvSpPr>
          <p:nvPr/>
        </p:nvSpPr>
        <p:spPr bwMode="auto">
          <a:xfrm flipH="1">
            <a:off x="3427413" y="1466850"/>
            <a:ext cx="1819275" cy="512763"/>
          </a:xfrm>
          <a:prstGeom prst="flowChartTerminator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44" name="AutoShape 4"/>
          <p:cNvSpPr>
            <a:spLocks noChangeAspect="1" noChangeArrowheads="1"/>
          </p:cNvSpPr>
          <p:nvPr/>
        </p:nvSpPr>
        <p:spPr bwMode="auto">
          <a:xfrm flipH="1">
            <a:off x="3333750" y="5159375"/>
            <a:ext cx="2109788" cy="587375"/>
          </a:xfrm>
          <a:prstGeom prst="flowChartTerminator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45" name="AutoShape 5"/>
          <p:cNvSpPr>
            <a:spLocks noChangeAspect="1" noChangeArrowheads="1"/>
          </p:cNvSpPr>
          <p:nvPr/>
        </p:nvSpPr>
        <p:spPr bwMode="auto">
          <a:xfrm>
            <a:off x="2846388" y="2273300"/>
            <a:ext cx="2908300" cy="673100"/>
          </a:xfrm>
          <a:prstGeom prst="flowChartInputOutput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717925" y="1466850"/>
            <a:ext cx="109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  <a:ea typeface="黑体" pitchFamily="49" charset="-122"/>
              </a:rPr>
              <a:t>开始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2990850" y="2300288"/>
            <a:ext cx="2546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dirty="0">
                <a:latin typeface="黑体" pitchFamily="49" charset="-122"/>
                <a:ea typeface="黑体" pitchFamily="49" charset="-122"/>
              </a:rPr>
              <a:t>输入</a:t>
            </a:r>
            <a:r>
              <a:rPr lang="zh-CN" altLang="en-US" dirty="0"/>
              <a:t>a</a:t>
            </a:r>
            <a:r>
              <a:rPr lang="en-US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、 </a:t>
            </a:r>
            <a:r>
              <a:rPr lang="zh-CN" altLang="en-US" dirty="0"/>
              <a:t>b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768600" y="3389313"/>
            <a:ext cx="3254375" cy="482600"/>
          </a:xfrm>
          <a:prstGeom prst="rect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latin typeface="Courier New" pitchFamily="49" charset="0"/>
              </a:rPr>
              <a:t>S = a</a:t>
            </a:r>
            <a:r>
              <a:rPr lang="en-US" b="1">
                <a:latin typeface="Courier New" pitchFamily="49" charset="0"/>
              </a:rPr>
              <a:t>×</a:t>
            </a:r>
            <a:r>
              <a:rPr lang="zh-CN" altLang="en-US" b="1">
                <a:latin typeface="Courier New" pitchFamily="49" charset="0"/>
              </a:rPr>
              <a:t>b</a:t>
            </a:r>
          </a:p>
        </p:txBody>
      </p:sp>
      <p:sp>
        <p:nvSpPr>
          <p:cNvPr id="10249" name="AutoShape 9"/>
          <p:cNvSpPr>
            <a:spLocks noChangeAspect="1" noChangeArrowheads="1"/>
          </p:cNvSpPr>
          <p:nvPr/>
        </p:nvSpPr>
        <p:spPr bwMode="auto">
          <a:xfrm>
            <a:off x="2940050" y="4256088"/>
            <a:ext cx="2909888" cy="673100"/>
          </a:xfrm>
          <a:prstGeom prst="flowChartInputOutput">
            <a:avLst/>
          </a:prstGeom>
          <a:noFill/>
          <a:ln w="25400" cmpd="sng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3327400" y="4429125"/>
            <a:ext cx="2198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 dirty="0">
                <a:latin typeface="Courier New" pitchFamily="49" charset="0"/>
                <a:ea typeface="黑体" pitchFamily="49" charset="-122"/>
              </a:rPr>
              <a:t>输出</a:t>
            </a:r>
            <a:r>
              <a:rPr lang="zh-CN" altLang="en-US" sz="2000" b="1" dirty="0">
                <a:latin typeface="Courier New" pitchFamily="49" charset="0"/>
              </a:rPr>
              <a:t> </a:t>
            </a:r>
            <a:r>
              <a:rPr lang="en-US" altLang="zh-CN" sz="2000" dirty="0" smtClean="0"/>
              <a:t>S</a:t>
            </a:r>
            <a:endParaRPr lang="zh-CN" altLang="en-US" sz="2000" dirty="0"/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3752850" y="5260975"/>
            <a:ext cx="1309688" cy="39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  <a:ea typeface="黑体" pitchFamily="49" charset="-122"/>
              </a:rPr>
              <a:t>结束</a:t>
            </a: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4300538" y="1979613"/>
            <a:ext cx="0" cy="293687"/>
          </a:xfrm>
          <a:prstGeom prst="line">
            <a:avLst/>
          </a:prstGeom>
          <a:noFill/>
          <a:ln w="25400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4300538" y="2933700"/>
            <a:ext cx="0" cy="441325"/>
          </a:xfrm>
          <a:prstGeom prst="line">
            <a:avLst/>
          </a:prstGeom>
          <a:noFill/>
          <a:ln w="25400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4370388" y="3871913"/>
            <a:ext cx="0" cy="366712"/>
          </a:xfrm>
          <a:prstGeom prst="line">
            <a:avLst/>
          </a:prstGeom>
          <a:noFill/>
          <a:ln w="25400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4425950" y="4930775"/>
            <a:ext cx="12700" cy="260350"/>
          </a:xfrm>
          <a:prstGeom prst="line">
            <a:avLst/>
          </a:prstGeom>
          <a:noFill/>
          <a:ln w="25400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/>
      <p:bldP spid="10244" grpId="0" animBg="1"/>
      <p:bldP spid="10245" grpId="0" animBg="1"/>
      <p:bldP spid="10246" grpId="0"/>
      <p:bldP spid="10247" grpId="0"/>
      <p:bldP spid="10248" grpId="0" animBg="1"/>
      <p:bldP spid="10249" grpId="0" animBg="1"/>
      <p:bldP spid="10250" grpId="0"/>
      <p:bldP spid="10251" grpId="0"/>
      <p:bldP spid="10252" grpId="0" animBg="1"/>
      <p:bldP spid="10253" grpId="0" animBg="1"/>
      <p:bldP spid="10254" grpId="0" animBg="1"/>
      <p:bldP spid="102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pPr algn="l"/>
            <a:r>
              <a:rPr lang="zh-CN" altLang="en-US" sz="3600" b="1" dirty="0"/>
              <a:t>求两个数中较大的数</a:t>
            </a:r>
          </a:p>
        </p:txBody>
      </p:sp>
      <p:sp>
        <p:nvSpPr>
          <p:cNvPr id="12291" name="AutoShape 3"/>
          <p:cNvSpPr>
            <a:spLocks noChangeAspect="1" noChangeArrowheads="1"/>
          </p:cNvSpPr>
          <p:nvPr/>
        </p:nvSpPr>
        <p:spPr bwMode="auto">
          <a:xfrm>
            <a:off x="531813" y="4405461"/>
            <a:ext cx="2909887" cy="673100"/>
          </a:xfrm>
          <a:prstGeom prst="flowChartInputOutput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 sz="2000">
              <a:ea typeface="黑体" pitchFamily="49" charset="-122"/>
            </a:endParaRPr>
          </a:p>
        </p:txBody>
      </p:sp>
      <p:sp>
        <p:nvSpPr>
          <p:cNvPr id="12292" name="AutoShape 4"/>
          <p:cNvSpPr>
            <a:spLocks noChangeAspect="1" noChangeArrowheads="1"/>
          </p:cNvSpPr>
          <p:nvPr/>
        </p:nvSpPr>
        <p:spPr bwMode="auto">
          <a:xfrm flipH="1">
            <a:off x="3427413" y="1398736"/>
            <a:ext cx="1819275" cy="512763"/>
          </a:xfrm>
          <a:prstGeom prst="flowChartTerminator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293" name="AutoShape 5"/>
          <p:cNvSpPr>
            <a:spLocks noChangeAspect="1" noChangeArrowheads="1"/>
          </p:cNvSpPr>
          <p:nvPr/>
        </p:nvSpPr>
        <p:spPr bwMode="auto">
          <a:xfrm flipH="1">
            <a:off x="3244850" y="5865961"/>
            <a:ext cx="2109788" cy="587375"/>
          </a:xfrm>
          <a:prstGeom prst="flowChartTerminator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294" name="AutoShape 6"/>
          <p:cNvSpPr>
            <a:spLocks noChangeAspect="1" noChangeArrowheads="1"/>
          </p:cNvSpPr>
          <p:nvPr/>
        </p:nvSpPr>
        <p:spPr bwMode="auto">
          <a:xfrm>
            <a:off x="2846388" y="2205186"/>
            <a:ext cx="2908300" cy="673100"/>
          </a:xfrm>
          <a:prstGeom prst="flowChartInputOutput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717925" y="1398736"/>
            <a:ext cx="1092200" cy="3968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  <a:ea typeface="黑体" pitchFamily="49" charset="-122"/>
              </a:rPr>
              <a:t>开始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059832" y="2348880"/>
            <a:ext cx="2546350" cy="7016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输入</a:t>
            </a:r>
            <a:r>
              <a:rPr lang="zh-CN" altLang="en-US" sz="2000" dirty="0"/>
              <a:t>A</a:t>
            </a:r>
            <a:r>
              <a:rPr lang="en-US" sz="20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、 </a:t>
            </a:r>
            <a:r>
              <a:rPr lang="zh-CN" altLang="en-US" sz="2000" dirty="0"/>
              <a:t>B</a:t>
            </a:r>
          </a:p>
        </p:txBody>
      </p:sp>
      <p:sp>
        <p:nvSpPr>
          <p:cNvPr id="12297" name="AutoShape 9"/>
          <p:cNvSpPr>
            <a:spLocks noChangeAspect="1" noChangeArrowheads="1"/>
          </p:cNvSpPr>
          <p:nvPr/>
        </p:nvSpPr>
        <p:spPr bwMode="auto">
          <a:xfrm>
            <a:off x="5468938" y="4437211"/>
            <a:ext cx="2908300" cy="673100"/>
          </a:xfrm>
          <a:prstGeom prst="flowChartInputOutput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5961063" y="4608661"/>
            <a:ext cx="2198687" cy="3968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  <a:ea typeface="黑体" pitchFamily="49" charset="-122"/>
              </a:rPr>
              <a:t>输出</a:t>
            </a:r>
            <a:r>
              <a:rPr lang="zh-CN" altLang="en-US" sz="2000" b="1">
                <a:latin typeface="Courier New" pitchFamily="49" charset="0"/>
              </a:rPr>
              <a:t> </a:t>
            </a:r>
            <a:r>
              <a:rPr lang="zh-CN" altLang="en-US" sz="2000"/>
              <a:t>B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3635896" y="5949280"/>
            <a:ext cx="1309688" cy="3968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 dirty="0">
                <a:latin typeface="Courier New" pitchFamily="49" charset="0"/>
                <a:ea typeface="黑体" pitchFamily="49" charset="-122"/>
              </a:rPr>
              <a:t>结束</a:t>
            </a: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4300538" y="1911499"/>
            <a:ext cx="0" cy="293687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4300538" y="2865586"/>
            <a:ext cx="0" cy="406400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4286250" y="5604024"/>
            <a:ext cx="14288" cy="261937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03" name="AutoShape 15"/>
          <p:cNvSpPr>
            <a:spLocks noChangeArrowheads="1"/>
          </p:cNvSpPr>
          <p:nvPr/>
        </p:nvSpPr>
        <p:spPr bwMode="auto">
          <a:xfrm>
            <a:off x="2915816" y="3284984"/>
            <a:ext cx="2817813" cy="1108075"/>
          </a:xfrm>
          <a:prstGeom prst="flowChartDecision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r>
              <a:rPr lang="zh-CN" altLang="en-US" sz="2000" dirty="0">
                <a:ea typeface="黑体" pitchFamily="49" charset="-122"/>
              </a:rPr>
              <a:t>   A </a:t>
            </a:r>
            <a:r>
              <a:rPr lang="en-US" sz="2000" dirty="0"/>
              <a:t>&gt; </a:t>
            </a:r>
            <a:r>
              <a:rPr lang="zh-CN" altLang="en-US" sz="2000" dirty="0"/>
              <a:t>B </a:t>
            </a:r>
            <a:r>
              <a:rPr lang="en-US" sz="2000" dirty="0"/>
              <a:t>?</a:t>
            </a: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H="1">
            <a:off x="1992313" y="3826024"/>
            <a:ext cx="893762" cy="0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 flipH="1">
            <a:off x="1973263" y="3813324"/>
            <a:ext cx="17462" cy="568325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874713" y="4518174"/>
            <a:ext cx="2268537" cy="3968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2000">
                <a:ea typeface="黑体" pitchFamily="49" charset="-122"/>
              </a:rPr>
              <a:t>输出 A</a:t>
            </a:r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 flipH="1">
            <a:off x="5670550" y="3826024"/>
            <a:ext cx="1252538" cy="1587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6924675" y="3827611"/>
            <a:ext cx="0" cy="554038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 flipH="1" flipV="1">
            <a:off x="1973263" y="5110311"/>
            <a:ext cx="19050" cy="493713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 flipH="1">
            <a:off x="1992313" y="5605611"/>
            <a:ext cx="4932362" cy="0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bevel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6084168" y="3284984"/>
            <a:ext cx="549275" cy="395287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ea typeface="黑体" pitchFamily="49" charset="-122"/>
              </a:rPr>
              <a:t>N</a:t>
            </a:r>
            <a:endParaRPr lang="zh-CN" altLang="en-US"/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2195736" y="3284984"/>
            <a:ext cx="549275" cy="395287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ea typeface="黑体" pitchFamily="49" charset="-122"/>
              </a:rPr>
              <a:t>Y</a:t>
            </a:r>
            <a:endParaRPr lang="zh-CN" altLang="en-US" dirty="0"/>
          </a:p>
        </p:txBody>
      </p:sp>
      <p:sp>
        <p:nvSpPr>
          <p:cNvPr id="12313" name="Line 25"/>
          <p:cNvSpPr>
            <a:spLocks noChangeShapeType="1"/>
          </p:cNvSpPr>
          <p:nvPr/>
        </p:nvSpPr>
        <p:spPr bwMode="auto">
          <a:xfrm flipH="1" flipV="1">
            <a:off x="6923088" y="5110311"/>
            <a:ext cx="1587" cy="493713"/>
          </a:xfrm>
          <a:prstGeom prst="line">
            <a:avLst/>
          </a:prstGeom>
          <a:noFill/>
          <a:ln w="25400" cap="flat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4" grpId="0" animBg="1"/>
      <p:bldP spid="12295" grpId="0"/>
      <p:bldP spid="12296" grpId="0"/>
      <p:bldP spid="12297" grpId="0" animBg="1"/>
      <p:bldP spid="12298" grpId="0"/>
      <p:bldP spid="12299" grpId="0"/>
      <p:bldP spid="12300" grpId="0" animBg="1"/>
      <p:bldP spid="12301" grpId="0" animBg="1"/>
      <p:bldP spid="12302" grpId="0" animBg="1"/>
      <p:bldP spid="12303" grpId="0" animBg="1"/>
      <p:bldP spid="12304" grpId="0" animBg="1"/>
      <p:bldP spid="12305" grpId="0" animBg="1"/>
      <p:bldP spid="12306" grpId="0"/>
      <p:bldP spid="12307" grpId="0" animBg="1"/>
      <p:bldP spid="12308" grpId="0" animBg="1"/>
      <p:bldP spid="12309" grpId="0" animBg="1"/>
      <p:bldP spid="12310" grpId="0" animBg="1"/>
      <p:bldP spid="12311" grpId="0"/>
      <p:bldP spid="12312" grpId="0"/>
      <p:bldP spid="123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/>
          <p:cNvSpPr>
            <a:spLocks noChangeArrowheads="1"/>
          </p:cNvSpPr>
          <p:nvPr/>
        </p:nvSpPr>
        <p:spPr bwMode="auto">
          <a:xfrm>
            <a:off x="1474788" y="1054100"/>
            <a:ext cx="1219200" cy="465138"/>
          </a:xfrm>
          <a:prstGeom prst="flowChartTerminator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000" b="1"/>
              <a:t>开始</a:t>
            </a:r>
          </a:p>
        </p:txBody>
      </p:sp>
      <p:sp>
        <p:nvSpPr>
          <p:cNvPr id="15363" name="AutoShape 3"/>
          <p:cNvSpPr>
            <a:spLocks noChangeArrowheads="1"/>
          </p:cNvSpPr>
          <p:nvPr/>
        </p:nvSpPr>
        <p:spPr bwMode="auto">
          <a:xfrm>
            <a:off x="1230313" y="4879975"/>
            <a:ext cx="1905000" cy="360363"/>
          </a:xfrm>
          <a:prstGeom prst="flowChartInputOutput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000" b="1"/>
              <a:t>输出 </a:t>
            </a:r>
            <a:r>
              <a:rPr lang="en-US" sz="2000" b="1"/>
              <a:t>s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1506538" y="1879600"/>
            <a:ext cx="1060450" cy="360363"/>
          </a:xfrm>
          <a:prstGeom prst="flowChartProcess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000" b="1"/>
              <a:t>s=0;k=1</a:t>
            </a: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1077913" y="2614488"/>
            <a:ext cx="1978025" cy="651126"/>
          </a:xfrm>
          <a:prstGeom prst="flowChartDecision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800" b="1" dirty="0"/>
              <a:t>k&lt;=100</a:t>
            </a: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3668713" y="2960688"/>
            <a:ext cx="0" cy="16002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95288" y="260350"/>
            <a:ext cx="7494587" cy="5492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r>
              <a:rPr lang="zh-CN" altLang="en-US" sz="2800" b="1">
                <a:solidFill>
                  <a:schemeClr val="hlink"/>
                </a:solidFill>
              </a:rPr>
              <a:t>例题：计算 </a:t>
            </a:r>
            <a:r>
              <a:rPr lang="en-US" sz="2800" b="1">
                <a:solidFill>
                  <a:schemeClr val="hlink"/>
                </a:solidFill>
              </a:rPr>
              <a:t>S=1+2+3+</a:t>
            </a:r>
            <a:r>
              <a:rPr lang="en-US" sz="2800" b="1">
                <a:solidFill>
                  <a:schemeClr val="hlink"/>
                </a:solidFill>
                <a:latin typeface="宋体"/>
              </a:rPr>
              <a:t>……</a:t>
            </a:r>
            <a:r>
              <a:rPr lang="en-US" sz="2800" b="1">
                <a:solidFill>
                  <a:schemeClr val="hlink"/>
                </a:solidFill>
              </a:rPr>
              <a:t>+100 </a:t>
            </a:r>
            <a:r>
              <a:rPr lang="zh-CN" altLang="en-US" sz="2800" b="1">
                <a:solidFill>
                  <a:schemeClr val="hlink"/>
                </a:solidFill>
              </a:rPr>
              <a:t>的流程图</a:t>
            </a: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068513" y="1512888"/>
            <a:ext cx="0" cy="3810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>
            <a:off x="2068513" y="3265488"/>
            <a:ext cx="0" cy="3048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0" name="AutoShape 10"/>
          <p:cNvSpPr>
            <a:spLocks noChangeArrowheads="1"/>
          </p:cNvSpPr>
          <p:nvPr/>
        </p:nvSpPr>
        <p:spPr bwMode="auto">
          <a:xfrm>
            <a:off x="1611313" y="5684838"/>
            <a:ext cx="1219200" cy="465137"/>
          </a:xfrm>
          <a:prstGeom prst="flowChartTerminator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zh-CN" altLang="en-US" sz="2000" b="1"/>
              <a:t>结束</a:t>
            </a:r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144713" y="5246688"/>
            <a:ext cx="0" cy="4572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H="1">
            <a:off x="468313" y="4332288"/>
            <a:ext cx="1600200" cy="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 flipV="1">
            <a:off x="468313" y="2427288"/>
            <a:ext cx="0" cy="19050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468313" y="2427288"/>
            <a:ext cx="1600200" cy="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1528763" y="3070225"/>
            <a:ext cx="334962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>
                <a:solidFill>
                  <a:srgbClr val="66FF33"/>
                </a:solidFill>
              </a:rPr>
              <a:t>Y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3070225" y="2460625"/>
            <a:ext cx="347663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>
                <a:solidFill>
                  <a:srgbClr val="66FF33"/>
                </a:solidFill>
              </a:rPr>
              <a:t>N</a:t>
            </a:r>
          </a:p>
        </p:txBody>
      </p:sp>
      <p:sp>
        <p:nvSpPr>
          <p:cNvPr id="15377" name="AutoShape 17"/>
          <p:cNvSpPr>
            <a:spLocks noChangeArrowheads="1"/>
          </p:cNvSpPr>
          <p:nvPr/>
        </p:nvSpPr>
        <p:spPr bwMode="auto">
          <a:xfrm>
            <a:off x="1270000" y="3621088"/>
            <a:ext cx="1603375" cy="360362"/>
          </a:xfrm>
          <a:prstGeom prst="flowChartProcess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000" b="1" dirty="0"/>
              <a:t>s=s+k;k=k+1</a:t>
            </a:r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2068513" y="2274888"/>
            <a:ext cx="0" cy="3810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2068513" y="4027488"/>
            <a:ext cx="0" cy="3048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3059113" y="2960688"/>
            <a:ext cx="609600" cy="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81" name="Line 21"/>
          <p:cNvSpPr>
            <a:spLocks noChangeShapeType="1"/>
          </p:cNvSpPr>
          <p:nvPr/>
        </p:nvSpPr>
        <p:spPr bwMode="auto">
          <a:xfrm>
            <a:off x="2144713" y="4560888"/>
            <a:ext cx="1524000" cy="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>
            <a:off x="2144713" y="4560888"/>
            <a:ext cx="0" cy="304800"/>
          </a:xfrm>
          <a:prstGeom prst="line">
            <a:avLst/>
          </a:prstGeom>
          <a:noFill/>
          <a:ln w="38100" cmpd="sng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ldLvl="0" animBg="1" autoUpdateAnimBg="0"/>
      <p:bldP spid="15363" grpId="0" bldLvl="0" animBg="1" autoUpdateAnimBg="0"/>
      <p:bldP spid="15364" grpId="0" bldLvl="0" animBg="1" autoUpdateAnimBg="0"/>
      <p:bldP spid="15365" grpId="0" bldLvl="0" animBg="1" autoUpdateAnimBg="0"/>
      <p:bldP spid="15366" grpId="0" animBg="1"/>
      <p:bldP spid="15367" grpId="0" bldLvl="0" animBg="1" autoUpdateAnimBg="0"/>
      <p:bldP spid="15368" grpId="0" animBg="1"/>
      <p:bldP spid="15369" grpId="0" animBg="1"/>
      <p:bldP spid="15370" grpId="0" bldLvl="0" animBg="1" autoUpdateAnimBg="0"/>
      <p:bldP spid="15371" grpId="0" animBg="1"/>
      <p:bldP spid="15372" grpId="0" animBg="1"/>
      <p:bldP spid="15373" grpId="0" animBg="1"/>
      <p:bldP spid="15374" grpId="0" animBg="1"/>
      <p:bldP spid="15375" grpId="0" autoUpdateAnimBg="0"/>
      <p:bldP spid="15376" grpId="0" autoUpdateAnimBg="0"/>
      <p:bldP spid="15377" grpId="0" bldLvl="0" animBg="1" autoUpdateAnimBg="0"/>
      <p:bldP spid="15378" grpId="0" animBg="1"/>
      <p:bldP spid="15379" grpId="0" animBg="1"/>
      <p:bldP spid="15380" grpId="0" animBg="1"/>
      <p:bldP spid="15381" grpId="0" animBg="1"/>
      <p:bldP spid="1538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5724128" y="3789040"/>
            <a:ext cx="14401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7154" name="Object 2"/>
          <p:cNvGraphicFramePr>
            <a:graphicFrameLocks noChangeAspect="1"/>
          </p:cNvGraphicFramePr>
          <p:nvPr/>
        </p:nvGraphicFramePr>
        <p:xfrm>
          <a:off x="4572000" y="332656"/>
          <a:ext cx="4248472" cy="6212590"/>
        </p:xfrm>
        <a:graphic>
          <a:graphicData uri="http://schemas.openxmlformats.org/presentationml/2006/ole">
            <p:oleObj spid="_x0000_s178178" name="Visio" r:id="rId3" imgW="2435485" imgH="4678365" progId="Visio.Drawing.11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95536" y="548681"/>
            <a:ext cx="3672408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(8) </a:t>
            </a:r>
            <a:r>
              <a:rPr lang="zh-CN" altLang="en-US" sz="2800" dirty="0" smtClean="0"/>
              <a:t>设计一个是算法，求</a:t>
            </a:r>
            <a:r>
              <a:rPr lang="en-US" altLang="zh-CN" sz="2800" dirty="0" smtClean="0"/>
              <a:t>1+2+4+…+2</a:t>
            </a:r>
            <a:r>
              <a:rPr lang="en-US" altLang="zh-CN" sz="2800" baseline="30000" dirty="0" smtClean="0"/>
              <a:t>n</a:t>
            </a:r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通项是</a:t>
            </a:r>
            <a:r>
              <a:rPr lang="en-US" altLang="zh-CN" sz="2800" dirty="0" smtClean="0">
                <a:solidFill>
                  <a:srgbClr val="FF0000"/>
                </a:solidFill>
              </a:rPr>
              <a:t>2</a:t>
            </a:r>
            <a:r>
              <a:rPr lang="en-US" altLang="zh-CN" sz="2800" baseline="30000" dirty="0" smtClean="0">
                <a:solidFill>
                  <a:srgbClr val="FF0000"/>
                </a:solidFill>
              </a:rPr>
              <a:t>i</a:t>
            </a:r>
          </a:p>
          <a:p>
            <a:endParaRPr lang="en-US" altLang="zh-CN" sz="2800" baseline="30000" dirty="0" smtClean="0"/>
          </a:p>
          <a:p>
            <a:endParaRPr lang="zh-CN" altLang="en-US" sz="2800" baseline="30000" dirty="0"/>
          </a:p>
        </p:txBody>
      </p:sp>
      <p:sp>
        <p:nvSpPr>
          <p:cNvPr id="5" name="椭圆 4"/>
          <p:cNvSpPr/>
          <p:nvPr/>
        </p:nvSpPr>
        <p:spPr>
          <a:xfrm>
            <a:off x="5652120" y="3789040"/>
            <a:ext cx="28803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标注 5"/>
          <p:cNvSpPr/>
          <p:nvPr/>
        </p:nvSpPr>
        <p:spPr>
          <a:xfrm>
            <a:off x="3059832" y="2924944"/>
            <a:ext cx="1512168" cy="648072"/>
          </a:xfrm>
          <a:prstGeom prst="wedgeRoundRectCallout">
            <a:avLst>
              <a:gd name="adj1" fmla="val 111574"/>
              <a:gd name="adj2" fmla="val 7466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将</a:t>
            </a:r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zh-CN" altLang="en-US" dirty="0" smtClean="0">
                <a:solidFill>
                  <a:schemeClr val="tx1"/>
                </a:solidFill>
              </a:rPr>
              <a:t>改为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i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5445224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参考例</a:t>
            </a:r>
            <a:r>
              <a:rPr lang="en-US" altLang="zh-CN" dirty="0" smtClean="0"/>
              <a:t>4-5</a:t>
            </a:r>
            <a:r>
              <a:rPr lang="zh-CN" altLang="en-US" dirty="0" smtClean="0"/>
              <a:t>，其通项是</a:t>
            </a:r>
            <a:r>
              <a:rPr lang="en-US" altLang="zh-CN" dirty="0" smtClean="0"/>
              <a:t>i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5" name="Rectangle 1"/>
          <p:cNvSpPr>
            <a:spLocks noChangeArrowheads="1"/>
          </p:cNvSpPr>
          <p:nvPr/>
        </p:nvSpPr>
        <p:spPr bwMode="auto">
          <a:xfrm>
            <a:off x="467544" y="980728"/>
            <a:ext cx="6552728" cy="310854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）初始化：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s=0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）输入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n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的值；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n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，进行计算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s=s+2</a:t>
            </a:r>
            <a:r>
              <a:rPr kumimoji="0" lang="en-US" altLang="zh-CN" sz="28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）重复第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至第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步，直到循环结束；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）输出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s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的值。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3"/>
            <a:ext cx="8435280" cy="504056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(9) </a:t>
            </a:r>
            <a:r>
              <a:rPr lang="zh-CN" altLang="en-US" sz="2800" b="1" dirty="0" smtClean="0"/>
              <a:t>单位发放工资问题！</a:t>
            </a:r>
            <a:endParaRPr lang="en-US" altLang="zh-CN" sz="28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611560" y="1268760"/>
            <a:ext cx="73448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800" dirty="0" smtClean="0"/>
              <a:t>算法如下：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、初始化：</a:t>
            </a:r>
            <a:r>
              <a:rPr lang="en-US" altLang="zh-CN" sz="2800" dirty="0" smtClean="0"/>
              <a:t>salary=0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day=0</a:t>
            </a:r>
          </a:p>
          <a:p>
            <a:pPr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、输入</a:t>
            </a:r>
            <a:r>
              <a:rPr lang="en-US" altLang="zh-CN" sz="2800" dirty="0" smtClean="0"/>
              <a:t>day</a:t>
            </a:r>
            <a:r>
              <a:rPr lang="zh-CN" altLang="en-US" sz="2800" dirty="0" smtClean="0"/>
              <a:t>的值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、如果</a:t>
            </a:r>
            <a:r>
              <a:rPr lang="en-US" altLang="zh-CN" sz="2800" dirty="0" smtClean="0"/>
              <a:t>day&lt;=20</a:t>
            </a:r>
            <a:r>
              <a:rPr lang="zh-CN" altLang="en-US" sz="2800" dirty="0" smtClean="0"/>
              <a:t>，则</a:t>
            </a:r>
            <a:r>
              <a:rPr lang="en-US" altLang="zh-CN" sz="2800" dirty="0" smtClean="0"/>
              <a:t>salary=2000</a:t>
            </a:r>
            <a:r>
              <a:rPr lang="zh-CN" altLang="en-US" sz="2800" dirty="0" smtClean="0"/>
              <a:t>；否则如果</a:t>
            </a:r>
            <a:r>
              <a:rPr lang="en-US" altLang="zh-CN" sz="2800" dirty="0" smtClean="0"/>
              <a:t>2-  20&lt;day&lt;=25</a:t>
            </a:r>
            <a:r>
              <a:rPr lang="zh-CN" altLang="en-US" sz="2800" dirty="0" smtClean="0"/>
              <a:t>，则</a:t>
            </a:r>
            <a:r>
              <a:rPr lang="en-US" altLang="zh-CN" sz="2800" dirty="0" smtClean="0"/>
              <a:t>salary=2000+(day-20)*100</a:t>
            </a:r>
            <a:r>
              <a:rPr lang="zh-CN" altLang="en-US" sz="2800" dirty="0" smtClean="0"/>
              <a:t>；否则如果</a:t>
            </a:r>
            <a:r>
              <a:rPr lang="en-US" altLang="zh-CN" sz="2800" dirty="0" smtClean="0"/>
              <a:t>day&gt;25</a:t>
            </a:r>
            <a:r>
              <a:rPr lang="zh-CN" altLang="en-US" sz="2800" dirty="0" smtClean="0"/>
              <a:t>，则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     salary=2000+5*100+(day-25)*150</a:t>
            </a:r>
          </a:p>
          <a:p>
            <a:pPr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 smtClean="0"/>
              <a:t>、输出</a:t>
            </a:r>
            <a:r>
              <a:rPr lang="en-US" altLang="zh-CN" sz="2800" dirty="0" smtClean="0"/>
              <a:t>salary</a:t>
            </a:r>
            <a:r>
              <a:rPr lang="zh-CN" altLang="en-US" sz="2800" dirty="0" smtClean="0"/>
              <a:t>的值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2" name="Object 2"/>
          <p:cNvGraphicFramePr>
            <a:graphicFrameLocks noChangeAspect="1"/>
          </p:cNvGraphicFramePr>
          <p:nvPr/>
        </p:nvGraphicFramePr>
        <p:xfrm>
          <a:off x="1619672" y="188640"/>
          <a:ext cx="5688632" cy="6650420"/>
        </p:xfrm>
        <a:graphic>
          <a:graphicData uri="http://schemas.openxmlformats.org/presentationml/2006/ole">
            <p:oleObj spid="_x0000_s179202" name="Visio" r:id="rId3" imgW="3697440" imgH="4444615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5536" y="404664"/>
            <a:ext cx="8352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(10) </a:t>
            </a:r>
            <a:r>
              <a:rPr lang="zh-CN" altLang="zh-CN" dirty="0" smtClean="0"/>
              <a:t>设计算法找出由</a:t>
            </a:r>
            <a:r>
              <a:rPr lang="en-US" altLang="zh-CN" dirty="0" smtClean="0"/>
              <a:t>n</a:t>
            </a:r>
            <a:r>
              <a:rPr lang="zh-CN" altLang="zh-CN" dirty="0" smtClean="0"/>
              <a:t>个数组成的数列</a:t>
            </a:r>
            <a:r>
              <a:rPr lang="en-US" altLang="zh-CN" dirty="0" smtClean="0"/>
              <a:t>x</a:t>
            </a:r>
            <a:r>
              <a:rPr lang="zh-CN" altLang="zh-CN" dirty="0" smtClean="0"/>
              <a:t>中最大的数</a:t>
            </a:r>
            <a:r>
              <a:rPr lang="en-US" altLang="zh-CN" dirty="0" smtClean="0"/>
              <a:t>Max</a:t>
            </a:r>
            <a:r>
              <a:rPr lang="zh-CN" altLang="zh-CN" dirty="0" smtClean="0"/>
              <a:t>。如果将数列中的每一个数字大小看成是一颗豆子的大小，我们可以利用一个</a:t>
            </a:r>
            <a:r>
              <a:rPr lang="en-US" altLang="zh-CN" dirty="0" smtClean="0"/>
              <a:t>“</a:t>
            </a:r>
            <a:r>
              <a:rPr lang="zh-CN" altLang="zh-CN" dirty="0" smtClean="0"/>
              <a:t>捡豆子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的生活算法来找到最大数，步骤如下：首先将第一颗豆子放入口袋中；从第二颗豆子开始比较，如果正在比较的豆子比口袋中的还大，则将它捡起放入口袋中，同时丢掉原先口袋中的豆子</a:t>
            </a:r>
            <a:r>
              <a:rPr lang="en-US" altLang="zh-CN" dirty="0" smtClean="0"/>
              <a:t>,</a:t>
            </a:r>
            <a:r>
              <a:rPr lang="zh-CN" altLang="zh-CN" dirty="0" smtClean="0"/>
              <a:t>如此循环直到最后一颗豆子；最后口袋中的豆子就是所有的豆子中最大的一颗。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 rotWithShape="1">
          <a:blip r:embed="rId2" cstate="print"/>
          <a:srcRect t="3383" b="1902"/>
          <a:stretch/>
        </p:blipFill>
        <p:spPr bwMode="auto">
          <a:xfrm>
            <a:off x="1214414" y="0"/>
            <a:ext cx="571504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c="http://schemas.openxmlformats.org/markup-compatibility/2006" xmlns:wpc="http://schemas.microsoft.com/office/word/2010/wordprocessingCanvas" xmlns="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1"/>
            <a:ext cx="8229600" cy="576064"/>
          </a:xfrm>
        </p:spPr>
        <p:txBody>
          <a:bodyPr/>
          <a:lstStyle/>
          <a:p>
            <a:pPr>
              <a:spcAft>
                <a:spcPts val="1800"/>
              </a:spcAft>
              <a:buNone/>
            </a:pP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(11) 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写出用递归算法计算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n!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的算法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1520" y="1196752"/>
            <a:ext cx="79208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算法如下：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、输入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的值</a:t>
            </a:r>
            <a:endParaRPr lang="en-US" altLang="zh-CN" dirty="0" smtClean="0"/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、递推阶段：因为</a:t>
            </a:r>
            <a:r>
              <a:rPr lang="en-US" altLang="zh-CN" dirty="0" smtClean="0"/>
              <a:t>n!=n*(n-1)!</a:t>
            </a:r>
            <a:r>
              <a:rPr lang="zh-CN" altLang="en-US" dirty="0" smtClean="0"/>
              <a:t>，所以计算</a:t>
            </a:r>
            <a:r>
              <a:rPr lang="en-US" altLang="zh-CN" dirty="0" smtClean="0"/>
              <a:t>n!</a:t>
            </a:r>
            <a:r>
              <a:rPr lang="zh-CN" altLang="en-US" dirty="0" smtClean="0"/>
              <a:t>必须先计算</a:t>
            </a:r>
            <a:r>
              <a:rPr lang="en-US" altLang="zh-CN" dirty="0" smtClean="0"/>
              <a:t>(n-1)!</a:t>
            </a:r>
            <a:r>
              <a:rPr lang="zh-CN" altLang="en-US" dirty="0" smtClean="0"/>
              <a:t>，而计算</a:t>
            </a:r>
            <a:r>
              <a:rPr lang="en-US" altLang="zh-CN" dirty="0" smtClean="0"/>
              <a:t>(n-1)!</a:t>
            </a:r>
            <a:r>
              <a:rPr lang="zh-CN" altLang="en-US" dirty="0" smtClean="0"/>
              <a:t>，又必须先计算</a:t>
            </a:r>
            <a:r>
              <a:rPr lang="en-US" altLang="zh-CN" dirty="0" smtClean="0"/>
              <a:t>(n-2)!</a:t>
            </a:r>
            <a:r>
              <a:rPr lang="zh-CN" altLang="en-US" dirty="0" smtClean="0"/>
              <a:t>，依次类推，直至计算</a:t>
            </a:r>
            <a:r>
              <a:rPr lang="en-US" altLang="zh-CN" dirty="0" smtClean="0"/>
              <a:t>1</a:t>
            </a:r>
            <a:r>
              <a:rPr lang="zh-CN" altLang="en-US" dirty="0" smtClean="0"/>
              <a:t>！，即的结果为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、回归阶段：得到</a:t>
            </a:r>
            <a:r>
              <a:rPr lang="en-US" altLang="zh-CN" dirty="0" smtClean="0"/>
              <a:t>1!</a:t>
            </a:r>
            <a:r>
              <a:rPr lang="zh-CN" altLang="en-US" dirty="0" smtClean="0"/>
              <a:t>后，返回得到</a:t>
            </a:r>
            <a:r>
              <a:rPr lang="en-US" altLang="zh-CN" dirty="0" smtClean="0"/>
              <a:t>2!</a:t>
            </a:r>
            <a:r>
              <a:rPr lang="zh-CN" altLang="en-US" dirty="0" smtClean="0"/>
              <a:t>的结果，</a:t>
            </a:r>
            <a:r>
              <a:rPr lang="en-US" altLang="zh-CN" dirty="0" smtClean="0"/>
              <a:t>……</a:t>
            </a:r>
            <a:r>
              <a:rPr lang="zh-CN" altLang="en-US" dirty="0" smtClean="0"/>
              <a:t>，在得到</a:t>
            </a:r>
            <a:r>
              <a:rPr lang="en-US" altLang="zh-CN" dirty="0" smtClean="0"/>
              <a:t>(n-1)!</a:t>
            </a:r>
            <a:r>
              <a:rPr lang="zh-CN" altLang="en-US" dirty="0" smtClean="0"/>
              <a:t>的结果后，返回得到</a:t>
            </a:r>
            <a:r>
              <a:rPr lang="en-US" altLang="zh-CN" dirty="0" smtClean="0"/>
              <a:t>n!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、输出</a:t>
            </a:r>
            <a:r>
              <a:rPr lang="en-US" altLang="zh-CN" dirty="0" smtClean="0"/>
              <a:t>n!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 smtClean="0"/>
              <a:t>(12) </a:t>
            </a:r>
            <a:r>
              <a:rPr lang="zh-CN" altLang="en-US" sz="2800" b="1" dirty="0" smtClean="0"/>
              <a:t>找出</a:t>
            </a:r>
            <a:r>
              <a:rPr lang="en-US" altLang="zh-CN" sz="2800" b="1" dirty="0" smtClean="0"/>
              <a:t>[1,1000]</a:t>
            </a:r>
            <a:r>
              <a:rPr lang="zh-CN" altLang="en-US" sz="2800" b="1" dirty="0" smtClean="0"/>
              <a:t>中所有能被</a:t>
            </a:r>
            <a:r>
              <a:rPr lang="en-US" altLang="zh-CN" sz="2800" b="1" dirty="0" smtClean="0"/>
              <a:t>7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11</a:t>
            </a:r>
            <a:r>
              <a:rPr lang="zh-CN" altLang="en-US" sz="2800" b="1" dirty="0" smtClean="0"/>
              <a:t>整除的数</a:t>
            </a:r>
            <a:endParaRPr lang="zh-CN" altLang="en-US" sz="2800" b="1" dirty="0"/>
          </a:p>
        </p:txBody>
      </p:sp>
      <p:graphicFrame>
        <p:nvGraphicFramePr>
          <p:cNvPr id="180226" name="Object 2"/>
          <p:cNvGraphicFramePr>
            <a:graphicFrameLocks noChangeAspect="1"/>
          </p:cNvGraphicFramePr>
          <p:nvPr/>
        </p:nvGraphicFramePr>
        <p:xfrm>
          <a:off x="1115616" y="764704"/>
          <a:ext cx="6480720" cy="6036092"/>
        </p:xfrm>
        <a:graphic>
          <a:graphicData uri="http://schemas.openxmlformats.org/presentationml/2006/ole">
            <p:oleObj spid="_x0000_s180226" name="Visio" r:id="rId4" imgW="2435485" imgH="3346494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5" name="Rectangle 1"/>
          <p:cNvSpPr>
            <a:spLocks noChangeArrowheads="1"/>
          </p:cNvSpPr>
          <p:nvPr/>
        </p:nvSpPr>
        <p:spPr bwMode="auto">
          <a:xfrm>
            <a:off x="179512" y="1060534"/>
            <a:ext cx="8496944" cy="261610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）初始化：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x=1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1000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，依次地对每个数进行检验：如果能被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和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整除，就打印输出，否则继续下一个数。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）重复第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至第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步，直到循环结束。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3" name="Rectangle 1"/>
          <p:cNvSpPr>
            <a:spLocks noChangeArrowheads="1"/>
          </p:cNvSpPr>
          <p:nvPr/>
        </p:nvSpPr>
        <p:spPr bwMode="auto">
          <a:xfrm>
            <a:off x="323528" y="508030"/>
            <a:ext cx="8532440" cy="518603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(13)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一张单据上有一个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位数的编号，万位数是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，千位数时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，百位数是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，个位数、十位数已经模糊不清。该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位数是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或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67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的倍数，输出所有满足这些条件的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位数的个数。设计本问题的算法。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设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变量分别表示十位数和个位数。其取值范围为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en-US" altLang="zh-CN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dirty="0" smtClean="0">
                <a:solidFill>
                  <a:srgbClr val="FF0000"/>
                </a:solidFill>
                <a:latin typeface="Arial" pitchFamily="34" charset="0"/>
                <a:cs typeface="宋体" pitchFamily="2" charset="-122"/>
              </a:rPr>
              <a:t>第一种自然语言</a:t>
            </a:r>
            <a:endParaRPr kumimoji="0" lang="zh-CN" altLang="en-US" sz="22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，依次地让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）在循环中，对于上述每一个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变量值，如果组成的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位数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(14700+10*x+y)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是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57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或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67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的倍数，就输出当前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变量的值； 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）重复第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至第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步，直到循环结束。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09" name="Rectangle 1"/>
          <p:cNvSpPr>
            <a:spLocks noChangeArrowheads="1"/>
          </p:cNvSpPr>
          <p:nvPr/>
        </p:nvSpPr>
        <p:spPr bwMode="auto">
          <a:xfrm>
            <a:off x="357158" y="1428736"/>
            <a:ext cx="8535322" cy="2846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1938">
              <a:spcAft>
                <a:spcPts val="600"/>
              </a:spcAft>
            </a:pPr>
            <a:r>
              <a:rPr kumimoji="0" lang="zh-CN" altLang="en-US" sz="2200" dirty="0" smtClean="0">
                <a:latin typeface="Calibri" pitchFamily="34" charset="0"/>
                <a:cs typeface="Times New Roman" pitchFamily="18" charset="0"/>
              </a:rPr>
              <a:t>自然语言描述的算法步骤如下：</a:t>
            </a:r>
            <a:endParaRPr kumimoji="0" lang="zh-CN" altLang="en-US" sz="2200" b="0" dirty="0" smtClean="0">
              <a:latin typeface="Arial" pitchFamily="34" charset="0"/>
              <a:cs typeface="宋体" pitchFamily="2" charset="-122"/>
            </a:endParaRPr>
          </a:p>
          <a:p>
            <a:pPr marL="0" marR="0" lvl="0" indent="26193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n=0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14700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14799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）对于上述每一个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，如果是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57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或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67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的倍数，则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n=n+1,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否则执行下一步； 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）重复第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至第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步，直到循环结束。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）输出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n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158" y="928670"/>
            <a:ext cx="26151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1938" eaLnBrk="0" hangingPunct="0"/>
            <a:r>
              <a:rPr kumimoji="0" lang="zh-CN" altLang="en-US" dirty="0" smtClean="0">
                <a:solidFill>
                  <a:srgbClr val="FF0000"/>
                </a:solidFill>
                <a:latin typeface="Arial" pitchFamily="34" charset="0"/>
                <a:cs typeface="宋体" pitchFamily="2" charset="-122"/>
              </a:rPr>
              <a:t>第二种自然语言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标注 4"/>
          <p:cNvSpPr/>
          <p:nvPr/>
        </p:nvSpPr>
        <p:spPr>
          <a:xfrm>
            <a:off x="6588224" y="1052736"/>
            <a:ext cx="2232248" cy="504056"/>
          </a:xfrm>
          <a:prstGeom prst="wedgeRoundRectCallout">
            <a:avLst>
              <a:gd name="adj1" fmla="val -111941"/>
              <a:gd name="adj2" fmla="val 6625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x=14700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588224" y="1916832"/>
            <a:ext cx="2232248" cy="504056"/>
          </a:xfrm>
          <a:prstGeom prst="wedgeRoundRectCallout">
            <a:avLst>
              <a:gd name="adj1" fmla="val -136660"/>
              <a:gd name="adj2" fmla="val 631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x=14799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6804248" y="2780928"/>
            <a:ext cx="2232248" cy="504056"/>
          </a:xfrm>
          <a:prstGeom prst="wedgeRoundRectCallout">
            <a:avLst>
              <a:gd name="adj1" fmla="val -136660"/>
              <a:gd name="adj2" fmla="val 631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X</a:t>
            </a:r>
            <a:r>
              <a:rPr lang="zh-CN" altLang="en-US" sz="2000" dirty="0" smtClean="0">
                <a:solidFill>
                  <a:schemeClr val="tx1"/>
                </a:solidFill>
              </a:rPr>
              <a:t>能被</a:t>
            </a:r>
            <a:r>
              <a:rPr lang="en-US" altLang="zh-CN" sz="2000" dirty="0" smtClean="0">
                <a:solidFill>
                  <a:schemeClr val="tx1"/>
                </a:solidFill>
              </a:rPr>
              <a:t>57</a:t>
            </a:r>
            <a:r>
              <a:rPr lang="zh-CN" altLang="en-US" sz="2000" dirty="0" smtClean="0">
                <a:solidFill>
                  <a:schemeClr val="tx1"/>
                </a:solidFill>
              </a:rPr>
              <a:t>或</a:t>
            </a:r>
            <a:r>
              <a:rPr lang="en-US" altLang="zh-CN" sz="2000" dirty="0" smtClean="0">
                <a:solidFill>
                  <a:schemeClr val="tx1"/>
                </a:solidFill>
              </a:rPr>
              <a:t>63</a:t>
            </a:r>
            <a:r>
              <a:rPr lang="zh-CN" altLang="en-US" sz="2000" dirty="0" smtClean="0">
                <a:solidFill>
                  <a:schemeClr val="tx1"/>
                </a:solidFill>
              </a:rPr>
              <a:t>整除？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20" y="285728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流程图：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>
            <p:ph idx="1"/>
          </p:nvPr>
        </p:nvGraphicFramePr>
        <p:xfrm>
          <a:off x="1835696" y="-27384"/>
          <a:ext cx="4991096" cy="6858690"/>
        </p:xfrm>
        <a:graphic>
          <a:graphicData uri="http://schemas.openxmlformats.org/presentationml/2006/ole">
            <p:oleObj spid="_x0000_s315395" name="Visio" r:id="rId3" imgW="2435485" imgH="3346494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  <p:bldP spid="7" grpId="0" build="allAtOnce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7858" name="Object 2"/>
          <p:cNvGraphicFramePr>
            <a:graphicFrameLocks noChangeAspect="1"/>
          </p:cNvGraphicFramePr>
          <p:nvPr/>
        </p:nvGraphicFramePr>
        <p:xfrm>
          <a:off x="1691680" y="138385"/>
          <a:ext cx="5544616" cy="6530975"/>
        </p:xfrm>
        <a:graphic>
          <a:graphicData uri="http://schemas.openxmlformats.org/presentationml/2006/ole">
            <p:oleObj spid="_x0000_s377858" name="Visio" r:id="rId3" imgW="2435485" imgH="3346494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7" name="Rectangle 1"/>
          <p:cNvSpPr>
            <a:spLocks noChangeArrowheads="1"/>
          </p:cNvSpPr>
          <p:nvPr/>
        </p:nvSpPr>
        <p:spPr bwMode="auto">
          <a:xfrm>
            <a:off x="107504" y="71414"/>
            <a:ext cx="8748464" cy="670952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(14)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雨水淋湿了算术书的一道题，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8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个数字只能看清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个，第一个数字虽然看不清，但可看出不是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。设计一个算法求其余数字是什么？ 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[ □×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（□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＋□）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]</a:t>
            </a:r>
            <a:r>
              <a:rPr kumimoji="0" lang="en-US" altLang="zh-CN" b="1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= 8□□9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设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 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五个变量分别表示自左到右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个未知的数字。其中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的取值范围为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，其余取值范围为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。条件表达式即为给定算式。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，依次地让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，依次地让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，依次地让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）对于每一个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，依次地让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从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循环到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）在循环中，对于上述每一个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五个变量值，如果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[ □×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（□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＋□）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]</a:t>
            </a:r>
            <a:r>
              <a:rPr kumimoji="0" lang="en-US" altLang="zh-CN" sz="2200" b="1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= 8□□9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成立，就输出当前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、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五个变量的值；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（详细条件：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(A*(B*10+3+C)**2=8009+D*100+E*10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）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）重复第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至第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步，直到循环结束。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1" name="Rectangle 1"/>
          <p:cNvSpPr>
            <a:spLocks noChangeArrowheads="1"/>
          </p:cNvSpPr>
          <p:nvPr/>
        </p:nvSpPr>
        <p:spPr bwMode="auto">
          <a:xfrm>
            <a:off x="144016" y="605299"/>
            <a:ext cx="8820472" cy="566308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(15)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有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个人，第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个人说他比第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个人大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岁，第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个人说他对第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个人大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岁，第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个人说他比第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个人大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岁，第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个人说他比第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个人大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岁，第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个人说他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岁。求第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个人多少岁。设计本问题的算法。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1938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通过分析，设计递归函数如下：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10         (n=1)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      age(n)= age(n-1)+2  (n&gt;1)</a:t>
            </a:r>
          </a:p>
          <a:p>
            <a:pPr marL="0" marR="0" lvl="0" indent="261938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en-US" altLang="zh-CN" sz="2200" b="0" dirty="0" smtClean="0">
              <a:latin typeface="Arial" pitchFamily="34" charset="0"/>
              <a:cs typeface="Times New Roman" pitchFamily="18" charset="0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）递推阶段：求解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age(5)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，把它递推到求解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age(4)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。而计算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age(4)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，又必须先计算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age(3)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。依次类推，直至计算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时，立即得到结果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）回归阶段：得到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后，返回得到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age(2)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的结果，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……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，在得到了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age(4)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的结果后，返回得到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 (5)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）输出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age(5)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的值。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5" name="Rectangle 1"/>
          <p:cNvSpPr>
            <a:spLocks noChangeArrowheads="1"/>
          </p:cNvSpPr>
          <p:nvPr/>
        </p:nvSpPr>
        <p:spPr bwMode="auto">
          <a:xfrm>
            <a:off x="107504" y="366911"/>
            <a:ext cx="8748464" cy="503214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(16)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有个莲花池里起初有一只莲花，每过一天莲花的数量就会翻一倍。假设莲花永远不凋谢，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30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天的时候莲花池全部长满了莲花，请问第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23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天的莲花占莲花池的几分之几？设计本问题的算法。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Times New Roman" pitchFamily="18" charset="0"/>
            </a:endParaRPr>
          </a:p>
          <a:p>
            <a:pPr marL="0"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首先定义最终终止条件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F(1)=1;</a:t>
            </a:r>
            <a:endParaRPr kumimoji="0" lang="en-US" alt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然后定义递归公式：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F(n)=F(n-1)*2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）递推阶段：求解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，把它递推到求解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，而计算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，又必须先计算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F(n-2)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。依次类推，直至计算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时，立即得到结果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）回归阶段：得到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后，返回得到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F(2)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的结果，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……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，在得到了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的结果后，返回得到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F(23)/F(30)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，输出其值。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7158" y="357166"/>
            <a:ext cx="85011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kumimoji="0" lang="zh-CN" altLang="en-US" dirty="0" smtClean="0">
                <a:solidFill>
                  <a:srgbClr val="FF0000"/>
                </a:solidFill>
                <a:latin typeface="Arial" pitchFamily="34" charset="0"/>
                <a:cs typeface="Times New Roman" pitchFamily="18" charset="0"/>
              </a:rPr>
              <a:t>（</a:t>
            </a:r>
            <a:r>
              <a:rPr kumimoji="0" lang="en-US" altLang="zh-CN" dirty="0" smtClean="0">
                <a:solidFill>
                  <a:srgbClr val="FF0000"/>
                </a:solidFill>
                <a:latin typeface="Arial" pitchFamily="34" charset="0"/>
                <a:cs typeface="Times New Roman" pitchFamily="18" charset="0"/>
              </a:rPr>
              <a:t>17</a:t>
            </a:r>
            <a:r>
              <a:rPr kumimoji="0" lang="zh-CN" altLang="en-US" dirty="0" smtClean="0">
                <a:solidFill>
                  <a:srgbClr val="FF0000"/>
                </a:solidFill>
                <a:latin typeface="Arial" pitchFamily="34" charset="0"/>
                <a:cs typeface="Times New Roman" pitchFamily="18" charset="0"/>
              </a:rPr>
              <a:t>）有一个农场在第一年的时候买了一头刚出生的牛，这头牛在第四年的时候就能生一头小牛，以后每年这头牛就会生一头小牛。这些小牛成长到第四年又会生小牛，以后每年同样会生一头牛，假设牛不死，如此反复。请问</a:t>
            </a:r>
            <a:r>
              <a:rPr kumimoji="0" lang="en-US" altLang="zh-CN" dirty="0" smtClean="0">
                <a:solidFill>
                  <a:srgbClr val="FF0000"/>
                </a:solidFill>
                <a:latin typeface="Arial" pitchFamily="34" charset="0"/>
                <a:cs typeface="Times New Roman" pitchFamily="18" charset="0"/>
              </a:rPr>
              <a:t>50</a:t>
            </a:r>
            <a:r>
              <a:rPr kumimoji="0" lang="zh-CN" altLang="en-US" dirty="0" smtClean="0">
                <a:solidFill>
                  <a:srgbClr val="FF0000"/>
                </a:solidFill>
                <a:latin typeface="Arial" pitchFamily="34" charset="0"/>
                <a:cs typeface="Times New Roman" pitchFamily="18" charset="0"/>
              </a:rPr>
              <a:t>年后，这个农场会有多少头牛？设计本问题的算法。</a:t>
            </a:r>
          </a:p>
        </p:txBody>
      </p:sp>
      <p:sp>
        <p:nvSpPr>
          <p:cNvPr id="325633" name="Rectangle 1"/>
          <p:cNvSpPr>
            <a:spLocks noChangeArrowheads="1"/>
          </p:cNvSpPr>
          <p:nvPr/>
        </p:nvSpPr>
        <p:spPr bwMode="auto">
          <a:xfrm>
            <a:off x="285720" y="2285992"/>
            <a:ext cx="678661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193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设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n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Times New Roman" pitchFamily="18" charset="0"/>
              </a:rPr>
              <a:t>代表牛的年龄，题意可以递归地定义为：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04" y="2714620"/>
            <a:ext cx="3429024" cy="1428760"/>
          </a:xfrm>
          <a:prstGeom prst="rect">
            <a:avLst/>
          </a:prstGeom>
        </p:spPr>
      </p:pic>
      <p:sp>
        <p:nvSpPr>
          <p:cNvPr id="325634" name="Rectangle 2"/>
          <p:cNvSpPr>
            <a:spLocks noChangeArrowheads="1"/>
          </p:cNvSpPr>
          <p:nvPr/>
        </p:nvSpPr>
        <p:spPr bwMode="auto">
          <a:xfrm>
            <a:off x="285720" y="4181497"/>
            <a:ext cx="8643998" cy="24622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自然语言描述的算法步骤如下：</a:t>
            </a:r>
            <a:endParaRPr kumimoji="0" lang="zh-CN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）递推阶段：求解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，把它递推到求解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F(n-1)+F(n-3)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，而计算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，又必须先计算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F(n-2)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和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F(n-4)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。依次类推，直至计算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F(4)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时，需要计算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F(3)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和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F(1)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，立即得到结果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1+1=2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）回归阶段：得</a:t>
            </a:r>
            <a:r>
              <a:rPr kumimoji="0" lang="zh-CN" altLang="en-US" sz="22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到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F(4)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后，返回得到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F(5)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的结果，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……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，在得到了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F(49)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和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F(47)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的结果后，返回得到</a:t>
            </a:r>
            <a:r>
              <a:rPr kumimoji="0" lang="en-US" altLang="zh-CN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F(50)</a:t>
            </a:r>
            <a:r>
              <a:rPr kumimoji="0" lang="zh-CN" altLang="en-US" sz="2200" b="1" i="0" u="none" strike="noStrike" cap="none" normalizeH="0" baseline="0" dirty="0" smtClean="0" bmk="_GoBack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的结果。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）输出</a:t>
            </a:r>
            <a:r>
              <a:rPr kumimoji="0" lang="en-US" altLang="zh-CN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F(50)</a:t>
            </a:r>
            <a:r>
              <a:rPr kumimoji="0" lang="zh-CN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zh-CN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</TotalTime>
  <Words>4149</Words>
  <Application>Microsoft Office PowerPoint</Application>
  <PresentationFormat>全屏显示(4:3)</PresentationFormat>
  <Paragraphs>397</Paragraphs>
  <Slides>56</Slides>
  <Notes>21</Notes>
  <HiddenSlides>0</HiddenSlides>
  <MMClips>0</MMClips>
  <ScaleCrop>false</ScaleCrop>
  <HeadingPairs>
    <vt:vector size="8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56</vt:i4>
      </vt:variant>
      <vt:variant>
        <vt:lpstr>自定义放映</vt:lpstr>
      </vt:variant>
      <vt:variant>
        <vt:i4>2</vt:i4>
      </vt:variant>
    </vt:vector>
  </HeadingPairs>
  <TitlesOfParts>
    <vt:vector size="62" baseType="lpstr">
      <vt:lpstr>Office 主题​​</vt:lpstr>
      <vt:lpstr>Visio</vt:lpstr>
      <vt:lpstr>公式</vt:lpstr>
      <vt:lpstr>Microsoft Equation 3.0</vt:lpstr>
      <vt:lpstr>大学计算机                 ——计算思维导论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计算长方形面积</vt:lpstr>
      <vt:lpstr>求两个数中较大的数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自定义放映1</vt:lpstr>
      <vt:lpstr>简介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大学计算机 ——计算文化与计算思维基础</dc:title>
  <cp:lastModifiedBy>Huangyuan</cp:lastModifiedBy>
  <cp:revision>498</cp:revision>
  <dcterms:created xsi:type="dcterms:W3CDTF">2006-08-24T14:28:16Z</dcterms:created>
  <dcterms:modified xsi:type="dcterms:W3CDTF">2020-11-13T10:52:36Z</dcterms:modified>
</cp:coreProperties>
</file>