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8ED"/>
    <a:srgbClr val="EBF1DE"/>
    <a:srgbClr val="F6F9F0"/>
    <a:srgbClr val="0E6B4F"/>
    <a:srgbClr val="003F2A"/>
    <a:srgbClr val="58A2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739" y="-86"/>
      </p:cViewPr>
      <p:guideLst>
        <p:guide orient="horz" pos="2207"/>
        <p:guide pos="3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8976784" y="349253"/>
            <a:ext cx="22402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400" dirty="0" smtClean="0">
                <a:solidFill>
                  <a:prstClr val="white"/>
                </a:solidFill>
              </a:rPr>
              <a:t>第</a:t>
            </a:r>
            <a:r>
              <a:rPr lang="en-US" altLang="zh-CN" sz="2400" dirty="0" smtClean="0">
                <a:solidFill>
                  <a:prstClr val="white"/>
                </a:solidFill>
              </a:rPr>
              <a:t>5</a:t>
            </a:r>
            <a:r>
              <a:rPr lang="zh-CN" altLang="en-US" sz="2400" dirty="0" smtClean="0">
                <a:solidFill>
                  <a:prstClr val="white"/>
                </a:solidFill>
              </a:rPr>
              <a:t>章 机械振动</a:t>
            </a:r>
            <a:endParaRPr lang="zh-CN" altLang="en-US" sz="240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7823200" y="357718"/>
            <a:ext cx="4224867" cy="445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rgbClr val="FFFFFF"/>
                </a:solidFill>
                <a:ea typeface="华文中宋" pitchFamily="2" charset="-122"/>
                <a:cs typeface="Times New Roman" panose="02020603050405020304" pitchFamily="18" charset="0"/>
              </a:rPr>
              <a:t>§5- 1  </a:t>
            </a: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anose="02020603050405020304" pitchFamily="18" charset="0"/>
              </a:rPr>
              <a:t>简谐振动的动力学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8303688" y="427568"/>
            <a:ext cx="3744383" cy="408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1800">
                <a:solidFill>
                  <a:srgbClr val="FFFFFF"/>
                </a:solidFill>
                <a:ea typeface="华文中宋" pitchFamily="2" charset="-122"/>
                <a:cs typeface="Times New Roman" panose="02020603050405020304" pitchFamily="18" charset="0"/>
              </a:rPr>
              <a:t>§5- 2  </a:t>
            </a:r>
            <a:r>
              <a:rPr lang="zh-CN" altLang="en-US" sz="1800">
                <a:solidFill>
                  <a:srgbClr val="FFFFFF"/>
                </a:solidFill>
                <a:ea typeface="华文中宋" pitchFamily="2" charset="-122"/>
                <a:cs typeface="Times New Roman" panose="02020603050405020304" pitchFamily="18" charset="0"/>
              </a:rPr>
              <a:t>简谐振动的运动学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8257121" y="452967"/>
            <a:ext cx="3744383" cy="445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rgbClr val="FFFFFF"/>
                </a:solidFill>
                <a:ea typeface="华文中宋" pitchFamily="2" charset="-122"/>
                <a:cs typeface="Times New Roman" panose="02020603050405020304" pitchFamily="18" charset="0"/>
              </a:rPr>
              <a:t>§5- 3  </a:t>
            </a: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anose="02020603050405020304" pitchFamily="18" charset="0"/>
              </a:rPr>
              <a:t>简谐振动的能量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8208437" y="433919"/>
            <a:ext cx="3839633" cy="445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rgbClr val="FFFFFF"/>
                </a:solidFill>
                <a:ea typeface="华文中宋" pitchFamily="2" charset="-122"/>
                <a:cs typeface="Times New Roman" panose="02020603050405020304" pitchFamily="18" charset="0"/>
              </a:rPr>
              <a:t>§5- 4  </a:t>
            </a: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anose="02020603050405020304" pitchFamily="18" charset="0"/>
              </a:rPr>
              <a:t>简谐振动的合成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6959600" y="433919"/>
            <a:ext cx="5088467" cy="445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rgbClr val="FFFFFF"/>
                </a:solidFill>
                <a:ea typeface="华文中宋" pitchFamily="2" charset="-122"/>
                <a:cs typeface="Times New Roman" panose="02020603050405020304" pitchFamily="18" charset="0"/>
              </a:rPr>
              <a:t>§5- 5  </a:t>
            </a: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anose="02020603050405020304" pitchFamily="18" charset="0"/>
              </a:rPr>
              <a:t>阻尼振动 受迫振动 共振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10416117" y="433919"/>
            <a:ext cx="1631949" cy="445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anose="02020603050405020304" pitchFamily="18" charset="0"/>
              </a:rPr>
              <a:t>本章小结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t>2018/2/23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0-0-&#24635;&#30446;&#24405;.pptx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-14817" y="-40217"/>
            <a:ext cx="12219517" cy="1174751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b="0" noProof="1">
              <a:solidFill>
                <a:prstClr val="white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90500" y="1028700"/>
            <a:ext cx="11808884" cy="0"/>
          </a:xfrm>
          <a:prstGeom prst="line">
            <a:avLst/>
          </a:prstGeom>
          <a:ln w="31750">
            <a:solidFill>
              <a:schemeClr val="bg1">
                <a:alpha val="2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图片 10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68" y="114301"/>
            <a:ext cx="700617" cy="817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Box 11"/>
          <p:cNvSpPr txBox="1">
            <a:spLocks noChangeArrowheads="1"/>
          </p:cNvSpPr>
          <p:nvPr userDrawn="1"/>
        </p:nvSpPr>
        <p:spPr bwMode="auto">
          <a:xfrm>
            <a:off x="1661584" y="548218"/>
            <a:ext cx="2355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1800" b="0" dirty="0" smtClean="0">
                <a:solidFill>
                  <a:prstClr val="white"/>
                </a:solidFill>
                <a:latin typeface="Calibri" panose="020F0502020204030204" pitchFamily="34" charset="0"/>
              </a:rPr>
              <a:t>大学物理学（第</a:t>
            </a:r>
            <a:r>
              <a:rPr lang="en-US" altLang="zh-CN" sz="1800" b="0" dirty="0" smtClean="0">
                <a:solidFill>
                  <a:prstClr val="white"/>
                </a:solidFill>
                <a:latin typeface="Calibri" panose="020F0502020204030204" pitchFamily="34" charset="0"/>
              </a:rPr>
              <a:t>5</a:t>
            </a:r>
            <a:r>
              <a:rPr lang="zh-CN" altLang="en-US" sz="1800" b="0" dirty="0" smtClean="0">
                <a:solidFill>
                  <a:prstClr val="white"/>
                </a:solidFill>
                <a:latin typeface="Calibri" panose="020F0502020204030204" pitchFamily="34" charset="0"/>
              </a:rPr>
              <a:t>版）</a:t>
            </a:r>
            <a:endParaRPr lang="zh-CN" altLang="en-US" sz="1800" b="0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1030" name="TextBox 12"/>
          <p:cNvSpPr txBox="1">
            <a:spLocks noChangeArrowheads="1"/>
          </p:cNvSpPr>
          <p:nvPr userDrawn="1"/>
        </p:nvSpPr>
        <p:spPr bwMode="auto">
          <a:xfrm>
            <a:off x="1102784" y="179918"/>
            <a:ext cx="373888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1400" b="0" dirty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“十二五”普通高等教育本科国家级规划教材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12700" y="1134534"/>
            <a:ext cx="12164484" cy="499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b="0" noProof="1">
              <a:solidFill>
                <a:prstClr val="white"/>
              </a:solidFill>
            </a:endParaRPr>
          </a:p>
        </p:txBody>
      </p:sp>
      <p:sp>
        <p:nvSpPr>
          <p:cNvPr id="28" name="矩形 27">
            <a:hlinkClick r:id="" action="ppaction://hlinkshowjump?jump=previousslide"/>
          </p:cNvPr>
          <p:cNvSpPr/>
          <p:nvPr userDrawn="1"/>
        </p:nvSpPr>
        <p:spPr>
          <a:xfrm>
            <a:off x="10043585" y="6309785"/>
            <a:ext cx="960967" cy="38523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300" b="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29" name="矩形 28">
            <a:hlinkClick r:id="" action="ppaction://hlinkshowjump?jump=nextslide"/>
          </p:cNvPr>
          <p:cNvSpPr/>
          <p:nvPr userDrawn="1"/>
        </p:nvSpPr>
        <p:spPr>
          <a:xfrm>
            <a:off x="11099801" y="6307668"/>
            <a:ext cx="960967" cy="38523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300" b="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30" name="矩形 29">
            <a:hlinkClick r:id="" action="ppaction://hlinkshowjump?jump=firstslide"/>
          </p:cNvPr>
          <p:cNvSpPr/>
          <p:nvPr userDrawn="1"/>
        </p:nvSpPr>
        <p:spPr>
          <a:xfrm>
            <a:off x="8987368" y="6309785"/>
            <a:ext cx="960967" cy="38523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300" b="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35" name="矩形 16">
            <a:hlinkClick r:id="" action="ppaction://hlinkshowjump?jump=nextslide"/>
          </p:cNvPr>
          <p:cNvSpPr>
            <a:spLocks noChangeArrowheads="1"/>
          </p:cNvSpPr>
          <p:nvPr userDrawn="1"/>
        </p:nvSpPr>
        <p:spPr bwMode="auto">
          <a:xfrm>
            <a:off x="11240559" y="6356774"/>
            <a:ext cx="678180" cy="291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300" b="0">
                <a:solidFill>
                  <a:srgbClr val="FFFFFF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下一页</a:t>
            </a:r>
          </a:p>
        </p:txBody>
      </p:sp>
      <p:sp>
        <p:nvSpPr>
          <p:cNvPr id="1036" name="矩形 30">
            <a:hlinkClick r:id="" action="ppaction://hlinkshowjump?jump=previousslide"/>
          </p:cNvPr>
          <p:cNvSpPr>
            <a:spLocks noChangeArrowheads="1"/>
          </p:cNvSpPr>
          <p:nvPr userDrawn="1"/>
        </p:nvSpPr>
        <p:spPr bwMode="auto">
          <a:xfrm>
            <a:off x="10185401" y="6356774"/>
            <a:ext cx="678180" cy="291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300" b="0">
                <a:solidFill>
                  <a:srgbClr val="FFFFFF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上一页</a:t>
            </a:r>
          </a:p>
        </p:txBody>
      </p:sp>
      <p:sp>
        <p:nvSpPr>
          <p:cNvPr id="1037" name="矩形 1024">
            <a:hlinkClick r:id="" action="ppaction://hlinkshowjump?jump=firstslide"/>
          </p:cNvPr>
          <p:cNvSpPr>
            <a:spLocks noChangeArrowheads="1"/>
          </p:cNvSpPr>
          <p:nvPr userDrawn="1"/>
        </p:nvSpPr>
        <p:spPr bwMode="auto">
          <a:xfrm>
            <a:off x="9095106" y="6375188"/>
            <a:ext cx="678180" cy="291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300" b="0">
                <a:solidFill>
                  <a:srgbClr val="FFFFFF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节目录</a:t>
            </a:r>
          </a:p>
        </p:txBody>
      </p:sp>
      <p:sp>
        <p:nvSpPr>
          <p:cNvPr id="38" name="矩形 37">
            <a:hlinkClick r:id="rId13" action="ppaction://hlinkpres?slideindex=1&amp;slidetitle="/>
          </p:cNvPr>
          <p:cNvSpPr/>
          <p:nvPr userDrawn="1"/>
        </p:nvSpPr>
        <p:spPr>
          <a:xfrm>
            <a:off x="7920357" y="6310208"/>
            <a:ext cx="960967" cy="38523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300" b="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39" name="矩形 36"/>
          <p:cNvSpPr>
            <a:spLocks noChangeArrowheads="1"/>
          </p:cNvSpPr>
          <p:nvPr userDrawn="1"/>
        </p:nvSpPr>
        <p:spPr bwMode="auto">
          <a:xfrm>
            <a:off x="8061961" y="6375189"/>
            <a:ext cx="678180" cy="291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300" b="0">
                <a:solidFill>
                  <a:srgbClr val="FFFFFF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章目录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3-&#31532;3&#31456;%20%20%20&#21018;&#20307;&#21147;&#23398;&#22522;&#30784;.pptx" TargetMode="External"/><Relationship Id="rId3" Type="http://schemas.openxmlformats.org/officeDocument/2006/relationships/hyperlink" Target="0-3-&#31532;&#20108;&#31687;%20&#28909;&#21147;&#23398;&#31687;.pptx" TargetMode="External"/><Relationship Id="rId7" Type="http://schemas.openxmlformats.org/officeDocument/2006/relationships/hyperlink" Target="7-&#31532;7&#31456;%20%20%20&#27668;&#20307;&#21160;&#29702;&#35770;&#22522;&#30784;.pptx" TargetMode="External"/><Relationship Id="rId12" Type="http://schemas.openxmlformats.org/officeDocument/2006/relationships/hyperlink" Target="8-&#31532;8&#31456;%20%20%20&#28909;&#21147;&#23398;&#22522;&#30784;.pptx" TargetMode="External"/><Relationship Id="rId2" Type="http://schemas.openxmlformats.org/officeDocument/2006/relationships/hyperlink" Target="0-2-&#31532;&#19968;&#31687;%20&#21147;&#23398;&#22522;&#30784;.pptx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2-&#31532;2&#31456;%20%20%20&#36136;&#28857;&#21160;&#21147;&#23398;.pptx" TargetMode="External"/><Relationship Id="rId11" Type="http://schemas.openxmlformats.org/officeDocument/2006/relationships/hyperlink" Target="6-&#31532;6&#31456;%20%20%20&#26426;&#26800;&#27874;.pptx" TargetMode="External"/><Relationship Id="rId5" Type="http://schemas.openxmlformats.org/officeDocument/2006/relationships/hyperlink" Target="1-&#31532;1&#31456;%20%20%20&#36136;&#28857;&#36816;&#21160;&#23398;.pptx" TargetMode="External"/><Relationship Id="rId10" Type="http://schemas.openxmlformats.org/officeDocument/2006/relationships/hyperlink" Target="5-&#31532;5&#31456;%20%20%20&#26426;&#26800;&#25391;&#21160;.pptx" TargetMode="External"/><Relationship Id="rId4" Type="http://schemas.openxmlformats.org/officeDocument/2006/relationships/hyperlink" Target="0-1-&#32490;&#35770;.pptx" TargetMode="External"/><Relationship Id="rId9" Type="http://schemas.openxmlformats.org/officeDocument/2006/relationships/hyperlink" Target="4-&#31532;4&#31456;%20%20%20&#29421;&#20041;&#30456;&#23545;&#35770;&#22522;&#30784;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五边形 4">
            <a:hlinkClick r:id="rId2" action="ppaction://hlinkpres?slideindex=1&amp;slidetitle="/>
          </p:cNvPr>
          <p:cNvSpPr/>
          <p:nvPr/>
        </p:nvSpPr>
        <p:spPr>
          <a:xfrm>
            <a:off x="3153410" y="1487170"/>
            <a:ext cx="2682240" cy="461665"/>
          </a:xfrm>
          <a:prstGeom prst="homePlat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58A289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58A289"/>
                </a:solidFill>
                <a:latin typeface="微软雅黑" panose="020B0503020204020204" charset="-122"/>
                <a:ea typeface="微软雅黑" panose="020B0503020204020204" charset="-122"/>
              </a:rPr>
              <a:t>第一</a:t>
            </a:r>
            <a:r>
              <a:rPr lang="zh-CN" altLang="en-US" sz="2400" b="1" dirty="0">
                <a:solidFill>
                  <a:srgbClr val="58A289"/>
                </a:solidFill>
                <a:latin typeface="微软雅黑" panose="020B0503020204020204" charset="-122"/>
                <a:ea typeface="微软雅黑" panose="020B0503020204020204" charset="-122"/>
              </a:rPr>
              <a:t>篇 力学基础</a:t>
            </a:r>
          </a:p>
        </p:txBody>
      </p:sp>
      <p:sp>
        <p:nvSpPr>
          <p:cNvPr id="6" name="五边形 5">
            <a:hlinkClick r:id="rId3" action="ppaction://hlinkpres?slideindex=1&amp;slidetitle="/>
          </p:cNvPr>
          <p:cNvSpPr/>
          <p:nvPr/>
        </p:nvSpPr>
        <p:spPr>
          <a:xfrm>
            <a:off x="6968490" y="1487170"/>
            <a:ext cx="2741930" cy="461665"/>
          </a:xfrm>
          <a:prstGeom prst="homePlat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58A289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58A289"/>
                </a:solidFill>
                <a:latin typeface="微软雅黑" panose="020B0503020204020204" charset="-122"/>
                <a:ea typeface="微软雅黑" panose="020B0503020204020204" charset="-122"/>
              </a:rPr>
              <a:t>第二</a:t>
            </a:r>
            <a:r>
              <a:rPr lang="zh-CN" altLang="en-US" sz="2400" b="1" dirty="0">
                <a:solidFill>
                  <a:srgbClr val="58A289"/>
                </a:solidFill>
                <a:latin typeface="微软雅黑" panose="020B0503020204020204" charset="-122"/>
                <a:ea typeface="微软雅黑" panose="020B0503020204020204" charset="-122"/>
              </a:rPr>
              <a:t>篇 热力学篇</a:t>
            </a:r>
          </a:p>
        </p:txBody>
      </p:sp>
      <p:sp>
        <p:nvSpPr>
          <p:cNvPr id="3" name="文本框 2">
            <a:hlinkClick r:id="rId4" action="ppaction://hlinkpres?slideindex=1&amp;slidetitle="/>
          </p:cNvPr>
          <p:cNvSpPr txBox="1"/>
          <p:nvPr/>
        </p:nvSpPr>
        <p:spPr>
          <a:xfrm>
            <a:off x="1372870" y="2482850"/>
            <a:ext cx="1069340" cy="14452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E46C0A"/>
                </a:solidFill>
                <a:effectLst>
                  <a:reflection blurRad="63500" stA="17000" endPos="55000" dist="50800" dir="5400000" sy="-100000" algn="bl" rotWithShape="0"/>
                </a:effectLst>
                <a:latin typeface="华文中宋" pitchFamily="2" charset="-122"/>
                <a:ea typeface="华文中宋" pitchFamily="2" charset="-122"/>
              </a:rPr>
              <a:t>绪论</a:t>
            </a:r>
          </a:p>
        </p:txBody>
      </p:sp>
      <p:sp>
        <p:nvSpPr>
          <p:cNvPr id="16" name=" 184"/>
          <p:cNvSpPr/>
          <p:nvPr/>
        </p:nvSpPr>
        <p:spPr>
          <a:xfrm>
            <a:off x="3331210" y="2190750"/>
            <a:ext cx="540004" cy="432003"/>
          </a:xfrm>
          <a:prstGeom prst="hexagon">
            <a:avLst/>
          </a:prstGeom>
          <a:solidFill>
            <a:srgbClr val="58A289"/>
          </a:solidFill>
          <a:ln w="12700">
            <a:solidFill>
              <a:srgbClr val="58A289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55" tIns="36195" rIns="71755" bIns="0" anchor="b" anchorCtr="1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 184"/>
          <p:cNvSpPr/>
          <p:nvPr/>
        </p:nvSpPr>
        <p:spPr>
          <a:xfrm>
            <a:off x="3331210" y="2825953"/>
            <a:ext cx="540004" cy="431800"/>
          </a:xfrm>
          <a:prstGeom prst="hexagon">
            <a:avLst/>
          </a:prstGeom>
          <a:solidFill>
            <a:srgbClr val="58A289"/>
          </a:solidFill>
          <a:ln w="12700">
            <a:solidFill>
              <a:srgbClr val="58A289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55" tIns="36195" rIns="71755" bIns="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 184"/>
          <p:cNvSpPr/>
          <p:nvPr/>
        </p:nvSpPr>
        <p:spPr>
          <a:xfrm>
            <a:off x="3331210" y="3473018"/>
            <a:ext cx="540004" cy="431800"/>
          </a:xfrm>
          <a:prstGeom prst="hexagon">
            <a:avLst/>
          </a:prstGeom>
          <a:solidFill>
            <a:srgbClr val="58A289"/>
          </a:solidFill>
          <a:ln w="12700">
            <a:solidFill>
              <a:srgbClr val="58A289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55" tIns="36195" rIns="71755" bIns="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" name=" 184"/>
          <p:cNvSpPr/>
          <p:nvPr/>
        </p:nvSpPr>
        <p:spPr>
          <a:xfrm>
            <a:off x="3331210" y="4113733"/>
            <a:ext cx="540004" cy="431800"/>
          </a:xfrm>
          <a:prstGeom prst="hexagon">
            <a:avLst/>
          </a:prstGeom>
          <a:solidFill>
            <a:srgbClr val="58A289"/>
          </a:solidFill>
          <a:ln w="12700">
            <a:solidFill>
              <a:srgbClr val="58A289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55" tIns="36195" rIns="71755" bIns="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" name=" 184"/>
          <p:cNvSpPr/>
          <p:nvPr/>
        </p:nvSpPr>
        <p:spPr>
          <a:xfrm>
            <a:off x="3331210" y="5365953"/>
            <a:ext cx="540004" cy="431800"/>
          </a:xfrm>
          <a:prstGeom prst="hexagon">
            <a:avLst/>
          </a:prstGeom>
          <a:solidFill>
            <a:srgbClr val="58A289"/>
          </a:solidFill>
          <a:ln w="12700">
            <a:solidFill>
              <a:srgbClr val="58A289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55" tIns="36195" rIns="71755" bIns="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" name=" 184"/>
          <p:cNvSpPr/>
          <p:nvPr/>
        </p:nvSpPr>
        <p:spPr>
          <a:xfrm>
            <a:off x="3331210" y="4730953"/>
            <a:ext cx="540004" cy="431800"/>
          </a:xfrm>
          <a:prstGeom prst="hexagon">
            <a:avLst/>
          </a:prstGeom>
          <a:solidFill>
            <a:srgbClr val="58A289"/>
          </a:solidFill>
          <a:ln w="12700">
            <a:solidFill>
              <a:srgbClr val="58A289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55" tIns="36195" rIns="71755" bIns="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 184"/>
          <p:cNvSpPr/>
          <p:nvPr/>
        </p:nvSpPr>
        <p:spPr>
          <a:xfrm>
            <a:off x="7169785" y="2185035"/>
            <a:ext cx="540004" cy="432003"/>
          </a:xfrm>
          <a:prstGeom prst="hexagon">
            <a:avLst/>
          </a:prstGeom>
          <a:solidFill>
            <a:srgbClr val="58A289"/>
          </a:solidFill>
          <a:ln w="12700">
            <a:solidFill>
              <a:srgbClr val="58A2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55" tIns="36195" rIns="71755" bIns="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矩形 6">
            <a:hlinkClick r:id="rId5" action="ppaction://hlinkpres?slideindex=1&amp;slidetitle="/>
          </p:cNvPr>
          <p:cNvSpPr/>
          <p:nvPr/>
        </p:nvSpPr>
        <p:spPr>
          <a:xfrm>
            <a:off x="3532193" y="2216480"/>
            <a:ext cx="2770310" cy="461665"/>
          </a:xfrm>
          <a:prstGeom prst="rect">
            <a:avLst/>
          </a:prstGeom>
          <a:solidFill>
            <a:srgbClr val="EBF1DE"/>
          </a:solidFill>
          <a:ln>
            <a:solidFill>
              <a:srgbClr val="58A289"/>
            </a:solidFill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 smtClean="0">
                <a:solidFill>
                  <a:srgbClr val="0E6B4F"/>
                </a:solidFill>
              </a:rPr>
              <a:t> </a:t>
            </a:r>
            <a:r>
              <a:rPr lang="zh-CN" altLang="en-US" sz="2400" b="1" dirty="0" smtClean="0">
                <a:solidFill>
                  <a:srgbClr val="0E6B4F"/>
                </a:solidFill>
              </a:rPr>
              <a:t>第</a:t>
            </a:r>
            <a:r>
              <a:rPr lang="en-US" altLang="zh-CN" sz="2400" b="1" dirty="0">
                <a:solidFill>
                  <a:srgbClr val="0E6B4F"/>
                </a:solidFill>
              </a:rPr>
              <a:t>1</a:t>
            </a:r>
            <a:r>
              <a:rPr lang="zh-CN" altLang="en-US" sz="2400" b="1" dirty="0">
                <a:solidFill>
                  <a:srgbClr val="0E6B4F"/>
                </a:solidFill>
              </a:rPr>
              <a:t>章   质点运动学</a:t>
            </a:r>
          </a:p>
        </p:txBody>
      </p:sp>
      <p:sp>
        <p:nvSpPr>
          <p:cNvPr id="8" name="矩形 7">
            <a:hlinkClick r:id="rId6" action="ppaction://hlinkpres?slideindex=1&amp;slidetitle="/>
          </p:cNvPr>
          <p:cNvSpPr/>
          <p:nvPr/>
        </p:nvSpPr>
        <p:spPr>
          <a:xfrm>
            <a:off x="3532504" y="2842260"/>
            <a:ext cx="2851528" cy="461665"/>
          </a:xfrm>
          <a:prstGeom prst="rect">
            <a:avLst/>
          </a:prstGeom>
          <a:solidFill>
            <a:srgbClr val="EBF1DE"/>
          </a:solidFill>
          <a:ln>
            <a:solidFill>
              <a:srgbClr val="58A289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 dirty="0" smtClean="0">
                <a:solidFill>
                  <a:srgbClr val="0E6B4F"/>
                </a:solidFill>
              </a:rPr>
              <a:t> </a:t>
            </a:r>
            <a:r>
              <a:rPr lang="zh-CN" altLang="en-US" sz="2400" b="1" dirty="0" smtClean="0">
                <a:solidFill>
                  <a:srgbClr val="0E6B4F"/>
                </a:solidFill>
              </a:rPr>
              <a:t>第</a:t>
            </a:r>
            <a:r>
              <a:rPr lang="en-US" altLang="zh-CN" sz="2400" b="1" dirty="0">
                <a:solidFill>
                  <a:srgbClr val="0E6B4F"/>
                </a:solidFill>
              </a:rPr>
              <a:t>2</a:t>
            </a:r>
            <a:r>
              <a:rPr lang="zh-CN" altLang="en-US" sz="2400" b="1" dirty="0">
                <a:solidFill>
                  <a:srgbClr val="0E6B4F"/>
                </a:solidFill>
              </a:rPr>
              <a:t>章   质点动力学</a:t>
            </a:r>
          </a:p>
        </p:txBody>
      </p:sp>
      <p:sp>
        <p:nvSpPr>
          <p:cNvPr id="13" name="矩形 12">
            <a:hlinkClick r:id="rId7" action="ppaction://hlinkpres?slideindex=1&amp;slidetitle="/>
          </p:cNvPr>
          <p:cNvSpPr/>
          <p:nvPr/>
        </p:nvSpPr>
        <p:spPr>
          <a:xfrm>
            <a:off x="7328859" y="2191866"/>
            <a:ext cx="3385863" cy="461665"/>
          </a:xfrm>
          <a:prstGeom prst="rect">
            <a:avLst/>
          </a:prstGeom>
          <a:solidFill>
            <a:srgbClr val="EBF1DE"/>
          </a:solidFill>
          <a:ln>
            <a:solidFill>
              <a:srgbClr val="58A289"/>
            </a:solidFill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 smtClean="0">
                <a:solidFill>
                  <a:srgbClr val="0E6B4F"/>
                </a:solidFill>
                <a:sym typeface="+mn-ea"/>
              </a:rPr>
              <a:t> </a:t>
            </a:r>
            <a:r>
              <a:rPr lang="zh-CN" altLang="en-US" sz="2400" b="1" dirty="0" smtClean="0">
                <a:solidFill>
                  <a:srgbClr val="0E6B4F"/>
                </a:solidFill>
              </a:rPr>
              <a:t>第</a:t>
            </a:r>
            <a:r>
              <a:rPr lang="en-US" altLang="zh-CN" sz="2400" b="1" dirty="0">
                <a:solidFill>
                  <a:srgbClr val="0E6B4F"/>
                </a:solidFill>
              </a:rPr>
              <a:t>7</a:t>
            </a:r>
            <a:r>
              <a:rPr lang="zh-CN" altLang="en-US" sz="2400" b="1" dirty="0">
                <a:solidFill>
                  <a:srgbClr val="0E6B4F"/>
                </a:solidFill>
              </a:rPr>
              <a:t>章   气体动理论基础</a:t>
            </a:r>
          </a:p>
        </p:txBody>
      </p:sp>
      <p:sp>
        <p:nvSpPr>
          <p:cNvPr id="9" name="矩形 8">
            <a:hlinkClick r:id="rId8" action="ppaction://hlinkpres?slideindex=1&amp;slidetitle="/>
          </p:cNvPr>
          <p:cNvSpPr/>
          <p:nvPr/>
        </p:nvSpPr>
        <p:spPr>
          <a:xfrm>
            <a:off x="3532193" y="3504260"/>
            <a:ext cx="3078087" cy="461665"/>
          </a:xfrm>
          <a:prstGeom prst="rect">
            <a:avLst/>
          </a:prstGeom>
          <a:solidFill>
            <a:srgbClr val="EBF1DE"/>
          </a:solidFill>
          <a:ln>
            <a:solidFill>
              <a:srgbClr val="58A289"/>
            </a:solidFill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 smtClean="0">
                <a:solidFill>
                  <a:srgbClr val="0E6B4F"/>
                </a:solidFill>
              </a:rPr>
              <a:t> </a:t>
            </a:r>
            <a:r>
              <a:rPr lang="zh-CN" altLang="en-US" sz="2400" b="1" dirty="0" smtClean="0">
                <a:solidFill>
                  <a:srgbClr val="0E6B4F"/>
                </a:solidFill>
              </a:rPr>
              <a:t>第</a:t>
            </a:r>
            <a:r>
              <a:rPr lang="en-US" altLang="zh-CN" sz="2400" b="1" dirty="0">
                <a:solidFill>
                  <a:srgbClr val="0E6B4F"/>
                </a:solidFill>
              </a:rPr>
              <a:t>3</a:t>
            </a:r>
            <a:r>
              <a:rPr lang="zh-CN" altLang="en-US" sz="2400" b="1" dirty="0">
                <a:solidFill>
                  <a:srgbClr val="0E6B4F"/>
                </a:solidFill>
              </a:rPr>
              <a:t>章   刚体力学基础</a:t>
            </a:r>
          </a:p>
        </p:txBody>
      </p:sp>
      <p:sp>
        <p:nvSpPr>
          <p:cNvPr id="10" name="矩形 9">
            <a:hlinkClick r:id="rId9" action="ppaction://hlinkpres?slideindex=1&amp;slidetitle="/>
          </p:cNvPr>
          <p:cNvSpPr/>
          <p:nvPr/>
        </p:nvSpPr>
        <p:spPr>
          <a:xfrm>
            <a:off x="3532193" y="4129735"/>
            <a:ext cx="3385863" cy="461665"/>
          </a:xfrm>
          <a:prstGeom prst="rect">
            <a:avLst/>
          </a:prstGeom>
          <a:solidFill>
            <a:srgbClr val="EBF1DE"/>
          </a:solidFill>
          <a:ln>
            <a:solidFill>
              <a:srgbClr val="58A289"/>
            </a:solidFill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 smtClean="0">
                <a:solidFill>
                  <a:srgbClr val="0E6B4F"/>
                </a:solidFill>
              </a:rPr>
              <a:t> </a:t>
            </a:r>
            <a:r>
              <a:rPr lang="zh-CN" altLang="en-US" sz="2400" b="1" dirty="0" smtClean="0">
                <a:solidFill>
                  <a:srgbClr val="0E6B4F"/>
                </a:solidFill>
              </a:rPr>
              <a:t>第</a:t>
            </a:r>
            <a:r>
              <a:rPr lang="en-US" altLang="zh-CN" sz="2400" b="1" dirty="0">
                <a:solidFill>
                  <a:srgbClr val="0E6B4F"/>
                </a:solidFill>
              </a:rPr>
              <a:t>4</a:t>
            </a:r>
            <a:r>
              <a:rPr lang="zh-CN" altLang="en-US" sz="2400" b="1" dirty="0">
                <a:solidFill>
                  <a:srgbClr val="0E6B4F"/>
                </a:solidFill>
              </a:rPr>
              <a:t>章   狭义相对论基础</a:t>
            </a:r>
          </a:p>
        </p:txBody>
      </p:sp>
      <p:sp>
        <p:nvSpPr>
          <p:cNvPr id="11" name="矩形 10">
            <a:hlinkClick r:id="rId10" action="ppaction://hlinkpres?slideindex=1&amp;slidetitle="/>
          </p:cNvPr>
          <p:cNvSpPr/>
          <p:nvPr/>
        </p:nvSpPr>
        <p:spPr>
          <a:xfrm>
            <a:off x="3532193" y="4755210"/>
            <a:ext cx="2462534" cy="461665"/>
          </a:xfrm>
          <a:prstGeom prst="rect">
            <a:avLst/>
          </a:prstGeom>
          <a:solidFill>
            <a:srgbClr val="EBF1DE"/>
          </a:solidFill>
          <a:ln>
            <a:solidFill>
              <a:srgbClr val="58A289"/>
            </a:solidFill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 smtClean="0">
                <a:solidFill>
                  <a:srgbClr val="0E6B4F"/>
                </a:solidFill>
              </a:rPr>
              <a:t> </a:t>
            </a:r>
            <a:r>
              <a:rPr lang="zh-CN" altLang="en-US" sz="2400" b="1" dirty="0" smtClean="0">
                <a:solidFill>
                  <a:srgbClr val="0E6B4F"/>
                </a:solidFill>
              </a:rPr>
              <a:t>第</a:t>
            </a:r>
            <a:r>
              <a:rPr lang="en-US" altLang="zh-CN" sz="2400" b="1" dirty="0">
                <a:solidFill>
                  <a:srgbClr val="0E6B4F"/>
                </a:solidFill>
              </a:rPr>
              <a:t>5</a:t>
            </a:r>
            <a:r>
              <a:rPr lang="zh-CN" altLang="en-US" sz="2400" b="1" dirty="0">
                <a:solidFill>
                  <a:srgbClr val="0E6B4F"/>
                </a:solidFill>
              </a:rPr>
              <a:t>章   机械振动</a:t>
            </a:r>
          </a:p>
        </p:txBody>
      </p:sp>
      <p:sp>
        <p:nvSpPr>
          <p:cNvPr id="12" name="矩形 11">
            <a:hlinkClick r:id="rId11" action="ppaction://hlinkpres?slideindex=1&amp;slidetitle="/>
          </p:cNvPr>
          <p:cNvSpPr/>
          <p:nvPr/>
        </p:nvSpPr>
        <p:spPr>
          <a:xfrm>
            <a:off x="3532193" y="5380685"/>
            <a:ext cx="2419791" cy="461665"/>
          </a:xfrm>
          <a:prstGeom prst="rect">
            <a:avLst/>
          </a:prstGeom>
          <a:solidFill>
            <a:srgbClr val="EBF1DE"/>
          </a:solidFill>
          <a:ln>
            <a:solidFill>
              <a:srgbClr val="58A289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b="1" dirty="0" smtClean="0">
                <a:solidFill>
                  <a:srgbClr val="0E6B4F"/>
                </a:solidFill>
              </a:rPr>
              <a:t> </a:t>
            </a:r>
            <a:r>
              <a:rPr lang="zh-CN" altLang="en-US" sz="2400" b="1" dirty="0" smtClean="0">
                <a:solidFill>
                  <a:srgbClr val="0E6B4F"/>
                </a:solidFill>
              </a:rPr>
              <a:t>第</a:t>
            </a:r>
            <a:r>
              <a:rPr lang="en-US" altLang="zh-CN" sz="2400" b="1" dirty="0">
                <a:solidFill>
                  <a:srgbClr val="0E6B4F"/>
                </a:solidFill>
              </a:rPr>
              <a:t>6</a:t>
            </a:r>
            <a:r>
              <a:rPr lang="zh-CN" altLang="en-US" sz="2400" b="1" dirty="0">
                <a:solidFill>
                  <a:srgbClr val="0E6B4F"/>
                </a:solidFill>
              </a:rPr>
              <a:t>章   机械波</a:t>
            </a:r>
          </a:p>
        </p:txBody>
      </p:sp>
      <p:sp>
        <p:nvSpPr>
          <p:cNvPr id="27" name=" 184"/>
          <p:cNvSpPr/>
          <p:nvPr/>
        </p:nvSpPr>
        <p:spPr>
          <a:xfrm>
            <a:off x="7169785" y="2804795"/>
            <a:ext cx="540004" cy="432003"/>
          </a:xfrm>
          <a:prstGeom prst="hexagon">
            <a:avLst/>
          </a:prstGeom>
          <a:solidFill>
            <a:srgbClr val="58A289"/>
          </a:solidFill>
          <a:ln w="12700">
            <a:solidFill>
              <a:srgbClr val="58A2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755" tIns="36195" rIns="71755" bIns="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" name="矩形 13">
            <a:hlinkClick r:id="rId12" action="ppaction://hlinkpres?slideindex=1&amp;slidetitle="/>
          </p:cNvPr>
          <p:cNvSpPr/>
          <p:nvPr/>
        </p:nvSpPr>
        <p:spPr>
          <a:xfrm>
            <a:off x="7328859" y="2817179"/>
            <a:ext cx="2770310" cy="461665"/>
          </a:xfrm>
          <a:prstGeom prst="rect">
            <a:avLst/>
          </a:prstGeom>
          <a:solidFill>
            <a:srgbClr val="EBF1DE"/>
          </a:solidFill>
          <a:ln>
            <a:solidFill>
              <a:srgbClr val="58A289"/>
            </a:solidFill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 smtClean="0">
                <a:solidFill>
                  <a:srgbClr val="0E6B4F"/>
                </a:solidFill>
                <a:sym typeface="+mn-ea"/>
              </a:rPr>
              <a:t> </a:t>
            </a:r>
            <a:r>
              <a:rPr lang="zh-CN" altLang="en-US" sz="2400" b="1" dirty="0" smtClean="0">
                <a:solidFill>
                  <a:srgbClr val="0E6B4F"/>
                </a:solidFill>
              </a:rPr>
              <a:t>第</a:t>
            </a:r>
            <a:r>
              <a:rPr lang="en-US" altLang="zh-CN" sz="2400" b="1" dirty="0">
                <a:solidFill>
                  <a:srgbClr val="0E6B4F"/>
                </a:solidFill>
              </a:rPr>
              <a:t>8</a:t>
            </a:r>
            <a:r>
              <a:rPr lang="zh-CN" altLang="en-US" sz="2400" b="1" dirty="0">
                <a:solidFill>
                  <a:srgbClr val="0E6B4F"/>
                </a:solidFill>
              </a:rPr>
              <a:t>章   热力学基础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24" grpId="0" animBg="1"/>
      <p:bldP spid="25" grpId="0" animBg="1"/>
      <p:bldP spid="26" grpId="0" animBg="1"/>
      <p:bldP spid="19" grpId="0" animBg="1"/>
      <p:bldP spid="23" grpId="0" animBg="1"/>
      <p:bldP spid="7" grpId="0" animBg="1"/>
      <p:bldP spid="8" grpId="0" animBg="1"/>
      <p:bldP spid="13" grpId="0" animBg="1"/>
      <p:bldP spid="9" grpId="0" animBg="1"/>
      <p:bldP spid="10" grpId="0" animBg="1"/>
      <p:bldP spid="11" grpId="0" animBg="1"/>
      <p:bldP spid="12" grpId="0" animBg="1"/>
      <p:bldP spid="27" grpId="0" animBg="1"/>
      <p:bldP spid="14" grpId="0" animBg="1"/>
    </p:bldLst>
  </p:timing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noFill/>
        </a:ln>
      </a:spPr>
      <a:bodyPr lIns="0" tIns="0" rIns="0" bIns="0">
        <a:spAutoFit/>
      </a:bodyPr>
      <a:lstStyle>
        <a:defPPr algn="ctr">
          <a:defRPr sz="1800" dirty="0">
            <a:solidFill>
              <a:srgbClr val="000000"/>
            </a:solidFill>
            <a:latin typeface="华文中宋" pitchFamily="2" charset="-122"/>
            <a:ea typeface="华文中宋" pitchFamily="2" charset="-122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1_自定义设计方案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Alex</dc:creator>
  <cp:lastModifiedBy>Alex</cp:lastModifiedBy>
  <cp:revision>19</cp:revision>
  <dcterms:created xsi:type="dcterms:W3CDTF">2018-02-10T03:00:00Z</dcterms:created>
  <dcterms:modified xsi:type="dcterms:W3CDTF">2018-02-23T02:40:43Z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2052-10.1.0.7106</vt:lpwstr>
  </property>
</Properties>
</file>